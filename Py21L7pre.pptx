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6" r:id="rId2"/>
    <p:sldMasterId id="2147483720" r:id="rId3"/>
    <p:sldMasterId id="2147483756" r:id="rId4"/>
    <p:sldMasterId id="2147483780" r:id="rId5"/>
    <p:sldMasterId id="2147483792" r:id="rId6"/>
    <p:sldMasterId id="2147483816" r:id="rId7"/>
  </p:sldMasterIdLst>
  <p:notesMasterIdLst>
    <p:notesMasterId r:id="rId201"/>
  </p:notesMasterIdLst>
  <p:sldIdLst>
    <p:sldId id="1735" r:id="rId8"/>
    <p:sldId id="1736" r:id="rId9"/>
    <p:sldId id="1737" r:id="rId10"/>
    <p:sldId id="1738" r:id="rId11"/>
    <p:sldId id="1739" r:id="rId12"/>
    <p:sldId id="1740" r:id="rId13"/>
    <p:sldId id="1741" r:id="rId14"/>
    <p:sldId id="1742" r:id="rId15"/>
    <p:sldId id="1743" r:id="rId16"/>
    <p:sldId id="1744" r:id="rId17"/>
    <p:sldId id="1745" r:id="rId18"/>
    <p:sldId id="1746" r:id="rId19"/>
    <p:sldId id="1747" r:id="rId20"/>
    <p:sldId id="1748" r:id="rId21"/>
    <p:sldId id="1749" r:id="rId22"/>
    <p:sldId id="1468" r:id="rId23"/>
    <p:sldId id="1531" r:id="rId24"/>
    <p:sldId id="1469" r:id="rId25"/>
    <p:sldId id="1470" r:id="rId26"/>
    <p:sldId id="1471" r:id="rId27"/>
    <p:sldId id="1472" r:id="rId28"/>
    <p:sldId id="1473" r:id="rId29"/>
    <p:sldId id="1474" r:id="rId30"/>
    <p:sldId id="1475" r:id="rId31"/>
    <p:sldId id="1476" r:id="rId32"/>
    <p:sldId id="1477" r:id="rId33"/>
    <p:sldId id="1478" r:id="rId34"/>
    <p:sldId id="1479" r:id="rId35"/>
    <p:sldId id="1480" r:id="rId36"/>
    <p:sldId id="1481" r:id="rId37"/>
    <p:sldId id="1482" r:id="rId38"/>
    <p:sldId id="1483" r:id="rId39"/>
    <p:sldId id="1484" r:id="rId40"/>
    <p:sldId id="1532" r:id="rId41"/>
    <p:sldId id="1533" r:id="rId42"/>
    <p:sldId id="1485" r:id="rId43"/>
    <p:sldId id="1486" r:id="rId44"/>
    <p:sldId id="1487" r:id="rId45"/>
    <p:sldId id="1488" r:id="rId46"/>
    <p:sldId id="1489" r:id="rId47"/>
    <p:sldId id="1490" r:id="rId48"/>
    <p:sldId id="1491" r:id="rId49"/>
    <p:sldId id="1534" r:id="rId50"/>
    <p:sldId id="1535" r:id="rId51"/>
    <p:sldId id="1536" r:id="rId52"/>
    <p:sldId id="1495" r:id="rId53"/>
    <p:sldId id="1496" r:id="rId54"/>
    <p:sldId id="1497" r:id="rId55"/>
    <p:sldId id="1498" r:id="rId56"/>
    <p:sldId id="1499" r:id="rId57"/>
    <p:sldId id="1500" r:id="rId58"/>
    <p:sldId id="1537" r:id="rId59"/>
    <p:sldId id="1502" r:id="rId60"/>
    <p:sldId id="1503" r:id="rId61"/>
    <p:sldId id="1504" r:id="rId62"/>
    <p:sldId id="1505" r:id="rId63"/>
    <p:sldId id="1506" r:id="rId64"/>
    <p:sldId id="1507" r:id="rId65"/>
    <p:sldId id="1508" r:id="rId66"/>
    <p:sldId id="1509" r:id="rId67"/>
    <p:sldId id="1510" r:id="rId68"/>
    <p:sldId id="1511" r:id="rId69"/>
    <p:sldId id="1512" r:id="rId70"/>
    <p:sldId id="1513" r:id="rId71"/>
    <p:sldId id="1514" r:id="rId72"/>
    <p:sldId id="1515" r:id="rId73"/>
    <p:sldId id="1516" r:id="rId74"/>
    <p:sldId id="1517" r:id="rId75"/>
    <p:sldId id="1518" r:id="rId76"/>
    <p:sldId id="1519" r:id="rId77"/>
    <p:sldId id="1520" r:id="rId78"/>
    <p:sldId id="1521" r:id="rId79"/>
    <p:sldId id="1522" r:id="rId80"/>
    <p:sldId id="1752" r:id="rId81"/>
    <p:sldId id="1753" r:id="rId82"/>
    <p:sldId id="1757" r:id="rId83"/>
    <p:sldId id="1758" r:id="rId84"/>
    <p:sldId id="1759" r:id="rId85"/>
    <p:sldId id="1760" r:id="rId86"/>
    <p:sldId id="1762" r:id="rId87"/>
    <p:sldId id="1763" r:id="rId88"/>
    <p:sldId id="1764" r:id="rId89"/>
    <p:sldId id="1765" r:id="rId90"/>
    <p:sldId id="1766" r:id="rId91"/>
    <p:sldId id="1767" r:id="rId92"/>
    <p:sldId id="1768" r:id="rId93"/>
    <p:sldId id="1769" r:id="rId94"/>
    <p:sldId id="1639" r:id="rId95"/>
    <p:sldId id="1634" r:id="rId96"/>
    <p:sldId id="1635" r:id="rId97"/>
    <p:sldId id="1636" r:id="rId98"/>
    <p:sldId id="1637" r:id="rId99"/>
    <p:sldId id="1638" r:id="rId100"/>
    <p:sldId id="1871" r:id="rId101"/>
    <p:sldId id="1872" r:id="rId102"/>
    <p:sldId id="1799" r:id="rId103"/>
    <p:sldId id="1800" r:id="rId104"/>
    <p:sldId id="1801" r:id="rId105"/>
    <p:sldId id="1802" r:id="rId106"/>
    <p:sldId id="1850" r:id="rId107"/>
    <p:sldId id="1851" r:id="rId108"/>
    <p:sldId id="1852" r:id="rId109"/>
    <p:sldId id="1853" r:id="rId110"/>
    <p:sldId id="1854" r:id="rId111"/>
    <p:sldId id="1855" r:id="rId112"/>
    <p:sldId id="1856" r:id="rId113"/>
    <p:sldId id="1857" r:id="rId114"/>
    <p:sldId id="1858" r:id="rId115"/>
    <p:sldId id="1859" r:id="rId116"/>
    <p:sldId id="1860" r:id="rId117"/>
    <p:sldId id="1861" r:id="rId118"/>
    <p:sldId id="1862" r:id="rId119"/>
    <p:sldId id="1863" r:id="rId120"/>
    <p:sldId id="1864" r:id="rId121"/>
    <p:sldId id="1865" r:id="rId122"/>
    <p:sldId id="1866" r:id="rId123"/>
    <p:sldId id="1867" r:id="rId124"/>
    <p:sldId id="1868" r:id="rId125"/>
    <p:sldId id="1869" r:id="rId126"/>
    <p:sldId id="1870" r:id="rId127"/>
    <p:sldId id="1873" r:id="rId128"/>
    <p:sldId id="1875" r:id="rId129"/>
    <p:sldId id="1877" r:id="rId130"/>
    <p:sldId id="1878" r:id="rId131"/>
    <p:sldId id="1882" r:id="rId132"/>
    <p:sldId id="1879" r:id="rId133"/>
    <p:sldId id="1883" r:id="rId134"/>
    <p:sldId id="1936" r:id="rId135"/>
    <p:sldId id="1937" r:id="rId136"/>
    <p:sldId id="1910" r:id="rId137"/>
    <p:sldId id="1938" r:id="rId138"/>
    <p:sldId id="1939" r:id="rId139"/>
    <p:sldId id="1912" r:id="rId140"/>
    <p:sldId id="1913" r:id="rId141"/>
    <p:sldId id="1914" r:id="rId142"/>
    <p:sldId id="1915" r:id="rId143"/>
    <p:sldId id="1916" r:id="rId144"/>
    <p:sldId id="1917" r:id="rId145"/>
    <p:sldId id="1918" r:id="rId146"/>
    <p:sldId id="1940" r:id="rId147"/>
    <p:sldId id="1947" r:id="rId148"/>
    <p:sldId id="1948" r:id="rId149"/>
    <p:sldId id="1949" r:id="rId150"/>
    <p:sldId id="1950" r:id="rId151"/>
    <p:sldId id="1951" r:id="rId152"/>
    <p:sldId id="1952" r:id="rId153"/>
    <p:sldId id="1953" r:id="rId154"/>
    <p:sldId id="1954" r:id="rId155"/>
    <p:sldId id="1955" r:id="rId156"/>
    <p:sldId id="1956" r:id="rId157"/>
    <p:sldId id="1957" r:id="rId158"/>
    <p:sldId id="1958" r:id="rId159"/>
    <p:sldId id="1959" r:id="rId160"/>
    <p:sldId id="1960" r:id="rId161"/>
    <p:sldId id="1961" r:id="rId162"/>
    <p:sldId id="1962" r:id="rId163"/>
    <p:sldId id="1963" r:id="rId164"/>
    <p:sldId id="1964" r:id="rId165"/>
    <p:sldId id="1934" r:id="rId166"/>
    <p:sldId id="1935" r:id="rId167"/>
    <p:sldId id="1942" r:id="rId168"/>
    <p:sldId id="1943" r:id="rId169"/>
    <p:sldId id="1944" r:id="rId170"/>
    <p:sldId id="1945" r:id="rId171"/>
    <p:sldId id="1946" r:id="rId172"/>
    <p:sldId id="1689" r:id="rId173"/>
    <p:sldId id="1690" r:id="rId174"/>
    <p:sldId id="1708" r:id="rId175"/>
    <p:sldId id="1712" r:id="rId176"/>
    <p:sldId id="1709" r:id="rId177"/>
    <p:sldId id="1713" r:id="rId178"/>
    <p:sldId id="1710" r:id="rId179"/>
    <p:sldId id="1711" r:id="rId180"/>
    <p:sldId id="1714" r:id="rId181"/>
    <p:sldId id="1696" r:id="rId182"/>
    <p:sldId id="1697" r:id="rId183"/>
    <p:sldId id="1698" r:id="rId184"/>
    <p:sldId id="1699" r:id="rId185"/>
    <p:sldId id="1700" r:id="rId186"/>
    <p:sldId id="1701" r:id="rId187"/>
    <p:sldId id="1702" r:id="rId188"/>
    <p:sldId id="1703" r:id="rId189"/>
    <p:sldId id="1704" r:id="rId190"/>
    <p:sldId id="1715" r:id="rId191"/>
    <p:sldId id="1666" r:id="rId192"/>
    <p:sldId id="1667" r:id="rId193"/>
    <p:sldId id="1717" r:id="rId194"/>
    <p:sldId id="1716" r:id="rId195"/>
    <p:sldId id="1903" r:id="rId196"/>
    <p:sldId id="1904" r:id="rId197"/>
    <p:sldId id="1905" r:id="rId198"/>
    <p:sldId id="1906" r:id="rId199"/>
    <p:sldId id="1907" r:id="rId200"/>
  </p:sldIdLst>
  <p:sldSz cx="972978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7171"/>
    <a:srgbClr val="46FD33"/>
    <a:srgbClr val="3AD22A"/>
    <a:srgbClr val="11C1FF"/>
    <a:srgbClr val="9D9D9D"/>
    <a:srgbClr val="BFBFBF"/>
    <a:srgbClr val="0091C4"/>
    <a:srgbClr val="7F7F7F"/>
    <a:srgbClr val="FF99F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9" autoAdjust="0"/>
    <p:restoredTop sz="94660"/>
  </p:normalViewPr>
  <p:slideViewPr>
    <p:cSldViewPr>
      <p:cViewPr varScale="1">
        <p:scale>
          <a:sx n="86" d="100"/>
          <a:sy n="86" d="100"/>
        </p:scale>
        <p:origin x="1224" y="-29"/>
      </p:cViewPr>
      <p:guideLst>
        <p:guide orient="horz" pos="2160"/>
        <p:guide pos="30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0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63" Type="http://schemas.openxmlformats.org/officeDocument/2006/relationships/slide" Target="slides/slide56.xml"/><Relationship Id="rId84" Type="http://schemas.openxmlformats.org/officeDocument/2006/relationships/slide" Target="slides/slide77.xml"/><Relationship Id="rId138" Type="http://schemas.openxmlformats.org/officeDocument/2006/relationships/slide" Target="slides/slide131.xml"/><Relationship Id="rId159" Type="http://schemas.openxmlformats.org/officeDocument/2006/relationships/slide" Target="slides/slide152.xml"/><Relationship Id="rId170" Type="http://schemas.openxmlformats.org/officeDocument/2006/relationships/slide" Target="slides/slide163.xml"/><Relationship Id="rId191" Type="http://schemas.openxmlformats.org/officeDocument/2006/relationships/slide" Target="slides/slide184.xml"/><Relationship Id="rId205" Type="http://schemas.openxmlformats.org/officeDocument/2006/relationships/tableStyles" Target="tableStyles.xml"/><Relationship Id="rId107" Type="http://schemas.openxmlformats.org/officeDocument/2006/relationships/slide" Target="slides/slide100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53" Type="http://schemas.openxmlformats.org/officeDocument/2006/relationships/slide" Target="slides/slide46.xml"/><Relationship Id="rId74" Type="http://schemas.openxmlformats.org/officeDocument/2006/relationships/slide" Target="slides/slide67.xml"/><Relationship Id="rId128" Type="http://schemas.openxmlformats.org/officeDocument/2006/relationships/slide" Target="slides/slide121.xml"/><Relationship Id="rId149" Type="http://schemas.openxmlformats.org/officeDocument/2006/relationships/slide" Target="slides/slide142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8.xml"/><Relationship Id="rId160" Type="http://schemas.openxmlformats.org/officeDocument/2006/relationships/slide" Target="slides/slide153.xml"/><Relationship Id="rId181" Type="http://schemas.openxmlformats.org/officeDocument/2006/relationships/slide" Target="slides/slide174.xml"/><Relationship Id="rId22" Type="http://schemas.openxmlformats.org/officeDocument/2006/relationships/slide" Target="slides/slide15.xml"/><Relationship Id="rId43" Type="http://schemas.openxmlformats.org/officeDocument/2006/relationships/slide" Target="slides/slide36.xml"/><Relationship Id="rId64" Type="http://schemas.openxmlformats.org/officeDocument/2006/relationships/slide" Target="slides/slide57.xml"/><Relationship Id="rId118" Type="http://schemas.openxmlformats.org/officeDocument/2006/relationships/slide" Target="slides/slide111.xml"/><Relationship Id="rId139" Type="http://schemas.openxmlformats.org/officeDocument/2006/relationships/slide" Target="slides/slide132.xml"/><Relationship Id="rId85" Type="http://schemas.openxmlformats.org/officeDocument/2006/relationships/slide" Target="slides/slide78.xml"/><Relationship Id="rId150" Type="http://schemas.openxmlformats.org/officeDocument/2006/relationships/slide" Target="slides/slide143.xml"/><Relationship Id="rId171" Type="http://schemas.openxmlformats.org/officeDocument/2006/relationships/slide" Target="slides/slide164.xml"/><Relationship Id="rId192" Type="http://schemas.openxmlformats.org/officeDocument/2006/relationships/slide" Target="slides/slide185.xml"/><Relationship Id="rId12" Type="http://schemas.openxmlformats.org/officeDocument/2006/relationships/slide" Target="slides/slide5.xml"/><Relationship Id="rId33" Type="http://schemas.openxmlformats.org/officeDocument/2006/relationships/slide" Target="slides/slide26.xml"/><Relationship Id="rId108" Type="http://schemas.openxmlformats.org/officeDocument/2006/relationships/slide" Target="slides/slide101.xml"/><Relationship Id="rId129" Type="http://schemas.openxmlformats.org/officeDocument/2006/relationships/slide" Target="slides/slide122.xml"/><Relationship Id="rId54" Type="http://schemas.openxmlformats.org/officeDocument/2006/relationships/slide" Target="slides/slide47.xml"/><Relationship Id="rId75" Type="http://schemas.openxmlformats.org/officeDocument/2006/relationships/slide" Target="slides/slide68.xml"/><Relationship Id="rId96" Type="http://schemas.openxmlformats.org/officeDocument/2006/relationships/slide" Target="slides/slide89.xml"/><Relationship Id="rId140" Type="http://schemas.openxmlformats.org/officeDocument/2006/relationships/slide" Target="slides/slide133.xml"/><Relationship Id="rId161" Type="http://schemas.openxmlformats.org/officeDocument/2006/relationships/slide" Target="slides/slide154.xml"/><Relationship Id="rId182" Type="http://schemas.openxmlformats.org/officeDocument/2006/relationships/slide" Target="slides/slide175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6.xml"/><Relationship Id="rId119" Type="http://schemas.openxmlformats.org/officeDocument/2006/relationships/slide" Target="slides/slide112.xml"/><Relationship Id="rId44" Type="http://schemas.openxmlformats.org/officeDocument/2006/relationships/slide" Target="slides/slide37.xml"/><Relationship Id="rId65" Type="http://schemas.openxmlformats.org/officeDocument/2006/relationships/slide" Target="slides/slide58.xml"/><Relationship Id="rId86" Type="http://schemas.openxmlformats.org/officeDocument/2006/relationships/slide" Target="slides/slide79.xml"/><Relationship Id="rId130" Type="http://schemas.openxmlformats.org/officeDocument/2006/relationships/slide" Target="slides/slide123.xml"/><Relationship Id="rId151" Type="http://schemas.openxmlformats.org/officeDocument/2006/relationships/slide" Target="slides/slide144.xml"/><Relationship Id="rId172" Type="http://schemas.openxmlformats.org/officeDocument/2006/relationships/slide" Target="slides/slide165.xml"/><Relationship Id="rId193" Type="http://schemas.openxmlformats.org/officeDocument/2006/relationships/slide" Target="slides/slide186.xml"/><Relationship Id="rId13" Type="http://schemas.openxmlformats.org/officeDocument/2006/relationships/slide" Target="slides/slide6.xml"/><Relationship Id="rId109" Type="http://schemas.openxmlformats.org/officeDocument/2006/relationships/slide" Target="slides/slide102.xml"/><Relationship Id="rId34" Type="http://schemas.openxmlformats.org/officeDocument/2006/relationships/slide" Target="slides/slide27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20" Type="http://schemas.openxmlformats.org/officeDocument/2006/relationships/slide" Target="slides/slide113.xml"/><Relationship Id="rId141" Type="http://schemas.openxmlformats.org/officeDocument/2006/relationships/slide" Target="slides/slide134.xml"/><Relationship Id="rId7" Type="http://schemas.openxmlformats.org/officeDocument/2006/relationships/slideMaster" Target="slideMasters/slideMaster7.xml"/><Relationship Id="rId162" Type="http://schemas.openxmlformats.org/officeDocument/2006/relationships/slide" Target="slides/slide155.xml"/><Relationship Id="rId183" Type="http://schemas.openxmlformats.org/officeDocument/2006/relationships/slide" Target="slides/slide176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110" Type="http://schemas.openxmlformats.org/officeDocument/2006/relationships/slide" Target="slides/slide103.xml"/><Relationship Id="rId115" Type="http://schemas.openxmlformats.org/officeDocument/2006/relationships/slide" Target="slides/slide108.xml"/><Relationship Id="rId131" Type="http://schemas.openxmlformats.org/officeDocument/2006/relationships/slide" Target="slides/slide124.xml"/><Relationship Id="rId136" Type="http://schemas.openxmlformats.org/officeDocument/2006/relationships/slide" Target="slides/slide129.xml"/><Relationship Id="rId157" Type="http://schemas.openxmlformats.org/officeDocument/2006/relationships/slide" Target="slides/slide150.xml"/><Relationship Id="rId178" Type="http://schemas.openxmlformats.org/officeDocument/2006/relationships/slide" Target="slides/slide171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52" Type="http://schemas.openxmlformats.org/officeDocument/2006/relationships/slide" Target="slides/slide145.xml"/><Relationship Id="rId173" Type="http://schemas.openxmlformats.org/officeDocument/2006/relationships/slide" Target="slides/slide166.xml"/><Relationship Id="rId194" Type="http://schemas.openxmlformats.org/officeDocument/2006/relationships/slide" Target="slides/slide187.xml"/><Relationship Id="rId199" Type="http://schemas.openxmlformats.org/officeDocument/2006/relationships/slide" Target="slides/slide192.xml"/><Relationship Id="rId203" Type="http://schemas.openxmlformats.org/officeDocument/2006/relationships/viewProps" Target="viewProp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slide" Target="slides/slide93.xml"/><Relationship Id="rId105" Type="http://schemas.openxmlformats.org/officeDocument/2006/relationships/slide" Target="slides/slide98.xml"/><Relationship Id="rId126" Type="http://schemas.openxmlformats.org/officeDocument/2006/relationships/slide" Target="slides/slide119.xml"/><Relationship Id="rId147" Type="http://schemas.openxmlformats.org/officeDocument/2006/relationships/slide" Target="slides/slide140.xml"/><Relationship Id="rId168" Type="http://schemas.openxmlformats.org/officeDocument/2006/relationships/slide" Target="slides/slide16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121" Type="http://schemas.openxmlformats.org/officeDocument/2006/relationships/slide" Target="slides/slide114.xml"/><Relationship Id="rId142" Type="http://schemas.openxmlformats.org/officeDocument/2006/relationships/slide" Target="slides/slide135.xml"/><Relationship Id="rId163" Type="http://schemas.openxmlformats.org/officeDocument/2006/relationships/slide" Target="slides/slide156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Relationship Id="rId116" Type="http://schemas.openxmlformats.org/officeDocument/2006/relationships/slide" Target="slides/slide109.xml"/><Relationship Id="rId137" Type="http://schemas.openxmlformats.org/officeDocument/2006/relationships/slide" Target="slides/slide130.xml"/><Relationship Id="rId158" Type="http://schemas.openxmlformats.org/officeDocument/2006/relationships/slide" Target="slides/slide15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62" Type="http://schemas.openxmlformats.org/officeDocument/2006/relationships/slide" Target="slides/slide55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111" Type="http://schemas.openxmlformats.org/officeDocument/2006/relationships/slide" Target="slides/slide104.xml"/><Relationship Id="rId132" Type="http://schemas.openxmlformats.org/officeDocument/2006/relationships/slide" Target="slides/slide125.xml"/><Relationship Id="rId153" Type="http://schemas.openxmlformats.org/officeDocument/2006/relationships/slide" Target="slides/slide146.xml"/><Relationship Id="rId174" Type="http://schemas.openxmlformats.org/officeDocument/2006/relationships/slide" Target="slides/slide167.xml"/><Relationship Id="rId179" Type="http://schemas.openxmlformats.org/officeDocument/2006/relationships/slide" Target="slides/slide172.xml"/><Relationship Id="rId195" Type="http://schemas.openxmlformats.org/officeDocument/2006/relationships/slide" Target="slides/slide188.xml"/><Relationship Id="rId190" Type="http://schemas.openxmlformats.org/officeDocument/2006/relationships/slide" Target="slides/slide183.xml"/><Relationship Id="rId204" Type="http://schemas.openxmlformats.org/officeDocument/2006/relationships/theme" Target="theme/theme1.xml"/><Relationship Id="rId15" Type="http://schemas.openxmlformats.org/officeDocument/2006/relationships/slide" Target="slides/slide8.xml"/><Relationship Id="rId36" Type="http://schemas.openxmlformats.org/officeDocument/2006/relationships/slide" Target="slides/slide29.xml"/><Relationship Id="rId57" Type="http://schemas.openxmlformats.org/officeDocument/2006/relationships/slide" Target="slides/slide50.xml"/><Relationship Id="rId106" Type="http://schemas.openxmlformats.org/officeDocument/2006/relationships/slide" Target="slides/slide99.xml"/><Relationship Id="rId127" Type="http://schemas.openxmlformats.org/officeDocument/2006/relationships/slide" Target="slides/slide12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52" Type="http://schemas.openxmlformats.org/officeDocument/2006/relationships/slide" Target="slides/slide45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94" Type="http://schemas.openxmlformats.org/officeDocument/2006/relationships/slide" Target="slides/slide87.xml"/><Relationship Id="rId99" Type="http://schemas.openxmlformats.org/officeDocument/2006/relationships/slide" Target="slides/slide92.xml"/><Relationship Id="rId101" Type="http://schemas.openxmlformats.org/officeDocument/2006/relationships/slide" Target="slides/slide94.xml"/><Relationship Id="rId122" Type="http://schemas.openxmlformats.org/officeDocument/2006/relationships/slide" Target="slides/slide115.xml"/><Relationship Id="rId143" Type="http://schemas.openxmlformats.org/officeDocument/2006/relationships/slide" Target="slides/slide136.xml"/><Relationship Id="rId148" Type="http://schemas.openxmlformats.org/officeDocument/2006/relationships/slide" Target="slides/slide141.xml"/><Relationship Id="rId164" Type="http://schemas.openxmlformats.org/officeDocument/2006/relationships/slide" Target="slides/slide157.xml"/><Relationship Id="rId169" Type="http://schemas.openxmlformats.org/officeDocument/2006/relationships/slide" Target="slides/slide162.xml"/><Relationship Id="rId185" Type="http://schemas.openxmlformats.org/officeDocument/2006/relationships/slide" Target="slides/slide17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80" Type="http://schemas.openxmlformats.org/officeDocument/2006/relationships/slide" Target="slides/slide173.xml"/><Relationship Id="rId26" Type="http://schemas.openxmlformats.org/officeDocument/2006/relationships/slide" Target="slides/slide19.xml"/><Relationship Id="rId47" Type="http://schemas.openxmlformats.org/officeDocument/2006/relationships/slide" Target="slides/slide40.xml"/><Relationship Id="rId68" Type="http://schemas.openxmlformats.org/officeDocument/2006/relationships/slide" Target="slides/slide61.xml"/><Relationship Id="rId89" Type="http://schemas.openxmlformats.org/officeDocument/2006/relationships/slide" Target="slides/slide82.xml"/><Relationship Id="rId112" Type="http://schemas.openxmlformats.org/officeDocument/2006/relationships/slide" Target="slides/slide105.xml"/><Relationship Id="rId133" Type="http://schemas.openxmlformats.org/officeDocument/2006/relationships/slide" Target="slides/slide126.xml"/><Relationship Id="rId154" Type="http://schemas.openxmlformats.org/officeDocument/2006/relationships/slide" Target="slides/slide147.xml"/><Relationship Id="rId175" Type="http://schemas.openxmlformats.org/officeDocument/2006/relationships/slide" Target="slides/slide168.xml"/><Relationship Id="rId196" Type="http://schemas.openxmlformats.org/officeDocument/2006/relationships/slide" Target="slides/slide189.xml"/><Relationship Id="rId200" Type="http://schemas.openxmlformats.org/officeDocument/2006/relationships/slide" Target="slides/slide193.xml"/><Relationship Id="rId16" Type="http://schemas.openxmlformats.org/officeDocument/2006/relationships/slide" Target="slides/slide9.xml"/><Relationship Id="rId37" Type="http://schemas.openxmlformats.org/officeDocument/2006/relationships/slide" Target="slides/slide30.xml"/><Relationship Id="rId58" Type="http://schemas.openxmlformats.org/officeDocument/2006/relationships/slide" Target="slides/slide51.xml"/><Relationship Id="rId79" Type="http://schemas.openxmlformats.org/officeDocument/2006/relationships/slide" Target="slides/slide72.xml"/><Relationship Id="rId102" Type="http://schemas.openxmlformats.org/officeDocument/2006/relationships/slide" Target="slides/slide95.xml"/><Relationship Id="rId123" Type="http://schemas.openxmlformats.org/officeDocument/2006/relationships/slide" Target="slides/slide116.xml"/><Relationship Id="rId144" Type="http://schemas.openxmlformats.org/officeDocument/2006/relationships/slide" Target="slides/slide137.xml"/><Relationship Id="rId90" Type="http://schemas.openxmlformats.org/officeDocument/2006/relationships/slide" Target="slides/slide83.xml"/><Relationship Id="rId165" Type="http://schemas.openxmlformats.org/officeDocument/2006/relationships/slide" Target="slides/slide158.xml"/><Relationship Id="rId186" Type="http://schemas.openxmlformats.org/officeDocument/2006/relationships/slide" Target="slides/slide179.xml"/><Relationship Id="rId27" Type="http://schemas.openxmlformats.org/officeDocument/2006/relationships/slide" Target="slides/slide20.xml"/><Relationship Id="rId48" Type="http://schemas.openxmlformats.org/officeDocument/2006/relationships/slide" Target="slides/slide41.xml"/><Relationship Id="rId69" Type="http://schemas.openxmlformats.org/officeDocument/2006/relationships/slide" Target="slides/slide62.xml"/><Relationship Id="rId113" Type="http://schemas.openxmlformats.org/officeDocument/2006/relationships/slide" Target="slides/slide106.xml"/><Relationship Id="rId134" Type="http://schemas.openxmlformats.org/officeDocument/2006/relationships/slide" Target="slides/slide127.xml"/><Relationship Id="rId80" Type="http://schemas.openxmlformats.org/officeDocument/2006/relationships/slide" Target="slides/slide73.xml"/><Relationship Id="rId155" Type="http://schemas.openxmlformats.org/officeDocument/2006/relationships/slide" Target="slides/slide148.xml"/><Relationship Id="rId176" Type="http://schemas.openxmlformats.org/officeDocument/2006/relationships/slide" Target="slides/slide169.xml"/><Relationship Id="rId197" Type="http://schemas.openxmlformats.org/officeDocument/2006/relationships/slide" Target="slides/slide190.xml"/><Relationship Id="rId201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slide" Target="slides/slide96.xml"/><Relationship Id="rId124" Type="http://schemas.openxmlformats.org/officeDocument/2006/relationships/slide" Target="slides/slide117.xml"/><Relationship Id="rId70" Type="http://schemas.openxmlformats.org/officeDocument/2006/relationships/slide" Target="slides/slide63.xml"/><Relationship Id="rId91" Type="http://schemas.openxmlformats.org/officeDocument/2006/relationships/slide" Target="slides/slide84.xml"/><Relationship Id="rId145" Type="http://schemas.openxmlformats.org/officeDocument/2006/relationships/slide" Target="slides/slide138.xml"/><Relationship Id="rId166" Type="http://schemas.openxmlformats.org/officeDocument/2006/relationships/slide" Target="slides/slide159.xml"/><Relationship Id="rId187" Type="http://schemas.openxmlformats.org/officeDocument/2006/relationships/slide" Target="slides/slide180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1.xml"/><Relationship Id="rId49" Type="http://schemas.openxmlformats.org/officeDocument/2006/relationships/slide" Target="slides/slide42.xml"/><Relationship Id="rId114" Type="http://schemas.openxmlformats.org/officeDocument/2006/relationships/slide" Target="slides/slide107.xml"/><Relationship Id="rId60" Type="http://schemas.openxmlformats.org/officeDocument/2006/relationships/slide" Target="slides/slide53.xml"/><Relationship Id="rId81" Type="http://schemas.openxmlformats.org/officeDocument/2006/relationships/slide" Target="slides/slide74.xml"/><Relationship Id="rId135" Type="http://schemas.openxmlformats.org/officeDocument/2006/relationships/slide" Target="slides/slide128.xml"/><Relationship Id="rId156" Type="http://schemas.openxmlformats.org/officeDocument/2006/relationships/slide" Target="slides/slide149.xml"/><Relationship Id="rId177" Type="http://schemas.openxmlformats.org/officeDocument/2006/relationships/slide" Target="slides/slide170.xml"/><Relationship Id="rId198" Type="http://schemas.openxmlformats.org/officeDocument/2006/relationships/slide" Target="slides/slide191.xml"/><Relationship Id="rId202" Type="http://schemas.openxmlformats.org/officeDocument/2006/relationships/presProps" Target="presProps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50" Type="http://schemas.openxmlformats.org/officeDocument/2006/relationships/slide" Target="slides/slide43.xml"/><Relationship Id="rId104" Type="http://schemas.openxmlformats.org/officeDocument/2006/relationships/slide" Target="slides/slide97.xml"/><Relationship Id="rId125" Type="http://schemas.openxmlformats.org/officeDocument/2006/relationships/slide" Target="slides/slide118.xml"/><Relationship Id="rId146" Type="http://schemas.openxmlformats.org/officeDocument/2006/relationships/slide" Target="slides/slide139.xml"/><Relationship Id="rId167" Type="http://schemas.openxmlformats.org/officeDocument/2006/relationships/slide" Target="slides/slide160.xml"/><Relationship Id="rId188" Type="http://schemas.openxmlformats.org/officeDocument/2006/relationships/slide" Target="slides/slide181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D558E-8742-4BFA-AD8A-F33C97E8B945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9838" y="1143000"/>
            <a:ext cx="4378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E9357-523C-40C5-B7CE-88AC67A9F1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6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FE70D3E7-CD5C-4DDC-907E-846F188B81FB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134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697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846541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698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743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142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283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143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9504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144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4741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145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882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146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7457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147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6990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148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6906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149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7737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150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3970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151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1796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152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054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153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0099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154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2004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155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2537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156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90804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157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1022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158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0026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D6F47236-55ED-4776-AB4C-D2B875C41249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159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7538" cy="3417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846541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3210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725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2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5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21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12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3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2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7" y="987427"/>
            <a:ext cx="49257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90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7" y="987427"/>
            <a:ext cx="49257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6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9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19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9734" y="3124200"/>
            <a:ext cx="8270320" cy="838200"/>
          </a:xfrm>
        </p:spPr>
        <p:txBody>
          <a:bodyPr/>
          <a:lstStyle>
            <a:lvl1pPr>
              <a:defRPr sz="439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59468" y="4191000"/>
            <a:ext cx="6648688" cy="990600"/>
          </a:xfrm>
        </p:spPr>
        <p:txBody>
          <a:bodyPr/>
          <a:lstStyle>
            <a:lvl1pPr marL="0" indent="0" algn="ctr">
              <a:buFontTx/>
              <a:buNone/>
              <a:defRPr sz="4297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29734" y="6248400"/>
            <a:ext cx="2027039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99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4344" y="6248400"/>
            <a:ext cx="30811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3015" y="6248400"/>
            <a:ext cx="2027039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2011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9594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86" y="4406901"/>
            <a:ext cx="8270320" cy="1362075"/>
          </a:xfrm>
        </p:spPr>
        <p:txBody>
          <a:bodyPr anchor="t"/>
          <a:lstStyle>
            <a:lvl1pPr algn="l">
              <a:defRPr sz="399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586" y="2906714"/>
            <a:ext cx="8270320" cy="1500187"/>
          </a:xfrm>
        </p:spPr>
        <p:txBody>
          <a:bodyPr anchor="b"/>
          <a:lstStyle>
            <a:lvl1pPr marL="0" indent="0">
              <a:buNone/>
              <a:defRPr sz="1999"/>
            </a:lvl1pPr>
            <a:lvl2pPr marL="456933" indent="0">
              <a:buNone/>
              <a:defRPr sz="1799"/>
            </a:lvl2pPr>
            <a:lvl3pPr marL="913866" indent="0">
              <a:buNone/>
              <a:defRPr sz="1599"/>
            </a:lvl3pPr>
            <a:lvl4pPr marL="1370800" indent="0">
              <a:buNone/>
              <a:defRPr sz="1399"/>
            </a:lvl4pPr>
            <a:lvl5pPr marL="1827733" indent="0">
              <a:buNone/>
              <a:defRPr sz="1399"/>
            </a:lvl5pPr>
            <a:lvl6pPr marL="2284667" indent="0">
              <a:buNone/>
              <a:defRPr sz="1399"/>
            </a:lvl6pPr>
            <a:lvl7pPr marL="2741599" indent="0">
              <a:buNone/>
              <a:defRPr sz="1399"/>
            </a:lvl7pPr>
            <a:lvl8pPr marL="3198533" indent="0">
              <a:buNone/>
              <a:defRPr sz="1399"/>
            </a:lvl8pPr>
            <a:lvl9pPr marL="3655466" indent="0">
              <a:buNone/>
              <a:defRPr sz="13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068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571" y="1676400"/>
            <a:ext cx="4216241" cy="4572000"/>
          </a:xfrm>
        </p:spPr>
        <p:txBody>
          <a:bodyPr/>
          <a:lstStyle>
            <a:lvl1pPr>
              <a:defRPr sz="2798"/>
            </a:lvl1pPr>
            <a:lvl2pPr>
              <a:defRPr sz="2398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5976" y="1676400"/>
            <a:ext cx="4216241" cy="4572000"/>
          </a:xfrm>
        </p:spPr>
        <p:txBody>
          <a:bodyPr/>
          <a:lstStyle>
            <a:lvl1pPr>
              <a:defRPr sz="2798"/>
            </a:lvl1pPr>
            <a:lvl2pPr>
              <a:defRPr sz="2398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3995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4638"/>
            <a:ext cx="875680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489" y="1535113"/>
            <a:ext cx="4299013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33" indent="0">
              <a:buNone/>
              <a:defRPr sz="1999" b="1"/>
            </a:lvl2pPr>
            <a:lvl3pPr marL="913866" indent="0">
              <a:buNone/>
              <a:defRPr sz="1799" b="1"/>
            </a:lvl3pPr>
            <a:lvl4pPr marL="1370800" indent="0">
              <a:buNone/>
              <a:defRPr sz="1599" b="1"/>
            </a:lvl4pPr>
            <a:lvl5pPr marL="1827733" indent="0">
              <a:buNone/>
              <a:defRPr sz="1599" b="1"/>
            </a:lvl5pPr>
            <a:lvl6pPr marL="2284667" indent="0">
              <a:buNone/>
              <a:defRPr sz="1599" b="1"/>
            </a:lvl6pPr>
            <a:lvl7pPr marL="2741599" indent="0">
              <a:buNone/>
              <a:defRPr sz="1599" b="1"/>
            </a:lvl7pPr>
            <a:lvl8pPr marL="3198533" indent="0">
              <a:buNone/>
              <a:defRPr sz="1599" b="1"/>
            </a:lvl8pPr>
            <a:lvl9pPr marL="365546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89" y="2174875"/>
            <a:ext cx="4299013" cy="3951288"/>
          </a:xfrm>
        </p:spPr>
        <p:txBody>
          <a:bodyPr/>
          <a:lstStyle>
            <a:lvl1pPr>
              <a:defRPr sz="2398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2598" y="1535113"/>
            <a:ext cx="4300701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33" indent="0">
              <a:buNone/>
              <a:defRPr sz="1999" b="1"/>
            </a:lvl2pPr>
            <a:lvl3pPr marL="913866" indent="0">
              <a:buNone/>
              <a:defRPr sz="1799" b="1"/>
            </a:lvl3pPr>
            <a:lvl4pPr marL="1370800" indent="0">
              <a:buNone/>
              <a:defRPr sz="1599" b="1"/>
            </a:lvl4pPr>
            <a:lvl5pPr marL="1827733" indent="0">
              <a:buNone/>
              <a:defRPr sz="1599" b="1"/>
            </a:lvl5pPr>
            <a:lvl6pPr marL="2284667" indent="0">
              <a:buNone/>
              <a:defRPr sz="1599" b="1"/>
            </a:lvl6pPr>
            <a:lvl7pPr marL="2741599" indent="0">
              <a:buNone/>
              <a:defRPr sz="1599" b="1"/>
            </a:lvl7pPr>
            <a:lvl8pPr marL="3198533" indent="0">
              <a:buNone/>
              <a:defRPr sz="1599" b="1"/>
            </a:lvl8pPr>
            <a:lvl9pPr marL="365546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2598" y="2174875"/>
            <a:ext cx="4300701" cy="3951288"/>
          </a:xfrm>
        </p:spPr>
        <p:txBody>
          <a:bodyPr/>
          <a:lstStyle>
            <a:lvl1pPr>
              <a:defRPr sz="2398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531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8255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7208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3050"/>
            <a:ext cx="3201033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4077" y="273051"/>
            <a:ext cx="5439222" cy="5853113"/>
          </a:xfrm>
        </p:spPr>
        <p:txBody>
          <a:bodyPr/>
          <a:lstStyle>
            <a:lvl1pPr>
              <a:defRPr sz="3198"/>
            </a:lvl1pPr>
            <a:lvl2pPr>
              <a:defRPr sz="2798"/>
            </a:lvl2pPr>
            <a:lvl3pPr>
              <a:defRPr sz="2398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490" y="1435101"/>
            <a:ext cx="3201033" cy="4691063"/>
          </a:xfrm>
        </p:spPr>
        <p:txBody>
          <a:bodyPr/>
          <a:lstStyle>
            <a:lvl1pPr marL="0" indent="0">
              <a:buNone/>
              <a:defRPr sz="1399"/>
            </a:lvl1pPr>
            <a:lvl2pPr marL="456933" indent="0">
              <a:buNone/>
              <a:defRPr sz="1199"/>
            </a:lvl2pPr>
            <a:lvl3pPr marL="913866" indent="0">
              <a:buNone/>
              <a:defRPr sz="999"/>
            </a:lvl3pPr>
            <a:lvl4pPr marL="1370800" indent="0">
              <a:buNone/>
              <a:defRPr sz="899"/>
            </a:lvl4pPr>
            <a:lvl5pPr marL="1827733" indent="0">
              <a:buNone/>
              <a:defRPr sz="899"/>
            </a:lvl5pPr>
            <a:lvl6pPr marL="2284667" indent="0">
              <a:buNone/>
              <a:defRPr sz="899"/>
            </a:lvl6pPr>
            <a:lvl7pPr marL="2741599" indent="0">
              <a:buNone/>
              <a:defRPr sz="899"/>
            </a:lvl7pPr>
            <a:lvl8pPr marL="3198533" indent="0">
              <a:buNone/>
              <a:defRPr sz="899"/>
            </a:lvl8pPr>
            <a:lvl9pPr marL="3655466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9578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106" y="4800600"/>
            <a:ext cx="5837873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7106" y="612776"/>
            <a:ext cx="5837873" cy="4114800"/>
          </a:xfrm>
        </p:spPr>
        <p:txBody>
          <a:bodyPr/>
          <a:lstStyle>
            <a:lvl1pPr marL="0" indent="0">
              <a:buNone/>
              <a:defRPr sz="3198"/>
            </a:lvl1pPr>
            <a:lvl2pPr marL="456933" indent="0">
              <a:buNone/>
              <a:defRPr sz="2798"/>
            </a:lvl2pPr>
            <a:lvl3pPr marL="913866" indent="0">
              <a:buNone/>
              <a:defRPr sz="2398"/>
            </a:lvl3pPr>
            <a:lvl4pPr marL="1370800" indent="0">
              <a:buNone/>
              <a:defRPr sz="1999"/>
            </a:lvl4pPr>
            <a:lvl5pPr marL="1827733" indent="0">
              <a:buNone/>
              <a:defRPr sz="1999"/>
            </a:lvl5pPr>
            <a:lvl6pPr marL="2284667" indent="0">
              <a:buNone/>
              <a:defRPr sz="1999"/>
            </a:lvl6pPr>
            <a:lvl7pPr marL="2741599" indent="0">
              <a:buNone/>
              <a:defRPr sz="1999"/>
            </a:lvl7pPr>
            <a:lvl8pPr marL="3198533" indent="0">
              <a:buNone/>
              <a:defRPr sz="1999"/>
            </a:lvl8pPr>
            <a:lvl9pPr marL="3655466" indent="0">
              <a:buNone/>
              <a:defRPr sz="1999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7106" y="5367338"/>
            <a:ext cx="5837873" cy="804862"/>
          </a:xfrm>
        </p:spPr>
        <p:txBody>
          <a:bodyPr/>
          <a:lstStyle>
            <a:lvl1pPr marL="0" indent="0">
              <a:buNone/>
              <a:defRPr sz="1399"/>
            </a:lvl1pPr>
            <a:lvl2pPr marL="456933" indent="0">
              <a:buNone/>
              <a:defRPr sz="1199"/>
            </a:lvl2pPr>
            <a:lvl3pPr marL="913866" indent="0">
              <a:buNone/>
              <a:defRPr sz="999"/>
            </a:lvl3pPr>
            <a:lvl4pPr marL="1370800" indent="0">
              <a:buNone/>
              <a:defRPr sz="899"/>
            </a:lvl4pPr>
            <a:lvl5pPr marL="1827733" indent="0">
              <a:buNone/>
              <a:defRPr sz="899"/>
            </a:lvl5pPr>
            <a:lvl6pPr marL="2284667" indent="0">
              <a:buNone/>
              <a:defRPr sz="899"/>
            </a:lvl6pPr>
            <a:lvl7pPr marL="2741599" indent="0">
              <a:buNone/>
              <a:defRPr sz="899"/>
            </a:lvl7pPr>
            <a:lvl8pPr marL="3198533" indent="0">
              <a:buNone/>
              <a:defRPr sz="899"/>
            </a:lvl8pPr>
            <a:lvl9pPr marL="3655466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9763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6686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3556" y="381000"/>
            <a:ext cx="2148662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7572" y="381000"/>
            <a:ext cx="6283821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38606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9734" y="3124200"/>
            <a:ext cx="8270320" cy="838200"/>
          </a:xfrm>
        </p:spPr>
        <p:txBody>
          <a:bodyPr/>
          <a:lstStyle>
            <a:lvl1pPr>
              <a:defRPr sz="439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59468" y="4191000"/>
            <a:ext cx="6648688" cy="990600"/>
          </a:xfrm>
        </p:spPr>
        <p:txBody>
          <a:bodyPr/>
          <a:lstStyle>
            <a:lvl1pPr marL="0" indent="0" algn="ctr">
              <a:buFontTx/>
              <a:buNone/>
              <a:defRPr sz="4297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29734" y="6248400"/>
            <a:ext cx="2027039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99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4344" y="6248400"/>
            <a:ext cx="30811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3015" y="6248400"/>
            <a:ext cx="2027039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7332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84411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86" y="4406901"/>
            <a:ext cx="8270320" cy="1362075"/>
          </a:xfrm>
        </p:spPr>
        <p:txBody>
          <a:bodyPr anchor="t"/>
          <a:lstStyle>
            <a:lvl1pPr algn="l">
              <a:defRPr sz="399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586" y="2906714"/>
            <a:ext cx="8270320" cy="1500187"/>
          </a:xfrm>
        </p:spPr>
        <p:txBody>
          <a:bodyPr anchor="b"/>
          <a:lstStyle>
            <a:lvl1pPr marL="0" indent="0">
              <a:buNone/>
              <a:defRPr sz="1999"/>
            </a:lvl1pPr>
            <a:lvl2pPr marL="456933" indent="0">
              <a:buNone/>
              <a:defRPr sz="1799"/>
            </a:lvl2pPr>
            <a:lvl3pPr marL="913866" indent="0">
              <a:buNone/>
              <a:defRPr sz="1599"/>
            </a:lvl3pPr>
            <a:lvl4pPr marL="1370800" indent="0">
              <a:buNone/>
              <a:defRPr sz="1399"/>
            </a:lvl4pPr>
            <a:lvl5pPr marL="1827733" indent="0">
              <a:buNone/>
              <a:defRPr sz="1399"/>
            </a:lvl5pPr>
            <a:lvl6pPr marL="2284667" indent="0">
              <a:buNone/>
              <a:defRPr sz="1399"/>
            </a:lvl6pPr>
            <a:lvl7pPr marL="2741599" indent="0">
              <a:buNone/>
              <a:defRPr sz="1399"/>
            </a:lvl7pPr>
            <a:lvl8pPr marL="3198533" indent="0">
              <a:buNone/>
              <a:defRPr sz="1399"/>
            </a:lvl8pPr>
            <a:lvl9pPr marL="3655466" indent="0">
              <a:buNone/>
              <a:defRPr sz="13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90092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571" y="1676400"/>
            <a:ext cx="4216241" cy="4572000"/>
          </a:xfrm>
        </p:spPr>
        <p:txBody>
          <a:bodyPr/>
          <a:lstStyle>
            <a:lvl1pPr>
              <a:defRPr sz="2798"/>
            </a:lvl1pPr>
            <a:lvl2pPr>
              <a:defRPr sz="2398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5976" y="1676400"/>
            <a:ext cx="4216241" cy="4572000"/>
          </a:xfrm>
        </p:spPr>
        <p:txBody>
          <a:bodyPr/>
          <a:lstStyle>
            <a:lvl1pPr>
              <a:defRPr sz="2798"/>
            </a:lvl1pPr>
            <a:lvl2pPr>
              <a:defRPr sz="2398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16961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4638"/>
            <a:ext cx="875680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489" y="1535113"/>
            <a:ext cx="4299013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33" indent="0">
              <a:buNone/>
              <a:defRPr sz="1999" b="1"/>
            </a:lvl2pPr>
            <a:lvl3pPr marL="913866" indent="0">
              <a:buNone/>
              <a:defRPr sz="1799" b="1"/>
            </a:lvl3pPr>
            <a:lvl4pPr marL="1370800" indent="0">
              <a:buNone/>
              <a:defRPr sz="1599" b="1"/>
            </a:lvl4pPr>
            <a:lvl5pPr marL="1827733" indent="0">
              <a:buNone/>
              <a:defRPr sz="1599" b="1"/>
            </a:lvl5pPr>
            <a:lvl6pPr marL="2284667" indent="0">
              <a:buNone/>
              <a:defRPr sz="1599" b="1"/>
            </a:lvl6pPr>
            <a:lvl7pPr marL="2741599" indent="0">
              <a:buNone/>
              <a:defRPr sz="1599" b="1"/>
            </a:lvl7pPr>
            <a:lvl8pPr marL="3198533" indent="0">
              <a:buNone/>
              <a:defRPr sz="1599" b="1"/>
            </a:lvl8pPr>
            <a:lvl9pPr marL="365546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89" y="2174875"/>
            <a:ext cx="4299013" cy="3951288"/>
          </a:xfrm>
        </p:spPr>
        <p:txBody>
          <a:bodyPr/>
          <a:lstStyle>
            <a:lvl1pPr>
              <a:defRPr sz="2398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2598" y="1535113"/>
            <a:ext cx="4300701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933" indent="0">
              <a:buNone/>
              <a:defRPr sz="1999" b="1"/>
            </a:lvl2pPr>
            <a:lvl3pPr marL="913866" indent="0">
              <a:buNone/>
              <a:defRPr sz="1799" b="1"/>
            </a:lvl3pPr>
            <a:lvl4pPr marL="1370800" indent="0">
              <a:buNone/>
              <a:defRPr sz="1599" b="1"/>
            </a:lvl4pPr>
            <a:lvl5pPr marL="1827733" indent="0">
              <a:buNone/>
              <a:defRPr sz="1599" b="1"/>
            </a:lvl5pPr>
            <a:lvl6pPr marL="2284667" indent="0">
              <a:buNone/>
              <a:defRPr sz="1599" b="1"/>
            </a:lvl6pPr>
            <a:lvl7pPr marL="2741599" indent="0">
              <a:buNone/>
              <a:defRPr sz="1599" b="1"/>
            </a:lvl7pPr>
            <a:lvl8pPr marL="3198533" indent="0">
              <a:buNone/>
              <a:defRPr sz="1599" b="1"/>
            </a:lvl8pPr>
            <a:lvl9pPr marL="365546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2598" y="2174875"/>
            <a:ext cx="4300701" cy="3951288"/>
          </a:xfrm>
        </p:spPr>
        <p:txBody>
          <a:bodyPr/>
          <a:lstStyle>
            <a:lvl1pPr>
              <a:defRPr sz="2398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17843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7782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4490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3050"/>
            <a:ext cx="3201033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4077" y="273051"/>
            <a:ext cx="5439222" cy="5853113"/>
          </a:xfrm>
        </p:spPr>
        <p:txBody>
          <a:bodyPr/>
          <a:lstStyle>
            <a:lvl1pPr>
              <a:defRPr sz="3198"/>
            </a:lvl1pPr>
            <a:lvl2pPr>
              <a:defRPr sz="2798"/>
            </a:lvl2pPr>
            <a:lvl3pPr>
              <a:defRPr sz="2398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490" y="1435101"/>
            <a:ext cx="3201033" cy="4691063"/>
          </a:xfrm>
        </p:spPr>
        <p:txBody>
          <a:bodyPr/>
          <a:lstStyle>
            <a:lvl1pPr marL="0" indent="0">
              <a:buNone/>
              <a:defRPr sz="1399"/>
            </a:lvl1pPr>
            <a:lvl2pPr marL="456933" indent="0">
              <a:buNone/>
              <a:defRPr sz="1199"/>
            </a:lvl2pPr>
            <a:lvl3pPr marL="913866" indent="0">
              <a:buNone/>
              <a:defRPr sz="999"/>
            </a:lvl3pPr>
            <a:lvl4pPr marL="1370800" indent="0">
              <a:buNone/>
              <a:defRPr sz="899"/>
            </a:lvl4pPr>
            <a:lvl5pPr marL="1827733" indent="0">
              <a:buNone/>
              <a:defRPr sz="899"/>
            </a:lvl5pPr>
            <a:lvl6pPr marL="2284667" indent="0">
              <a:buNone/>
              <a:defRPr sz="899"/>
            </a:lvl6pPr>
            <a:lvl7pPr marL="2741599" indent="0">
              <a:buNone/>
              <a:defRPr sz="899"/>
            </a:lvl7pPr>
            <a:lvl8pPr marL="3198533" indent="0">
              <a:buNone/>
              <a:defRPr sz="899"/>
            </a:lvl8pPr>
            <a:lvl9pPr marL="3655466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1568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106" y="4800600"/>
            <a:ext cx="5837873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7106" y="612776"/>
            <a:ext cx="5837873" cy="4114800"/>
          </a:xfrm>
        </p:spPr>
        <p:txBody>
          <a:bodyPr/>
          <a:lstStyle>
            <a:lvl1pPr marL="0" indent="0">
              <a:buNone/>
              <a:defRPr sz="3198"/>
            </a:lvl1pPr>
            <a:lvl2pPr marL="456933" indent="0">
              <a:buNone/>
              <a:defRPr sz="2798"/>
            </a:lvl2pPr>
            <a:lvl3pPr marL="913866" indent="0">
              <a:buNone/>
              <a:defRPr sz="2398"/>
            </a:lvl3pPr>
            <a:lvl4pPr marL="1370800" indent="0">
              <a:buNone/>
              <a:defRPr sz="1999"/>
            </a:lvl4pPr>
            <a:lvl5pPr marL="1827733" indent="0">
              <a:buNone/>
              <a:defRPr sz="1999"/>
            </a:lvl5pPr>
            <a:lvl6pPr marL="2284667" indent="0">
              <a:buNone/>
              <a:defRPr sz="1999"/>
            </a:lvl6pPr>
            <a:lvl7pPr marL="2741599" indent="0">
              <a:buNone/>
              <a:defRPr sz="1999"/>
            </a:lvl7pPr>
            <a:lvl8pPr marL="3198533" indent="0">
              <a:buNone/>
              <a:defRPr sz="1999"/>
            </a:lvl8pPr>
            <a:lvl9pPr marL="3655466" indent="0">
              <a:buNone/>
              <a:defRPr sz="1999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7106" y="5367338"/>
            <a:ext cx="5837873" cy="804862"/>
          </a:xfrm>
        </p:spPr>
        <p:txBody>
          <a:bodyPr/>
          <a:lstStyle>
            <a:lvl1pPr marL="0" indent="0">
              <a:buNone/>
              <a:defRPr sz="1399"/>
            </a:lvl1pPr>
            <a:lvl2pPr marL="456933" indent="0">
              <a:buNone/>
              <a:defRPr sz="1199"/>
            </a:lvl2pPr>
            <a:lvl3pPr marL="913866" indent="0">
              <a:buNone/>
              <a:defRPr sz="999"/>
            </a:lvl3pPr>
            <a:lvl4pPr marL="1370800" indent="0">
              <a:buNone/>
              <a:defRPr sz="899"/>
            </a:lvl4pPr>
            <a:lvl5pPr marL="1827733" indent="0">
              <a:buNone/>
              <a:defRPr sz="899"/>
            </a:lvl5pPr>
            <a:lvl6pPr marL="2284667" indent="0">
              <a:buNone/>
              <a:defRPr sz="899"/>
            </a:lvl6pPr>
            <a:lvl7pPr marL="2741599" indent="0">
              <a:buNone/>
              <a:defRPr sz="899"/>
            </a:lvl7pPr>
            <a:lvl8pPr marL="3198533" indent="0">
              <a:buNone/>
              <a:defRPr sz="899"/>
            </a:lvl8pPr>
            <a:lvl9pPr marL="3655466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20273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1530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3556" y="381000"/>
            <a:ext cx="2148662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7572" y="381000"/>
            <a:ext cx="6283821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95359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9734" y="3124200"/>
            <a:ext cx="827032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59468" y="4191000"/>
            <a:ext cx="6648688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29734" y="6248400"/>
            <a:ext cx="2027039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4344" y="6248400"/>
            <a:ext cx="30811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3015" y="6248400"/>
            <a:ext cx="2027039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01418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16865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86" y="4406901"/>
            <a:ext cx="827032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586" y="2906713"/>
            <a:ext cx="827032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76649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571" y="1676400"/>
            <a:ext cx="421624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5976" y="1676400"/>
            <a:ext cx="421624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68372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4638"/>
            <a:ext cx="875680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489" y="1535113"/>
            <a:ext cx="429901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89" y="2174875"/>
            <a:ext cx="429901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2598" y="1535113"/>
            <a:ext cx="430070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2598" y="2174875"/>
            <a:ext cx="43007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5154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59250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54309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3050"/>
            <a:ext cx="320103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4077" y="273051"/>
            <a:ext cx="543922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490" y="1435101"/>
            <a:ext cx="320103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74932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106" y="4800600"/>
            <a:ext cx="58378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7106" y="612775"/>
            <a:ext cx="583787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7106" y="5367338"/>
            <a:ext cx="58378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80763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9949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3555" y="381000"/>
            <a:ext cx="2148662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7571" y="381000"/>
            <a:ext cx="6283821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86014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224" y="1122363"/>
            <a:ext cx="7297341" cy="2387600"/>
          </a:xfrm>
        </p:spPr>
        <p:txBody>
          <a:bodyPr anchor="b"/>
          <a:lstStyle>
            <a:lvl1pPr algn="ctr">
              <a:defRPr sz="51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069"/>
            </a:lvl1pPr>
            <a:lvl2pPr marL="394106" indent="0" algn="ctr">
              <a:buNone/>
              <a:defRPr sz="1724"/>
            </a:lvl2pPr>
            <a:lvl3pPr marL="788213" indent="0" algn="ctr">
              <a:buNone/>
              <a:defRPr sz="1552"/>
            </a:lvl3pPr>
            <a:lvl4pPr marL="1182319" indent="0" algn="ctr">
              <a:buNone/>
              <a:defRPr sz="1379"/>
            </a:lvl4pPr>
            <a:lvl5pPr marL="1576426" indent="0" algn="ctr">
              <a:buNone/>
              <a:defRPr sz="1379"/>
            </a:lvl5pPr>
            <a:lvl6pPr marL="1970532" indent="0" algn="ctr">
              <a:buNone/>
              <a:defRPr sz="1379"/>
            </a:lvl6pPr>
            <a:lvl7pPr marL="2364638" indent="0" algn="ctr">
              <a:buNone/>
              <a:defRPr sz="1379"/>
            </a:lvl7pPr>
            <a:lvl8pPr marL="2758745" indent="0" algn="ctr">
              <a:buNone/>
              <a:defRPr sz="1379"/>
            </a:lvl8pPr>
            <a:lvl9pPr marL="3152851" indent="0" algn="ctr">
              <a:buNone/>
              <a:defRPr sz="137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4/6/2021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3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‹#›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01981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4/6/2021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3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‹#›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73445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1"/>
            <a:ext cx="8391942" cy="2852737"/>
          </a:xfrm>
        </p:spPr>
        <p:txBody>
          <a:bodyPr anchor="b"/>
          <a:lstStyle>
            <a:lvl1pPr>
              <a:defRPr sz="51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6"/>
            <a:ext cx="8391942" cy="1500187"/>
          </a:xfrm>
        </p:spPr>
        <p:txBody>
          <a:bodyPr/>
          <a:lstStyle>
            <a:lvl1pPr marL="0" indent="0">
              <a:buNone/>
              <a:defRPr sz="2069">
                <a:solidFill>
                  <a:schemeClr val="tx1">
                    <a:tint val="75000"/>
                  </a:schemeClr>
                </a:solidFill>
              </a:defRPr>
            </a:lvl1pPr>
            <a:lvl2pPr marL="394106" indent="0">
              <a:buNone/>
              <a:defRPr sz="1724">
                <a:solidFill>
                  <a:schemeClr val="tx1">
                    <a:tint val="75000"/>
                  </a:schemeClr>
                </a:solidFill>
              </a:defRPr>
            </a:lvl2pPr>
            <a:lvl3pPr marL="788213" indent="0">
              <a:buNone/>
              <a:defRPr sz="1552">
                <a:solidFill>
                  <a:schemeClr val="tx1">
                    <a:tint val="75000"/>
                  </a:schemeClr>
                </a:solidFill>
              </a:defRPr>
            </a:lvl3pPr>
            <a:lvl4pPr marL="1182319" indent="0">
              <a:buNone/>
              <a:defRPr sz="1379">
                <a:solidFill>
                  <a:schemeClr val="tx1">
                    <a:tint val="75000"/>
                  </a:schemeClr>
                </a:solidFill>
              </a:defRPr>
            </a:lvl4pPr>
            <a:lvl5pPr marL="1576426" indent="0">
              <a:buNone/>
              <a:defRPr sz="1379">
                <a:solidFill>
                  <a:schemeClr val="tx1">
                    <a:tint val="75000"/>
                  </a:schemeClr>
                </a:solidFill>
              </a:defRPr>
            </a:lvl5pPr>
            <a:lvl6pPr marL="1970532" indent="0">
              <a:buNone/>
              <a:defRPr sz="1379">
                <a:solidFill>
                  <a:schemeClr val="tx1">
                    <a:tint val="75000"/>
                  </a:schemeClr>
                </a:solidFill>
              </a:defRPr>
            </a:lvl6pPr>
            <a:lvl7pPr marL="2364638" indent="0">
              <a:buNone/>
              <a:defRPr sz="1379">
                <a:solidFill>
                  <a:schemeClr val="tx1">
                    <a:tint val="75000"/>
                  </a:schemeClr>
                </a:solidFill>
              </a:defRPr>
            </a:lvl7pPr>
            <a:lvl8pPr marL="2758745" indent="0">
              <a:buNone/>
              <a:defRPr sz="1379">
                <a:solidFill>
                  <a:schemeClr val="tx1">
                    <a:tint val="75000"/>
                  </a:schemeClr>
                </a:solidFill>
              </a:defRPr>
            </a:lvl8pPr>
            <a:lvl9pPr marL="3152851" indent="0">
              <a:buNone/>
              <a:defRPr sz="13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4/6/2021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3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‹#›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025466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4/6/2021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3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‹#›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5346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8"/>
            <a:ext cx="839194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2069" b="1"/>
            </a:lvl1pPr>
            <a:lvl2pPr marL="394106" indent="0">
              <a:buNone/>
              <a:defRPr sz="1724" b="1"/>
            </a:lvl2pPr>
            <a:lvl3pPr marL="788213" indent="0">
              <a:buNone/>
              <a:defRPr sz="1552" b="1"/>
            </a:lvl3pPr>
            <a:lvl4pPr marL="1182319" indent="0">
              <a:buNone/>
              <a:defRPr sz="1379" b="1"/>
            </a:lvl4pPr>
            <a:lvl5pPr marL="1576426" indent="0">
              <a:buNone/>
              <a:defRPr sz="1379" b="1"/>
            </a:lvl5pPr>
            <a:lvl6pPr marL="1970532" indent="0">
              <a:buNone/>
              <a:defRPr sz="1379" b="1"/>
            </a:lvl6pPr>
            <a:lvl7pPr marL="2364638" indent="0">
              <a:buNone/>
              <a:defRPr sz="1379" b="1"/>
            </a:lvl7pPr>
            <a:lvl8pPr marL="2758745" indent="0">
              <a:buNone/>
              <a:defRPr sz="1379" b="1"/>
            </a:lvl8pPr>
            <a:lvl9pPr marL="3152851" indent="0">
              <a:buNone/>
              <a:defRPr sz="13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7" cy="823912"/>
          </a:xfrm>
        </p:spPr>
        <p:txBody>
          <a:bodyPr anchor="b"/>
          <a:lstStyle>
            <a:lvl1pPr marL="0" indent="0">
              <a:buNone/>
              <a:defRPr sz="2069" b="1"/>
            </a:lvl1pPr>
            <a:lvl2pPr marL="394106" indent="0">
              <a:buNone/>
              <a:defRPr sz="1724" b="1"/>
            </a:lvl2pPr>
            <a:lvl3pPr marL="788213" indent="0">
              <a:buNone/>
              <a:defRPr sz="1552" b="1"/>
            </a:lvl3pPr>
            <a:lvl4pPr marL="1182319" indent="0">
              <a:buNone/>
              <a:defRPr sz="1379" b="1"/>
            </a:lvl4pPr>
            <a:lvl5pPr marL="1576426" indent="0">
              <a:buNone/>
              <a:defRPr sz="1379" b="1"/>
            </a:lvl5pPr>
            <a:lvl6pPr marL="1970532" indent="0">
              <a:buNone/>
              <a:defRPr sz="1379" b="1"/>
            </a:lvl6pPr>
            <a:lvl7pPr marL="2364638" indent="0">
              <a:buNone/>
              <a:defRPr sz="1379" b="1"/>
            </a:lvl7pPr>
            <a:lvl8pPr marL="2758745" indent="0">
              <a:buNone/>
              <a:defRPr sz="1379" b="1"/>
            </a:lvl8pPr>
            <a:lvl9pPr marL="3152851" indent="0">
              <a:buNone/>
              <a:defRPr sz="13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4/6/2021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2993" y="6356353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‹#›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809060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4/6/2021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2993" y="6356353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‹#›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485654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4/6/2021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2993" y="6356353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‹#›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78130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75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8" y="987428"/>
            <a:ext cx="4925705" cy="4873625"/>
          </a:xfrm>
        </p:spPr>
        <p:txBody>
          <a:bodyPr/>
          <a:lstStyle>
            <a:lvl1pPr>
              <a:defRPr sz="2758"/>
            </a:lvl1pPr>
            <a:lvl2pPr>
              <a:defRPr sz="2414"/>
            </a:lvl2pPr>
            <a:lvl3pPr>
              <a:defRPr sz="2069"/>
            </a:lvl3pPr>
            <a:lvl4pPr>
              <a:defRPr sz="1724"/>
            </a:lvl4pPr>
            <a:lvl5pPr>
              <a:defRPr sz="1724"/>
            </a:lvl5pPr>
            <a:lvl6pPr>
              <a:defRPr sz="1724"/>
            </a:lvl6pPr>
            <a:lvl7pPr>
              <a:defRPr sz="1724"/>
            </a:lvl7pPr>
            <a:lvl8pPr>
              <a:defRPr sz="1724"/>
            </a:lvl8pPr>
            <a:lvl9pPr>
              <a:defRPr sz="17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379"/>
            </a:lvl1pPr>
            <a:lvl2pPr marL="394106" indent="0">
              <a:buNone/>
              <a:defRPr sz="1207"/>
            </a:lvl2pPr>
            <a:lvl3pPr marL="788213" indent="0">
              <a:buNone/>
              <a:defRPr sz="1034"/>
            </a:lvl3pPr>
            <a:lvl4pPr marL="1182319" indent="0">
              <a:buNone/>
              <a:defRPr sz="862"/>
            </a:lvl4pPr>
            <a:lvl5pPr marL="1576426" indent="0">
              <a:buNone/>
              <a:defRPr sz="862"/>
            </a:lvl5pPr>
            <a:lvl6pPr marL="1970532" indent="0">
              <a:buNone/>
              <a:defRPr sz="862"/>
            </a:lvl6pPr>
            <a:lvl7pPr marL="2364638" indent="0">
              <a:buNone/>
              <a:defRPr sz="862"/>
            </a:lvl7pPr>
            <a:lvl8pPr marL="2758745" indent="0">
              <a:buNone/>
              <a:defRPr sz="862"/>
            </a:lvl8pPr>
            <a:lvl9pPr marL="3152851" indent="0">
              <a:buNone/>
              <a:defRPr sz="8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4/6/2021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3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‹#›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7525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75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6428" y="987428"/>
            <a:ext cx="4925705" cy="4873625"/>
          </a:xfrm>
        </p:spPr>
        <p:txBody>
          <a:bodyPr/>
          <a:lstStyle>
            <a:lvl1pPr marL="0" indent="0">
              <a:buNone/>
              <a:defRPr sz="2758"/>
            </a:lvl1pPr>
            <a:lvl2pPr marL="394106" indent="0">
              <a:buNone/>
              <a:defRPr sz="2414"/>
            </a:lvl2pPr>
            <a:lvl3pPr marL="788213" indent="0">
              <a:buNone/>
              <a:defRPr sz="2069"/>
            </a:lvl3pPr>
            <a:lvl4pPr marL="1182319" indent="0">
              <a:buNone/>
              <a:defRPr sz="1724"/>
            </a:lvl4pPr>
            <a:lvl5pPr marL="1576426" indent="0">
              <a:buNone/>
              <a:defRPr sz="1724"/>
            </a:lvl5pPr>
            <a:lvl6pPr marL="1970532" indent="0">
              <a:buNone/>
              <a:defRPr sz="1724"/>
            </a:lvl6pPr>
            <a:lvl7pPr marL="2364638" indent="0">
              <a:buNone/>
              <a:defRPr sz="1724"/>
            </a:lvl7pPr>
            <a:lvl8pPr marL="2758745" indent="0">
              <a:buNone/>
              <a:defRPr sz="1724"/>
            </a:lvl8pPr>
            <a:lvl9pPr marL="3152851" indent="0">
              <a:buNone/>
              <a:defRPr sz="172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379"/>
            </a:lvl1pPr>
            <a:lvl2pPr marL="394106" indent="0">
              <a:buNone/>
              <a:defRPr sz="1207"/>
            </a:lvl2pPr>
            <a:lvl3pPr marL="788213" indent="0">
              <a:buNone/>
              <a:defRPr sz="1034"/>
            </a:lvl3pPr>
            <a:lvl4pPr marL="1182319" indent="0">
              <a:buNone/>
              <a:defRPr sz="862"/>
            </a:lvl4pPr>
            <a:lvl5pPr marL="1576426" indent="0">
              <a:buNone/>
              <a:defRPr sz="862"/>
            </a:lvl5pPr>
            <a:lvl6pPr marL="1970532" indent="0">
              <a:buNone/>
              <a:defRPr sz="862"/>
            </a:lvl6pPr>
            <a:lvl7pPr marL="2364638" indent="0">
              <a:buNone/>
              <a:defRPr sz="862"/>
            </a:lvl7pPr>
            <a:lvl8pPr marL="2758745" indent="0">
              <a:buNone/>
              <a:defRPr sz="862"/>
            </a:lvl8pPr>
            <a:lvl9pPr marL="3152851" indent="0">
              <a:buNone/>
              <a:defRPr sz="8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4/6/2021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3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‹#›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27329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4/6/2021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3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‹#›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35601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4/6/2021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3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3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 sz="1552" smtClean="0">
                <a:solidFill>
                  <a:prstClr val="black"/>
                </a:solidFill>
                <a:ea typeface="MS PGothic" pitchFamily="34" charset="-128"/>
              </a:rPr>
              <a:pPr/>
              <a:t>‹#›</a:t>
            </a:fld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23889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9734" y="3124200"/>
            <a:ext cx="8270320" cy="838200"/>
          </a:xfrm>
        </p:spPr>
        <p:txBody>
          <a:bodyPr/>
          <a:lstStyle>
            <a:lvl1pPr>
              <a:defRPr sz="4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59468" y="4191000"/>
            <a:ext cx="6648688" cy="990600"/>
          </a:xfrm>
        </p:spPr>
        <p:txBody>
          <a:bodyPr/>
          <a:lstStyle>
            <a:lvl1pPr marL="0" indent="0" algn="ctr">
              <a:buFontTx/>
              <a:buNone/>
              <a:defRPr sz="4299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29734" y="6248400"/>
            <a:ext cx="2027039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4344" y="6248400"/>
            <a:ext cx="30811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3015" y="6248400"/>
            <a:ext cx="2027039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496938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62407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86" y="4406903"/>
            <a:ext cx="8270320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586" y="2906716"/>
            <a:ext cx="827032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0" indent="0">
              <a:buNone/>
              <a:defRPr sz="1800"/>
            </a:lvl2pPr>
            <a:lvl3pPr marL="914360" indent="0">
              <a:buNone/>
              <a:defRPr sz="1600"/>
            </a:lvl3pPr>
            <a:lvl4pPr marL="1371540" indent="0">
              <a:buNone/>
              <a:defRPr sz="1400"/>
            </a:lvl4pPr>
            <a:lvl5pPr marL="1828721" indent="0">
              <a:buNone/>
              <a:defRPr sz="1400"/>
            </a:lvl5pPr>
            <a:lvl6pPr marL="2285901" indent="0">
              <a:buNone/>
              <a:defRPr sz="1400"/>
            </a:lvl6pPr>
            <a:lvl7pPr marL="2743081" indent="0">
              <a:buNone/>
              <a:defRPr sz="1400"/>
            </a:lvl7pPr>
            <a:lvl8pPr marL="3200261" indent="0">
              <a:buNone/>
              <a:defRPr sz="1400"/>
            </a:lvl8pPr>
            <a:lvl9pPr marL="3657441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29296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571" y="1676400"/>
            <a:ext cx="421624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5977" y="1676400"/>
            <a:ext cx="421624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719318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4638"/>
            <a:ext cx="875680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490" y="1535113"/>
            <a:ext cx="429901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90" y="2174875"/>
            <a:ext cx="429901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2599" y="1535113"/>
            <a:ext cx="430070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2599" y="2174875"/>
            <a:ext cx="43007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75994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067036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12793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1" y="273050"/>
            <a:ext cx="32010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4077" y="273053"/>
            <a:ext cx="543922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491" y="1435103"/>
            <a:ext cx="32010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318295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106" y="4800600"/>
            <a:ext cx="58378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7106" y="612776"/>
            <a:ext cx="583787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0" indent="0">
              <a:buNone/>
              <a:defRPr sz="2800"/>
            </a:lvl2pPr>
            <a:lvl3pPr marL="914360" indent="0">
              <a:buNone/>
              <a:defRPr sz="2400"/>
            </a:lvl3pPr>
            <a:lvl4pPr marL="1371540" indent="0">
              <a:buNone/>
              <a:defRPr sz="2000"/>
            </a:lvl4pPr>
            <a:lvl5pPr marL="1828721" indent="0">
              <a:buNone/>
              <a:defRPr sz="2000"/>
            </a:lvl5pPr>
            <a:lvl6pPr marL="2285901" indent="0">
              <a:buNone/>
              <a:defRPr sz="2000"/>
            </a:lvl6pPr>
            <a:lvl7pPr marL="2743081" indent="0">
              <a:buNone/>
              <a:defRPr sz="2000"/>
            </a:lvl7pPr>
            <a:lvl8pPr marL="3200261" indent="0">
              <a:buNone/>
              <a:defRPr sz="2000"/>
            </a:lvl8pPr>
            <a:lvl9pPr marL="365744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7106" y="5367338"/>
            <a:ext cx="58378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71259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14934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3556" y="381000"/>
            <a:ext cx="2148662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7573" y="381000"/>
            <a:ext cx="6283821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151341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9734" y="3124200"/>
            <a:ext cx="8270320" cy="838200"/>
          </a:xfrm>
        </p:spPr>
        <p:txBody>
          <a:bodyPr/>
          <a:lstStyle>
            <a:lvl1pPr>
              <a:defRPr sz="439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59469" y="4191000"/>
            <a:ext cx="6648688" cy="990600"/>
          </a:xfrm>
        </p:spPr>
        <p:txBody>
          <a:bodyPr/>
          <a:lstStyle>
            <a:lvl1pPr marL="0" indent="0" algn="ctr">
              <a:buFontTx/>
              <a:buNone/>
              <a:defRPr sz="4295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29734" y="6248400"/>
            <a:ext cx="2027039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99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84586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4345" y="6248400"/>
            <a:ext cx="3081100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3017" y="6248400"/>
            <a:ext cx="2027039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47846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09880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86" y="4406904"/>
            <a:ext cx="8270320" cy="1362075"/>
          </a:xfrm>
        </p:spPr>
        <p:txBody>
          <a:bodyPr anchor="t"/>
          <a:lstStyle>
            <a:lvl1pPr algn="l">
              <a:defRPr sz="399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586" y="2906717"/>
            <a:ext cx="8270320" cy="1500187"/>
          </a:xfrm>
        </p:spPr>
        <p:txBody>
          <a:bodyPr anchor="b"/>
          <a:lstStyle>
            <a:lvl1pPr marL="0" indent="0">
              <a:buNone/>
              <a:defRPr sz="1998"/>
            </a:lvl1pPr>
            <a:lvl2pPr marL="456794" indent="0">
              <a:buNone/>
              <a:defRPr sz="1799"/>
            </a:lvl2pPr>
            <a:lvl3pPr marL="913589" indent="0">
              <a:buNone/>
              <a:defRPr sz="1599"/>
            </a:lvl3pPr>
            <a:lvl4pPr marL="1370383" indent="0">
              <a:buNone/>
              <a:defRPr sz="1399"/>
            </a:lvl4pPr>
            <a:lvl5pPr marL="1827179" indent="0">
              <a:buNone/>
              <a:defRPr sz="1399"/>
            </a:lvl5pPr>
            <a:lvl6pPr marL="2283973" indent="0">
              <a:buNone/>
              <a:defRPr sz="1399"/>
            </a:lvl6pPr>
            <a:lvl7pPr marL="2740768" indent="0">
              <a:buNone/>
              <a:defRPr sz="1399"/>
            </a:lvl7pPr>
            <a:lvl8pPr marL="3197562" indent="0">
              <a:buNone/>
              <a:defRPr sz="1399"/>
            </a:lvl8pPr>
            <a:lvl9pPr marL="3654356" indent="0">
              <a:buNone/>
              <a:defRPr sz="13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37258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572" y="1676400"/>
            <a:ext cx="4216242" cy="4572000"/>
          </a:xfrm>
        </p:spPr>
        <p:txBody>
          <a:bodyPr/>
          <a:lstStyle>
            <a:lvl1pPr>
              <a:defRPr sz="2798"/>
            </a:lvl1pPr>
            <a:lvl2pPr>
              <a:defRPr sz="2398"/>
            </a:lvl2pPr>
            <a:lvl3pPr>
              <a:defRPr sz="1998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5976" y="1676400"/>
            <a:ext cx="4216242" cy="4572000"/>
          </a:xfrm>
        </p:spPr>
        <p:txBody>
          <a:bodyPr/>
          <a:lstStyle>
            <a:lvl1pPr>
              <a:defRPr sz="2798"/>
            </a:lvl1pPr>
            <a:lvl2pPr>
              <a:defRPr sz="2398"/>
            </a:lvl2pPr>
            <a:lvl3pPr>
              <a:defRPr sz="1998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112112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4638"/>
            <a:ext cx="875681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491" y="1535113"/>
            <a:ext cx="4299012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794" indent="0">
              <a:buNone/>
              <a:defRPr sz="1998" b="1"/>
            </a:lvl2pPr>
            <a:lvl3pPr marL="913589" indent="0">
              <a:buNone/>
              <a:defRPr sz="1799" b="1"/>
            </a:lvl3pPr>
            <a:lvl4pPr marL="1370383" indent="0">
              <a:buNone/>
              <a:defRPr sz="1599" b="1"/>
            </a:lvl4pPr>
            <a:lvl5pPr marL="1827179" indent="0">
              <a:buNone/>
              <a:defRPr sz="1599" b="1"/>
            </a:lvl5pPr>
            <a:lvl6pPr marL="2283973" indent="0">
              <a:buNone/>
              <a:defRPr sz="1599" b="1"/>
            </a:lvl6pPr>
            <a:lvl7pPr marL="2740768" indent="0">
              <a:buNone/>
              <a:defRPr sz="1599" b="1"/>
            </a:lvl7pPr>
            <a:lvl8pPr marL="3197562" indent="0">
              <a:buNone/>
              <a:defRPr sz="1599" b="1"/>
            </a:lvl8pPr>
            <a:lvl9pPr marL="365435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91" y="2174875"/>
            <a:ext cx="4299012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2601" y="1535113"/>
            <a:ext cx="4300701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794" indent="0">
              <a:buNone/>
              <a:defRPr sz="1998" b="1"/>
            </a:lvl2pPr>
            <a:lvl3pPr marL="913589" indent="0">
              <a:buNone/>
              <a:defRPr sz="1799" b="1"/>
            </a:lvl3pPr>
            <a:lvl4pPr marL="1370383" indent="0">
              <a:buNone/>
              <a:defRPr sz="1599" b="1"/>
            </a:lvl4pPr>
            <a:lvl5pPr marL="1827179" indent="0">
              <a:buNone/>
              <a:defRPr sz="1599" b="1"/>
            </a:lvl5pPr>
            <a:lvl6pPr marL="2283973" indent="0">
              <a:buNone/>
              <a:defRPr sz="1599" b="1"/>
            </a:lvl6pPr>
            <a:lvl7pPr marL="2740768" indent="0">
              <a:buNone/>
              <a:defRPr sz="1599" b="1"/>
            </a:lvl7pPr>
            <a:lvl8pPr marL="3197562" indent="0">
              <a:buNone/>
              <a:defRPr sz="1599" b="1"/>
            </a:lvl8pPr>
            <a:lvl9pPr marL="365435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2601" y="2174875"/>
            <a:ext cx="4300701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105041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33201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03340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0" y="273050"/>
            <a:ext cx="3201033" cy="1162050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4080" y="273054"/>
            <a:ext cx="5439222" cy="5853113"/>
          </a:xfrm>
        </p:spPr>
        <p:txBody>
          <a:bodyPr/>
          <a:lstStyle>
            <a:lvl1pPr>
              <a:defRPr sz="3197"/>
            </a:lvl1pPr>
            <a:lvl2pPr>
              <a:defRPr sz="2798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490" y="1435103"/>
            <a:ext cx="3201033" cy="4691063"/>
          </a:xfrm>
        </p:spPr>
        <p:txBody>
          <a:bodyPr/>
          <a:lstStyle>
            <a:lvl1pPr marL="0" indent="0">
              <a:buNone/>
              <a:defRPr sz="1399"/>
            </a:lvl1pPr>
            <a:lvl2pPr marL="456794" indent="0">
              <a:buNone/>
              <a:defRPr sz="1199"/>
            </a:lvl2pPr>
            <a:lvl3pPr marL="913589" indent="0">
              <a:buNone/>
              <a:defRPr sz="999"/>
            </a:lvl3pPr>
            <a:lvl4pPr marL="1370383" indent="0">
              <a:buNone/>
              <a:defRPr sz="899"/>
            </a:lvl4pPr>
            <a:lvl5pPr marL="1827179" indent="0">
              <a:buNone/>
              <a:defRPr sz="899"/>
            </a:lvl5pPr>
            <a:lvl6pPr marL="2283973" indent="0">
              <a:buNone/>
              <a:defRPr sz="899"/>
            </a:lvl6pPr>
            <a:lvl7pPr marL="2740768" indent="0">
              <a:buNone/>
              <a:defRPr sz="899"/>
            </a:lvl7pPr>
            <a:lvl8pPr marL="3197562" indent="0">
              <a:buNone/>
              <a:defRPr sz="899"/>
            </a:lvl8pPr>
            <a:lvl9pPr marL="3654356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900750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107" y="4800600"/>
            <a:ext cx="5837873" cy="566738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7107" y="612778"/>
            <a:ext cx="5837873" cy="4114800"/>
          </a:xfrm>
        </p:spPr>
        <p:txBody>
          <a:bodyPr/>
          <a:lstStyle>
            <a:lvl1pPr marL="0" indent="0">
              <a:buNone/>
              <a:defRPr sz="3197"/>
            </a:lvl1pPr>
            <a:lvl2pPr marL="456794" indent="0">
              <a:buNone/>
              <a:defRPr sz="2798"/>
            </a:lvl2pPr>
            <a:lvl3pPr marL="913589" indent="0">
              <a:buNone/>
              <a:defRPr sz="2398"/>
            </a:lvl3pPr>
            <a:lvl4pPr marL="1370383" indent="0">
              <a:buNone/>
              <a:defRPr sz="1998"/>
            </a:lvl4pPr>
            <a:lvl5pPr marL="1827179" indent="0">
              <a:buNone/>
              <a:defRPr sz="1998"/>
            </a:lvl5pPr>
            <a:lvl6pPr marL="2283973" indent="0">
              <a:buNone/>
              <a:defRPr sz="1998"/>
            </a:lvl6pPr>
            <a:lvl7pPr marL="2740768" indent="0">
              <a:buNone/>
              <a:defRPr sz="1998"/>
            </a:lvl7pPr>
            <a:lvl8pPr marL="3197562" indent="0">
              <a:buNone/>
              <a:defRPr sz="1998"/>
            </a:lvl8pPr>
            <a:lvl9pPr marL="3654356" indent="0">
              <a:buNone/>
              <a:defRPr sz="1998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7107" y="5367338"/>
            <a:ext cx="5837873" cy="804862"/>
          </a:xfrm>
        </p:spPr>
        <p:txBody>
          <a:bodyPr/>
          <a:lstStyle>
            <a:lvl1pPr marL="0" indent="0">
              <a:buNone/>
              <a:defRPr sz="1399"/>
            </a:lvl1pPr>
            <a:lvl2pPr marL="456794" indent="0">
              <a:buNone/>
              <a:defRPr sz="1199"/>
            </a:lvl2pPr>
            <a:lvl3pPr marL="913589" indent="0">
              <a:buNone/>
              <a:defRPr sz="999"/>
            </a:lvl3pPr>
            <a:lvl4pPr marL="1370383" indent="0">
              <a:buNone/>
              <a:defRPr sz="899"/>
            </a:lvl4pPr>
            <a:lvl5pPr marL="1827179" indent="0">
              <a:buNone/>
              <a:defRPr sz="899"/>
            </a:lvl5pPr>
            <a:lvl6pPr marL="2283973" indent="0">
              <a:buNone/>
              <a:defRPr sz="899"/>
            </a:lvl6pPr>
            <a:lvl7pPr marL="2740768" indent="0">
              <a:buNone/>
              <a:defRPr sz="899"/>
            </a:lvl7pPr>
            <a:lvl8pPr marL="3197562" indent="0">
              <a:buNone/>
              <a:defRPr sz="899"/>
            </a:lvl8pPr>
            <a:lvl9pPr marL="3654356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529163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115684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3558" y="381000"/>
            <a:ext cx="2148661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7575" y="381000"/>
            <a:ext cx="6283821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675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3" y="365127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3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13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7571" y="381000"/>
            <a:ext cx="859464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71" y="1295401"/>
            <a:ext cx="8594646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7571" y="6324601"/>
            <a:ext cx="6243281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99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3015" y="6324601"/>
            <a:ext cx="218920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99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7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6933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6pPr>
      <a:lvl7pPr marL="913866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7pPr>
      <a:lvl8pPr marL="1370800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8pPr>
      <a:lvl9pPr marL="1827733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9pPr>
    </p:titleStyle>
    <p:bodyStyle>
      <a:lvl1pPr marL="342700" indent="-3427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598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516" indent="-285584" algn="l" rtl="0" eaLnBrk="0" fontAlgn="base" hangingPunct="0">
        <a:spcBef>
          <a:spcPct val="20000"/>
        </a:spcBef>
        <a:spcAft>
          <a:spcPct val="0"/>
        </a:spcAft>
        <a:buChar char="–"/>
        <a:defRPr sz="2398">
          <a:solidFill>
            <a:srgbClr val="222222"/>
          </a:solidFill>
          <a:latin typeface="+mn-lt"/>
          <a:ea typeface="MS PGothic" pitchFamily="34" charset="-128"/>
        </a:defRPr>
      </a:lvl2pPr>
      <a:lvl3pPr marL="1142333" indent="-228467" algn="l" rtl="0" eaLnBrk="0" fontAlgn="base" hangingPunct="0">
        <a:spcBef>
          <a:spcPct val="20000"/>
        </a:spcBef>
        <a:spcAft>
          <a:spcPct val="0"/>
        </a:spcAft>
        <a:buChar char="•"/>
        <a:defRPr sz="2199">
          <a:solidFill>
            <a:srgbClr val="222222"/>
          </a:solidFill>
          <a:latin typeface="+mn-lt"/>
          <a:ea typeface="MS PGothic" pitchFamily="34" charset="-128"/>
        </a:defRPr>
      </a:lvl3pPr>
      <a:lvl4pPr marL="1599266" indent="-228467" algn="l" rtl="0" eaLnBrk="0" fontAlgn="base" hangingPunct="0">
        <a:spcBef>
          <a:spcPct val="20000"/>
        </a:spcBef>
        <a:spcAft>
          <a:spcPct val="0"/>
        </a:spcAft>
        <a:buChar char="–"/>
        <a:defRPr sz="2199">
          <a:solidFill>
            <a:srgbClr val="222222"/>
          </a:solidFill>
          <a:latin typeface="+mn-lt"/>
          <a:ea typeface="MS PGothic" pitchFamily="34" charset="-128"/>
        </a:defRPr>
      </a:lvl4pPr>
      <a:lvl5pPr marL="2056200" indent="-228467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3132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6pPr>
      <a:lvl7pPr marL="2970066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7pPr>
      <a:lvl8pPr marL="3426999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8pPr>
      <a:lvl9pPr marL="3883933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66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00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667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9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5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466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7571" y="381000"/>
            <a:ext cx="859464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71" y="1295401"/>
            <a:ext cx="8594646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7571" y="6324601"/>
            <a:ext cx="6243281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99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3015" y="6324601"/>
            <a:ext cx="218920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99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45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98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6933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6pPr>
      <a:lvl7pPr marL="913866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7pPr>
      <a:lvl8pPr marL="1370800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8pPr>
      <a:lvl9pPr marL="1827733" algn="ctr" rtl="0" eaLnBrk="1" fontAlgn="base" hangingPunct="1">
        <a:spcBef>
          <a:spcPct val="0"/>
        </a:spcBef>
        <a:spcAft>
          <a:spcPct val="0"/>
        </a:spcAft>
        <a:defRPr sz="3598">
          <a:solidFill>
            <a:srgbClr val="222222"/>
          </a:solidFill>
          <a:latin typeface="Arial" charset="0"/>
        </a:defRPr>
      </a:lvl9pPr>
    </p:titleStyle>
    <p:bodyStyle>
      <a:lvl1pPr marL="342700" indent="-3427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598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516" indent="-285584" algn="l" rtl="0" eaLnBrk="0" fontAlgn="base" hangingPunct="0">
        <a:spcBef>
          <a:spcPct val="20000"/>
        </a:spcBef>
        <a:spcAft>
          <a:spcPct val="0"/>
        </a:spcAft>
        <a:buChar char="–"/>
        <a:defRPr sz="2398">
          <a:solidFill>
            <a:srgbClr val="222222"/>
          </a:solidFill>
          <a:latin typeface="+mn-lt"/>
          <a:ea typeface="MS PGothic" pitchFamily="34" charset="-128"/>
        </a:defRPr>
      </a:lvl2pPr>
      <a:lvl3pPr marL="1142333" indent="-228467" algn="l" rtl="0" eaLnBrk="0" fontAlgn="base" hangingPunct="0">
        <a:spcBef>
          <a:spcPct val="20000"/>
        </a:spcBef>
        <a:spcAft>
          <a:spcPct val="0"/>
        </a:spcAft>
        <a:buChar char="•"/>
        <a:defRPr sz="2199">
          <a:solidFill>
            <a:srgbClr val="222222"/>
          </a:solidFill>
          <a:latin typeface="+mn-lt"/>
          <a:ea typeface="MS PGothic" pitchFamily="34" charset="-128"/>
        </a:defRPr>
      </a:lvl3pPr>
      <a:lvl4pPr marL="1599266" indent="-228467" algn="l" rtl="0" eaLnBrk="0" fontAlgn="base" hangingPunct="0">
        <a:spcBef>
          <a:spcPct val="20000"/>
        </a:spcBef>
        <a:spcAft>
          <a:spcPct val="0"/>
        </a:spcAft>
        <a:buChar char="–"/>
        <a:defRPr sz="2199">
          <a:solidFill>
            <a:srgbClr val="222222"/>
          </a:solidFill>
          <a:latin typeface="+mn-lt"/>
          <a:ea typeface="MS PGothic" pitchFamily="34" charset="-128"/>
        </a:defRPr>
      </a:lvl4pPr>
      <a:lvl5pPr marL="2056200" indent="-228467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3132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6pPr>
      <a:lvl7pPr marL="2970066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7pPr>
      <a:lvl8pPr marL="3426999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8pPr>
      <a:lvl9pPr marL="3883933" indent="-228467" algn="l" rtl="0" eaLnBrk="1" fontAlgn="base" hangingPunct="1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66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00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667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599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533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466" algn="l" defTabSz="91386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7571" y="381000"/>
            <a:ext cx="859464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71" y="1295400"/>
            <a:ext cx="8594646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7571" y="6324600"/>
            <a:ext cx="6243281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3015" y="6324600"/>
            <a:ext cx="218920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797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076" y="1161143"/>
            <a:ext cx="903480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435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788213" rtl="0" eaLnBrk="1" latinLnBrk="0" hangingPunct="1">
        <a:lnSpc>
          <a:spcPct val="90000"/>
        </a:lnSpc>
        <a:spcBef>
          <a:spcPct val="0"/>
        </a:spcBef>
        <a:buNone/>
        <a:defRPr sz="3793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197053" indent="-197053" algn="l" defTabSz="788213" rtl="0" eaLnBrk="1" latinLnBrk="0" hangingPunct="1">
        <a:lnSpc>
          <a:spcPct val="90000"/>
        </a:lnSpc>
        <a:spcBef>
          <a:spcPts val="862"/>
        </a:spcBef>
        <a:buFont typeface="Arial" panose="020B0604020202020204" pitchFamily="34" charset="0"/>
        <a:buChar char="•"/>
        <a:defRPr sz="3448" kern="1200">
          <a:solidFill>
            <a:schemeClr val="tx1"/>
          </a:solidFill>
          <a:latin typeface="+mn-lt"/>
          <a:ea typeface="+mn-ea"/>
          <a:cs typeface="+mn-cs"/>
        </a:defRPr>
      </a:lvl1pPr>
      <a:lvl2pPr marL="591160" indent="-197053" algn="l" defTabSz="788213" rtl="0" eaLnBrk="1" latinLnBrk="0" hangingPunct="1">
        <a:lnSpc>
          <a:spcPct val="90000"/>
        </a:lnSpc>
        <a:spcBef>
          <a:spcPts val="431"/>
        </a:spcBef>
        <a:buFont typeface="Arial" panose="020B0604020202020204" pitchFamily="34" charset="0"/>
        <a:buChar char="•"/>
        <a:defRPr sz="3103" kern="1200">
          <a:solidFill>
            <a:schemeClr val="tx1"/>
          </a:solidFill>
          <a:latin typeface="+mn-lt"/>
          <a:ea typeface="+mn-ea"/>
          <a:cs typeface="+mn-cs"/>
        </a:defRPr>
      </a:lvl2pPr>
      <a:lvl3pPr marL="985266" indent="-197053" algn="l" defTabSz="788213" rtl="0" eaLnBrk="1" latinLnBrk="0" hangingPunct="1">
        <a:lnSpc>
          <a:spcPct val="90000"/>
        </a:lnSpc>
        <a:spcBef>
          <a:spcPts val="431"/>
        </a:spcBef>
        <a:buFont typeface="Arial" panose="020B0604020202020204" pitchFamily="34" charset="0"/>
        <a:buChar char="•"/>
        <a:defRPr sz="2758" kern="1200">
          <a:solidFill>
            <a:schemeClr val="tx1"/>
          </a:solidFill>
          <a:latin typeface="+mn-lt"/>
          <a:ea typeface="+mn-ea"/>
          <a:cs typeface="+mn-cs"/>
        </a:defRPr>
      </a:lvl3pPr>
      <a:lvl4pPr marL="1379372" indent="-197053" algn="l" defTabSz="788213" rtl="0" eaLnBrk="1" latinLnBrk="0" hangingPunct="1">
        <a:lnSpc>
          <a:spcPct val="90000"/>
        </a:lnSpc>
        <a:spcBef>
          <a:spcPts val="431"/>
        </a:spcBef>
        <a:buFont typeface="Arial" panose="020B0604020202020204" pitchFamily="34" charset="0"/>
        <a:buChar char="•"/>
        <a:defRPr sz="2414" kern="1200">
          <a:solidFill>
            <a:schemeClr val="tx1"/>
          </a:solidFill>
          <a:latin typeface="+mn-lt"/>
          <a:ea typeface="+mn-ea"/>
          <a:cs typeface="+mn-cs"/>
        </a:defRPr>
      </a:lvl4pPr>
      <a:lvl5pPr marL="1773479" indent="-197053" algn="l" defTabSz="788213" rtl="0" eaLnBrk="1" latinLnBrk="0" hangingPunct="1">
        <a:lnSpc>
          <a:spcPct val="90000"/>
        </a:lnSpc>
        <a:spcBef>
          <a:spcPts val="431"/>
        </a:spcBef>
        <a:buFont typeface="Arial" panose="020B0604020202020204" pitchFamily="34" charset="0"/>
        <a:buChar char="•"/>
        <a:defRPr sz="2414" kern="1200">
          <a:solidFill>
            <a:schemeClr val="tx1"/>
          </a:solidFill>
          <a:latin typeface="+mn-lt"/>
          <a:ea typeface="+mn-ea"/>
          <a:cs typeface="+mn-cs"/>
        </a:defRPr>
      </a:lvl5pPr>
      <a:lvl6pPr marL="2167585" indent="-197053" algn="l" defTabSz="788213" rtl="0" eaLnBrk="1" latinLnBrk="0" hangingPunct="1">
        <a:lnSpc>
          <a:spcPct val="90000"/>
        </a:lnSpc>
        <a:spcBef>
          <a:spcPts val="431"/>
        </a:spcBef>
        <a:buFont typeface="Arial" panose="020B0604020202020204" pitchFamily="34" charset="0"/>
        <a:buChar char="•"/>
        <a:defRPr sz="1552" kern="1200">
          <a:solidFill>
            <a:schemeClr val="tx1"/>
          </a:solidFill>
          <a:latin typeface="+mn-lt"/>
          <a:ea typeface="+mn-ea"/>
          <a:cs typeface="+mn-cs"/>
        </a:defRPr>
      </a:lvl6pPr>
      <a:lvl7pPr marL="2561692" indent="-197053" algn="l" defTabSz="788213" rtl="0" eaLnBrk="1" latinLnBrk="0" hangingPunct="1">
        <a:lnSpc>
          <a:spcPct val="90000"/>
        </a:lnSpc>
        <a:spcBef>
          <a:spcPts val="431"/>
        </a:spcBef>
        <a:buFont typeface="Arial" panose="020B0604020202020204" pitchFamily="34" charset="0"/>
        <a:buChar char="•"/>
        <a:defRPr sz="1552" kern="1200">
          <a:solidFill>
            <a:schemeClr val="tx1"/>
          </a:solidFill>
          <a:latin typeface="+mn-lt"/>
          <a:ea typeface="+mn-ea"/>
          <a:cs typeface="+mn-cs"/>
        </a:defRPr>
      </a:lvl7pPr>
      <a:lvl8pPr marL="2955798" indent="-197053" algn="l" defTabSz="788213" rtl="0" eaLnBrk="1" latinLnBrk="0" hangingPunct="1">
        <a:lnSpc>
          <a:spcPct val="90000"/>
        </a:lnSpc>
        <a:spcBef>
          <a:spcPts val="431"/>
        </a:spcBef>
        <a:buFont typeface="Arial" panose="020B0604020202020204" pitchFamily="34" charset="0"/>
        <a:buChar char="•"/>
        <a:defRPr sz="1552" kern="1200">
          <a:solidFill>
            <a:schemeClr val="tx1"/>
          </a:solidFill>
          <a:latin typeface="+mn-lt"/>
          <a:ea typeface="+mn-ea"/>
          <a:cs typeface="+mn-cs"/>
        </a:defRPr>
      </a:lvl8pPr>
      <a:lvl9pPr marL="3349904" indent="-197053" algn="l" defTabSz="788213" rtl="0" eaLnBrk="1" latinLnBrk="0" hangingPunct="1">
        <a:lnSpc>
          <a:spcPct val="90000"/>
        </a:lnSpc>
        <a:spcBef>
          <a:spcPts val="431"/>
        </a:spcBef>
        <a:buFont typeface="Arial" panose="020B0604020202020204" pitchFamily="34" charset="0"/>
        <a:buChar char="•"/>
        <a:defRPr sz="15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8213" rtl="0" eaLnBrk="1" latinLnBrk="0" hangingPunct="1">
        <a:defRPr sz="1552" kern="1200">
          <a:solidFill>
            <a:schemeClr val="tx1"/>
          </a:solidFill>
          <a:latin typeface="+mn-lt"/>
          <a:ea typeface="+mn-ea"/>
          <a:cs typeface="+mn-cs"/>
        </a:defRPr>
      </a:lvl1pPr>
      <a:lvl2pPr marL="394106" algn="l" defTabSz="788213" rtl="0" eaLnBrk="1" latinLnBrk="0" hangingPunct="1">
        <a:defRPr sz="1552" kern="1200">
          <a:solidFill>
            <a:schemeClr val="tx1"/>
          </a:solidFill>
          <a:latin typeface="+mn-lt"/>
          <a:ea typeface="+mn-ea"/>
          <a:cs typeface="+mn-cs"/>
        </a:defRPr>
      </a:lvl2pPr>
      <a:lvl3pPr marL="788213" algn="l" defTabSz="788213" rtl="0" eaLnBrk="1" latinLnBrk="0" hangingPunct="1">
        <a:defRPr sz="1552" kern="1200">
          <a:solidFill>
            <a:schemeClr val="tx1"/>
          </a:solidFill>
          <a:latin typeface="+mn-lt"/>
          <a:ea typeface="+mn-ea"/>
          <a:cs typeface="+mn-cs"/>
        </a:defRPr>
      </a:lvl3pPr>
      <a:lvl4pPr marL="1182319" algn="l" defTabSz="788213" rtl="0" eaLnBrk="1" latinLnBrk="0" hangingPunct="1">
        <a:defRPr sz="1552" kern="1200">
          <a:solidFill>
            <a:schemeClr val="tx1"/>
          </a:solidFill>
          <a:latin typeface="+mn-lt"/>
          <a:ea typeface="+mn-ea"/>
          <a:cs typeface="+mn-cs"/>
        </a:defRPr>
      </a:lvl4pPr>
      <a:lvl5pPr marL="1576426" algn="l" defTabSz="788213" rtl="0" eaLnBrk="1" latinLnBrk="0" hangingPunct="1">
        <a:defRPr sz="1552" kern="1200">
          <a:solidFill>
            <a:schemeClr val="tx1"/>
          </a:solidFill>
          <a:latin typeface="+mn-lt"/>
          <a:ea typeface="+mn-ea"/>
          <a:cs typeface="+mn-cs"/>
        </a:defRPr>
      </a:lvl5pPr>
      <a:lvl6pPr marL="1970532" algn="l" defTabSz="788213" rtl="0" eaLnBrk="1" latinLnBrk="0" hangingPunct="1">
        <a:defRPr sz="1552" kern="1200">
          <a:solidFill>
            <a:schemeClr val="tx1"/>
          </a:solidFill>
          <a:latin typeface="+mn-lt"/>
          <a:ea typeface="+mn-ea"/>
          <a:cs typeface="+mn-cs"/>
        </a:defRPr>
      </a:lvl6pPr>
      <a:lvl7pPr marL="2364638" algn="l" defTabSz="788213" rtl="0" eaLnBrk="1" latinLnBrk="0" hangingPunct="1">
        <a:defRPr sz="1552" kern="1200">
          <a:solidFill>
            <a:schemeClr val="tx1"/>
          </a:solidFill>
          <a:latin typeface="+mn-lt"/>
          <a:ea typeface="+mn-ea"/>
          <a:cs typeface="+mn-cs"/>
        </a:defRPr>
      </a:lvl7pPr>
      <a:lvl8pPr marL="2758745" algn="l" defTabSz="788213" rtl="0" eaLnBrk="1" latinLnBrk="0" hangingPunct="1">
        <a:defRPr sz="1552" kern="1200">
          <a:solidFill>
            <a:schemeClr val="tx1"/>
          </a:solidFill>
          <a:latin typeface="+mn-lt"/>
          <a:ea typeface="+mn-ea"/>
          <a:cs typeface="+mn-cs"/>
        </a:defRPr>
      </a:lvl8pPr>
      <a:lvl9pPr marL="3152851" algn="l" defTabSz="788213" rtl="0" eaLnBrk="1" latinLnBrk="0" hangingPunct="1">
        <a:defRPr sz="15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7571" y="381000"/>
            <a:ext cx="859464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71" y="1295401"/>
            <a:ext cx="8594646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7571" y="6324601"/>
            <a:ext cx="6243281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3015" y="6324601"/>
            <a:ext cx="218920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90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18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36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54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721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885" indent="-342885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17" indent="-285738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2950" indent="-22859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131" indent="-22859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311" indent="-22859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490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67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885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032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7572" y="381000"/>
            <a:ext cx="859464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72" y="1295403"/>
            <a:ext cx="8594646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7571" y="6324603"/>
            <a:ext cx="6243281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99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84586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3015" y="6324603"/>
            <a:ext cx="218920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99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845864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845864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259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97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97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97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97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97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6794" algn="ctr" rtl="0" eaLnBrk="1" fontAlgn="base" hangingPunct="1">
        <a:spcBef>
          <a:spcPct val="0"/>
        </a:spcBef>
        <a:spcAft>
          <a:spcPct val="0"/>
        </a:spcAft>
        <a:defRPr sz="3597">
          <a:solidFill>
            <a:srgbClr val="222222"/>
          </a:solidFill>
          <a:latin typeface="Arial" charset="0"/>
        </a:defRPr>
      </a:lvl6pPr>
      <a:lvl7pPr marL="913589" algn="ctr" rtl="0" eaLnBrk="1" fontAlgn="base" hangingPunct="1">
        <a:spcBef>
          <a:spcPct val="0"/>
        </a:spcBef>
        <a:spcAft>
          <a:spcPct val="0"/>
        </a:spcAft>
        <a:defRPr sz="3597">
          <a:solidFill>
            <a:srgbClr val="222222"/>
          </a:solidFill>
          <a:latin typeface="Arial" charset="0"/>
        </a:defRPr>
      </a:lvl7pPr>
      <a:lvl8pPr marL="1370383" algn="ctr" rtl="0" eaLnBrk="1" fontAlgn="base" hangingPunct="1">
        <a:spcBef>
          <a:spcPct val="0"/>
        </a:spcBef>
        <a:spcAft>
          <a:spcPct val="0"/>
        </a:spcAft>
        <a:defRPr sz="3597">
          <a:solidFill>
            <a:srgbClr val="222222"/>
          </a:solidFill>
          <a:latin typeface="Arial" charset="0"/>
        </a:defRPr>
      </a:lvl8pPr>
      <a:lvl9pPr marL="1827179" algn="ctr" rtl="0" eaLnBrk="1" fontAlgn="base" hangingPunct="1">
        <a:spcBef>
          <a:spcPct val="0"/>
        </a:spcBef>
        <a:spcAft>
          <a:spcPct val="0"/>
        </a:spcAft>
        <a:defRPr sz="3597">
          <a:solidFill>
            <a:srgbClr val="222222"/>
          </a:solidFill>
          <a:latin typeface="Arial" charset="0"/>
        </a:defRPr>
      </a:lvl9pPr>
    </p:titleStyle>
    <p:bodyStyle>
      <a:lvl1pPr marL="342596" indent="-342596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598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291" indent="-285497" algn="l" rtl="0" eaLnBrk="0" fontAlgn="base" hangingPunct="0">
        <a:spcBef>
          <a:spcPct val="20000"/>
        </a:spcBef>
        <a:spcAft>
          <a:spcPct val="0"/>
        </a:spcAft>
        <a:buChar char="–"/>
        <a:defRPr sz="2398">
          <a:solidFill>
            <a:srgbClr val="222222"/>
          </a:solidFill>
          <a:latin typeface="+mn-lt"/>
          <a:ea typeface="MS PGothic" pitchFamily="34" charset="-128"/>
        </a:defRPr>
      </a:lvl2pPr>
      <a:lvl3pPr marL="1141986" indent="-228397" algn="l" rtl="0" eaLnBrk="0" fontAlgn="base" hangingPunct="0">
        <a:spcBef>
          <a:spcPct val="20000"/>
        </a:spcBef>
        <a:spcAft>
          <a:spcPct val="0"/>
        </a:spcAft>
        <a:buChar char="•"/>
        <a:defRPr sz="2198">
          <a:solidFill>
            <a:srgbClr val="222222"/>
          </a:solidFill>
          <a:latin typeface="+mn-lt"/>
          <a:ea typeface="MS PGothic" pitchFamily="34" charset="-128"/>
        </a:defRPr>
      </a:lvl3pPr>
      <a:lvl4pPr marL="1598781" indent="-228397" algn="l" rtl="0" eaLnBrk="0" fontAlgn="base" hangingPunct="0">
        <a:spcBef>
          <a:spcPct val="20000"/>
        </a:spcBef>
        <a:spcAft>
          <a:spcPct val="0"/>
        </a:spcAft>
        <a:buChar char="–"/>
        <a:defRPr sz="2198">
          <a:solidFill>
            <a:srgbClr val="222222"/>
          </a:solidFill>
          <a:latin typeface="+mn-lt"/>
          <a:ea typeface="MS PGothic" pitchFamily="34" charset="-128"/>
        </a:defRPr>
      </a:lvl4pPr>
      <a:lvl5pPr marL="2055576" indent="-228397" algn="l" rtl="0" eaLnBrk="0" fontAlgn="base" hangingPunct="0">
        <a:spcBef>
          <a:spcPct val="20000"/>
        </a:spcBef>
        <a:spcAft>
          <a:spcPct val="0"/>
        </a:spcAft>
        <a:buChar char="»"/>
        <a:defRPr sz="1998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2369" indent="-228397" algn="l" rtl="0" eaLnBrk="1" fontAlgn="base" hangingPunct="1">
        <a:spcBef>
          <a:spcPct val="20000"/>
        </a:spcBef>
        <a:spcAft>
          <a:spcPct val="0"/>
        </a:spcAft>
        <a:buChar char="»"/>
        <a:defRPr sz="1998">
          <a:solidFill>
            <a:schemeClr val="tx1"/>
          </a:solidFill>
          <a:latin typeface="Times New Roman" charset="0"/>
        </a:defRPr>
      </a:lvl6pPr>
      <a:lvl7pPr marL="2969165" indent="-228397" algn="l" rtl="0" eaLnBrk="1" fontAlgn="base" hangingPunct="1">
        <a:spcBef>
          <a:spcPct val="20000"/>
        </a:spcBef>
        <a:spcAft>
          <a:spcPct val="0"/>
        </a:spcAft>
        <a:buChar char="»"/>
        <a:defRPr sz="1998">
          <a:solidFill>
            <a:schemeClr val="tx1"/>
          </a:solidFill>
          <a:latin typeface="Times New Roman" charset="0"/>
        </a:defRPr>
      </a:lvl7pPr>
      <a:lvl8pPr marL="3425959" indent="-228397" algn="l" rtl="0" eaLnBrk="1" fontAlgn="base" hangingPunct="1">
        <a:spcBef>
          <a:spcPct val="20000"/>
        </a:spcBef>
        <a:spcAft>
          <a:spcPct val="0"/>
        </a:spcAft>
        <a:buChar char="»"/>
        <a:defRPr sz="1998">
          <a:solidFill>
            <a:schemeClr val="tx1"/>
          </a:solidFill>
          <a:latin typeface="Times New Roman" charset="0"/>
        </a:defRPr>
      </a:lvl8pPr>
      <a:lvl9pPr marL="3882754" indent="-228397" algn="l" rtl="0" eaLnBrk="1" fontAlgn="base" hangingPunct="1">
        <a:spcBef>
          <a:spcPct val="20000"/>
        </a:spcBef>
        <a:spcAft>
          <a:spcPct val="0"/>
        </a:spcAft>
        <a:buChar char="»"/>
        <a:defRPr sz="1998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358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794" algn="l" defTabSz="91358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589" algn="l" defTabSz="91358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383" algn="l" defTabSz="91358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179" algn="l" defTabSz="91358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3973" algn="l" defTabSz="91358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0768" algn="l" defTabSz="91358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7562" algn="l" defTabSz="91358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4356" algn="l" defTabSz="91358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8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8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'local</a:t>
            </a:r>
            <a:r>
              <a:rPr lang="en-US" sz="2600" spc="-200" dirty="0">
                <a:solidFill>
                  <a:srgbClr val="BFBFBF"/>
                </a:solidFill>
                <a:latin typeface="Consolas" panose="020B0609020204030204" pitchFamily="49" charset="0"/>
              </a:rPr>
              <a:t>s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'map',</a:t>
            </a:r>
            <a:r>
              <a:rPr lang="en-US" sz="2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open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'print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'property', 'quit', 'range',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'zip']</a:t>
            </a:r>
            <a:endParaRPr lang="en-US" altLang="zh-TW" sz="2600" spc="-100" dirty="0">
              <a:solidFill>
                <a:srgbClr val="BFBFB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={_[11],_[21],_[24]}   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{'range', 'print', 'input'}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sorted({*_}-{*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endParaRPr lang="en-US" altLang="zh-TW" sz="2600" kern="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548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apezoid 5"/>
          <p:cNvSpPr/>
          <p:nvPr/>
        </p:nvSpPr>
        <p:spPr bwMode="auto">
          <a:xfrm rot="2700000" flipH="1">
            <a:off x="7338654" y="435837"/>
            <a:ext cx="3125129" cy="78385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Lecture 5</a:t>
            </a:r>
            <a:b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</a:br>
            <a: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slide #158</a:t>
            </a:r>
          </a:p>
        </p:txBody>
      </p:sp>
    </p:spTree>
    <p:extLst>
      <p:ext uri="{BB962C8B-B14F-4D97-AF65-F5344CB8AC3E}">
        <p14:creationId xmlns:p14="http://schemas.microsoft.com/office/powerpoint/2010/main" val="347186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'hash</a:t>
            </a:r>
            <a:r>
              <a:rPr lang="en-US" sz="2600" spc="-4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'id</a:t>
            </a:r>
            <a:r>
              <a:rPr lang="en-US" sz="2600" spc="-4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'input</a:t>
            </a:r>
            <a:r>
              <a:rPr lang="en-US" sz="2600" spc="-4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isinstance</a:t>
            </a:r>
            <a:r>
              <a:rPr lang="en-US" sz="2600" spc="-4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issubclass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'local</a:t>
            </a:r>
            <a:r>
              <a:rPr lang="en-US" sz="2600" spc="-200" dirty="0">
                <a:solidFill>
                  <a:srgbClr val="BFBFBF"/>
                </a:solidFill>
                <a:latin typeface="Consolas" panose="020B0609020204030204" pitchFamily="49" charset="0"/>
              </a:rPr>
              <a:t>s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'map',</a:t>
            </a:r>
            <a:r>
              <a:rPr lang="en-US" sz="2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open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'print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'property', 'quit', 'range',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'zip']</a:t>
            </a:r>
            <a:endParaRPr lang="en-US" altLang="zh-TW" sz="2600" spc="-100" dirty="0">
              <a:solidFill>
                <a:srgbClr val="BFBFB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={_[11],_[21],_[24]}   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{'range', 'print', 'input'}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sorted({*_}-{*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0078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0548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rapezoid 9"/>
          <p:cNvSpPr/>
          <p:nvPr/>
        </p:nvSpPr>
        <p:spPr bwMode="auto">
          <a:xfrm rot="2700000" flipH="1">
            <a:off x="7338654" y="435837"/>
            <a:ext cx="3125129" cy="78385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Lecture 5</a:t>
            </a:r>
            <a:b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</a:br>
            <a: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slide #158</a:t>
            </a:r>
          </a:p>
        </p:txBody>
      </p:sp>
    </p:spTree>
    <p:extLst>
      <p:ext uri="{BB962C8B-B14F-4D97-AF65-F5344CB8AC3E}">
        <p14:creationId xmlns:p14="http://schemas.microsoft.com/office/powerpoint/2010/main" val="332723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901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1"/>
                            </p:stCondLst>
                            <p:childTnLst>
                              <p:par>
                                <p:cTn id="2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iter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'local</a:t>
            </a:r>
            <a:r>
              <a:rPr lang="en-US" sz="2600" spc="-200" dirty="0">
                <a:solidFill>
                  <a:srgbClr val="BFBFBF"/>
                </a:solidFill>
                <a:latin typeface="Consolas" panose="020B0609020204030204" pitchFamily="49" charset="0"/>
              </a:rPr>
              <a:t>s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'map',</a:t>
            </a:r>
            <a:r>
              <a:rPr lang="en-US" sz="2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memoryview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</a:t>
            </a:r>
            <a:r>
              <a:rPr lang="en-US" sz="2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'next',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open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'print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'property', 'quit', 'range',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'zip']</a:t>
            </a:r>
            <a:endParaRPr lang="en-US" altLang="zh-TW" sz="2600" spc="-100" dirty="0">
              <a:solidFill>
                <a:srgbClr val="BFBFB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={_[11],_[21],_[24]}   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{'range', 'print', 'input'}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sorted({*_}-{*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099074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'object',</a:t>
            </a:r>
            <a:r>
              <a:rPr lang="en-US" sz="20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open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2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14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'print</a:t>
            </a:r>
            <a:r>
              <a:rPr lang="en-US" sz="2600" spc="-300" dirty="0">
                <a:solidFill>
                  <a:srgbClr val="BFBFBF"/>
                </a:solidFill>
                <a:latin typeface="Consolas" panose="020B0609020204030204" pitchFamily="49" charset="0"/>
              </a:rPr>
              <a:t>'</a:t>
            </a:r>
            <a:r>
              <a:rPr lang="en-US" sz="2600" spc="-500" dirty="0">
                <a:solidFill>
                  <a:srgbClr val="BFBFBF"/>
                </a:solidFill>
                <a:latin typeface="Consolas" panose="020B0609020204030204" pitchFamily="49" charset="0"/>
              </a:rPr>
              <a:t>,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 'property', 'quit', 'range',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'zip']</a:t>
            </a:r>
            <a:endParaRPr lang="en-US" altLang="zh-TW" sz="2600" spc="-100" dirty="0">
              <a:solidFill>
                <a:srgbClr val="BFBFB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={_[11],_[21],_[24]}   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{'range', 'print', 'input'}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sorted({*_}-{*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401486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'range',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setattr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'slice',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staticmethod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'zip']</a:t>
            </a:r>
            <a:endParaRPr lang="en-US" altLang="zh-TW" sz="2600" spc="-100" dirty="0">
              <a:solidFill>
                <a:srgbClr val="BFBFB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={_[11],_[21],_[24]}   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{'range', 'print', 'input'}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sorted({*_}-{*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8554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548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66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801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'type', '</a:t>
            </a:r>
            <a:r>
              <a:rPr lang="en-US" sz="260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vars</a:t>
            </a:r>
            <a:r>
              <a:rPr lang="en-US" sz="2600" spc="-100" dirty="0">
                <a:solidFill>
                  <a:srgbClr val="BFBFBF"/>
                </a:solidFill>
                <a:latin typeface="Consolas" panose="020B0609020204030204" pitchFamily="49" charset="0"/>
              </a:rPr>
              <a:t>', 'zip']</a:t>
            </a:r>
            <a:endParaRPr lang="en-US" altLang="zh-TW" sz="2600" spc="-100" dirty="0">
              <a:solidFill>
                <a:srgbClr val="BFBFB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={_[11],_[21],_[24]}   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{'range', 'print', 'input'}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sorted({*_}-{*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59645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={_[11],_[21],_[24]}   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{'range', 'print', 'input'}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sorted({*_}-{*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</a:t>
            </a:r>
            <a:r>
              <a:rPr lang="en-US" altLang="zh-TW" sz="2600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92739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kern="0" spc="-100" dirty="0" err="1">
                <a:solidFill>
                  <a:srgbClr val="BFBFBF"/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{'range', 'print', 'input'}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sorted({*_}-{*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600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548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12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101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BFBFBF"/>
                </a:solidFill>
                <a:latin typeface="Consolas" panose="020B0609020204030204" pitchFamily="49" charset="0"/>
              </a:rPr>
              <a:t>{'range', 'print', 'input'}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sorted({*_}-{*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861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sorted({*_}-{*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willTalkAboutNow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45813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['callable',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'enumerate', 'exit', 'filter',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Without arguments, equivalent to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locals()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32720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'exit', 'filter',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Without arguments, equivalent to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locals()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 an argument, equivalent to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object.__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__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305997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Without arguments, equivalent to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locals()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 an argument, equivalent to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object.__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__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a[7]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a[14]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11C1FF"/>
                </a:solidFill>
                <a:latin typeface="Consolas" panose="020B0609020204030204" pitchFamily="49" charset="0"/>
              </a:rPr>
              <a:t>a[-2]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0266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548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90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1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'hash', 'id',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'map',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'next', 'object', 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locals.__doc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Without arguments, equivalent to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locals()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 an argument, equivalent to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object.__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__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a[7]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a[14]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11C1FF"/>
                </a:solidFill>
                <a:latin typeface="Consolas" panose="020B0609020204030204" pitchFamily="49" charset="0"/>
              </a:rPr>
              <a:t>a[-2]</a:t>
            </a: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endParaRPr lang="en-US" altLang="zh-TW" sz="2600" kern="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10516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locals.__doc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Without arguments, equivalent to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locals()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 an argument, equivalent to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object.__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__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a[7]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a[14]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11C1FF"/>
                </a:solidFill>
                <a:latin typeface="Consolas" panose="020B0609020204030204" pitchFamily="49" charset="0"/>
              </a:rPr>
              <a:t>a[-2]</a:t>
            </a: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548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5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4"/>
          <p:cNvSpPr>
            <a:spLocks noGrp="1"/>
          </p:cNvSpPr>
          <p:nvPr>
            <p:ph idx="1"/>
          </p:nvPr>
        </p:nvSpPr>
        <p:spPr>
          <a:xfrm>
            <a:off x="292100" y="977900"/>
            <a:ext cx="9437688" cy="5825699"/>
          </a:xfrm>
        </p:spPr>
        <p:txBody>
          <a:bodyPr>
            <a:noAutofit/>
          </a:bodyPr>
          <a:lstStyle/>
          <a:p>
            <a:pPr marL="1143000" indent="-114300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3200" b="1" i="1" dirty="0">
                <a:solidFill>
                  <a:srgbClr val="FF0000"/>
                </a:solidFill>
              </a:rPr>
              <a:t>Scope</a:t>
            </a:r>
            <a:r>
              <a:rPr lang="en-US" sz="3200" dirty="0"/>
              <a:t>:</a:t>
            </a:r>
            <a:r>
              <a:rPr lang="en-US" sz="2400" dirty="0"/>
              <a:t> </a:t>
            </a:r>
            <a:r>
              <a:rPr lang="en-US" sz="3200" dirty="0"/>
              <a:t>the</a:t>
            </a:r>
            <a:r>
              <a:rPr lang="en-US" dirty="0"/>
              <a:t> </a:t>
            </a:r>
            <a:r>
              <a:rPr lang="en-US" sz="3200" dirty="0"/>
              <a:t>set</a:t>
            </a:r>
            <a:r>
              <a:rPr lang="en-US" dirty="0"/>
              <a:t> </a:t>
            </a:r>
            <a:r>
              <a:rPr lang="en-US" sz="3200" dirty="0"/>
              <a:t>of</a:t>
            </a:r>
            <a:r>
              <a:rPr lang="en-US" dirty="0"/>
              <a:t> </a:t>
            </a:r>
            <a:r>
              <a:rPr lang="en-US" sz="3200" dirty="0"/>
              <a:t>places</a:t>
            </a:r>
            <a:r>
              <a:rPr lang="en-US" dirty="0"/>
              <a:t> </a:t>
            </a:r>
            <a:r>
              <a:rPr lang="en-US" sz="3200" dirty="0"/>
              <a:t>in</a:t>
            </a:r>
            <a:r>
              <a:rPr lang="en-US" dirty="0"/>
              <a:t> </a:t>
            </a:r>
            <a:r>
              <a:rPr lang="en-US" sz="3200" dirty="0"/>
              <a:t>a</a:t>
            </a:r>
            <a:r>
              <a:rPr lang="en-US" dirty="0"/>
              <a:t> </a:t>
            </a:r>
            <a:r>
              <a:rPr lang="en-US" sz="3200" dirty="0"/>
              <a:t>program</a:t>
            </a:r>
            <a:r>
              <a:rPr lang="en-US" dirty="0"/>
              <a:t> </a:t>
            </a:r>
            <a:r>
              <a:rPr lang="en-US" sz="3200" dirty="0"/>
              <a:t>where</a:t>
            </a:r>
            <a:r>
              <a:rPr lang="en-US" dirty="0"/>
              <a:t> </a:t>
            </a:r>
            <a:r>
              <a:rPr lang="en-US" sz="3200" dirty="0"/>
              <a:t>you</a:t>
            </a:r>
            <a:r>
              <a:rPr lang="en-US" dirty="0"/>
              <a:t> </a:t>
            </a:r>
            <a:r>
              <a:rPr lang="en-US" sz="3200" dirty="0"/>
              <a:t>can</a:t>
            </a:r>
            <a:r>
              <a:rPr lang="en-US" dirty="0"/>
              <a:t> </a:t>
            </a:r>
            <a:r>
              <a:rPr lang="en-US" sz="3200" dirty="0"/>
              <a:t>access</a:t>
            </a:r>
            <a:r>
              <a:rPr lang="en-US" dirty="0"/>
              <a:t> </a:t>
            </a:r>
            <a:r>
              <a:rPr lang="en-US" sz="3200" dirty="0"/>
              <a:t>a variable.</a:t>
            </a:r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en-US" sz="2800" spc="-50" dirty="0"/>
              <a:t>In languages like </a:t>
            </a:r>
            <a:r>
              <a:rPr lang="en-US" sz="2800" b="1" i="1" spc="-50" dirty="0">
                <a:solidFill>
                  <a:srgbClr val="0000FF"/>
                </a:solidFill>
              </a:rPr>
              <a:t>C</a:t>
            </a:r>
            <a:r>
              <a:rPr lang="en-US" sz="2800" spc="-50" dirty="0"/>
              <a:t>, variables are </a:t>
            </a:r>
            <a:r>
              <a:rPr lang="en-US" sz="2800" b="1" i="1" spc="-50" dirty="0">
                <a:solidFill>
                  <a:srgbClr val="008000"/>
                </a:solidFill>
              </a:rPr>
              <a:t>statically</a:t>
            </a:r>
            <a:r>
              <a:rPr lang="en-US" sz="2800" b="1" i="1" spc="-50" dirty="0"/>
              <a:t> </a:t>
            </a:r>
            <a:r>
              <a:rPr lang="en-US" sz="2800" b="1" i="1" spc="-50" dirty="0">
                <a:solidFill>
                  <a:srgbClr val="008000"/>
                </a:solidFill>
              </a:rPr>
              <a:t>declared</a:t>
            </a:r>
            <a:r>
              <a:rPr lang="en-US" sz="2800" spc="-50" dirty="0"/>
              <a:t>, so scopes are also static: </a:t>
            </a:r>
            <a:r>
              <a:rPr lang="en-US" spc="-50" dirty="0"/>
              <a:t>the “set of places” will b</a:t>
            </a:r>
            <a:r>
              <a:rPr lang="en-US" sz="2800" spc="-50" dirty="0"/>
              <a:t>e </a:t>
            </a:r>
            <a:r>
              <a:rPr lang="en-US" sz="2800" b="1" i="1" spc="-50" dirty="0">
                <a:solidFill>
                  <a:srgbClr val="B86410"/>
                </a:solidFill>
              </a:rPr>
              <a:t>specific</a:t>
            </a:r>
            <a:r>
              <a:rPr lang="en-US" sz="2800" b="1" i="1" spc="-50" dirty="0"/>
              <a:t> </a:t>
            </a:r>
            <a:r>
              <a:rPr lang="en-US" sz="2800" b="1" i="1" spc="-50" dirty="0">
                <a:solidFill>
                  <a:srgbClr val="B86410"/>
                </a:solidFill>
              </a:rPr>
              <a:t>lines</a:t>
            </a:r>
            <a:r>
              <a:rPr lang="en-US" sz="2800" spc="-50" dirty="0">
                <a:solidFill>
                  <a:srgbClr val="B86410"/>
                </a:solidFill>
              </a:rPr>
              <a:t> </a:t>
            </a:r>
            <a:r>
              <a:rPr lang="en-US" sz="2800" spc="-50" dirty="0"/>
              <a:t>of code.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sz="2800" dirty="0"/>
              <a:t>In </a:t>
            </a:r>
            <a:r>
              <a:rPr lang="en-US" sz="2800" b="1" i="1" dirty="0">
                <a:solidFill>
                  <a:srgbClr val="0000FF"/>
                </a:solidFill>
              </a:rPr>
              <a:t>Python</a:t>
            </a:r>
            <a:r>
              <a:rPr lang="en-US" sz="2800" dirty="0"/>
              <a:t>, variables are </a:t>
            </a:r>
            <a:r>
              <a:rPr lang="en-US" sz="2800" b="1" i="1" dirty="0">
                <a:solidFill>
                  <a:srgbClr val="008000"/>
                </a:solidFill>
              </a:rPr>
              <a:t>dynamically</a:t>
            </a:r>
            <a:r>
              <a:rPr lang="en-US" sz="2800" b="1" i="1" dirty="0"/>
              <a:t> </a:t>
            </a:r>
            <a:r>
              <a:rPr lang="en-US" sz="2800" b="1" i="1" dirty="0">
                <a:solidFill>
                  <a:srgbClr val="008000"/>
                </a:solidFill>
              </a:rPr>
              <a:t>declared</a:t>
            </a:r>
            <a:r>
              <a:rPr lang="en-US" sz="2800" dirty="0"/>
              <a:t>, so scopes are </a:t>
            </a:r>
            <a:r>
              <a:rPr lang="en-US" sz="2800" b="1" i="1" dirty="0">
                <a:solidFill>
                  <a:srgbClr val="B86410"/>
                </a:solidFill>
              </a:rPr>
              <a:t>not necessarily tied to specific lines</a:t>
            </a:r>
            <a:r>
              <a:rPr lang="en-US" sz="2800" dirty="0">
                <a:solidFill>
                  <a:srgbClr val="B86410"/>
                </a:solidFill>
              </a:rPr>
              <a:t> </a:t>
            </a:r>
            <a:r>
              <a:rPr lang="en-US" sz="2800" dirty="0"/>
              <a:t>of code.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371166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4"/>
          <p:cNvSpPr>
            <a:spLocks noGrp="1"/>
          </p:cNvSpPr>
          <p:nvPr>
            <p:ph idx="1"/>
          </p:nvPr>
        </p:nvSpPr>
        <p:spPr>
          <a:xfrm>
            <a:off x="292100" y="977900"/>
            <a:ext cx="9437688" cy="5825699"/>
          </a:xfrm>
        </p:spPr>
        <p:txBody>
          <a:bodyPr>
            <a:noAutofit/>
          </a:bodyPr>
          <a:lstStyle/>
          <a:p>
            <a:pPr marL="1143000" indent="-114300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3200" b="1" i="1" dirty="0">
                <a:solidFill>
                  <a:srgbClr val="FF0000"/>
                </a:solidFill>
              </a:rPr>
              <a:t>Scope</a:t>
            </a:r>
            <a:r>
              <a:rPr lang="en-US" sz="3200" dirty="0"/>
              <a:t>:</a:t>
            </a:r>
            <a:r>
              <a:rPr lang="en-US" sz="2400" dirty="0"/>
              <a:t> </a:t>
            </a:r>
            <a:r>
              <a:rPr lang="en-US" sz="3200" dirty="0"/>
              <a:t>the</a:t>
            </a:r>
            <a:r>
              <a:rPr lang="en-US" dirty="0"/>
              <a:t> </a:t>
            </a:r>
            <a:r>
              <a:rPr lang="en-US" sz="3200" dirty="0"/>
              <a:t>set</a:t>
            </a:r>
            <a:r>
              <a:rPr lang="en-US" dirty="0"/>
              <a:t> </a:t>
            </a:r>
            <a:r>
              <a:rPr lang="en-US" sz="3200" dirty="0"/>
              <a:t>of</a:t>
            </a:r>
            <a:r>
              <a:rPr lang="en-US" dirty="0"/>
              <a:t> </a:t>
            </a:r>
            <a:r>
              <a:rPr lang="en-US" sz="3200" dirty="0"/>
              <a:t>places</a:t>
            </a:r>
            <a:r>
              <a:rPr lang="en-US" dirty="0"/>
              <a:t> </a:t>
            </a:r>
            <a:r>
              <a:rPr lang="en-US" sz="3200" dirty="0"/>
              <a:t>in</a:t>
            </a:r>
            <a:r>
              <a:rPr lang="en-US" dirty="0"/>
              <a:t> </a:t>
            </a:r>
            <a:r>
              <a:rPr lang="en-US" sz="3200" dirty="0"/>
              <a:t>a</a:t>
            </a:r>
            <a:r>
              <a:rPr lang="en-US" dirty="0"/>
              <a:t> </a:t>
            </a:r>
            <a:r>
              <a:rPr lang="en-US" sz="3200" dirty="0"/>
              <a:t>program</a:t>
            </a:r>
            <a:r>
              <a:rPr lang="en-US" dirty="0"/>
              <a:t> </a:t>
            </a:r>
            <a:r>
              <a:rPr lang="en-US" sz="3200" dirty="0"/>
              <a:t>where</a:t>
            </a:r>
            <a:r>
              <a:rPr lang="en-US" dirty="0"/>
              <a:t> </a:t>
            </a:r>
            <a:r>
              <a:rPr lang="en-US" sz="3200" dirty="0"/>
              <a:t>you</a:t>
            </a:r>
            <a:r>
              <a:rPr lang="en-US" dirty="0"/>
              <a:t> </a:t>
            </a:r>
            <a:r>
              <a:rPr lang="en-US" sz="3200" dirty="0"/>
              <a:t>can</a:t>
            </a:r>
            <a:r>
              <a:rPr lang="en-US" dirty="0"/>
              <a:t> </a:t>
            </a:r>
            <a:r>
              <a:rPr lang="en-US" sz="3200" dirty="0"/>
              <a:t>access</a:t>
            </a:r>
            <a:r>
              <a:rPr lang="en-US" dirty="0"/>
              <a:t> </a:t>
            </a:r>
            <a:r>
              <a:rPr lang="en-US" sz="3200" dirty="0"/>
              <a:t>a variable.</a:t>
            </a:r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In languages like </a:t>
            </a:r>
            <a:r>
              <a:rPr lang="en-US" sz="2800" b="1" i="1" spc="-50" dirty="0">
                <a:solidFill>
                  <a:schemeClr val="bg1">
                    <a:lumMod val="75000"/>
                  </a:schemeClr>
                </a:solidFill>
              </a:rPr>
              <a:t>C</a:t>
            </a: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, variables are </a:t>
            </a:r>
            <a:r>
              <a:rPr lang="en-US" sz="2800" b="1" i="1" spc="-50" dirty="0">
                <a:solidFill>
                  <a:schemeClr val="bg1">
                    <a:lumMod val="75000"/>
                  </a:schemeClr>
                </a:solidFill>
              </a:rPr>
              <a:t>statically declared</a:t>
            </a: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, so scopes are also static: </a:t>
            </a:r>
            <a:r>
              <a:rPr lang="en-US" spc="-50" dirty="0">
                <a:solidFill>
                  <a:schemeClr val="bg1">
                    <a:lumMod val="75000"/>
                  </a:schemeClr>
                </a:solidFill>
              </a:rPr>
              <a:t>the “set of places” will be </a:t>
            </a:r>
            <a:r>
              <a:rPr lang="en-US" sz="2800" b="1" i="1" spc="-50" dirty="0">
                <a:solidFill>
                  <a:schemeClr val="bg1">
                    <a:lumMod val="75000"/>
                  </a:schemeClr>
                </a:solidFill>
              </a:rPr>
              <a:t>specific lines</a:t>
            </a: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 of code.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In </a:t>
            </a:r>
            <a:r>
              <a:rPr lang="en-US" sz="2800" b="1" i="1" dirty="0">
                <a:solidFill>
                  <a:schemeClr val="bg1">
                    <a:lumMod val="75000"/>
                  </a:schemeClr>
                </a:solidFill>
              </a:rPr>
              <a:t>Python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, variables are </a:t>
            </a:r>
            <a:r>
              <a:rPr lang="en-US" sz="2800" b="1" i="1" dirty="0">
                <a:solidFill>
                  <a:schemeClr val="bg1">
                    <a:lumMod val="75000"/>
                  </a:schemeClr>
                </a:solidFill>
              </a:rPr>
              <a:t>dynamically declared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, so scopes are </a:t>
            </a:r>
            <a:r>
              <a:rPr lang="en-US" sz="2800" b="1" i="1" dirty="0">
                <a:solidFill>
                  <a:schemeClr val="bg1">
                    <a:lumMod val="75000"/>
                  </a:schemeClr>
                </a:solidFill>
              </a:rPr>
              <a:t>not necessarily tied to specific lines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 of code.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TW" sz="2800" dirty="0"/>
              <a:t>A </a:t>
            </a:r>
            <a:r>
              <a:rPr lang="en-US" altLang="zh-TW" sz="2800" b="1" i="1" dirty="0">
                <a:solidFill>
                  <a:srgbClr val="0000FF"/>
                </a:solidFill>
              </a:rPr>
              <a:t>global variable</a:t>
            </a:r>
            <a:r>
              <a:rPr lang="en-US" altLang="zh-TW" sz="2800" dirty="0"/>
              <a:t> can be accessed everywhere.</a:t>
            </a:r>
            <a:endParaRPr lang="en-US" altLang="zh-TW" sz="2000" dirty="0"/>
          </a:p>
          <a:p>
            <a:pPr marL="520700" lvl="1">
              <a:lnSpc>
                <a:spcPct val="100000"/>
              </a:lnSpc>
            </a:pPr>
            <a:r>
              <a:rPr lang="en-US" altLang="zh-TW" sz="2600" dirty="0"/>
              <a:t>But</a:t>
            </a:r>
            <a:r>
              <a:rPr lang="en-US" altLang="zh-TW" sz="2400" dirty="0"/>
              <a:t> </a:t>
            </a:r>
            <a:r>
              <a:rPr lang="en-US" altLang="zh-TW" sz="2600" dirty="0"/>
              <a:t>only</a:t>
            </a:r>
            <a:r>
              <a:rPr lang="en-US" altLang="zh-TW" sz="2400" dirty="0"/>
              <a:t> </a:t>
            </a:r>
            <a:r>
              <a:rPr lang="en-US" altLang="zh-TW" sz="2600" dirty="0"/>
              <a:t>after</a:t>
            </a:r>
            <a:r>
              <a:rPr lang="en-US" altLang="zh-TW" sz="2400" dirty="0"/>
              <a:t> </a:t>
            </a:r>
            <a:r>
              <a:rPr lang="en-US" altLang="zh-TW" sz="2600" dirty="0"/>
              <a:t>that</a:t>
            </a:r>
            <a:r>
              <a:rPr lang="en-US" altLang="zh-TW" sz="2400" dirty="0"/>
              <a:t> </a:t>
            </a:r>
            <a:r>
              <a:rPr lang="en-US" altLang="zh-TW" sz="2600" dirty="0"/>
              <a:t>(dynamic)</a:t>
            </a:r>
            <a:r>
              <a:rPr lang="en-US" altLang="zh-TW" sz="2400" dirty="0"/>
              <a:t> </a:t>
            </a:r>
            <a:r>
              <a:rPr lang="en-US" altLang="zh-TW" sz="2600" dirty="0"/>
              <a:t>moment</a:t>
            </a:r>
            <a:r>
              <a:rPr lang="en-US" altLang="zh-TW" sz="2400" dirty="0"/>
              <a:t> </a:t>
            </a:r>
            <a:r>
              <a:rPr lang="en-US" altLang="zh-TW" sz="2600" dirty="0"/>
              <a:t>when</a:t>
            </a:r>
            <a:r>
              <a:rPr lang="en-US" altLang="zh-TW" sz="2400" dirty="0"/>
              <a:t> </a:t>
            </a:r>
            <a:r>
              <a:rPr lang="en-US" altLang="zh-TW" sz="2600" dirty="0"/>
              <a:t>it</a:t>
            </a:r>
            <a:r>
              <a:rPr lang="en-US" altLang="zh-TW" sz="2400" dirty="0"/>
              <a:t>’</a:t>
            </a:r>
            <a:r>
              <a:rPr lang="en-US" altLang="zh-TW" sz="2600" dirty="0"/>
              <a:t>s</a:t>
            </a:r>
            <a:r>
              <a:rPr lang="en-US" altLang="zh-TW" sz="2400" dirty="0"/>
              <a:t> </a:t>
            </a:r>
            <a:r>
              <a:rPr lang="en-US" altLang="zh-TW" sz="2600" dirty="0"/>
              <a:t>declared.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sz="2800" spc="-40" dirty="0"/>
              <a:t>A</a:t>
            </a:r>
            <a:r>
              <a:rPr lang="en-US" sz="1800" spc="-40" dirty="0"/>
              <a:t> </a:t>
            </a:r>
            <a:r>
              <a:rPr lang="en-US" sz="2800" b="1" i="1" spc="-40" dirty="0">
                <a:solidFill>
                  <a:srgbClr val="0000FF"/>
                </a:solidFill>
              </a:rPr>
              <a:t>local</a:t>
            </a:r>
            <a:r>
              <a:rPr lang="en-US" sz="2000" b="1" i="1" spc="-40" dirty="0">
                <a:solidFill>
                  <a:srgbClr val="0000FF"/>
                </a:solidFill>
              </a:rPr>
              <a:t> </a:t>
            </a:r>
            <a:r>
              <a:rPr lang="en-US" sz="2800" b="1" i="1" spc="-40" dirty="0">
                <a:solidFill>
                  <a:srgbClr val="0000FF"/>
                </a:solidFill>
              </a:rPr>
              <a:t>variable</a:t>
            </a:r>
            <a:r>
              <a:rPr lang="en-US" sz="2400" spc="-40" dirty="0"/>
              <a:t> </a:t>
            </a:r>
            <a:r>
              <a:rPr lang="en-US" sz="2800" spc="-40" dirty="0"/>
              <a:t>can</a:t>
            </a:r>
            <a:r>
              <a:rPr lang="en-US" sz="2000" spc="-40" dirty="0"/>
              <a:t> </a:t>
            </a:r>
            <a:r>
              <a:rPr lang="en-US" sz="2800" spc="-40" dirty="0"/>
              <a:t>only</a:t>
            </a:r>
            <a:r>
              <a:rPr lang="en-US" sz="2000" spc="-40" dirty="0"/>
              <a:t> </a:t>
            </a:r>
            <a:r>
              <a:rPr lang="en-US" sz="2800" spc="-40" dirty="0"/>
              <a:t>be</a:t>
            </a:r>
            <a:r>
              <a:rPr lang="en-US" sz="2000" spc="-40" dirty="0"/>
              <a:t> </a:t>
            </a:r>
            <a:r>
              <a:rPr lang="en-US" sz="2800" spc="-40" dirty="0"/>
              <a:t>accessed</a:t>
            </a:r>
            <a:r>
              <a:rPr lang="en-US" sz="2400" spc="-40" dirty="0"/>
              <a:t> </a:t>
            </a:r>
            <a:r>
              <a:rPr lang="en-US" sz="2800" spc="-40" dirty="0"/>
              <a:t>inside</a:t>
            </a:r>
            <a:r>
              <a:rPr lang="en-US" sz="2400" spc="-40" dirty="0"/>
              <a:t> </a:t>
            </a:r>
            <a:r>
              <a:rPr lang="en-US" sz="2800" spc="-40" dirty="0"/>
              <a:t>its creating</a:t>
            </a:r>
            <a:r>
              <a:rPr lang="en-US" sz="2400" spc="-40" dirty="0"/>
              <a:t> </a:t>
            </a:r>
            <a:r>
              <a:rPr lang="en-US" sz="2800" spc="-40" dirty="0"/>
              <a:t>function.</a:t>
            </a:r>
          </a:p>
          <a:p>
            <a:pPr marL="520700" lvl="1">
              <a:lnSpc>
                <a:spcPct val="100000"/>
              </a:lnSpc>
            </a:pPr>
            <a:r>
              <a:rPr lang="en-US" sz="2600" dirty="0"/>
              <a:t>That is to say: not even by functions called within that function.</a:t>
            </a:r>
          </a:p>
          <a:p>
            <a:pPr marL="863600" lvl="2" indent="-292100">
              <a:lnSpc>
                <a:spcPct val="100000"/>
              </a:lnSpc>
            </a:pPr>
            <a:r>
              <a:rPr lang="en-US" sz="2400" dirty="0"/>
              <a:t>Unless</a:t>
            </a:r>
            <a:r>
              <a:rPr lang="en-US" sz="2000" dirty="0"/>
              <a:t> </a:t>
            </a:r>
            <a:r>
              <a:rPr lang="en-US" sz="2400" dirty="0"/>
              <a:t>it is</a:t>
            </a:r>
            <a:r>
              <a:rPr lang="en-US" sz="2000" dirty="0"/>
              <a:t> </a:t>
            </a:r>
            <a:r>
              <a:rPr lang="en-US" sz="2400" dirty="0"/>
              <a:t>passed</a:t>
            </a:r>
            <a:r>
              <a:rPr lang="en-US" sz="2000" dirty="0"/>
              <a:t> </a:t>
            </a:r>
            <a:r>
              <a:rPr lang="en-US" sz="2400" dirty="0"/>
              <a:t>to</a:t>
            </a:r>
            <a:r>
              <a:rPr lang="en-US" sz="2000" dirty="0"/>
              <a:t> </a:t>
            </a:r>
            <a:r>
              <a:rPr lang="en-US" sz="2400" dirty="0"/>
              <a:t>those</a:t>
            </a:r>
            <a:r>
              <a:rPr lang="en-US" sz="2000" dirty="0"/>
              <a:t> </a:t>
            </a:r>
            <a:r>
              <a:rPr lang="en-US" sz="2400" dirty="0"/>
              <a:t>functions</a:t>
            </a:r>
            <a:r>
              <a:rPr lang="en-US" sz="2000" dirty="0"/>
              <a:t> </a:t>
            </a:r>
            <a:r>
              <a:rPr lang="en-US" sz="2400" dirty="0"/>
              <a:t>or</a:t>
            </a:r>
            <a:r>
              <a:rPr lang="en-US" sz="2000" dirty="0"/>
              <a:t> </a:t>
            </a:r>
            <a:r>
              <a:rPr lang="en-US" sz="2400" dirty="0"/>
              <a:t>is</a:t>
            </a:r>
            <a:r>
              <a:rPr lang="en-US" sz="2000" dirty="0"/>
              <a:t> </a:t>
            </a:r>
            <a:r>
              <a:rPr lang="en-US" sz="2400" dirty="0"/>
              <a:t>declared to be</a:t>
            </a:r>
            <a:r>
              <a:rPr lang="en-US" sz="2000" dirty="0"/>
              <a:t> </a:t>
            </a:r>
            <a:r>
              <a:rPr lang="en-US" sz="2400" b="1" i="1" dirty="0">
                <a:solidFill>
                  <a:srgbClr val="0000FF"/>
                </a:solidFill>
              </a:rPr>
              <a:t>nonlocal</a:t>
            </a:r>
            <a:r>
              <a:rPr lang="en-US" sz="2400" b="1" i="1" dirty="0"/>
              <a:t>.</a:t>
            </a:r>
            <a:endParaRPr lang="en-US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295918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A8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 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 0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):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=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	  </a:t>
            </a:r>
            <a:r>
              <a:rPr lang="en-US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5" name="圓角矩形圖說文字 1"/>
          <p:cNvSpPr/>
          <p:nvPr/>
        </p:nvSpPr>
        <p:spPr>
          <a:xfrm>
            <a:off x="5921562" y="3878314"/>
            <a:ext cx="3512743" cy="1890535"/>
          </a:xfrm>
          <a:prstGeom prst="wedgeRoundRectCallout">
            <a:avLst>
              <a:gd name="adj1" fmla="val -107320"/>
              <a:gd name="adj2" fmla="val 21648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 surprise for C programmers. Let’s see why…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91971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):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=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	  </a:t>
            </a: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endParaRPr lang="en-US" altLang="zh-TW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135127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):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=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	  </a:t>
            </a: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364505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):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=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	  </a:t>
            </a: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80243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):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=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	  </a:t>
            </a: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153913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):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=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	  </a:t>
            </a: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3219248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10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10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=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360757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=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147744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=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381613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=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  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93570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=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  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10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342082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=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  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163771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=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  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61916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"/>
    </mc:Choice>
    <mc:Fallback xmlns="">
      <p:transition spd="slow" advTm="5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=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  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TW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13897788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test2.c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#include &lt;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stdio.h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//This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void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 err="1"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 err="1"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){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= 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 %d\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n"</a:t>
            </a:r>
            <a:r>
              <a:rPr lang="en-US" sz="2400" dirty="0" err="1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main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(){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 %d\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n"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gcc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–o test2.x test2.c; ./test2.x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5" name="圓角矩形圖說文字 1"/>
          <p:cNvSpPr/>
          <p:nvPr/>
        </p:nvSpPr>
        <p:spPr>
          <a:xfrm>
            <a:off x="6314392" y="4372304"/>
            <a:ext cx="3123853" cy="2489615"/>
          </a:xfrm>
          <a:prstGeom prst="wedgeRoundRectCallout">
            <a:avLst>
              <a:gd name="adj1" fmla="val -122525"/>
              <a:gd name="adj2" fmla="val 30095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See? The C “equivalent” program produces a </a:t>
            </a:r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answer</a:t>
            </a:r>
            <a:endParaRPr lang="zh-TW" alt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圓角矩形圖說文字 1"/>
          <p:cNvSpPr/>
          <p:nvPr/>
        </p:nvSpPr>
        <p:spPr>
          <a:xfrm>
            <a:off x="7153468" y="42044"/>
            <a:ext cx="2277770" cy="1895794"/>
          </a:xfrm>
          <a:prstGeom prst="wedgeRoundRectCallout">
            <a:avLst>
              <a:gd name="adj1" fmla="val -233160"/>
              <a:gd name="adj2" fmla="val 13321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“equivalent” C program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圓角矩形圖說文字 1"/>
          <p:cNvSpPr/>
          <p:nvPr/>
        </p:nvSpPr>
        <p:spPr>
          <a:xfrm>
            <a:off x="2800564" y="3329315"/>
            <a:ext cx="3123853" cy="1533532"/>
          </a:xfrm>
          <a:prstGeom prst="wedgeRoundRectCallout">
            <a:avLst>
              <a:gd name="adj1" fmla="val 101432"/>
              <a:gd name="adj2" fmla="val 156845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it’s not really the “equivalent” program, is it?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圓角矩形圖說文字 1"/>
          <p:cNvSpPr/>
          <p:nvPr/>
        </p:nvSpPr>
        <p:spPr>
          <a:xfrm>
            <a:off x="6941352" y="2415254"/>
            <a:ext cx="2493686" cy="1533532"/>
          </a:xfrm>
          <a:prstGeom prst="wedgeRoundRectCallout">
            <a:avLst>
              <a:gd name="adj1" fmla="val -104588"/>
              <a:gd name="adj2" fmla="val 47840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what C program is “equivalent”?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08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0" y="996288"/>
            <a:ext cx="10071095" cy="5861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test1.c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#include &lt;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stdio.h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//This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void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){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 %d\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n"</a:t>
            </a:r>
            <a:r>
              <a:rPr lang="en-US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main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(){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 %d\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n"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gcc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–o test1.x test1.c; ./test1.x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6" name="圓角矩形圖說文字 1"/>
          <p:cNvSpPr/>
          <p:nvPr/>
        </p:nvSpPr>
        <p:spPr>
          <a:xfrm>
            <a:off x="3435564" y="3329315"/>
            <a:ext cx="3123853" cy="1533532"/>
          </a:xfrm>
          <a:prstGeom prst="wedgeRoundRectCallout">
            <a:avLst>
              <a:gd name="adj1" fmla="val -92492"/>
              <a:gd name="adj2" fmla="val -175762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one.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圓角矩形圖說文字 1"/>
          <p:cNvSpPr/>
          <p:nvPr/>
        </p:nvSpPr>
        <p:spPr>
          <a:xfrm>
            <a:off x="7153468" y="42044"/>
            <a:ext cx="2277770" cy="1895794"/>
          </a:xfrm>
          <a:prstGeom prst="wedgeRoundRectCallout">
            <a:avLst>
              <a:gd name="adj1" fmla="val -233160"/>
              <a:gd name="adj2" fmla="val 13321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“equivalent” C program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圓角矩形圖說文字 1"/>
          <p:cNvSpPr/>
          <p:nvPr/>
        </p:nvSpPr>
        <p:spPr>
          <a:xfrm>
            <a:off x="6941352" y="2415254"/>
            <a:ext cx="2493686" cy="1533532"/>
          </a:xfrm>
          <a:prstGeom prst="wedgeRoundRectCallout">
            <a:avLst>
              <a:gd name="adj1" fmla="val -104588"/>
              <a:gd name="adj2" fmla="val 47840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what C program is “equivalent”?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圓角矩形圖說文字 1"/>
          <p:cNvSpPr/>
          <p:nvPr/>
        </p:nvSpPr>
        <p:spPr>
          <a:xfrm>
            <a:off x="7156644" y="899298"/>
            <a:ext cx="2277770" cy="1895794"/>
          </a:xfrm>
          <a:prstGeom prst="wedgeRoundRectCallout">
            <a:avLst>
              <a:gd name="adj1" fmla="val -290380"/>
              <a:gd name="adj2" fmla="val 62726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only change was to add the word “</a:t>
            </a:r>
            <a:r>
              <a:rPr lang="en-US" altLang="zh-TW" sz="3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圓角矩形圖說文字 1"/>
          <p:cNvSpPr/>
          <p:nvPr/>
        </p:nvSpPr>
        <p:spPr>
          <a:xfrm>
            <a:off x="6512835" y="4372304"/>
            <a:ext cx="2920891" cy="2489615"/>
          </a:xfrm>
          <a:prstGeom prst="wedgeRoundRectCallout">
            <a:avLst>
              <a:gd name="adj1" fmla="val -138605"/>
              <a:gd name="adj2" fmla="val 28693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See? This C program produced the </a:t>
            </a:r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answer </a:t>
            </a:r>
            <a:b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Python did.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圓角矩形圖說文字 1"/>
          <p:cNvSpPr/>
          <p:nvPr/>
        </p:nvSpPr>
        <p:spPr>
          <a:xfrm>
            <a:off x="6314392" y="4372304"/>
            <a:ext cx="3123853" cy="2489615"/>
          </a:xfrm>
          <a:prstGeom prst="wedgeRoundRectCallout">
            <a:avLst>
              <a:gd name="adj1" fmla="val -122525"/>
              <a:gd name="adj2" fmla="val 30095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See? The C “equivalent” program produces a </a:t>
            </a:r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answer</a:t>
            </a:r>
            <a:endParaRPr lang="zh-TW" alt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12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" grpId="0" animBg="1"/>
      <p:bldP spid="19" grpId="0" animBg="1"/>
      <p:bldP spid="14" grpId="0" animBg="1"/>
      <p:bldP spid="13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" y="996288"/>
            <a:ext cx="9729788" cy="5861712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test2.c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#include &lt;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stdio.h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&gt;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//This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void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 err="1"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 err="1"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){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= 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 %d\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n"</a:t>
            </a:r>
            <a:r>
              <a:rPr lang="en-US" sz="2400" dirty="0" err="1"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main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(){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 %d\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n"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gcc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–o test2.x test2.c; ./test2.x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9" name="圓角矩形圖說文字 1"/>
          <p:cNvSpPr/>
          <p:nvPr/>
        </p:nvSpPr>
        <p:spPr>
          <a:xfrm>
            <a:off x="7156644" y="899298"/>
            <a:ext cx="2277770" cy="1895794"/>
          </a:xfrm>
          <a:prstGeom prst="wedgeRoundRectCallout">
            <a:avLst>
              <a:gd name="adj1" fmla="val -290380"/>
              <a:gd name="adj2" fmla="val 62726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only change was to add the word “</a:t>
            </a:r>
            <a:r>
              <a:rPr lang="en-US" altLang="zh-TW" sz="3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圖說文字 1"/>
          <p:cNvSpPr/>
          <p:nvPr/>
        </p:nvSpPr>
        <p:spPr>
          <a:xfrm>
            <a:off x="6512835" y="4372304"/>
            <a:ext cx="2920891" cy="2489615"/>
          </a:xfrm>
          <a:prstGeom prst="wedgeRoundRectCallout">
            <a:avLst>
              <a:gd name="adj1" fmla="val -138605"/>
              <a:gd name="adj2" fmla="val 28693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See? This C program produced </a:t>
            </a:r>
            <a:r>
              <a:rPr lang="en-US" altLang="zh-TW" sz="32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than</a:t>
            </a:r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did.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113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0" y="996288"/>
            <a:ext cx="10071095" cy="5861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test1.c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#include &lt;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stdio.h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//This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void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){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 %d\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n"</a:t>
            </a:r>
            <a:r>
              <a:rPr lang="en-US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main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(){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 %d\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n"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gcc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–o test1.x test1.c; ./test1.x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14" name="圓角矩形圖說文字 1"/>
          <p:cNvSpPr/>
          <p:nvPr/>
        </p:nvSpPr>
        <p:spPr>
          <a:xfrm>
            <a:off x="7156644" y="899298"/>
            <a:ext cx="2277770" cy="1895794"/>
          </a:xfrm>
          <a:prstGeom prst="wedgeRoundRectCallout">
            <a:avLst>
              <a:gd name="adj1" fmla="val -290380"/>
              <a:gd name="adj2" fmla="val 62726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only change was to add the word “</a:t>
            </a:r>
            <a:r>
              <a:rPr lang="en-US" altLang="zh-TW" sz="3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圓角矩形圖說文字 1"/>
          <p:cNvSpPr/>
          <p:nvPr/>
        </p:nvSpPr>
        <p:spPr>
          <a:xfrm>
            <a:off x="6512835" y="4372304"/>
            <a:ext cx="2920891" cy="2489615"/>
          </a:xfrm>
          <a:prstGeom prst="wedgeRoundRectCallout">
            <a:avLst>
              <a:gd name="adj1" fmla="val -138605"/>
              <a:gd name="adj2" fmla="val 28693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See? This C program produced the </a:t>
            </a:r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answer </a:t>
            </a:r>
            <a:b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Python did.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91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1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0" y="996288"/>
            <a:ext cx="10071095" cy="5861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=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  print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12298879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0" y="996288"/>
            <a:ext cx="10071095" cy="5861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test2.py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global total</a:t>
            </a:r>
            <a:endParaRPr lang="en-US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=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  print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test2.py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5" name="圓角矩形圖說文字 1"/>
          <p:cNvSpPr/>
          <p:nvPr/>
        </p:nvSpPr>
        <p:spPr>
          <a:xfrm>
            <a:off x="7153468" y="42044"/>
            <a:ext cx="2277770" cy="1895794"/>
          </a:xfrm>
          <a:prstGeom prst="wedgeRoundRectCallout">
            <a:avLst>
              <a:gd name="adj1" fmla="val -224239"/>
              <a:gd name="adj2" fmla="val 14661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is a </a:t>
            </a:r>
            <a:b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Python program.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圓角矩形圖說文字 1"/>
          <p:cNvSpPr/>
          <p:nvPr/>
        </p:nvSpPr>
        <p:spPr>
          <a:xfrm>
            <a:off x="7156636" y="3786189"/>
            <a:ext cx="2277770" cy="3052771"/>
          </a:xfrm>
          <a:prstGeom prst="wedgeRoundRectCallout">
            <a:avLst>
              <a:gd name="adj1" fmla="val -185907"/>
              <a:gd name="adj2" fmla="val 33560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now we get the answer that the earlier C program was giving.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圓角矩形圖說文字 1"/>
          <p:cNvSpPr/>
          <p:nvPr/>
        </p:nvSpPr>
        <p:spPr>
          <a:xfrm>
            <a:off x="7159815" y="2021665"/>
            <a:ext cx="2277770" cy="1686742"/>
          </a:xfrm>
          <a:prstGeom prst="wedgeRoundRectCallout">
            <a:avLst>
              <a:gd name="adj1" fmla="val -218107"/>
              <a:gd name="adj2" fmla="val -10021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a new statement.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82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0" y="996288"/>
            <a:ext cx="10071095" cy="5861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test2.c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#include &lt;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stdio.h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//This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void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){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= 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 %d\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n"</a:t>
            </a:r>
            <a:r>
              <a:rPr lang="en-US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main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(){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 %d\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n"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gcc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–o test2.x test2.c; ./test2.x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11" name="圓角矩形圖說文字 1"/>
          <p:cNvSpPr/>
          <p:nvPr/>
        </p:nvSpPr>
        <p:spPr>
          <a:xfrm>
            <a:off x="7153468" y="42044"/>
            <a:ext cx="2277770" cy="1895794"/>
          </a:xfrm>
          <a:prstGeom prst="wedgeRoundRectCallout">
            <a:avLst>
              <a:gd name="adj1" fmla="val -224239"/>
              <a:gd name="adj2" fmla="val 14661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is a </a:t>
            </a:r>
            <a:b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Python program.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圓角矩形圖說文字 1"/>
          <p:cNvSpPr/>
          <p:nvPr/>
        </p:nvSpPr>
        <p:spPr>
          <a:xfrm>
            <a:off x="7156636" y="3786189"/>
            <a:ext cx="2277770" cy="3052771"/>
          </a:xfrm>
          <a:prstGeom prst="wedgeRoundRectCallout">
            <a:avLst>
              <a:gd name="adj1" fmla="val -185907"/>
              <a:gd name="adj2" fmla="val 33560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now we get the answer that the earlier C program was giving.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圓角矩形圖說文字 1"/>
          <p:cNvSpPr/>
          <p:nvPr/>
        </p:nvSpPr>
        <p:spPr>
          <a:xfrm>
            <a:off x="7159815" y="2021665"/>
            <a:ext cx="2277770" cy="1686742"/>
          </a:xfrm>
          <a:prstGeom prst="wedgeRoundRectCallout">
            <a:avLst>
              <a:gd name="adj1" fmla="val -218107"/>
              <a:gd name="adj2" fmla="val -10021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zh-TW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a new statement.</a:t>
            </a:r>
            <a:endParaRPr lang="zh-TW" alt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05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0" y="996288"/>
            <a:ext cx="10071095" cy="5861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test2.py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global total</a:t>
            </a:r>
            <a:endParaRPr lang="en-US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=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  print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test2.py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97278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0" y="996288"/>
            <a:ext cx="10071095" cy="5861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# 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endParaRPr lang="en-US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= 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   print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="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altLang="zh-TW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(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="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   ,</a:t>
            </a:r>
            <a:r>
              <a:rPr lang="en-US" altLang="zh-TW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</a:t>
            </a:r>
            <a:r>
              <a:rPr lang="en-US" altLang="zh-TW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23318302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0" y="996288"/>
            <a:ext cx="10071095" cy="5861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cat </a:t>
            </a:r>
            <a:r>
              <a:rPr lang="en-US" sz="2400" dirty="0">
                <a:solidFill>
                  <a:srgbClr val="FFC000"/>
                </a:solidFill>
                <a:latin typeface="Lucida Sans Typewriter" panose="020B0509030504030204" pitchFamily="49" charset="0"/>
                <a:cs typeface="Courier New" pitchFamily="49" charset="0"/>
              </a:rPr>
              <a:t>test1.c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#include &lt;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stdio.h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&gt;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//This is global variable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void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){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prstClr val="white">
                  <a:lumMod val="75000"/>
                </a:prstClr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=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arg1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+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arg2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"Inside, total = %d\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n"</a:t>
            </a:r>
            <a:r>
              <a:rPr lang="en-US" sz="24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main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(){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sum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10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 </a:t>
            </a:r>
            <a:r>
              <a:rPr lang="en-US" sz="2400" dirty="0">
                <a:solidFill>
                  <a:srgbClr val="008000"/>
                </a:solidFill>
                <a:latin typeface="Lucida Sans Typewriter" panose="020B0509030504030204" pitchFamily="49" charset="0"/>
                <a:cs typeface="Courier New" pitchFamily="49" charset="0"/>
              </a:rPr>
              <a:t>20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"Outside, total = %d\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n"</a:t>
            </a:r>
            <a:r>
              <a:rPr lang="en-US" sz="2400" dirty="0" err="1">
                <a:solidFill>
                  <a:srgbClr val="7030A0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2400" dirty="0" err="1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</a:t>
            </a:r>
            <a:r>
              <a:rPr lang="en-US" sz="2400" dirty="0" err="1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gcc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–o test1.x test1.c; ./test1.x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Inside, total =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Outside, total = </a:t>
            </a:r>
            <a:r>
              <a:rPr lang="en-US" sz="2400" b="1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white">
                    <a:lumMod val="7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Scopes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32401125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579590"/>
            <a:ext cx="4918869" cy="3492724"/>
          </a:xfrm>
          <a:prstGeom prst="rect">
            <a:avLst/>
          </a:prstGeom>
          <a:solidFill>
            <a:srgbClr val="FF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18871" y="3579590"/>
            <a:ext cx="4810917" cy="3492724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06156" y="3541986"/>
            <a:ext cx="5223632" cy="331075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% cat test2.py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total = 0;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sz="20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sum( arg1, arg2 ):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global total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total  =  arg1 + arg2;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</a:t>
            </a:r>
            <a:r>
              <a:rPr lang="en-US" sz="20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print("Inside total=",total)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sum( 10, 20 );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spc="-5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 ("Outside total=",total</a:t>
            </a:r>
            <a:r>
              <a:rPr lang="en-US" sz="20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test2.py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Inside total= 30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Outside total= </a:t>
            </a:r>
            <a:r>
              <a:rPr lang="en-US" sz="20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-204186" y="3541986"/>
            <a:ext cx="5247042" cy="3316014"/>
          </a:xfrm>
          <a:noFill/>
        </p:spPr>
        <p:txBody>
          <a:bodyPr>
            <a:noAutofit/>
          </a:bodyPr>
          <a:lstStyle/>
          <a:p>
            <a:pPr lvl="1">
              <a:spcBef>
                <a:spcPts val="0"/>
              </a:spcBef>
              <a:buNone/>
            </a:pPr>
            <a:r>
              <a:rPr lang="en-US" sz="2000" b="1" dirty="0">
                <a:latin typeface="Lucida Sans Typewriter" panose="020B0509030504030204" pitchFamily="49" charset="0"/>
                <a:cs typeface="Courier New" pitchFamily="49" charset="0"/>
              </a:rPr>
              <a:t>% cat test1.py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000" dirty="0">
                <a:latin typeface="Lucida Sans Typewriter" panose="020B0509030504030204" pitchFamily="49" charset="0"/>
                <a:cs typeface="Courier New" pitchFamily="49" charset="0"/>
              </a:rPr>
              <a:t>total = 0;</a:t>
            </a:r>
          </a:p>
          <a:p>
            <a:pPr lvl="1">
              <a:spcBef>
                <a:spcPts val="0"/>
              </a:spcBef>
              <a:buNone/>
            </a:pPr>
            <a:r>
              <a:rPr lang="en-US" sz="2000" dirty="0" err="1">
                <a:latin typeface="Lucida Sans Typewriter" panose="020B0509030504030204" pitchFamily="49" charset="0"/>
                <a:cs typeface="Courier New" pitchFamily="49" charset="0"/>
              </a:rPr>
              <a:t>def</a:t>
            </a:r>
            <a:r>
              <a:rPr lang="en-US" sz="2000" dirty="0">
                <a:latin typeface="Lucida Sans Typewriter" panose="020B0509030504030204" pitchFamily="49" charset="0"/>
                <a:cs typeface="Courier New" pitchFamily="49" charset="0"/>
              </a:rPr>
              <a:t> sum( arg1, arg2 ): </a:t>
            </a:r>
          </a:p>
          <a:p>
            <a:pPr lvl="1">
              <a:spcBef>
                <a:spcPts val="0"/>
              </a:spcBef>
              <a:buNone/>
            </a:pPr>
            <a:r>
              <a:rPr lang="en-US" sz="2000" dirty="0">
                <a:latin typeface="Lucida Sans Typewriter" panose="020B0509030504030204" pitchFamily="49" charset="0"/>
                <a:cs typeface="Courier New" pitchFamily="49" charset="0"/>
              </a:rPr>
              <a:t>   total  =  arg1 + arg2; </a:t>
            </a:r>
          </a:p>
          <a:p>
            <a:pPr lvl="1">
              <a:spcBef>
                <a:spcPts val="0"/>
              </a:spcBef>
              <a:buNone/>
            </a:pPr>
            <a:r>
              <a:rPr lang="en-US" sz="2000" dirty="0">
                <a:latin typeface="Lucida Sans Typewriter" panose="020B0509030504030204" pitchFamily="49" charset="0"/>
                <a:cs typeface="Courier New" pitchFamily="49" charset="0"/>
              </a:rPr>
              <a:t>   print("Inside total=",total)</a:t>
            </a:r>
          </a:p>
          <a:p>
            <a:pPr lvl="1">
              <a:spcBef>
                <a:spcPts val="0"/>
              </a:spcBef>
              <a:buNone/>
            </a:pPr>
            <a:r>
              <a:rPr lang="en-US" sz="2000" dirty="0">
                <a:latin typeface="Lucida Sans Typewriter" panose="020B0509030504030204" pitchFamily="49" charset="0"/>
                <a:cs typeface="Courier New" pitchFamily="49" charset="0"/>
              </a:rPr>
              <a:t>sum( 10, 20 ); </a:t>
            </a:r>
          </a:p>
          <a:p>
            <a:pPr lvl="1">
              <a:spcBef>
                <a:spcPts val="0"/>
              </a:spcBef>
              <a:buNone/>
            </a:pPr>
            <a:r>
              <a:rPr lang="en-US" sz="2000" dirty="0">
                <a:latin typeface="Lucida Sans Typewriter" panose="020B0509030504030204" pitchFamily="49" charset="0"/>
                <a:cs typeface="Courier New" pitchFamily="49" charset="0"/>
              </a:rPr>
              <a:t>print("Outside total=",total)</a:t>
            </a:r>
          </a:p>
          <a:p>
            <a:pPr lvl="1">
              <a:spcBef>
                <a:spcPts val="0"/>
              </a:spcBef>
              <a:buNone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Lucida Sans Typewriter" panose="020B0509030504030204" pitchFamily="49" charset="0"/>
                <a:cs typeface="Courier New" pitchFamily="49" charset="0"/>
              </a:rPr>
              <a:t>% python3 test1.py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000" dirty="0">
                <a:latin typeface="Lucida Sans Typewriter" panose="020B0509030504030204" pitchFamily="49" charset="0"/>
                <a:cs typeface="Courier New" pitchFamily="49" charset="0"/>
              </a:rPr>
              <a:t>Inside total= 30 </a:t>
            </a:r>
          </a:p>
          <a:p>
            <a:pPr lvl="1">
              <a:spcBef>
                <a:spcPts val="0"/>
              </a:spcBef>
              <a:buNone/>
            </a:pPr>
            <a:r>
              <a:rPr lang="en-US" sz="2000" dirty="0">
                <a:latin typeface="Lucida Sans Typewriter" panose="020B0509030504030204" pitchFamily="49" charset="0"/>
                <a:cs typeface="Courier New" pitchFamily="49" charset="0"/>
              </a:rPr>
              <a:t>Outside total= </a:t>
            </a:r>
            <a:r>
              <a:rPr lang="en-US" sz="20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spcBef>
                <a:spcPts val="0"/>
              </a:spcBef>
              <a:buNone/>
            </a:pPr>
            <a:r>
              <a:rPr lang="en-US" sz="2000" dirty="0">
                <a:latin typeface="Lucida Sans Typewriter" panose="020B05090305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-200023"/>
            <a:ext cx="4923721" cy="3784873"/>
          </a:xfrm>
          <a:prstGeom prst="rect">
            <a:avLst/>
          </a:prstGeom>
          <a:solidFill>
            <a:srgbClr val="CDE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18871" y="-200023"/>
            <a:ext cx="4810917" cy="3784873"/>
          </a:xfrm>
          <a:prstGeom prst="rect">
            <a:avLst/>
          </a:prstGeom>
          <a:solidFill>
            <a:srgbClr val="FF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-190501" y="88683"/>
            <a:ext cx="5233355" cy="36748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% cat test1.c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#include &lt;</a:t>
            </a:r>
            <a:r>
              <a:rPr lang="en-US" sz="18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stdio.h</a:t>
            </a: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&gt;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total= 0;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void sum(</a:t>
            </a:r>
            <a:r>
              <a:rPr lang="en-US" sz="18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arg1, </a:t>
            </a:r>
            <a:r>
              <a:rPr lang="en-US" sz="18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arg2 ){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18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total = arg1 + arg2; </a:t>
            </a:r>
          </a:p>
          <a:p>
            <a:pPr lvl="1">
              <a:spcBef>
                <a:spcPts val="0"/>
              </a:spcBef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1800" spc="-1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1800" spc="-1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("Inside</a:t>
            </a:r>
            <a:r>
              <a:rPr lang="en-US" sz="1400" spc="-1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spc="-1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total= %d</a:t>
            </a:r>
            <a:r>
              <a:rPr lang="en-US" sz="1800" b="1" spc="-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\</a:t>
            </a:r>
            <a:r>
              <a:rPr lang="en-US" sz="1800" spc="-5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n</a:t>
            </a:r>
            <a:r>
              <a:rPr lang="en-US" sz="1800" spc="-7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1800" spc="-8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1800" spc="-3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1800" spc="-1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tot</a:t>
            </a:r>
            <a:r>
              <a:rPr lang="en-US" sz="1800" spc="-3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al</a:t>
            </a:r>
            <a:r>
              <a:rPr lang="en-US" sz="1800" spc="-5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</a:t>
            </a:r>
            <a:r>
              <a:rPr lang="en-US" sz="1800" spc="-1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main(){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sum( 10, 20 );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spc="-7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1800" spc="-7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("Outside</a:t>
            </a:r>
            <a:r>
              <a:rPr lang="en-US" sz="1400" spc="-7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spc="-7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total=</a:t>
            </a:r>
            <a:r>
              <a:rPr lang="en-US" sz="1200" spc="-7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spc="-7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%d</a:t>
            </a:r>
            <a:r>
              <a:rPr lang="en-US" sz="1800" b="1" spc="-7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\</a:t>
            </a:r>
            <a:r>
              <a:rPr lang="en-US" sz="1800" spc="-7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n",total</a:t>
            </a:r>
            <a:r>
              <a:rPr lang="en-US" sz="1800" spc="-7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spcBef>
                <a:spcPts val="0"/>
              </a:spcBef>
              <a:buNone/>
            </a:pP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 </a:t>
            </a:r>
            <a:r>
              <a:rPr lang="en-US" sz="1800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gcc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o</a:t>
            </a:r>
            <a:r>
              <a:rPr lang="en-US" sz="16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test</a:t>
            </a:r>
            <a:r>
              <a:rPr lang="en-US" sz="1800" spc="-22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sz="1800" spc="-3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x</a:t>
            </a:r>
            <a:r>
              <a:rPr lang="en-US" sz="16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test</a:t>
            </a:r>
            <a:r>
              <a:rPr lang="en-US" sz="1800" spc="-22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sz="1800" spc="-3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c;</a:t>
            </a:r>
            <a:r>
              <a:rPr lang="en-US" sz="16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test</a:t>
            </a:r>
            <a:r>
              <a:rPr lang="en-US" sz="1800" spc="-22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1</a:t>
            </a:r>
            <a:r>
              <a:rPr lang="en-US" sz="1800" spc="-3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x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Inside total= 30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Outside total=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  <a:cs typeface="Courier New" pitchFamily="49" charset="0"/>
              </a:rPr>
              <a:t>0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09684" y="88683"/>
            <a:ext cx="5913263" cy="36748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% cat test2.c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#include &lt;</a:t>
            </a:r>
            <a:r>
              <a:rPr lang="en-US" sz="18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stdio.h</a:t>
            </a: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&gt;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total= 0;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void sum(</a:t>
            </a:r>
            <a:r>
              <a:rPr lang="en-US" sz="18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arg1, </a:t>
            </a:r>
            <a:r>
              <a:rPr lang="en-US" sz="18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arg2 ){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 total  =  arg1 + arg2; </a:t>
            </a:r>
          </a:p>
          <a:p>
            <a:pPr lvl="1">
              <a:spcBef>
                <a:spcPts val="0"/>
              </a:spcBef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  </a:t>
            </a:r>
            <a:r>
              <a:rPr lang="en-US" sz="1800" spc="-1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1800" spc="-1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("Inside</a:t>
            </a:r>
            <a:r>
              <a:rPr lang="en-US" sz="1400" spc="-1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spc="-1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total= %d</a:t>
            </a:r>
            <a:r>
              <a:rPr lang="en-US" sz="1800" b="1" spc="-100" dirty="0">
                <a:solidFill>
                  <a:prstClr val="black"/>
                </a:solidFill>
                <a:latin typeface="Arial Narrow" panose="020B0606020202030204" pitchFamily="34" charset="0"/>
                <a:cs typeface="Courier New" pitchFamily="49" charset="0"/>
              </a:rPr>
              <a:t>\</a:t>
            </a:r>
            <a:r>
              <a:rPr lang="en-US" sz="1800" spc="-6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n</a:t>
            </a:r>
            <a:r>
              <a:rPr lang="en-US" sz="1800" spc="-7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1800" spc="-9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1800" spc="-3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1800" spc="-1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tot</a:t>
            </a:r>
            <a:r>
              <a:rPr lang="en-US" sz="1800" spc="-3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al</a:t>
            </a:r>
            <a:r>
              <a:rPr lang="en-US" sz="1800" b="1" spc="-300" dirty="0">
                <a:solidFill>
                  <a:prstClr val="black"/>
                </a:solidFill>
                <a:latin typeface="Agency FB" panose="020B0503020202020204" pitchFamily="34" charset="0"/>
                <a:cs typeface="Courier New" pitchFamily="49" charset="0"/>
              </a:rPr>
              <a:t>)</a:t>
            </a:r>
            <a:r>
              <a:rPr lang="en-US" sz="1800" spc="-1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;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int</a:t>
            </a: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main(){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sum( 10, 20 ); </a:t>
            </a:r>
          </a:p>
          <a:p>
            <a:pPr lvl="1">
              <a:spcBef>
                <a:spcPts val="0"/>
              </a:spcBef>
              <a:buNone/>
            </a:pPr>
            <a:r>
              <a:rPr lang="en-US" sz="1800" spc="-7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printf</a:t>
            </a:r>
            <a:r>
              <a:rPr lang="en-US" sz="1800" spc="-7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("Outside</a:t>
            </a:r>
            <a:r>
              <a:rPr lang="en-US" sz="1400" spc="-7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spc="-7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total=</a:t>
            </a:r>
            <a:r>
              <a:rPr lang="en-US" sz="1200" spc="-7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spc="-7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%d</a:t>
            </a:r>
            <a:r>
              <a:rPr lang="en-US" sz="1800" b="1" spc="-7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\</a:t>
            </a:r>
            <a:r>
              <a:rPr lang="en-US" sz="1800" spc="-45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n</a:t>
            </a:r>
            <a:r>
              <a:rPr lang="en-US" sz="1800" spc="-7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1800" spc="-9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'</a:t>
            </a:r>
            <a:r>
              <a:rPr lang="en-US" sz="1800" spc="-30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,</a:t>
            </a:r>
            <a:r>
              <a:rPr lang="en-US" sz="1800" spc="-70" dirty="0" err="1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total</a:t>
            </a:r>
            <a:r>
              <a:rPr lang="en-US" sz="1800" spc="-7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);</a:t>
            </a:r>
            <a:endParaRPr lang="en-US" sz="18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}</a:t>
            </a:r>
          </a:p>
          <a:p>
            <a:pPr lvl="1">
              <a:spcBef>
                <a:spcPts val="0"/>
              </a:spcBef>
              <a:buNone/>
            </a:pP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%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dirty="0" err="1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gcc</a:t>
            </a:r>
            <a:r>
              <a:rPr lang="en-US" sz="14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o</a:t>
            </a:r>
            <a:r>
              <a:rPr lang="en-US" sz="16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test</a:t>
            </a:r>
            <a:r>
              <a:rPr lang="en-US" sz="1800" spc="-22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2</a:t>
            </a:r>
            <a:r>
              <a:rPr lang="en-US" sz="1800" spc="-3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x</a:t>
            </a:r>
            <a:r>
              <a:rPr lang="en-US" sz="16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test</a:t>
            </a:r>
            <a:r>
              <a:rPr lang="en-US" sz="1800" spc="-22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2</a:t>
            </a:r>
            <a:r>
              <a:rPr lang="en-US" sz="1800" spc="-3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c;</a:t>
            </a:r>
            <a:r>
              <a:rPr lang="en-US" sz="16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 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test</a:t>
            </a:r>
            <a:r>
              <a:rPr lang="en-US" sz="1800" spc="-22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2</a:t>
            </a:r>
            <a:r>
              <a:rPr lang="en-US" sz="1800" spc="-3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.</a:t>
            </a:r>
            <a:r>
              <a:rPr lang="en-US" sz="1800" dirty="0">
                <a:solidFill>
                  <a:prstClr val="white">
                    <a:lumMod val="65000"/>
                  </a:prstClr>
                </a:solidFill>
                <a:latin typeface="Lucida Sans Typewriter" panose="020B0509030504030204" pitchFamily="49" charset="0"/>
                <a:cs typeface="Courier New" pitchFamily="49" charset="0"/>
              </a:rPr>
              <a:t>x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Inside total= 30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prstClr val="black"/>
                </a:solidFill>
                <a:latin typeface="Lucida Sans Typewriter" panose="020B0509030504030204" pitchFamily="49" charset="0"/>
                <a:cs typeface="Courier New" pitchFamily="49" charset="0"/>
              </a:rPr>
              <a:t>Outside total= </a:t>
            </a:r>
            <a:r>
              <a:rPr lang="en-US" sz="1800" dirty="0">
                <a:solidFill>
                  <a:srgbClr val="0000FF"/>
                </a:solidFill>
                <a:latin typeface="Lucida Sans Typewriter" panose="020B0509030504030204" pitchFamily="49" charset="0"/>
                <a:cs typeface="Courier New" pitchFamily="49" charset="0"/>
              </a:rPr>
              <a:t>30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800" dirty="0">
              <a:solidFill>
                <a:prstClr val="black"/>
              </a:solidFill>
              <a:latin typeface="Lucida Sans Typewriter" panose="020B050903050403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4944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080958" y="2357446"/>
            <a:ext cx="4563374" cy="4500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spc="-70" dirty="0">
                <a:solidFill>
                  <a:prstClr val="black"/>
                </a:solidFill>
              </a:rPr>
              <a:t>But Python implicitly interprets an assignment as a declaration:</a:t>
            </a:r>
          </a:p>
          <a:p>
            <a:pPr marL="571500" indent="-57150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x=1, y=1, z=1;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def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f() :  </a:t>
            </a:r>
          </a:p>
          <a:p>
            <a:pPr marL="741363" indent="-7413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x = 2;</a:t>
            </a:r>
          </a:p>
          <a:p>
            <a:pPr marL="396875" indent="-396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 y = 5;</a:t>
            </a:r>
          </a:p>
          <a:p>
            <a:pPr marL="741363" indent="-7413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print(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x+y+z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);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#8</a:t>
            </a:r>
          </a:p>
          <a:p>
            <a:pPr marL="396875" indent="-396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f()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print(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x+y+z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#1+1+1=</a:t>
            </a:r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</a:t>
            </a:r>
          </a:p>
          <a:p>
            <a:pPr marL="396875" indent="-396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93297" y="1033465"/>
            <a:ext cx="9144001" cy="1281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prstClr val="black"/>
                </a:solidFill>
              </a:rPr>
              <a:t>The difference between the behavior of C and of Python is due to the fact that:</a:t>
            </a:r>
            <a:endParaRPr lang="en-US" sz="3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08918" y="2357446"/>
            <a:ext cx="4837535" cy="4500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spc="-60" dirty="0">
                <a:solidFill>
                  <a:prstClr val="black"/>
                </a:solidFill>
              </a:rPr>
              <a:t>C requires an explicit declaration statement before using a variable:</a:t>
            </a:r>
          </a:p>
          <a:p>
            <a:pPr marL="571500" indent="-57150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x=1, y=1, z=1;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f() {  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x = 2;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</a:t>
            </a:r>
            <a:r>
              <a:rPr lang="en-US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y=5;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</a:t>
            </a:r>
            <a:r>
              <a:rPr lang="en-US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print("%d",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x+y+z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//8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}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main() {    f(); 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 </a:t>
            </a:r>
            <a:r>
              <a:rPr lang="en-US" altLang="zh-TW" sz="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print("%d",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x+y+z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  <a:b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</a:b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</a:t>
            </a:r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//1+5+1=</a:t>
            </a:r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7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}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What did that example show?</a:t>
            </a:r>
          </a:p>
        </p:txBody>
      </p:sp>
    </p:spTree>
    <p:extLst>
      <p:ext uri="{BB962C8B-B14F-4D97-AF65-F5344CB8AC3E}">
        <p14:creationId xmlns:p14="http://schemas.microsoft.com/office/powerpoint/2010/main" val="58702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080958" y="2357446"/>
            <a:ext cx="4563374" cy="4500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spc="-70" dirty="0">
                <a:solidFill>
                  <a:prstClr val="black"/>
                </a:solidFill>
              </a:rPr>
              <a:t>But Python implicitly interprets an assignment as a declaration:</a:t>
            </a:r>
          </a:p>
          <a:p>
            <a:pPr marL="571500" indent="-57150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284163" indent="-284163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x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 z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def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f() :  </a:t>
            </a:r>
          </a:p>
          <a:p>
            <a:pPr marL="741363" indent="-741363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x 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 2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pPr marL="396875" indent="-396875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 </a:t>
            </a:r>
            <a:r>
              <a:rPr 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y 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 5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pPr marL="741363" indent="-741363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print(</a:t>
            </a:r>
            <a:r>
              <a:rPr 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z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);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#8</a:t>
            </a:r>
          </a:p>
          <a:p>
            <a:pPr marL="396875" indent="-396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f()</a:t>
            </a:r>
          </a:p>
          <a:p>
            <a:pPr marL="284163" indent="-284163">
              <a:spcBef>
                <a:spcPts val="0"/>
              </a:spcBef>
              <a:buNone/>
            </a:pP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print(</a:t>
            </a:r>
            <a:r>
              <a:rPr lang="en-US" altLang="zh-TW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#1+1+1=</a:t>
            </a:r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</a:t>
            </a:r>
          </a:p>
          <a:p>
            <a:pPr marL="396875" indent="-396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93297" y="1033465"/>
            <a:ext cx="9144001" cy="1281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prstClr val="black"/>
                </a:solidFill>
              </a:rPr>
              <a:t>The difference between the behavior of C and of Python is due to the fact that:</a:t>
            </a:r>
            <a:endParaRPr lang="en-US" sz="3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08918" y="2357446"/>
            <a:ext cx="4837535" cy="4500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spc="-60" dirty="0">
                <a:solidFill>
                  <a:prstClr val="black"/>
                </a:solidFill>
              </a:rPr>
              <a:t>C requires an explicit declaration statement before using a variable:</a:t>
            </a:r>
          </a:p>
          <a:p>
            <a:pPr marL="571500" indent="-57150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284163" indent="-284163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int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 x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 y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 z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f() {  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int</a:t>
            </a:r>
            <a:r>
              <a:rPr 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 x 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 2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</a:t>
            </a:r>
            <a:r>
              <a:rPr lang="en-US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5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</a:t>
            </a:r>
            <a:r>
              <a:rPr lang="en-US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print("%d",</a:t>
            </a:r>
            <a:r>
              <a:rPr 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z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//8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}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main() {     ();</a:t>
            </a:r>
          </a:p>
          <a:p>
            <a:pPr marL="284163" indent="-284163">
              <a:spcBef>
                <a:spcPts val="0"/>
              </a:spcBef>
              <a:buNone/>
            </a:pP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 </a:t>
            </a:r>
            <a:r>
              <a:rPr lang="en-US" altLang="zh-TW" sz="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print("%d",</a:t>
            </a:r>
            <a:r>
              <a:rPr lang="en-US" altLang="zh-TW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  <a:b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</a:b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</a:t>
            </a:r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//1+5+1=</a:t>
            </a:r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7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}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What did that example show?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4847445" y="5343537"/>
            <a:ext cx="2743200" cy="1357312"/>
          </a:xfrm>
          <a:prstGeom prst="wedgeRoundRectCallout">
            <a:avLst>
              <a:gd name="adj1" fmla="val -404"/>
              <a:gd name="adj2" fmla="val -119605"/>
              <a:gd name="adj3" fmla="val 16667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implicit local declarations</a:t>
            </a:r>
            <a:endParaRPr lang="zh-TW" alt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1632738" y="5343537"/>
            <a:ext cx="2743200" cy="1357312"/>
          </a:xfrm>
          <a:prstGeom prst="wedgeRoundRectCallout">
            <a:avLst>
              <a:gd name="adj1" fmla="val -52579"/>
              <a:gd name="adj2" fmla="val -128026"/>
              <a:gd name="adj3" fmla="val 16667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explicit local declaration</a:t>
            </a:r>
            <a:endParaRPr lang="zh-TW" alt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22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080958" y="2357446"/>
            <a:ext cx="4563374" cy="4500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spc="-70" dirty="0">
                <a:solidFill>
                  <a:prstClr val="black"/>
                </a:solidFill>
              </a:rPr>
              <a:t>But Python implicitly interprets </a:t>
            </a:r>
            <a:r>
              <a:rPr lang="en-US" sz="2800" b="1" spc="-100" dirty="0">
                <a:solidFill>
                  <a:srgbClr val="FFC000"/>
                </a:solidFill>
              </a:rPr>
              <a:t>an</a:t>
            </a:r>
            <a:r>
              <a:rPr lang="en-US" sz="2800" spc="-100" dirty="0">
                <a:solidFill>
                  <a:prstClr val="black"/>
                </a:solidFill>
              </a:rPr>
              <a:t> </a:t>
            </a:r>
            <a:r>
              <a:rPr lang="en-US" sz="2800" b="1" spc="-100" dirty="0">
                <a:solidFill>
                  <a:srgbClr val="FFC000"/>
                </a:solidFill>
              </a:rPr>
              <a:t>a</a:t>
            </a:r>
            <a:r>
              <a:rPr lang="en-US" sz="2800" b="1" spc="-90" dirty="0">
                <a:solidFill>
                  <a:srgbClr val="FFC000"/>
                </a:solidFill>
              </a:rPr>
              <a:t>ssig</a:t>
            </a:r>
            <a:r>
              <a:rPr lang="en-US" sz="2800" b="1" spc="-100" dirty="0">
                <a:solidFill>
                  <a:srgbClr val="FFC000"/>
                </a:solidFill>
              </a:rPr>
              <a:t>nme</a:t>
            </a:r>
            <a:r>
              <a:rPr lang="en-US" sz="2800" b="1" spc="-70" dirty="0">
                <a:solidFill>
                  <a:srgbClr val="FFC000"/>
                </a:solidFill>
              </a:rPr>
              <a:t>n</a:t>
            </a:r>
            <a:r>
              <a:rPr lang="en-US" sz="2800" b="1" spc="-100" dirty="0">
                <a:solidFill>
                  <a:srgbClr val="FFC000"/>
                </a:solidFill>
              </a:rPr>
              <a:t>t</a:t>
            </a:r>
            <a:r>
              <a:rPr lang="en-US" sz="2800" spc="-100" dirty="0">
                <a:solidFill>
                  <a:prstClr val="black"/>
                </a:solidFill>
              </a:rPr>
              <a:t> </a:t>
            </a:r>
            <a:r>
              <a:rPr lang="en-US" sz="2800" spc="-70" dirty="0">
                <a:solidFill>
                  <a:prstClr val="black"/>
                </a:solidFill>
              </a:rPr>
              <a:t>as a declaration:</a:t>
            </a:r>
          </a:p>
          <a:p>
            <a:pPr marL="571500" indent="-57150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284163" indent="-284163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x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 z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def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f() :  </a:t>
            </a:r>
          </a:p>
          <a:p>
            <a:pPr marL="741363" indent="-741363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x 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 2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pPr marL="396875" indent="-396875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 </a:t>
            </a:r>
            <a:r>
              <a:rPr 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y 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 5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pPr marL="741363" indent="-741363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print(</a:t>
            </a:r>
            <a:r>
              <a:rPr 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z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);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#8</a:t>
            </a:r>
          </a:p>
          <a:p>
            <a:pPr marL="396875" indent="-396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f()</a:t>
            </a:r>
          </a:p>
          <a:p>
            <a:pPr marL="284163" indent="-284163">
              <a:spcBef>
                <a:spcPts val="0"/>
              </a:spcBef>
              <a:buNone/>
            </a:pP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print(</a:t>
            </a:r>
            <a:r>
              <a:rPr lang="en-US" altLang="zh-TW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#1+1+1=</a:t>
            </a:r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3</a:t>
            </a:r>
          </a:p>
          <a:p>
            <a:pPr marL="396875" indent="-396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08918" y="2357446"/>
            <a:ext cx="4837535" cy="4500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spc="-60" dirty="0">
                <a:solidFill>
                  <a:prstClr val="black"/>
                </a:solidFill>
              </a:rPr>
              <a:t>C requires an explicit declaration statement before using a variable:</a:t>
            </a:r>
          </a:p>
          <a:p>
            <a:pPr marL="571500" indent="-57150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284163" indent="-284163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int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 x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 y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 z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f() {  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int</a:t>
            </a:r>
            <a:r>
              <a:rPr 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 x 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 2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</a:t>
            </a:r>
            <a:r>
              <a:rPr lang="en-US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24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5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</a:t>
            </a:r>
            <a:r>
              <a:rPr lang="en-US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print("%d",</a:t>
            </a:r>
            <a:r>
              <a:rPr lang="en-US" sz="24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z</a:t>
            </a: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//8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}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main() {    f(); </a:t>
            </a:r>
          </a:p>
          <a:p>
            <a:pPr marL="284163" indent="-284163">
              <a:spcBef>
                <a:spcPts val="0"/>
              </a:spcBef>
              <a:buNone/>
            </a:pP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  </a:t>
            </a:r>
            <a:r>
              <a:rPr lang="en-US" altLang="zh-TW" sz="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print("%d",</a:t>
            </a:r>
            <a:r>
              <a:rPr lang="en-US" altLang="zh-TW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24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  <a:b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</a:br>
            <a:r>
              <a:rPr lang="en-US" altLang="zh-TW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</a:t>
            </a:r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//1+5+1=</a:t>
            </a:r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7</a:t>
            </a:r>
          </a:p>
          <a:p>
            <a:pPr marL="284163" indent="-284163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	}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4847445" y="5343537"/>
            <a:ext cx="2743200" cy="1357312"/>
          </a:xfrm>
          <a:prstGeom prst="wedgeRoundRectCallout">
            <a:avLst>
              <a:gd name="adj1" fmla="val -404"/>
              <a:gd name="adj2" fmla="val -119605"/>
              <a:gd name="adj3" fmla="val 16667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implicit local declarations</a:t>
            </a:r>
            <a:endParaRPr lang="zh-TW" alt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1632738" y="5343537"/>
            <a:ext cx="2743200" cy="1357312"/>
          </a:xfrm>
          <a:prstGeom prst="wedgeRoundRectCallout">
            <a:avLst>
              <a:gd name="adj1" fmla="val -52579"/>
              <a:gd name="adj2" fmla="val -128026"/>
              <a:gd name="adj3" fmla="val 16667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explicit local declaration</a:t>
            </a:r>
            <a:endParaRPr lang="zh-TW" alt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5524334" y="5624489"/>
            <a:ext cx="3912959" cy="1233511"/>
          </a:xfrm>
          <a:prstGeom prst="wedgeRoundRectCallout">
            <a:avLst>
              <a:gd name="adj1" fmla="val 9393"/>
              <a:gd name="adj2" fmla="val -102004"/>
              <a:gd name="adj3" fmla="val 16667"/>
            </a:avLst>
          </a:prstGeom>
          <a:solidFill>
            <a:srgbClr val="FF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>
              <a:lnSpc>
                <a:spcPct val="80000"/>
              </a:lnSpc>
            </a:pPr>
            <a:r>
              <a:rPr lang="en-US" altLang="zh-TW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Although z is accessed locally, it isn’t </a:t>
            </a:r>
            <a:r>
              <a:rPr lang="en-US" altLang="zh-TW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assigned</a:t>
            </a:r>
            <a:r>
              <a:rPr lang="en-US" altLang="zh-TW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locally, so it is a global.</a:t>
            </a:r>
            <a:endParaRPr lang="zh-TW" alt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93297" y="1033465"/>
            <a:ext cx="9144001" cy="1281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prstClr val="black"/>
                </a:solidFill>
              </a:rPr>
              <a:t>The difference between the behavior of C and of Python is due to the fact that:</a:t>
            </a:r>
            <a:endParaRPr lang="en-US" sz="3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What did that example show?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6599943" y="401213"/>
            <a:ext cx="2838464" cy="1357312"/>
          </a:xfrm>
          <a:prstGeom prst="wedgeRoundRectCallout">
            <a:avLst>
              <a:gd name="adj1" fmla="val -64813"/>
              <a:gd name="adj2" fmla="val 129869"/>
              <a:gd name="adj3" fmla="val 16667"/>
            </a:avLst>
          </a:prstGeom>
          <a:solidFill>
            <a:srgbClr val="FFA8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altLang="zh-TW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altLang="zh-TW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assignments</a:t>
            </a:r>
            <a:r>
              <a:rPr lang="en-US" altLang="zh-TW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implicit declarations</a:t>
            </a:r>
            <a:endParaRPr lang="zh-TW" alt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10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3" grpId="1" animBg="1"/>
      <p:bldP spid="12" grpId="0" animBg="1"/>
      <p:bldP spid="12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92100" y="1155033"/>
            <a:ext cx="9856010" cy="57029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3800" spc="-30" dirty="0">
                <a:solidFill>
                  <a:prstClr val="black"/>
                </a:solidFill>
              </a:rPr>
              <a:t>Even if the assignment comes</a:t>
            </a:r>
            <a:r>
              <a:rPr lang="en-US" altLang="zh-TW" sz="3200" spc="-30" dirty="0">
                <a:solidFill>
                  <a:prstClr val="black"/>
                </a:solidFill>
              </a:rPr>
              <a:t> </a:t>
            </a:r>
            <a:r>
              <a:rPr lang="en-US" altLang="zh-TW" sz="3800" spc="-30" dirty="0">
                <a:solidFill>
                  <a:prstClr val="black"/>
                </a:solidFill>
              </a:rPr>
              <a:t>later,</a:t>
            </a:r>
            <a:r>
              <a:rPr lang="en-US" altLang="zh-TW" sz="3200" spc="-30" dirty="0">
                <a:solidFill>
                  <a:prstClr val="black"/>
                </a:solidFill>
              </a:rPr>
              <a:t> </a:t>
            </a:r>
            <a:r>
              <a:rPr lang="en-US" altLang="zh-TW" sz="3800" spc="-30" dirty="0">
                <a:solidFill>
                  <a:prstClr val="black"/>
                </a:solidFill>
              </a:rPr>
              <a:t>the implicit </a:t>
            </a:r>
            <a:r>
              <a:rPr lang="en-US" altLang="zh-TW" sz="3800" spc="-60" dirty="0">
                <a:solidFill>
                  <a:prstClr val="black"/>
                </a:solidFill>
              </a:rPr>
              <a:t>declaration</a:t>
            </a:r>
            <a:r>
              <a:rPr lang="en-US" altLang="zh-TW" sz="2400" spc="-60" dirty="0">
                <a:solidFill>
                  <a:prstClr val="black"/>
                </a:solidFill>
              </a:rPr>
              <a:t> </a:t>
            </a:r>
            <a:r>
              <a:rPr lang="en-US" altLang="zh-TW" sz="3800" i="1" spc="-60" dirty="0">
                <a:solidFill>
                  <a:prstClr val="black"/>
                </a:solidFill>
              </a:rPr>
              <a:t>still</a:t>
            </a:r>
            <a:r>
              <a:rPr lang="en-US" altLang="zh-TW" sz="3200" spc="-60" dirty="0">
                <a:solidFill>
                  <a:prstClr val="black"/>
                </a:solidFill>
              </a:rPr>
              <a:t> </a:t>
            </a:r>
            <a:r>
              <a:rPr lang="en-US" altLang="zh-TW" sz="3800" spc="-60" dirty="0">
                <a:solidFill>
                  <a:prstClr val="black"/>
                </a:solidFill>
              </a:rPr>
              <a:t>blocks</a:t>
            </a:r>
            <a:r>
              <a:rPr lang="en-US" altLang="zh-TW" sz="3200" spc="-60" dirty="0">
                <a:solidFill>
                  <a:prstClr val="black"/>
                </a:solidFill>
              </a:rPr>
              <a:t> </a:t>
            </a:r>
            <a:r>
              <a:rPr lang="en-US" altLang="zh-TW" sz="3800" spc="-60" dirty="0">
                <a:solidFill>
                  <a:prstClr val="black"/>
                </a:solidFill>
              </a:rPr>
              <a:t>the</a:t>
            </a:r>
            <a:r>
              <a:rPr lang="en-US" altLang="zh-TW" sz="3200" spc="-60" dirty="0">
                <a:solidFill>
                  <a:prstClr val="black"/>
                </a:solidFill>
              </a:rPr>
              <a:t> </a:t>
            </a:r>
            <a:r>
              <a:rPr lang="en-US" altLang="zh-TW" sz="3800" spc="-60" dirty="0">
                <a:solidFill>
                  <a:prstClr val="black"/>
                </a:solidFill>
              </a:rPr>
              <a:t>global</a:t>
            </a:r>
            <a:r>
              <a:rPr lang="en-US" altLang="zh-TW" sz="3200" spc="-60" dirty="0">
                <a:solidFill>
                  <a:prstClr val="black"/>
                </a:solidFill>
              </a:rPr>
              <a:t> </a:t>
            </a:r>
            <a:r>
              <a:rPr lang="en-US" altLang="zh-TW" sz="3800" spc="-60" dirty="0">
                <a:solidFill>
                  <a:prstClr val="black"/>
                </a:solidFill>
              </a:rPr>
              <a:t>from</a:t>
            </a:r>
            <a:r>
              <a:rPr lang="en-US" altLang="zh-TW" sz="3200" spc="-60" dirty="0">
                <a:solidFill>
                  <a:prstClr val="black"/>
                </a:solidFill>
              </a:rPr>
              <a:t> </a:t>
            </a:r>
            <a:r>
              <a:rPr lang="en-US" altLang="zh-TW" sz="3800" spc="-60" dirty="0">
                <a:solidFill>
                  <a:prstClr val="black"/>
                </a:solidFill>
              </a:rPr>
              <a:t>the</a:t>
            </a:r>
            <a:r>
              <a:rPr lang="en-US" altLang="zh-TW" sz="3200" spc="-60" dirty="0">
                <a:solidFill>
                  <a:prstClr val="black"/>
                </a:solidFill>
              </a:rPr>
              <a:t> </a:t>
            </a:r>
            <a:r>
              <a:rPr lang="en-US" altLang="zh-TW" sz="3800" spc="-60" dirty="0">
                <a:solidFill>
                  <a:prstClr val="black"/>
                </a:solidFill>
              </a:rPr>
              <a:t>scop</a:t>
            </a:r>
            <a:r>
              <a:rPr lang="en-US" altLang="zh-TW" sz="3800" spc="-160" dirty="0">
                <a:solidFill>
                  <a:prstClr val="black"/>
                </a:solidFill>
              </a:rPr>
              <a:t>e</a:t>
            </a:r>
            <a:r>
              <a:rPr lang="en-US" altLang="zh-TW" sz="3800" spc="-30" dirty="0">
                <a:solidFill>
                  <a:prstClr val="black"/>
                </a:solidFill>
              </a:rPr>
              <a:t>.</a:t>
            </a:r>
          </a:p>
          <a:p>
            <a:pPr marL="571500" indent="-5715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32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32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endParaRPr lang="en-US" altLang="zh-TW" sz="3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3200" dirty="0">
                <a:solidFill>
                  <a:prstClr val="black"/>
                </a:solidFill>
                <a:latin typeface="Lucida Console" panose="020B0609040504020204" pitchFamily="49" charset="0"/>
              </a:rPr>
              <a:t> f():</a:t>
            </a:r>
          </a:p>
          <a:p>
            <a:pPr marL="571500" indent="-571500">
              <a:lnSpc>
                <a:spcPct val="8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3200" dirty="0">
                <a:solidFill>
                  <a:prstClr val="black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32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32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</a:p>
          <a:p>
            <a:pPr marL="571500" indent="-571500">
              <a:lnSpc>
                <a:spcPct val="8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zh-TW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32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x </a:t>
            </a:r>
            <a:r>
              <a:rPr lang="en-US" altLang="zh-TW" sz="32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32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 2</a:t>
            </a:r>
            <a:endParaRPr lang="en-US" altLang="zh-TW" sz="3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571500" indent="-571500">
              <a:lnSpc>
                <a:spcPct val="8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2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200" dirty="0">
                <a:solidFill>
                  <a:prstClr val="black"/>
                </a:solidFill>
                <a:latin typeface="Lucida Console" panose="020B0609040504020204" pitchFamily="49" charset="0"/>
              </a:rPr>
              <a:t>f()</a:t>
            </a:r>
          </a:p>
          <a:p>
            <a:pPr marL="571500" indent="-571500">
              <a:lnSpc>
                <a:spcPct val="8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200" dirty="0" err="1">
                <a:solidFill>
                  <a:srgbClr val="FFCCCC"/>
                </a:solidFill>
                <a:latin typeface="Arial Narrow" panose="020B0606020202030204" pitchFamily="34" charset="0"/>
              </a:rPr>
              <a:t>Traceback</a:t>
            </a:r>
            <a:r>
              <a:rPr lang="en-US" altLang="zh-TW" sz="3200" dirty="0">
                <a:solidFill>
                  <a:srgbClr val="FFCCCC"/>
                </a:solidFill>
                <a:latin typeface="Arial Narrow" panose="020B0606020202030204" pitchFamily="34" charset="0"/>
              </a:rPr>
              <a:t> (most recent call last):</a:t>
            </a:r>
          </a:p>
          <a:p>
            <a:pPr marL="571500" indent="-571500">
              <a:lnSpc>
                <a:spcPct val="8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200" dirty="0">
                <a:solidFill>
                  <a:srgbClr val="FFCCCC"/>
                </a:solidFill>
                <a:latin typeface="Arial Narrow" panose="020B0606020202030204" pitchFamily="34" charset="0"/>
              </a:rPr>
              <a:t>    File "&lt;</a:t>
            </a:r>
            <a:r>
              <a:rPr lang="en-US" altLang="zh-TW" sz="3200" dirty="0" err="1">
                <a:solidFill>
                  <a:srgbClr val="FFCCCC"/>
                </a:solidFill>
                <a:latin typeface="Arial Narrow" panose="020B0606020202030204" pitchFamily="34" charset="0"/>
              </a:rPr>
              <a:t>stdin</a:t>
            </a:r>
            <a:r>
              <a:rPr lang="en-US" altLang="zh-TW" sz="3200" dirty="0">
                <a:solidFill>
                  <a:srgbClr val="FFCCCC"/>
                </a:solidFill>
                <a:latin typeface="Arial Narrow" panose="020B0606020202030204" pitchFamily="34" charset="0"/>
              </a:rPr>
              <a:t>&gt;", line 1, in &lt;module&gt;</a:t>
            </a:r>
          </a:p>
          <a:p>
            <a:pPr marL="571500" indent="-571500">
              <a:lnSpc>
                <a:spcPct val="8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200" dirty="0">
                <a:solidFill>
                  <a:srgbClr val="FFCCCC"/>
                </a:solidFill>
                <a:latin typeface="Arial Narrow" panose="020B0606020202030204" pitchFamily="34" charset="0"/>
              </a:rPr>
              <a:t>    File "&lt;</a:t>
            </a:r>
            <a:r>
              <a:rPr lang="en-US" altLang="zh-TW" sz="3200" dirty="0" err="1">
                <a:solidFill>
                  <a:srgbClr val="FFCCCC"/>
                </a:solidFill>
                <a:latin typeface="Arial Narrow" panose="020B0606020202030204" pitchFamily="34" charset="0"/>
              </a:rPr>
              <a:t>stdin</a:t>
            </a:r>
            <a:r>
              <a:rPr lang="en-US" altLang="zh-TW" sz="3200" dirty="0">
                <a:solidFill>
                  <a:srgbClr val="FFCCCC"/>
                </a:solidFill>
                <a:latin typeface="Arial Narrow" panose="020B0606020202030204" pitchFamily="34" charset="0"/>
              </a:rPr>
              <a:t>&gt;", line 2, in f</a:t>
            </a:r>
          </a:p>
          <a:p>
            <a:pPr marL="571500" indent="-571500">
              <a:lnSpc>
                <a:spcPct val="8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200" spc="-150" dirty="0" err="1">
                <a:solidFill>
                  <a:srgbClr val="FFCCCC"/>
                </a:solidFill>
                <a:latin typeface="Arial Narrow" panose="020B0606020202030204" pitchFamily="34" charset="0"/>
              </a:rPr>
              <a:t>Unboun</a:t>
            </a:r>
            <a:r>
              <a:rPr lang="en-US" altLang="zh-TW" sz="3200" spc="-100" dirty="0" err="1">
                <a:solidFill>
                  <a:srgbClr val="FFCCCC"/>
                </a:solidFill>
                <a:latin typeface="Arial Narrow" panose="020B0606020202030204" pitchFamily="34" charset="0"/>
              </a:rPr>
              <a:t>d</a:t>
            </a:r>
            <a:r>
              <a:rPr lang="en-US" altLang="zh-TW" sz="3200" spc="-150" dirty="0" err="1">
                <a:solidFill>
                  <a:srgbClr val="FFCCCC"/>
                </a:solidFill>
                <a:latin typeface="Arial Narrow" panose="020B0606020202030204" pitchFamily="34" charset="0"/>
              </a:rPr>
              <a:t>Lo</a:t>
            </a:r>
            <a:r>
              <a:rPr lang="en-US" altLang="zh-TW" sz="3200" spc="-100" dirty="0" err="1">
                <a:solidFill>
                  <a:srgbClr val="FFCCCC"/>
                </a:solidFill>
                <a:latin typeface="Arial Narrow" panose="020B0606020202030204" pitchFamily="34" charset="0"/>
              </a:rPr>
              <a:t>calErr</a:t>
            </a:r>
            <a:r>
              <a:rPr lang="en-US" altLang="zh-TW" sz="3200" spc="-140" dirty="0" err="1">
                <a:solidFill>
                  <a:srgbClr val="FFCCCC"/>
                </a:solidFill>
                <a:latin typeface="Arial Narrow" panose="020B0606020202030204" pitchFamily="34" charset="0"/>
              </a:rPr>
              <a:t>o</a:t>
            </a:r>
            <a:r>
              <a:rPr lang="en-US" altLang="zh-TW" sz="3200" spc="-100" dirty="0" err="1">
                <a:solidFill>
                  <a:srgbClr val="FFCCCC"/>
                </a:solidFill>
                <a:latin typeface="Arial Narrow" panose="020B0606020202030204" pitchFamily="34" charset="0"/>
              </a:rPr>
              <a:t>r</a:t>
            </a:r>
            <a:r>
              <a:rPr lang="en-US" altLang="zh-TW" sz="3200" dirty="0">
                <a:solidFill>
                  <a:srgbClr val="FFCCCC"/>
                </a:solidFill>
                <a:latin typeface="Arial Narrow" panose="020B0606020202030204" pitchFamily="34" charset="0"/>
              </a:rPr>
              <a:t>:</a:t>
            </a:r>
            <a:r>
              <a:rPr lang="en-US" altLang="zh-TW" sz="2400" dirty="0">
                <a:solidFill>
                  <a:srgbClr val="FFCCCC"/>
                </a:solidFill>
                <a:latin typeface="Arial Narrow" panose="020B0606020202030204" pitchFamily="34" charset="0"/>
              </a:rPr>
              <a:t> 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</a:rPr>
              <a:t>lo</a:t>
            </a:r>
            <a:r>
              <a:rPr lang="en-US" altLang="zh-TW" sz="32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c</a:t>
            </a:r>
            <a:r>
              <a:rPr lang="en-US" altLang="zh-TW" sz="3200" spc="-90" dirty="0">
                <a:solidFill>
                  <a:srgbClr val="FF0000"/>
                </a:solidFill>
                <a:latin typeface="Arial Narrow" panose="020B0606020202030204" pitchFamily="34" charset="0"/>
              </a:rPr>
              <a:t>al</a:t>
            </a:r>
            <a:r>
              <a:rPr lang="en-US" altLang="zh-TW" sz="2800" spc="-9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US" altLang="zh-TW" sz="3200" spc="-120" dirty="0">
                <a:solidFill>
                  <a:srgbClr val="FF0000"/>
                </a:solidFill>
                <a:latin typeface="Arial Narrow" panose="020B0606020202030204" pitchFamily="34" charset="0"/>
              </a:rPr>
              <a:t>v</a:t>
            </a:r>
            <a:r>
              <a:rPr lang="en-US" altLang="zh-TW" sz="3200" spc="-90" dirty="0">
                <a:solidFill>
                  <a:srgbClr val="FF0000"/>
                </a:solidFill>
                <a:latin typeface="Arial Narrow" panose="020B0606020202030204" pitchFamily="34" charset="0"/>
              </a:rPr>
              <a:t>a</a:t>
            </a:r>
            <a:r>
              <a:rPr lang="en-US" altLang="zh-TW" sz="32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ria</a:t>
            </a:r>
            <a:r>
              <a:rPr lang="en-US" altLang="zh-TW" sz="3200" spc="-110" dirty="0">
                <a:solidFill>
                  <a:srgbClr val="FF0000"/>
                </a:solidFill>
                <a:latin typeface="Arial Narrow" panose="020B0606020202030204" pitchFamily="34" charset="0"/>
              </a:rPr>
              <a:t>bl</a:t>
            </a:r>
            <a:r>
              <a:rPr lang="en-US" altLang="zh-TW" sz="32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e</a:t>
            </a:r>
            <a:r>
              <a:rPr lang="en-US" altLang="zh-TW" sz="24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</a:rPr>
              <a:t>'x</a:t>
            </a:r>
            <a:r>
              <a:rPr lang="en-US" altLang="zh-TW" sz="32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'</a:t>
            </a:r>
            <a:r>
              <a:rPr lang="en-US" altLang="zh-TW" sz="28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US" altLang="zh-TW" sz="32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ref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</a:rPr>
              <a:t>e</a:t>
            </a:r>
            <a:r>
              <a:rPr lang="en-US" altLang="zh-TW" sz="32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r</a:t>
            </a:r>
            <a:r>
              <a:rPr lang="en-US" altLang="zh-TW" sz="3200" spc="-110" dirty="0">
                <a:solidFill>
                  <a:srgbClr val="FF0000"/>
                </a:solidFill>
                <a:latin typeface="Arial Narrow" panose="020B0606020202030204" pitchFamily="34" charset="0"/>
              </a:rPr>
              <a:t>e</a:t>
            </a:r>
            <a:r>
              <a:rPr lang="en-US" altLang="zh-TW" sz="3200" spc="-140" dirty="0">
                <a:solidFill>
                  <a:srgbClr val="FF0000"/>
                </a:solidFill>
                <a:latin typeface="Arial Narrow" panose="020B0606020202030204" pitchFamily="34" charset="0"/>
              </a:rPr>
              <a:t>n</a:t>
            </a:r>
            <a:r>
              <a:rPr lang="en-US" altLang="zh-TW" sz="32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c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</a:rPr>
              <a:t>e</a:t>
            </a:r>
            <a:r>
              <a:rPr lang="en-US" altLang="zh-TW" sz="32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d</a:t>
            </a:r>
            <a:r>
              <a:rPr lang="en-US" altLang="zh-TW" sz="28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US" altLang="zh-TW" sz="32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bef</a:t>
            </a:r>
            <a:r>
              <a:rPr lang="en-US" altLang="zh-TW" sz="3200" spc="-110" dirty="0">
                <a:solidFill>
                  <a:srgbClr val="FF0000"/>
                </a:solidFill>
                <a:latin typeface="Arial Narrow" panose="020B0606020202030204" pitchFamily="34" charset="0"/>
              </a:rPr>
              <a:t>o</a:t>
            </a:r>
            <a:r>
              <a:rPr lang="en-US" altLang="zh-TW" sz="32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re</a:t>
            </a:r>
            <a:r>
              <a:rPr lang="en-US" altLang="zh-TW" sz="28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US" altLang="zh-TW" sz="32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assi</a:t>
            </a:r>
            <a:r>
              <a:rPr lang="en-US" altLang="zh-TW" sz="3200" spc="-160" dirty="0">
                <a:solidFill>
                  <a:srgbClr val="FF0000"/>
                </a:solidFill>
                <a:latin typeface="Arial Narrow" panose="020B0606020202030204" pitchFamily="34" charset="0"/>
              </a:rPr>
              <a:t>gn</a:t>
            </a:r>
            <a:r>
              <a:rPr lang="en-US" altLang="zh-TW" sz="3200" spc="-120" dirty="0">
                <a:solidFill>
                  <a:srgbClr val="FF0000"/>
                </a:solidFill>
                <a:latin typeface="Arial Narrow" panose="020B0606020202030204" pitchFamily="34" charset="0"/>
              </a:rPr>
              <a:t>me</a:t>
            </a:r>
            <a:r>
              <a:rPr lang="en-US" altLang="zh-TW" sz="3200" spc="-110" dirty="0">
                <a:solidFill>
                  <a:srgbClr val="FF0000"/>
                </a:solidFill>
                <a:latin typeface="Arial Narrow" panose="020B0606020202030204" pitchFamily="34" charset="0"/>
              </a:rPr>
              <a:t>n</a:t>
            </a:r>
            <a:r>
              <a:rPr lang="en-US" altLang="zh-TW" sz="3200" spc="-60" dirty="0">
                <a:solidFill>
                  <a:srgbClr val="FF0000"/>
                </a:solidFill>
                <a:latin typeface="Arial Narrow" panose="020B0606020202030204" pitchFamily="34" charset="0"/>
              </a:rPr>
              <a:t>t</a:t>
            </a:r>
          </a:p>
          <a:p>
            <a:pPr marL="571500" indent="-571500">
              <a:lnSpc>
                <a:spcPct val="7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88900"/>
            <a:ext cx="972674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4400" dirty="0">
                <a:solidFill>
                  <a:srgbClr val="0070C0"/>
                </a:solidFill>
              </a:rPr>
              <a:t>The Point: Programming Python with a C-mindset Leads to Bugs</a:t>
            </a:r>
          </a:p>
        </p:txBody>
      </p:sp>
    </p:spTree>
    <p:extLst>
      <p:ext uri="{BB962C8B-B14F-4D97-AF65-F5344CB8AC3E}">
        <p14:creationId xmlns:p14="http://schemas.microsoft.com/office/powerpoint/2010/main" val="366234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286328" y="1161144"/>
            <a:ext cx="9144000" cy="569685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To see the current live variables, you can call </a:t>
            </a:r>
            <a:br>
              <a:rPr lang="en-US" sz="3200" dirty="0">
                <a:solidFill>
                  <a:srgbClr val="C00000"/>
                </a:solidFill>
              </a:rPr>
            </a:br>
            <a:r>
              <a:rPr lang="en-US" sz="3200" dirty="0">
                <a:solidFill>
                  <a:srgbClr val="C00000"/>
                </a:solidFill>
              </a:rPr>
              <a:t>the </a:t>
            </a:r>
            <a:r>
              <a:rPr lang="en-US" sz="3200" i="1" dirty="0" err="1">
                <a:solidFill>
                  <a:srgbClr val="C00000"/>
                </a:solidFill>
              </a:rPr>
              <a:t>globals</a:t>
            </a:r>
            <a:r>
              <a:rPr lang="en-US" sz="3200" i="1" dirty="0">
                <a:solidFill>
                  <a:srgbClr val="C00000"/>
                </a:solidFill>
              </a:rPr>
              <a:t>()</a:t>
            </a:r>
            <a:r>
              <a:rPr lang="en-US" sz="3200" dirty="0">
                <a:solidFill>
                  <a:srgbClr val="C00000"/>
                </a:solidFill>
              </a:rPr>
              <a:t>, </a:t>
            </a:r>
            <a:r>
              <a:rPr lang="en-US" sz="3200" i="1" dirty="0">
                <a:solidFill>
                  <a:srgbClr val="C00000"/>
                </a:solidFill>
              </a:rPr>
              <a:t>locals(), </a:t>
            </a:r>
            <a:r>
              <a:rPr lang="en-US" sz="3200" dirty="0">
                <a:solidFill>
                  <a:srgbClr val="C00000"/>
                </a:solidFill>
              </a:rPr>
              <a:t>&amp;</a:t>
            </a:r>
            <a:r>
              <a:rPr lang="en-US" sz="3200" i="1" dirty="0">
                <a:solidFill>
                  <a:srgbClr val="C00000"/>
                </a:solidFill>
              </a:rPr>
              <a:t> </a:t>
            </a:r>
            <a:r>
              <a:rPr lang="en-US" sz="3200" i="1" dirty="0" err="1">
                <a:solidFill>
                  <a:srgbClr val="C00000"/>
                </a:solidFill>
              </a:rPr>
              <a:t>vars</a:t>
            </a:r>
            <a:r>
              <a:rPr lang="en-US" sz="3200" i="1" dirty="0">
                <a:solidFill>
                  <a:srgbClr val="C00000"/>
                </a:solidFill>
              </a:rPr>
              <a:t>()</a:t>
            </a:r>
            <a:r>
              <a:rPr lang="en-US" sz="3200" dirty="0">
                <a:solidFill>
                  <a:srgbClr val="C00000"/>
                </a:solidFill>
              </a:rPr>
              <a:t> functions.</a:t>
            </a:r>
          </a:p>
          <a:p>
            <a:pPr>
              <a:spcBef>
                <a:spcPts val="1800"/>
              </a:spcBef>
            </a:pPr>
            <a:r>
              <a:rPr lang="en-US" sz="3200" dirty="0">
                <a:solidFill>
                  <a:srgbClr val="C00000"/>
                </a:solidFill>
              </a:rPr>
              <a:t>They return dictionaries (of variable-name, variable-value pairs).</a:t>
            </a:r>
          </a:p>
          <a:p>
            <a:pPr>
              <a:spcBef>
                <a:spcPts val="1800"/>
              </a:spcBef>
            </a:pPr>
            <a:r>
              <a:rPr lang="en-US" altLang="zh-TW" sz="3200" dirty="0">
                <a:solidFill>
                  <a:srgbClr val="C00000"/>
                </a:solidFill>
              </a:rPr>
              <a:t>Note: </a:t>
            </a:r>
            <a:r>
              <a:rPr lang="en-US" altLang="zh-TW" sz="3200" dirty="0" err="1">
                <a:solidFill>
                  <a:srgbClr val="C00000"/>
                </a:solidFill>
              </a:rPr>
              <a:t>globals</a:t>
            </a:r>
            <a:r>
              <a:rPr lang="en-US" altLang="zh-TW" sz="3200" dirty="0">
                <a:solidFill>
                  <a:srgbClr val="C00000"/>
                </a:solidFill>
              </a:rPr>
              <a:t>() </a:t>
            </a:r>
            <a:r>
              <a:rPr lang="en-US" altLang="zh-TW" sz="3200" i="1" dirty="0">
                <a:solidFill>
                  <a:srgbClr val="C00000"/>
                </a:solidFill>
              </a:rPr>
              <a:t>includes</a:t>
            </a:r>
            <a:r>
              <a:rPr lang="en-US" altLang="zh-TW" sz="3200" dirty="0">
                <a:solidFill>
                  <a:srgbClr val="C00000"/>
                </a:solidFill>
              </a:rPr>
              <a:t> variables that aren’t in </a:t>
            </a:r>
            <a:r>
              <a:rPr lang="en-US" altLang="zh-TW" sz="3200" spc="-60" dirty="0">
                <a:solidFill>
                  <a:srgbClr val="C00000"/>
                </a:solidFill>
              </a:rPr>
              <a:t>scope due to a local variable with the same name</a:t>
            </a:r>
            <a:r>
              <a:rPr lang="en-US" altLang="zh-TW" sz="3200" spc="-40" dirty="0">
                <a:solidFill>
                  <a:srgbClr val="C00000"/>
                </a:solidFill>
              </a:rPr>
              <a:t>.</a:t>
            </a:r>
          </a:p>
          <a:p>
            <a:pPr>
              <a:spcBef>
                <a:spcPts val="1800"/>
              </a:spcBef>
            </a:pPr>
            <a:r>
              <a:rPr lang="en-US" sz="3200" dirty="0">
                <a:solidFill>
                  <a:srgbClr val="C00000"/>
                </a:solidFill>
              </a:rPr>
              <a:t>Note: </a:t>
            </a:r>
            <a:r>
              <a:rPr lang="en-US" sz="3200" dirty="0" err="1">
                <a:solidFill>
                  <a:srgbClr val="C00000"/>
                </a:solidFill>
              </a:rPr>
              <a:t>vars</a:t>
            </a:r>
            <a:r>
              <a:rPr lang="en-US" sz="3200" dirty="0">
                <a:solidFill>
                  <a:srgbClr val="C00000"/>
                </a:solidFill>
              </a:rPr>
              <a:t>() with no argument acts like locals().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But if passed an object argument, it lists the variables defined for that object.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err="1">
                <a:solidFill>
                  <a:srgbClr val="0070C0"/>
                </a:solidFill>
              </a:rPr>
              <a:t>globals</a:t>
            </a:r>
            <a:r>
              <a:rPr lang="en-US" sz="4400" b="1" dirty="0">
                <a:solidFill>
                  <a:srgbClr val="0070C0"/>
                </a:solidFill>
                <a:latin typeface="Agency FB" panose="020B0503020202020204" pitchFamily="34" charset="0"/>
              </a:rPr>
              <a:t>(</a:t>
            </a:r>
            <a:r>
              <a:rPr lang="en-US" sz="2800" b="1" dirty="0">
                <a:solidFill>
                  <a:srgbClr val="0070C0"/>
                </a:solidFill>
                <a:latin typeface="Agency FB" panose="020B0503020202020204" pitchFamily="34" charset="0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Agency FB" panose="020B0503020202020204" pitchFamily="34" charset="0"/>
              </a:rPr>
              <a:t>)</a:t>
            </a:r>
            <a:r>
              <a:rPr lang="en-US" sz="4400" dirty="0">
                <a:solidFill>
                  <a:srgbClr val="0070C0"/>
                </a:solidFill>
              </a:rPr>
              <a:t> and locals</a:t>
            </a:r>
            <a:r>
              <a:rPr lang="en-US" sz="4400" b="1" dirty="0">
                <a:solidFill>
                  <a:srgbClr val="0070C0"/>
                </a:solidFill>
                <a:latin typeface="Agency FB" panose="020B0503020202020204" pitchFamily="34" charset="0"/>
              </a:rPr>
              <a:t>(</a:t>
            </a:r>
            <a:r>
              <a:rPr lang="en-US" sz="2800" b="1" dirty="0">
                <a:solidFill>
                  <a:srgbClr val="0070C0"/>
                </a:solidFill>
                <a:latin typeface="Agency FB" panose="020B0503020202020204" pitchFamily="34" charset="0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Agency FB" panose="020B0503020202020204" pitchFamily="34" charset="0"/>
              </a:rPr>
              <a:t>)</a:t>
            </a:r>
            <a:r>
              <a:rPr lang="en-US" sz="4400" dirty="0">
                <a:solidFill>
                  <a:srgbClr val="0070C0"/>
                </a:solidFill>
              </a:rPr>
              <a:t> and </a:t>
            </a:r>
            <a:r>
              <a:rPr lang="en-US" sz="4400" dirty="0" err="1">
                <a:solidFill>
                  <a:srgbClr val="0070C0"/>
                </a:solidFill>
              </a:rPr>
              <a:t>vars</a:t>
            </a:r>
            <a:r>
              <a:rPr lang="en-US" sz="4400" b="1" dirty="0">
                <a:solidFill>
                  <a:srgbClr val="0070C0"/>
                </a:solidFill>
                <a:latin typeface="Agency FB" panose="020B0503020202020204" pitchFamily="34" charset="0"/>
              </a:rPr>
              <a:t>(</a:t>
            </a:r>
            <a:r>
              <a:rPr lang="en-US" sz="2800" b="1" dirty="0">
                <a:solidFill>
                  <a:srgbClr val="0070C0"/>
                </a:solidFill>
                <a:latin typeface="Agency FB" panose="020B0503020202020204" pitchFamily="34" charset="0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Agency FB" panose="020B0503020202020204" pitchFamily="34" charset="0"/>
              </a:rPr>
              <a:t>)</a:t>
            </a:r>
            <a:endParaRPr lang="en-US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65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95564" y="1058780"/>
            <a:ext cx="9434224" cy="57992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3800" spc="-50" dirty="0">
                <a:solidFill>
                  <a:prstClr val="black"/>
                </a:solidFill>
              </a:rPr>
              <a:t>Remember: variables are </a:t>
            </a:r>
            <a:r>
              <a:rPr lang="en-US" sz="3800" spc="-50" dirty="0">
                <a:solidFill>
                  <a:srgbClr val="FF0000"/>
                </a:solidFill>
              </a:rPr>
              <a:t>dynamically declared</a:t>
            </a:r>
            <a:r>
              <a:rPr lang="en-US" sz="3800" spc="-50" dirty="0">
                <a:solidFill>
                  <a:prstClr val="black"/>
                </a:solidFill>
              </a:rPr>
              <a:t>: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30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x</a:t>
            </a:r>
            <a:r>
              <a:rPr lang="en-US" sz="3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sz="3000" b="1" dirty="0" err="1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  <a:r>
              <a:rPr lang="en-US" sz="30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30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sz="30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sz="30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2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30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def</a:t>
            </a:r>
            <a:r>
              <a:rPr lang="en-US" sz="3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f():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...    </a:t>
            </a:r>
            <a:r>
              <a:rPr lang="en-US" sz="30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sz="3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30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0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...    </a:t>
            </a:r>
            <a:r>
              <a:rPr lang="en-US" sz="3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print(</a:t>
            </a:r>
            <a:r>
              <a:rPr lang="en-US" sz="30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globals</a:t>
            </a:r>
            <a:r>
              <a:rPr lang="en-US" sz="3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())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...    </a:t>
            </a:r>
            <a:r>
              <a:rPr lang="en-US" sz="30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sz="3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30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0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...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3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f()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3200" spc="-100" dirty="0">
                <a:solidFill>
                  <a:prstClr val="black"/>
                </a:solidFill>
                <a:latin typeface="Arial Narrow" panose="020B0606020202030204" pitchFamily="34" charset="0"/>
              </a:rPr>
              <a:t>&lt;some built-in variables that I skipped</a:t>
            </a:r>
            <a:r>
              <a:rPr lang="en-US" altLang="zh-TW" sz="3200" spc="-400" dirty="0">
                <a:solidFill>
                  <a:prstClr val="black"/>
                </a:solidFill>
                <a:latin typeface="Arial Narrow" panose="020B0606020202030204" pitchFamily="34" charset="0"/>
              </a:rPr>
              <a:t>&gt;</a:t>
            </a: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3000" b="1" spc="-100" dirty="0">
                <a:solidFill>
                  <a:srgbClr val="FF99FF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':</a:t>
            </a:r>
            <a:r>
              <a:rPr lang="en-US" altLang="zh-TW" sz="28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000" b="1" spc="-100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3000" b="1" spc="-100" dirty="0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':</a:t>
            </a:r>
            <a:r>
              <a:rPr lang="en-US" altLang="zh-TW" sz="2800" b="1" spc="-100" dirty="0">
                <a:solidFill>
                  <a:srgbClr val="FF99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000" b="1" spc="-100" dirty="0">
                <a:solidFill>
                  <a:srgbClr val="FF99FF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3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30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z</a:t>
            </a:r>
            <a:r>
              <a:rPr lang="en-US" sz="3000" dirty="0">
                <a:solidFill>
                  <a:prstClr val="black"/>
                </a:solidFill>
                <a:latin typeface="Lucida Console" panose="020B0609040504020204" pitchFamily="49" charset="0"/>
              </a:rPr>
              <a:t>=</a:t>
            </a:r>
            <a:r>
              <a:rPr lang="en-US" sz="30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3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3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del</a:t>
            </a:r>
            <a:r>
              <a:rPr lang="en-US" altLang="zh-TW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000" b="1" dirty="0">
                <a:solidFill>
                  <a:srgbClr val="FF99FF"/>
                </a:solidFill>
                <a:latin typeface="Lucida Console" panose="020B0609040504020204" pitchFamily="49" charset="0"/>
              </a:rPr>
              <a:t>y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3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f()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None/>
            </a:pP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3200" spc="-100" dirty="0">
                <a:solidFill>
                  <a:prstClr val="black"/>
                </a:solidFill>
                <a:latin typeface="Arial Narrow" panose="020B0606020202030204" pitchFamily="34" charset="0"/>
              </a:rPr>
              <a:t>&lt;some built-in variables that I skipped</a:t>
            </a:r>
            <a:r>
              <a:rPr lang="en-US" altLang="zh-TW" sz="3200" spc="-400" dirty="0">
                <a:solidFill>
                  <a:prstClr val="black"/>
                </a:solidFill>
                <a:latin typeface="Arial Narrow" panose="020B0606020202030204" pitchFamily="34" charset="0"/>
              </a:rPr>
              <a:t>&gt;</a:t>
            </a: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3000" b="1" spc="-100" dirty="0">
                <a:solidFill>
                  <a:srgbClr val="FF99FF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':</a:t>
            </a:r>
            <a:r>
              <a:rPr lang="en-US" altLang="zh-TW" sz="2800" b="1" spc="-100" dirty="0">
                <a:solidFill>
                  <a:srgbClr val="FF99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000" b="1" spc="-100" dirty="0">
                <a:solidFill>
                  <a:srgbClr val="FF99FF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3000" b="1" spc="-100" dirty="0">
                <a:solidFill>
                  <a:srgbClr val="FF99FF"/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sz="30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':</a:t>
            </a:r>
            <a:r>
              <a:rPr lang="en-US" altLang="zh-TW" sz="2800" b="1" spc="-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000" b="1" spc="-100" dirty="0">
                <a:solidFill>
                  <a:srgbClr val="FF99FF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3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3000" dirty="0">
              <a:solidFill>
                <a:prstClr val="white">
                  <a:lumMod val="75000"/>
                </a:prstClr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1958109" y="1489753"/>
            <a:ext cx="4897602" cy="3451702"/>
          </a:xfrm>
          <a:prstGeom prst="straightConnector1">
            <a:avLst/>
          </a:prstGeom>
          <a:ln w="28575">
            <a:solidFill>
              <a:srgbClr val="FF99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475345" y="1446947"/>
            <a:ext cx="4532765" cy="3919380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2466109" y="4719782"/>
            <a:ext cx="5745019" cy="729673"/>
          </a:xfrm>
          <a:prstGeom prst="straightConnector1">
            <a:avLst/>
          </a:prstGeom>
          <a:ln w="28575">
            <a:solidFill>
              <a:srgbClr val="FF0000"/>
            </a:solidFill>
            <a:headEnd type="arrow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796389">
            <a:off x="750009" y="3672268"/>
            <a:ext cx="7897411" cy="2785645"/>
          </a:xfrm>
          <a:prstGeom prst="arc">
            <a:avLst>
              <a:gd name="adj1" fmla="val 452014"/>
              <a:gd name="adj2" fmla="val 9845414"/>
            </a:avLst>
          </a:prstGeom>
          <a:ln w="28575">
            <a:solidFill>
              <a:srgbClr val="FF99FF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Let's see the </a:t>
            </a:r>
            <a:r>
              <a:rPr lang="en-US" sz="4400" dirty="0" err="1">
                <a:solidFill>
                  <a:srgbClr val="0070C0"/>
                </a:solidFill>
              </a:rPr>
              <a:t>globals</a:t>
            </a:r>
            <a:r>
              <a:rPr lang="en-US" sz="4400" b="1" dirty="0">
                <a:solidFill>
                  <a:srgbClr val="0070C0"/>
                </a:solidFill>
                <a:latin typeface="Agency FB" panose="020B0503020202020204" pitchFamily="34" charset="0"/>
              </a:rPr>
              <a:t>(</a:t>
            </a:r>
            <a:r>
              <a:rPr lang="en-US" sz="2800" b="1" dirty="0">
                <a:solidFill>
                  <a:srgbClr val="0070C0"/>
                </a:solidFill>
                <a:latin typeface="Agency FB" panose="020B0503020202020204" pitchFamily="34" charset="0"/>
              </a:rPr>
              <a:t> </a:t>
            </a:r>
            <a:r>
              <a:rPr lang="en-US" sz="4400" b="1" dirty="0">
                <a:solidFill>
                  <a:srgbClr val="0070C0"/>
                </a:solidFill>
                <a:latin typeface="Agency FB" panose="020B0503020202020204" pitchFamily="34" charset="0"/>
              </a:rPr>
              <a:t>)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95564" y="1058780"/>
            <a:ext cx="901640" cy="513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3800" spc="-50" dirty="0">
              <a:solidFill>
                <a:prstClr val="black"/>
              </a:solidFill>
            </a:endParaRP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sz="3000" b="1" dirty="0">
              <a:solidFill>
                <a:srgbClr val="FF99FF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sz="30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3000" b="1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30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3000" b="1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3000" b="1" dirty="0">
              <a:solidFill>
                <a:prstClr val="white">
                  <a:lumMod val="75000"/>
                </a:prstClr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30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z="32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</a:t>
            </a:r>
            <a:r>
              <a:rPr lang="en-US" sz="3000" b="1" dirty="0">
                <a:solidFill>
                  <a:srgbClr val="BFBFBF"/>
                </a:solidFill>
                <a:latin typeface="Lucida Console" panose="020B0609040504020204" pitchFamily="49" charset="0"/>
              </a:rPr>
              <a:t>&gt;</a:t>
            </a:r>
            <a:r>
              <a:rPr lang="en-US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</a:t>
            </a:r>
            <a:endParaRPr lang="en-US" sz="3000" b="1" dirty="0">
              <a:solidFill>
                <a:srgbClr val="FF99FF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3000" b="1" dirty="0">
              <a:solidFill>
                <a:srgbClr val="FF99FF"/>
              </a:solidFill>
              <a:latin typeface="Lucida Console" panose="020B0609040504020204" pitchFamily="49" charset="0"/>
            </a:endParaRPr>
          </a:p>
          <a:p>
            <a:pPr marL="571500" indent="-571500">
              <a:lnSpc>
                <a:spcPct val="86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z="3000" b="1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30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1979629" y="1970203"/>
            <a:ext cx="6146276" cy="2611224"/>
          </a:xfrm>
          <a:prstGeom prst="straightConnector1">
            <a:avLst/>
          </a:prstGeom>
          <a:ln w="28575">
            <a:solidFill>
              <a:srgbClr val="FF99FF"/>
            </a:solidFill>
            <a:headEnd type="arrow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1517715" y="1951348"/>
            <a:ext cx="4988350" cy="2612797"/>
          </a:xfrm>
          <a:prstGeom prst="straightConnector1">
            <a:avLst/>
          </a:prstGeom>
          <a:ln w="28575">
            <a:solidFill>
              <a:srgbClr val="FF99FF"/>
            </a:solidFill>
            <a:headEnd type="arrow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1517715" y="1998482"/>
            <a:ext cx="5024488" cy="4157221"/>
          </a:xfrm>
          <a:prstGeom prst="straightConnector1">
            <a:avLst/>
          </a:prstGeom>
          <a:ln w="28575">
            <a:solidFill>
              <a:srgbClr val="FF99FF"/>
            </a:solidFill>
            <a:headEnd type="arrow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76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72023" y="1399032"/>
            <a:ext cx="8138160" cy="46085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cat test.py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x=1;y=1;z=1</a:t>
            </a:r>
          </a:p>
          <a:p>
            <a:pPr>
              <a:lnSpc>
                <a:spcPct val="85000"/>
              </a:lnSpc>
            </a:pPr>
            <a:r>
              <a:rPr lang="en-US" sz="28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def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g():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x=3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print (</a:t>
            </a:r>
            <a:r>
              <a:rPr lang="en-US" sz="28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x,y,z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sz="28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def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f():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x=2;y=2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g()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f()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python3 test.py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3 1 1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88900"/>
            <a:ext cx="972674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4400" dirty="0">
                <a:solidFill>
                  <a:srgbClr val="0070C0"/>
                </a:solidFill>
              </a:rPr>
              <a:t>Locals vs </a:t>
            </a:r>
            <a:r>
              <a:rPr lang="en-US" sz="4400" dirty="0" err="1">
                <a:solidFill>
                  <a:srgbClr val="0070C0"/>
                </a:solidFill>
              </a:rPr>
              <a:t>globals</a:t>
            </a:r>
            <a:r>
              <a:rPr lang="en-US" sz="4400" dirty="0">
                <a:solidFill>
                  <a:srgbClr val="0070C0"/>
                </a:solidFill>
              </a:rPr>
              <a:t>, when one function calls another</a:t>
            </a:r>
          </a:p>
        </p:txBody>
      </p:sp>
    </p:spTree>
    <p:extLst>
      <p:ext uri="{BB962C8B-B14F-4D97-AF65-F5344CB8AC3E}">
        <p14:creationId xmlns:p14="http://schemas.microsoft.com/office/powerpoint/2010/main" val="13026920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2023" y="1399032"/>
            <a:ext cx="8138160" cy="46085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cat test.py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x=1;y=1;z=1</a:t>
            </a:r>
          </a:p>
          <a:p>
            <a:pPr>
              <a:lnSpc>
                <a:spcPct val="85000"/>
              </a:lnSpc>
            </a:pPr>
            <a:r>
              <a:rPr lang="en-US" sz="28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def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f():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x=2;y=2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</a:t>
            </a:r>
            <a:r>
              <a:rPr lang="en-US" sz="28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def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g():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   x=3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   print (</a:t>
            </a:r>
            <a:r>
              <a:rPr lang="en-US" sz="28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x,y,z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g()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f()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python3 test.py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3 </a:t>
            </a:r>
            <a:r>
              <a:rPr lang="en-US" sz="28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2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1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88900"/>
            <a:ext cx="972674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4400" dirty="0">
                <a:solidFill>
                  <a:srgbClr val="0070C0"/>
                </a:solidFill>
              </a:rPr>
              <a:t>Locals vs </a:t>
            </a:r>
            <a:r>
              <a:rPr lang="en-US" sz="4400" dirty="0" err="1">
                <a:solidFill>
                  <a:srgbClr val="0070C0"/>
                </a:solidFill>
              </a:rPr>
              <a:t>globals</a:t>
            </a:r>
            <a:r>
              <a:rPr lang="en-US" sz="4400" dirty="0">
                <a:solidFill>
                  <a:srgbClr val="0070C0"/>
                </a:solidFill>
              </a:rPr>
              <a:t>, when one </a:t>
            </a:r>
            <a:br>
              <a:rPr lang="en-US" sz="4400" dirty="0">
                <a:solidFill>
                  <a:srgbClr val="0070C0"/>
                </a:solidFill>
              </a:rPr>
            </a:br>
            <a:r>
              <a:rPr lang="en-US" sz="4400" dirty="0">
                <a:solidFill>
                  <a:srgbClr val="0070C0"/>
                </a:solidFill>
              </a:rPr>
              <a:t>function is defined inside another</a:t>
            </a:r>
          </a:p>
        </p:txBody>
      </p:sp>
    </p:spTree>
    <p:extLst>
      <p:ext uri="{BB962C8B-B14F-4D97-AF65-F5344CB8AC3E}">
        <p14:creationId xmlns:p14="http://schemas.microsoft.com/office/powerpoint/2010/main" val="32044774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2023" y="1399033"/>
            <a:ext cx="8138160" cy="51569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cat test.py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x=1;y=1;z=1</a:t>
            </a:r>
          </a:p>
          <a:p>
            <a:pPr>
              <a:lnSpc>
                <a:spcPct val="85000"/>
              </a:lnSpc>
            </a:pPr>
            <a:r>
              <a:rPr lang="en-US" sz="28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def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f():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x=2;y=2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</a:t>
            </a:r>
            <a:r>
              <a:rPr lang="en-US" sz="28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def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g():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   x=3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   print (</a:t>
            </a:r>
            <a:r>
              <a:rPr lang="en-US" sz="28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x,y,z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 g()</a:t>
            </a:r>
          </a:p>
          <a:p>
            <a:pPr>
              <a:lnSpc>
                <a:spcPct val="85000"/>
              </a:lnSpc>
            </a:pPr>
            <a:r>
              <a:rPr lang="en-US" sz="2800" b="1" dirty="0">
                <a:solidFill>
                  <a:srgbClr val="FFFF00"/>
                </a:solidFill>
                <a:latin typeface="Lucida Console" panose="020B0609040504020204" pitchFamily="49" charset="0"/>
              </a:rPr>
              <a:t>g</a:t>
            </a:r>
            <a:r>
              <a:rPr lang="en-US" sz="2800" dirty="0">
                <a:solidFill>
                  <a:srgbClr val="FFFF00"/>
                </a:solidFill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% python3 test.py</a:t>
            </a:r>
          </a:p>
          <a:p>
            <a:r>
              <a:rPr lang="en-US" sz="28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 File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"test.py",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line 8,</a:t>
            </a:r>
            <a:r>
              <a:rPr lang="en-US" sz="20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in &lt;module&gt;</a:t>
            </a:r>
          </a:p>
          <a:p>
            <a:r>
              <a:rPr lang="en-US" sz="28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NameError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: name 'g' is not defined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88900"/>
            <a:ext cx="972674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4400" dirty="0">
                <a:solidFill>
                  <a:srgbClr val="0070C0"/>
                </a:solidFill>
              </a:rPr>
              <a:t>Locals vs </a:t>
            </a:r>
            <a:r>
              <a:rPr lang="en-US" sz="4400" dirty="0" err="1">
                <a:solidFill>
                  <a:srgbClr val="0070C0"/>
                </a:solidFill>
              </a:rPr>
              <a:t>globals</a:t>
            </a:r>
            <a:r>
              <a:rPr lang="en-US" sz="4400" dirty="0">
                <a:solidFill>
                  <a:srgbClr val="0070C0"/>
                </a:solidFill>
              </a:rPr>
              <a:t>, when one </a:t>
            </a:r>
            <a:br>
              <a:rPr lang="en-US" sz="4400" dirty="0">
                <a:solidFill>
                  <a:srgbClr val="0070C0"/>
                </a:solidFill>
              </a:rPr>
            </a:br>
            <a:r>
              <a:rPr lang="en-US" sz="4400" dirty="0">
                <a:solidFill>
                  <a:srgbClr val="0070C0"/>
                </a:solidFill>
              </a:rPr>
              <a:t>function is defined inside another</a:t>
            </a:r>
          </a:p>
        </p:txBody>
      </p:sp>
    </p:spTree>
    <p:extLst>
      <p:ext uri="{BB962C8B-B14F-4D97-AF65-F5344CB8AC3E}">
        <p14:creationId xmlns:p14="http://schemas.microsoft.com/office/powerpoint/2010/main" val="38889710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4"/>
          <p:cNvSpPr>
            <a:spLocks noGrp="1"/>
          </p:cNvSpPr>
          <p:nvPr>
            <p:ph idx="1"/>
          </p:nvPr>
        </p:nvSpPr>
        <p:spPr>
          <a:xfrm>
            <a:off x="292100" y="977900"/>
            <a:ext cx="9437688" cy="5825699"/>
          </a:xfrm>
        </p:spPr>
        <p:txBody>
          <a:bodyPr>
            <a:noAutofit/>
          </a:bodyPr>
          <a:lstStyle/>
          <a:p>
            <a:pPr marL="1143000" indent="-114300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3200" b="1" i="1" dirty="0">
                <a:solidFill>
                  <a:srgbClr val="FF0000"/>
                </a:solidFill>
              </a:rPr>
              <a:t>Scope</a:t>
            </a:r>
            <a:r>
              <a:rPr lang="en-US" sz="3200" dirty="0"/>
              <a:t>:</a:t>
            </a:r>
            <a:r>
              <a:rPr lang="en-US" sz="2400" dirty="0"/>
              <a:t> </a:t>
            </a:r>
            <a:r>
              <a:rPr lang="en-US" sz="3200" dirty="0"/>
              <a:t>the</a:t>
            </a:r>
            <a:r>
              <a:rPr lang="en-US" dirty="0"/>
              <a:t> </a:t>
            </a:r>
            <a:r>
              <a:rPr lang="en-US" sz="3200" dirty="0"/>
              <a:t>set</a:t>
            </a:r>
            <a:r>
              <a:rPr lang="en-US" dirty="0"/>
              <a:t> </a:t>
            </a:r>
            <a:r>
              <a:rPr lang="en-US" sz="3200" dirty="0"/>
              <a:t>of</a:t>
            </a:r>
            <a:r>
              <a:rPr lang="en-US" dirty="0"/>
              <a:t> </a:t>
            </a:r>
            <a:r>
              <a:rPr lang="en-US" sz="3200" dirty="0"/>
              <a:t>places</a:t>
            </a:r>
            <a:r>
              <a:rPr lang="en-US" dirty="0"/>
              <a:t> </a:t>
            </a:r>
            <a:r>
              <a:rPr lang="en-US" sz="3200" dirty="0"/>
              <a:t>in</a:t>
            </a:r>
            <a:r>
              <a:rPr lang="en-US" dirty="0"/>
              <a:t> </a:t>
            </a:r>
            <a:r>
              <a:rPr lang="en-US" sz="3200" dirty="0"/>
              <a:t>a</a:t>
            </a:r>
            <a:r>
              <a:rPr lang="en-US" dirty="0"/>
              <a:t> </a:t>
            </a:r>
            <a:r>
              <a:rPr lang="en-US" sz="3200" dirty="0"/>
              <a:t>program</a:t>
            </a:r>
            <a:r>
              <a:rPr lang="en-US" dirty="0"/>
              <a:t> </a:t>
            </a:r>
            <a:r>
              <a:rPr lang="en-US" sz="3200" dirty="0"/>
              <a:t>where</a:t>
            </a:r>
            <a:r>
              <a:rPr lang="en-US" dirty="0"/>
              <a:t> </a:t>
            </a:r>
            <a:r>
              <a:rPr lang="en-US" sz="3200" dirty="0"/>
              <a:t>you</a:t>
            </a:r>
            <a:r>
              <a:rPr lang="en-US" dirty="0"/>
              <a:t> </a:t>
            </a:r>
            <a:r>
              <a:rPr lang="en-US" sz="3200" dirty="0"/>
              <a:t>can</a:t>
            </a:r>
            <a:r>
              <a:rPr lang="en-US" dirty="0"/>
              <a:t> </a:t>
            </a:r>
            <a:r>
              <a:rPr lang="en-US" sz="3200" dirty="0"/>
              <a:t>access</a:t>
            </a:r>
            <a:r>
              <a:rPr lang="en-US" dirty="0"/>
              <a:t> </a:t>
            </a:r>
            <a:r>
              <a:rPr lang="en-US" sz="3200" dirty="0"/>
              <a:t>a variable.</a:t>
            </a:r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In languages like </a:t>
            </a:r>
            <a:r>
              <a:rPr lang="en-US" sz="2800" b="1" i="1" spc="-50" dirty="0">
                <a:solidFill>
                  <a:schemeClr val="bg1">
                    <a:lumMod val="75000"/>
                  </a:schemeClr>
                </a:solidFill>
              </a:rPr>
              <a:t>C</a:t>
            </a: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, variables are </a:t>
            </a:r>
            <a:r>
              <a:rPr lang="en-US" sz="2800" b="1" i="1" spc="-50" dirty="0">
                <a:solidFill>
                  <a:schemeClr val="bg1">
                    <a:lumMod val="75000"/>
                  </a:schemeClr>
                </a:solidFill>
              </a:rPr>
              <a:t>statically declared</a:t>
            </a: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, so scopes are also static: </a:t>
            </a:r>
            <a:r>
              <a:rPr lang="en-US" spc="-50" dirty="0">
                <a:solidFill>
                  <a:schemeClr val="bg1">
                    <a:lumMod val="75000"/>
                  </a:schemeClr>
                </a:solidFill>
              </a:rPr>
              <a:t>the “set of places” will be </a:t>
            </a:r>
            <a:r>
              <a:rPr lang="en-US" sz="2800" b="1" i="1" spc="-50" dirty="0">
                <a:solidFill>
                  <a:schemeClr val="bg1">
                    <a:lumMod val="75000"/>
                  </a:schemeClr>
                </a:solidFill>
              </a:rPr>
              <a:t>specific lines</a:t>
            </a: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 of code.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In </a:t>
            </a:r>
            <a:r>
              <a:rPr lang="en-US" sz="2800" b="1" i="1" dirty="0">
                <a:solidFill>
                  <a:schemeClr val="bg1">
                    <a:lumMod val="75000"/>
                  </a:schemeClr>
                </a:solidFill>
              </a:rPr>
              <a:t>Python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, variables are </a:t>
            </a:r>
            <a:r>
              <a:rPr lang="en-US" sz="2800" b="1" i="1" dirty="0">
                <a:solidFill>
                  <a:schemeClr val="bg1">
                    <a:lumMod val="75000"/>
                  </a:schemeClr>
                </a:solidFill>
              </a:rPr>
              <a:t>dynamically declared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, so scopes are </a:t>
            </a:r>
            <a:r>
              <a:rPr lang="en-US" sz="2800" b="1" i="1" dirty="0">
                <a:solidFill>
                  <a:schemeClr val="bg1">
                    <a:lumMod val="75000"/>
                  </a:schemeClr>
                </a:solidFill>
              </a:rPr>
              <a:t>not necessarily tied to specific lines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 of code.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TW" sz="2800" dirty="0"/>
              <a:t>A </a:t>
            </a:r>
            <a:r>
              <a:rPr lang="en-US" altLang="zh-TW" sz="2800" b="1" i="1" dirty="0">
                <a:solidFill>
                  <a:srgbClr val="0000FF"/>
                </a:solidFill>
              </a:rPr>
              <a:t>global variable</a:t>
            </a:r>
            <a:r>
              <a:rPr lang="en-US" altLang="zh-TW" sz="2800" dirty="0"/>
              <a:t> can be accessed everywhere.</a:t>
            </a:r>
            <a:endParaRPr lang="en-US" altLang="zh-TW" sz="2000" dirty="0"/>
          </a:p>
          <a:p>
            <a:pPr marL="520700" lvl="1">
              <a:lnSpc>
                <a:spcPct val="100000"/>
              </a:lnSpc>
            </a:pPr>
            <a:r>
              <a:rPr lang="en-US" altLang="zh-TW" sz="2600" dirty="0"/>
              <a:t>But</a:t>
            </a:r>
            <a:r>
              <a:rPr lang="en-US" altLang="zh-TW" sz="2400" dirty="0"/>
              <a:t> </a:t>
            </a:r>
            <a:r>
              <a:rPr lang="en-US" altLang="zh-TW" sz="2600" dirty="0"/>
              <a:t>only</a:t>
            </a:r>
            <a:r>
              <a:rPr lang="en-US" altLang="zh-TW" sz="2400" dirty="0"/>
              <a:t> </a:t>
            </a:r>
            <a:r>
              <a:rPr lang="en-US" altLang="zh-TW" sz="2600" dirty="0"/>
              <a:t>after</a:t>
            </a:r>
            <a:r>
              <a:rPr lang="en-US" altLang="zh-TW" sz="2400" dirty="0"/>
              <a:t> </a:t>
            </a:r>
            <a:r>
              <a:rPr lang="en-US" altLang="zh-TW" sz="2600" dirty="0"/>
              <a:t>that</a:t>
            </a:r>
            <a:r>
              <a:rPr lang="en-US" altLang="zh-TW" sz="2400" dirty="0"/>
              <a:t> </a:t>
            </a:r>
            <a:r>
              <a:rPr lang="en-US" altLang="zh-TW" sz="2600" dirty="0"/>
              <a:t>(dynamic)</a:t>
            </a:r>
            <a:r>
              <a:rPr lang="en-US" altLang="zh-TW" sz="2400" dirty="0"/>
              <a:t> </a:t>
            </a:r>
            <a:r>
              <a:rPr lang="en-US" altLang="zh-TW" sz="2600" dirty="0"/>
              <a:t>moment</a:t>
            </a:r>
            <a:r>
              <a:rPr lang="en-US" altLang="zh-TW" sz="2400" dirty="0"/>
              <a:t> </a:t>
            </a:r>
            <a:r>
              <a:rPr lang="en-US" altLang="zh-TW" sz="2600" dirty="0"/>
              <a:t>when</a:t>
            </a:r>
            <a:r>
              <a:rPr lang="en-US" altLang="zh-TW" sz="2400" dirty="0"/>
              <a:t> </a:t>
            </a:r>
            <a:r>
              <a:rPr lang="en-US" altLang="zh-TW" sz="2600" dirty="0"/>
              <a:t>it</a:t>
            </a:r>
            <a:r>
              <a:rPr lang="en-US" altLang="zh-TW" sz="2400" dirty="0"/>
              <a:t>’</a:t>
            </a:r>
            <a:r>
              <a:rPr lang="en-US" altLang="zh-TW" sz="2600" dirty="0"/>
              <a:t>s</a:t>
            </a:r>
            <a:r>
              <a:rPr lang="en-US" altLang="zh-TW" sz="2400" dirty="0"/>
              <a:t> </a:t>
            </a:r>
            <a:r>
              <a:rPr lang="en-US" altLang="zh-TW" sz="2600" dirty="0"/>
              <a:t>declared.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sz="2800" spc="-40" dirty="0"/>
              <a:t>A</a:t>
            </a:r>
            <a:r>
              <a:rPr lang="en-US" sz="1800" spc="-40" dirty="0"/>
              <a:t> </a:t>
            </a:r>
            <a:r>
              <a:rPr lang="en-US" sz="2800" b="1" i="1" spc="-40" dirty="0">
                <a:solidFill>
                  <a:srgbClr val="0000FF"/>
                </a:solidFill>
              </a:rPr>
              <a:t>local</a:t>
            </a:r>
            <a:r>
              <a:rPr lang="en-US" sz="2000" b="1" i="1" spc="-40" dirty="0">
                <a:solidFill>
                  <a:srgbClr val="0000FF"/>
                </a:solidFill>
              </a:rPr>
              <a:t> </a:t>
            </a:r>
            <a:r>
              <a:rPr lang="en-US" sz="2800" b="1" i="1" spc="-40" dirty="0">
                <a:solidFill>
                  <a:srgbClr val="0000FF"/>
                </a:solidFill>
              </a:rPr>
              <a:t>variable</a:t>
            </a:r>
            <a:r>
              <a:rPr lang="en-US" sz="2400" spc="-40" dirty="0"/>
              <a:t> </a:t>
            </a:r>
            <a:r>
              <a:rPr lang="en-US" sz="2800" spc="-40" dirty="0"/>
              <a:t>can</a:t>
            </a:r>
            <a:r>
              <a:rPr lang="en-US" sz="2000" spc="-40" dirty="0"/>
              <a:t> </a:t>
            </a:r>
            <a:r>
              <a:rPr lang="en-US" sz="2800" spc="-40" dirty="0"/>
              <a:t>only</a:t>
            </a:r>
            <a:r>
              <a:rPr lang="en-US" sz="2000" spc="-40" dirty="0"/>
              <a:t> </a:t>
            </a:r>
            <a:r>
              <a:rPr lang="en-US" sz="2800" spc="-40" dirty="0"/>
              <a:t>be</a:t>
            </a:r>
            <a:r>
              <a:rPr lang="en-US" sz="2000" spc="-40" dirty="0"/>
              <a:t> </a:t>
            </a:r>
            <a:r>
              <a:rPr lang="en-US" sz="2800" spc="-40" dirty="0"/>
              <a:t>accessed</a:t>
            </a:r>
            <a:r>
              <a:rPr lang="en-US" sz="2400" spc="-40" dirty="0"/>
              <a:t> </a:t>
            </a:r>
            <a:r>
              <a:rPr lang="en-US" sz="2800" spc="-40" dirty="0"/>
              <a:t>inside</a:t>
            </a:r>
            <a:r>
              <a:rPr lang="en-US" sz="2400" spc="-40" dirty="0"/>
              <a:t> </a:t>
            </a:r>
            <a:r>
              <a:rPr lang="en-US" sz="2800" spc="-40" dirty="0"/>
              <a:t>its creating</a:t>
            </a:r>
            <a:r>
              <a:rPr lang="en-US" sz="2400" spc="-40" dirty="0"/>
              <a:t> </a:t>
            </a:r>
            <a:r>
              <a:rPr lang="en-US" sz="2800" spc="-40" dirty="0"/>
              <a:t>function.</a:t>
            </a:r>
          </a:p>
          <a:p>
            <a:pPr marL="520700" lvl="1">
              <a:lnSpc>
                <a:spcPct val="100000"/>
              </a:lnSpc>
            </a:pPr>
            <a:r>
              <a:rPr lang="en-US" sz="2600" dirty="0"/>
              <a:t>That is to say: not even by functions called within that function.</a:t>
            </a:r>
          </a:p>
          <a:p>
            <a:pPr marL="863600" lvl="2" indent="-292100">
              <a:lnSpc>
                <a:spcPct val="100000"/>
              </a:lnSpc>
            </a:pPr>
            <a:r>
              <a:rPr lang="en-US" sz="2400" dirty="0"/>
              <a:t>Unless</a:t>
            </a:r>
            <a:r>
              <a:rPr lang="en-US" sz="2000" dirty="0"/>
              <a:t> </a:t>
            </a:r>
            <a:r>
              <a:rPr lang="en-US" sz="2400" dirty="0"/>
              <a:t>it is</a:t>
            </a:r>
            <a:r>
              <a:rPr lang="en-US" sz="2000" dirty="0"/>
              <a:t> </a:t>
            </a:r>
            <a:r>
              <a:rPr lang="en-US" sz="2400" dirty="0"/>
              <a:t>passed</a:t>
            </a:r>
            <a:r>
              <a:rPr lang="en-US" sz="2000" dirty="0"/>
              <a:t> </a:t>
            </a:r>
            <a:r>
              <a:rPr lang="en-US" sz="2400" dirty="0"/>
              <a:t>to</a:t>
            </a:r>
            <a:r>
              <a:rPr lang="en-US" sz="2000" dirty="0"/>
              <a:t> </a:t>
            </a:r>
            <a:r>
              <a:rPr lang="en-US" sz="2400" dirty="0"/>
              <a:t>those</a:t>
            </a:r>
            <a:r>
              <a:rPr lang="en-US" sz="2000" dirty="0"/>
              <a:t> </a:t>
            </a:r>
            <a:r>
              <a:rPr lang="en-US" sz="2400" dirty="0"/>
              <a:t>functions</a:t>
            </a:r>
            <a:r>
              <a:rPr lang="en-US" sz="2000" dirty="0"/>
              <a:t> </a:t>
            </a:r>
            <a:r>
              <a:rPr lang="en-US" sz="2400" dirty="0"/>
              <a:t>or</a:t>
            </a:r>
            <a:r>
              <a:rPr lang="en-US" sz="2000" dirty="0"/>
              <a:t> </a:t>
            </a:r>
            <a:r>
              <a:rPr lang="en-US" sz="2400" dirty="0"/>
              <a:t>is</a:t>
            </a:r>
            <a:r>
              <a:rPr lang="en-US" sz="2000" dirty="0"/>
              <a:t> </a:t>
            </a:r>
            <a:r>
              <a:rPr lang="en-US" sz="2400" dirty="0"/>
              <a:t>declared to be</a:t>
            </a:r>
            <a:r>
              <a:rPr lang="en-US" sz="2000" dirty="0"/>
              <a:t> </a:t>
            </a:r>
            <a:r>
              <a:rPr lang="en-US" sz="2400" b="1" i="1" dirty="0">
                <a:solidFill>
                  <a:srgbClr val="0000FF"/>
                </a:solidFill>
              </a:rPr>
              <a:t>nonlocal</a:t>
            </a:r>
            <a:r>
              <a:rPr lang="en-US" sz="2400" b="1" i="1" dirty="0"/>
              <a:t>.</a:t>
            </a:r>
            <a:endParaRPr lang="en-US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Scope of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r>
              <a:rPr lang="en-US" sz="4400" dirty="0">
                <a:solidFill>
                  <a:srgbClr val="0070C0"/>
                </a:solidFill>
              </a:rPr>
              <a:t> Variables</a:t>
            </a:r>
          </a:p>
        </p:txBody>
      </p:sp>
      <p:sp>
        <p:nvSpPr>
          <p:cNvPr id="5" name="Trapezoid 4"/>
          <p:cNvSpPr/>
          <p:nvPr/>
        </p:nvSpPr>
        <p:spPr bwMode="auto">
          <a:xfrm rot="2700000" flipH="1">
            <a:off x="7338654" y="435837"/>
            <a:ext cx="3125129" cy="78385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Remember</a:t>
            </a:r>
            <a:b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</a:br>
            <a:r>
              <a: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rPr>
              <a:t>slide #178?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149661" y="1920446"/>
            <a:ext cx="9351222" cy="1587734"/>
          </a:xfrm>
          <a:prstGeom prst="wedgeRoundRectCallout">
            <a:avLst>
              <a:gd name="adj1" fmla="val 40589"/>
              <a:gd name="adj2" fmla="val 235267"/>
              <a:gd name="adj3" fmla="val 16667"/>
            </a:avLst>
          </a:prstGeom>
          <a:solidFill>
            <a:srgbClr val="CDEB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3200" dirty="0">
                <a:solidFill>
                  <a:prstClr val="black"/>
                </a:solidFill>
              </a:rPr>
              <a:t>A nonlocal variable, </a:t>
            </a:r>
            <a:r>
              <a:rPr lang="en-US" altLang="zh-TW" sz="3200" i="1" dirty="0">
                <a:solidFill>
                  <a:prstClr val="black"/>
                </a:solidFill>
              </a:rPr>
              <a:t>x</a:t>
            </a:r>
            <a:r>
              <a:rPr lang="en-US" altLang="zh-TW" sz="3200" dirty="0">
                <a:solidFill>
                  <a:prstClr val="black"/>
                </a:solidFill>
              </a:rPr>
              <a:t>, is: That variable, named </a:t>
            </a:r>
            <a:r>
              <a:rPr lang="en-US" altLang="zh-TW" sz="3200" i="1" dirty="0">
                <a:solidFill>
                  <a:prstClr val="black"/>
                </a:solidFill>
              </a:rPr>
              <a:t>x</a:t>
            </a:r>
            <a:r>
              <a:rPr lang="en-US" altLang="zh-TW" sz="3200" dirty="0">
                <a:solidFill>
                  <a:prstClr val="black"/>
                </a:solidFill>
              </a:rPr>
              <a:t>, which</a:t>
            </a:r>
            <a:r>
              <a:rPr lang="en-US" altLang="zh-TW" sz="24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is</a:t>
            </a:r>
            <a:r>
              <a:rPr lang="en-US" altLang="zh-TW" sz="24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nearest</a:t>
            </a:r>
            <a:r>
              <a:rPr lang="en-US" altLang="zh-TW" sz="24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on</a:t>
            </a:r>
            <a:r>
              <a:rPr lang="en-US" altLang="zh-TW" sz="24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the</a:t>
            </a:r>
            <a:r>
              <a:rPr lang="en-US" altLang="zh-TW" sz="24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call</a:t>
            </a:r>
            <a:r>
              <a:rPr lang="en-US" altLang="zh-TW" sz="24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stack</a:t>
            </a:r>
            <a:r>
              <a:rPr lang="en-US" altLang="zh-TW" sz="24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to</a:t>
            </a:r>
            <a:r>
              <a:rPr lang="en-US" altLang="zh-TW" sz="24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the</a:t>
            </a:r>
            <a:r>
              <a:rPr lang="en-US" altLang="zh-TW" sz="24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current</a:t>
            </a:r>
            <a:r>
              <a:rPr lang="en-US" altLang="zh-TW" sz="24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function.</a:t>
            </a:r>
          </a:p>
          <a:p>
            <a:pPr algn="ctr"/>
            <a:r>
              <a:rPr lang="en-US" altLang="zh-TW" sz="3200" dirty="0">
                <a:solidFill>
                  <a:prstClr val="black"/>
                </a:solidFill>
              </a:rPr>
              <a:t>That nonlocal variable might also be a global. </a:t>
            </a:r>
            <a:endParaRPr lang="zh-TW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24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msg1 = "glob";msg2 = "glob";msg3 = "</a:t>
            </a:r>
            <a:r>
              <a:rPr lang="en-US" altLang="zh-TW" sz="2000" dirty="0" err="1">
                <a:latin typeface="Lucida Console" pitchFamily="49" charset="0"/>
              </a:rPr>
              <a:t>glob";d</a:t>
            </a:r>
            <a:r>
              <a:rPr lang="en-US" altLang="zh-TW" sz="2000" dirty="0"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latin typeface="Lucida Console" pitchFamily="49" charset="0"/>
              </a:rPr>
              <a:t>def</a:t>
            </a:r>
            <a:r>
              <a:rPr lang="en-US" altLang="zh-TW" sz="2000" dirty="0">
                <a:latin typeface="Lucida Console" pitchFamily="49" charset="0"/>
              </a:rPr>
              <a:t>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</a:t>
            </a:r>
            <a:r>
              <a:rPr lang="en-US" altLang="zh-TW" sz="2000" dirty="0" err="1">
                <a:latin typeface="Lucida Console" pitchFamily="49" charset="0"/>
              </a:rPr>
              <a:t>def</a:t>
            </a:r>
            <a:r>
              <a:rPr lang="en-US" altLang="zh-TW" sz="2000" dirty="0">
                <a:latin typeface="Lucida Console" pitchFamily="49" charset="0"/>
              </a:rPr>
              <a:t>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</a:t>
            </a:r>
            <a:r>
              <a:rPr lang="en-US" altLang="zh-TW" sz="2000" dirty="0" err="1">
                <a:latin typeface="Lucida Console" pitchFamily="49" charset="0"/>
              </a:rPr>
              <a:t>def</a:t>
            </a:r>
            <a:r>
              <a:rPr lang="en-US" altLang="zh-TW" sz="2000" dirty="0">
                <a:latin typeface="Lucida Console" pitchFamily="49" charset="0"/>
              </a:rPr>
              <a:t>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";d["B"]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latin typeface="Lucida Console" pitchFamily="49" charset="0"/>
              </a:rPr>
              <a:t>t",d</a:t>
            </a:r>
            <a:r>
              <a:rPr lang="en-US" altLang="zh-TW" sz="2000" dirty="0"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print("M:\t",msg1,"\t",msg2,"\t",msg3,"\</a:t>
            </a:r>
            <a:r>
              <a:rPr lang="en-US" altLang="zh-TW" sz="2000" dirty="0" err="1">
                <a:latin typeface="Lucida Console" pitchFamily="49" charset="0"/>
              </a:rPr>
              <a:t>t",d</a:t>
            </a:r>
            <a:r>
              <a:rPr lang="en-US" altLang="zh-TW" sz="2000" dirty="0"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print("T:\t",msg1,"\t",msg2,"\t",msg3,"\</a:t>
            </a:r>
            <a:r>
              <a:rPr lang="en-US" altLang="zh-TW" sz="2000" dirty="0" err="1">
                <a:latin typeface="Lucida Console" pitchFamily="49" charset="0"/>
              </a:rPr>
              <a:t>t",d</a:t>
            </a:r>
            <a:r>
              <a:rPr lang="en-US" altLang="zh-TW" sz="2000" dirty="0"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latin typeface="Lucida Console" pitchFamily="49" charset="0"/>
              </a:rPr>
              <a:t>t",d</a:t>
            </a:r>
            <a:r>
              <a:rPr lang="en-US" altLang="zh-TW" sz="2000" dirty="0"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B: 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M: 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T:  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G: 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glob   </a:t>
            </a:r>
            <a:r>
              <a:rPr lang="en-US" altLang="zh-TW" sz="2000" dirty="0" err="1">
                <a:latin typeface="Lucida Console" pitchFamily="49" charset="0"/>
              </a:rPr>
              <a:t>glob</a:t>
            </a:r>
            <a:r>
              <a:rPr lang="en-US" altLang="zh-TW" sz="2000" dirty="0"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latin typeface="Lucida Console" pitchFamily="49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535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msg1 = "glob";msg2 = "glob";msg3 = 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A6A6A6"/>
              </a:solidFill>
              <a:latin typeface="Lucida Console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1876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msg1 = "glob";msg2 = "glob";msg3 = 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ED7D31"/>
                </a:solidFill>
                <a:latin typeface="Lucida Console" pitchFamily="49" charset="0"/>
              </a:rPr>
              <a:t>     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A6A6A6"/>
              </a:solidFill>
              <a:latin typeface="Lucida Console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601093" y="1123721"/>
            <a:ext cx="804232" cy="443979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683738" y="1123721"/>
            <a:ext cx="804232" cy="443979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481098" y="1123721"/>
            <a:ext cx="804232" cy="443979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1533076" y="1123721"/>
            <a:ext cx="804232" cy="443979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7976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msg1 = "glob";msg2 = "glob";msg3 = "</a:t>
            </a: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A6A6A6"/>
              </a:solidFill>
              <a:latin typeface="Lucida Console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7821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 = "glob";msg2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A6A6A6"/>
              </a:solidFill>
              <a:latin typeface="Lucida Console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5" name="Arc 4"/>
          <p:cNvSpPr/>
          <p:nvPr/>
        </p:nvSpPr>
        <p:spPr>
          <a:xfrm rot="19814817" flipH="1">
            <a:off x="490975" y="1292284"/>
            <a:ext cx="3468749" cy="5573865"/>
          </a:xfrm>
          <a:prstGeom prst="arc">
            <a:avLst>
              <a:gd name="adj1" fmla="val 16006822"/>
              <a:gd name="adj2" fmla="val 21395426"/>
            </a:avLst>
          </a:prstGeom>
          <a:ln w="19050">
            <a:solidFill>
              <a:srgbClr val="FF0000"/>
            </a:solidFill>
            <a:headEnd type="arrow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76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 = "glob";msg2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msg1="topLv";msg2="topLv";msg3="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A6A6A6"/>
              </a:solidFill>
              <a:latin typeface="Lucida Console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2" name="Arc 1"/>
          <p:cNvSpPr/>
          <p:nvPr/>
        </p:nvSpPr>
        <p:spPr>
          <a:xfrm rot="19814817" flipH="1">
            <a:off x="490975" y="1292284"/>
            <a:ext cx="3468749" cy="5573865"/>
          </a:xfrm>
          <a:prstGeom prst="arc">
            <a:avLst>
              <a:gd name="adj1" fmla="val 16006822"/>
              <a:gd name="adj2" fmla="val 21395426"/>
            </a:avLst>
          </a:prstGeom>
          <a:ln w="19050">
            <a:solidFill>
              <a:srgbClr val="FF0000"/>
            </a:solidFill>
            <a:headEnd type="arrow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0119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 = "glob";msg2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A6A6A6"/>
              </a:solidFill>
              <a:latin typeface="Lucida Console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2" name="Arc 1"/>
          <p:cNvSpPr/>
          <p:nvPr/>
        </p:nvSpPr>
        <p:spPr>
          <a:xfrm rot="19814817" flipH="1">
            <a:off x="490975" y="1292284"/>
            <a:ext cx="3468749" cy="5573865"/>
          </a:xfrm>
          <a:prstGeom prst="arc">
            <a:avLst>
              <a:gd name="adj1" fmla="val 16006822"/>
              <a:gd name="adj2" fmla="val 21395426"/>
            </a:avLst>
          </a:prstGeom>
          <a:ln w="19050">
            <a:solidFill>
              <a:srgbClr val="FF0000"/>
            </a:solidFill>
            <a:headEnd type="arrow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8" name="Arc 7"/>
          <p:cNvSpPr/>
          <p:nvPr/>
        </p:nvSpPr>
        <p:spPr>
          <a:xfrm rot="19814817" flipH="1">
            <a:off x="1103684" y="1954048"/>
            <a:ext cx="2186077" cy="3790106"/>
          </a:xfrm>
          <a:prstGeom prst="arc">
            <a:avLst>
              <a:gd name="adj1" fmla="val 15864272"/>
              <a:gd name="adj2" fmla="val 21395426"/>
            </a:avLst>
          </a:prstGeom>
          <a:ln w="19050">
            <a:solidFill>
              <a:srgbClr val="FF99FF"/>
            </a:solidFill>
            <a:headEnd type="arrow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7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 = "glob";msg2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latin typeface="Lucida Console" pitchFamily="49" charset="0"/>
              </a:rPr>
              <a:t>  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A6A6A6"/>
              </a:solidFill>
              <a:latin typeface="Lucida Console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Arc 6"/>
          <p:cNvSpPr/>
          <p:nvPr/>
        </p:nvSpPr>
        <p:spPr>
          <a:xfrm rot="19814817" flipH="1">
            <a:off x="1659078" y="2518845"/>
            <a:ext cx="1421056" cy="2374091"/>
          </a:xfrm>
          <a:prstGeom prst="arc">
            <a:avLst>
              <a:gd name="adj1" fmla="val 15864272"/>
              <a:gd name="adj2" fmla="val 20226768"/>
            </a:avLst>
          </a:prstGeom>
          <a:ln w="19050">
            <a:solidFill>
              <a:srgbClr val="00B050"/>
            </a:solidFill>
            <a:headEnd type="arrow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8" name="Arc 7"/>
          <p:cNvSpPr/>
          <p:nvPr/>
        </p:nvSpPr>
        <p:spPr>
          <a:xfrm rot="19814817" flipH="1">
            <a:off x="490975" y="1292284"/>
            <a:ext cx="3468749" cy="5573865"/>
          </a:xfrm>
          <a:prstGeom prst="arc">
            <a:avLst>
              <a:gd name="adj1" fmla="val 16006822"/>
              <a:gd name="adj2" fmla="val 21395426"/>
            </a:avLst>
          </a:prstGeom>
          <a:ln w="19050">
            <a:solidFill>
              <a:srgbClr val="FF0000"/>
            </a:solidFill>
            <a:headEnd type="arrow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9" name="Arc 8"/>
          <p:cNvSpPr/>
          <p:nvPr/>
        </p:nvSpPr>
        <p:spPr>
          <a:xfrm rot="19814817" flipH="1">
            <a:off x="1103684" y="1954048"/>
            <a:ext cx="2186077" cy="3790106"/>
          </a:xfrm>
          <a:prstGeom prst="arc">
            <a:avLst>
              <a:gd name="adj1" fmla="val 15864272"/>
              <a:gd name="adj2" fmla="val 21395426"/>
            </a:avLst>
          </a:prstGeom>
          <a:ln w="19050">
            <a:solidFill>
              <a:srgbClr val="FF99FF"/>
            </a:solidFill>
            <a:headEnd type="arrow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25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 = "glob";msg2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   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msg1="midLv";msg2="midLv";msg3="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ED7D31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ED7D31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ED7D31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ED7D31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ED7D31"/>
                </a:solidFill>
                <a:latin typeface="Lucida Console" pitchFamily="49" charset="0"/>
              </a:rPr>
              <a:t>   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A6A6A6"/>
              </a:solidFill>
              <a:latin typeface="Lucida Console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Arc 6"/>
          <p:cNvSpPr/>
          <p:nvPr/>
        </p:nvSpPr>
        <p:spPr>
          <a:xfrm rot="19814817" flipH="1">
            <a:off x="1659078" y="2518845"/>
            <a:ext cx="1421056" cy="2374091"/>
          </a:xfrm>
          <a:prstGeom prst="arc">
            <a:avLst>
              <a:gd name="adj1" fmla="val 15864272"/>
              <a:gd name="adj2" fmla="val 20226768"/>
            </a:avLst>
          </a:prstGeom>
          <a:ln w="19050">
            <a:solidFill>
              <a:srgbClr val="00B050"/>
            </a:solidFill>
            <a:headEnd type="arrow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8" name="Arc 7"/>
          <p:cNvSpPr/>
          <p:nvPr/>
        </p:nvSpPr>
        <p:spPr>
          <a:xfrm rot="19814817" flipH="1">
            <a:off x="490975" y="1292284"/>
            <a:ext cx="3468749" cy="5573865"/>
          </a:xfrm>
          <a:prstGeom prst="arc">
            <a:avLst>
              <a:gd name="adj1" fmla="val 16006822"/>
              <a:gd name="adj2" fmla="val 21395426"/>
            </a:avLst>
          </a:prstGeom>
          <a:ln w="19050">
            <a:solidFill>
              <a:srgbClr val="FF0000"/>
            </a:solidFill>
            <a:headEnd type="arrow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9" name="Arc 8"/>
          <p:cNvSpPr/>
          <p:nvPr/>
        </p:nvSpPr>
        <p:spPr>
          <a:xfrm rot="19814817" flipH="1">
            <a:off x="1103684" y="1954048"/>
            <a:ext cx="2186077" cy="3790106"/>
          </a:xfrm>
          <a:prstGeom prst="arc">
            <a:avLst>
              <a:gd name="adj1" fmla="val 15864272"/>
              <a:gd name="adj2" fmla="val 21395426"/>
            </a:avLst>
          </a:prstGeom>
          <a:ln w="19050">
            <a:solidFill>
              <a:srgbClr val="FF99FF"/>
            </a:solidFill>
            <a:headEnd type="arrow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32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msg1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= "glob";msg2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 msg1="midLv";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msg2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="midLv";msg3="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accent2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accent2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nonlocal msg2</a:t>
            </a:r>
            <a:endParaRPr lang="en-US" altLang="zh-TW" sz="2000" dirty="0">
              <a:solidFill>
                <a:srgbClr val="A6A6A6"/>
              </a:solidFill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";d["B"]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A6A6A6"/>
              </a:solidFill>
              <a:latin typeface="Lucida Console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7659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msg1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= "glob";msg2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msg1="midLv";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msg2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="midLv";msg3="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accent2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accent2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msg1="botLv"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msg2="botLv"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;msg3=</a:t>
            </a:r>
            <a:r>
              <a:rPr lang="en-US" altLang="zh-TW" sz="2000" b="1" dirty="0">
                <a:solidFill>
                  <a:schemeClr val="accent2"/>
                </a:solidFill>
                <a:latin typeface="Lucida Console" pitchFamily="49" charset="0"/>
              </a:rPr>
              <a:t>"</a:t>
            </a:r>
            <a:r>
              <a:rPr lang="en-US" altLang="zh-TW" sz="2000" b="1" dirty="0" err="1">
                <a:solidFill>
                  <a:schemeClr val="accent2"/>
                </a:solidFill>
                <a:latin typeface="Lucida Console" pitchFamily="49" charset="0"/>
              </a:rPr>
              <a:t>botLv</a:t>
            </a:r>
            <a:r>
              <a:rPr lang="en-US" altLang="zh-TW" sz="2000" b="1" dirty="0">
                <a:solidFill>
                  <a:schemeClr val="accent2"/>
                </a:solidFill>
                <a:latin typeface="Lucida Console" pitchFamily="49" charset="0"/>
              </a:rPr>
              <a:t>"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"B"</a:t>
            </a:r>
            <a:r>
              <a:rPr lang="en-US" altLang="zh-TW" sz="2000" dirty="0"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BFBFBF"/>
              </a:solidFill>
              <a:latin typeface="Lucida Console" pitchFamily="49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307561" y="1143000"/>
            <a:ext cx="1024128" cy="304800"/>
          </a:xfrm>
          <a:prstGeom prst="rect">
            <a:avLst/>
          </a:prstGeom>
          <a:solidFill>
            <a:srgbClr val="CDEB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TW" sz="2400" dirty="0" err="1">
                <a:solidFill>
                  <a:prstClr val="black"/>
                </a:solidFill>
                <a:latin typeface="Times New Roman" pitchFamily="18" charset="0"/>
                <a:ea typeface="新細明體" charset="-120"/>
              </a:rPr>
              <a:t>botLv</a:t>
            </a: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59553" y="2180048"/>
            <a:ext cx="1058469" cy="304800"/>
          </a:xfrm>
          <a:prstGeom prst="rect">
            <a:avLst/>
          </a:prstGeom>
          <a:solidFill>
            <a:srgbClr val="CDEB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TW" sz="2400" dirty="0" err="1">
                <a:solidFill>
                  <a:prstClr val="black"/>
                </a:solidFill>
                <a:latin typeface="Times New Roman" pitchFamily="18" charset="0"/>
                <a:ea typeface="新細明體" charset="-120"/>
              </a:rPr>
              <a:t>botLv</a:t>
            </a: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532637" y="3205488"/>
            <a:ext cx="1024128" cy="304800"/>
          </a:xfrm>
          <a:prstGeom prst="rect">
            <a:avLst/>
          </a:prstGeom>
          <a:solidFill>
            <a:srgbClr val="CDEB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TW" sz="2400" dirty="0" err="1">
                <a:solidFill>
                  <a:prstClr val="black"/>
                </a:solidFill>
                <a:latin typeface="Times New Roman" pitchFamily="18" charset="0"/>
                <a:ea typeface="新細明體" charset="-120"/>
              </a:rPr>
              <a:t>botLv</a:t>
            </a: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508794" y="3206149"/>
            <a:ext cx="1058469" cy="304800"/>
          </a:xfrm>
          <a:prstGeom prst="rect">
            <a:avLst/>
          </a:prstGeom>
          <a:solidFill>
            <a:srgbClr val="CDEB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TW" sz="2400" dirty="0" err="1">
                <a:solidFill>
                  <a:prstClr val="black"/>
                </a:solidFill>
                <a:latin typeface="Times New Roman" pitchFamily="18" charset="0"/>
                <a:ea typeface="新細明體" charset="-120"/>
              </a:rPr>
              <a:t>botLv</a:t>
            </a: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5176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4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6696E-6 0.00139 L -0.12613 -0.30069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14" y="-1511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2475E-6 -4.81481E-6 L -0.04601 -0.14976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01" y="-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msg1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=</a:t>
            </a:r>
            <a:r>
              <a:rPr lang="en-US" altLang="zh-TW" sz="2000" b="1" dirty="0">
                <a:latin typeface="Lucida Console" pitchFamily="49" charset="0"/>
              </a:rPr>
              <a:t>"botLv"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msg1="midLv";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msg2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</a:t>
            </a:r>
            <a:r>
              <a:rPr lang="en-US" altLang="zh-TW" sz="2000" b="1" dirty="0">
                <a:latin typeface="Lucida Console" pitchFamily="49" charset="0"/>
              </a:rPr>
              <a:t>"botLv"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accent2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accent2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msg1="botLv";msg2="botLv";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msg3=</a:t>
            </a:r>
            <a:r>
              <a:rPr lang="en-US" altLang="zh-TW" sz="2000" b="1" dirty="0">
                <a:solidFill>
                  <a:schemeClr val="accent2"/>
                </a:solidFill>
                <a:latin typeface="Lucida Console" pitchFamily="49" charset="0"/>
              </a:rPr>
              <a:t>"</a:t>
            </a:r>
            <a:r>
              <a:rPr lang="en-US" altLang="zh-TW" sz="2000" b="1" dirty="0" err="1">
                <a:solidFill>
                  <a:schemeClr val="accent2"/>
                </a:solidFill>
                <a:latin typeface="Lucida Console" pitchFamily="49" charset="0"/>
              </a:rPr>
              <a:t>botLv</a:t>
            </a:r>
            <a:r>
              <a:rPr lang="en-US" altLang="zh-TW" sz="2000" b="1" dirty="0">
                <a:solidFill>
                  <a:schemeClr val="accent2"/>
                </a:solidFill>
                <a:latin typeface="Lucida Console" pitchFamily="49" charset="0"/>
              </a:rPr>
              <a:t>"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"B"</a:t>
            </a:r>
            <a:r>
              <a:rPr lang="en-US" altLang="zh-TW" sz="2000" dirty="0"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BFBFBF"/>
              </a:solidFill>
              <a:latin typeface="Lucida Console" pitchFamily="49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310344" y="1146702"/>
            <a:ext cx="1025896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59553" y="2180048"/>
            <a:ext cx="1058469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92232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msg1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=</a:t>
            </a:r>
            <a:r>
              <a:rPr lang="en-US" altLang="zh-TW" sz="2000" b="1" dirty="0">
                <a:latin typeface="Lucida Console" pitchFamily="49" charset="0"/>
              </a:rPr>
              <a:t>"botLv"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msg1="midLv";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msg2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</a:t>
            </a:r>
            <a:r>
              <a:rPr lang="en-US" altLang="zh-TW" sz="2000" b="1" dirty="0">
                <a:latin typeface="Lucida Console" pitchFamily="49" charset="0"/>
              </a:rPr>
              <a:t>"botLv"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accent2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accent2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msg1="botLv";msg2="botLv";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msg3=</a:t>
            </a:r>
            <a:r>
              <a:rPr lang="en-US" altLang="zh-TW" sz="2000" b="1" dirty="0">
                <a:solidFill>
                  <a:schemeClr val="accent2"/>
                </a:solidFill>
                <a:latin typeface="Lucida Console" pitchFamily="49" charset="0"/>
              </a:rPr>
              <a:t>"</a:t>
            </a:r>
            <a:r>
              <a:rPr lang="en-US" altLang="zh-TW" sz="2000" b="1" dirty="0" err="1">
                <a:solidFill>
                  <a:schemeClr val="accent2"/>
                </a:solidFill>
                <a:latin typeface="Lucida Console" pitchFamily="49" charset="0"/>
              </a:rPr>
              <a:t>botLv</a:t>
            </a:r>
            <a:r>
              <a:rPr lang="en-US" altLang="zh-TW" sz="2000" b="1" dirty="0">
                <a:solidFill>
                  <a:schemeClr val="accent2"/>
                </a:solidFill>
                <a:latin typeface="Lucida Console" pitchFamily="49" charset="0"/>
              </a:rPr>
              <a:t>"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"B"</a:t>
            </a:r>
            <a:r>
              <a:rPr lang="en-US" altLang="zh-TW" sz="2000" dirty="0"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ED7D31"/>
                </a:solidFill>
                <a:latin typeface="Lucida Console" pitchFamily="49" charset="0"/>
              </a:rPr>
              <a:t>print("B:\t",msg1,"\t",msg2,"\t",msg3,"\</a:t>
            </a:r>
            <a:r>
              <a:rPr lang="en-US" altLang="zh-TW" sz="2000" dirty="0" err="1">
                <a:solidFill>
                  <a:srgbClr val="ED7D31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ED7D31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BFBFBF"/>
              </a:solidFill>
              <a:latin typeface="Lucida Console" pitchFamily="49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310344" y="1146702"/>
            <a:ext cx="1025896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059553" y="2180048"/>
            <a:ext cx="1058469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53682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msg1 =</a:t>
            </a:r>
            <a:r>
              <a:rPr lang="en-US" altLang="zh-TW" sz="2000" b="1" dirty="0">
                <a:solidFill>
                  <a:srgbClr val="FF0000"/>
                </a:solidFill>
                <a:latin typeface="Lucida Console" pitchFamily="49" charset="0"/>
              </a:rPr>
              <a:t>"botLv"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</a:t>
            </a:r>
            <a:r>
              <a:rPr lang="en-US" altLang="zh-TW" sz="2000" dirty="0" err="1">
                <a:latin typeface="Lucida Console" pitchFamily="49" charset="0"/>
              </a:rPr>
              <a:t>d</a:t>
            </a:r>
            <a:r>
              <a:rPr lang="en-US" altLang="zh-TW" sz="2000" dirty="0">
                <a:latin typeface="Lucida Console" pitchFamily="49" charset="0"/>
              </a:rPr>
              <a:t>={</a:t>
            </a:r>
            <a:r>
              <a:rPr lang="en-US" altLang="zh-TW" sz="2000" b="1" dirty="0">
                <a:solidFill>
                  <a:srgbClr val="FF0000"/>
                </a:solidFill>
                <a:latin typeface="Lucida Console" pitchFamily="49" charset="0"/>
              </a:rPr>
              <a:t>"G":0</a:t>
            </a:r>
            <a:r>
              <a:rPr lang="en-US" altLang="zh-TW" sz="2000" dirty="0">
                <a:latin typeface="Lucida Console" pitchFamily="49" charset="0"/>
              </a:rPr>
              <a:t>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FF99FF"/>
                </a:solidFill>
                <a:latin typeface="Lucida Console" pitchFamily="49" charset="0"/>
              </a:rPr>
              <a:t>"T"</a:t>
            </a:r>
            <a:r>
              <a:rPr lang="en-US" altLang="zh-TW" sz="2000" dirty="0"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FF99FF"/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msg1="midLv";</a:t>
            </a:r>
            <a:r>
              <a:rPr lang="en-US" altLang="zh-TW" sz="2000" dirty="0">
                <a:latin typeface="Lucida Console" pitchFamily="49" charset="0"/>
              </a:rPr>
              <a:t>msg2=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"botLv"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"M"</a:t>
            </a:r>
            <a:r>
              <a:rPr lang="en-US" altLang="zh-TW" sz="2000" dirty="0"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accent2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accent2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msg1="botLv";msg2="botLv";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msg3=</a:t>
            </a:r>
            <a:r>
              <a:rPr lang="en-US" altLang="zh-TW" sz="2000" b="1" dirty="0">
                <a:solidFill>
                  <a:schemeClr val="accent2"/>
                </a:solidFill>
                <a:latin typeface="Lucida Console" pitchFamily="49" charset="0"/>
              </a:rPr>
              <a:t>"</a:t>
            </a:r>
            <a:r>
              <a:rPr lang="en-US" altLang="zh-TW" sz="2000" b="1" dirty="0" err="1">
                <a:solidFill>
                  <a:schemeClr val="accent2"/>
                </a:solidFill>
                <a:latin typeface="Lucida Console" pitchFamily="49" charset="0"/>
              </a:rPr>
              <a:t>botLv</a:t>
            </a:r>
            <a:r>
              <a:rPr lang="en-US" altLang="zh-TW" sz="2000" b="1" dirty="0">
                <a:solidFill>
                  <a:schemeClr val="accent2"/>
                </a:solidFill>
                <a:latin typeface="Lucida Console" pitchFamily="49" charset="0"/>
              </a:rPr>
              <a:t>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"B"</a:t>
            </a:r>
            <a:r>
              <a:rPr lang="en-US" altLang="zh-TW" sz="2000" dirty="0"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      print("B:\t",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msg1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,"\t",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msg2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,"\t",msg3,"\</a:t>
            </a:r>
            <a:r>
              <a:rPr lang="en-US" altLang="zh-TW" sz="2000" dirty="0" err="1">
                <a:solidFill>
                  <a:schemeClr val="accent2"/>
                </a:solidFill>
                <a:latin typeface="Lucida Console" pitchFamily="49" charset="0"/>
              </a:rPr>
              <a:t>t",</a:t>
            </a:r>
            <a:r>
              <a:rPr lang="en-US" altLang="zh-TW" sz="2000" dirty="0" err="1">
                <a:latin typeface="Lucida Console" pitchFamily="49" charset="0"/>
              </a:rPr>
              <a:t>d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print("M:\t",msg1,"\t",msg2,"\t",msg3,"\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B:   </a:t>
            </a: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chemeClr val="accent2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{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'M': 2</a:t>
            </a:r>
            <a:r>
              <a:rPr lang="en-US" altLang="zh-TW" sz="2000" dirty="0">
                <a:latin typeface="Lucida Console" pitchFamily="49" charset="0"/>
              </a:rPr>
              <a:t>, </a:t>
            </a:r>
            <a:r>
              <a:rPr lang="en-US" altLang="zh-TW" sz="2000" dirty="0">
                <a:solidFill>
                  <a:srgbClr val="ED7D31"/>
                </a:solidFill>
                <a:latin typeface="Lucida Console" pitchFamily="49" charset="0"/>
              </a:rPr>
              <a:t>'B': 3</a:t>
            </a:r>
            <a:r>
              <a:rPr lang="en-US" altLang="zh-TW" sz="2000" dirty="0">
                <a:latin typeface="Lucida Console" pitchFamily="49" charset="0"/>
              </a:rPr>
              <a:t>, 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'T': 1</a:t>
            </a:r>
            <a:r>
              <a:rPr lang="en-US" altLang="zh-TW" sz="2000" dirty="0">
                <a:latin typeface="Lucida Console" pitchFamily="49" charset="0"/>
              </a:rPr>
              <a:t>, 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'G': 0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BFBFBF"/>
              </a:solidFill>
              <a:latin typeface="Lucida Console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4588788" y="2484849"/>
            <a:ext cx="960475" cy="1072391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1879040" y="1451503"/>
            <a:ext cx="2097900" cy="2105737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7054678" y="3367668"/>
            <a:ext cx="18585" cy="219310"/>
          </a:xfrm>
          <a:prstGeom prst="straightConnector1">
            <a:avLst/>
          </a:prstGeom>
          <a:ln w="28575">
            <a:solidFill>
              <a:srgbClr val="ED7D31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8459731" y="3389304"/>
            <a:ext cx="625871" cy="197675"/>
          </a:xfrm>
          <a:prstGeom prst="straightConnector1">
            <a:avLst/>
          </a:prstGeom>
          <a:ln w="28575">
            <a:solidFill>
              <a:srgbClr val="ED7D31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8459892" y="2435088"/>
            <a:ext cx="210378" cy="1076738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8237920" y="1928194"/>
            <a:ext cx="165651" cy="1577007"/>
          </a:xfrm>
          <a:prstGeom prst="straightConnector1">
            <a:avLst/>
          </a:prstGeom>
          <a:ln w="28575">
            <a:solidFill>
              <a:srgbClr val="FF99FF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7943057" y="1394462"/>
            <a:ext cx="400878" cy="215380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310344" y="1146702"/>
            <a:ext cx="1025896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059553" y="2180048"/>
            <a:ext cx="1058469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629062" y="3756661"/>
            <a:ext cx="2322336" cy="2103121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5457888" y="3756662"/>
            <a:ext cx="2842149" cy="2103121"/>
          </a:xfrm>
          <a:prstGeom prst="straightConnector1">
            <a:avLst/>
          </a:prstGeom>
          <a:noFill/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6600822" y="3756662"/>
            <a:ext cx="1744934" cy="2103121"/>
          </a:xfrm>
          <a:prstGeom prst="straightConnector1">
            <a:avLst/>
          </a:prstGeom>
          <a:noFill/>
          <a:ln w="28575">
            <a:solidFill>
              <a:srgbClr val="ED7D31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7822589" y="3756662"/>
            <a:ext cx="570049" cy="2103121"/>
          </a:xfrm>
          <a:prstGeom prst="straightConnector1">
            <a:avLst/>
          </a:prstGeom>
          <a:noFill/>
          <a:ln w="28575">
            <a:solidFill>
              <a:srgbClr val="FF99FF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8430736" y="3756662"/>
            <a:ext cx="556261" cy="2103121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2680622" y="3756662"/>
            <a:ext cx="2868640" cy="2103121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3832043" y="3756662"/>
            <a:ext cx="3222634" cy="2103121"/>
          </a:xfrm>
          <a:prstGeom prst="straightConnector1">
            <a:avLst/>
          </a:prstGeom>
          <a:ln w="28575">
            <a:solidFill>
              <a:srgbClr val="ED7D31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2344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>
            <a:normAutofit/>
          </a:bodyPr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 ="botLv";msg2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   msg1="midLv";msg2="botLv";msg3="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  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print("M:\t",msg1,"\t",msg2,"\t",msg3,"\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B: 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M: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BFBFBF"/>
              </a:solidFill>
              <a:latin typeface="Lucida Console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4059553" y="2180048"/>
            <a:ext cx="1058469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310344" y="1146702"/>
            <a:ext cx="1025896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10624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>
            <a:normAutofit/>
          </a:bodyPr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 ="botLv";msg2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</a:t>
            </a:r>
            <a:r>
              <a:rPr lang="en-US" altLang="zh-TW" sz="2000" dirty="0" err="1">
                <a:latin typeface="Lucida Console" pitchFamily="49" charset="0"/>
              </a:rPr>
              <a:t>d</a:t>
            </a:r>
            <a:r>
              <a:rPr lang="en-US" altLang="zh-TW" sz="2000" dirty="0">
                <a:latin typeface="Lucida Console" pitchFamily="49" charset="0"/>
              </a:rPr>
              <a:t>={</a:t>
            </a:r>
            <a:r>
              <a:rPr lang="en-US" altLang="zh-TW" sz="2000" b="1" dirty="0">
                <a:solidFill>
                  <a:srgbClr val="FF0000"/>
                </a:solidFill>
                <a:latin typeface="Lucida Console" pitchFamily="49" charset="0"/>
              </a:rPr>
              <a:t>"G":0</a:t>
            </a:r>
            <a:r>
              <a:rPr lang="en-US" altLang="zh-TW" sz="2000" dirty="0">
                <a:latin typeface="Lucida Console" pitchFamily="49" charset="0"/>
              </a:rPr>
              <a:t>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FF99FF"/>
                </a:solidFill>
                <a:latin typeface="Lucida Console" pitchFamily="49" charset="0"/>
              </a:rPr>
              <a:t>"T"</a:t>
            </a:r>
            <a:r>
              <a:rPr lang="en-US" altLang="zh-TW" sz="2000" dirty="0"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FF99FF"/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latin typeface="Lucida Console" pitchFamily="49" charset="0"/>
              </a:rPr>
              <a:t>msg1=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"midLv"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latin typeface="Lucida Console" pitchFamily="49" charset="0"/>
              </a:rPr>
              <a:t>msg2=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"botLv"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latin typeface="Lucida Console" pitchFamily="49" charset="0"/>
              </a:rPr>
              <a:t>msg3=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"</a:t>
            </a:r>
            <a:r>
              <a:rPr lang="en-US" altLang="zh-TW" sz="2000" b="1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"M"</a:t>
            </a:r>
            <a:r>
              <a:rPr lang="en-US" altLang="zh-TW" sz="2000" dirty="0"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FF00"/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"B"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  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print("M:\t",msg1,"\t",msg2,"\t",msg3,"\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t",</a:t>
            </a:r>
            <a:r>
              <a:rPr lang="en-US" altLang="zh-TW" sz="2000" dirty="0" err="1">
                <a:latin typeface="Lucida Console" pitchFamily="49" charset="0"/>
              </a:rPr>
              <a:t>d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print("T:\t",msg1,"\t",msg2,"\t",msg3,"\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B: 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M: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00B050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 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{'M':</a:t>
            </a:r>
            <a:r>
              <a:rPr lang="en-US" altLang="zh-TW" sz="2000" dirty="0"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2</a:t>
            </a:r>
            <a:r>
              <a:rPr lang="en-US" altLang="zh-TW" sz="2000" dirty="0">
                <a:latin typeface="Lucida Console" pitchFamily="49" charset="0"/>
              </a:rPr>
              <a:t>, </a:t>
            </a:r>
            <a:r>
              <a:rPr lang="en-US" altLang="zh-TW" sz="2000" dirty="0">
                <a:solidFill>
                  <a:srgbClr val="ED7D31"/>
                </a:solidFill>
                <a:latin typeface="Lucida Console" pitchFamily="49" charset="0"/>
              </a:rPr>
              <a:t>'B': 3</a:t>
            </a:r>
            <a:r>
              <a:rPr lang="en-US" altLang="zh-TW" sz="2000" dirty="0">
                <a:latin typeface="Lucida Console" pitchFamily="49" charset="0"/>
              </a:rPr>
              <a:t>, 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'T': 1</a:t>
            </a:r>
            <a:r>
              <a:rPr lang="en-US" altLang="zh-TW" sz="2000" dirty="0">
                <a:latin typeface="Lucida Console" pitchFamily="49" charset="0"/>
              </a:rPr>
              <a:t>, 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'G': 0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BFBFBF"/>
              </a:solidFill>
              <a:latin typeface="Lucida Console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4588789" y="2484849"/>
            <a:ext cx="529233" cy="1600590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6569904" y="2435088"/>
            <a:ext cx="63072" cy="1650352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8010720" y="2435088"/>
            <a:ext cx="659550" cy="1613314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7968984" y="1929160"/>
            <a:ext cx="263650" cy="2092683"/>
          </a:xfrm>
          <a:prstGeom prst="straightConnector1">
            <a:avLst/>
          </a:prstGeom>
          <a:ln w="28575">
            <a:solidFill>
              <a:srgbClr val="FF99FF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7923455" y="1414917"/>
            <a:ext cx="1957" cy="2622103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662786" y="2484849"/>
            <a:ext cx="924989" cy="1600591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4059553" y="2180048"/>
            <a:ext cx="1058469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1629063" y="4235115"/>
            <a:ext cx="1938667" cy="1913420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2506896" y="4235116"/>
            <a:ext cx="2569851" cy="1913420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8018309" y="3395802"/>
            <a:ext cx="1081345" cy="701924"/>
          </a:xfrm>
          <a:prstGeom prst="straightConnector1">
            <a:avLst/>
          </a:prstGeom>
          <a:ln w="28575">
            <a:solidFill>
              <a:srgbClr val="ED7D31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3538387" y="4235116"/>
            <a:ext cx="3069799" cy="1913420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5403593" y="4235116"/>
            <a:ext cx="2470537" cy="1913420"/>
          </a:xfrm>
          <a:prstGeom prst="straightConnector1">
            <a:avLst/>
          </a:prstGeom>
          <a:noFill/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6608187" y="4235116"/>
            <a:ext cx="1309591" cy="1913420"/>
          </a:xfrm>
          <a:prstGeom prst="straightConnector1">
            <a:avLst/>
          </a:prstGeom>
          <a:noFill/>
          <a:ln w="28575">
            <a:solidFill>
              <a:srgbClr val="ED7D31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7790658" y="4235116"/>
            <a:ext cx="159979" cy="1913420"/>
          </a:xfrm>
          <a:prstGeom prst="straightConnector1">
            <a:avLst/>
          </a:prstGeom>
          <a:noFill/>
          <a:ln w="28575">
            <a:solidFill>
              <a:srgbClr val="FF99FF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7976573" y="4235116"/>
            <a:ext cx="978741" cy="1913420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1310344" y="1146702"/>
            <a:ext cx="1025896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27423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>
            <a:normAutofit/>
          </a:bodyPr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 ="botLv";msg2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print("M:\t",msg1,"\t",msg2,"\t",msg3,"\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print("T:\t",msg1,"\t",msg2,"\t",msg3,"\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B: 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M: 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BFBFBF"/>
              </a:solidFill>
              <a:latin typeface="Lucida Console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10344" y="1146702"/>
            <a:ext cx="1025896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47580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 ="botLv";msg2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</a:t>
            </a:r>
            <a:r>
              <a:rPr lang="en-US" altLang="zh-TW" sz="2000" dirty="0" err="1">
                <a:latin typeface="Lucida Console" pitchFamily="49" charset="0"/>
              </a:rPr>
              <a:t>d</a:t>
            </a:r>
            <a:r>
              <a:rPr lang="en-US" altLang="zh-TW" sz="2000" dirty="0">
                <a:latin typeface="Lucida Console" pitchFamily="49" charset="0"/>
              </a:rPr>
              <a:t>={</a:t>
            </a:r>
            <a:r>
              <a:rPr lang="en-US" altLang="zh-TW" sz="2000" b="1" dirty="0">
                <a:solidFill>
                  <a:srgbClr val="FF0000"/>
                </a:solidFill>
                <a:latin typeface="Lucida Console" pitchFamily="49" charset="0"/>
              </a:rPr>
              <a:t>"G":0</a:t>
            </a:r>
            <a:r>
              <a:rPr lang="en-US" altLang="zh-TW" sz="2000" dirty="0">
                <a:latin typeface="Lucida Console" pitchFamily="49" charset="0"/>
              </a:rPr>
              <a:t>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latin typeface="Lucida Console" pitchFamily="49" charset="0"/>
              </a:rPr>
              <a:t>msg1=</a:t>
            </a:r>
            <a:r>
              <a:rPr lang="en-US" altLang="zh-TW" sz="2000" b="1" dirty="0">
                <a:solidFill>
                  <a:srgbClr val="FF99FF"/>
                </a:solidFill>
                <a:latin typeface="Lucida Console" pitchFamily="49" charset="0"/>
              </a:rPr>
              <a:t>"topLv"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latin typeface="Lucida Console" pitchFamily="49" charset="0"/>
              </a:rPr>
              <a:t>msg2=</a:t>
            </a:r>
            <a:r>
              <a:rPr lang="en-US" altLang="zh-TW" sz="2000" b="1" dirty="0">
                <a:solidFill>
                  <a:srgbClr val="FF99FF"/>
                </a:solidFill>
                <a:latin typeface="Lucida Console" pitchFamily="49" charset="0"/>
              </a:rPr>
              <a:t>"topLv"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latin typeface="Lucida Console" pitchFamily="49" charset="0"/>
              </a:rPr>
              <a:t>msg3=</a:t>
            </a:r>
            <a:r>
              <a:rPr lang="en-US" altLang="zh-TW" sz="2000" b="1" dirty="0">
                <a:solidFill>
                  <a:srgbClr val="FF99FF"/>
                </a:solidFill>
                <a:latin typeface="Lucida Console" pitchFamily="49" charset="0"/>
              </a:rPr>
              <a:t>"</a:t>
            </a:r>
            <a:r>
              <a:rPr lang="en-US" altLang="zh-TW" sz="2000" b="1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b="1" dirty="0">
                <a:solidFill>
                  <a:srgbClr val="FF99FF"/>
                </a:solidFill>
                <a:latin typeface="Lucida Console" pitchFamily="49" charset="0"/>
              </a:rPr>
              <a:t>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FF99FF"/>
                </a:solidFill>
                <a:latin typeface="Lucida Console" pitchFamily="49" charset="0"/>
              </a:rPr>
              <a:t>"T"</a:t>
            </a:r>
            <a:r>
              <a:rPr lang="en-US" altLang="zh-TW" sz="2000" dirty="0"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FF99FF"/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"M"</a:t>
            </a:r>
            <a:r>
              <a:rPr lang="en-US" altLang="zh-TW" sz="2000" dirty="0"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"B"</a:t>
            </a:r>
            <a:r>
              <a:rPr lang="en-US" altLang="zh-TW" sz="2000" dirty="0"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print("M:\t",msg1,"\t",msg2,"\t",msg3,"\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FF99"/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  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print("T:\t",msg1,"\t",msg2,"\t",msg3,"\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t",</a:t>
            </a:r>
            <a:r>
              <a:rPr lang="en-US" altLang="zh-TW" sz="2000" dirty="0" err="1">
                <a:latin typeface="Lucida Console" pitchFamily="49" charset="0"/>
              </a:rPr>
              <a:t>d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B: 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M: 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T: 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</a:t>
            </a:r>
            <a:r>
              <a:rPr lang="en-US" altLang="zh-TW" sz="2000" dirty="0" err="1">
                <a:solidFill>
                  <a:srgbClr val="FF99FF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 {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'M': 2</a:t>
            </a:r>
            <a:r>
              <a:rPr lang="en-US" altLang="zh-TW" sz="2000" dirty="0">
                <a:latin typeface="Lucida Console" pitchFamily="49" charset="0"/>
              </a:rPr>
              <a:t>,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ED7D31"/>
                </a:solidFill>
                <a:latin typeface="Lucida Console" pitchFamily="49" charset="0"/>
              </a:rPr>
              <a:t>'B': 3</a:t>
            </a:r>
            <a:r>
              <a:rPr lang="en-US" altLang="zh-TW" sz="2000" dirty="0">
                <a:latin typeface="Lucida Console" pitchFamily="49" charset="0"/>
              </a:rPr>
              <a:t>,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'T': 1</a:t>
            </a:r>
            <a:r>
              <a:rPr lang="en-US" altLang="zh-TW" sz="2000" dirty="0">
                <a:latin typeface="Lucida Console" pitchFamily="49" charset="0"/>
              </a:rPr>
              <a:t>,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'G': 0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BFBFBF"/>
              </a:solidFill>
              <a:latin typeface="Lucida Console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4250421" y="1929160"/>
            <a:ext cx="400797" cy="2663161"/>
          </a:xfrm>
          <a:prstGeom prst="straightConnector1">
            <a:avLst/>
          </a:prstGeom>
          <a:ln w="28575">
            <a:solidFill>
              <a:srgbClr val="FF99FF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6165057" y="1929158"/>
            <a:ext cx="10160" cy="2653002"/>
          </a:xfrm>
          <a:prstGeom prst="straightConnector1">
            <a:avLst/>
          </a:prstGeom>
          <a:ln w="28575">
            <a:solidFill>
              <a:srgbClr val="FF99FF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7547701" y="3389305"/>
            <a:ext cx="1537901" cy="1275460"/>
          </a:xfrm>
          <a:prstGeom prst="straightConnector1">
            <a:avLst/>
          </a:prstGeom>
          <a:ln w="28575">
            <a:solidFill>
              <a:srgbClr val="ED7D31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7552118" y="2435088"/>
            <a:ext cx="1118152" cy="2181086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7530032" y="1929161"/>
            <a:ext cx="702603" cy="2594249"/>
          </a:xfrm>
          <a:prstGeom prst="straightConnector1">
            <a:avLst/>
          </a:prstGeom>
          <a:ln w="28575">
            <a:solidFill>
              <a:srgbClr val="FF99FF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7463770" y="1416328"/>
            <a:ext cx="84742" cy="3155672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2185343" y="1929159"/>
            <a:ext cx="927370" cy="2663163"/>
          </a:xfrm>
          <a:prstGeom prst="straightConnector1">
            <a:avLst/>
          </a:prstGeom>
          <a:ln w="28575">
            <a:solidFill>
              <a:srgbClr val="FF99FF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1629064" y="4740965"/>
            <a:ext cx="1520013" cy="1664262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2645317" y="4740966"/>
            <a:ext cx="2014893" cy="1664262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732349" y="4740966"/>
            <a:ext cx="2406878" cy="1664262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413424" y="4740966"/>
            <a:ext cx="2019995" cy="1664262"/>
          </a:xfrm>
          <a:prstGeom prst="straightConnector1">
            <a:avLst/>
          </a:prstGeom>
          <a:noFill/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6547425" y="4740966"/>
            <a:ext cx="926582" cy="1664262"/>
          </a:xfrm>
          <a:prstGeom prst="straightConnector1">
            <a:avLst/>
          </a:prstGeom>
          <a:noFill/>
          <a:ln w="28575">
            <a:solidFill>
              <a:srgbClr val="ED7D31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7508118" y="4756936"/>
            <a:ext cx="244706" cy="1648293"/>
          </a:xfrm>
          <a:prstGeom prst="straightConnector1">
            <a:avLst/>
          </a:prstGeom>
          <a:noFill/>
          <a:ln w="28575">
            <a:solidFill>
              <a:srgbClr val="FF99FF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7545302" y="4740967"/>
            <a:ext cx="1421746" cy="1654697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1310344" y="1146702"/>
            <a:ext cx="1025896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75381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msg1 ="botLv";msg2 = "glob";msg3 = 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glob";d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print("M:\t",msg1,"\t",msg2,"\t",msg3,"\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print("T:\t",msg1,"\t",msg2,"\t",msg3,"\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B: 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M: 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T:  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BFBFBF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BFBFBF"/>
                </a:solidFill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BFBFBF"/>
              </a:solidFill>
              <a:latin typeface="Lucida Console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10344" y="1146702"/>
            <a:ext cx="1025896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33502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msg1 =</a:t>
            </a:r>
            <a:r>
              <a:rPr lang="en-US" altLang="zh-TW" sz="2000" b="1" dirty="0">
                <a:solidFill>
                  <a:srgbClr val="FF0000"/>
                </a:solidFill>
                <a:latin typeface="Lucida Console" pitchFamily="49" charset="0"/>
              </a:rPr>
              <a:t>"botLv"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latin typeface="Lucida Console" pitchFamily="49" charset="0"/>
              </a:rPr>
              <a:t>msg2 =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  <a:latin typeface="Lucida Console" pitchFamily="49" charset="0"/>
              </a:rPr>
              <a:t>"glob"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altLang="zh-TW" sz="2000" dirty="0">
                <a:latin typeface="Lucida Console" pitchFamily="49" charset="0"/>
              </a:rPr>
              <a:t>msg3 =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  <a:latin typeface="Lucida Console" pitchFamily="49" charset="0"/>
              </a:rPr>
              <a:t>"</a:t>
            </a:r>
            <a:r>
              <a:rPr lang="en-US" altLang="zh-TW" sz="2000" b="1" dirty="0" err="1">
                <a:solidFill>
                  <a:srgbClr val="FF0000"/>
                </a:solidFill>
                <a:latin typeface="Lucida Console" pitchFamily="49" charset="0"/>
              </a:rPr>
              <a:t>glob"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;</a:t>
            </a:r>
            <a:r>
              <a:rPr lang="en-US" altLang="zh-TW" sz="2000" dirty="0" err="1">
                <a:latin typeface="Lucida Console" pitchFamily="49" charset="0"/>
              </a:rPr>
              <a:t>d</a:t>
            </a:r>
            <a:r>
              <a:rPr lang="en-US" altLang="zh-TW" sz="2000" dirty="0">
                <a:latin typeface="Lucida Console" pitchFamily="49" charset="0"/>
              </a:rPr>
              <a:t>={</a:t>
            </a:r>
            <a:r>
              <a:rPr lang="en-US" altLang="zh-TW" sz="2000" b="1" dirty="0">
                <a:solidFill>
                  <a:srgbClr val="FF0000"/>
                </a:solidFill>
                <a:latin typeface="Lucida Console" pitchFamily="49" charset="0"/>
              </a:rPr>
              <a:t>"G":0</a:t>
            </a:r>
            <a:r>
              <a:rPr lang="en-US" altLang="zh-TW" sz="2000" dirty="0">
                <a:latin typeface="Lucida Console" pitchFamily="49" charset="0"/>
              </a:rPr>
              <a:t>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FF99FF"/>
                </a:solidFill>
                <a:latin typeface="Lucida Console" pitchFamily="49" charset="0"/>
              </a:rPr>
              <a:t>"T"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FF99FF"/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"M"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00B050"/>
                </a:solidFill>
                <a:latin typeface="Lucida Console" pitchFamily="49" charset="0"/>
              </a:rPr>
              <a:t>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";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d[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"B"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] = </a:t>
            </a:r>
            <a:r>
              <a:rPr lang="en-US" altLang="zh-TW" sz="2000" b="1" dirty="0">
                <a:solidFill>
                  <a:srgbClr val="ED7D31"/>
                </a:solidFill>
                <a:latin typeface="Lucida Console" pitchFamily="49" charset="0"/>
              </a:rPr>
              <a:t>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   print("M:\t",msg1,"\t",msg2,"\t",msg3,"\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midLv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   print("T:\t",msg1,"\t",msg2,"\t",msg3,"\</a:t>
            </a:r>
            <a:r>
              <a:rPr lang="en-US" altLang="zh-TW" sz="2000" dirty="0" err="1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t",d</a:t>
            </a:r>
            <a:r>
              <a:rPr lang="en-US" altLang="zh-TW" sz="2000" dirty="0">
                <a:solidFill>
                  <a:schemeClr val="bg1">
                    <a:lumMod val="95000"/>
                  </a:schemeClr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topLv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t",</a:t>
            </a:r>
            <a:r>
              <a:rPr lang="en-US" altLang="zh-TW" sz="2000" dirty="0" err="1">
                <a:latin typeface="Lucida Console" pitchFamily="49" charset="0"/>
              </a:rPr>
              <a:t>d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F7F7F"/>
                </a:solidFill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B: 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M: 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T:  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G:   </a:t>
            </a: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botLv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  glob   </a:t>
            </a:r>
            <a:r>
              <a:rPr lang="en-US" altLang="zh-TW" sz="2000" dirty="0" err="1">
                <a:solidFill>
                  <a:srgbClr val="FF0000"/>
                </a:solidFill>
                <a:latin typeface="Lucida Console" pitchFamily="49" charset="0"/>
              </a:rPr>
              <a:t>glob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   {</a:t>
            </a:r>
            <a:r>
              <a:rPr lang="en-US" altLang="zh-TW" sz="2000" dirty="0">
                <a:solidFill>
                  <a:srgbClr val="00B050"/>
                </a:solidFill>
                <a:latin typeface="Lucida Console" pitchFamily="49" charset="0"/>
              </a:rPr>
              <a:t>'M': 2</a:t>
            </a:r>
            <a:r>
              <a:rPr lang="en-US" altLang="zh-TW" sz="2000" dirty="0">
                <a:latin typeface="Lucida Console" pitchFamily="49" charset="0"/>
              </a:rPr>
              <a:t>, </a:t>
            </a:r>
            <a:r>
              <a:rPr lang="en-US" altLang="zh-TW" sz="2000" dirty="0">
                <a:solidFill>
                  <a:srgbClr val="ED7D31"/>
                </a:solidFill>
                <a:latin typeface="Lucida Console" pitchFamily="49" charset="0"/>
              </a:rPr>
              <a:t>'B': 3</a:t>
            </a:r>
            <a:r>
              <a:rPr lang="en-US" altLang="zh-TW" sz="2000" dirty="0">
                <a:latin typeface="Lucida Console" pitchFamily="49" charset="0"/>
              </a:rPr>
              <a:t>, </a:t>
            </a:r>
            <a:r>
              <a:rPr lang="en-US" altLang="zh-TW" sz="2000" dirty="0">
                <a:solidFill>
                  <a:srgbClr val="FF99FF"/>
                </a:solidFill>
                <a:latin typeface="Lucida Console" pitchFamily="49" charset="0"/>
              </a:rPr>
              <a:t>'T': 1</a:t>
            </a:r>
            <a:r>
              <a:rPr lang="en-US" altLang="zh-TW" sz="2000" dirty="0">
                <a:latin typeface="Lucida Console" pitchFamily="49" charset="0"/>
              </a:rPr>
              <a:t>,</a:t>
            </a: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rgbClr val="BFBFBF"/>
              </a:solidFill>
              <a:latin typeface="Lucida Console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10344" y="1146702"/>
            <a:ext cx="1025896" cy="304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prstClr val="black"/>
              </a:solidFill>
              <a:latin typeface="Times New Roman" pitchFamily="18" charset="0"/>
              <a:ea typeface="新細明體" charset="-12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4036804" y="1347537"/>
            <a:ext cx="154442" cy="3753852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5723319" y="1335507"/>
            <a:ext cx="443077" cy="3765882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7096725" y="3389305"/>
            <a:ext cx="1988876" cy="1804342"/>
          </a:xfrm>
          <a:prstGeom prst="straightConnector1">
            <a:avLst/>
          </a:prstGeom>
          <a:ln w="28575">
            <a:solidFill>
              <a:srgbClr val="ED7D31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7093112" y="2435090"/>
            <a:ext cx="1577159" cy="2668203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7064198" y="1929160"/>
            <a:ext cx="1168437" cy="3112690"/>
          </a:xfrm>
          <a:prstGeom prst="straightConnector1">
            <a:avLst/>
          </a:prstGeom>
          <a:ln w="28575">
            <a:solidFill>
              <a:srgbClr val="FF99FF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6988298" y="1416330"/>
            <a:ext cx="560214" cy="3690577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1879041" y="1451503"/>
            <a:ext cx="784554" cy="3649886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1615616" y="5277080"/>
            <a:ext cx="1051713" cy="138153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551821" y="5277081"/>
            <a:ext cx="1635025" cy="138153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3603533" y="5277081"/>
            <a:ext cx="2089382" cy="138153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383633" y="5277081"/>
            <a:ext cx="1579635" cy="1381538"/>
          </a:xfrm>
          <a:prstGeom prst="straightConnector1">
            <a:avLst/>
          </a:prstGeom>
          <a:noFill/>
          <a:ln w="28575">
            <a:solidFill>
              <a:srgbClr val="00B05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6573698" y="5277081"/>
            <a:ext cx="426468" cy="1381538"/>
          </a:xfrm>
          <a:prstGeom prst="straightConnector1">
            <a:avLst/>
          </a:prstGeom>
          <a:noFill/>
          <a:ln w="28575">
            <a:solidFill>
              <a:srgbClr val="ED7D31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7031592" y="5290337"/>
            <a:ext cx="712001" cy="1368282"/>
          </a:xfrm>
          <a:prstGeom prst="straightConnector1">
            <a:avLst/>
          </a:prstGeom>
          <a:noFill/>
          <a:ln w="28575">
            <a:solidFill>
              <a:srgbClr val="FF99FF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7065847" y="5277081"/>
            <a:ext cx="1874535" cy="1373598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4926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292894" y="622180"/>
            <a:ext cx="9144000" cy="63246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cat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print ("\t msg1\t msg2\t msg3\t d")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msg1 = "glob";msg2 = "glob";msg3 = "</a:t>
            </a:r>
            <a:r>
              <a:rPr lang="en-US" altLang="zh-TW" sz="2000" dirty="0" err="1">
                <a:latin typeface="Lucida Console" pitchFamily="49" charset="0"/>
              </a:rPr>
              <a:t>glob";d</a:t>
            </a:r>
            <a:r>
              <a:rPr lang="en-US" altLang="zh-TW" sz="2000" dirty="0">
                <a:latin typeface="Lucida Console" pitchFamily="49" charset="0"/>
              </a:rPr>
              <a:t>={"G":0}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latin typeface="Lucida Console" pitchFamily="49" charset="0"/>
              </a:rPr>
              <a:t>def</a:t>
            </a:r>
            <a:r>
              <a:rPr lang="en-US" altLang="zh-TW" sz="2000" dirty="0">
                <a:latin typeface="Lucida Console" pitchFamily="49" charset="0"/>
              </a:rPr>
              <a:t>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msg1="topLv";msg2="topLv";msg3="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";d["T"] = 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</a:t>
            </a:r>
            <a:r>
              <a:rPr lang="en-US" altLang="zh-TW" sz="2000" dirty="0" err="1">
                <a:latin typeface="Lucida Console" pitchFamily="49" charset="0"/>
              </a:rPr>
              <a:t>def</a:t>
            </a:r>
            <a:r>
              <a:rPr lang="en-US" altLang="zh-TW" sz="2000" dirty="0">
                <a:latin typeface="Lucida Console" pitchFamily="49" charset="0"/>
              </a:rPr>
              <a:t>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msg1="midLv";msg2="midLv";msg3="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";d["M"] = 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</a:t>
            </a:r>
            <a:r>
              <a:rPr lang="en-US" altLang="zh-TW" sz="2000" dirty="0" err="1">
                <a:latin typeface="Lucida Console" pitchFamily="49" charset="0"/>
              </a:rPr>
              <a:t>def</a:t>
            </a:r>
            <a:r>
              <a:rPr lang="en-US" altLang="zh-TW" sz="2000" dirty="0">
                <a:latin typeface="Lucida Console" pitchFamily="49" charset="0"/>
              </a:rPr>
              <a:t>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():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   global msg1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   nonlocal msg2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   msg1="botLv";msg2="botLv";msg3="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";d["B"] = 3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   print("B:\t",msg1,"\t",msg2,"\t",msg3,"\</a:t>
            </a:r>
            <a:r>
              <a:rPr lang="en-US" altLang="zh-TW" sz="2000" dirty="0" err="1">
                <a:latin typeface="Lucida Console" pitchFamily="49" charset="0"/>
              </a:rPr>
              <a:t>t",d</a:t>
            </a:r>
            <a:r>
              <a:rPr lang="en-US" altLang="zh-TW" sz="2000" dirty="0"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 print("M:\t",msg1,"\t",msg2,"\t",msg3,"\</a:t>
            </a:r>
            <a:r>
              <a:rPr lang="en-US" altLang="zh-TW" sz="2000" dirty="0" err="1">
                <a:latin typeface="Lucida Console" pitchFamily="49" charset="0"/>
              </a:rPr>
              <a:t>t",d</a:t>
            </a:r>
            <a:r>
              <a:rPr lang="en-US" altLang="zh-TW" sz="2000" dirty="0"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print("T:\t",msg1,"\t",msg2,"\t",msg3,"\</a:t>
            </a:r>
            <a:r>
              <a:rPr lang="en-US" altLang="zh-TW" sz="2000" dirty="0" err="1">
                <a:latin typeface="Lucida Console" pitchFamily="49" charset="0"/>
              </a:rPr>
              <a:t>t",d</a:t>
            </a:r>
            <a:r>
              <a:rPr lang="en-US" altLang="zh-TW" sz="2000" dirty="0"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print("G:\t",msg1,"\t",msg2,"\t",msg3,"\</a:t>
            </a:r>
            <a:r>
              <a:rPr lang="en-US" altLang="zh-TW" sz="2000" dirty="0" err="1">
                <a:latin typeface="Lucida Console" pitchFamily="49" charset="0"/>
              </a:rPr>
              <a:t>t",d</a:t>
            </a:r>
            <a:r>
              <a:rPr lang="en-US" altLang="zh-TW" sz="2000" dirty="0"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% python3 nonlocal.py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     msg1   msg2   msg3   d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B: 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M: 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midLv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T:  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  </a:t>
            </a:r>
            <a:r>
              <a:rPr lang="en-US" altLang="zh-TW" sz="2000" dirty="0" err="1">
                <a:latin typeface="Lucida Console" pitchFamily="49" charset="0"/>
              </a:rPr>
              <a:t>topLv</a:t>
            </a:r>
            <a:r>
              <a:rPr lang="en-US" altLang="zh-TW" sz="2000" dirty="0">
                <a:latin typeface="Lucida Console" pitchFamily="49" charset="0"/>
              </a:rPr>
              <a:t>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Lucida Console" pitchFamily="49" charset="0"/>
              </a:rPr>
              <a:t>G:   </a:t>
            </a:r>
            <a:r>
              <a:rPr lang="en-US" altLang="zh-TW" sz="2000" dirty="0" err="1">
                <a:latin typeface="Lucida Console" pitchFamily="49" charset="0"/>
              </a:rPr>
              <a:t>botLv</a:t>
            </a:r>
            <a:r>
              <a:rPr lang="en-US" altLang="zh-TW" sz="2000" dirty="0">
                <a:latin typeface="Lucida Console" pitchFamily="49" charset="0"/>
              </a:rPr>
              <a:t>  glob   </a:t>
            </a:r>
            <a:r>
              <a:rPr lang="en-US" altLang="zh-TW" sz="2000" dirty="0" err="1">
                <a:latin typeface="Lucida Console" pitchFamily="49" charset="0"/>
              </a:rPr>
              <a:t>glob</a:t>
            </a:r>
            <a:r>
              <a:rPr lang="en-US" altLang="zh-TW" sz="2000" dirty="0">
                <a:latin typeface="Lucida Console" pitchFamily="49" charset="0"/>
              </a:rPr>
              <a:t>   {'M': 2, 'B': 3, 'T': 1, 'G': 0}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2000" dirty="0">
              <a:latin typeface="Lucida Console" pitchFamily="49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-438943" y="0"/>
            <a:ext cx="1060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Locals, Nonlocals, and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Globals</a:t>
            </a:r>
            <a:endParaRPr lang="en-US" altLang="zh-TW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3937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'open', 'property', 'quit',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'slice', 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Without arguments, equivalent to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locals()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 an argument, equivalent to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object.__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__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a[7]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a[14]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11C1FF"/>
                </a:solidFill>
                <a:latin typeface="Consolas" panose="020B0609020204030204" pitchFamily="49" charset="0"/>
              </a:rPr>
              <a:t>a[-2]</a:t>
            </a: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– {*_})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648" y="6367059"/>
            <a:ext cx="69442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73032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054894" y="6464808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3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0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701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'super', 'type', '</a:t>
            </a:r>
            <a:r>
              <a:rPr lang="en-US" altLang="zh-TW" sz="2600" b="1" kern="0" spc="-100" dirty="0" err="1">
                <a:solidFill>
                  <a:srgbClr val="FFFF00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'zip']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Without arguments, equivalent to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locals()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 an argument, equivalent to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object.__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__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a[7]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a[14]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11C1FF"/>
                </a:solidFill>
                <a:latin typeface="Consolas" panose="020B0609020204030204" pitchFamily="49" charset="0"/>
              </a:rPr>
              <a:t>a[-2]</a:t>
            </a: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sorted({*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9075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Without arguments, equivalent to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locals()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 an argument, equivalent to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object.__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__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a[7]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a[14]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11C1FF"/>
                </a:solidFill>
                <a:latin typeface="Consolas" panose="020B0609020204030204" pitchFamily="49" charset="0"/>
              </a:rPr>
              <a:t>a[-2]</a:t>
            </a: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sorted({*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03561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BFBF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.__doc__[:70])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Without arguments, equivalent to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locals()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 an argument, equivalent to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object.__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__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a[7]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a[14]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11C1FF"/>
                </a:solidFill>
                <a:latin typeface="Consolas" panose="020B0609020204030204" pitchFamily="49" charset="0"/>
              </a:rPr>
              <a:t>a[-2]</a:t>
            </a: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sorted({*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altLang="zh-TW" sz="2600" kern="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94729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Without arguments, equivalent to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locals()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 an argument, equivalent to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object.__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__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a[7]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a[14]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11C1FF"/>
                </a:solidFill>
                <a:latin typeface="Consolas" panose="020B0609020204030204" pitchFamily="49" charset="0"/>
              </a:rPr>
              <a:t>a[-2]</a:t>
            </a: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sorted({*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altLang="zh-TW" sz="2600" kern="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415620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global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Without arguments, equivalent to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locals()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 an argument, equivalent to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object.__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__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a[7]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a[14]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11C1FF"/>
                </a:solidFill>
                <a:latin typeface="Consolas" panose="020B0609020204030204" pitchFamily="49" charset="0"/>
              </a:rPr>
              <a:t>a[-2]</a:t>
            </a: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sorted({*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629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46FD33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 err="1">
                <a:solidFill>
                  <a:schemeClr val="bg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b="1" dirty="0">
                <a:solidFill>
                  <a:srgbClr val="FF99FF"/>
                </a:solidFill>
                <a:latin typeface="Consolas" panose="020B0609020204030204" pitchFamily="49" charset="0"/>
              </a:rPr>
              <a:t>scope's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 variables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rgbClr val="FFFFCC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Without arguments, equivalent to </a:t>
            </a:r>
            <a:r>
              <a:rPr lang="en-US" altLang="zh-TW" sz="2600" dirty="0">
                <a:solidFill>
                  <a:srgbClr val="46FD33"/>
                </a:solidFill>
                <a:latin typeface="Consolas" panose="020B0609020204030204" pitchFamily="49" charset="0"/>
              </a:rPr>
              <a:t>locals()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With an argument, equivalent to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object.__</a:t>
            </a:r>
            <a:r>
              <a:rPr lang="en-US" altLang="zh-TW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__</a:t>
            </a: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00"/>
                </a:solidFill>
                <a:latin typeface="Consolas" panose="020B0609020204030204" pitchFamily="49" charset="0"/>
              </a:rPr>
              <a:t>a[7]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a[14]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dirty="0">
                <a:solidFill>
                  <a:srgbClr val="11C1FF"/>
                </a:solidFill>
                <a:latin typeface="Consolas" panose="020B0609020204030204" pitchFamily="49" charset="0"/>
              </a:rPr>
              <a:t>a[-2]</a:t>
            </a: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rgbClr val="FFFF00"/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>
                <a:solidFill>
                  <a:srgbClr val="42EE30"/>
                </a:solidFill>
                <a:latin typeface="Consolas" panose="020B0609020204030204" pitchFamily="49" charset="0"/>
              </a:rPr>
              <a:t>locals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dirty="0" err="1">
                <a:solidFill>
                  <a:srgbClr val="11C1FF"/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sorted({*</a:t>
            </a:r>
            <a:r>
              <a:rPr lang="en-US" altLang="zh-TW" sz="2600" kern="0" spc="-100" dirty="0" err="1">
                <a:solidFill>
                  <a:srgbClr val="C00000"/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15880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locals.__doc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__[:67])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scope's local variables.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Without arguments, equivalent to locals().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 an argument, equivalent to object.__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__.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a[7],a[14],a[-2]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864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114468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9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1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Return the dictionary containing the current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scope's local variables.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Without arguments, equivalent to locals().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 an argument, equivalent to object.__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__.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a[7],a[14],a[-2]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</a:t>
            </a:r>
            <a:endParaRPr lang="en-US" altLang="zh-TW" sz="2600" kern="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91683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scope's local variables.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Without arguments, equivalent to locals().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 an argument, equivalent to object.__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__.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a[7],a[14],a[-2]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45863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Without arguments, equivalent to locals().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 an argument, equivalent to object.__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__.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a[7],a[14],a[-2]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75329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([object]) -&gt; dictionary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Without arguments, equivalent to locals().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 an argument, equivalent to object.__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__.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a[7],a[14],a[-2]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</a:t>
            </a:r>
            <a:endParaRPr lang="en-US" altLang="zh-TW" sz="2600" kern="0" spc="-1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24749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Without arguments, equivalent to locals().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 an argument, equivalent to object.__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__.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a[7],a[14],a[-2]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39256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Without arguments, equivalent to locals().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 an argument, equivalent to object.__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__.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a[7],a[14],a[-2]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114468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6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45454" y="1743468"/>
            <a:ext cx="9684334" cy="360577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39725" indent="-339725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just data, but also functions.</a:t>
            </a:r>
          </a:p>
          <a:p>
            <a:endParaRPr 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9725" indent="-339725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get </a:t>
            </a:r>
            <a:r>
              <a:rPr lang="en-US" sz="4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sz="4800" b="1" i="1" spc="-2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i="1" spc="-3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4300" b="1" i="1" spc="1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動態</a:t>
            </a:r>
            <a:r>
              <a:rPr lang="zh-TW" altLang="en-US" sz="4300" b="1" i="1" spc="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4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type binding</a:t>
            </a:r>
            <a:r>
              <a:rPr lang="en-US" sz="4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still guaranteeing </a:t>
            </a:r>
            <a:r>
              <a:rPr lang="en-US" sz="4800" b="1" i="1" dirty="0">
                <a:solidFill>
                  <a:srgbClr val="FFC000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typing</a:t>
            </a:r>
            <a:r>
              <a:rPr lang="en-US" sz="4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800" b="1" i="1" dirty="0">
              <a:solidFill>
                <a:srgbClr val="FFC000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2488" lvl="1" indent="-390525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what does that mean? </a:t>
            </a:r>
          </a:p>
          <a:p>
            <a:pPr marL="852488" lvl="1" indent="-390525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Well, an example can illustrate it...</a:t>
            </a:r>
          </a:p>
        </p:txBody>
      </p: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0" y="-3841"/>
            <a:ext cx="9729788" cy="174731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5400" b="1" spc="-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takes the idea of objects  to its limit: </a:t>
            </a:r>
            <a:r>
              <a:rPr lang="en-US" sz="5400" b="1" i="1" spc="-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en-US" sz="5400" b="1" spc="-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object</a:t>
            </a: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-2700000">
            <a:off x="-574771" y="289549"/>
            <a:ext cx="2371894" cy="64359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84" tIns="0" rIns="91384" bIns="45692" numCol="1" rtlCol="0" anchor="ctr" anchorCtr="1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398" dirty="0">
                <a:solidFill>
                  <a:srgbClr val="000000"/>
                </a:solidFill>
                <a:ea typeface="新細明體" charset="-120"/>
              </a:rPr>
              <a:t>Lecture 1</a:t>
            </a:r>
            <a:br>
              <a:rPr lang="en-US" sz="2398" dirty="0">
                <a:solidFill>
                  <a:srgbClr val="000000"/>
                </a:solidFill>
                <a:ea typeface="新細明體" charset="-120"/>
              </a:rPr>
            </a:br>
            <a:r>
              <a:rPr lang="en-US" sz="2398" dirty="0">
                <a:solidFill>
                  <a:srgbClr val="000000"/>
                </a:solidFill>
                <a:ea typeface="新細明體" charset="-120"/>
              </a:rPr>
              <a:t>slide 104</a:t>
            </a:r>
            <a:endParaRPr lang="en-US" sz="2798" dirty="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5486401" y="3742441"/>
            <a:ext cx="3978112" cy="1696825"/>
          </a:xfrm>
          <a:prstGeom prst="wedgeRoundRectCallout">
            <a:avLst>
              <a:gd name="adj1" fmla="val -34814"/>
              <a:gd name="adj2" fmla="val -125278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sz="4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4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4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does this </a:t>
            </a:r>
            <a:r>
              <a:rPr lang="en-US" sz="4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-US" sz="4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4800" b="1" i="1" dirty="0">
              <a:solidFill>
                <a:srgbClr val="FFC000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5640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" y="204"/>
            <a:ext cx="9729788" cy="866361"/>
          </a:xfrm>
          <a:prstGeom prst="rect">
            <a:avLst/>
          </a:prstGeom>
        </p:spPr>
        <p:txBody>
          <a:bodyPr vert="horz" lIns="91384" tIns="45692" rIns="91384" bIns="45692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71" dirty="0">
                <a:solidFill>
                  <a:srgbClr val="0070C0"/>
                </a:solidFill>
              </a:rPr>
              <a:t>Everything is an Object</a:t>
            </a:r>
            <a:r>
              <a:rPr lang="en-US" altLang="en-US" sz="4441" dirty="0">
                <a:solidFill>
                  <a:srgbClr val="0070C0"/>
                </a:solidFill>
                <a:latin typeface="Cooper Black" panose="0208090404030B020404" pitchFamily="18" charset="0"/>
              </a:rPr>
              <a:t>?</a:t>
            </a:r>
            <a:endParaRPr lang="en-US" altLang="en-US" sz="4071" dirty="0">
              <a:solidFill>
                <a:srgbClr val="0070C0"/>
              </a:solidFill>
              <a:latin typeface="Cooper Black" panose="0208090404030B020404" pitchFamily="18" charset="0"/>
            </a:endParaRPr>
          </a:p>
        </p:txBody>
      </p:sp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828802" y="2065999"/>
            <a:ext cx="8072185" cy="4416856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999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191" y="847556"/>
            <a:ext cx="8605254" cy="5559146"/>
          </a:xfrm>
        </p:spPr>
        <p:txBody>
          <a:bodyPr/>
          <a:lstStyle/>
          <a:p>
            <a:pPr marL="0" indent="0">
              <a:spcAft>
                <a:spcPts val="1799"/>
              </a:spcAft>
              <a:buNone/>
              <a:defRPr/>
            </a:pPr>
            <a:r>
              <a:rPr lang="en-US" sz="3198" dirty="0">
                <a:solidFill>
                  <a:srgbClr val="FF0000"/>
                </a:solidFill>
              </a:rPr>
              <a:t>For example: functions can be added into lists, just like you would add anything else: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def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 f(x):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398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    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print("The </a:t>
            </a:r>
            <a:r>
              <a:rPr lang="en-US" sz="2398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number:",x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l = [3.0,f,7]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l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[3.0, &lt;function f at 0x6ffffdccbf8&gt;, 7]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print(l[1])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&lt;function f at 0x6ffffdccbf8&gt;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l.append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(f)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l[3]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&lt;function f at 0x6ffffdccbf8&gt;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52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ChangeArrowheads="1"/>
          </p:cNvSpPr>
          <p:nvPr/>
        </p:nvSpPr>
        <p:spPr bwMode="auto">
          <a:xfrm>
            <a:off x="828802" y="2065999"/>
            <a:ext cx="8072185" cy="4416856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999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191" y="847556"/>
            <a:ext cx="8605254" cy="5559146"/>
          </a:xfrm>
        </p:spPr>
        <p:txBody>
          <a:bodyPr/>
          <a:lstStyle/>
          <a:p>
            <a:pPr marL="0" indent="0">
              <a:spcAft>
                <a:spcPts val="1799"/>
              </a:spcAft>
              <a:buNone/>
              <a:defRPr/>
            </a:pPr>
            <a:r>
              <a:rPr lang="en-US" sz="3198" dirty="0">
                <a:solidFill>
                  <a:srgbClr val="FF0000"/>
                </a:solidFill>
              </a:rPr>
              <a:t>There’s no difference between a literally-typed invocation vs one invoked through a variable: 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def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 f(x):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     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print("The </a:t>
            </a:r>
            <a:r>
              <a:rPr lang="en-US" sz="2398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number:",x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f(5)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The number: 5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l = [3.0,f,7]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l[1]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&lt;function f at 0x6ffffdccbf8&gt;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l[1](5)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b="1" dirty="0">
                <a:solidFill>
                  <a:schemeClr val="bg1"/>
                </a:solidFill>
                <a:latin typeface="Lucida Console" panose="020B0609040504020204" pitchFamily="49" charset="0"/>
              </a:rPr>
              <a:t>The number: 5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" y="204"/>
            <a:ext cx="9729788" cy="866361"/>
          </a:xfrm>
          <a:prstGeom prst="rect">
            <a:avLst/>
          </a:prstGeom>
        </p:spPr>
        <p:txBody>
          <a:bodyPr vert="horz" lIns="91384" tIns="45692" rIns="91384" bIns="45692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71" dirty="0">
                <a:solidFill>
                  <a:srgbClr val="0070C0"/>
                </a:solidFill>
              </a:rPr>
              <a:t>Everything is an Object</a:t>
            </a:r>
            <a:r>
              <a:rPr lang="en-US" altLang="en-US" sz="4441" dirty="0">
                <a:solidFill>
                  <a:srgbClr val="0070C0"/>
                </a:solidFill>
                <a:latin typeface="Cooper Black" panose="0208090404030B020404" pitchFamily="18" charset="0"/>
              </a:rPr>
              <a:t>?</a:t>
            </a:r>
            <a:endParaRPr lang="en-US" altLang="en-US" sz="407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65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828802" y="2065999"/>
            <a:ext cx="8072185" cy="4416856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999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191" y="847556"/>
            <a:ext cx="8605254" cy="5559146"/>
          </a:xfrm>
        </p:spPr>
        <p:txBody>
          <a:bodyPr/>
          <a:lstStyle/>
          <a:p>
            <a:pPr marL="0" indent="0">
              <a:spcAft>
                <a:spcPts val="1799"/>
              </a:spcAft>
              <a:buNone/>
              <a:defRPr/>
            </a:pPr>
            <a:r>
              <a:rPr lang="en-US" sz="3198" dirty="0">
                <a:solidFill>
                  <a:schemeClr val="bg1">
                    <a:lumMod val="75000"/>
                  </a:schemeClr>
                </a:solidFill>
              </a:rPr>
              <a:t>There’s</a:t>
            </a:r>
            <a:r>
              <a:rPr lang="en-US" sz="3198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198" dirty="0">
                <a:solidFill>
                  <a:srgbClr val="92D050"/>
                </a:solidFill>
              </a:rPr>
              <a:t>no difference</a:t>
            </a:r>
            <a:r>
              <a:rPr lang="en-US" sz="3198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198" dirty="0">
                <a:solidFill>
                  <a:schemeClr val="bg1">
                    <a:lumMod val="75000"/>
                  </a:schemeClr>
                </a:solidFill>
              </a:rPr>
              <a:t>between a</a:t>
            </a:r>
            <a:r>
              <a:rPr lang="en-US" sz="3198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198" dirty="0">
                <a:solidFill>
                  <a:srgbClr val="CC3399"/>
                </a:solidFill>
              </a:rPr>
              <a:t>literally-typed</a:t>
            </a:r>
            <a:r>
              <a:rPr lang="en-US" sz="3198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198" dirty="0">
                <a:solidFill>
                  <a:schemeClr val="bg1">
                    <a:lumMod val="75000"/>
                  </a:schemeClr>
                </a:solidFill>
              </a:rPr>
              <a:t>invocation vs one invoked</a:t>
            </a:r>
            <a:r>
              <a:rPr lang="en-US" sz="3198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198" dirty="0">
                <a:solidFill>
                  <a:srgbClr val="00B0F0"/>
                </a:solidFill>
              </a:rPr>
              <a:t>through a variable</a:t>
            </a:r>
            <a:r>
              <a:rPr lang="en-US" sz="3198" dirty="0">
                <a:solidFill>
                  <a:schemeClr val="bg1">
                    <a:lumMod val="65000"/>
                  </a:schemeClr>
                </a:solidFill>
              </a:rPr>
              <a:t>: 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398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f(x):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398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    print("The </a:t>
            </a:r>
            <a:r>
              <a:rPr lang="en-US" sz="2398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number:",x</a:t>
            </a:r>
            <a:r>
              <a:rPr lang="en-US" sz="2398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rgbClr val="CC3399"/>
                </a:solidFill>
                <a:latin typeface="Lucida Console" panose="020B0609040504020204" pitchFamily="49" charset="0"/>
              </a:rPr>
              <a:t>f(5)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b="1" dirty="0">
                <a:solidFill>
                  <a:srgbClr val="92D050"/>
                </a:solidFill>
                <a:latin typeface="Lucida Console" panose="020B0609040504020204" pitchFamily="49" charset="0"/>
              </a:rPr>
              <a:t>The number: 5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l = [3.0,f,7]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l[1]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&lt;function f at 0x6ffffdccbf8&gt;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l[1](5)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b="1" dirty="0">
                <a:solidFill>
                  <a:srgbClr val="92D050"/>
                </a:solidFill>
                <a:latin typeface="Lucida Console" panose="020B0609040504020204" pitchFamily="49" charset="0"/>
              </a:rPr>
              <a:t>The number: 5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Arc 1"/>
          <p:cNvSpPr/>
          <p:nvPr/>
        </p:nvSpPr>
        <p:spPr bwMode="auto">
          <a:xfrm>
            <a:off x="67276" y="542946"/>
            <a:ext cx="4721466" cy="3312642"/>
          </a:xfrm>
          <a:prstGeom prst="arc">
            <a:avLst>
              <a:gd name="adj1" fmla="val 20056895"/>
              <a:gd name="adj2" fmla="val 3428655"/>
            </a:avLst>
          </a:prstGeom>
          <a:noFill/>
          <a:ln w="57150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999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6" name="Arc 5"/>
          <p:cNvSpPr/>
          <p:nvPr/>
        </p:nvSpPr>
        <p:spPr bwMode="auto">
          <a:xfrm>
            <a:off x="-1487509" y="-227778"/>
            <a:ext cx="6396826" cy="6168368"/>
          </a:xfrm>
          <a:prstGeom prst="arc">
            <a:avLst>
              <a:gd name="adj1" fmla="val 20056895"/>
              <a:gd name="adj2" fmla="val 3428655"/>
            </a:avLst>
          </a:prstGeom>
          <a:noFill/>
          <a:ln w="57150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999">
              <a:solidFill>
                <a:srgbClr val="FFFFFF"/>
              </a:solidFill>
              <a:latin typeface="Times New Roman" charset="0"/>
            </a:endParaRPr>
          </a:p>
        </p:txBody>
      </p:sp>
      <p:cxnSp>
        <p:nvCxnSpPr>
          <p:cNvPr id="9223" name="Straight Arrow Connector 4"/>
          <p:cNvCxnSpPr>
            <a:cxnSpLocks noChangeShapeType="1"/>
          </p:cNvCxnSpPr>
          <p:nvPr/>
        </p:nvCxnSpPr>
        <p:spPr bwMode="auto">
          <a:xfrm flipH="1">
            <a:off x="2428009" y="1318751"/>
            <a:ext cx="4426375" cy="1979970"/>
          </a:xfrm>
          <a:prstGeom prst="straightConnector1">
            <a:avLst/>
          </a:prstGeom>
          <a:noFill/>
          <a:ln w="57150" algn="ctr">
            <a:solidFill>
              <a:srgbClr val="CC3399"/>
            </a:solidFill>
            <a:round/>
            <a:headEnd/>
            <a:tailEnd type="triangle" w="med" len="med"/>
          </a:ln>
        </p:spPr>
      </p:cxnSp>
      <p:cxnSp>
        <p:nvCxnSpPr>
          <p:cNvPr id="9224" name="Straight Arrow Connector 9"/>
          <p:cNvCxnSpPr>
            <a:cxnSpLocks noChangeShapeType="1"/>
          </p:cNvCxnSpPr>
          <p:nvPr/>
        </p:nvCxnSpPr>
        <p:spPr bwMode="auto">
          <a:xfrm flipH="1">
            <a:off x="2961078" y="1837542"/>
            <a:ext cx="4721466" cy="3274565"/>
          </a:xfrm>
          <a:prstGeom prst="straightConnector1">
            <a:avLst/>
          </a:prstGeom>
          <a:noFill/>
          <a:ln w="57150" algn="ctr">
            <a:solidFill>
              <a:srgbClr val="00B0F0"/>
            </a:solidFill>
            <a:round/>
            <a:headEnd/>
            <a:tailEnd type="triangle" w="med" len="med"/>
          </a:ln>
        </p:spPr>
      </p:cxnSp>
      <p:sp>
        <p:nvSpPr>
          <p:cNvPr id="10" name="Title 1"/>
          <p:cNvSpPr txBox="1">
            <a:spLocks/>
          </p:cNvSpPr>
          <p:nvPr/>
        </p:nvSpPr>
        <p:spPr>
          <a:xfrm>
            <a:off x="1" y="204"/>
            <a:ext cx="9729788" cy="866361"/>
          </a:xfrm>
          <a:prstGeom prst="rect">
            <a:avLst/>
          </a:prstGeom>
        </p:spPr>
        <p:txBody>
          <a:bodyPr vert="horz" lIns="91384" tIns="45692" rIns="91384" bIns="45692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71" dirty="0">
                <a:solidFill>
                  <a:srgbClr val="0070C0"/>
                </a:solidFill>
              </a:rPr>
              <a:t>Everything is an Object</a:t>
            </a:r>
            <a:r>
              <a:rPr lang="en-US" altLang="en-US" sz="4441" dirty="0">
                <a:solidFill>
                  <a:srgbClr val="0070C0"/>
                </a:solidFill>
                <a:latin typeface="Cooper Black" panose="0208090404030B020404" pitchFamily="18" charset="0"/>
              </a:rPr>
              <a:t>?</a:t>
            </a:r>
            <a:endParaRPr lang="en-US" altLang="en-US" sz="407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91220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828802" y="2065999"/>
            <a:ext cx="8072185" cy="4416856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999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191" y="847556"/>
            <a:ext cx="8605254" cy="5559146"/>
          </a:xfrm>
        </p:spPr>
        <p:txBody>
          <a:bodyPr/>
          <a:lstStyle/>
          <a:p>
            <a:pPr marL="0" indent="0">
              <a:spcAft>
                <a:spcPts val="1799"/>
              </a:spcAft>
              <a:buNone/>
              <a:defRPr/>
            </a:pPr>
            <a:r>
              <a:rPr lang="en-US" sz="3198" dirty="0">
                <a:solidFill>
                  <a:srgbClr val="FF0000"/>
                </a:solidFill>
              </a:rPr>
              <a:t>Since objects can be functions, the callable() built-in function lets you test if that is the case: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def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f()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: pass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L=[3.0,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f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,7]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callable(L)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rgbClr val="FF0066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callable(L[0])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altLang="zh-TW" sz="2398" dirty="0">
                <a:solidFill>
                  <a:srgbClr val="FF0066"/>
                </a:solidFill>
                <a:latin typeface="Lucida Console" panose="020B0609040504020204" pitchFamily="49" charset="0"/>
              </a:rPr>
              <a:t>False</a:t>
            </a:r>
            <a:endParaRPr lang="en-US" sz="2398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callable(L[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1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])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callable(1)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altLang="zh-TW" sz="2398" dirty="0">
                <a:solidFill>
                  <a:srgbClr val="FF0066"/>
                </a:solidFill>
                <a:latin typeface="Lucida Console" panose="020B0609040504020204" pitchFamily="49" charset="0"/>
              </a:rPr>
              <a:t>False</a:t>
            </a:r>
            <a:endParaRPr lang="en-US" altLang="zh-TW" sz="2398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altLang="zh-TW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398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" y="204"/>
            <a:ext cx="9729788" cy="866361"/>
          </a:xfrm>
          <a:prstGeom prst="rect">
            <a:avLst/>
          </a:prstGeom>
        </p:spPr>
        <p:txBody>
          <a:bodyPr vert="horz" lIns="91384" tIns="45692" rIns="91384" bIns="45692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71" dirty="0">
                <a:solidFill>
                  <a:srgbClr val="0070C0"/>
                </a:solidFill>
              </a:rPr>
              <a:t>Everything is an Object</a:t>
            </a:r>
            <a:r>
              <a:rPr lang="en-US" altLang="en-US" sz="4441" dirty="0">
                <a:solidFill>
                  <a:srgbClr val="0070C0"/>
                </a:solidFill>
                <a:latin typeface="Cooper Black" panose="0208090404030B020404" pitchFamily="18" charset="0"/>
              </a:rPr>
              <a:t>?</a:t>
            </a:r>
            <a:endParaRPr lang="en-US" altLang="en-US" sz="407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91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828802" y="2065999"/>
            <a:ext cx="8072185" cy="4416856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999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191" y="847556"/>
            <a:ext cx="8699795" cy="5559146"/>
          </a:xfrm>
        </p:spPr>
        <p:txBody>
          <a:bodyPr/>
          <a:lstStyle/>
          <a:p>
            <a:pPr marL="0" indent="0">
              <a:spcAft>
                <a:spcPts val="0"/>
              </a:spcAft>
              <a:buNone/>
              <a:defRPr/>
            </a:pPr>
            <a:r>
              <a:rPr lang="en-US" sz="3198" dirty="0">
                <a:solidFill>
                  <a:srgbClr val="FF0000"/>
                </a:solidFill>
              </a:rPr>
              <a:t>We have type(). So why do we need callable()? </a:t>
            </a:r>
          </a:p>
          <a:p>
            <a:pPr marL="0" indent="0">
              <a:spcBef>
                <a:spcPts val="0"/>
              </a:spcBef>
              <a:spcAft>
                <a:spcPts val="1799"/>
              </a:spcAft>
              <a:buNone/>
              <a:defRPr/>
            </a:pPr>
            <a:r>
              <a:rPr lang="en-US" sz="3198" dirty="0" err="1">
                <a:solidFill>
                  <a:srgbClr val="FF0000"/>
                </a:solidFill>
              </a:rPr>
              <a:t>Ans</a:t>
            </a:r>
            <a:r>
              <a:rPr lang="en-US" sz="3198" dirty="0">
                <a:solidFill>
                  <a:srgbClr val="FF0000"/>
                </a:solidFill>
              </a:rPr>
              <a:t>: Because there are different callable types: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def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f()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: pass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callable(</a:t>
            </a:r>
            <a:r>
              <a:rPr lang="en-US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f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type(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f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rgbClr val="FF0066"/>
                </a:solidFill>
                <a:latin typeface="Lucida Console" panose="020B0609040504020204" pitchFamily="49" charset="0"/>
              </a:rPr>
              <a:t>&lt;class 'function'&gt;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type(</a:t>
            </a:r>
            <a:r>
              <a:rPr lang="en-US" sz="2398" dirty="0">
                <a:solidFill>
                  <a:srgbClr val="FFFF00"/>
                </a:solidFill>
                <a:latin typeface="Lucida Console" panose="020B0609040504020204" pitchFamily="49" charset="0"/>
              </a:rPr>
              <a:t>print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rgbClr val="FF0066"/>
                </a:solidFill>
                <a:latin typeface="Lucida Console" panose="020B0609040504020204" pitchFamily="49" charset="0"/>
              </a:rPr>
              <a:t>&lt;class '</a:t>
            </a:r>
            <a:r>
              <a:rPr lang="en-US" sz="2398" dirty="0" err="1">
                <a:solidFill>
                  <a:srgbClr val="FF0066"/>
                </a:solidFill>
                <a:latin typeface="Lucida Console" panose="020B0609040504020204" pitchFamily="49" charset="0"/>
              </a:rPr>
              <a:t>builtin_function_or_method</a:t>
            </a:r>
            <a:r>
              <a:rPr lang="en-US" sz="2398" dirty="0">
                <a:solidFill>
                  <a:srgbClr val="FF0066"/>
                </a:solidFill>
                <a:latin typeface="Lucida Console" panose="020B0609040504020204" pitchFamily="49" charset="0"/>
              </a:rPr>
              <a:t>'&gt;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altLang="zh-TW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callable(</a:t>
            </a:r>
            <a:r>
              <a:rPr lang="en-US" altLang="zh-TW" sz="2398" dirty="0">
                <a:solidFill>
                  <a:srgbClr val="FFFF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True</a:t>
            </a:r>
            <a:endParaRPr lang="en-US" altLang="zh-TW" sz="2398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sz="2398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callable(</a:t>
            </a:r>
            <a:r>
              <a:rPr lang="en-US" sz="2398" dirty="0">
                <a:solidFill>
                  <a:srgbClr val="FFFF00"/>
                </a:solidFill>
                <a:latin typeface="Lucida Console" panose="020B0609040504020204" pitchFamily="49" charset="0"/>
              </a:rPr>
              <a:t>callable</a:t>
            </a:r>
            <a:r>
              <a:rPr lang="en-US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287">
              <a:spcBef>
                <a:spcPts val="0"/>
              </a:spcBef>
              <a:buNone/>
              <a:defRPr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True</a:t>
            </a:r>
            <a:endParaRPr lang="en-US" sz="2398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" y="204"/>
            <a:ext cx="9729788" cy="866361"/>
          </a:xfrm>
          <a:prstGeom prst="rect">
            <a:avLst/>
          </a:prstGeom>
        </p:spPr>
        <p:txBody>
          <a:bodyPr vert="horz" lIns="91384" tIns="45692" rIns="91384" bIns="45692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71" dirty="0">
                <a:solidFill>
                  <a:srgbClr val="0070C0"/>
                </a:solidFill>
              </a:rPr>
              <a:t>Everything is an Object</a:t>
            </a:r>
            <a:r>
              <a:rPr lang="en-US" altLang="en-US" sz="4441" dirty="0">
                <a:solidFill>
                  <a:srgbClr val="0070C0"/>
                </a:solidFill>
                <a:latin typeface="Cooper Black" panose="0208090404030B020404" pitchFamily="18" charset="0"/>
              </a:rPr>
              <a:t>?</a:t>
            </a:r>
            <a:endParaRPr lang="en-US" altLang="en-US" sz="407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2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Without arguments, equivalent to locals().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 an argument, equivalent to object.__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__.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a[7],a[14],a[-2]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531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114468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77478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 an argument, equivalent to object.__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__.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a[7],a[14],a[-2]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114468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538713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966" y="3000"/>
            <a:ext cx="9721857" cy="865655"/>
          </a:xfrm>
          <a:prstGeom prst="rect">
            <a:avLst/>
          </a:prstGeom>
        </p:spPr>
        <p:txBody>
          <a:bodyPr vert="horz" lIns="91310" tIns="45655" rIns="91310" bIns="45655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68" dirty="0">
                <a:solidFill>
                  <a:srgbClr val="2D2DB9"/>
                </a:solidFill>
              </a:rPr>
              <a:t>Everything is an Object</a:t>
            </a:r>
            <a:r>
              <a:rPr lang="en-US" altLang="en-US" sz="4437" dirty="0">
                <a:solidFill>
                  <a:srgbClr val="2D2DB9"/>
                </a:solidFill>
                <a:latin typeface="Cooper Black" panose="0208090404030B020404" pitchFamily="18" charset="0"/>
              </a:rPr>
              <a:t>?</a:t>
            </a:r>
            <a:endParaRPr lang="en-US" altLang="en-US" sz="4068" dirty="0">
              <a:solidFill>
                <a:srgbClr val="2D2DB9"/>
              </a:solidFill>
              <a:latin typeface="Cooper Black" panose="0208090404030B020404" pitchFamily="18" charset="0"/>
            </a:endParaRPr>
          </a:p>
        </p:txBody>
      </p:sp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832093" y="2067110"/>
            <a:ext cx="8065605" cy="4413256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defTabSz="913668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997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729" y="849660"/>
            <a:ext cx="8598240" cy="5554615"/>
          </a:xfrm>
        </p:spPr>
        <p:txBody>
          <a:bodyPr/>
          <a:lstStyle/>
          <a:p>
            <a:pPr marL="0" indent="0">
              <a:spcAft>
                <a:spcPts val="1798"/>
              </a:spcAft>
              <a:buNone/>
              <a:defRPr/>
            </a:pPr>
            <a:r>
              <a:rPr lang="en-US" sz="3195" dirty="0">
                <a:solidFill>
                  <a:srgbClr val="FF0000"/>
                </a:solidFill>
              </a:rPr>
              <a:t>For example, functions can be added into lists, just like you would add anything else: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6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def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 f(x):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396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    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print("The </a:t>
            </a:r>
            <a:r>
              <a:rPr lang="en-US" sz="2396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number:",x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l = [3.0,f,7]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l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[3.0, &lt;function f at </a:t>
            </a:r>
            <a:r>
              <a:rPr lang="en-US" sz="2396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0x6ffffdccbf8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&gt;, 7]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print(l[1])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&lt;function f at 0x6ffffdccbf8&gt;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l.append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(f)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l[3]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&lt;function f at 0x6ffffdccbf8&gt;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436639" y="461940"/>
            <a:ext cx="2982128" cy="695009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683" tIns="0" rIns="98683" bIns="4934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0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This was </a:t>
            </a:r>
            <a:br>
              <a:rPr lang="en-US" sz="2590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0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from 7 slides ago</a:t>
            </a:r>
            <a:endParaRPr lang="en-US" sz="3022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5548907"/>
      </p:ext>
    </p:extLst>
  </p:cSld>
  <p:clrMapOvr>
    <a:masterClrMapping/>
  </p:clrMapOvr>
  <p:transition spd="slow">
    <p:push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966" y="3000"/>
            <a:ext cx="9721857" cy="865655"/>
          </a:xfrm>
          <a:prstGeom prst="rect">
            <a:avLst/>
          </a:prstGeom>
          <a:solidFill>
            <a:schemeClr val="bg1"/>
          </a:solidFill>
        </p:spPr>
        <p:txBody>
          <a:bodyPr vert="horz" lIns="91310" tIns="45655" rIns="91310" bIns="45655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68" dirty="0">
                <a:solidFill>
                  <a:srgbClr val="2D2DB9"/>
                </a:solidFill>
              </a:rPr>
              <a:t>Everything is an Object</a:t>
            </a:r>
            <a:r>
              <a:rPr lang="en-US" altLang="en-US" sz="4437" dirty="0">
                <a:solidFill>
                  <a:srgbClr val="2D2DB9"/>
                </a:solidFill>
                <a:latin typeface="Cooper Black" panose="0208090404030B020404" pitchFamily="18" charset="0"/>
              </a:rPr>
              <a:t>?</a:t>
            </a:r>
            <a:endParaRPr lang="en-US" altLang="en-US" sz="4068" dirty="0">
              <a:solidFill>
                <a:srgbClr val="2D2DB9"/>
              </a:solidFill>
              <a:latin typeface="Cooper Black" panose="0208090404030B020404" pitchFamily="18" charset="0"/>
            </a:endParaRPr>
          </a:p>
        </p:txBody>
      </p:sp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832093" y="2067110"/>
            <a:ext cx="8065605" cy="4413256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defTabSz="913668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997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729" y="849660"/>
            <a:ext cx="8598240" cy="5554615"/>
          </a:xfrm>
        </p:spPr>
        <p:txBody>
          <a:bodyPr/>
          <a:lstStyle/>
          <a:p>
            <a:pPr marL="0" indent="0">
              <a:spcAft>
                <a:spcPts val="1798"/>
              </a:spcAft>
              <a:buNone/>
              <a:defRPr/>
            </a:pPr>
            <a:r>
              <a:rPr lang="en-US" sz="3195" dirty="0">
                <a:solidFill>
                  <a:srgbClr val="FF0000"/>
                </a:solidFill>
              </a:rPr>
              <a:t>For example, functions can be added into lists, just like you would add anything else: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6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def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 f(x):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396" b="1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    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print("The </a:t>
            </a:r>
            <a:r>
              <a:rPr lang="en-US" sz="2396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number:",x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l = [3.0,f,7]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l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[3.0, &lt;function f at </a:t>
            </a:r>
            <a:r>
              <a:rPr lang="en-US" sz="2396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0x6ffffdccbf8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&gt;, 7]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print(l[1])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&lt;function f at </a:t>
            </a:r>
            <a:r>
              <a:rPr lang="en-US" sz="2396" b="1" dirty="0">
                <a:solidFill>
                  <a:srgbClr val="FF0000"/>
                </a:solidFill>
                <a:latin typeface="Lucida Console" panose="020B0609040504020204" pitchFamily="49" charset="0"/>
              </a:rPr>
              <a:t>0x6ffffdccbf8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l.append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(f)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sz="2396" b="1" dirty="0">
                <a:solidFill>
                  <a:srgbClr val="FFFF00"/>
                </a:solidFill>
                <a:latin typeface="Lucida Console" panose="020B0609040504020204" pitchFamily="49" charset="0"/>
              </a:rPr>
              <a:t>l[3]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&lt;function f at </a:t>
            </a:r>
            <a:r>
              <a:rPr lang="en-US" sz="2396" b="1" dirty="0">
                <a:solidFill>
                  <a:srgbClr val="FF0000"/>
                </a:solidFill>
                <a:latin typeface="Lucida Console" panose="020B0609040504020204" pitchFamily="49" charset="0"/>
              </a:rPr>
              <a:t>0x6ffffdccbf8</a:t>
            </a:r>
            <a:r>
              <a:rPr lang="en-US" sz="2396" b="1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</a:p>
          <a:p>
            <a:pPr marL="0" indent="344012">
              <a:spcBef>
                <a:spcPts val="0"/>
              </a:spcBef>
              <a:buNone/>
              <a:defRPr/>
            </a:pPr>
            <a:r>
              <a:rPr lang="en-US" sz="2396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436639" y="461940"/>
            <a:ext cx="2982128" cy="695009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683" tIns="0" rIns="98683" bIns="4934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0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This was </a:t>
            </a:r>
            <a:br>
              <a:rPr lang="en-US" sz="2590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0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from 5 slides ago</a:t>
            </a:r>
            <a:endParaRPr lang="en-US" sz="3022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091585" y="2217415"/>
            <a:ext cx="2779276" cy="1032826"/>
          </a:xfrm>
          <a:prstGeom prst="wedgeRoundRectCallout">
            <a:avLst>
              <a:gd name="adj1" fmla="val 20401"/>
              <a:gd name="adj2" fmla="val 112859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3197" b="1" kern="0" dirty="0">
                <a:solidFill>
                  <a:srgbClr val="FF0000"/>
                </a:solidFill>
                <a:ea typeface="MS PGothic" pitchFamily="34" charset="-128"/>
              </a:rPr>
              <a:t>What is this</a:t>
            </a:r>
            <a:br>
              <a:rPr lang="en-US" altLang="zh-TW" sz="3197" b="1" kern="0" dirty="0">
                <a:solidFill>
                  <a:srgbClr val="FF0000"/>
                </a:solidFill>
                <a:ea typeface="MS PGothic" pitchFamily="34" charset="-128"/>
              </a:rPr>
            </a:br>
            <a:r>
              <a:rPr lang="en-US" altLang="zh-TW" sz="3197" b="1" kern="0" dirty="0">
                <a:solidFill>
                  <a:srgbClr val="FF0000"/>
                </a:solidFill>
                <a:ea typeface="MS PGothic" pitchFamily="34" charset="-128"/>
              </a:rPr>
              <a:t>number?</a:t>
            </a:r>
            <a:endParaRPr lang="pt-BR" altLang="zh-TW" sz="2798" b="1" kern="0" spc="-93" dirty="0">
              <a:solidFill>
                <a:srgbClr val="FF0000"/>
              </a:solidFill>
              <a:latin typeface="Lucida Console" panose="020B0609040504020204" pitchFamily="49" charset="0"/>
              <a:ea typeface="MS PGothic" pitchFamily="34" charset="-128"/>
            </a:endParaRPr>
          </a:p>
        </p:txBody>
      </p:sp>
      <p:sp>
        <p:nvSpPr>
          <p:cNvPr id="8" name="Rectangle 1"/>
          <p:cNvSpPr txBox="1">
            <a:spLocks noChangeArrowheads="1"/>
          </p:cNvSpPr>
          <p:nvPr/>
        </p:nvSpPr>
        <p:spPr>
          <a:xfrm>
            <a:off x="946" y="2796"/>
            <a:ext cx="9727896" cy="950201"/>
          </a:xfrm>
          <a:prstGeom prst="rect">
            <a:avLst/>
          </a:prstGeom>
          <a:solidFill>
            <a:schemeClr val="bg1"/>
          </a:solidFill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What is the number for an object?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091585" y="2217415"/>
            <a:ext cx="2779276" cy="1032826"/>
          </a:xfrm>
          <a:prstGeom prst="wedgeRoundRectCallout">
            <a:avLst>
              <a:gd name="adj1" fmla="val 348"/>
              <a:gd name="adj2" fmla="val -213564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3197" b="1" kern="0" dirty="0">
                <a:solidFill>
                  <a:srgbClr val="FF0000"/>
                </a:solidFill>
                <a:ea typeface="MS PGothic" pitchFamily="34" charset="-128"/>
              </a:rPr>
              <a:t>What is this</a:t>
            </a:r>
            <a:br>
              <a:rPr lang="en-US" altLang="zh-TW" sz="3197" b="1" kern="0" dirty="0">
                <a:solidFill>
                  <a:srgbClr val="FF0000"/>
                </a:solidFill>
                <a:ea typeface="MS PGothic" pitchFamily="34" charset="-128"/>
              </a:rPr>
            </a:br>
            <a:r>
              <a:rPr lang="en-US" altLang="zh-TW" sz="3197" b="1" kern="0" dirty="0">
                <a:solidFill>
                  <a:srgbClr val="FF0000"/>
                </a:solidFill>
                <a:ea typeface="MS PGothic" pitchFamily="34" charset="-128"/>
              </a:rPr>
              <a:t>number?</a:t>
            </a:r>
            <a:endParaRPr lang="pt-BR" altLang="zh-TW" sz="2798" b="1" kern="0" spc="-93" dirty="0">
              <a:solidFill>
                <a:srgbClr val="FF0000"/>
              </a:solidFill>
              <a:latin typeface="Lucida Console" panose="020B0609040504020204" pitchFamily="49" charset="0"/>
              <a:ea typeface="MS PGothic" pitchFamily="34" charset="-128"/>
            </a:endParaRPr>
          </a:p>
        </p:txBody>
      </p:sp>
      <p:sp>
        <p:nvSpPr>
          <p:cNvPr id="2" name="Isosceles Triangle 1"/>
          <p:cNvSpPr/>
          <p:nvPr/>
        </p:nvSpPr>
        <p:spPr bwMode="auto">
          <a:xfrm flipV="1">
            <a:off x="5718182" y="3215729"/>
            <a:ext cx="682449" cy="636560"/>
          </a:xfrm>
          <a:prstGeom prst="triangle">
            <a:avLst>
              <a:gd name="adj" fmla="val 48521"/>
            </a:avLst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defTabSz="913668" fontAlgn="base">
              <a:spcBef>
                <a:spcPct val="0"/>
              </a:spcBef>
              <a:spcAft>
                <a:spcPct val="0"/>
              </a:spcAft>
            </a:pPr>
            <a:endParaRPr lang="en-US" sz="1998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35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2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537" y="669732"/>
            <a:ext cx="9265472" cy="6185473"/>
          </a:xfrm>
          <a:solidFill>
            <a:schemeClr val="tx1"/>
          </a:solidFill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f():print("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f() was called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")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f()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f() was called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f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&lt;function f at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0x6fffff22e18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print(</a:t>
            </a:r>
            <a:r>
              <a:rPr lang="en-US" altLang="zh-TW" sz="2398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id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.__doc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__)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#Each</a:t>
            </a:r>
            <a:r>
              <a:rPr lang="en-US" altLang="zh-TW" sz="17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object’s</a:t>
            </a:r>
            <a:r>
              <a:rPr lang="en-US" altLang="zh-TW" sz="2398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id is</a:t>
            </a:r>
            <a:r>
              <a:rPr lang="en-US" altLang="zh-TW" sz="17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unique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C00000"/>
                </a:solidFill>
                <a:latin typeface="Lucida Console" panose="020B0609040504020204" pitchFamily="49" charset="0"/>
              </a:rPr>
              <a:t>Return the identity of an object.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1799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Th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s guaranteed to be unique among sim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ul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taneou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sl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y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ex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st</a:t>
            </a:r>
            <a:r>
              <a:rPr lang="en-US" altLang="zh-TW" sz="2398" spc="-25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ng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398" spc="-250" dirty="0">
                <a:solidFill>
                  <a:srgbClr val="FF6969"/>
                </a:solidFill>
                <a:latin typeface="Lucida Console" panose="020B0609040504020204" pitchFamily="49" charset="0"/>
              </a:rPr>
              <a:t>bj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  <a:r>
              <a:rPr lang="en-US" altLang="zh-TW" sz="2398" spc="-45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8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50" dirty="0">
                <a:solidFill>
                  <a:srgbClr val="FF6969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398" spc="-150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CPython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0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es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15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ob</a:t>
            </a:r>
            <a:r>
              <a:rPr lang="en-US" altLang="zh-TW" sz="2398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ec</a:t>
            </a:r>
            <a:r>
              <a:rPr lang="en-US" altLang="zh-TW" sz="2398" spc="-450" dirty="0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5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mem</a:t>
            </a:r>
            <a:r>
              <a:rPr lang="en-US" altLang="zh-TW" sz="2398" spc="-350" dirty="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ry</a:t>
            </a:r>
            <a:r>
              <a:rPr lang="en-US" altLang="zh-TW" sz="13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ad</a:t>
            </a:r>
            <a:r>
              <a:rPr lang="en-US" altLang="zh-TW" sz="2398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re</a:t>
            </a:r>
            <a:r>
              <a:rPr lang="en-US" altLang="zh-TW" sz="2398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5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649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2398" spc="-350" dirty="0">
                <a:solidFill>
                  <a:srgbClr val="FF6969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id(f)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7696580488728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hex(id(f))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'0x6fffff22e18'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print(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f,hex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(id(f)))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&lt;function f at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0x6fffff22e18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&gt;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0x6fffff22e18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2797"/>
            <a:ext cx="9727896" cy="933957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What is the number for an object?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236537" y="669732"/>
            <a:ext cx="853096" cy="572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t" anchorCtr="0" compatLnSpc="1">
            <a:prstTxWarp prst="textNoShape">
              <a:avLst/>
            </a:prstTxWarp>
            <a:noAutofit/>
          </a:bodyPr>
          <a:lstStyle>
            <a:lvl1pPr marL="342870" indent="-34287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885" indent="-28572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00" indent="-2285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061" indent="-2285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222" indent="-2285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381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542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702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5863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98" kern="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98" kern="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98" kern="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98" kern="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1799" kern="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br>
              <a:rPr lang="en-US" altLang="zh-TW" sz="2398" kern="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</a:br>
            <a:endParaRPr lang="en-US" altLang="zh-TW" sz="2398" kern="0" spc="-35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98" kern="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398" b="1" kern="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3668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26" name="Rounded Rectangular Callout 25"/>
          <p:cNvSpPr/>
          <p:nvPr/>
        </p:nvSpPr>
        <p:spPr bwMode="auto">
          <a:xfrm>
            <a:off x="4091585" y="2217415"/>
            <a:ext cx="2779276" cy="1032826"/>
          </a:xfrm>
          <a:prstGeom prst="wedgeRoundRectCallout">
            <a:avLst>
              <a:gd name="adj1" fmla="val 348"/>
              <a:gd name="adj2" fmla="val -213564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3197" b="1" kern="0" dirty="0">
                <a:solidFill>
                  <a:srgbClr val="FF0000"/>
                </a:solidFill>
                <a:ea typeface="MS PGothic" pitchFamily="34" charset="-128"/>
              </a:rPr>
              <a:t>What is this</a:t>
            </a:r>
            <a:br>
              <a:rPr lang="en-US" altLang="zh-TW" sz="3197" b="1" kern="0" dirty="0">
                <a:solidFill>
                  <a:srgbClr val="FF0000"/>
                </a:solidFill>
                <a:ea typeface="MS PGothic" pitchFamily="34" charset="-128"/>
              </a:rPr>
            </a:br>
            <a:r>
              <a:rPr lang="en-US" altLang="zh-TW" sz="3197" b="1" kern="0" dirty="0">
                <a:solidFill>
                  <a:srgbClr val="FF0000"/>
                </a:solidFill>
                <a:ea typeface="MS PGothic" pitchFamily="34" charset="-128"/>
              </a:rPr>
              <a:t>number?</a:t>
            </a:r>
            <a:endParaRPr lang="pt-BR" altLang="zh-TW" sz="2798" b="1" kern="0" spc="-93" dirty="0">
              <a:solidFill>
                <a:srgbClr val="FF0000"/>
              </a:solidFill>
              <a:latin typeface="Lucida Console" panose="020B0609040504020204" pitchFamily="49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761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829586" y="2795"/>
            <a:ext cx="8070616" cy="761379"/>
          </a:xfrm>
        </p:spPr>
        <p:txBody>
          <a:bodyPr/>
          <a:lstStyle/>
          <a:p>
            <a:r>
              <a:rPr lang="en-US" altLang="zh-TW" sz="4440" dirty="0">
                <a:latin typeface="Elephant" panose="02020904090505020303" pitchFamily="18" charset="0"/>
              </a:rPr>
              <a:t>Using </a:t>
            </a:r>
            <a:r>
              <a:rPr lang="en-US" altLang="zh-TW" sz="4440" b="1" spc="-463" dirty="0">
                <a:latin typeface="Lucida Console" panose="020B0609040504020204" pitchFamily="49" charset="0"/>
              </a:rPr>
              <a:t>is</a:t>
            </a:r>
            <a:r>
              <a:rPr lang="en-US" altLang="zh-TW" sz="4071" dirty="0">
                <a:latin typeface="Elephant" panose="02020904090505020303" pitchFamily="18" charset="0"/>
              </a:rPr>
              <a:t> </a:t>
            </a:r>
            <a:r>
              <a:rPr lang="en-US" altLang="zh-TW" sz="3330" dirty="0">
                <a:latin typeface="Elephant" panose="02020904090505020303" pitchFamily="18" charset="0"/>
              </a:rPr>
              <a:t> </a:t>
            </a:r>
            <a:r>
              <a:rPr lang="en-US" altLang="zh-TW" sz="4071" dirty="0">
                <a:latin typeface="Elephant" panose="02020904090505020303" pitchFamily="18" charset="0"/>
              </a:rPr>
              <a:t>with</a:t>
            </a:r>
            <a:r>
              <a:rPr lang="en-US" altLang="zh-TW" sz="3700" dirty="0">
                <a:latin typeface="Elephant" panose="02020904090505020303" pitchFamily="18" charset="0"/>
              </a:rPr>
              <a:t> </a:t>
            </a:r>
            <a:r>
              <a:rPr lang="en-US" altLang="zh-TW" sz="4071" dirty="0">
                <a:latin typeface="Elephant" panose="02020904090505020303" pitchFamily="18" charset="0"/>
              </a:rPr>
              <a:t>Tuples</a:t>
            </a:r>
            <a:endParaRPr lang="zh-TW" altLang="en-US" sz="4071" dirty="0">
              <a:latin typeface="Elephant" panose="02020904090505020303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72758" y="916450"/>
            <a:ext cx="9669512" cy="5786479"/>
          </a:xfrm>
        </p:spPr>
        <p:txBody>
          <a:bodyPr/>
          <a:lstStyle/>
          <a:p>
            <a:r>
              <a:rPr lang="en-US" altLang="zh-TW" sz="3197" dirty="0"/>
              <a:t>Let’s use tuples to compare “is” vs “==”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latin typeface="Lucida Console" panose="020B0609040504020204" pitchFamily="49" charset="0"/>
              </a:rPr>
              <a:t> 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a=(4,5,6)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latin typeface="Lucida Console" panose="020B0609040504020204" pitchFamily="49" charset="0"/>
              </a:rPr>
              <a:t> 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b=(4,5,6)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latin typeface="Lucida Console" panose="020B0609040504020204" pitchFamily="49" charset="0"/>
              </a:rPr>
              <a:t> 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a </a:t>
            </a:r>
            <a:r>
              <a:rPr lang="en-US" altLang="zh-TW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latin typeface="Lucida Console" panose="020B0609040504020204" pitchFamily="49" charset="0"/>
              </a:rPr>
              <a:t>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latin typeface="Lucida Console" panose="020B0609040504020204" pitchFamily="49" charset="0"/>
              </a:rPr>
              <a:t> 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a==b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latin typeface="Lucida Console" panose="020B0609040504020204" pitchFamily="49" charset="0"/>
              </a:rPr>
              <a:t> 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c=a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latin typeface="Lucida Console" panose="020B0609040504020204" pitchFamily="49" charset="0"/>
              </a:rPr>
              <a:t> 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c </a:t>
            </a:r>
            <a:r>
              <a:rPr lang="en-US" altLang="zh-TW" b="1" dirty="0">
                <a:solidFill>
                  <a:srgbClr val="00B05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 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solidFill>
                  <a:srgbClr val="00B05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b="1" dirty="0">
                <a:solidFill>
                  <a:srgbClr val="7030A0"/>
                </a:solidFill>
                <a:latin typeface="Lucida Console" panose="020B0609040504020204" pitchFamily="49" charset="0"/>
              </a:rPr>
              <a:t>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pc="-3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1399" spc="-1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pc="-60" dirty="0">
                <a:latin typeface="Lucida Console" panose="020B0609040504020204" pitchFamily="49" charset="0"/>
              </a:rPr>
              <a:t>prin</a:t>
            </a:r>
            <a:r>
              <a:rPr lang="en-US" altLang="zh-TW" spc="-110" dirty="0">
                <a:latin typeface="Lucida Console" panose="020B0609040504020204" pitchFamily="49" charset="0"/>
              </a:rPr>
              <a:t>t(</a:t>
            </a:r>
            <a:r>
              <a:rPr lang="en-US" altLang="zh-TW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he</a:t>
            </a:r>
            <a:r>
              <a:rPr lang="en-US" altLang="zh-TW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x(</a:t>
            </a:r>
            <a:r>
              <a:rPr lang="en-US" altLang="zh-TW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d(</a:t>
            </a:r>
            <a:r>
              <a:rPr lang="en-US" altLang="zh-TW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a)</a:t>
            </a:r>
            <a:r>
              <a:rPr lang="en-US" altLang="zh-TW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pc="-60" dirty="0">
                <a:latin typeface="Lucida Console" panose="020B0609040504020204" pitchFamily="49" charset="0"/>
              </a:rPr>
              <a:t>,</a:t>
            </a:r>
            <a:r>
              <a:rPr lang="en-US" altLang="zh-TW" spc="-60" dirty="0">
                <a:solidFill>
                  <a:srgbClr val="00B0F0"/>
                </a:solidFill>
                <a:latin typeface="Lucida Console" panose="020B0609040504020204" pitchFamily="49" charset="0"/>
              </a:rPr>
              <a:t>he</a:t>
            </a:r>
            <a:r>
              <a:rPr lang="en-US" altLang="zh-TW" spc="-110" dirty="0">
                <a:solidFill>
                  <a:srgbClr val="00B0F0"/>
                </a:solidFill>
                <a:latin typeface="Lucida Console" panose="020B0609040504020204" pitchFamily="49" charset="0"/>
              </a:rPr>
              <a:t>x(</a:t>
            </a:r>
            <a:r>
              <a:rPr lang="en-US" altLang="zh-TW" spc="-60" dirty="0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pc="-110" dirty="0">
                <a:solidFill>
                  <a:srgbClr val="00B0F0"/>
                </a:solidFill>
                <a:latin typeface="Lucida Console" panose="020B0609040504020204" pitchFamily="49" charset="0"/>
              </a:rPr>
              <a:t>d(</a:t>
            </a:r>
            <a:r>
              <a:rPr lang="en-US" altLang="zh-TW" spc="-160" dirty="0">
                <a:solidFill>
                  <a:srgbClr val="00B0F0"/>
                </a:solidFill>
                <a:latin typeface="Lucida Console" panose="020B0609040504020204" pitchFamily="49" charset="0"/>
              </a:rPr>
              <a:t>b)</a:t>
            </a:r>
            <a:r>
              <a:rPr lang="en-US" altLang="zh-TW" spc="-200" dirty="0">
                <a:solidFill>
                  <a:srgbClr val="00B0F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pc="-60" dirty="0">
                <a:latin typeface="Lucida Console" panose="020B0609040504020204" pitchFamily="49" charset="0"/>
              </a:rPr>
              <a:t>,</a:t>
            </a:r>
            <a:r>
              <a:rPr lang="en-US" altLang="zh-TW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he</a:t>
            </a:r>
            <a:r>
              <a:rPr lang="en-US" altLang="zh-TW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x(</a:t>
            </a:r>
            <a:r>
              <a:rPr lang="en-US" altLang="zh-TW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pc="-110" dirty="0">
                <a:solidFill>
                  <a:srgbClr val="FF0000"/>
                </a:solidFill>
                <a:latin typeface="Lucida Console" panose="020B0609040504020204" pitchFamily="49" charset="0"/>
              </a:rPr>
              <a:t>d(</a:t>
            </a:r>
            <a:r>
              <a:rPr lang="en-US" altLang="zh-TW" spc="-160" dirty="0">
                <a:solidFill>
                  <a:srgbClr val="FF0000"/>
                </a:solidFill>
                <a:latin typeface="Lucida Console" panose="020B0609040504020204" pitchFamily="49" charset="0"/>
              </a:rPr>
              <a:t>c))</a:t>
            </a:r>
            <a:r>
              <a:rPr lang="en-US" altLang="zh-TW" spc="-160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latin typeface="Lucida Console" panose="020B0609040504020204" pitchFamily="49" charset="0"/>
              </a:rPr>
              <a:t>  </a:t>
            </a:r>
            <a:r>
              <a:rPr lang="en-US" altLang="zh-TW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0x6ffffda</a:t>
            </a:r>
            <a:r>
              <a:rPr lang="en-US" altLang="zh-TW" b="1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edc8</a:t>
            </a:r>
            <a:r>
              <a:rPr lang="en-US" altLang="zh-TW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pc="-60" dirty="0">
                <a:solidFill>
                  <a:srgbClr val="00B0F0"/>
                </a:solidFill>
                <a:latin typeface="Lucida Console" panose="020B0609040504020204" pitchFamily="49" charset="0"/>
              </a:rPr>
              <a:t>0x6ffffda</a:t>
            </a:r>
            <a:r>
              <a:rPr lang="en-US" altLang="zh-TW" b="1" spc="-60" dirty="0">
                <a:solidFill>
                  <a:srgbClr val="00B0F0"/>
                </a:solidFill>
                <a:latin typeface="Lucida Console" panose="020B0609040504020204" pitchFamily="49" charset="0"/>
              </a:rPr>
              <a:t>28b8</a:t>
            </a:r>
            <a:r>
              <a:rPr lang="en-US" altLang="zh-TW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0x6ffffda</a:t>
            </a:r>
            <a:r>
              <a:rPr lang="en-US" altLang="zh-TW" b="1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edc8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255791" y="1677829"/>
            <a:ext cx="4948963" cy="1903447"/>
            <a:chOff x="3886200" y="1676400"/>
            <a:chExt cx="4953000" cy="1905000"/>
          </a:xfrm>
        </p:grpSpPr>
        <p:sp>
          <p:nvSpPr>
            <p:cNvPr id="19" name="Rounded Rectangular Callout 6"/>
            <p:cNvSpPr/>
            <p:nvPr/>
          </p:nvSpPr>
          <p:spPr bwMode="auto">
            <a:xfrm>
              <a:off x="3886200" y="1676400"/>
              <a:ext cx="4953000" cy="838200"/>
            </a:xfrm>
            <a:prstGeom prst="wedgeRoundRectCallout">
              <a:avLst>
                <a:gd name="adj1" fmla="val -58870"/>
                <a:gd name="adj2" fmla="val 385787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683" tIns="45683" rIns="45683" bIns="45683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197" dirty="0">
                  <a:solidFill>
                    <a:srgbClr val="860000"/>
                  </a:solidFill>
                  <a:latin typeface="Times New Roman" charset="0"/>
                </a:rPr>
                <a:t>id() gives the address.</a:t>
              </a:r>
              <a:br>
                <a:rPr lang="en-US" altLang="zh-TW" sz="3197" dirty="0">
                  <a:solidFill>
                    <a:srgbClr val="860000"/>
                  </a:solidFill>
                  <a:latin typeface="Times New Roman" charset="0"/>
                </a:rPr>
              </a:br>
              <a:r>
                <a:rPr lang="en-US" altLang="zh-TW" sz="3197" dirty="0">
                  <a:solidFill>
                    <a:srgbClr val="860000"/>
                  </a:solidFill>
                  <a:latin typeface="Times New Roman" charset="0"/>
                </a:rPr>
                <a:t>a &amp; c have the same address.</a:t>
              </a:r>
              <a:endParaRPr lang="zh-TW" altLang="en-US" sz="3197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9" name="Rounded Rectangular Callout 6"/>
            <p:cNvSpPr/>
            <p:nvPr/>
          </p:nvSpPr>
          <p:spPr bwMode="auto">
            <a:xfrm>
              <a:off x="3886200" y="1676400"/>
              <a:ext cx="4953000" cy="838200"/>
            </a:xfrm>
            <a:prstGeom prst="wedgeRoundRectCallout">
              <a:avLst>
                <a:gd name="adj1" fmla="val 32842"/>
                <a:gd name="adj2" fmla="val 384614"/>
                <a:gd name="adj3" fmla="val 16667"/>
              </a:avLst>
            </a:prstGeom>
            <a:solidFill>
              <a:srgbClr val="FFC0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45683" tIns="45683" rIns="45683" bIns="45683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TW" sz="3197" b="1" dirty="0">
                  <a:solidFill>
                    <a:srgbClr val="008000"/>
                  </a:solidFill>
                  <a:latin typeface="Times New Roman" charset="0"/>
                </a:rPr>
                <a:t>id()</a:t>
              </a:r>
              <a:r>
                <a:rPr lang="en-US" altLang="zh-TW" sz="3197" dirty="0">
                  <a:solidFill>
                    <a:srgbClr val="860000"/>
                  </a:solidFill>
                  <a:latin typeface="Times New Roman" charset="0"/>
                </a:rPr>
                <a:t> gives the address.</a:t>
              </a:r>
              <a:br>
                <a:rPr lang="en-US" altLang="zh-TW" sz="3197" dirty="0">
                  <a:solidFill>
                    <a:srgbClr val="860000"/>
                  </a:solidFill>
                  <a:latin typeface="Times New Roman" charset="0"/>
                </a:rPr>
              </a:br>
              <a:r>
                <a:rPr lang="en-US" altLang="zh-TW" sz="3197" b="1" dirty="0">
                  <a:solidFill>
                    <a:srgbClr val="FF0000"/>
                  </a:solidFill>
                  <a:latin typeface="Times New Roman" charset="0"/>
                </a:rPr>
                <a:t>a</a:t>
              </a:r>
              <a:r>
                <a:rPr lang="en-US" altLang="zh-TW" sz="3197" dirty="0">
                  <a:solidFill>
                    <a:srgbClr val="860000"/>
                  </a:solidFill>
                  <a:latin typeface="Times New Roman" charset="0"/>
                </a:rPr>
                <a:t> &amp; </a:t>
              </a:r>
              <a:r>
                <a:rPr lang="en-US" altLang="zh-TW" sz="3197" b="1" dirty="0">
                  <a:solidFill>
                    <a:srgbClr val="FF0000"/>
                  </a:solidFill>
                  <a:latin typeface="Times New Roman" charset="0"/>
                </a:rPr>
                <a:t>c</a:t>
              </a:r>
              <a:r>
                <a:rPr lang="en-US" altLang="zh-TW" sz="3197" dirty="0">
                  <a:solidFill>
                    <a:srgbClr val="860000"/>
                  </a:solidFill>
                  <a:latin typeface="Times New Roman" charset="0"/>
                </a:rPr>
                <a:t> have the same address.</a:t>
              </a:r>
              <a:endParaRPr lang="zh-TW" altLang="en-US" sz="3197" dirty="0">
                <a:solidFill>
                  <a:srgbClr val="860000"/>
                </a:solidFill>
                <a:latin typeface="Times New Roman" charset="0"/>
              </a:endParaRPr>
            </a:p>
          </p:txBody>
        </p:sp>
        <p:sp>
          <p:nvSpPr>
            <p:cNvPr id="5" name="Isosceles Triangle 4"/>
            <p:cNvSpPr/>
            <p:nvPr/>
          </p:nvSpPr>
          <p:spPr bwMode="auto">
            <a:xfrm flipV="1">
              <a:off x="4724400" y="2438400"/>
              <a:ext cx="1269380" cy="1143000"/>
            </a:xfrm>
            <a:prstGeom prst="triangle">
              <a:avLst>
                <a:gd name="adj" fmla="val 15947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5" tIns="45683" rIns="91365" bIns="45683" numCol="1" rtlCol="0" anchor="t" anchorCtr="0" compatLnSpc="1">
              <a:prstTxWarp prst="textNoShape">
                <a:avLst/>
              </a:prstTxWarp>
            </a:bodyPr>
            <a:lstStyle/>
            <a:p>
              <a:pPr defTabSz="913629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998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11" name="Isosceles Triangle 10"/>
            <p:cNvSpPr/>
            <p:nvPr/>
          </p:nvSpPr>
          <p:spPr bwMode="auto">
            <a:xfrm>
              <a:off x="4556203" y="2411451"/>
              <a:ext cx="381000" cy="533400"/>
            </a:xfrm>
            <a:prstGeom prst="triangle">
              <a:avLst>
                <a:gd name="adj" fmla="val 55698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5" tIns="45683" rIns="91365" bIns="45683" numCol="1" rtlCol="0" anchor="t" anchorCtr="0" compatLnSpc="1">
              <a:prstTxWarp prst="textNoShape">
                <a:avLst/>
              </a:prstTxWarp>
            </a:bodyPr>
            <a:lstStyle/>
            <a:p>
              <a:pPr defTabSz="913629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1998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12" name="Rounded Rectangular Callout 11"/>
          <p:cNvSpPr/>
          <p:nvPr/>
        </p:nvSpPr>
        <p:spPr bwMode="auto">
          <a:xfrm>
            <a:off x="946" y="3339"/>
            <a:ext cx="6532260" cy="1303142"/>
          </a:xfrm>
          <a:prstGeom prst="wedgeRoundRectCallout">
            <a:avLst>
              <a:gd name="adj1" fmla="val 28537"/>
              <a:gd name="adj2" fmla="val 83573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2961" kern="0" dirty="0">
                <a:solidFill>
                  <a:srgbClr val="222222"/>
                </a:solidFill>
                <a:ea typeface="MS PGothic" pitchFamily="34" charset="-128"/>
              </a:rPr>
              <a:t>The answer of </a:t>
            </a:r>
            <a:r>
              <a:rPr lang="en-US" altLang="zh-TW" sz="2961" b="1" kern="0" dirty="0">
                <a:solidFill>
                  <a:srgbClr val="008000"/>
                </a:solidFill>
                <a:ea typeface="MS PGothic" pitchFamily="34" charset="-128"/>
              </a:rPr>
              <a:t>id()</a:t>
            </a:r>
            <a:r>
              <a:rPr lang="en-US" altLang="zh-TW" sz="2961" kern="0" dirty="0">
                <a:solidFill>
                  <a:srgbClr val="222222"/>
                </a:solidFill>
                <a:ea typeface="MS PGothic" pitchFamily="34" charset="-128"/>
              </a:rPr>
              <a:t> is not a pointer.</a:t>
            </a:r>
            <a:br>
              <a:rPr lang="en-US" altLang="zh-TW" sz="2961" kern="0" dirty="0">
                <a:solidFill>
                  <a:srgbClr val="222222"/>
                </a:solidFill>
                <a:ea typeface="MS PGothic" pitchFamily="34" charset="-128"/>
              </a:rPr>
            </a:br>
            <a:r>
              <a:rPr lang="en-US" altLang="zh-TW" sz="2961" kern="0" dirty="0">
                <a:solidFill>
                  <a:srgbClr val="222222"/>
                </a:solidFill>
                <a:ea typeface="MS PGothic" pitchFamily="34" charset="-128"/>
              </a:rPr>
              <a:t>You can’t use it to modify the memory.</a:t>
            </a:r>
            <a:br>
              <a:rPr lang="en-US" altLang="zh-TW" sz="2961" kern="0" dirty="0">
                <a:solidFill>
                  <a:srgbClr val="222222"/>
                </a:solidFill>
                <a:ea typeface="MS PGothic" pitchFamily="34" charset="-128"/>
              </a:rPr>
            </a:br>
            <a:r>
              <a:rPr lang="en-US" altLang="zh-TW" sz="2961" kern="0" dirty="0">
                <a:solidFill>
                  <a:srgbClr val="222222"/>
                </a:solidFill>
                <a:ea typeface="MS PGothic" pitchFamily="34" charset="-128"/>
              </a:rPr>
              <a:t>It’s only purpose is to give a unique #.</a:t>
            </a:r>
            <a:endParaRPr lang="pt-BR" altLang="zh-TW" sz="2590" b="1" kern="0" spc="-93" dirty="0">
              <a:solidFill>
                <a:srgbClr val="FF0000"/>
              </a:solidFill>
              <a:latin typeface="Lucida Console" panose="020B0609040504020204" pitchFamily="49" charset="0"/>
              <a:ea typeface="MS PGothic" pitchFamily="34" charset="-128"/>
            </a:endParaRPr>
          </a:p>
        </p:txBody>
      </p:sp>
      <p:sp>
        <p:nvSpPr>
          <p:cNvPr id="13" name="Rounded Rectangular Callout 6"/>
          <p:cNvSpPr/>
          <p:nvPr/>
        </p:nvSpPr>
        <p:spPr bwMode="auto">
          <a:xfrm>
            <a:off x="5854687" y="3733552"/>
            <a:ext cx="1675034" cy="1218206"/>
          </a:xfrm>
          <a:prstGeom prst="wedgeRoundRectCallout">
            <a:avLst>
              <a:gd name="adj1" fmla="val -32919"/>
              <a:gd name="adj2" fmla="val 83721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683" tIns="45683" rIns="45683" bIns="45683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endParaRPr lang="en-US" altLang="zh-TW" sz="300" b="1" dirty="0">
              <a:solidFill>
                <a:srgbClr val="00B0F0"/>
              </a:solidFill>
              <a:latin typeface="Times New Roman" charset="0"/>
            </a:endParaRPr>
          </a:p>
          <a:p>
            <a:pPr algn="ctr">
              <a:lnSpc>
                <a:spcPct val="80000"/>
              </a:lnSpc>
            </a:pPr>
            <a:r>
              <a:rPr lang="en-US" altLang="zh-TW" sz="3197" b="1" dirty="0">
                <a:solidFill>
                  <a:srgbClr val="00B0F0"/>
                </a:solidFill>
                <a:latin typeface="Times New Roman" charset="0"/>
              </a:rPr>
              <a:t>b</a:t>
            </a:r>
            <a:r>
              <a:rPr lang="en-US" altLang="zh-TW" sz="3197" dirty="0">
                <a:solidFill>
                  <a:srgbClr val="860000"/>
                </a:solidFill>
                <a:latin typeface="Times New Roman" charset="0"/>
              </a:rPr>
              <a:t> has a different address.</a:t>
            </a:r>
            <a:endParaRPr lang="zh-TW" altLang="en-US" sz="3197" dirty="0">
              <a:solidFill>
                <a:srgbClr val="860000"/>
              </a:solidFill>
              <a:latin typeface="Times New Roman" charset="0"/>
            </a:endParaRPr>
          </a:p>
        </p:txBody>
      </p:sp>
      <p:sp>
        <p:nvSpPr>
          <p:cNvPr id="15" name="Trapezoid 14"/>
          <p:cNvSpPr>
            <a:spLocks noChangeAspect="1"/>
          </p:cNvSpPr>
          <p:nvPr/>
        </p:nvSpPr>
        <p:spPr bwMode="auto">
          <a:xfrm rot="2700000" flipH="1">
            <a:off x="7436639" y="461940"/>
            <a:ext cx="2982128" cy="695009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683" tIns="0" rIns="98683" bIns="4934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0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</a:t>
            </a:r>
            <a:r>
              <a:rPr lang="en-US" sz="259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ecture</a:t>
            </a:r>
            <a:r>
              <a:rPr lang="en-US" sz="1998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  <a:r>
              <a:rPr lang="en-US" sz="259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4</a:t>
            </a:r>
            <a:br>
              <a:rPr lang="en-US" sz="259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45</a:t>
            </a:r>
            <a:endParaRPr lang="en-US" sz="3022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4281690" y="837002"/>
            <a:ext cx="1943644" cy="451152"/>
          </a:xfrm>
          <a:prstGeom prst="wedgeRoundRectCallout">
            <a:avLst>
              <a:gd name="adj1" fmla="val 19964"/>
              <a:gd name="adj2" fmla="val 49829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2958" b="1" kern="0" spc="-20" dirty="0">
                <a:solidFill>
                  <a:srgbClr val="FF0000"/>
                </a:solidFill>
                <a:ea typeface="MS PGothic" pitchFamily="34" charset="-128"/>
              </a:rPr>
              <a:t>a</a:t>
            </a:r>
            <a:r>
              <a:rPr lang="en-US" altLang="zh-TW" sz="2898" b="1" kern="0" spc="-20" dirty="0">
                <a:solidFill>
                  <a:srgbClr val="FF0000"/>
                </a:solidFill>
                <a:ea typeface="MS PGothic" pitchFamily="34" charset="-128"/>
              </a:rPr>
              <a:t> </a:t>
            </a:r>
            <a:r>
              <a:rPr lang="en-US" altLang="zh-TW" sz="2958" b="1" kern="0" spc="-20" dirty="0">
                <a:solidFill>
                  <a:srgbClr val="FF0000"/>
                </a:solidFill>
                <a:ea typeface="MS PGothic" pitchFamily="34" charset="-128"/>
              </a:rPr>
              <a:t>unique</a:t>
            </a:r>
            <a:r>
              <a:rPr lang="en-US" altLang="zh-TW" sz="2898" b="1" kern="0" spc="-20" dirty="0">
                <a:solidFill>
                  <a:srgbClr val="FF0000"/>
                </a:solidFill>
                <a:ea typeface="MS PGothic" pitchFamily="34" charset="-128"/>
              </a:rPr>
              <a:t> </a:t>
            </a:r>
            <a:r>
              <a:rPr lang="en-US" altLang="zh-TW" sz="2958" b="1" kern="0" spc="-20" dirty="0">
                <a:solidFill>
                  <a:srgbClr val="FF0000"/>
                </a:solidFill>
                <a:ea typeface="MS PGothic" pitchFamily="34" charset="-128"/>
              </a:rPr>
              <a:t>#</a:t>
            </a:r>
            <a:endParaRPr lang="pt-BR" altLang="zh-TW" sz="2958" b="1" kern="0" spc="-20" dirty="0">
              <a:solidFill>
                <a:srgbClr val="FF0000"/>
              </a:solidFill>
              <a:latin typeface="Lucida Console" panose="020B0609040504020204" pitchFamily="49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587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 animBg="1"/>
      <p:bldP spid="12" grpId="1" animBg="1"/>
      <p:bldP spid="13" grpId="0" animBg="1"/>
      <p:bldP spid="13" grpId="1" animBg="1"/>
      <p:bldP spid="16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398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id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.__doc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__)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#Each</a:t>
            </a:r>
            <a:r>
              <a:rPr lang="en-US" altLang="zh-TW" sz="17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object’s</a:t>
            </a:r>
            <a:r>
              <a:rPr lang="en-US" altLang="zh-TW" sz="2398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id is</a:t>
            </a:r>
            <a:r>
              <a:rPr lang="en-US" altLang="zh-TW" sz="17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unique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C00000"/>
                </a:solidFill>
                <a:latin typeface="Lucida Console" panose="020B0609040504020204" pitchFamily="49" charset="0"/>
              </a:rPr>
              <a:t>Return the identity of an object.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1799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Th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s guaranteed to be </a:t>
            </a:r>
            <a:r>
              <a:rPr lang="en-US" altLang="zh-TW" sz="2398" b="1" spc="-50" dirty="0">
                <a:solidFill>
                  <a:srgbClr val="FFC000"/>
                </a:solidFill>
                <a:latin typeface="Lucida Console" panose="020B0609040504020204" pitchFamily="49" charset="0"/>
              </a:rPr>
              <a:t>unique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 among sim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ul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taneou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sl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y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ex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st</a:t>
            </a:r>
            <a:r>
              <a:rPr lang="en-US" altLang="zh-TW" sz="2398" spc="-25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ng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398" spc="-250" dirty="0">
                <a:solidFill>
                  <a:srgbClr val="FF6969"/>
                </a:solidFill>
                <a:latin typeface="Lucida Console" panose="020B0609040504020204" pitchFamily="49" charset="0"/>
              </a:rPr>
              <a:t>bj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  <a:r>
              <a:rPr lang="en-US" altLang="zh-TW" sz="2398" spc="-45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8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50" dirty="0">
                <a:solidFill>
                  <a:srgbClr val="FF6969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398" spc="-150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CPython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0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es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15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ob</a:t>
            </a:r>
            <a:r>
              <a:rPr lang="en-US" altLang="zh-TW" sz="2398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ec</a:t>
            </a:r>
            <a:r>
              <a:rPr lang="en-US" altLang="zh-TW" sz="2398" spc="-450" dirty="0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5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mem</a:t>
            </a:r>
            <a:r>
              <a:rPr lang="en-US" altLang="zh-TW" sz="2398" spc="-350" dirty="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ry</a:t>
            </a:r>
            <a:r>
              <a:rPr lang="en-US" altLang="zh-TW" sz="13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ad</a:t>
            </a:r>
            <a:r>
              <a:rPr lang="en-US" altLang="zh-TW" sz="2398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re</a:t>
            </a:r>
            <a:r>
              <a:rPr lang="en-US" altLang="zh-TW" sz="2398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5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649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2398" spc="-350" dirty="0">
                <a:solidFill>
                  <a:srgbClr val="FF6969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id(f)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7696580488728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hex(id(f))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'0x6fffff22e18'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f,hex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(id(f)))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&lt;function f at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0x6fffff22e18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&gt;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0x6fffff22e18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f():print("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f() was called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")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f()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f() was called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f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&lt;function f at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0x6fffff22e18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398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id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.__doc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__)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#Each</a:t>
            </a:r>
            <a:r>
              <a:rPr lang="en-US" altLang="zh-TW" sz="17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object’s</a:t>
            </a:r>
            <a:r>
              <a:rPr lang="en-US" altLang="zh-TW" sz="2398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id is</a:t>
            </a:r>
            <a:r>
              <a:rPr lang="en-US" altLang="zh-TW" sz="17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unique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C00000"/>
                </a:solidFill>
                <a:latin typeface="Lucida Console" panose="020B0609040504020204" pitchFamily="49" charset="0"/>
              </a:rPr>
              <a:t>Return the identity of an object.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1799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Th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s guaranteed to be </a:t>
            </a:r>
            <a:r>
              <a:rPr lang="en-US" altLang="zh-TW" sz="2398" b="1" spc="-50" dirty="0">
                <a:solidFill>
                  <a:srgbClr val="FFC000"/>
                </a:solidFill>
                <a:latin typeface="Lucida Console" panose="020B0609040504020204" pitchFamily="49" charset="0"/>
              </a:rPr>
              <a:t>unique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 among sim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ul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taneou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sl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y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ex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st</a:t>
            </a:r>
            <a:r>
              <a:rPr lang="en-US" altLang="zh-TW" sz="2398" spc="-25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ng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398" spc="-250" dirty="0">
                <a:solidFill>
                  <a:srgbClr val="FF6969"/>
                </a:solidFill>
                <a:latin typeface="Lucida Console" panose="020B0609040504020204" pitchFamily="49" charset="0"/>
              </a:rPr>
              <a:t>bj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  <a:r>
              <a:rPr lang="en-US" altLang="zh-TW" sz="2398" spc="-45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8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50" dirty="0">
                <a:solidFill>
                  <a:srgbClr val="FF6969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398" spc="-150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CPython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0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es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15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ob</a:t>
            </a:r>
            <a:r>
              <a:rPr lang="en-US" altLang="zh-TW" sz="2398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ec</a:t>
            </a:r>
            <a:r>
              <a:rPr lang="en-US" altLang="zh-TW" sz="2398" spc="-450" dirty="0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5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mem</a:t>
            </a:r>
            <a:r>
              <a:rPr lang="en-US" altLang="zh-TW" sz="2398" spc="-350" dirty="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ry</a:t>
            </a:r>
            <a:r>
              <a:rPr lang="en-US" altLang="zh-TW" sz="13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ad</a:t>
            </a:r>
            <a:r>
              <a:rPr lang="en-US" altLang="zh-TW" sz="2398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re</a:t>
            </a:r>
            <a:r>
              <a:rPr lang="en-US" altLang="zh-TW" sz="2398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5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649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2398" spc="-350" dirty="0">
                <a:solidFill>
                  <a:srgbClr val="FF6969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id(f)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7696580488728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hex(id(f))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'0x6fffff22e18'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f,hex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(id(f)))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&lt;function f at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0x6fffff22e18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&gt;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0x6fffff22e18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2" name="Rectangle 1"/>
          <p:cNvSpPr/>
          <p:nvPr/>
        </p:nvSpPr>
        <p:spPr>
          <a:xfrm>
            <a:off x="1" y="2796"/>
            <a:ext cx="9729788" cy="670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7" name="Rectangle 16"/>
          <p:cNvSpPr/>
          <p:nvPr/>
        </p:nvSpPr>
        <p:spPr>
          <a:xfrm>
            <a:off x="996715" y="3754317"/>
            <a:ext cx="3613089" cy="3460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8" name="Rectangle 17"/>
          <p:cNvSpPr/>
          <p:nvPr/>
        </p:nvSpPr>
        <p:spPr>
          <a:xfrm>
            <a:off x="303519" y="3384682"/>
            <a:ext cx="3119278" cy="7270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9" name="Rectangle 18"/>
          <p:cNvSpPr/>
          <p:nvPr/>
        </p:nvSpPr>
        <p:spPr>
          <a:xfrm>
            <a:off x="930805" y="3082920"/>
            <a:ext cx="3613089" cy="3460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2" name="Rectangle 1"/>
          <p:cNvSpPr txBox="1">
            <a:spLocks noChangeArrowheads="1"/>
          </p:cNvSpPr>
          <p:nvPr/>
        </p:nvSpPr>
        <p:spPr>
          <a:xfrm>
            <a:off x="946" y="2796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" y="2794"/>
            <a:ext cx="9729788" cy="669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4281690" y="837002"/>
            <a:ext cx="1943644" cy="451152"/>
          </a:xfrm>
          <a:prstGeom prst="wedgeRoundRectCallout">
            <a:avLst>
              <a:gd name="adj1" fmla="val 4817"/>
              <a:gd name="adj2" fmla="val 601122"/>
              <a:gd name="adj3" fmla="val 16667"/>
            </a:avLst>
          </a:prstGeom>
          <a:solidFill>
            <a:srgbClr val="FFC000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2958" b="1" kern="0" spc="-20" dirty="0">
                <a:solidFill>
                  <a:srgbClr val="FF0000"/>
                </a:solidFill>
                <a:ea typeface="MS PGothic" pitchFamily="34" charset="-128"/>
              </a:rPr>
              <a:t>a</a:t>
            </a:r>
            <a:r>
              <a:rPr lang="en-US" altLang="zh-TW" sz="2898" b="1" kern="0" spc="-20" dirty="0">
                <a:solidFill>
                  <a:srgbClr val="FF0000"/>
                </a:solidFill>
                <a:ea typeface="MS PGothic" pitchFamily="34" charset="-128"/>
              </a:rPr>
              <a:t> </a:t>
            </a:r>
            <a:r>
              <a:rPr lang="en-US" altLang="zh-TW" sz="2958" b="1" kern="0" spc="-20" dirty="0">
                <a:solidFill>
                  <a:srgbClr val="FF0000"/>
                </a:solidFill>
                <a:ea typeface="MS PGothic" pitchFamily="34" charset="-128"/>
              </a:rPr>
              <a:t>unique</a:t>
            </a:r>
            <a:r>
              <a:rPr lang="en-US" altLang="zh-TW" sz="2898" b="1" kern="0" spc="-20" dirty="0">
                <a:solidFill>
                  <a:srgbClr val="FF0000"/>
                </a:solidFill>
                <a:ea typeface="MS PGothic" pitchFamily="34" charset="-128"/>
              </a:rPr>
              <a:t> </a:t>
            </a:r>
            <a:r>
              <a:rPr lang="en-US" altLang="zh-TW" sz="2958" b="1" kern="0" spc="-20" dirty="0">
                <a:solidFill>
                  <a:srgbClr val="FF0000"/>
                </a:solidFill>
                <a:ea typeface="MS PGothic" pitchFamily="34" charset="-128"/>
              </a:rPr>
              <a:t>#</a:t>
            </a:r>
            <a:endParaRPr lang="pt-BR" altLang="zh-TW" sz="2958" b="1" kern="0" spc="-20" dirty="0">
              <a:solidFill>
                <a:srgbClr val="FF0000"/>
              </a:solidFill>
              <a:latin typeface="Lucida Console" panose="020B0609040504020204" pitchFamily="49" charset="0"/>
              <a:ea typeface="MS PGothic" pitchFamily="34" charset="-128"/>
            </a:endParaRPr>
          </a:p>
        </p:txBody>
      </p:sp>
      <p:sp>
        <p:nvSpPr>
          <p:cNvPr id="12" name="Rectangle 1"/>
          <p:cNvSpPr txBox="1">
            <a:spLocks noChangeArrowheads="1"/>
          </p:cNvSpPr>
          <p:nvPr/>
        </p:nvSpPr>
        <p:spPr>
          <a:xfrm>
            <a:off x="946" y="2797"/>
            <a:ext cx="9727896" cy="933957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What is the number for an object?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900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4848E-6 -1.11111E-6 L -0.00033 -0.3041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" y="-15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xit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" grpId="0" animBg="1"/>
      <p:bldP spid="17" grpId="0" animBg="1"/>
      <p:bldP spid="18" grpId="0" animBg="1"/>
      <p:bldP spid="19" grpId="0" animBg="1"/>
      <p:bldP spid="22" grpId="0"/>
      <p:bldP spid="24" grpId="0" animBg="1"/>
      <p:bldP spid="16" grpId="0" animBg="1"/>
      <p:bldP spid="1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print(</a:t>
            </a:r>
            <a:r>
              <a:rPr lang="en-US" altLang="zh-TW" sz="2398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id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.__doc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__)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#Each</a:t>
            </a:r>
            <a:r>
              <a:rPr lang="en-US" altLang="zh-TW" sz="17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object’s</a:t>
            </a:r>
            <a:r>
              <a:rPr lang="en-US" altLang="zh-TW" sz="2398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id is</a:t>
            </a:r>
            <a:r>
              <a:rPr lang="en-US" altLang="zh-TW" sz="17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unique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C00000"/>
                </a:solidFill>
                <a:latin typeface="Lucida Console" panose="020B0609040504020204" pitchFamily="49" charset="0"/>
              </a:rPr>
              <a:t>Return the identity of an object.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1799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Th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s guaranteed to be </a:t>
            </a:r>
            <a:r>
              <a:rPr lang="en-US" altLang="zh-TW" sz="2398" b="1" spc="-50" dirty="0">
                <a:solidFill>
                  <a:srgbClr val="FFC000"/>
                </a:solidFill>
                <a:latin typeface="Lucida Console" panose="020B0609040504020204" pitchFamily="49" charset="0"/>
              </a:rPr>
              <a:t>unique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 among sim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ul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taneou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sl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y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ex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st</a:t>
            </a:r>
            <a:r>
              <a:rPr lang="en-US" altLang="zh-TW" sz="2398" spc="-25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ng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398" spc="-250" dirty="0">
                <a:solidFill>
                  <a:srgbClr val="FF6969"/>
                </a:solidFill>
                <a:latin typeface="Lucida Console" panose="020B0609040504020204" pitchFamily="49" charset="0"/>
              </a:rPr>
              <a:t>bj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  <a:r>
              <a:rPr lang="en-US" altLang="zh-TW" sz="2398" spc="-45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8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50" dirty="0">
                <a:solidFill>
                  <a:srgbClr val="FF6969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398" spc="-150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CPython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0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es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15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ob</a:t>
            </a:r>
            <a:r>
              <a:rPr lang="en-US" altLang="zh-TW" sz="2398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ec</a:t>
            </a:r>
            <a:r>
              <a:rPr lang="en-US" altLang="zh-TW" sz="2398" spc="-450" dirty="0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5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mem</a:t>
            </a:r>
            <a:r>
              <a:rPr lang="en-US" altLang="zh-TW" sz="2398" spc="-350" dirty="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ry</a:t>
            </a:r>
            <a:r>
              <a:rPr lang="en-US" altLang="zh-TW" sz="13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ad</a:t>
            </a:r>
            <a:r>
              <a:rPr lang="en-US" altLang="zh-TW" sz="2398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re</a:t>
            </a:r>
            <a:r>
              <a:rPr lang="en-US" altLang="zh-TW" sz="2398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5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649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2398" spc="-350" dirty="0">
                <a:solidFill>
                  <a:srgbClr val="FF6969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id(f)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7696580488728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398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.__doc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__)</a:t>
            </a:r>
            <a:r>
              <a:rPr lang="en-US" altLang="zh-TW" sz="1998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#A</a:t>
            </a:r>
            <a:r>
              <a:rPr lang="en-US" altLang="zh-TW" sz="13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valu</a:t>
            </a:r>
            <a:r>
              <a:rPr lang="en-US" altLang="zh-TW" sz="2398" i="1" spc="-400" dirty="0">
                <a:solidFill>
                  <a:srgbClr val="FFC000"/>
                </a:solidFill>
                <a:latin typeface="Lucida Console" panose="020B0609040504020204" pitchFamily="49" charset="0"/>
              </a:rPr>
              <a:t>e’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11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398" i="1" spc="-400" dirty="0">
                <a:solidFill>
                  <a:srgbClr val="FFC000"/>
                </a:solidFill>
                <a:latin typeface="Lucida Console" panose="020B0609040504020204" pitchFamily="49" charset="0"/>
              </a:rPr>
              <a:t>n’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1998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unique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C00000"/>
                </a:solidFill>
                <a:latin typeface="Lucida Console" panose="020B0609040504020204" pitchFamily="49" charset="0"/>
              </a:rPr>
              <a:t>Return the hash value for the given object.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599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Two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objects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that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compare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equal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must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also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have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same</a:t>
            </a:r>
            <a:b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</a:b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hash value, but the reverse is </a:t>
            </a:r>
            <a:r>
              <a:rPr lang="en-US" altLang="zh-TW" sz="2398" b="1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not necessarily </a:t>
            </a:r>
            <a:r>
              <a:rPr lang="en-US" altLang="zh-TW" sz="2398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hash(f)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-9223371555818495263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hash(0)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 The hash of small #s is just that 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hash("")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 Unlike id(), the hash isn't unique: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0==""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6537" y="4564449"/>
            <a:ext cx="865651" cy="2280458"/>
          </a:xfrm>
          <a:prstGeom prst="rect">
            <a:avLst/>
          </a:prstGeom>
          <a:noFill/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398" spc="-100" dirty="0">
              <a:solidFill>
                <a:srgbClr val="404040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901360" y="5438005"/>
            <a:ext cx="2514914" cy="1376558"/>
          </a:xfrm>
          <a:prstGeom prst="wedgeRoundRectCallout">
            <a:avLst>
              <a:gd name="adj1" fmla="val -23291"/>
              <a:gd name="adj2" fmla="val -126692"/>
              <a:gd name="adj3" fmla="val 16667"/>
            </a:avLst>
          </a:prstGeom>
          <a:solidFill>
            <a:srgbClr val="000066"/>
          </a:solidFill>
          <a:ln w="38100" cap="flat" cmpd="sng" algn="ctr">
            <a:solidFill>
              <a:srgbClr val="FF696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80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2961" kern="0" dirty="0">
                <a:solidFill>
                  <a:srgbClr val="FFC000"/>
                </a:solidFill>
                <a:ea typeface="MS PGothic" pitchFamily="34" charset="-128"/>
              </a:rPr>
              <a:t>This sentence is not well written…</a:t>
            </a:r>
            <a:endParaRPr lang="pt-BR" altLang="zh-TW" sz="2590" b="1" kern="0" spc="-93" dirty="0">
              <a:solidFill>
                <a:srgbClr val="FFC000"/>
              </a:solidFill>
              <a:latin typeface="Lucida Console" panose="020B0609040504020204" pitchFamily="49" charset="0"/>
              <a:ea typeface="MS PGothic" pitchFamily="34" charset="-128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3413380" y="5446269"/>
            <a:ext cx="6061923" cy="1377681"/>
          </a:xfrm>
          <a:prstGeom prst="wedgeRoundRectCallout">
            <a:avLst>
              <a:gd name="adj1" fmla="val -50026"/>
              <a:gd name="adj2" fmla="val -20916"/>
              <a:gd name="adj3" fmla="val 16667"/>
            </a:avLst>
          </a:prstGeom>
          <a:solidFill>
            <a:srgbClr val="000066"/>
          </a:solidFill>
          <a:ln w="38100" cap="flat" cmpd="sng" algn="ctr">
            <a:solidFill>
              <a:srgbClr val="FF696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6541" eaLnBrk="0" fontAlgn="base" hangingPunct="0">
              <a:lnSpc>
                <a:spcPct val="80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2963" kern="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A better-written version: </a:t>
            </a:r>
            <a:r>
              <a:rPr lang="en-US" altLang="zh-TW" sz="2963" kern="0" dirty="0">
                <a:solidFill>
                  <a:srgbClr val="FFC000"/>
                </a:solidFill>
                <a:ea typeface="MS PGothic" pitchFamily="34" charset="-128"/>
                <a:cs typeface="Arial" panose="020B0604020202020204" pitchFamily="34" charset="0"/>
              </a:rPr>
              <a:t>“</a:t>
            </a:r>
            <a:r>
              <a:rPr lang="en-US" altLang="zh-TW" sz="2963" kern="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A specific value always hashes the same, but 2 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differ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ent</a:t>
            </a:r>
            <a:r>
              <a:rPr lang="en-US" altLang="zh-TW" sz="2800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valu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es</a:t>
            </a:r>
            <a:r>
              <a:rPr lang="en-US" altLang="zh-TW" sz="2800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c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an</a:t>
            </a:r>
            <a:r>
              <a:rPr lang="en-US" altLang="zh-TW" sz="2800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g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et t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he</a:t>
            </a:r>
            <a:r>
              <a:rPr lang="en-US" altLang="zh-TW" sz="2800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sam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e</a:t>
            </a:r>
            <a:r>
              <a:rPr lang="en-US" altLang="zh-TW" sz="2800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4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has</a:t>
            </a:r>
            <a:r>
              <a:rPr lang="en-US" altLang="zh-TW" sz="2963" kern="0" spc="-20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h.</a:t>
            </a:r>
            <a:r>
              <a:rPr lang="en-US" altLang="zh-TW" sz="2800" kern="0" dirty="0">
                <a:solidFill>
                  <a:srgbClr val="FFC000"/>
                </a:solidFill>
                <a:ea typeface="MS PGothic" pitchFamily="34" charset="-128"/>
                <a:cs typeface="Arial" panose="020B0604020202020204" pitchFamily="34" charset="0"/>
              </a:rPr>
              <a:t>”</a:t>
            </a:r>
            <a:endParaRPr lang="pt-BR" altLang="zh-TW" sz="2592" b="1" kern="0" spc="-20" dirty="0">
              <a:solidFill>
                <a:srgbClr val="FFC000"/>
              </a:solidFill>
              <a:ea typeface="MS PGothic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14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C00000"/>
                </a:solidFill>
                <a:latin typeface="Lucida Console" panose="020B0609040504020204" pitchFamily="49" charset="0"/>
              </a:rPr>
              <a:t>Return the identity of an object.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1799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Th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s guaranteed to be </a:t>
            </a:r>
            <a:r>
              <a:rPr lang="en-US" altLang="zh-TW" sz="2398" b="1" spc="-50" dirty="0">
                <a:solidFill>
                  <a:srgbClr val="FFC000"/>
                </a:solidFill>
                <a:latin typeface="Lucida Console" panose="020B0609040504020204" pitchFamily="49" charset="0"/>
              </a:rPr>
              <a:t>unique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 among sim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ul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taneou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sl</a:t>
            </a:r>
            <a:r>
              <a:rPr lang="en-US" altLang="zh-TW" sz="2398" spc="-50" dirty="0">
                <a:solidFill>
                  <a:srgbClr val="FF6969"/>
                </a:solidFill>
                <a:latin typeface="Lucida Console" panose="020B0609040504020204" pitchFamily="49" charset="0"/>
              </a:rPr>
              <a:t>y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ex</a:t>
            </a:r>
            <a:r>
              <a:rPr lang="en-US" altLang="zh-TW" sz="2398" spc="-30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st</a:t>
            </a:r>
            <a:r>
              <a:rPr lang="en-US" altLang="zh-TW" sz="2398" spc="-25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ng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398" spc="-250" dirty="0">
                <a:solidFill>
                  <a:srgbClr val="FF6969"/>
                </a:solidFill>
                <a:latin typeface="Lucida Console" panose="020B0609040504020204" pitchFamily="49" charset="0"/>
              </a:rPr>
              <a:t>bj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  <a:r>
              <a:rPr lang="en-US" altLang="zh-TW" sz="2398" spc="-45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8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50" dirty="0">
                <a:solidFill>
                  <a:srgbClr val="FF6969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398" spc="-150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CPython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0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es</a:t>
            </a:r>
            <a:r>
              <a:rPr lang="en-US" altLang="zh-TW" sz="1599" spc="-15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15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ob</a:t>
            </a:r>
            <a:r>
              <a:rPr lang="en-US" altLang="zh-TW" sz="2398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ec</a:t>
            </a:r>
            <a:r>
              <a:rPr lang="en-US" altLang="zh-TW" sz="2398" spc="-450" dirty="0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5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mem</a:t>
            </a:r>
            <a:r>
              <a:rPr lang="en-US" altLang="zh-TW" sz="2398" spc="-350" dirty="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ry</a:t>
            </a:r>
            <a:r>
              <a:rPr lang="en-US" altLang="zh-TW" sz="1399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ad</a:t>
            </a:r>
            <a:r>
              <a:rPr lang="en-US" altLang="zh-TW" sz="2398" spc="-250" dirty="0">
                <a:solidFill>
                  <a:srgbClr val="FF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398" spc="-150" dirty="0">
                <a:solidFill>
                  <a:srgbClr val="FF0000"/>
                </a:solidFill>
                <a:latin typeface="Lucida Console" panose="020B0609040504020204" pitchFamily="49" charset="0"/>
              </a:rPr>
              <a:t>re</a:t>
            </a:r>
            <a:r>
              <a:rPr lang="en-US" altLang="zh-TW" sz="2398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5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649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2398" spc="-350" dirty="0">
                <a:solidFill>
                  <a:srgbClr val="FF6969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id(f)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7696580488728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398" b="1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.__doc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__)</a:t>
            </a:r>
            <a:r>
              <a:rPr lang="en-US" altLang="zh-TW" sz="1998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#A</a:t>
            </a:r>
            <a:r>
              <a:rPr lang="en-US" altLang="zh-TW" sz="13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valu</a:t>
            </a:r>
            <a:r>
              <a:rPr lang="en-US" altLang="zh-TW" sz="2398" i="1" spc="-400" dirty="0">
                <a:solidFill>
                  <a:srgbClr val="FFC000"/>
                </a:solidFill>
                <a:latin typeface="Lucida Console" panose="020B0609040504020204" pitchFamily="49" charset="0"/>
              </a:rPr>
              <a:t>e’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11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398" i="1" spc="-400" dirty="0">
                <a:solidFill>
                  <a:srgbClr val="FFC000"/>
                </a:solidFill>
                <a:latin typeface="Lucida Console" panose="020B0609040504020204" pitchFamily="49" charset="0"/>
              </a:rPr>
              <a:t>n’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1998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 dirty="0">
                <a:solidFill>
                  <a:srgbClr val="FFC000"/>
                </a:solidFill>
                <a:latin typeface="Lucida Console" panose="020B0609040504020204" pitchFamily="49" charset="0"/>
              </a:rPr>
              <a:t>unique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C00000"/>
                </a:solidFill>
                <a:latin typeface="Lucida Console" panose="020B0609040504020204" pitchFamily="49" charset="0"/>
              </a:rPr>
              <a:t>Return the hash value for the given object.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599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Two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objects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that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compare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equal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must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also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have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1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same</a:t>
            </a:r>
            <a:b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</a:b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hash value, but the reverse is </a:t>
            </a:r>
            <a:r>
              <a:rPr lang="en-US" altLang="zh-TW" sz="2398" b="1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not necessarily </a:t>
            </a:r>
            <a:r>
              <a:rPr lang="en-US" altLang="zh-TW" sz="2398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TW" sz="2398" spc="-100" dirty="0">
                <a:solidFill>
                  <a:srgbClr val="FF6969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hash(f)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-9223371555818495263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hash(0)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 The hash of small #s is just that 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hash("")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 Unlike id(), the hash isn't unique: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0==""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False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2796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3413380" y="5534200"/>
            <a:ext cx="6061923" cy="1279220"/>
          </a:xfrm>
          <a:prstGeom prst="wedgeRoundRectCallout">
            <a:avLst>
              <a:gd name="adj1" fmla="val -50026"/>
              <a:gd name="adj2" fmla="val -20916"/>
              <a:gd name="adj3" fmla="val 16667"/>
            </a:avLst>
          </a:prstGeom>
          <a:solidFill>
            <a:srgbClr val="000066"/>
          </a:solidFill>
          <a:ln w="38100" cap="flat" cmpd="sng" algn="ctr">
            <a:solidFill>
              <a:srgbClr val="FF696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6541" eaLnBrk="0" fontAlgn="base" hangingPunct="0">
              <a:lnSpc>
                <a:spcPct val="80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2963" kern="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A better-written version: </a:t>
            </a:r>
            <a:r>
              <a:rPr lang="en-US" altLang="zh-TW" sz="2963" kern="0" dirty="0">
                <a:solidFill>
                  <a:srgbClr val="FFC000"/>
                </a:solidFill>
                <a:ea typeface="MS PGothic" pitchFamily="34" charset="-128"/>
                <a:cs typeface="Arial" panose="020B0604020202020204" pitchFamily="34" charset="0"/>
              </a:rPr>
              <a:t>“</a:t>
            </a:r>
            <a:r>
              <a:rPr lang="en-US" altLang="zh-TW" sz="2963" kern="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A specific value always hashes the same, but 2 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differ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ent</a:t>
            </a:r>
            <a:r>
              <a:rPr lang="en-US" altLang="zh-TW" sz="2800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valu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es</a:t>
            </a:r>
            <a:r>
              <a:rPr lang="en-US" altLang="zh-TW" sz="2800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c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an</a:t>
            </a:r>
            <a:r>
              <a:rPr lang="en-US" altLang="zh-TW" sz="2800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g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et t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he</a:t>
            </a:r>
            <a:r>
              <a:rPr lang="en-US" altLang="zh-TW" sz="2800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sam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e</a:t>
            </a:r>
            <a:r>
              <a:rPr lang="en-US" altLang="zh-TW" sz="2800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4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has</a:t>
            </a:r>
            <a:r>
              <a:rPr lang="en-US" altLang="zh-TW" sz="2963" kern="0" spc="-20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h.</a:t>
            </a:r>
            <a:r>
              <a:rPr lang="en-US" altLang="zh-TW" sz="2800" kern="0" dirty="0">
                <a:solidFill>
                  <a:srgbClr val="FFC000"/>
                </a:solidFill>
                <a:ea typeface="MS PGothic" pitchFamily="34" charset="-128"/>
                <a:cs typeface="Arial" panose="020B0604020202020204" pitchFamily="34" charset="0"/>
              </a:rPr>
              <a:t>”</a:t>
            </a:r>
            <a:endParaRPr lang="pt-BR" altLang="zh-TW" sz="2592" b="1" kern="0" spc="-20" dirty="0">
              <a:solidFill>
                <a:srgbClr val="FFC000"/>
              </a:solidFill>
              <a:ea typeface="MS PGothic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40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1799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 spc="-50">
                <a:solidFill>
                  <a:srgbClr val="FF6969"/>
                </a:solidFill>
                <a:latin typeface="Lucida Console" panose="020B0609040504020204" pitchFamily="49" charset="0"/>
              </a:rPr>
              <a:t>Th</a:t>
            </a:r>
            <a:r>
              <a:rPr lang="en-US" altLang="zh-TW" sz="2398" spc="-30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5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5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30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50">
                <a:solidFill>
                  <a:srgbClr val="FF6969"/>
                </a:solidFill>
                <a:latin typeface="Lucida Console" panose="020B0609040504020204" pitchFamily="49" charset="0"/>
              </a:rPr>
              <a:t>s guaranteed to be </a:t>
            </a:r>
            <a:r>
              <a:rPr lang="en-US" altLang="zh-TW" sz="2398" b="1" spc="-50">
                <a:solidFill>
                  <a:srgbClr val="FFC000"/>
                </a:solidFill>
                <a:latin typeface="Lucida Console" panose="020B0609040504020204" pitchFamily="49" charset="0"/>
              </a:rPr>
              <a:t>unique</a:t>
            </a:r>
            <a:r>
              <a:rPr lang="en-US" altLang="zh-TW" sz="2398" spc="-50">
                <a:solidFill>
                  <a:srgbClr val="FF6969"/>
                </a:solidFill>
                <a:latin typeface="Lucida Console" panose="020B0609040504020204" pitchFamily="49" charset="0"/>
              </a:rPr>
              <a:t> among sim</a:t>
            </a: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ul</a:t>
            </a:r>
            <a:r>
              <a:rPr lang="en-US" altLang="zh-TW" sz="2398" spc="-50">
                <a:solidFill>
                  <a:srgbClr val="FF6969"/>
                </a:solidFill>
                <a:latin typeface="Lucida Console" panose="020B0609040504020204" pitchFamily="49" charset="0"/>
              </a:rPr>
              <a:t>taneou</a:t>
            </a:r>
            <a:r>
              <a:rPr lang="en-US" altLang="zh-TW" sz="2398" spc="-150">
                <a:solidFill>
                  <a:srgbClr val="FF6969"/>
                </a:solidFill>
                <a:latin typeface="Lucida Console" panose="020B0609040504020204" pitchFamily="49" charset="0"/>
              </a:rPr>
              <a:t>sl</a:t>
            </a:r>
            <a:r>
              <a:rPr lang="en-US" altLang="zh-TW" sz="2398" spc="-50">
                <a:solidFill>
                  <a:srgbClr val="FF6969"/>
                </a:solidFill>
                <a:latin typeface="Lucida Console" panose="020B0609040504020204" pitchFamily="49" charset="0"/>
              </a:rPr>
              <a:t>y </a:t>
            </a:r>
            <a:r>
              <a:rPr lang="en-US" altLang="zh-TW" sz="2398" spc="-150">
                <a:solidFill>
                  <a:srgbClr val="FF6969"/>
                </a:solidFill>
                <a:latin typeface="Lucida Console" panose="020B0609040504020204" pitchFamily="49" charset="0"/>
              </a:rPr>
              <a:t>ex</a:t>
            </a:r>
            <a:r>
              <a:rPr lang="en-US" altLang="zh-TW" sz="2398" spc="-30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150">
                <a:solidFill>
                  <a:srgbClr val="FF6969"/>
                </a:solidFill>
                <a:latin typeface="Lucida Console" panose="020B0609040504020204" pitchFamily="49" charset="0"/>
              </a:rPr>
              <a:t>st</a:t>
            </a:r>
            <a:r>
              <a:rPr lang="en-US" altLang="zh-TW" sz="2398" spc="-25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150">
                <a:solidFill>
                  <a:srgbClr val="FF6969"/>
                </a:solidFill>
                <a:latin typeface="Lucida Console" panose="020B0609040504020204" pitchFamily="49" charset="0"/>
              </a:rPr>
              <a:t>ng</a:t>
            </a:r>
            <a:r>
              <a:rPr lang="en-US" altLang="zh-TW" sz="1599" spc="-15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>
                <a:solidFill>
                  <a:srgbClr val="FF6969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398" spc="-250">
                <a:solidFill>
                  <a:srgbClr val="FF6969"/>
                </a:solidFill>
                <a:latin typeface="Lucida Console" panose="020B0609040504020204" pitchFamily="49" charset="0"/>
              </a:rPr>
              <a:t>bj</a:t>
            </a:r>
            <a:r>
              <a:rPr lang="en-US" altLang="zh-TW" sz="2398" spc="-150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  <a:r>
              <a:rPr lang="en-US" altLang="zh-TW" sz="2398" spc="-45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150">
                <a:solidFill>
                  <a:srgbClr val="FF6969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899" spc="-15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50">
                <a:solidFill>
                  <a:srgbClr val="FF6969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398" spc="-150">
                <a:solidFill>
                  <a:srgbClr val="FF6969"/>
                </a:solidFill>
                <a:latin typeface="Lucida Console" panose="020B0609040504020204" pitchFamily="49" charset="0"/>
              </a:rPr>
              <a:t>CPython</a:t>
            </a:r>
            <a:r>
              <a:rPr lang="en-US" altLang="zh-TW" sz="1599" spc="-15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0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150">
                <a:solidFill>
                  <a:srgbClr val="FF6969"/>
                </a:solidFill>
                <a:latin typeface="Lucida Console" panose="020B0609040504020204" pitchFamily="49" charset="0"/>
              </a:rPr>
              <a:t>es</a:t>
            </a:r>
            <a:r>
              <a:rPr lang="en-US" altLang="zh-TW" sz="1599" spc="-15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1599" spc="-15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>
                <a:solidFill>
                  <a:srgbClr val="FF0000"/>
                </a:solidFill>
                <a:latin typeface="Lucida Console" panose="020B0609040504020204" pitchFamily="49" charset="0"/>
              </a:rPr>
              <a:t>ob</a:t>
            </a:r>
            <a:r>
              <a:rPr lang="en-US" altLang="zh-TW" sz="2398" spc="-250">
                <a:solidFill>
                  <a:srgbClr val="FF0000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sz="2398" spc="-150">
                <a:solidFill>
                  <a:srgbClr val="FF0000"/>
                </a:solidFill>
                <a:latin typeface="Lucida Console" panose="020B0609040504020204" pitchFamily="49" charset="0"/>
              </a:rPr>
              <a:t>ec</a:t>
            </a:r>
            <a:r>
              <a:rPr lang="en-US" altLang="zh-TW" sz="2398" spc="-450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spc="-50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398" spc="-15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599" spc="-15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>
                <a:solidFill>
                  <a:srgbClr val="FF0000"/>
                </a:solidFill>
                <a:latin typeface="Lucida Console" panose="020B0609040504020204" pitchFamily="49" charset="0"/>
              </a:rPr>
              <a:t>mem</a:t>
            </a:r>
            <a:r>
              <a:rPr lang="en-US" altLang="zh-TW" sz="2398" spc="-35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398" spc="-150">
                <a:solidFill>
                  <a:srgbClr val="FF0000"/>
                </a:solidFill>
                <a:latin typeface="Lucida Console" panose="020B0609040504020204" pitchFamily="49" charset="0"/>
              </a:rPr>
              <a:t>ry</a:t>
            </a:r>
            <a:r>
              <a:rPr lang="en-US" altLang="zh-TW" sz="1399" spc="-15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50">
                <a:solidFill>
                  <a:srgbClr val="FF0000"/>
                </a:solidFill>
                <a:latin typeface="Lucida Console" panose="020B0609040504020204" pitchFamily="49" charset="0"/>
              </a:rPr>
              <a:t>ad</a:t>
            </a:r>
            <a:r>
              <a:rPr lang="en-US" altLang="zh-TW" sz="2398" spc="-250">
                <a:solidFill>
                  <a:srgbClr val="FF0000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398" spc="-150">
                <a:solidFill>
                  <a:srgbClr val="FF0000"/>
                </a:solidFill>
                <a:latin typeface="Lucida Console" panose="020B0609040504020204" pitchFamily="49" charset="0"/>
              </a:rPr>
              <a:t>re</a:t>
            </a:r>
            <a:r>
              <a:rPr lang="en-US" altLang="zh-TW" sz="2398" spc="-20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5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649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r>
              <a:rPr lang="en-US" altLang="zh-TW" sz="2398" spc="-350">
                <a:solidFill>
                  <a:srgbClr val="FF6969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id(f)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00B0F0"/>
                </a:solidFill>
                <a:latin typeface="Lucida Console" panose="020B0609040504020204" pitchFamily="49" charset="0"/>
              </a:rPr>
              <a:t>7696580488728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398" b="1">
                <a:solidFill>
                  <a:srgbClr val="FFFF00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.__doc__)</a:t>
            </a:r>
            <a:r>
              <a:rPr lang="en-US" altLang="zh-TW" sz="1998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#A</a:t>
            </a:r>
            <a:r>
              <a:rPr lang="en-US" altLang="zh-TW" sz="1399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>
                <a:solidFill>
                  <a:srgbClr val="FFC000"/>
                </a:solidFill>
                <a:latin typeface="Lucida Console" panose="020B0609040504020204" pitchFamily="49" charset="0"/>
              </a:rPr>
              <a:t>valu</a:t>
            </a:r>
            <a:r>
              <a:rPr lang="en-US" altLang="zh-TW" sz="2398" i="1" spc="-400">
                <a:solidFill>
                  <a:srgbClr val="FFC000"/>
                </a:solidFill>
                <a:latin typeface="Lucida Console" panose="020B0609040504020204" pitchFamily="49" charset="0"/>
              </a:rPr>
              <a:t>e’</a:t>
            </a:r>
            <a:r>
              <a:rPr lang="en-US" altLang="zh-TW" sz="2398" i="1">
                <a:solidFill>
                  <a:srgbClr val="FFC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1199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>
                <a:solidFill>
                  <a:srgbClr val="FFC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zh-TW" sz="2398" i="1" spc="-400">
                <a:solidFill>
                  <a:srgbClr val="FFC000"/>
                </a:solidFill>
                <a:latin typeface="Lucida Console" panose="020B0609040504020204" pitchFamily="49" charset="0"/>
              </a:rPr>
              <a:t>n’</a:t>
            </a:r>
            <a:r>
              <a:rPr lang="en-US" altLang="zh-TW" sz="2398" i="1">
                <a:solidFill>
                  <a:srgbClr val="FFC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1998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i="1">
                <a:solidFill>
                  <a:srgbClr val="FFC000"/>
                </a:solidFill>
                <a:latin typeface="Lucida Console" panose="020B0609040504020204" pitchFamily="49" charset="0"/>
              </a:rPr>
              <a:t>unique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>
                <a:solidFill>
                  <a:srgbClr val="C00000"/>
                </a:solidFill>
                <a:latin typeface="Lucida Console" panose="020B0609040504020204" pitchFamily="49" charset="0"/>
              </a:rPr>
              <a:t>Return the hash value for the given object.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599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Two</a:t>
            </a:r>
            <a:r>
              <a:rPr lang="en-US" altLang="zh-TW" sz="2198" spc="-10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objects</a:t>
            </a:r>
            <a:r>
              <a:rPr lang="en-US" altLang="zh-TW" sz="2198" spc="-10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that</a:t>
            </a:r>
            <a:r>
              <a:rPr lang="en-US" altLang="zh-TW" sz="2198" spc="-10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compare</a:t>
            </a:r>
            <a:r>
              <a:rPr lang="en-US" altLang="zh-TW" sz="2198" spc="-10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equal</a:t>
            </a:r>
            <a:r>
              <a:rPr lang="en-US" altLang="zh-TW" sz="2198" spc="-10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must</a:t>
            </a:r>
            <a:r>
              <a:rPr lang="en-US" altLang="zh-TW" sz="2198" spc="-10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also</a:t>
            </a:r>
            <a:r>
              <a:rPr lang="en-US" altLang="zh-TW" sz="2198" spc="-10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have</a:t>
            </a:r>
            <a:r>
              <a:rPr lang="en-US" altLang="zh-TW" sz="2198" spc="-10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the</a:t>
            </a:r>
            <a:r>
              <a:rPr lang="en-US" altLang="zh-TW" sz="2198" spc="-10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same</a:t>
            </a:r>
            <a:b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</a:b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hash value, but the reverse is </a:t>
            </a:r>
            <a:r>
              <a:rPr lang="en-US" altLang="zh-TW" sz="2398" b="1" spc="-100">
                <a:solidFill>
                  <a:srgbClr val="FFC000"/>
                </a:solidFill>
                <a:latin typeface="Lucida Console" panose="020B0609040504020204" pitchFamily="49" charset="0"/>
              </a:rPr>
              <a:t>not necessarily </a:t>
            </a:r>
            <a:r>
              <a:rPr lang="en-US" altLang="zh-TW" sz="2398" spc="-100">
                <a:solidFill>
                  <a:srgbClr val="FFC000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TW" sz="2398" spc="-100">
                <a:solidFill>
                  <a:srgbClr val="FF6969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hash(f)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-9223371555818495263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hash(0) 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# The hash of small #s is just that 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hash("")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# Unlike id(), the hash isn't unique: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0==""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3413380" y="5534200"/>
            <a:ext cx="6061923" cy="1279220"/>
          </a:xfrm>
          <a:prstGeom prst="wedgeRoundRectCallout">
            <a:avLst>
              <a:gd name="adj1" fmla="val -50026"/>
              <a:gd name="adj2" fmla="val -20916"/>
              <a:gd name="adj3" fmla="val 16667"/>
            </a:avLst>
          </a:prstGeom>
          <a:solidFill>
            <a:srgbClr val="000066"/>
          </a:solidFill>
          <a:ln w="38100" cap="flat" cmpd="sng" algn="ctr">
            <a:solidFill>
              <a:srgbClr val="FF696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6541" eaLnBrk="0" fontAlgn="base" hangingPunct="0">
              <a:lnSpc>
                <a:spcPct val="80000"/>
              </a:lnSpc>
              <a:spcAft>
                <a:spcPct val="0"/>
              </a:spcAft>
              <a:buClr>
                <a:srgbClr val="2D2DB9"/>
              </a:buClr>
            </a:pPr>
            <a:r>
              <a:rPr lang="en-US" altLang="zh-TW" sz="2963" kern="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A better-written version: </a:t>
            </a:r>
            <a:r>
              <a:rPr lang="en-US" altLang="zh-TW" sz="2963" kern="0" dirty="0">
                <a:solidFill>
                  <a:srgbClr val="FFC000"/>
                </a:solidFill>
                <a:ea typeface="MS PGothic" pitchFamily="34" charset="-128"/>
                <a:cs typeface="Arial" panose="020B0604020202020204" pitchFamily="34" charset="0"/>
              </a:rPr>
              <a:t>“</a:t>
            </a:r>
            <a:r>
              <a:rPr lang="en-US" altLang="zh-TW" sz="2963" kern="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A specific value always hashes the same, but 2 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differ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ent</a:t>
            </a:r>
            <a:r>
              <a:rPr lang="en-US" altLang="zh-TW" sz="2800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valu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es</a:t>
            </a:r>
            <a:r>
              <a:rPr lang="en-US" altLang="zh-TW" sz="2800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c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an</a:t>
            </a:r>
            <a:r>
              <a:rPr lang="en-US" altLang="zh-TW" sz="2800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g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et t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he</a:t>
            </a:r>
            <a:r>
              <a:rPr lang="en-US" altLang="zh-TW" sz="2800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3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sam</a:t>
            </a:r>
            <a:r>
              <a:rPr lang="en-US" altLang="zh-TW" sz="2963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e</a:t>
            </a:r>
            <a:r>
              <a:rPr lang="en-US" altLang="zh-TW" sz="2800" kern="0" spc="-2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 </a:t>
            </a:r>
            <a:r>
              <a:rPr lang="en-US" altLang="zh-TW" sz="2963" kern="0" spc="-4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has</a:t>
            </a:r>
            <a:r>
              <a:rPr lang="en-US" altLang="zh-TW" sz="2963" kern="0" spc="-200" dirty="0">
                <a:solidFill>
                  <a:srgbClr val="FFC000"/>
                </a:solidFill>
                <a:latin typeface="Calibri" panose="020F0502020204030204"/>
                <a:ea typeface="MS PGothic" pitchFamily="34" charset="-128"/>
              </a:rPr>
              <a:t>h.</a:t>
            </a:r>
            <a:r>
              <a:rPr lang="en-US" altLang="zh-TW" sz="2800" kern="0" dirty="0">
                <a:solidFill>
                  <a:srgbClr val="FFC000"/>
                </a:solidFill>
                <a:ea typeface="MS PGothic" pitchFamily="34" charset="-128"/>
                <a:cs typeface="Arial" panose="020B0604020202020204" pitchFamily="34" charset="0"/>
              </a:rPr>
              <a:t>”</a:t>
            </a:r>
            <a:endParaRPr lang="pt-BR" altLang="zh-TW" sz="2592" b="1" kern="0" spc="-20" dirty="0">
              <a:solidFill>
                <a:srgbClr val="FFC000"/>
              </a:solidFill>
              <a:ea typeface="MS PGothic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083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hash(0)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# The hash of small #s is just that #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hash("")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 Unlike id(), the hash isn't unique: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hash(())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hash(3527539)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x=3527539;</a:t>
            </a:r>
            <a:r>
              <a:rPr lang="en-US" altLang="zh-TW" sz="1998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hash(x)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5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1998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4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by</a:t>
            </a:r>
            <a:r>
              <a:rPr lang="en-US" altLang="zh-TW" sz="1998" spc="-8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 dirty="0">
                <a:solidFill>
                  <a:srgbClr val="FF6969"/>
                </a:solidFill>
                <a:latin typeface="Lucida Console" panose="020B0609040504020204" pitchFamily="49" charset="0"/>
              </a:rPr>
              <a:t>val</a:t>
            </a:r>
            <a:r>
              <a:rPr lang="en-US" altLang="zh-TW" sz="23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40" dirty="0">
                <a:solidFill>
                  <a:srgbClr val="FF6969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399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19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obj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hash((x,))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99595396316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hash((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))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hash([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])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hash({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})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 spc="-1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36539" y="669732"/>
            <a:ext cx="836014" cy="6185473"/>
          </a:xfrm>
          <a:prstGeom prst="rect">
            <a:avLst/>
          </a:prstGeom>
          <a:noFill/>
          <a:ln>
            <a:noFill/>
          </a:ln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398" spc="-100" dirty="0">
              <a:solidFill>
                <a:srgbClr val="40404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33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hash("")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# Unlike id(), the hash isn't unique: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hash(())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hash(3527539)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x=3527539;</a:t>
            </a:r>
            <a:r>
              <a:rPr lang="en-US" altLang="zh-TW" sz="1998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hash(x)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599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1998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4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by</a:t>
            </a:r>
            <a:r>
              <a:rPr lang="en-US" altLang="zh-TW" sz="1998" spc="-8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6969"/>
                </a:solidFill>
                <a:latin typeface="Lucida Console" panose="020B0609040504020204" pitchFamily="49" charset="0"/>
              </a:rPr>
              <a:t>val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40">
                <a:solidFill>
                  <a:srgbClr val="FF6969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399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obj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99595396316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hash((x,x))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hash([x,x])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hash({x,x})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  <a:endParaRPr lang="en-US" altLang="zh-TW" sz="2398" dirty="0">
              <a:solidFill>
                <a:srgbClr val="FF6969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87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hash("")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# Unlike id(), the hash isn't unique: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hash(())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hash(3527539)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x=3527539;</a:t>
            </a:r>
            <a:r>
              <a:rPr lang="en-US" altLang="zh-TW" sz="1998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hash(x)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599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1998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4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by</a:t>
            </a:r>
            <a:r>
              <a:rPr lang="en-US" altLang="zh-TW" sz="1998" spc="-8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6969"/>
                </a:solidFill>
                <a:latin typeface="Lucida Console" panose="020B0609040504020204" pitchFamily="49" charset="0"/>
              </a:rPr>
              <a:t>val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40">
                <a:solidFill>
                  <a:srgbClr val="FF6969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399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obj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99595396316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hash((x,x))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hash([x,x])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hash({x,x})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  <a:endParaRPr lang="en-US" altLang="zh-TW" sz="2398" dirty="0">
              <a:solidFill>
                <a:srgbClr val="FF6969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24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hash(())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hash(3527539)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x=3527539;</a:t>
            </a:r>
            <a:r>
              <a:rPr lang="en-US" altLang="zh-TW" sz="1998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hash(x)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599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1998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4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by</a:t>
            </a:r>
            <a:r>
              <a:rPr lang="en-US" altLang="zh-TW" sz="1998" spc="-8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6969"/>
                </a:solidFill>
                <a:latin typeface="Lucida Console" panose="020B0609040504020204" pitchFamily="49" charset="0"/>
              </a:rPr>
              <a:t>val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40">
                <a:solidFill>
                  <a:srgbClr val="FF6969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399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obj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99595396316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hash((x,x))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hash([x,x])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hash({x,x})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  <a:endParaRPr lang="en-US" altLang="zh-TW" sz="2398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0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hash(())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hash(3527539)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x=3527539;</a:t>
            </a:r>
            <a:r>
              <a:rPr lang="en-US" altLang="zh-TW" sz="1998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hash(x)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599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1998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40" dirty="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by</a:t>
            </a:r>
            <a:r>
              <a:rPr lang="en-US" altLang="zh-TW" sz="1998" spc="-8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 dirty="0">
                <a:solidFill>
                  <a:srgbClr val="FF6969"/>
                </a:solidFill>
                <a:latin typeface="Lucida Console" panose="020B0609040504020204" pitchFamily="49" charset="0"/>
              </a:rPr>
              <a:t>val</a:t>
            </a:r>
            <a:r>
              <a:rPr lang="en-US" altLang="zh-TW" sz="23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40" dirty="0">
                <a:solidFill>
                  <a:srgbClr val="FF6969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399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19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 dirty="0">
                <a:solidFill>
                  <a:srgbClr val="FF6969"/>
                </a:solidFill>
                <a:latin typeface="Lucida Console" panose="020B0609040504020204" pitchFamily="49" charset="0"/>
              </a:rPr>
              <a:t>obj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hash((x,))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99595396316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hash((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))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hash([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])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hash({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})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Z={x,(x,),(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)}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35797" y="6418410"/>
            <a:ext cx="741906" cy="46128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endParaRPr lang="en-US" sz="1998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73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hash(3527539)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x=3527539;</a:t>
            </a:r>
            <a:r>
              <a:rPr lang="en-US" altLang="zh-TW" sz="1998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hash(x)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599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1998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4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by</a:t>
            </a:r>
            <a:r>
              <a:rPr lang="en-US" altLang="zh-TW" sz="1998" spc="-8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6969"/>
                </a:solidFill>
                <a:latin typeface="Lucida Console" panose="020B0609040504020204" pitchFamily="49" charset="0"/>
              </a:rPr>
              <a:t>val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40">
                <a:solidFill>
                  <a:srgbClr val="FF6969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399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obj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99595396316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hash((x,x))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hash([x,x])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hash({x,x})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Z={x,(x,),(x,x)}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But sets can't be in sets: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35797" y="6418410"/>
            <a:ext cx="741906" cy="46128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endParaRPr lang="en-US" sz="1998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865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hash(3527539)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x=3527539;</a:t>
            </a:r>
            <a:r>
              <a:rPr lang="en-US" altLang="zh-TW" sz="1998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hash(x)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599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1998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4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by</a:t>
            </a:r>
            <a:r>
              <a:rPr lang="en-US" altLang="zh-TW" sz="1998" spc="-8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6969"/>
                </a:solidFill>
                <a:latin typeface="Lucida Console" panose="020B0609040504020204" pitchFamily="49" charset="0"/>
              </a:rPr>
              <a:t>val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40">
                <a:solidFill>
                  <a:srgbClr val="FF6969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399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obj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99595396316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hash((x,x))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hash([x,x])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hash({x,x})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Z={x,(x,),(x,x)}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But sets can't be in sets: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  <a:endParaRPr lang="en-US" altLang="zh-TW" sz="2398" dirty="0">
              <a:solidFill>
                <a:srgbClr val="FF6969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866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x=3527539;</a:t>
            </a:r>
            <a:r>
              <a:rPr lang="en-US" altLang="zh-TW" sz="1998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hash(x)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599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1998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4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by</a:t>
            </a:r>
            <a:r>
              <a:rPr lang="en-US" altLang="zh-TW" sz="1998" spc="-8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6969"/>
                </a:solidFill>
                <a:latin typeface="Lucida Console" panose="020B0609040504020204" pitchFamily="49" charset="0"/>
              </a:rPr>
              <a:t>val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40">
                <a:solidFill>
                  <a:srgbClr val="FF6969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399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obj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99595396316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hash((x,x))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hash([x,x])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hash({x,x})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Z={x,(x,),(x,x)}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But sets can't be in sets: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  <a:endParaRPr lang="en-US" altLang="zh-TW" sz="2398" dirty="0">
              <a:solidFill>
                <a:srgbClr val="FF6969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2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x=3527539;</a:t>
            </a:r>
            <a:r>
              <a:rPr lang="en-US" altLang="zh-TW" sz="1998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hash(x)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599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Hash</a:t>
            </a:r>
            <a:r>
              <a:rPr lang="en-US" altLang="zh-TW" sz="1998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40">
                <a:solidFill>
                  <a:srgbClr val="FF6969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by</a:t>
            </a:r>
            <a:r>
              <a:rPr lang="en-US" altLang="zh-TW" sz="1998" spc="-8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6969"/>
                </a:solidFill>
                <a:latin typeface="Lucida Console" panose="020B0609040504020204" pitchFamily="49" charset="0"/>
              </a:rPr>
              <a:t>val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u</a:t>
            </a:r>
            <a:r>
              <a:rPr lang="en-US" altLang="zh-TW" sz="2398" spc="-240">
                <a:solidFill>
                  <a:srgbClr val="FF6969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399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1998" spc="-40">
                <a:solidFill>
                  <a:srgbClr val="FF696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40">
                <a:solidFill>
                  <a:srgbClr val="FF6969"/>
                </a:solidFill>
                <a:latin typeface="Lucida Console" panose="020B0609040504020204" pitchFamily="49" charset="0"/>
              </a:rPr>
              <a:t>obj</a:t>
            </a: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ect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99595396316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hash((x,x))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hash([x,x])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hash({x,x})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Z={x,(x,),(x,x)}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But sets can't be in sets: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5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32159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3527539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hash((x,))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99595396316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hash((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))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hash([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])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hash({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})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Z={x,(x,),(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)}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Z={x,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,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 # But sets can't be in sets: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Z={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:[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]}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398" spc="-90" dirty="0">
                <a:solidFill>
                  <a:srgbClr val="FFFF99"/>
                </a:solidFill>
                <a:latin typeface="Lucida Console" panose="020B0609040504020204" pitchFamily="49" charset="0"/>
              </a:rPr>
              <a:t>ei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ther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can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 dirty="0">
                <a:solidFill>
                  <a:srgbClr val="FFFF99"/>
                </a:solidFill>
                <a:latin typeface="Lucida Console" panose="020B0609040504020204" pitchFamily="49" charset="0"/>
              </a:rPr>
              <a:t>se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ts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FF99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1599" spc="-10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FF99"/>
                </a:solidFill>
                <a:latin typeface="Lucida Console" panose="020B0609040504020204" pitchFamily="49" charset="0"/>
              </a:rPr>
              <a:t>li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sts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be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 dirty="0">
                <a:solidFill>
                  <a:srgbClr val="FFFF99"/>
                </a:solidFill>
                <a:latin typeface="Lucida Console" panose="020B0609040504020204" pitchFamily="49" charset="0"/>
              </a:rPr>
              <a:t>key</a:t>
            </a:r>
            <a:r>
              <a:rPr lang="en-US" altLang="zh-TW" sz="2398" spc="-100" dirty="0">
                <a:solidFill>
                  <a:srgbClr val="FFFF9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35797" y="6415518"/>
            <a:ext cx="741906" cy="46128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endParaRPr lang="en-US" sz="1998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44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hash((x,))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99595396316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hash((x,x))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hash([x,x])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hash({x,x})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Z={x,(x,),(x,x)}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But sets can't be in sets: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:[x,x]}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398" spc="-90">
                <a:solidFill>
                  <a:srgbClr val="FFFF99"/>
                </a:solidFill>
                <a:latin typeface="Lucida Console" panose="020B0609040504020204" pitchFamily="49" charset="0"/>
              </a:rPr>
              <a:t>ei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ther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can </a:t>
            </a:r>
            <a:r>
              <a:rPr lang="en-US" altLang="zh-TW" sz="2398" spc="-80">
                <a:solidFill>
                  <a:srgbClr val="FFFF99"/>
                </a:solidFill>
                <a:latin typeface="Lucida Console" panose="020B0609040504020204" pitchFamily="49" charset="0"/>
              </a:rPr>
              <a:t>se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ts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1599" spc="-10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li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sts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be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FF99"/>
                </a:solidFill>
                <a:latin typeface="Lucida Console" panose="020B0609040504020204" pitchFamily="49" charset="0"/>
              </a:rPr>
              <a:t>key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:</a:t>
            </a:r>
            <a:endParaRPr lang="en-US" altLang="zh-TW" sz="2398" spc="-5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  <a:endParaRPr lang="en-US" altLang="zh-TW" sz="2398" dirty="0">
              <a:solidFill>
                <a:srgbClr val="FF6969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92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99595396316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hash((x,x))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hash([x,x])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hash({x,x})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Z={x,(x,),(x,x)}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But sets can't be in sets: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:[x,x]}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398" spc="-90">
                <a:solidFill>
                  <a:srgbClr val="FFFF99"/>
                </a:solidFill>
                <a:latin typeface="Lucida Console" panose="020B0609040504020204" pitchFamily="49" charset="0"/>
              </a:rPr>
              <a:t>ei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ther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can </a:t>
            </a:r>
            <a:r>
              <a:rPr lang="en-US" altLang="zh-TW" sz="2398" spc="-80">
                <a:solidFill>
                  <a:srgbClr val="FFFF99"/>
                </a:solidFill>
                <a:latin typeface="Lucida Console" panose="020B0609040504020204" pitchFamily="49" charset="0"/>
              </a:rPr>
              <a:t>se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ts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1599" spc="-10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li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sts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be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FF99"/>
                </a:solidFill>
                <a:latin typeface="Lucida Console" panose="020B0609040504020204" pitchFamily="49" charset="0"/>
              </a:rPr>
              <a:t>key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  <a:endParaRPr lang="en-US" altLang="zh-TW" sz="2398" dirty="0">
              <a:solidFill>
                <a:srgbClr val="FF6969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52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hash((x,x))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You can hash a tuple: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hash([x,x])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hash({x,x})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Z={x,(x,),(x,x)}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But sets can't be in sets: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:[x,x]}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398" spc="-90">
                <a:solidFill>
                  <a:srgbClr val="FFFF99"/>
                </a:solidFill>
                <a:latin typeface="Lucida Console" panose="020B0609040504020204" pitchFamily="49" charset="0"/>
              </a:rPr>
              <a:t>ei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ther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can </a:t>
            </a:r>
            <a:r>
              <a:rPr lang="en-US" altLang="zh-TW" sz="2398" spc="-80">
                <a:solidFill>
                  <a:srgbClr val="FFFF99"/>
                </a:solidFill>
                <a:latin typeface="Lucida Console" panose="020B0609040504020204" pitchFamily="49" charset="0"/>
              </a:rPr>
              <a:t>se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ts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1599" spc="-10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li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sts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be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FF99"/>
                </a:solidFill>
                <a:latin typeface="Lucida Console" panose="020B0609040504020204" pitchFamily="49" charset="0"/>
              </a:rPr>
              <a:t>key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81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107815166986306181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hash([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])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hash({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})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Z={x,(x,),(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)}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Z={x,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,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 # But sets can't be in sets: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Z={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:[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]}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398" spc="-90" dirty="0">
                <a:solidFill>
                  <a:srgbClr val="FFFF99"/>
                </a:solidFill>
                <a:latin typeface="Lucida Console" panose="020B0609040504020204" pitchFamily="49" charset="0"/>
              </a:rPr>
              <a:t>ei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ther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can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 dirty="0">
                <a:solidFill>
                  <a:srgbClr val="FFFF99"/>
                </a:solidFill>
                <a:latin typeface="Lucida Console" panose="020B0609040504020204" pitchFamily="49" charset="0"/>
              </a:rPr>
              <a:t>se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ts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FF99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1599" spc="-10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FF99"/>
                </a:solidFill>
                <a:latin typeface="Lucida Console" panose="020B0609040504020204" pitchFamily="49" charset="0"/>
              </a:rPr>
              <a:t>li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sts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be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 dirty="0">
                <a:solidFill>
                  <a:srgbClr val="FFFF99"/>
                </a:solidFill>
                <a:latin typeface="Lucida Console" panose="020B0609040504020204" pitchFamily="49" charset="0"/>
              </a:rPr>
              <a:t>key</a:t>
            </a:r>
            <a:r>
              <a:rPr lang="en-US" altLang="zh-TW" sz="2398" spc="-100" dirty="0">
                <a:solidFill>
                  <a:srgbClr val="FFFF9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rgbClr val="FFFF0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 Q.</a:t>
            </a:r>
            <a:r>
              <a:rPr lang="en-US" altLang="zh-TW" sz="1599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What did we just learn?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35797" y="6415518"/>
            <a:ext cx="741906" cy="46128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endParaRPr lang="en-US" sz="1998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87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hash([x,x])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But not a list: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hash({x,x})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Z={x,(x,),(x,x)}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But sets can't be in sets: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:[x,x]}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398" spc="-90">
                <a:solidFill>
                  <a:srgbClr val="FFFF99"/>
                </a:solidFill>
                <a:latin typeface="Lucida Console" panose="020B0609040504020204" pitchFamily="49" charset="0"/>
              </a:rPr>
              <a:t>ei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ther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can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FF99"/>
                </a:solidFill>
                <a:latin typeface="Lucida Console" panose="020B0609040504020204" pitchFamily="49" charset="0"/>
              </a:rPr>
              <a:t>se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ts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1599" spc="-10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li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sts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be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FF99"/>
                </a:solidFill>
                <a:latin typeface="Lucida Console" panose="020B0609040504020204" pitchFamily="49" charset="0"/>
              </a:rPr>
              <a:t>key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FF0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b="1">
                <a:solidFill>
                  <a:srgbClr val="FFFF00"/>
                </a:solidFill>
                <a:latin typeface="Lucida Console" panose="020B0609040504020204" pitchFamily="49" charset="0"/>
              </a:rPr>
              <a:t> Q.</a:t>
            </a:r>
            <a:r>
              <a:rPr lang="en-US" altLang="zh-TW" sz="1599" b="1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>
                <a:solidFill>
                  <a:srgbClr val="FFFF00"/>
                </a:solidFill>
                <a:latin typeface="Lucida Console" panose="020B0609040504020204" pitchFamily="49" charset="0"/>
              </a:rPr>
              <a:t>What did we just learn?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00B0F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b="1">
                <a:solidFill>
                  <a:srgbClr val="00B0F0"/>
                </a:solidFill>
                <a:latin typeface="Lucida Console" panose="020B0609040504020204" pitchFamily="49" charset="0"/>
              </a:rPr>
              <a:t> A.</a:t>
            </a:r>
            <a:r>
              <a:rPr lang="en-US" altLang="zh-TW" sz="1599" b="1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>
                <a:solidFill>
                  <a:srgbClr val="00B0F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hat</a:t>
            </a:r>
            <a:r>
              <a:rPr lang="en-US" altLang="zh-TW" sz="19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only</a:t>
            </a:r>
            <a:r>
              <a:rPr lang="en-US" altLang="zh-TW" sz="19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b="1">
                <a:solidFill>
                  <a:srgbClr val="00B0F0"/>
                </a:solidFill>
                <a:latin typeface="Lucida Console" panose="020B0609040504020204" pitchFamily="49" charset="0"/>
              </a:rPr>
              <a:t>mm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ut</a:t>
            </a:r>
            <a:r>
              <a:rPr lang="en-US" altLang="zh-TW" sz="2398" b="1" spc="-3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ble</a:t>
            </a:r>
            <a:r>
              <a:rPr lang="en-US" altLang="zh-TW" sz="19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>
                <a:solidFill>
                  <a:srgbClr val="00B0F0"/>
                </a:solidFill>
                <a:latin typeface="Lucida Console" panose="020B0609040504020204" pitchFamily="49" charset="0"/>
              </a:rPr>
              <a:t>typ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es</a:t>
            </a:r>
            <a:r>
              <a:rPr lang="en-US" altLang="zh-TW" sz="19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are</a:t>
            </a:r>
            <a:r>
              <a:rPr lang="en-US" altLang="zh-TW" sz="19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has</a:t>
            </a:r>
            <a:r>
              <a:rPr lang="en-US" altLang="zh-TW" sz="2398" b="1" spc="-40">
                <a:solidFill>
                  <a:srgbClr val="00B0F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398" b="1" spc="-1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100">
                <a:solidFill>
                  <a:srgbClr val="00B0F0"/>
                </a:solidFill>
                <a:latin typeface="Lucida Console" panose="020B0609040504020204" pitchFamily="49" charset="0"/>
              </a:rPr>
              <a:t>ble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799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nd</a:t>
            </a:r>
            <a:endParaRPr lang="en-US" altLang="zh-TW" sz="2398" b="1" spc="-50" dirty="0">
              <a:solidFill>
                <a:srgbClr val="00B0F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35797" y="6415518"/>
            <a:ext cx="741906" cy="46128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endParaRPr lang="en-US" sz="1998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9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hash({x,x})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Z={x,(x,),(x,x)}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Z={x,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 ,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 # But sets can't be in sets: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Z={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398">
                <a:solidFill>
                  <a:schemeClr val="bg1"/>
                </a:solidFill>
                <a:latin typeface="Lucida Console" panose="020B0609040504020204" pitchFamily="49" charset="0"/>
              </a:rPr>
              <a:t>:[x,x]}</a:t>
            </a:r>
            <a:r>
              <a:rPr lang="en-US" altLang="zh-TW" sz="2398">
                <a:solidFill>
                  <a:srgbClr val="FFFF9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398" spc="-90">
                <a:solidFill>
                  <a:srgbClr val="FFFF99"/>
                </a:solidFill>
                <a:latin typeface="Lucida Console" panose="020B0609040504020204" pitchFamily="49" charset="0"/>
              </a:rPr>
              <a:t>ei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ther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can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FF99"/>
                </a:solidFill>
                <a:latin typeface="Lucida Console" panose="020B0609040504020204" pitchFamily="49" charset="0"/>
              </a:rPr>
              <a:t>se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ts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1599" spc="-10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li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sts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be</a:t>
            </a:r>
            <a:r>
              <a:rPr lang="en-US" altLang="zh-TW" sz="1998" spc="-5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>
                <a:solidFill>
                  <a:srgbClr val="FFFF99"/>
                </a:solidFill>
                <a:latin typeface="Lucida Console" panose="020B0609040504020204" pitchFamily="49" charset="0"/>
              </a:rPr>
              <a:t>key</a:t>
            </a:r>
            <a:r>
              <a:rPr lang="en-US" altLang="zh-TW" sz="2398" spc="-100">
                <a:solidFill>
                  <a:srgbClr val="FFFF9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0">
                <a:solidFill>
                  <a:srgbClr val="FFFF99"/>
                </a:solidFill>
                <a:latin typeface="Lucida Console" panose="020B0609040504020204" pitchFamily="49" charset="0"/>
              </a:rPr>
              <a:t>:</a:t>
            </a:r>
            <a:endParaRPr lang="en-US" altLang="zh-TW" sz="2398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Traceback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  File "&lt;stdin&gt;",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FF6969"/>
                </a:solidFill>
                <a:latin typeface="Lucida Console" panose="020B0609040504020204" pitchFamily="49" charset="0"/>
              </a:rPr>
              <a:t>TypeError: </a:t>
            </a:r>
            <a:r>
              <a:rPr lang="en-US" altLang="zh-TW" sz="2398">
                <a:solidFill>
                  <a:srgbClr val="FF0000"/>
                </a:solidFill>
                <a:latin typeface="Lucida Console" panose="020B0609040504020204" pitchFamily="49" charset="0"/>
              </a:rPr>
              <a:t>unhashable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FFFF0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b="1">
                <a:solidFill>
                  <a:srgbClr val="FFFF00"/>
                </a:solidFill>
                <a:latin typeface="Lucida Console" panose="020B0609040504020204" pitchFamily="49" charset="0"/>
              </a:rPr>
              <a:t> Q.</a:t>
            </a:r>
            <a:r>
              <a:rPr lang="en-US" altLang="zh-TW" sz="1599" b="1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>
                <a:solidFill>
                  <a:srgbClr val="FFFF00"/>
                </a:solidFill>
                <a:latin typeface="Lucida Console" panose="020B0609040504020204" pitchFamily="49" charset="0"/>
              </a:rPr>
              <a:t>What did we just learn?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00B0F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b="1">
                <a:solidFill>
                  <a:srgbClr val="00B0F0"/>
                </a:solidFill>
                <a:latin typeface="Lucida Console" panose="020B0609040504020204" pitchFamily="49" charset="0"/>
              </a:rPr>
              <a:t> A.</a:t>
            </a:r>
            <a:r>
              <a:rPr lang="en-US" altLang="zh-TW" sz="1599" b="1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>
                <a:solidFill>
                  <a:srgbClr val="00B0F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hat</a:t>
            </a:r>
            <a:r>
              <a:rPr lang="en-US" altLang="zh-TW" sz="19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only</a:t>
            </a:r>
            <a:r>
              <a:rPr lang="en-US" altLang="zh-TW" sz="19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b="1">
                <a:solidFill>
                  <a:srgbClr val="00B0F0"/>
                </a:solidFill>
                <a:latin typeface="Lucida Console" panose="020B0609040504020204" pitchFamily="49" charset="0"/>
              </a:rPr>
              <a:t>mm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ut</a:t>
            </a:r>
            <a:r>
              <a:rPr lang="en-US" altLang="zh-TW" sz="2398" b="1" spc="-3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ble</a:t>
            </a:r>
            <a:r>
              <a:rPr lang="en-US" altLang="zh-TW" sz="19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>
                <a:solidFill>
                  <a:srgbClr val="00B0F0"/>
                </a:solidFill>
                <a:latin typeface="Lucida Console" panose="020B0609040504020204" pitchFamily="49" charset="0"/>
              </a:rPr>
              <a:t>typ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es</a:t>
            </a:r>
            <a:r>
              <a:rPr lang="en-US" altLang="zh-TW" sz="19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are</a:t>
            </a:r>
            <a:r>
              <a:rPr lang="en-US" altLang="zh-TW" sz="19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has</a:t>
            </a:r>
            <a:r>
              <a:rPr lang="en-US" altLang="zh-TW" sz="2398" b="1" spc="-40">
                <a:solidFill>
                  <a:srgbClr val="00B0F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398" b="1" spc="-1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100">
                <a:solidFill>
                  <a:srgbClr val="00B0F0"/>
                </a:solidFill>
                <a:latin typeface="Lucida Console" panose="020B0609040504020204" pitchFamily="49" charset="0"/>
              </a:rPr>
              <a:t>ble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799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nd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>
                <a:latin typeface="Lucida Console" panose="020B0609040504020204" pitchFamily="49" charset="0"/>
              </a:rPr>
              <a:t>&gt;&gt;&gt;</a:t>
            </a:r>
            <a:r>
              <a:rPr lang="en-US" altLang="zh-TW" sz="2398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>
                <a:solidFill>
                  <a:srgbClr val="00B0F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b="1">
                <a:solidFill>
                  <a:srgbClr val="00B0F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1599" b="1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>
                <a:solidFill>
                  <a:srgbClr val="00B0F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hat</a:t>
            </a:r>
            <a:r>
              <a:rPr lang="en-US" altLang="zh-TW" sz="19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>
                <a:solidFill>
                  <a:srgbClr val="00B0F0"/>
                </a:solidFill>
                <a:latin typeface="Lucida Console" panose="020B0609040504020204" pitchFamily="49" charset="0"/>
              </a:rPr>
              <a:t>dictionaries and sets use has</a:t>
            </a:r>
            <a:r>
              <a:rPr lang="en-US" altLang="zh-TW" sz="2398" b="1" spc="-40">
                <a:solidFill>
                  <a:srgbClr val="00B0F0"/>
                </a:solidFill>
                <a:latin typeface="Lucida Console" panose="020B0609040504020204" pitchFamily="49" charset="0"/>
              </a:rPr>
              <a:t>h t</a:t>
            </a:r>
            <a:r>
              <a:rPr lang="en-US" altLang="zh-TW" sz="2398" b="1" spc="-1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100">
                <a:solidFill>
                  <a:srgbClr val="00B0F0"/>
                </a:solidFill>
                <a:latin typeface="Lucida Console" panose="020B0609040504020204" pitchFamily="49" charset="0"/>
              </a:rPr>
              <a:t>ble</a:t>
            </a:r>
            <a:r>
              <a:rPr lang="en-US" altLang="zh-TW" sz="2398" b="1" spc="-300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b="1" spc="-100">
                <a:solidFill>
                  <a:srgbClr val="00B0F0"/>
                </a:solidFill>
                <a:latin typeface="Lucida Console" panose="020B0609040504020204" pitchFamily="49" charset="0"/>
              </a:rPr>
              <a:t>.</a:t>
            </a:r>
            <a:endParaRPr lang="en-US" altLang="zh-TW" sz="2398" b="1" spc="-100" dirty="0">
              <a:solidFill>
                <a:srgbClr val="00B0F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35797" y="6415518"/>
            <a:ext cx="741906" cy="46128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endParaRPr lang="en-US" sz="1998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29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b="1" spc="-100" dirty="0">
              <a:solidFill>
                <a:srgbClr val="00B0F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42936" y="668454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FF0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 Q.</a:t>
            </a:r>
            <a:r>
              <a:rPr lang="en-US" altLang="zh-TW" sz="1599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What did we just learn?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 A.</a:t>
            </a:r>
            <a:r>
              <a:rPr lang="en-US" altLang="zh-TW" sz="1599" b="1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hat</a:t>
            </a:r>
            <a:r>
              <a:rPr lang="en-US" altLang="zh-TW" sz="19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only</a:t>
            </a:r>
            <a:r>
              <a:rPr lang="en-US" altLang="zh-TW" sz="19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mm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ut</a:t>
            </a:r>
            <a:r>
              <a:rPr lang="en-US" altLang="zh-TW" sz="2398" b="1" spc="-30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ble</a:t>
            </a:r>
            <a:r>
              <a:rPr lang="en-US" altLang="zh-TW" sz="19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typ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es</a:t>
            </a:r>
            <a:r>
              <a:rPr lang="en-US" altLang="zh-TW" sz="19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are</a:t>
            </a:r>
            <a:r>
              <a:rPr lang="en-US" altLang="zh-TW" sz="19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has</a:t>
            </a:r>
            <a:r>
              <a:rPr lang="en-US" altLang="zh-TW" sz="2398" b="1" spc="-4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398" b="1" spc="-1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ble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799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nd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1599" b="1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hat</a:t>
            </a:r>
            <a:r>
              <a:rPr lang="en-US" altLang="zh-TW" sz="19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dictionaries and sets use has</a:t>
            </a:r>
            <a:r>
              <a:rPr lang="en-US" altLang="zh-TW" sz="2398" b="1" spc="-40" dirty="0">
                <a:solidFill>
                  <a:srgbClr val="00B0F0"/>
                </a:solidFill>
                <a:latin typeface="Lucida Console" panose="020B0609040504020204" pitchFamily="49" charset="0"/>
              </a:rPr>
              <a:t>h t</a:t>
            </a:r>
            <a:r>
              <a:rPr lang="en-US" altLang="zh-TW" sz="2398" b="1" spc="-10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ble</a:t>
            </a:r>
            <a:r>
              <a:rPr lang="en-US" altLang="zh-TW" sz="2398" b="1" spc="-300" dirty="0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FF00"/>
                </a:solidFill>
                <a:latin typeface="Lucida Console" panose="020B0609040504020204" pitchFamily="49" charset="0"/>
              </a:rPr>
              <a:t># 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Q.</a:t>
            </a:r>
            <a:r>
              <a:rPr lang="en-US" altLang="zh-TW" sz="1599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How does the non-uniqueness of the hash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rgbClr val="FFFF00"/>
                </a:solidFill>
                <a:latin typeface="Lucida Console" panose="020B0609040504020204" pitchFamily="49" charset="0"/>
              </a:rPr>
              <a:t> #   </a:t>
            </a:r>
            <a:r>
              <a:rPr lang="en-US" altLang="zh-TW" sz="1599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affect</a:t>
            </a:r>
            <a:r>
              <a:rPr lang="en-US" altLang="zh-TW" sz="21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dictionaries</a:t>
            </a:r>
            <a:r>
              <a:rPr lang="en-US" altLang="zh-TW" sz="21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zh-TW" sz="21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sets</a:t>
            </a:r>
            <a:r>
              <a:rPr lang="en-US" altLang="zh-TW" sz="21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that</a:t>
            </a:r>
            <a:r>
              <a:rPr lang="en-US" altLang="zh-TW" sz="21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use</a:t>
            </a:r>
            <a:r>
              <a:rPr lang="en-US" altLang="zh-TW" sz="21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them?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# A.</a:t>
            </a:r>
            <a:r>
              <a:rPr lang="en-US" altLang="zh-TW" sz="1599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Two items with the same hash will still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 #   </a:t>
            </a:r>
            <a:r>
              <a:rPr lang="en-US" altLang="zh-TW" sz="1599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be</a:t>
            </a:r>
            <a:r>
              <a:rPr lang="en-US" altLang="zh-TW" sz="21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considered</a:t>
            </a:r>
            <a:r>
              <a:rPr lang="en-US" altLang="zh-TW" sz="21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as</a:t>
            </a:r>
            <a:r>
              <a:rPr lang="en-US" altLang="zh-TW" sz="21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different</a:t>
            </a:r>
            <a:r>
              <a:rPr lang="en-US" altLang="zh-TW" sz="21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item</a:t>
            </a:r>
            <a:r>
              <a:rPr lang="en-US" altLang="zh-TW" sz="2398" b="1" spc="-200" dirty="0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799" b="1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becaus</a:t>
            </a:r>
            <a:r>
              <a:rPr lang="en-US" altLang="zh-TW" sz="2398" b="1" spc="-200" dirty="0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,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 #   </a:t>
            </a:r>
            <a:r>
              <a:rPr lang="en-US" altLang="zh-TW" sz="1599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in fact, they </a:t>
            </a:r>
            <a:r>
              <a:rPr lang="en-US" altLang="zh-TW" sz="2398" b="1" i="1" dirty="0">
                <a:solidFill>
                  <a:srgbClr val="00B0F0"/>
                </a:solidFill>
                <a:latin typeface="Lucida Console" panose="020B0609040504020204" pitchFamily="49" charset="0"/>
              </a:rPr>
              <a:t>are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 different.  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hash(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3527539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),hash(</a:t>
            </a:r>
            <a:r>
              <a:rPr lang="en-US" altLang="zh-TW" sz="2398" b="1" dirty="0">
                <a:solidFill>
                  <a:srgbClr val="00B050"/>
                </a:solidFill>
                <a:latin typeface="Lucida Console" panose="020B0609040504020204" pitchFamily="49" charset="0"/>
              </a:rPr>
              <a:t>()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(3527539, 3527539)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{hash(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3527539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),hash(</a:t>
            </a:r>
            <a:r>
              <a:rPr lang="en-US" altLang="zh-TW" sz="2398" b="1" dirty="0">
                <a:solidFill>
                  <a:srgbClr val="00B050"/>
                </a:solidFill>
                <a:latin typeface="Lucida Console" panose="020B0609040504020204" pitchFamily="49" charset="0"/>
              </a:rPr>
              <a:t>()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)}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{3527539}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{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3527539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398" b="1" dirty="0">
                <a:solidFill>
                  <a:srgbClr val="00B050"/>
                </a:solidFill>
                <a:latin typeface="Lucida Console" panose="020B0609040504020204" pitchFamily="49" charset="0"/>
              </a:rPr>
              <a:t>()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{3527539, ()}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{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3527539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:[],</a:t>
            </a:r>
            <a:r>
              <a:rPr lang="en-US" altLang="zh-TW" sz="2398" b="1" dirty="0">
                <a:solidFill>
                  <a:srgbClr val="00B050"/>
                </a:solidFill>
                <a:latin typeface="Lucida Console" panose="020B0609040504020204" pitchFamily="49" charset="0"/>
              </a:rPr>
              <a:t>()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:""}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{3527539: [], (): ''}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6537" y="669732"/>
            <a:ext cx="9265472" cy="6185473"/>
          </a:xfrm>
          <a:prstGeom prst="rect">
            <a:avLst/>
          </a:prstGeom>
          <a:solidFill>
            <a:schemeClr val="tx1"/>
          </a:solidFill>
        </p:spPr>
        <p:txBody>
          <a:bodyPr vert="horz" lIns="91365" tIns="45683" rIns="0" bIns="4568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hash({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})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 And not a set: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Z={x,(x,),(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)}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 # Tuples can be set</a:t>
            </a:r>
            <a:r>
              <a:rPr lang="en-US" altLang="zh-TW" sz="1998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elements: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Z={x,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,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 # But sets can't be in sets: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'set'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Z={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:[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x,x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]}</a:t>
            </a:r>
            <a:r>
              <a:rPr lang="en-US" altLang="zh-TW" sz="2398" dirty="0">
                <a:solidFill>
                  <a:srgbClr val="FFFF99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398" spc="-90" dirty="0">
                <a:solidFill>
                  <a:srgbClr val="FFFF99"/>
                </a:solidFill>
                <a:latin typeface="Lucida Console" panose="020B0609040504020204" pitchFamily="49" charset="0"/>
              </a:rPr>
              <a:t>ei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ther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can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 dirty="0">
                <a:solidFill>
                  <a:srgbClr val="FFFF99"/>
                </a:solidFill>
                <a:latin typeface="Lucida Console" panose="020B0609040504020204" pitchFamily="49" charset="0"/>
              </a:rPr>
              <a:t>se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ts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FF99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1599" spc="-10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100" dirty="0">
                <a:solidFill>
                  <a:srgbClr val="FFFF99"/>
                </a:solidFill>
                <a:latin typeface="Lucida Console" panose="020B0609040504020204" pitchFamily="49" charset="0"/>
              </a:rPr>
              <a:t>li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sts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be</a:t>
            </a:r>
            <a:r>
              <a:rPr lang="en-US" altLang="zh-TW" sz="19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spc="-80" dirty="0">
                <a:solidFill>
                  <a:srgbClr val="FFFF99"/>
                </a:solidFill>
                <a:latin typeface="Lucida Console" panose="020B0609040504020204" pitchFamily="49" charset="0"/>
              </a:rPr>
              <a:t>key</a:t>
            </a:r>
            <a:r>
              <a:rPr lang="en-US" altLang="zh-TW" sz="2398" spc="-100" dirty="0">
                <a:solidFill>
                  <a:srgbClr val="FFFF99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spc="-50" dirty="0">
                <a:solidFill>
                  <a:srgbClr val="FFFF99"/>
                </a:solidFill>
                <a:latin typeface="Lucida Console" panose="020B0609040504020204" pitchFamily="49" charset="0"/>
              </a:rPr>
              <a:t>:</a:t>
            </a:r>
            <a:endParaRPr lang="en-US" altLang="zh-TW" sz="2398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398" dirty="0">
                <a:solidFill>
                  <a:srgbClr val="FF6969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398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unhashable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 type: 'list'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FFFF0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 Q.</a:t>
            </a:r>
            <a:r>
              <a:rPr lang="en-US" altLang="zh-TW" sz="1599" b="1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dirty="0">
                <a:solidFill>
                  <a:srgbClr val="FFFF00"/>
                </a:solidFill>
                <a:latin typeface="Lucida Console" panose="020B0609040504020204" pitchFamily="49" charset="0"/>
              </a:rPr>
              <a:t>What did we just learn?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 A.</a:t>
            </a:r>
            <a:r>
              <a:rPr lang="en-US" altLang="zh-TW" sz="1599" b="1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hat</a:t>
            </a:r>
            <a:r>
              <a:rPr lang="en-US" altLang="zh-TW" sz="19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only</a:t>
            </a:r>
            <a:r>
              <a:rPr lang="en-US" altLang="zh-TW" sz="19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mm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ut</a:t>
            </a:r>
            <a:r>
              <a:rPr lang="en-US" altLang="zh-TW" sz="2398" b="1" spc="-30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ble</a:t>
            </a:r>
            <a:r>
              <a:rPr lang="en-US" altLang="zh-TW" sz="19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typ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es</a:t>
            </a:r>
            <a:r>
              <a:rPr lang="en-US" altLang="zh-TW" sz="19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are</a:t>
            </a:r>
            <a:r>
              <a:rPr lang="en-US" altLang="zh-TW" sz="19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has</a:t>
            </a:r>
            <a:r>
              <a:rPr lang="en-US" altLang="zh-TW" sz="2398" b="1" spc="-4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398" b="1" spc="-1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ble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799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nd</a:t>
            </a:r>
          </a:p>
          <a:p>
            <a:pPr marL="0" indent="0">
              <a:lnSpc>
                <a:spcPct val="88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rgbClr val="FFFF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1599" b="1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20" dirty="0">
                <a:solidFill>
                  <a:srgbClr val="00B0F0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hat</a:t>
            </a:r>
            <a:r>
              <a:rPr lang="en-US" altLang="zh-TW" sz="19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b="1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dictionaries and sets use has</a:t>
            </a:r>
            <a:r>
              <a:rPr lang="en-US" altLang="zh-TW" sz="2398" b="1" spc="-40" dirty="0">
                <a:solidFill>
                  <a:srgbClr val="00B0F0"/>
                </a:solidFill>
                <a:latin typeface="Lucida Console" panose="020B0609040504020204" pitchFamily="49" charset="0"/>
              </a:rPr>
              <a:t>h t</a:t>
            </a:r>
            <a:r>
              <a:rPr lang="en-US" altLang="zh-TW" sz="2398" b="1" spc="-10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ble</a:t>
            </a:r>
            <a:r>
              <a:rPr lang="en-US" altLang="zh-TW" sz="2398" b="1" spc="-300" dirty="0">
                <a:solidFill>
                  <a:srgbClr val="00B0F0"/>
                </a:solidFill>
                <a:latin typeface="Lucida Console" panose="020B0609040504020204" pitchFamily="49" charset="0"/>
              </a:rPr>
              <a:t>s</a:t>
            </a:r>
            <a:r>
              <a:rPr lang="en-US" altLang="zh-TW" sz="2398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2795"/>
            <a:ext cx="9729788" cy="650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2795"/>
            <a:ext cx="9727896" cy="913655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Comparing hash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dirty="0">
                <a:solidFill>
                  <a:srgbClr val="2D2DB9"/>
                </a:solidFill>
                <a:cs typeface="Arial" panose="020B0604020202020204" pitchFamily="34" charset="0"/>
              </a:rPr>
              <a:t> to id</a:t>
            </a:r>
            <a:r>
              <a:rPr lang="en-GB" altLang="en-US" sz="3997" b="1" dirty="0">
                <a:solidFill>
                  <a:srgbClr val="2D2DB9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()</a:t>
            </a:r>
            <a:r>
              <a:rPr lang="en-GB" altLang="en-US" sz="3997" b="1" dirty="0">
                <a:solidFill>
                  <a:srgbClr val="2D2DB9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35797" y="3843494"/>
            <a:ext cx="741906" cy="3017426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/>
          <a:p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endParaRPr lang="en-US" sz="1998" dirty="0">
              <a:solidFill>
                <a:srgbClr val="404040"/>
              </a:solidFill>
            </a:endParaRPr>
          </a:p>
          <a:p>
            <a:pPr>
              <a:lnSpc>
                <a:spcPct val="88000"/>
              </a:lnSpc>
            </a:pPr>
            <a:endParaRPr lang="en-US" altLang="zh-TW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zh-TW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lnSpc>
                <a:spcPct val="88000"/>
              </a:lnSpc>
            </a:pPr>
            <a:endParaRPr lang="en-US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lnSpc>
                <a:spcPct val="88000"/>
              </a:lnSpc>
            </a:pPr>
            <a:endParaRPr lang="en-US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lnSpc>
                <a:spcPct val="88000"/>
              </a:lnSpc>
            </a:pPr>
            <a:endParaRPr lang="en-US" sz="2398" dirty="0">
              <a:solidFill>
                <a:srgbClr val="40404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sz="2398" dirty="0">
                <a:solidFill>
                  <a:srgbClr val="404040"/>
                </a:solidFill>
                <a:latin typeface="Lucida Console" panose="020B0609040504020204" pitchFamily="49" charset="0"/>
              </a:rPr>
              <a:t>&gt;&gt;&gt;</a:t>
            </a:r>
            <a:endParaRPr lang="en-US" sz="1998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24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4848E-6 -1.11111E-6 L -0.00033 -0.7486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" y="-3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With an argument, equivalent to object.__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dict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__. 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a[7],a[14],a[-2]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0746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114468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634073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1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a[7],a[14],a[-2]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72499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"/>
    </mc:Choice>
    <mc:Fallback xmlns="">
      <p:transition advTm="200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globals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'locals', '</a:t>
            </a:r>
            <a:r>
              <a:rPr lang="en-US" altLang="zh-TW" sz="2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vars</a:t>
            </a: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49125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"/>
    </mc:Choice>
    <mc:Fallback xmlns="">
      <p:transition advTm="200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sorted({*</a:t>
            </a:r>
            <a:r>
              <a:rPr lang="en-US" altLang="zh-TW" sz="2600" kern="0" spc="-1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StillNeedToTalkAbout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– {*_})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1434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"/>
    </mc:Choice>
    <mc:Fallback xmlns="">
      <p:transition advTm="200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4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4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4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4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4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4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4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4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4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12803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"/>
    </mc:Choice>
    <mc:Fallback xmlns="">
      <p:transition advTm="200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rgbClr val="FFFF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</a:t>
            </a:r>
            <a:r>
              <a:rPr lang="en-US" altLang="zh-TW" sz="2600" spc="-150" dirty="0" err="1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.__doc</a:t>
            </a:r>
            <a:r>
              <a:rPr lang="en-US" altLang="zh-TW" sz="2600" spc="-150" dirty="0">
                <a:solidFill>
                  <a:prstClr val="white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FFFFCC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CC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callable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_.remove("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hash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_.remove("</a:t>
            </a:r>
            <a:r>
              <a:rPr lang="en-US" altLang="zh-TW" sz="2600" kern="0" spc="-100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4940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"/>
    </mc:Choice>
    <mc:Fallback xmlns="">
      <p:transition advTm="200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callable.__doc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"callable"); _.remove("type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"hash"); _.remove("id");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54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63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callable.__doc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"callable"); _.remove("type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"hash"); _.remove("id");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54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ular Callout 9"/>
          <p:cNvSpPr/>
          <p:nvPr/>
        </p:nvSpPr>
        <p:spPr bwMode="auto">
          <a:xfrm>
            <a:off x="369094" y="976523"/>
            <a:ext cx="7537650" cy="3654619"/>
          </a:xfrm>
          <a:prstGeom prst="wedgeRoundRectCallout">
            <a:avLst>
              <a:gd name="adj1" fmla="val -38538"/>
              <a:gd name="adj2" fmla="val 89643"/>
              <a:gd name="adj3" fmla="val 16667"/>
            </a:avLst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683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45864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7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MS PGothic" pitchFamily="34" charset="-128"/>
              </a:rPr>
              <a:t> This lets you predefine slice (</a:t>
            </a:r>
            <a:r>
              <a:rPr kumimoji="0" lang="en-US" altLang="zh-TW" sz="2798" b="0" i="0" u="none" strike="noStrike" kern="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MS PGothic" pitchFamily="34" charset="-128"/>
              </a:rPr>
              <a:t>ie</a:t>
            </a:r>
            <a:r>
              <a:rPr kumimoji="0" lang="en-US" altLang="zh-TW" sz="27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MS PGothic" pitchFamily="34" charset="-128"/>
              </a:rPr>
              <a:t>, […]) settings:</a:t>
            </a:r>
            <a:br>
              <a:rPr kumimoji="0" lang="en-US" altLang="zh-TW" sz="27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MS PGothic" pitchFamily="34" charset="-128"/>
              </a:rPr>
            </a:br>
            <a:r>
              <a:rPr kumimoji="0" lang="en-US" altLang="zh-TW" sz="27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MS PGothic" pitchFamily="34" charset="-128"/>
              </a:rPr>
              <a:t> 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list(range(</a:t>
            </a:r>
            <a:r>
              <a:rPr kumimoji="0" lang="en-US" altLang="zh-TW" sz="2398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20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)[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13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: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2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: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-3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])</a:t>
            </a:r>
          </a:p>
          <a:p>
            <a:pPr marL="0" marR="0" lvl="0" indent="0" defTabSz="845864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19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[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13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10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7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4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]</a:t>
            </a:r>
          </a:p>
          <a:p>
            <a:pPr marL="0" marR="0" lvl="0" indent="0" defTabSz="845864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sliceSettings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=</a:t>
            </a:r>
            <a:r>
              <a:rPr kumimoji="0" lang="en-US" altLang="zh-TW" sz="2398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slice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13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2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-3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)</a:t>
            </a:r>
          </a:p>
          <a:p>
            <a:pPr marL="0" marR="0" lvl="0" indent="0" defTabSz="845864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list(range(</a:t>
            </a:r>
            <a:r>
              <a:rPr kumimoji="0" lang="en-US" altLang="zh-TW" sz="2398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20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)[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sliceSettings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])</a:t>
            </a:r>
          </a:p>
          <a:p>
            <a:pPr marL="0" marR="0" lvl="0" indent="0" defTabSz="845864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19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[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13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10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7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4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]</a:t>
            </a:r>
          </a:p>
          <a:p>
            <a:pPr marL="0" marR="0" lvl="0" indent="0" defTabSz="845864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'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abcd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e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fg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h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ij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k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lm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n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o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'[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sliceSettings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]</a:t>
            </a:r>
          </a:p>
          <a:p>
            <a:pPr marL="0" marR="0" lvl="0" indent="0" defTabSz="845864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19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nkhe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</a:t>
            </a:r>
          </a:p>
          <a:p>
            <a:pPr marL="0" marR="0" lvl="0" indent="0" defTabSz="845864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04397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callable.__doc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"callable"); _.remove("type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"hash"); _.remove("id");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54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8"/>
          <p:cNvSpPr/>
          <p:nvPr/>
        </p:nvSpPr>
        <p:spPr bwMode="auto">
          <a:xfrm>
            <a:off x="296623" y="8286"/>
            <a:ext cx="9136546" cy="4176707"/>
          </a:xfrm>
          <a:prstGeom prst="wedgeRoundRectCallout">
            <a:avLst>
              <a:gd name="adj1" fmla="val 13710"/>
              <a:gd name="adj2" fmla="val 62563"/>
              <a:gd name="adj3" fmla="val 16667"/>
            </a:avLst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7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MS PGothic" pitchFamily="34" charset="-128"/>
              </a:rPr>
              <a:t> This creates numbered pairs for each element. For ordered types, the enumeration preserves the order:</a:t>
            </a:r>
            <a:br>
              <a:rPr kumimoji="0" lang="en-US" altLang="zh-TW" sz="27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MS PGothic" pitchFamily="34" charset="-128"/>
              </a:rPr>
            </a:b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enumerate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("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helloWorld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")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&lt;enumerate object at 0x6ffff951708&gt;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set("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helloWorld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")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{'l', 'd', 'o', 'r', 'W', 'e', 'h'}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list(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enumerate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(set("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helloWorld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")))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[(0, 'l'), (1, 'd'), (2, 'o'), (3, 'r'), (4, 'W'), (5, 'e'), (6, 'h')]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set(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enumerate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("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helloWorld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"))</a:t>
            </a:r>
            <a:r>
              <a:rPr kumimoji="0" lang="en-US" altLang="zh-TW" sz="2398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#order</a:t>
            </a:r>
            <a:r>
              <a:rPr kumimoji="0" lang="en-US" altLang="zh-TW" sz="1998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preserved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{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(7,</a:t>
            </a:r>
            <a:r>
              <a:rPr kumimoji="0" lang="en-US" altLang="zh-TW" sz="1599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'r')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(2,</a:t>
            </a:r>
            <a:r>
              <a:rPr kumimoji="0" lang="en-US" altLang="zh-TW" sz="1599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'l')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(4,</a:t>
            </a:r>
            <a:r>
              <a:rPr kumimoji="0" lang="en-US" altLang="zh-TW" sz="1599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'o')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(3,</a:t>
            </a:r>
            <a:r>
              <a:rPr kumimoji="0" lang="en-US" altLang="zh-TW" sz="1599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'l')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(8,</a:t>
            </a:r>
            <a:r>
              <a:rPr kumimoji="0" lang="en-US" altLang="zh-TW" sz="1599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'l')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 (9,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'd'),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(5,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'W'),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(0,</a:t>
            </a:r>
            <a:r>
              <a:rPr kumimoji="0" lang="en-US" altLang="zh-TW" sz="19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'h')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19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(1,</a:t>
            </a:r>
            <a:r>
              <a:rPr kumimoji="0" lang="en-US" altLang="zh-TW" sz="19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'e')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19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(6,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'o')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586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1959" y="706265"/>
            <a:ext cx="9348021" cy="6048083"/>
          </a:xfrm>
          <a:solidFill>
            <a:schemeClr val="tx1"/>
          </a:solidFill>
        </p:spPr>
        <p:txBody>
          <a:bodyPr/>
          <a:lstStyle/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5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40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</a:t>
            </a:r>
            <a:r>
              <a:rPr lang="en-US" altLang="zh-TW" sz="2405" dirty="0">
                <a:solidFill>
                  <a:schemeClr val="bg1"/>
                </a:solidFill>
                <a:latin typeface="Lucida Console" panose="020B0609040504020204" pitchFamily="49" charset="0"/>
              </a:rPr>
              <a:t>enumerate</a:t>
            </a:r>
            <a:r>
              <a:rPr lang="en-US" altLang="zh-TW" sz="240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("</a:t>
            </a:r>
            <a:r>
              <a:rPr lang="en-US" altLang="zh-TW" sz="2405" dirty="0">
                <a:solidFill>
                  <a:srgbClr val="FF0000"/>
                </a:solidFill>
                <a:latin typeface="Lucida Console" panose="020B0609040504020204" pitchFamily="49" charset="0"/>
              </a:rPr>
              <a:t>hello world</a:t>
            </a:r>
            <a:r>
              <a:rPr lang="en-US" altLang="zh-TW" sz="2405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");</a:t>
            </a:r>
            <a:r>
              <a:rPr lang="en-US" altLang="zh-TW" sz="2405" dirty="0">
                <a:latin typeface="Lucida Console" panose="020B0609040504020204" pitchFamily="49" charset="0"/>
              </a:rPr>
              <a:t> </a:t>
            </a:r>
            <a:r>
              <a:rPr lang="en-US" altLang="zh-TW" sz="2405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&lt;enumerate object at 0x6ffffcd9ca8&gt;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405" dirty="0">
                <a:solidFill>
                  <a:srgbClr val="9900CC"/>
                </a:solidFill>
                <a:latin typeface="Lucida Console" panose="020B0609040504020204" pitchFamily="49" charset="0"/>
              </a:rPr>
              <a:t>list(</a:t>
            </a:r>
            <a:r>
              <a:rPr lang="en-US" altLang="zh-TW" sz="2405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405" dirty="0">
                <a:solidFill>
                  <a:srgbClr val="9900CC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it-IT" altLang="zh-TW" sz="2405" spc="-19" dirty="0">
                <a:solidFill>
                  <a:srgbClr val="9900CC"/>
                </a:solidFill>
                <a:latin typeface="Lucida Console" panose="020B0609040504020204" pitchFamily="49" charset="0"/>
              </a:rPr>
              <a:t>[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1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2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3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4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5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 ' 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6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w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7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8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r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9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10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d</a:t>
            </a:r>
            <a:r>
              <a:rPr lang="it-IT" altLang="zh-TW" sz="2405" spc="-19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')</a:t>
            </a:r>
            <a:r>
              <a:rPr lang="it-IT" altLang="zh-TW" sz="2405" spc="-19" dirty="0">
                <a:solidFill>
                  <a:srgbClr val="9900CC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405" dirty="0">
                <a:latin typeface="Lucida Console" panose="020B0609040504020204" pitchFamily="49" charset="0"/>
              </a:rPr>
              <a:t> </a:t>
            </a:r>
            <a:r>
              <a:rPr lang="en-US" altLang="zh-TW" sz="2405" dirty="0">
                <a:solidFill>
                  <a:srgbClr val="9900CC"/>
                </a:solidFill>
                <a:latin typeface="Lucida Console" panose="020B0609040504020204" pitchFamily="49" charset="0"/>
              </a:rPr>
              <a:t>list(</a:t>
            </a:r>
            <a:r>
              <a:rPr lang="en-US" altLang="zh-TW" sz="2405" dirty="0">
                <a:solidFill>
                  <a:schemeClr val="bg1"/>
                </a:solidFill>
                <a:latin typeface="Lucida Console" panose="020B0609040504020204" pitchFamily="49" charset="0"/>
              </a:rPr>
              <a:t>enumerate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([</a:t>
            </a:r>
            <a:r>
              <a:rPr lang="en-US" altLang="zh-TW" sz="2405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5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5" dirty="0">
                <a:solidFill>
                  <a:srgbClr val="00B050"/>
                </a:solidFill>
                <a:latin typeface="Lucida Console" panose="020B0609040504020204" pitchFamily="49" charset="0"/>
              </a:rPr>
              <a:t>"hi"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5" dirty="0">
                <a:solidFill>
                  <a:srgbClr val="00B050"/>
                </a:solidFill>
                <a:latin typeface="Lucida Console" panose="020B0609040504020204" pitchFamily="49" charset="0"/>
              </a:rPr>
              <a:t>(6,7,{})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])</a:t>
            </a:r>
            <a:r>
              <a:rPr lang="en-US" altLang="zh-TW" sz="2405" dirty="0">
                <a:solidFill>
                  <a:srgbClr val="9900CC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spc="-19" dirty="0">
                <a:solidFill>
                  <a:srgbClr val="9900CC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5" spc="-19" dirty="0">
                <a:latin typeface="Lucida Console" panose="020B0609040504020204" pitchFamily="49" charset="0"/>
              </a:rPr>
              <a:t> </a:t>
            </a:r>
            <a:r>
              <a:rPr lang="en-US" altLang="zh-TW" sz="2405" spc="-19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), (</a:t>
            </a:r>
            <a:r>
              <a:rPr lang="en-US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5" spc="-19" dirty="0">
                <a:latin typeface="Lucida Console" panose="020B0609040504020204" pitchFamily="49" charset="0"/>
              </a:rPr>
              <a:t> </a:t>
            </a:r>
            <a:r>
              <a:rPr lang="en-US" altLang="zh-TW" sz="2405" spc="-19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), (</a:t>
            </a:r>
            <a:r>
              <a:rPr lang="en-US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05" spc="-19" dirty="0">
                <a:solidFill>
                  <a:srgbClr val="00B050"/>
                </a:solidFill>
                <a:latin typeface="Lucida Console" panose="020B0609040504020204" pitchFamily="49" charset="0"/>
              </a:rPr>
              <a:t>'hi'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), (</a:t>
            </a:r>
            <a:r>
              <a:rPr lang="en-US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5" spc="-19" dirty="0">
                <a:latin typeface="Lucida Console" panose="020B0609040504020204" pitchFamily="49" charset="0"/>
              </a:rPr>
              <a:t> </a:t>
            </a:r>
            <a:r>
              <a:rPr lang="en-US" altLang="zh-TW" sz="2405" spc="-19" dirty="0">
                <a:solidFill>
                  <a:srgbClr val="00B050"/>
                </a:solidFill>
                <a:latin typeface="Lucida Console" panose="020B0609040504020204" pitchFamily="49" charset="0"/>
              </a:rPr>
              <a:t>(6, 7, {})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405" spc="-19" dirty="0">
                <a:solidFill>
                  <a:srgbClr val="9900CC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405" dirty="0">
                <a:latin typeface="Lucida Console" panose="020B0609040504020204" pitchFamily="49" charset="0"/>
              </a:rPr>
              <a:t> </a:t>
            </a:r>
            <a:r>
              <a:rPr lang="en-US" altLang="zh-TW" sz="2405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405" dirty="0">
                <a:solidFill>
                  <a:srgbClr val="FFC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405" dirty="0">
                <a:solidFill>
                  <a:schemeClr val="bg1"/>
                </a:solidFill>
                <a:latin typeface="Lucida Console" panose="020B0609040504020204" pitchFamily="49" charset="0"/>
              </a:rPr>
              <a:t>enumerate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([</a:t>
            </a:r>
            <a:r>
              <a:rPr lang="en-US" altLang="zh-TW" sz="2405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5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5" dirty="0">
                <a:solidFill>
                  <a:srgbClr val="00B050"/>
                </a:solidFill>
                <a:latin typeface="Lucida Console" panose="020B0609040504020204" pitchFamily="49" charset="0"/>
              </a:rPr>
              <a:t>"hi"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5" dirty="0">
                <a:solidFill>
                  <a:srgbClr val="00B050"/>
                </a:solidFill>
                <a:latin typeface="Lucida Console" panose="020B0609040504020204" pitchFamily="49" charset="0"/>
              </a:rPr>
              <a:t>(6,7,{})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])</a:t>
            </a:r>
            <a:r>
              <a:rPr lang="en-US" altLang="zh-TW" sz="2405" b="1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b="1" spc="-19" dirty="0">
                <a:solidFill>
                  <a:srgbClr val="FFC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405" spc="-19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405" spc="-19" dirty="0">
                <a:latin typeface="Lucida Console" panose="020B0609040504020204" pitchFamily="49" charset="0"/>
              </a:rPr>
              <a:t> </a:t>
            </a:r>
            <a:r>
              <a:rPr lang="en-US" altLang="zh-TW" sz="2405" spc="-19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405" spc="-19" dirty="0">
                <a:latin typeface="Lucida Console" panose="020B0609040504020204" pitchFamily="49" charset="0"/>
              </a:rPr>
              <a:t> </a:t>
            </a:r>
            <a:r>
              <a:rPr lang="en-US" altLang="zh-TW" sz="2405" spc="-19" dirty="0">
                <a:solidFill>
                  <a:srgbClr val="00B050"/>
                </a:solidFill>
                <a:latin typeface="Lucida Console" panose="020B0609040504020204" pitchFamily="49" charset="0"/>
              </a:rPr>
              <a:t>'hi'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405" spc="-19" dirty="0">
                <a:latin typeface="Lucida Console" panose="020B0609040504020204" pitchFamily="49" charset="0"/>
              </a:rPr>
              <a:t> </a:t>
            </a:r>
            <a:r>
              <a:rPr lang="en-US" altLang="zh-TW" sz="2405" spc="-19" dirty="0">
                <a:solidFill>
                  <a:srgbClr val="00B050"/>
                </a:solidFill>
                <a:latin typeface="Lucida Console" panose="020B0609040504020204" pitchFamily="49" charset="0"/>
              </a:rPr>
              <a:t>(6, 7, {})</a:t>
            </a:r>
            <a:r>
              <a:rPr lang="en-US" altLang="zh-TW" sz="2405" b="1" spc="-19" dirty="0">
                <a:solidFill>
                  <a:srgbClr val="FFC000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405" dirty="0">
                <a:latin typeface="Lucida Console" panose="020B0609040504020204" pitchFamily="49" charset="0"/>
              </a:rPr>
              <a:t> </a:t>
            </a:r>
            <a:r>
              <a:rPr lang="en-US" altLang="zh-TW" sz="2405" dirty="0">
                <a:solidFill>
                  <a:srgbClr val="9900CC"/>
                </a:solidFill>
                <a:latin typeface="Lucida Console" panose="020B0609040504020204" pitchFamily="49" charset="0"/>
              </a:rPr>
              <a:t>list(</a:t>
            </a:r>
            <a:r>
              <a:rPr lang="en-US" altLang="zh-TW" sz="2405" dirty="0">
                <a:solidFill>
                  <a:schemeClr val="bg1"/>
                </a:solidFill>
                <a:latin typeface="Lucida Console" panose="020B0609040504020204" pitchFamily="49" charset="0"/>
              </a:rPr>
              <a:t>enumerate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("</a:t>
            </a:r>
            <a:r>
              <a:rPr lang="en-US" altLang="zh-TW" sz="2405" dirty="0">
                <a:solidFill>
                  <a:srgbClr val="FF0000"/>
                </a:solidFill>
                <a:latin typeface="Lucida Console" panose="020B0609040504020204" pitchFamily="49" charset="0"/>
              </a:rPr>
              <a:t>hello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")</a:t>
            </a:r>
            <a:r>
              <a:rPr lang="en-US" altLang="zh-TW" sz="2405" dirty="0">
                <a:solidFill>
                  <a:srgbClr val="9900CC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it-IT" altLang="zh-TW" sz="2405" spc="-19" dirty="0">
                <a:solidFill>
                  <a:srgbClr val="9900CC"/>
                </a:solidFill>
                <a:latin typeface="Lucida Console" panose="020B0609040504020204" pitchFamily="49" charset="0"/>
              </a:rPr>
              <a:t>[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1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2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3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4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</a:t>
            </a:r>
            <a:r>
              <a:rPr lang="it-IT" altLang="zh-TW" sz="2405" spc="-19" dirty="0">
                <a:solidFill>
                  <a:srgbClr val="9900CC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405" dirty="0">
                <a:latin typeface="Lucida Console" panose="020B0609040504020204" pitchFamily="49" charset="0"/>
              </a:rPr>
              <a:t> </a:t>
            </a:r>
            <a:r>
              <a:rPr lang="en-US" altLang="zh-TW" sz="2405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405" dirty="0">
                <a:solidFill>
                  <a:srgbClr val="FFC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405" dirty="0">
                <a:solidFill>
                  <a:schemeClr val="bg1"/>
                </a:solidFill>
                <a:latin typeface="Lucida Console" panose="020B0609040504020204" pitchFamily="49" charset="0"/>
              </a:rPr>
              <a:t>enumerate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("</a:t>
            </a:r>
            <a:r>
              <a:rPr lang="en-US" altLang="zh-TW" sz="2405" dirty="0">
                <a:solidFill>
                  <a:srgbClr val="FF0000"/>
                </a:solidFill>
                <a:latin typeface="Lucida Console" panose="020B0609040504020204" pitchFamily="49" charset="0"/>
              </a:rPr>
              <a:t>hello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")</a:t>
            </a:r>
            <a:r>
              <a:rPr lang="en-US" altLang="zh-TW" sz="2405" b="1" dirty="0">
                <a:solidFill>
                  <a:srgbClr val="FFC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it-IT" altLang="zh-TW" sz="2405" b="1" spc="-19" dirty="0">
                <a:solidFill>
                  <a:srgbClr val="FFC000"/>
                </a:solidFill>
                <a:latin typeface="Lucida Console" panose="020B0609040504020204" pitchFamily="49" charset="0"/>
              </a:rPr>
              <a:t>{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: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1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: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2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: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3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: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l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', </a:t>
            </a:r>
            <a:r>
              <a:rPr lang="it-IT" altLang="zh-TW" sz="2405" spc="-19" dirty="0">
                <a:solidFill>
                  <a:schemeClr val="bg1"/>
                </a:solidFill>
                <a:latin typeface="Lucida Console" panose="020B0609040504020204" pitchFamily="49" charset="0"/>
              </a:rPr>
              <a:t>4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: '</a:t>
            </a:r>
            <a:r>
              <a:rPr lang="it-IT" altLang="zh-TW" sz="2405" spc="-19" dirty="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it-IT" altLang="zh-TW" sz="2405" spc="-19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it-IT" altLang="zh-TW" sz="2405" b="1" spc="-19" dirty="0">
                <a:solidFill>
                  <a:srgbClr val="FFC000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405" dirty="0">
                <a:solidFill>
                  <a:srgbClr val="9900CC"/>
                </a:solidFill>
                <a:latin typeface="Lucida Console" panose="020B0609040504020204" pitchFamily="49" charset="0"/>
              </a:rPr>
              <a:t>list(</a:t>
            </a:r>
            <a:r>
              <a:rPr lang="en-US" altLang="zh-TW" sz="2405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405" dirty="0">
                <a:solidFill>
                  <a:srgbClr val="FFC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405" dirty="0">
                <a:solidFill>
                  <a:schemeClr val="bg1"/>
                </a:solidFill>
                <a:latin typeface="Lucida Console" panose="020B0609040504020204" pitchFamily="49" charset="0"/>
              </a:rPr>
              <a:t>enumerate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("</a:t>
            </a:r>
            <a:r>
              <a:rPr lang="en-US" altLang="zh-TW" sz="2405" dirty="0">
                <a:solidFill>
                  <a:srgbClr val="FF0000"/>
                </a:solidFill>
                <a:latin typeface="Lucida Console" panose="020B0609040504020204" pitchFamily="49" charset="0"/>
              </a:rPr>
              <a:t>hello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")).items()</a:t>
            </a:r>
            <a:r>
              <a:rPr lang="en-US" altLang="zh-TW" sz="2405" dirty="0">
                <a:solidFill>
                  <a:srgbClr val="9900CC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dirty="0">
                <a:solidFill>
                  <a:srgbClr val="9900CC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405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en-US" altLang="zh-TW" sz="2405" dirty="0">
                <a:solidFill>
                  <a:srgbClr val="FF0000"/>
                </a:solidFill>
                <a:latin typeface="Lucida Console" panose="020B0609040504020204" pitchFamily="49" charset="0"/>
              </a:rPr>
              <a:t>h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en-US" altLang="zh-TW" sz="2405" dirty="0">
                <a:solidFill>
                  <a:schemeClr val="bg1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en-US" altLang="zh-TW" sz="2405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en-US" altLang="zh-TW" sz="2405" dirty="0">
                <a:solidFill>
                  <a:schemeClr val="bg1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'</a:t>
            </a:r>
            <a:r>
              <a:rPr lang="en-US" altLang="zh-TW" sz="2405" dirty="0">
                <a:solidFill>
                  <a:srgbClr val="FF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'), (</a:t>
            </a:r>
            <a:r>
              <a:rPr lang="en-US" altLang="zh-TW" sz="2405" dirty="0">
                <a:solidFill>
                  <a:schemeClr val="bg1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1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405" dirty="0">
                <a:solidFill>
                  <a:srgbClr val="FF0000"/>
                </a:solidFill>
                <a:latin typeface="Lucida Console" panose="020B0609040504020204" pitchFamily="49" charset="0"/>
              </a:rPr>
              <a:t>l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'),</a:t>
            </a:r>
            <a:r>
              <a:rPr lang="en-US" altLang="zh-TW" sz="21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405" dirty="0">
                <a:solidFill>
                  <a:schemeClr val="bg1"/>
                </a:solidFill>
                <a:latin typeface="Lucida Console" panose="020B0609040504020204" pitchFamily="49" charset="0"/>
              </a:rPr>
              <a:t>4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1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405" dirty="0">
                <a:solidFill>
                  <a:srgbClr val="FF0000"/>
                </a:solidFill>
                <a:latin typeface="Lucida Console" panose="020B0609040504020204" pitchFamily="49" charset="0"/>
              </a:rPr>
              <a:t>o</a:t>
            </a:r>
            <a:r>
              <a:rPr lang="en-US" altLang="zh-TW" sz="2405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</a:t>
            </a:r>
            <a:r>
              <a:rPr lang="en-US" altLang="zh-TW" sz="2405" dirty="0">
                <a:solidFill>
                  <a:srgbClr val="9900CC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sz="2405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內容版面配置區 2"/>
          <p:cNvSpPr txBox="1">
            <a:spLocks/>
          </p:cNvSpPr>
          <p:nvPr/>
        </p:nvSpPr>
        <p:spPr bwMode="auto">
          <a:xfrm>
            <a:off x="191957" y="706263"/>
            <a:ext cx="924602" cy="6048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590" tIns="42295" rIns="84590" bIns="42295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405" kern="0" dirty="0">
              <a:solidFill>
                <a:srgbClr val="000000">
                  <a:lumMod val="50000"/>
                  <a:lumOff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&gt;&gt;&gt; </a:t>
            </a: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br>
              <a:rPr lang="it-IT" altLang="zh-TW" sz="2405" kern="0" spc="-19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</a:br>
            <a:br>
              <a:rPr lang="it-IT" altLang="zh-TW" sz="2405" kern="0" spc="-19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</a:br>
            <a:br>
              <a:rPr lang="it-IT" altLang="zh-TW" sz="2405" kern="0" spc="-19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</a:br>
            <a:r>
              <a:rPr lang="en-US" altLang="zh-TW" sz="2405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405" kern="0" spc="-19" dirty="0">
              <a:solidFill>
                <a:srgbClr val="000000">
                  <a:lumMod val="50000"/>
                  <a:lumOff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5" b="1" kern="0" dirty="0">
              <a:solidFill>
                <a:srgbClr val="000000">
                  <a:lumMod val="50000"/>
                  <a:lumOff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405" b="1" kern="0" spc="-19" dirty="0">
              <a:solidFill>
                <a:srgbClr val="000000">
                  <a:lumMod val="50000"/>
                  <a:lumOff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endParaRPr lang="it-IT" altLang="zh-TW" sz="2405" kern="0" spc="-19" dirty="0">
              <a:solidFill>
                <a:srgbClr val="000000">
                  <a:lumMod val="50000"/>
                  <a:lumOff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405" b="1" kern="0" dirty="0">
              <a:solidFill>
                <a:srgbClr val="000000">
                  <a:lumMod val="50000"/>
                  <a:lumOff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endParaRPr lang="it-IT" altLang="zh-TW" sz="2405" b="1" kern="0" spc="-19" dirty="0">
              <a:solidFill>
                <a:srgbClr val="000000">
                  <a:lumMod val="50000"/>
                  <a:lumOff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5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405" kern="0" dirty="0">
              <a:solidFill>
                <a:srgbClr val="000000">
                  <a:lumMod val="50000"/>
                  <a:lumOff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95000"/>
              </a:lnSpc>
              <a:spcBef>
                <a:spcPts val="0"/>
              </a:spcBef>
              <a:buNone/>
            </a:pPr>
            <a:endParaRPr lang="zh-TW" altLang="en-US" sz="2405" kern="0" dirty="0">
              <a:solidFill>
                <a:srgbClr val="000000">
                  <a:lumMod val="50000"/>
                  <a:lumOff val="50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966" y="2795"/>
            <a:ext cx="9721857" cy="685241"/>
          </a:xfrm>
          <a:prstGeom prst="rect">
            <a:avLst/>
          </a:prstGeom>
          <a:solidFill>
            <a:schemeClr val="bg1"/>
          </a:solidFill>
        </p:spPr>
        <p:txBody>
          <a:bodyPr vert="horz" lIns="91365" tIns="45683" rIns="91365" bIns="45683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396" b="1" spc="-130" dirty="0">
                <a:solidFill>
                  <a:srgbClr val="FFFFFF"/>
                </a:solidFill>
                <a:latin typeface="Lucida Console" panose="020B0609040504020204" pitchFamily="49" charset="0"/>
              </a:rPr>
              <a:t>sli</a:t>
            </a:r>
            <a:r>
              <a:rPr lang="en-US" altLang="en-US" sz="4396" b="1" dirty="0">
                <a:solidFill>
                  <a:srgbClr val="FFFFFF"/>
                </a:solidFill>
                <a:latin typeface="Lucida Console" panose="020B0609040504020204" pitchFamily="49" charset="0"/>
              </a:rPr>
              <a:t>c</a:t>
            </a:r>
            <a:r>
              <a:rPr lang="en-US" altLang="en-US" sz="4396" b="1" spc="100" dirty="0">
                <a:solidFill>
                  <a:srgbClr val="FFFFFF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4396" b="1" spc="-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4396" b="1" spc="-100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4396" b="1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en</a:t>
            </a:r>
            <a:r>
              <a:rPr lang="en-US" altLang="en-US" sz="4396" b="1" spc="50" dirty="0">
                <a:solidFill>
                  <a:srgbClr val="2D2DB9"/>
                </a:solidFill>
                <a:latin typeface="Lucida Console" panose="020B0609040504020204" pitchFamily="49" charset="0"/>
              </a:rPr>
              <a:t>um</a:t>
            </a:r>
            <a:r>
              <a:rPr lang="en-US" altLang="en-US" sz="4396" b="1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erat</a:t>
            </a:r>
            <a:r>
              <a:rPr lang="en-US" altLang="en-US" sz="4396" b="1" spc="100" dirty="0">
                <a:solidFill>
                  <a:srgbClr val="2D2DB9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4396" b="1" spc="-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4396" b="1" spc="-100" dirty="0">
                <a:solidFill>
                  <a:srgbClr val="FFFFFF"/>
                </a:solidFill>
                <a:latin typeface="Lucida Console" panose="020B0609040504020204" pitchFamily="49" charset="0"/>
              </a:rPr>
              <a:t> z</a:t>
            </a:r>
            <a:r>
              <a:rPr lang="en-US" altLang="en-US" sz="4396" b="1" spc="-140" dirty="0">
                <a:solidFill>
                  <a:srgbClr val="FFFFFF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4396" b="1" spc="-100" dirty="0">
                <a:solidFill>
                  <a:srgbClr val="FFFFFF"/>
                </a:solidFill>
                <a:latin typeface="Lucida Console" panose="020B0609040504020204" pitchFamily="49" charset="0"/>
              </a:rPr>
              <a:t>p</a:t>
            </a:r>
            <a:endParaRPr lang="en-US" altLang="en-US" sz="4396" b="1" spc="-200" dirty="0">
              <a:solidFill>
                <a:srgbClr val="FFFFFF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11801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callable.__doc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"callable"); _.remove("type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"hash"); _.remove("id");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54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8"/>
          <p:cNvSpPr/>
          <p:nvPr/>
        </p:nvSpPr>
        <p:spPr bwMode="auto">
          <a:xfrm>
            <a:off x="296623" y="8286"/>
            <a:ext cx="9136546" cy="4176707"/>
          </a:xfrm>
          <a:prstGeom prst="wedgeRoundRectCallout">
            <a:avLst>
              <a:gd name="adj1" fmla="val 13710"/>
              <a:gd name="adj2" fmla="val 62563"/>
              <a:gd name="adj3" fmla="val 16667"/>
            </a:avLst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7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MS PGothic" pitchFamily="34" charset="-128"/>
              </a:rPr>
              <a:t> This creates numbered pairs for each element. For ordered types, the enumeration preserves the order:</a:t>
            </a:r>
            <a:br>
              <a:rPr kumimoji="0" lang="en-US" altLang="zh-TW" sz="2798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MS PGothic" pitchFamily="34" charset="-128"/>
              </a:rPr>
            </a:b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enumerate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("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helloWorld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")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&lt;enumerate object at 0x6ffff951708&gt;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set("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helloWorld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")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{'l', 'd', 'o', 'r', 'W', 'e', 'h'}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list(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enumerate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(set("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helloWorld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")))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[(0, 'l'), (1, 'd'), (2, 'o'), (3, 'r'), (4, 'W'), (5, 'e'), (6, 'h')]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set(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enumerate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("</a:t>
            </a:r>
            <a:r>
              <a:rPr kumimoji="0" lang="en-US" altLang="zh-TW" sz="2398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helloWorld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"))</a:t>
            </a:r>
            <a:r>
              <a:rPr kumimoji="0" lang="en-US" altLang="zh-TW" sz="2398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#order</a:t>
            </a:r>
            <a:r>
              <a:rPr kumimoji="0" lang="en-US" altLang="zh-TW" sz="1998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preserved</a:t>
            </a:r>
          </a:p>
          <a:p>
            <a:pPr marL="0" marR="0" lvl="0" indent="0" defTabSz="845864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2D2DB9"/>
              </a:buClr>
              <a:buSzTx/>
              <a:buFontTx/>
              <a:buNone/>
              <a:tabLst/>
              <a:defRPr/>
            </a:pP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{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(7,</a:t>
            </a:r>
            <a:r>
              <a:rPr kumimoji="0" lang="en-US" altLang="zh-TW" sz="1599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'r')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(2,</a:t>
            </a:r>
            <a:r>
              <a:rPr kumimoji="0" lang="en-US" altLang="zh-TW" sz="1599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'l')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(4,</a:t>
            </a:r>
            <a:r>
              <a:rPr kumimoji="0" lang="en-US" altLang="zh-TW" sz="1599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'o')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(3,</a:t>
            </a:r>
            <a:r>
              <a:rPr kumimoji="0" lang="en-US" altLang="zh-TW" sz="1599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'l')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(8,</a:t>
            </a:r>
            <a:r>
              <a:rPr kumimoji="0" lang="en-US" altLang="zh-TW" sz="1599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'l')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 (9,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'd'),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(5,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'W'),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(0,</a:t>
            </a:r>
            <a:r>
              <a:rPr kumimoji="0" lang="en-US" altLang="zh-TW" sz="19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'h')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19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(1,</a:t>
            </a:r>
            <a:r>
              <a:rPr kumimoji="0" lang="en-US" altLang="zh-TW" sz="19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'e')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,</a:t>
            </a:r>
            <a:r>
              <a:rPr kumimoji="0" lang="en-US" altLang="zh-TW" sz="19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(6,</a:t>
            </a:r>
            <a:r>
              <a:rPr kumimoji="0" lang="en-US" altLang="zh-TW" sz="1799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2D2DB9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'o')</a:t>
            </a:r>
            <a:r>
              <a:rPr kumimoji="0" lang="en-US" altLang="zh-TW" sz="239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MS PGothic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3069818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callable.__doc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"callable"); _.remove("type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"hash"); _.remove("id");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54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ular Callout 9"/>
          <p:cNvSpPr/>
          <p:nvPr/>
        </p:nvSpPr>
        <p:spPr bwMode="auto">
          <a:xfrm>
            <a:off x="1612217" y="3099728"/>
            <a:ext cx="6429218" cy="1519547"/>
          </a:xfrm>
          <a:prstGeom prst="wedgeRoundRectCallout">
            <a:avLst>
              <a:gd name="adj1" fmla="val 26593"/>
              <a:gd name="adj2" fmla="val 148152"/>
              <a:gd name="adj3" fmla="val 16667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683" numCol="1" rtlCol="0" anchor="t" anchorCtr="0" compatLnSpc="1">
            <a:prstTxWarp prst="textNoShape">
              <a:avLst/>
            </a:prstTxWarp>
          </a:bodyPr>
          <a:lstStyle/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zh-TW" sz="1998" kern="0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Zip is a way to merge lists.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  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  </a:t>
            </a:r>
            <a:endParaRPr lang="en-US" altLang="zh-TW" sz="2398" kern="0" dirty="0">
              <a:solidFill>
                <a:srgbClr val="000000"/>
              </a:solidFill>
              <a:latin typeface="Lucida Console" panose="020B0609040504020204" pitchFamily="49" charset="0"/>
              <a:ea typeface="MS PGothic" pitchFamily="34" charset="-128"/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1636076" y="3099728"/>
            <a:ext cx="6429218" cy="1519547"/>
          </a:xfrm>
          <a:prstGeom prst="wedgeRoundRectCallout">
            <a:avLst>
              <a:gd name="adj1" fmla="val 21556"/>
              <a:gd name="adj2" fmla="val 64783"/>
              <a:gd name="adj3" fmla="val 16667"/>
            </a:avLst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683" numCol="1" rtlCol="0" anchor="t" anchorCtr="0" compatLnSpc="1">
            <a:prstTxWarp prst="textNoShape">
              <a:avLst/>
            </a:prstTxWarp>
          </a:bodyPr>
          <a:lstStyle/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zh-TW" sz="1998" kern="0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endParaRPr lang="en-US" altLang="zh-TW" sz="2798" kern="0" dirty="0">
              <a:solidFill>
                <a:srgbClr val="000000"/>
              </a:solidFill>
              <a:ea typeface="MS PGothic" pitchFamily="34" charset="-128"/>
            </a:endParaRP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  </a:t>
            </a:r>
            <a:r>
              <a:rPr lang="en-US" altLang="zh-TW" sz="2798" kern="0" dirty="0">
                <a:solidFill>
                  <a:schemeClr val="accent2"/>
                </a:solidFill>
                <a:ea typeface="MS PGothic" pitchFamily="34" charset="-128"/>
              </a:rPr>
              <a:t>- It can be used to make a dictionary.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91C4"/>
                </a:solidFill>
                <a:ea typeface="MS PGothic" pitchFamily="34" charset="-128"/>
              </a:rPr>
              <a:t> </a:t>
            </a:r>
            <a:r>
              <a:rPr lang="en-US" altLang="zh-TW" sz="2798" kern="0" dirty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 </a:t>
            </a:r>
            <a:r>
              <a:rPr lang="en-US" altLang="zh-TW" sz="2798" kern="0" dirty="0">
                <a:solidFill>
                  <a:schemeClr val="bg1">
                    <a:lumMod val="75000"/>
                  </a:schemeClr>
                </a:solidFill>
                <a:ea typeface="MS PGothic" pitchFamily="34" charset="-128"/>
              </a:rPr>
              <a:t>- It can be </a:t>
            </a:r>
            <a:r>
              <a:rPr lang="en-US" altLang="zh-TW" sz="2798" kern="0" dirty="0">
                <a:solidFill>
                  <a:srgbClr val="BFBFBF"/>
                </a:solidFill>
                <a:ea typeface="MS PGothic" pitchFamily="34" charset="-128"/>
              </a:rPr>
              <a:t>used</a:t>
            </a:r>
            <a:r>
              <a:rPr lang="en-US" altLang="zh-TW" sz="2798" kern="0" dirty="0">
                <a:solidFill>
                  <a:schemeClr val="bg1">
                    <a:lumMod val="75000"/>
                  </a:schemeClr>
                </a:solidFill>
                <a:ea typeface="MS PGothic" pitchFamily="34" charset="-128"/>
              </a:rPr>
              <a:t> in parallel traversal.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endParaRPr lang="en-US" altLang="zh-TW" sz="2798" kern="0" dirty="0">
              <a:solidFill>
                <a:srgbClr val="000000"/>
              </a:solidFill>
              <a:ea typeface="MS PGothic" pitchFamily="34" charset="-128"/>
            </a:endParaRP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  </a:t>
            </a:r>
            <a:endParaRPr lang="en-US" altLang="zh-TW" sz="2398" kern="0" dirty="0">
              <a:solidFill>
                <a:srgbClr val="000000"/>
              </a:solidFill>
              <a:latin typeface="Lucida Console" panose="020B0609040504020204" pitchFamily="49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106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1"/>
                            </p:stCondLst>
                            <p:childTnLst>
                              <p:par>
                                <p:cTn id="1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9590" y="704257"/>
            <a:ext cx="9136591" cy="5777180"/>
          </a:xfrm>
          <a:solidFill>
            <a:schemeClr val="tx1"/>
          </a:solidFill>
        </p:spPr>
        <p:txBody>
          <a:bodyPr/>
          <a:lstStyle/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a = (0,1,2); b = (3,4,5); c=(6,7,8)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zip(</a:t>
            </a:r>
            <a:r>
              <a:rPr lang="en-US" altLang="zh-TW" dirty="0" err="1">
                <a:solidFill>
                  <a:schemeClr val="bg1"/>
                </a:solidFill>
                <a:latin typeface="Lucida Console" panose="020B0609040504020204" pitchFamily="49" charset="0"/>
              </a:rPr>
              <a:t>a,b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&lt;zip object at </a:t>
            </a:r>
            <a:r>
              <a:rPr lang="en-US" altLang="zh-TW" dirty="0">
                <a:solidFill>
                  <a:srgbClr val="FFC000"/>
                </a:solidFill>
                <a:latin typeface="Lucida Console" panose="020B0609040504020204" pitchFamily="49" charset="0"/>
              </a:rPr>
              <a:t>0x6ffffc957</a:t>
            </a:r>
            <a:r>
              <a:rPr lang="en-US" altLang="zh-TW" b="1" dirty="0">
                <a:solidFill>
                  <a:srgbClr val="FFFF00"/>
                </a:solidFill>
                <a:latin typeface="Lucida Console" panose="020B0609040504020204" pitchFamily="49" charset="0"/>
              </a:rPr>
              <a:t>88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zip(</a:t>
            </a:r>
            <a:r>
              <a:rPr lang="en-US" altLang="zh-TW" dirty="0" err="1">
                <a:solidFill>
                  <a:schemeClr val="bg1"/>
                </a:solidFill>
                <a:latin typeface="Lucida Console" panose="020B0609040504020204" pitchFamily="49" charset="0"/>
              </a:rPr>
              <a:t>a,b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&lt;zip object at </a:t>
            </a:r>
            <a:r>
              <a:rPr lang="en-US" altLang="zh-TW" dirty="0">
                <a:solidFill>
                  <a:srgbClr val="FFC000"/>
                </a:solidFill>
                <a:latin typeface="Lucida Console" panose="020B0609040504020204" pitchFamily="49" charset="0"/>
              </a:rPr>
              <a:t>0x6ffffc957</a:t>
            </a:r>
            <a:r>
              <a:rPr lang="en-US" altLang="zh-TW" b="1" dirty="0">
                <a:solidFill>
                  <a:srgbClr val="FFFF00"/>
                </a:solidFill>
                <a:latin typeface="Lucida Console" panose="020B0609040504020204" pitchFamily="49" charset="0"/>
              </a:rPr>
              <a:t>c8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print(list(zip(</a:t>
            </a:r>
            <a:r>
              <a:rPr lang="en-US" altLang="zh-TW" dirty="0" err="1">
                <a:solidFill>
                  <a:schemeClr val="bg1"/>
                </a:solidFill>
                <a:latin typeface="Lucida Console" panose="020B0609040504020204" pitchFamily="49" charset="0"/>
              </a:rPr>
              <a:t>a,b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)))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92D050"/>
                </a:solidFill>
                <a:latin typeface="Lucida Console" panose="020B0609040504020204" pitchFamily="49" charset="0"/>
              </a:rPr>
              <a:t>[(0, 3), (1, 4), (2, 5)]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print(list(zip(</a:t>
            </a:r>
            <a:r>
              <a:rPr lang="en-US" altLang="zh-TW" dirty="0" err="1">
                <a:solidFill>
                  <a:schemeClr val="bg1"/>
                </a:solidFill>
                <a:latin typeface="Lucida Console" panose="020B0609040504020204" pitchFamily="49" charset="0"/>
              </a:rPr>
              <a:t>b,a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)))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92D050"/>
                </a:solidFill>
                <a:latin typeface="Lucida Console" panose="020B0609040504020204" pitchFamily="49" charset="0"/>
              </a:rPr>
              <a:t>[(3, 0), (4, 1), (5, 2)]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print(list(zip(</a:t>
            </a:r>
            <a:r>
              <a:rPr lang="en-US" altLang="zh-TW" dirty="0" err="1">
                <a:solidFill>
                  <a:schemeClr val="bg1"/>
                </a:solidFill>
                <a:latin typeface="Lucida Console" panose="020B0609040504020204" pitchFamily="49" charset="0"/>
              </a:rPr>
              <a:t>a,b,c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)))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92D050"/>
                </a:solidFill>
                <a:latin typeface="Lucida Console" panose="020B0609040504020204" pitchFamily="49" charset="0"/>
              </a:rPr>
              <a:t>[(0, 3, 6), (1, 4, 7), (2, 5, 8)]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print(list(zip(a,(1000, 1001))))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92D050"/>
                </a:solidFill>
                <a:latin typeface="Lucida Console" panose="020B0609040504020204" pitchFamily="49" charset="0"/>
              </a:rPr>
              <a:t>[(0, 1000), (1, 1001)]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print(list(zip((1000,1001),a)))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92D050"/>
                </a:solidFill>
                <a:latin typeface="Lucida Console" panose="020B0609040504020204" pitchFamily="49" charset="0"/>
              </a:rPr>
              <a:t>[(1000, 0), (1001, 1)]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  <a:defRPr/>
            </a:pPr>
            <a:endParaRPr lang="en-US" altLang="en-US" sz="2798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5553104" y="1998600"/>
            <a:ext cx="3654637" cy="1522758"/>
          </a:xfrm>
          <a:prstGeom prst="wedgeRoundRectCallout">
            <a:avLst>
              <a:gd name="adj1" fmla="val -133217"/>
              <a:gd name="adj2" fmla="val -6806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845864" fontAlgn="base">
              <a:spcBef>
                <a:spcPct val="0"/>
              </a:spcBef>
              <a:spcAft>
                <a:spcPct val="0"/>
              </a:spcAft>
            </a:pPr>
            <a:r>
              <a:rPr lang="en-US" sz="2798" dirty="0">
                <a:solidFill>
                  <a:srgbClr val="000000"/>
                </a:solidFill>
                <a:latin typeface="Times New Roman" charset="0"/>
              </a:rPr>
              <a:t>It didn’t actually apply the zip: it created a zip object.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5553104" y="2912254"/>
            <a:ext cx="3654637" cy="1522758"/>
          </a:xfrm>
          <a:prstGeom prst="wedgeRoundRectCallout">
            <a:avLst>
              <a:gd name="adj1" fmla="val -77239"/>
              <a:gd name="adj2" fmla="val -7306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845864" fontAlgn="base">
              <a:spcBef>
                <a:spcPct val="0"/>
              </a:spcBef>
              <a:spcAft>
                <a:spcPct val="0"/>
              </a:spcAft>
            </a:pPr>
            <a:r>
              <a:rPr lang="en-US" sz="2798" dirty="0">
                <a:solidFill>
                  <a:srgbClr val="000000"/>
                </a:solidFill>
                <a:latin typeface="Times New Roman" charset="0"/>
              </a:rPr>
              <a:t>When you make</a:t>
            </a:r>
            <a:br>
              <a:rPr lang="en-US" sz="2798" dirty="0">
                <a:solidFill>
                  <a:srgbClr val="000000"/>
                </a:solidFill>
                <a:latin typeface="Times New Roman" charset="0"/>
              </a:rPr>
            </a:br>
            <a:r>
              <a:rPr lang="en-US" sz="2798" dirty="0">
                <a:solidFill>
                  <a:srgbClr val="000000"/>
                </a:solidFill>
                <a:latin typeface="Times New Roman" charset="0"/>
              </a:rPr>
              <a:t> a new one, it gets </a:t>
            </a:r>
            <a:br>
              <a:rPr lang="en-US" sz="2798" dirty="0">
                <a:solidFill>
                  <a:srgbClr val="000000"/>
                </a:solidFill>
                <a:latin typeface="Times New Roman" charset="0"/>
              </a:rPr>
            </a:br>
            <a:r>
              <a:rPr lang="en-US" sz="2798" dirty="0">
                <a:solidFill>
                  <a:srgbClr val="000000"/>
                </a:solidFill>
                <a:latin typeface="Times New Roman" charset="0"/>
              </a:rPr>
              <a:t>a new address.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5553104" y="3673635"/>
            <a:ext cx="3654637" cy="1065930"/>
          </a:xfrm>
          <a:prstGeom prst="wedgeRoundRectCallout">
            <a:avLst>
              <a:gd name="adj1" fmla="val -119665"/>
              <a:gd name="adj2" fmla="val -11853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845864" fontAlgn="base">
              <a:spcBef>
                <a:spcPct val="0"/>
              </a:spcBef>
              <a:spcAft>
                <a:spcPct val="0"/>
              </a:spcAft>
            </a:pPr>
            <a:r>
              <a:rPr lang="en-US" sz="2798" dirty="0">
                <a:solidFill>
                  <a:srgbClr val="000000"/>
                </a:solidFill>
                <a:latin typeface="Times New Roman" charset="0"/>
              </a:rPr>
              <a:t>This forces the object to expand to a list. 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553104" y="4967975"/>
            <a:ext cx="3654637" cy="989793"/>
          </a:xfrm>
          <a:prstGeom prst="wedgeRoundRectCallout">
            <a:avLst>
              <a:gd name="adj1" fmla="val -58761"/>
              <a:gd name="adj2" fmla="val -10960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845864" fontAlgn="base">
              <a:spcBef>
                <a:spcPct val="0"/>
              </a:spcBef>
              <a:spcAft>
                <a:spcPct val="0"/>
              </a:spcAft>
            </a:pPr>
            <a:r>
              <a:rPr lang="en-US" sz="2798" dirty="0">
                <a:solidFill>
                  <a:srgbClr val="000000"/>
                </a:solidFill>
                <a:latin typeface="Times New Roman" charset="0"/>
              </a:rPr>
              <a:t>You can zip more</a:t>
            </a:r>
            <a:br>
              <a:rPr lang="en-US" sz="2798" dirty="0">
                <a:solidFill>
                  <a:srgbClr val="000000"/>
                </a:solidFill>
                <a:latin typeface="Times New Roman" charset="0"/>
              </a:rPr>
            </a:br>
            <a:r>
              <a:rPr lang="en-US" sz="2798" dirty="0">
                <a:solidFill>
                  <a:srgbClr val="000000"/>
                </a:solidFill>
                <a:latin typeface="Times New Roman" charset="0"/>
              </a:rPr>
              <a:t> than two lists.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553104" y="3369080"/>
            <a:ext cx="3654637" cy="989793"/>
          </a:xfrm>
          <a:prstGeom prst="wedgeRoundRectCallout">
            <a:avLst>
              <a:gd name="adj1" fmla="val -76153"/>
              <a:gd name="adj2" fmla="val 15000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845864" fontAlgn="base">
              <a:spcBef>
                <a:spcPct val="0"/>
              </a:spcBef>
              <a:spcAft>
                <a:spcPct val="0"/>
              </a:spcAft>
            </a:pPr>
            <a:r>
              <a:rPr lang="en-US" sz="2798" dirty="0">
                <a:solidFill>
                  <a:srgbClr val="000000"/>
                </a:solidFill>
                <a:latin typeface="Times New Roman" charset="0"/>
              </a:rPr>
              <a:t>If lengths mismatch, zip uses the shortest.</a:t>
            </a: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5553104" y="3673635"/>
            <a:ext cx="3654637" cy="1065930"/>
          </a:xfrm>
          <a:prstGeom prst="wedgeRoundRectCallout">
            <a:avLst>
              <a:gd name="adj1" fmla="val -118543"/>
              <a:gd name="adj2" fmla="val -5954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845864" fontAlgn="base">
              <a:spcBef>
                <a:spcPct val="0"/>
              </a:spcBef>
              <a:spcAft>
                <a:spcPct val="0"/>
              </a:spcAft>
            </a:pPr>
            <a:r>
              <a:rPr lang="en-US" sz="2798" dirty="0">
                <a:solidFill>
                  <a:srgbClr val="000000"/>
                </a:solidFill>
                <a:latin typeface="Times New Roman" charset="0"/>
              </a:rPr>
              <a:t>This forces the object to expand to a list. 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261376" y="-208679"/>
            <a:ext cx="9136546" cy="9968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5864"/>
            <a:r>
              <a:rPr lang="en-US" altLang="zh-TW" sz="4071" kern="0" dirty="0">
                <a:latin typeface="Elephant" panose="02020904090505020303" pitchFamily="18" charset="0"/>
              </a:rPr>
              <a:t>What is </a:t>
            </a:r>
            <a:r>
              <a:rPr lang="en-US" altLang="zh-TW" sz="4071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zip</a:t>
            </a:r>
            <a:r>
              <a:rPr lang="en-US" altLang="zh-TW" sz="4994" kern="0" dirty="0">
                <a:latin typeface="Cooper Black" panose="0208090404030B020404" pitchFamily="18" charset="0"/>
              </a:rPr>
              <a:t>?</a:t>
            </a:r>
            <a:r>
              <a:rPr lang="en-US" altLang="zh-TW" sz="4071" kern="0" dirty="0">
                <a:latin typeface="Elephant" panose="02020904090505020303" pitchFamily="18" charset="0"/>
              </a:rPr>
              <a:t> A way to merge lists.</a:t>
            </a:r>
            <a:endParaRPr lang="en-US" altLang="zh-TW" sz="4071" b="1" kern="0" dirty="0">
              <a:latin typeface="Lucida Console" panose="020B0609040504020204" pitchFamily="49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99590" y="704257"/>
            <a:ext cx="781078" cy="57771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365" tIns="45683" rIns="91365" bIns="45683" numCol="1" anchor="t" anchorCtr="0" compatLnSpc="1">
            <a:prstTxWarp prst="textNoShape">
              <a:avLst/>
            </a:prstTxWarp>
          </a:bodyPr>
          <a:lstStyle>
            <a:lvl1pPr marL="342870" indent="-34287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885" indent="-285726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00" indent="-22858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061" indent="-22858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222" indent="-22858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381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542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702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5863" indent="-2285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598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598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598" kern="0" dirty="0">
              <a:solidFill>
                <a:srgbClr val="FFFFFF">
                  <a:lumMod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598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598" kern="0" dirty="0">
              <a:solidFill>
                <a:srgbClr val="FFFFFF">
                  <a:lumMod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598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598" kern="0" dirty="0">
              <a:solidFill>
                <a:srgbClr val="FFFFFF">
                  <a:lumMod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598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598" kern="0" dirty="0">
              <a:solidFill>
                <a:srgbClr val="FFFFFF">
                  <a:lumMod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598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598" kern="0" dirty="0">
              <a:solidFill>
                <a:srgbClr val="FFFFFF">
                  <a:lumMod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598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598" kern="0" dirty="0">
              <a:solidFill>
                <a:srgbClr val="FFFFFF">
                  <a:lumMod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598" kern="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598" kern="0" dirty="0">
              <a:solidFill>
                <a:srgbClr val="FFFFFF">
                  <a:lumMod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2598" kern="0" dirty="0">
              <a:solidFill>
                <a:srgbClr val="FFFFFF">
                  <a:lumMod val="50000"/>
                </a:srgbClr>
              </a:solidFill>
              <a:latin typeface="Lucida Console" panose="020B0609040504020204" pitchFamily="49" charset="0"/>
            </a:endParaRPr>
          </a:p>
          <a:p>
            <a:pPr marL="0" indent="0" eaLnBrk="1" hangingPunct="1">
              <a:lnSpc>
                <a:spcPct val="95000"/>
              </a:lnSpc>
              <a:spcBef>
                <a:spcPts val="0"/>
              </a:spcBef>
              <a:buNone/>
              <a:defRPr/>
            </a:pPr>
            <a:endParaRPr lang="en-US" altLang="en-US" sz="2798" kern="0" dirty="0">
              <a:solidFill>
                <a:srgbClr val="FFFFFF">
                  <a:lumMod val="50000"/>
                </a:srgb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69233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12" grpId="0" animBg="1"/>
      <p:bldP spid="12" grpId="1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42" y="679137"/>
            <a:ext cx="9148412" cy="6039613"/>
          </a:xfrm>
          <a:solidFill>
            <a:schemeClr val="tx1"/>
          </a:solidFill>
        </p:spPr>
        <p:txBody>
          <a:bodyPr/>
          <a:lstStyle/>
          <a:p>
            <a:pPr marL="95166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215" algn="l"/>
                <a:tab pos="467897" algn="l"/>
                <a:tab pos="881867" algn="l"/>
                <a:tab pos="1297423" algn="l"/>
                <a:tab pos="1711393" algn="l"/>
                <a:tab pos="2125363" algn="l"/>
                <a:tab pos="2539333" algn="l"/>
                <a:tab pos="2954891" algn="l"/>
                <a:tab pos="3368859" algn="l"/>
                <a:tab pos="3782831" algn="l"/>
                <a:tab pos="4196800" algn="l"/>
                <a:tab pos="4612357" algn="l"/>
                <a:tab pos="5026327" algn="l"/>
                <a:tab pos="5440297" algn="l"/>
                <a:tab pos="5854268" algn="l"/>
                <a:tab pos="6269824" algn="l"/>
                <a:tab pos="6683794" algn="l"/>
                <a:tab pos="7097763" algn="l"/>
                <a:tab pos="7511734" algn="l"/>
                <a:tab pos="7927289" algn="l"/>
                <a:tab pos="8341261" algn="l"/>
              </a:tabLst>
            </a:pPr>
            <a:br>
              <a:rPr lang="en-GB" altLang="en-US" sz="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altLang="en-US" sz="3197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3197" dirty="0">
                <a:solidFill>
                  <a:srgbClr val="99FF66"/>
                </a:solidFill>
                <a:latin typeface="Lucida Console" panose="020B0609040504020204" pitchFamily="49" charset="0"/>
              </a:rPr>
              <a:t>k = ['apple', (1,2), 3j]</a:t>
            </a:r>
          </a:p>
          <a:p>
            <a:pPr marL="95166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215" algn="l"/>
                <a:tab pos="467897" algn="l"/>
                <a:tab pos="881867" algn="l"/>
                <a:tab pos="1297423" algn="l"/>
                <a:tab pos="1711393" algn="l"/>
                <a:tab pos="2125363" algn="l"/>
                <a:tab pos="2539333" algn="l"/>
                <a:tab pos="2954891" algn="l"/>
                <a:tab pos="3368859" algn="l"/>
                <a:tab pos="3782831" algn="l"/>
                <a:tab pos="4196800" algn="l"/>
                <a:tab pos="4612357" algn="l"/>
                <a:tab pos="5026327" algn="l"/>
                <a:tab pos="5440297" algn="l"/>
                <a:tab pos="5854268" algn="l"/>
                <a:tab pos="6269824" algn="l"/>
                <a:tab pos="6683794" algn="l"/>
                <a:tab pos="7097763" algn="l"/>
                <a:tab pos="7511734" algn="l"/>
                <a:tab pos="7927289" algn="l"/>
                <a:tab pos="8341261" algn="l"/>
              </a:tabLst>
            </a:pPr>
            <a:r>
              <a:rPr lang="en-GB" altLang="en-US" sz="3197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3197" dirty="0">
                <a:solidFill>
                  <a:srgbClr val="FF3399"/>
                </a:solidFill>
                <a:latin typeface="Lucida Console" panose="020B0609040504020204" pitchFamily="49" charset="0"/>
              </a:rPr>
              <a:t>v = [5, 637, 921]</a:t>
            </a:r>
          </a:p>
          <a:p>
            <a:pPr marL="95166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215" algn="l"/>
                <a:tab pos="467897" algn="l"/>
                <a:tab pos="881867" algn="l"/>
                <a:tab pos="1297423" algn="l"/>
                <a:tab pos="1711393" algn="l"/>
                <a:tab pos="2125363" algn="l"/>
                <a:tab pos="2539333" algn="l"/>
                <a:tab pos="2954891" algn="l"/>
                <a:tab pos="3368859" algn="l"/>
                <a:tab pos="3782831" algn="l"/>
                <a:tab pos="4196800" algn="l"/>
                <a:tab pos="4612357" algn="l"/>
                <a:tab pos="5026327" algn="l"/>
                <a:tab pos="5440297" algn="l"/>
                <a:tab pos="5854268" algn="l"/>
                <a:tab pos="6269824" algn="l"/>
                <a:tab pos="6683794" algn="l"/>
                <a:tab pos="7097763" algn="l"/>
                <a:tab pos="7511734" algn="l"/>
                <a:tab pos="7927289" algn="l"/>
                <a:tab pos="8341261" algn="l"/>
              </a:tabLst>
            </a:pPr>
            <a:r>
              <a:rPr lang="en-GB" altLang="en-US" sz="3197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D = </a:t>
            </a:r>
            <a:r>
              <a:rPr lang="en-GB" altLang="en-US" sz="3197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dict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197" b="1" dirty="0">
                <a:solidFill>
                  <a:srgbClr val="FF0000"/>
                </a:solidFill>
                <a:latin typeface="Lucida Console" panose="020B0609040504020204" pitchFamily="49" charset="0"/>
              </a:rPr>
              <a:t>zip</a:t>
            </a:r>
            <a:r>
              <a:rPr lang="en-GB" altLang="en-US" sz="3197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197" dirty="0" err="1">
                <a:solidFill>
                  <a:srgbClr val="99FF66"/>
                </a:solidFill>
                <a:latin typeface="Lucida Console" panose="020B0609040504020204" pitchFamily="49" charset="0"/>
              </a:rPr>
              <a:t>k</a:t>
            </a:r>
            <a:r>
              <a:rPr lang="en-GB" altLang="en-US" sz="3197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,</a:t>
            </a:r>
            <a:r>
              <a:rPr lang="en-GB" altLang="en-US" sz="3197" dirty="0" err="1">
                <a:solidFill>
                  <a:srgbClr val="FF3399"/>
                </a:solidFill>
                <a:latin typeface="Lucida Console" panose="020B0609040504020204" pitchFamily="49" charset="0"/>
              </a:rPr>
              <a:t>v</a:t>
            </a:r>
            <a:r>
              <a:rPr lang="en-GB" altLang="en-US" sz="3197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)</a:t>
            </a:r>
            <a:r>
              <a:rPr lang="ar-SA" altLang="en-US" sz="3197" dirty="0">
                <a:solidFill>
                  <a:schemeClr val="bg1"/>
                </a:solidFill>
                <a:latin typeface="Lucida Console" panose="020B0609040504020204" pitchFamily="49" charset="0"/>
                <a:cs typeface="Arial" pitchFamily="34" charset="0"/>
              </a:rPr>
              <a:t>‏</a:t>
            </a:r>
            <a:endParaRPr lang="en-US" altLang="en-US" sz="3197" dirty="0">
              <a:solidFill>
                <a:schemeClr val="bg1"/>
              </a:solidFill>
              <a:latin typeface="Lucida Console" panose="020B0609040504020204" pitchFamily="49" charset="0"/>
              <a:cs typeface="Arial" pitchFamily="34" charset="0"/>
            </a:endParaRPr>
          </a:p>
          <a:p>
            <a:pPr marL="95166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215" algn="l"/>
                <a:tab pos="467897" algn="l"/>
                <a:tab pos="881867" algn="l"/>
                <a:tab pos="1297423" algn="l"/>
                <a:tab pos="1711393" algn="l"/>
                <a:tab pos="2125363" algn="l"/>
                <a:tab pos="2539333" algn="l"/>
                <a:tab pos="2954891" algn="l"/>
                <a:tab pos="3368859" algn="l"/>
                <a:tab pos="3782831" algn="l"/>
                <a:tab pos="4196800" algn="l"/>
                <a:tab pos="4612357" algn="l"/>
                <a:tab pos="5026327" algn="l"/>
                <a:tab pos="5440297" algn="l"/>
                <a:tab pos="5854268" algn="l"/>
                <a:tab pos="6269824" algn="l"/>
                <a:tab pos="6683794" algn="l"/>
                <a:tab pos="7097763" algn="l"/>
                <a:tab pos="7511734" algn="l"/>
                <a:tab pos="7927289" algn="l"/>
                <a:tab pos="8341261" algn="l"/>
              </a:tabLst>
            </a:pPr>
            <a:r>
              <a:rPr lang="en-GB" altLang="en-US" sz="3197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D</a:t>
            </a:r>
          </a:p>
          <a:p>
            <a:pPr marL="95166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215" algn="l"/>
                <a:tab pos="467897" algn="l"/>
                <a:tab pos="881867" algn="l"/>
                <a:tab pos="1297423" algn="l"/>
                <a:tab pos="1711393" algn="l"/>
                <a:tab pos="2125363" algn="l"/>
                <a:tab pos="2539333" algn="l"/>
                <a:tab pos="2954891" algn="l"/>
                <a:tab pos="3368859" algn="l"/>
                <a:tab pos="3782831" algn="l"/>
                <a:tab pos="4196800" algn="l"/>
                <a:tab pos="4612357" algn="l"/>
                <a:tab pos="5026327" algn="l"/>
                <a:tab pos="5440297" algn="l"/>
                <a:tab pos="5854268" algn="l"/>
                <a:tab pos="6269824" algn="l"/>
                <a:tab pos="6683794" algn="l"/>
                <a:tab pos="7097763" algn="l"/>
                <a:tab pos="7511734" algn="l"/>
                <a:tab pos="7927289" algn="l"/>
                <a:tab pos="8341261" algn="l"/>
              </a:tabLst>
            </a:pP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{</a:t>
            </a:r>
            <a:r>
              <a:rPr lang="en-GB" altLang="en-US" sz="3197" dirty="0">
                <a:solidFill>
                  <a:srgbClr val="99FF66"/>
                </a:solidFill>
                <a:latin typeface="Lucida Console" panose="020B0609040504020204" pitchFamily="49" charset="0"/>
              </a:rPr>
              <a:t>(1, 2)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: </a:t>
            </a:r>
            <a:r>
              <a:rPr lang="en-GB" altLang="en-US" sz="3197" dirty="0">
                <a:solidFill>
                  <a:srgbClr val="FF3399"/>
                </a:solidFill>
                <a:latin typeface="Lucida Console" panose="020B0609040504020204" pitchFamily="49" charset="0"/>
              </a:rPr>
              <a:t>637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, </a:t>
            </a:r>
            <a:r>
              <a:rPr lang="en-GB" altLang="en-US" sz="3197" dirty="0">
                <a:solidFill>
                  <a:srgbClr val="99FF66"/>
                </a:solidFill>
                <a:latin typeface="Lucida Console" panose="020B0609040504020204" pitchFamily="49" charset="0"/>
              </a:rPr>
              <a:t>3j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: </a:t>
            </a:r>
            <a:r>
              <a:rPr lang="en-GB" altLang="en-US" sz="3197" dirty="0">
                <a:solidFill>
                  <a:srgbClr val="FF3399"/>
                </a:solidFill>
                <a:latin typeface="Lucida Console" panose="020B0609040504020204" pitchFamily="49" charset="0"/>
              </a:rPr>
              <a:t>921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, </a:t>
            </a:r>
            <a:r>
              <a:rPr lang="en-GB" altLang="en-US" sz="3197" dirty="0">
                <a:solidFill>
                  <a:srgbClr val="99FF66"/>
                </a:solidFill>
                <a:latin typeface="Lucida Console" panose="020B0609040504020204" pitchFamily="49" charset="0"/>
              </a:rPr>
              <a:t>'apple'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: </a:t>
            </a:r>
            <a:r>
              <a:rPr lang="en-GB" altLang="en-US" sz="3197" dirty="0">
                <a:solidFill>
                  <a:srgbClr val="FF3399"/>
                </a:solidFill>
                <a:latin typeface="Lucida Console" panose="020B0609040504020204" pitchFamily="49" charset="0"/>
              </a:rPr>
              <a:t>5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}</a:t>
            </a:r>
          </a:p>
          <a:p>
            <a:pPr marL="95166" indent="0" eaLnBrk="1">
              <a:lnSpc>
                <a:spcPct val="90000"/>
              </a:lnSpc>
              <a:spcBef>
                <a:spcPts val="0"/>
              </a:spcBef>
              <a:buSzPct val="45000"/>
              <a:buNone/>
              <a:tabLst>
                <a:tab pos="363215" algn="l"/>
                <a:tab pos="467897" algn="l"/>
                <a:tab pos="881867" algn="l"/>
                <a:tab pos="1297423" algn="l"/>
                <a:tab pos="1711393" algn="l"/>
                <a:tab pos="2125363" algn="l"/>
                <a:tab pos="2539333" algn="l"/>
                <a:tab pos="2954891" algn="l"/>
                <a:tab pos="3368859" algn="l"/>
                <a:tab pos="3782831" algn="l"/>
                <a:tab pos="4196800" algn="l"/>
                <a:tab pos="4612357" algn="l"/>
                <a:tab pos="5026327" algn="l"/>
                <a:tab pos="5440297" algn="l"/>
                <a:tab pos="5854268" algn="l"/>
                <a:tab pos="6269824" algn="l"/>
                <a:tab pos="6683794" algn="l"/>
                <a:tab pos="7097763" algn="l"/>
                <a:tab pos="7511734" algn="l"/>
                <a:tab pos="7927289" algn="l"/>
                <a:tab pos="8341261" algn="l"/>
              </a:tabLst>
            </a:pPr>
            <a:r>
              <a:rPr lang="en-GB" altLang="en-US" sz="3197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</a:p>
          <a:p>
            <a:pPr marL="95166" indent="0" eaLnBrk="1">
              <a:lnSpc>
                <a:spcPct val="90000"/>
              </a:lnSpc>
              <a:spcBef>
                <a:spcPts val="0"/>
              </a:spcBef>
              <a:buSzPct val="45000"/>
              <a:buNone/>
              <a:tabLst>
                <a:tab pos="363215" algn="l"/>
                <a:tab pos="467897" algn="l"/>
                <a:tab pos="881867" algn="l"/>
                <a:tab pos="1297423" algn="l"/>
                <a:tab pos="1711393" algn="l"/>
                <a:tab pos="2125363" algn="l"/>
                <a:tab pos="2539333" algn="l"/>
                <a:tab pos="2954891" algn="l"/>
                <a:tab pos="3368859" algn="l"/>
                <a:tab pos="3782831" algn="l"/>
                <a:tab pos="4196800" algn="l"/>
                <a:tab pos="4612357" algn="l"/>
                <a:tab pos="5026327" algn="l"/>
                <a:tab pos="5440297" algn="l"/>
                <a:tab pos="5854268" algn="l"/>
                <a:tab pos="6269824" algn="l"/>
                <a:tab pos="6683794" algn="l"/>
                <a:tab pos="7097763" algn="l"/>
                <a:tab pos="7511734" algn="l"/>
                <a:tab pos="7927289" algn="l"/>
                <a:tab pos="8341261" algn="l"/>
              </a:tabLst>
            </a:pPr>
            <a:r>
              <a:rPr lang="en-GB" altLang="en-US" sz="3197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#</a:t>
            </a:r>
            <a:r>
              <a:rPr lang="en-GB" altLang="en-US" sz="1998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T</a:t>
            </a:r>
            <a:r>
              <a:rPr lang="en-GB" altLang="en-US" sz="3197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hree</a:t>
            </a:r>
            <a:r>
              <a:rPr lang="en-GB" altLang="en-US" sz="2798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slides</a:t>
            </a:r>
            <a:r>
              <a:rPr lang="en-GB" altLang="en-US" sz="2798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ba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c</a:t>
            </a:r>
            <a:r>
              <a:rPr lang="en-GB" altLang="en-US" sz="3197" spc="-500" dirty="0">
                <a:solidFill>
                  <a:srgbClr val="00B0F0"/>
                </a:solidFill>
                <a:latin typeface="Lucida Console" panose="020B0609040504020204" pitchFamily="49" charset="0"/>
              </a:rPr>
              <a:t>k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,</a:t>
            </a:r>
            <a:r>
              <a:rPr lang="en-GB" altLang="en-US" sz="2798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we</a:t>
            </a:r>
            <a:r>
              <a:rPr lang="en-GB" altLang="en-US" sz="2798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also</a:t>
            </a:r>
            <a:r>
              <a:rPr lang="en-GB" altLang="en-US" sz="2798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used</a:t>
            </a:r>
          </a:p>
          <a:p>
            <a:pPr marL="95166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215" algn="l"/>
                <a:tab pos="467897" algn="l"/>
                <a:tab pos="881867" algn="l"/>
                <a:tab pos="1297423" algn="l"/>
                <a:tab pos="1711393" algn="l"/>
                <a:tab pos="2125363" algn="l"/>
                <a:tab pos="2539333" algn="l"/>
                <a:tab pos="2954891" algn="l"/>
                <a:tab pos="3368859" algn="l"/>
                <a:tab pos="3782831" algn="l"/>
                <a:tab pos="4196800" algn="l"/>
                <a:tab pos="4612357" algn="l"/>
                <a:tab pos="5026327" algn="l"/>
                <a:tab pos="5440297" algn="l"/>
                <a:tab pos="5854268" algn="l"/>
                <a:tab pos="6269824" algn="l"/>
                <a:tab pos="6683794" algn="l"/>
                <a:tab pos="7097763" algn="l"/>
                <a:tab pos="7511734" algn="l"/>
                <a:tab pos="7927289" algn="l"/>
                <a:tab pos="8341261" algn="l"/>
              </a:tabLst>
            </a:pPr>
            <a:r>
              <a:rPr lang="en-GB" altLang="en-US" sz="3197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#</a:t>
            </a:r>
            <a:r>
              <a:rPr lang="en-GB" altLang="en-US" sz="1998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enum</a:t>
            </a:r>
            <a:r>
              <a:rPr lang="en-GB" altLang="en-US" sz="3197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r</a:t>
            </a:r>
            <a:r>
              <a:rPr lang="en-GB" altLang="en-US" sz="3197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at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GB" altLang="en-US" sz="2798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to</a:t>
            </a:r>
            <a:r>
              <a:rPr lang="en-GB" altLang="en-US" sz="2798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m</a:t>
            </a:r>
            <a:r>
              <a:rPr lang="en-GB" altLang="en-US" sz="3197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ak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e</a:t>
            </a:r>
            <a:r>
              <a:rPr lang="en-GB" altLang="en-US" sz="2798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GB" altLang="en-US" sz="2798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di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ct</a:t>
            </a:r>
            <a:r>
              <a:rPr lang="en-GB" altLang="en-US" sz="3197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iona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ry</a:t>
            </a:r>
          </a:p>
          <a:p>
            <a:pPr marL="95166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215" algn="l"/>
                <a:tab pos="467897" algn="l"/>
                <a:tab pos="881867" algn="l"/>
                <a:tab pos="1297423" algn="l"/>
                <a:tab pos="1711393" algn="l"/>
                <a:tab pos="2125363" algn="l"/>
                <a:tab pos="2539333" algn="l"/>
                <a:tab pos="2954891" algn="l"/>
                <a:tab pos="3368859" algn="l"/>
                <a:tab pos="3782831" algn="l"/>
                <a:tab pos="4196800" algn="l"/>
                <a:tab pos="4612357" algn="l"/>
                <a:tab pos="5026327" algn="l"/>
                <a:tab pos="5440297" algn="l"/>
                <a:tab pos="5854268" algn="l"/>
                <a:tab pos="6269824" algn="l"/>
                <a:tab pos="6683794" algn="l"/>
                <a:tab pos="7097763" algn="l"/>
                <a:tab pos="7511734" algn="l"/>
                <a:tab pos="7927289" algn="l"/>
                <a:tab pos="8341261" algn="l"/>
              </a:tabLst>
            </a:pPr>
            <a:r>
              <a:rPr lang="en-GB" altLang="en-US" sz="3197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#</a:t>
            </a:r>
            <a:r>
              <a:rPr lang="en-GB" altLang="en-US" sz="1399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spc="-300" dirty="0">
                <a:solidFill>
                  <a:srgbClr val="00B0F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197" spc="-350" dirty="0">
                <a:solidFill>
                  <a:srgbClr val="00B0F0"/>
                </a:solidFill>
                <a:latin typeface="Lucida Console" panose="020B0609040504020204" pitchFamily="49" charset="0"/>
              </a:rPr>
              <a:t>al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though</a:t>
            </a:r>
            <a:r>
              <a:rPr lang="en-GB" altLang="en-US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GB" altLang="en-US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spc="-150" dirty="0">
                <a:solidFill>
                  <a:srgbClr val="00B0F0"/>
                </a:solidFill>
                <a:latin typeface="Lucida Console" panose="020B0609040504020204" pitchFamily="49" charset="0"/>
              </a:rPr>
              <a:t>di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f</a:t>
            </a:r>
            <a:r>
              <a:rPr lang="en-GB" altLang="en-US" sz="3197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fe</a:t>
            </a:r>
            <a:r>
              <a:rPr lang="en-GB" altLang="en-US" sz="3197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ren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t</a:t>
            </a:r>
            <a:r>
              <a:rPr lang="en-GB" altLang="en-US" sz="2398" dirty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spc="-50" dirty="0">
                <a:solidFill>
                  <a:srgbClr val="00B0F0"/>
                </a:solidFill>
                <a:latin typeface="Lucida Console" panose="020B0609040504020204" pitchFamily="49" charset="0"/>
              </a:rPr>
              <a:t>di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ct</a:t>
            </a:r>
            <a:r>
              <a:rPr lang="en-GB" altLang="en-US" sz="3197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iona</a:t>
            </a:r>
            <a:r>
              <a:rPr lang="en-GB" altLang="en-US" sz="3197" dirty="0">
                <a:solidFill>
                  <a:srgbClr val="00B0F0"/>
                </a:solidFill>
                <a:latin typeface="Lucida Console" panose="020B0609040504020204" pitchFamily="49" charset="0"/>
              </a:rPr>
              <a:t>r</a:t>
            </a:r>
            <a:r>
              <a:rPr lang="en-GB" altLang="en-US" sz="3197" spc="-300" dirty="0">
                <a:solidFill>
                  <a:srgbClr val="00B0F0"/>
                </a:solidFill>
                <a:latin typeface="Lucida Console" panose="020B0609040504020204" pitchFamily="49" charset="0"/>
              </a:rPr>
              <a:t>y)</a:t>
            </a:r>
          </a:p>
          <a:p>
            <a:pPr marL="95166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215" algn="l"/>
                <a:tab pos="467897" algn="l"/>
                <a:tab pos="881867" algn="l"/>
                <a:tab pos="1297423" algn="l"/>
                <a:tab pos="1711393" algn="l"/>
                <a:tab pos="2125363" algn="l"/>
                <a:tab pos="2539333" algn="l"/>
                <a:tab pos="2954891" algn="l"/>
                <a:tab pos="3368859" algn="l"/>
                <a:tab pos="3782831" algn="l"/>
                <a:tab pos="4196800" algn="l"/>
                <a:tab pos="4612357" algn="l"/>
                <a:tab pos="5026327" algn="l"/>
                <a:tab pos="5440297" algn="l"/>
                <a:tab pos="5854268" algn="l"/>
                <a:tab pos="6269824" algn="l"/>
                <a:tab pos="6683794" algn="l"/>
                <a:tab pos="7097763" algn="l"/>
                <a:tab pos="7511734" algn="l"/>
                <a:tab pos="7927289" algn="l"/>
                <a:tab pos="8341261" algn="l"/>
              </a:tabLst>
            </a:pPr>
            <a:r>
              <a:rPr lang="en-GB" altLang="en-US" sz="3197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3197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dict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3197" dirty="0">
                <a:solidFill>
                  <a:schemeClr val="bg1"/>
                </a:solidFill>
                <a:latin typeface="Lucida Console" panose="020B0609040504020204" pitchFamily="49" charset="0"/>
              </a:rPr>
              <a:t>enumerate(</a:t>
            </a:r>
            <a:r>
              <a:rPr lang="en-GB" altLang="en-US" sz="3197" dirty="0">
                <a:solidFill>
                  <a:srgbClr val="FF3399"/>
                </a:solidFill>
                <a:latin typeface="Lucida Console" panose="020B0609040504020204" pitchFamily="49" charset="0"/>
              </a:rPr>
              <a:t>v</a:t>
            </a:r>
            <a:r>
              <a:rPr lang="en-GB" altLang="en-US" sz="3197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)</a:t>
            </a:r>
          </a:p>
          <a:p>
            <a:pPr marL="95166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215" algn="l"/>
                <a:tab pos="467897" algn="l"/>
                <a:tab pos="881867" algn="l"/>
                <a:tab pos="1297423" algn="l"/>
                <a:tab pos="1711393" algn="l"/>
                <a:tab pos="2125363" algn="l"/>
                <a:tab pos="2539333" algn="l"/>
                <a:tab pos="2954891" algn="l"/>
                <a:tab pos="3368859" algn="l"/>
                <a:tab pos="3782831" algn="l"/>
                <a:tab pos="4196800" algn="l"/>
                <a:tab pos="4612357" algn="l"/>
                <a:tab pos="5026327" algn="l"/>
                <a:tab pos="5440297" algn="l"/>
                <a:tab pos="5854268" algn="l"/>
                <a:tab pos="6269824" algn="l"/>
                <a:tab pos="6683794" algn="l"/>
                <a:tab pos="7097763" algn="l"/>
                <a:tab pos="7511734" algn="l"/>
                <a:tab pos="7927289" algn="l"/>
                <a:tab pos="8341261" algn="l"/>
              </a:tabLst>
            </a:pP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{</a:t>
            </a:r>
            <a:r>
              <a:rPr lang="en-GB" altLang="en-US" sz="3197" dirty="0">
                <a:solidFill>
                  <a:schemeClr val="bg1"/>
                </a:solidFill>
                <a:latin typeface="Lucida Console" panose="020B0609040504020204" pitchFamily="49" charset="0"/>
              </a:rPr>
              <a:t>0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:</a:t>
            </a:r>
            <a:r>
              <a:rPr lang="en-GB" altLang="en-US" sz="3197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dirty="0">
                <a:solidFill>
                  <a:srgbClr val="FF3399"/>
                </a:solidFill>
                <a:latin typeface="Lucida Console" panose="020B0609040504020204" pitchFamily="49" charset="0"/>
              </a:rPr>
              <a:t>5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,</a:t>
            </a:r>
            <a:r>
              <a:rPr lang="en-GB" altLang="en-US" sz="3197" dirty="0">
                <a:solidFill>
                  <a:schemeClr val="bg1"/>
                </a:solidFill>
                <a:latin typeface="Lucida Console" panose="020B0609040504020204" pitchFamily="49" charset="0"/>
              </a:rPr>
              <a:t> 1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:</a:t>
            </a:r>
            <a:r>
              <a:rPr lang="en-GB" altLang="en-US" sz="3197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dirty="0">
                <a:solidFill>
                  <a:srgbClr val="FF3399"/>
                </a:solidFill>
                <a:latin typeface="Lucida Console" panose="020B0609040504020204" pitchFamily="49" charset="0"/>
              </a:rPr>
              <a:t>637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,</a:t>
            </a:r>
            <a:r>
              <a:rPr lang="en-GB" altLang="en-US" sz="3197" dirty="0">
                <a:solidFill>
                  <a:schemeClr val="bg1"/>
                </a:solidFill>
                <a:latin typeface="Lucida Console" panose="020B0609040504020204" pitchFamily="49" charset="0"/>
              </a:rPr>
              <a:t> 2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:</a:t>
            </a:r>
            <a:r>
              <a:rPr lang="en-GB" altLang="en-US" sz="3197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3197" dirty="0">
                <a:solidFill>
                  <a:srgbClr val="FF3399"/>
                </a:solidFill>
                <a:latin typeface="Lucida Console" panose="020B0609040504020204" pitchFamily="49" charset="0"/>
              </a:rPr>
              <a:t>921</a:t>
            </a:r>
            <a:r>
              <a:rPr lang="en-GB" altLang="en-US" sz="3197" dirty="0">
                <a:solidFill>
                  <a:srgbClr val="FFFF00"/>
                </a:solidFill>
                <a:latin typeface="Lucida Console" panose="020B0609040504020204" pitchFamily="49" charset="0"/>
              </a:rPr>
              <a:t>}</a:t>
            </a:r>
          </a:p>
          <a:p>
            <a:pPr marL="95166" indent="0" eaLnBrk="1">
              <a:lnSpc>
                <a:spcPct val="90000"/>
              </a:lnSpc>
              <a:spcBef>
                <a:spcPts val="0"/>
              </a:spcBef>
              <a:buSzPct val="45000"/>
              <a:buNone/>
              <a:tabLst>
                <a:tab pos="363215" algn="l"/>
                <a:tab pos="467897" algn="l"/>
                <a:tab pos="881867" algn="l"/>
                <a:tab pos="1297423" algn="l"/>
                <a:tab pos="1711393" algn="l"/>
                <a:tab pos="2125363" algn="l"/>
                <a:tab pos="2539333" algn="l"/>
                <a:tab pos="2954891" algn="l"/>
                <a:tab pos="3368859" algn="l"/>
                <a:tab pos="3782831" algn="l"/>
                <a:tab pos="4196800" algn="l"/>
                <a:tab pos="4612357" algn="l"/>
                <a:tab pos="5026327" algn="l"/>
                <a:tab pos="5440297" algn="l"/>
                <a:tab pos="5854268" algn="l"/>
                <a:tab pos="6269824" algn="l"/>
                <a:tab pos="6683794" algn="l"/>
                <a:tab pos="7097763" algn="l"/>
                <a:tab pos="7511734" algn="l"/>
                <a:tab pos="7927289" algn="l"/>
                <a:tab pos="8341261" algn="l"/>
              </a:tabLst>
            </a:pPr>
            <a:r>
              <a:rPr lang="en-GB" altLang="en-US" sz="3197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61376" y="-149936"/>
            <a:ext cx="9136546" cy="9968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5864"/>
            <a:r>
              <a:rPr lang="en-US" altLang="zh-TW" sz="4071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zip</a:t>
            </a:r>
            <a:r>
              <a:rPr lang="en-US" altLang="zh-TW" sz="4071" kern="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071" kern="0" dirty="0">
                <a:latin typeface="Elephant" panose="02020904090505020303" pitchFamily="18" charset="0"/>
              </a:rPr>
              <a:t>can make a Dictionary.</a:t>
            </a:r>
            <a:endParaRPr lang="en-US" altLang="zh-TW" sz="4071" b="1" kern="0" dirty="0">
              <a:latin typeface="Lucida Console" panose="020B0609040504020204" pitchFamily="49" charset="0"/>
            </a:endParaRP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2171518" y="2857965"/>
            <a:ext cx="4899790" cy="2331723"/>
          </a:xfrm>
          <a:prstGeom prst="wedgeRoundRectCallout">
            <a:avLst>
              <a:gd name="adj1" fmla="val 8207"/>
              <a:gd name="adj2" fmla="val -85759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197" dirty="0">
                <a:solidFill>
                  <a:srgbClr val="000000"/>
                </a:solidFill>
                <a:latin typeface="Times New Roman" charset="0"/>
              </a:rPr>
              <a:t>Here, we used </a:t>
            </a:r>
            <a:r>
              <a:rPr lang="en-US" sz="3197" b="1" dirty="0">
                <a:solidFill>
                  <a:srgbClr val="000000"/>
                </a:solidFill>
                <a:latin typeface="Times New Roman" charset="0"/>
              </a:rPr>
              <a:t>a lists of keys and a list of values</a:t>
            </a:r>
            <a:r>
              <a:rPr lang="en-US" sz="3197" dirty="0">
                <a:solidFill>
                  <a:srgbClr val="000000"/>
                </a:solidFill>
                <a:latin typeface="Times New Roman" charset="0"/>
              </a:rPr>
              <a:t>. They were zipped together and made into a dictionary.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4474689" y="4342654"/>
            <a:ext cx="4899790" cy="2331723"/>
          </a:xfrm>
          <a:prstGeom prst="wedgeRoundRectCallout">
            <a:avLst>
              <a:gd name="adj1" fmla="val -38799"/>
              <a:gd name="adj2" fmla="val -70248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197" dirty="0">
                <a:solidFill>
                  <a:srgbClr val="000000"/>
                </a:solidFill>
                <a:latin typeface="Times New Roman" charset="0"/>
              </a:rPr>
              <a:t>How can we get these lists </a:t>
            </a:r>
            <a:r>
              <a:rPr lang="en-US" sz="3197" spc="-10" dirty="0">
                <a:solidFill>
                  <a:srgbClr val="000000"/>
                </a:solidFill>
                <a:latin typeface="Times New Roman" charset="0"/>
              </a:rPr>
              <a:t>of keys and a list of values? </a:t>
            </a:r>
            <a:r>
              <a:rPr lang="en-US" sz="3197" dirty="0">
                <a:solidFill>
                  <a:srgbClr val="000000"/>
                </a:solidFill>
                <a:latin typeface="Times New Roman" charset="0"/>
              </a:rPr>
              <a:t>We can use the dictionary </a:t>
            </a:r>
            <a:r>
              <a:rPr lang="en-US" sz="3197" b="1" dirty="0">
                <a:solidFill>
                  <a:srgbClr val="000000"/>
                </a:solidFill>
                <a:latin typeface="Times New Roman" charset="0"/>
              </a:rPr>
              <a:t>keys</a:t>
            </a:r>
            <a:r>
              <a:rPr lang="en-US" sz="3197" b="1" dirty="0">
                <a:solidFill>
                  <a:srgbClr val="000000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()</a:t>
            </a:r>
            <a:r>
              <a:rPr lang="en-US" sz="3197" b="1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sz="3197" dirty="0">
                <a:solidFill>
                  <a:srgbClr val="000000"/>
                </a:solidFill>
                <a:latin typeface="Times New Roman" charset="0"/>
              </a:rPr>
              <a:t>&amp;</a:t>
            </a:r>
            <a:r>
              <a:rPr lang="en-US" sz="3197" b="1" dirty="0">
                <a:solidFill>
                  <a:srgbClr val="000000"/>
                </a:solidFill>
                <a:latin typeface="Times New Roman" charset="0"/>
              </a:rPr>
              <a:t> values</a:t>
            </a:r>
            <a:r>
              <a:rPr lang="en-US" sz="3197" b="1" dirty="0">
                <a:solidFill>
                  <a:srgbClr val="000000"/>
                </a:solidFill>
                <a:latin typeface="Agency FB" panose="020B0503020202020204" pitchFamily="34" charset="0"/>
              </a:rPr>
              <a:t>()</a:t>
            </a:r>
            <a:r>
              <a:rPr lang="en-US" sz="3197" b="1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sz="3197" dirty="0">
                <a:solidFill>
                  <a:srgbClr val="000000"/>
                </a:solidFill>
                <a:latin typeface="Times New Roman" charset="0"/>
              </a:rPr>
              <a:t>methods.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353726" y="4285551"/>
            <a:ext cx="4100342" cy="2331723"/>
          </a:xfrm>
          <a:prstGeom prst="wedgeRoundRectCallout">
            <a:avLst>
              <a:gd name="adj1" fmla="val 63097"/>
              <a:gd name="adj2" fmla="val 3342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197" dirty="0">
                <a:solidFill>
                  <a:srgbClr val="000000"/>
                </a:solidFill>
                <a:latin typeface="Times New Roman" charset="0"/>
              </a:rPr>
              <a:t>But if we use these methods, we need to understand that they return </a:t>
            </a:r>
            <a:r>
              <a:rPr lang="en-US" sz="3197" b="1" i="1" dirty="0">
                <a:solidFill>
                  <a:srgbClr val="000000"/>
                </a:solidFill>
                <a:latin typeface="Times New Roman" charset="0"/>
              </a:rPr>
              <a:t>views</a:t>
            </a:r>
            <a:r>
              <a:rPr lang="en-US" sz="3197" dirty="0">
                <a:solidFill>
                  <a:srgbClr val="000000"/>
                </a:solidFill>
                <a:latin typeface="Times New Roman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126656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3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3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737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448896" y="535760"/>
            <a:ext cx="8908133" cy="6319445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998" dirty="0"/>
              <a:t>A dictionary </a:t>
            </a:r>
            <a:r>
              <a:rPr lang="en-US" altLang="zh-TW" sz="2998" i="1" u="sng" dirty="0"/>
              <a:t>view</a:t>
            </a:r>
            <a:r>
              <a:rPr lang="en-US" altLang="zh-TW" sz="2998" dirty="0"/>
              <a:t> is a </a:t>
            </a:r>
            <a:r>
              <a:rPr lang="en-US" altLang="zh-TW" sz="2998" i="1" u="sng" dirty="0"/>
              <a:t>window</a:t>
            </a:r>
            <a:r>
              <a:rPr lang="en-US" altLang="zh-TW" sz="2998" dirty="0"/>
              <a:t> on its keys &amp; values: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999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>
                <a:latin typeface="Lucida Console" panose="020B0609040504020204" pitchFamily="49" charset="0"/>
              </a:rPr>
              <a:t> = {'e': 2, 'b': 1, 'c': 1, 'B': 500}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valuesView</a:t>
            </a:r>
            <a:r>
              <a:rPr lang="en-US" altLang="zh-TW" sz="2398" dirty="0">
                <a:latin typeface="Lucida Console" panose="020B0609040504020204" pitchFamily="49" charset="0"/>
              </a:rPr>
              <a:t>=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 err="1">
                <a:latin typeface="Lucida Console" panose="020B0609040504020204" pitchFamily="49" charset="0"/>
              </a:rPr>
              <a:t>.values</a:t>
            </a:r>
            <a:r>
              <a:rPr lang="en-US" altLang="zh-TW" sz="2398" dirty="0">
                <a:latin typeface="Lucida Console" panose="020B0609040504020204" pitchFamily="49" charset="0"/>
              </a:rPr>
              <a:t>();</a:t>
            </a:r>
            <a:r>
              <a:rPr lang="en-US" altLang="zh-TW" sz="2398" b="1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398" dirty="0">
                <a:latin typeface="Lucida Console" panose="020B0609040504020204" pitchFamily="49" charset="0"/>
              </a:rPr>
              <a:t>=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 err="1">
                <a:latin typeface="Lucida Console" panose="020B0609040504020204" pitchFamily="49" charset="0"/>
              </a:rPr>
              <a:t>.keys</a:t>
            </a:r>
            <a:r>
              <a:rPr lang="en-US" altLang="zh-TW" sz="2398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valuesCopy</a:t>
            </a:r>
            <a:r>
              <a:rPr lang="en-US" altLang="zh-TW" sz="2398" dirty="0">
                <a:latin typeface="Lucida Console" panose="020B0609040504020204" pitchFamily="49" charset="0"/>
              </a:rPr>
              <a:t>=list(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 err="1">
                <a:latin typeface="Lucida Console" panose="020B0609040504020204" pitchFamily="49" charset="0"/>
              </a:rPr>
              <a:t>.values</a:t>
            </a:r>
            <a:r>
              <a:rPr lang="en-US" altLang="zh-TW" sz="2398" dirty="0">
                <a:latin typeface="Lucida Console" panose="020B0609040504020204" pitchFamily="49" charset="0"/>
              </a:rPr>
              <a:t>())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del </a:t>
            </a:r>
            <a:r>
              <a:rPr lang="en-US" altLang="zh-TW" sz="2398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</a:t>
            </a: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['e']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# No e anymore!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dict_keys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(['s', 'b', 'S'])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valuesView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# No e value (2) anymore!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dict_values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([1, 1, 500])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valuesCopy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# But the copied one kept the 2!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dict_values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([2, 1, 1, 500])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049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798" dirty="0">
                <a:solidFill>
                  <a:schemeClr val="bg1"/>
                </a:solidFill>
              </a:rPr>
              <a:t>See what </a:t>
            </a:r>
            <a:r>
              <a:rPr lang="en-US" altLang="zh-TW" sz="2798" b="1" dirty="0">
                <a:solidFill>
                  <a:schemeClr val="bg1"/>
                </a:solidFill>
              </a:rPr>
              <a:t>dynamic </a:t>
            </a:r>
            <a:r>
              <a:rPr lang="en-US" altLang="zh-TW" sz="2798" dirty="0">
                <a:solidFill>
                  <a:schemeClr val="bg1"/>
                </a:solidFill>
              </a:rPr>
              <a:t>means? </a:t>
            </a:r>
            <a:r>
              <a:rPr lang="en-US" altLang="zh-TW" sz="27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798" dirty="0">
                <a:solidFill>
                  <a:schemeClr val="bg1"/>
                </a:solidFill>
              </a:rPr>
              <a:t> is </a:t>
            </a:r>
            <a:r>
              <a:rPr lang="en-US" altLang="zh-TW" sz="2798" i="1" dirty="0">
                <a:solidFill>
                  <a:schemeClr val="bg1"/>
                </a:solidFill>
              </a:rPr>
              <a:t>not</a:t>
            </a:r>
            <a:r>
              <a:rPr lang="en-US" altLang="zh-TW" sz="2798" dirty="0">
                <a:solidFill>
                  <a:schemeClr val="bg1"/>
                </a:solidFill>
              </a:rPr>
              <a:t> </a:t>
            </a:r>
            <a:r>
              <a:rPr lang="en-US" altLang="zh-TW" sz="2798" i="1" dirty="0">
                <a:solidFill>
                  <a:schemeClr val="bg1"/>
                </a:solidFill>
              </a:rPr>
              <a:t>a copy</a:t>
            </a:r>
            <a:r>
              <a:rPr lang="en-US" altLang="zh-TW" sz="2798" dirty="0">
                <a:solidFill>
                  <a:schemeClr val="bg1"/>
                </a:solidFill>
              </a:rPr>
              <a:t> of </a:t>
            </a:r>
            <a:r>
              <a:rPr lang="en-US" altLang="zh-TW" sz="2798" dirty="0" err="1">
                <a:solidFill>
                  <a:schemeClr val="bg1"/>
                </a:solidFill>
                <a:latin typeface="Lucida Console" panose="020B0609040504020204" pitchFamily="49" charset="0"/>
              </a:rPr>
              <a:t>var</a:t>
            </a:r>
            <a:r>
              <a:rPr lang="en-US" altLang="zh-TW" sz="2798" dirty="0" err="1">
                <a:solidFill>
                  <a:schemeClr val="bg1"/>
                </a:solidFill>
              </a:rPr>
              <a:t>’s</a:t>
            </a:r>
            <a:r>
              <a:rPr lang="en-US" altLang="zh-TW" sz="2798" dirty="0">
                <a:solidFill>
                  <a:schemeClr val="bg1"/>
                </a:solidFill>
              </a:rPr>
              <a:t> keys, only window pointing to those keys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solidFill>
                  <a:schemeClr val="bg1"/>
                </a:solidFill>
              </a:rPr>
              <a:t>If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keys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change,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then,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looking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through</a:t>
            </a:r>
            <a:r>
              <a:rPr lang="en-US" altLang="zh-TW" sz="1599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the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window,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you’ll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see. </a:t>
            </a:r>
          </a:p>
          <a:p>
            <a:pPr lvl="1"/>
            <a:r>
              <a:rPr lang="en-US" altLang="zh-TW" dirty="0">
                <a:solidFill>
                  <a:schemeClr val="bg1"/>
                </a:solidFill>
              </a:rPr>
              <a:t>If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you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don’t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want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this (</a:t>
            </a:r>
            <a:r>
              <a:rPr lang="en-US" altLang="zh-TW" dirty="0" err="1">
                <a:solidFill>
                  <a:schemeClr val="bg1"/>
                </a:solidFill>
              </a:rPr>
              <a:t>eg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it you’re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iterating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over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a</a:t>
            </a:r>
            <a:r>
              <a:rPr lang="en-US" altLang="zh-TW" sz="1998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dictionary while also changing it), then make a .copy() instead.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245368" y="2164204"/>
            <a:ext cx="5714177" cy="171768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defTabSz="845864" fontAlgn="base">
              <a:spcBef>
                <a:spcPct val="0"/>
              </a:spcBef>
              <a:spcAft>
                <a:spcPct val="0"/>
              </a:spcAft>
            </a:pPr>
            <a:endParaRPr lang="en-US" sz="1998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946" y="36187"/>
            <a:ext cx="9727896" cy="822289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4396" dirty="0">
                <a:solidFill>
                  <a:srgbClr val="2D2DB9"/>
                </a:solidFill>
                <a:cs typeface="Arial" panose="020B0604020202020204" pitchFamily="34" charset="0"/>
              </a:rPr>
              <a:t>Dictionary dynamic views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 flipH="1">
            <a:off x="2521068" y="1326154"/>
            <a:ext cx="1159560" cy="386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97249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448896" y="535760"/>
            <a:ext cx="8908133" cy="6319445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998" dirty="0"/>
              <a:t>A dictionary </a:t>
            </a:r>
            <a:r>
              <a:rPr lang="en-US" altLang="zh-TW" sz="2998" i="1" u="sng" dirty="0"/>
              <a:t>view</a:t>
            </a:r>
            <a:r>
              <a:rPr lang="en-US" altLang="zh-TW" sz="2998" dirty="0"/>
              <a:t> is a </a:t>
            </a:r>
            <a:r>
              <a:rPr lang="en-US" altLang="zh-TW" sz="2998" i="1" u="sng" dirty="0"/>
              <a:t>window</a:t>
            </a:r>
            <a:r>
              <a:rPr lang="en-US" altLang="zh-TW" sz="2998" dirty="0"/>
              <a:t> on its keys &amp; values: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999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>
                <a:latin typeface="Lucida Console" panose="020B0609040504020204" pitchFamily="49" charset="0"/>
              </a:rPr>
              <a:t> = {'e': 2, 'b': 1, 'c': 1, 'B': 500}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valuesView</a:t>
            </a:r>
            <a:r>
              <a:rPr lang="en-US" altLang="zh-TW" sz="2398" dirty="0">
                <a:latin typeface="Lucida Console" panose="020B0609040504020204" pitchFamily="49" charset="0"/>
              </a:rPr>
              <a:t>=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 err="1">
                <a:latin typeface="Lucida Console" panose="020B0609040504020204" pitchFamily="49" charset="0"/>
              </a:rPr>
              <a:t>.values</a:t>
            </a:r>
            <a:r>
              <a:rPr lang="en-US" altLang="zh-TW" sz="2398" dirty="0">
                <a:latin typeface="Lucida Console" panose="020B0609040504020204" pitchFamily="49" charset="0"/>
              </a:rPr>
              <a:t>();</a:t>
            </a:r>
            <a:r>
              <a:rPr lang="en-US" altLang="zh-TW" sz="2398" b="1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398" dirty="0">
                <a:latin typeface="Lucida Console" panose="020B0609040504020204" pitchFamily="49" charset="0"/>
              </a:rPr>
              <a:t>=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 err="1">
                <a:latin typeface="Lucida Console" panose="020B0609040504020204" pitchFamily="49" charset="0"/>
              </a:rPr>
              <a:t>.keys</a:t>
            </a:r>
            <a:r>
              <a:rPr lang="en-US" altLang="zh-TW" sz="2398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valuesCopy</a:t>
            </a:r>
            <a:r>
              <a:rPr lang="en-US" altLang="zh-TW" sz="2398" dirty="0">
                <a:latin typeface="Lucida Console" panose="020B0609040504020204" pitchFamily="49" charset="0"/>
              </a:rPr>
              <a:t>=list(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 err="1">
                <a:latin typeface="Lucida Console" panose="020B0609040504020204" pitchFamily="49" charset="0"/>
              </a:rPr>
              <a:t>.values</a:t>
            </a:r>
            <a:r>
              <a:rPr lang="en-US" altLang="zh-TW" sz="2398" dirty="0">
                <a:latin typeface="Lucida Console" panose="020B0609040504020204" pitchFamily="49" charset="0"/>
              </a:rPr>
              <a:t>())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del 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>
                <a:latin typeface="Lucida Console" panose="020B0609040504020204" pitchFamily="49" charset="0"/>
              </a:rPr>
              <a:t>['e']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398" dirty="0">
                <a:latin typeface="Lucida Console" panose="020B0609040504020204" pitchFamily="49" charset="0"/>
              </a:rPr>
              <a:t> # No e anymore!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latin typeface="Lucida Console" panose="020B0609040504020204" pitchFamily="49" charset="0"/>
              </a:rPr>
              <a:t>dict_keys</a:t>
            </a:r>
            <a:r>
              <a:rPr lang="en-US" altLang="zh-TW" sz="2398" dirty="0">
                <a:latin typeface="Lucida Console" panose="020B0609040504020204" pitchFamily="49" charset="0"/>
              </a:rPr>
              <a:t>(['b', 'c', 'B'])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valuesView</a:t>
            </a:r>
            <a:r>
              <a:rPr lang="en-US" altLang="zh-TW" sz="2398" dirty="0">
                <a:latin typeface="Lucida Console" panose="020B0609040504020204" pitchFamily="49" charset="0"/>
              </a:rPr>
              <a:t> # No e value (2) anymore!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latin typeface="Lucida Console" panose="020B0609040504020204" pitchFamily="49" charset="0"/>
              </a:rPr>
              <a:t>dict_values</a:t>
            </a:r>
            <a:r>
              <a:rPr lang="en-US" altLang="zh-TW" sz="2398" dirty="0">
                <a:latin typeface="Lucida Console" panose="020B0609040504020204" pitchFamily="49" charset="0"/>
              </a:rPr>
              <a:t>([1, 1, 500])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398" b="1" dirty="0" err="1">
                <a:solidFill>
                  <a:schemeClr val="bg1"/>
                </a:solidFill>
                <a:latin typeface="Lucida Console" panose="020B0609040504020204" pitchFamily="49" charset="0"/>
              </a:rPr>
              <a:t>valuesCopy</a:t>
            </a: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 # But the copied one kept the 2!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/>
                </a:solidFill>
                <a:latin typeface="Lucida Console" panose="020B0609040504020204" pitchFamily="49" charset="0"/>
              </a:rPr>
              <a:t>[2, 1, 1, 500]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049" dirty="0">
              <a:latin typeface="Lucida Console" panose="020B0609040504020204" pitchFamily="49" charset="0"/>
            </a:endParaRPr>
          </a:p>
          <a:p>
            <a:r>
              <a:rPr lang="en-US" altLang="zh-TW" sz="2798" dirty="0">
                <a:solidFill>
                  <a:schemeClr val="tx1"/>
                </a:solidFill>
              </a:rPr>
              <a:t>See what </a:t>
            </a:r>
            <a:r>
              <a:rPr lang="en-US" altLang="zh-TW" sz="2798" b="1" dirty="0">
                <a:solidFill>
                  <a:schemeClr val="tx1"/>
                </a:solidFill>
              </a:rPr>
              <a:t>dynamic </a:t>
            </a:r>
            <a:r>
              <a:rPr lang="en-US" altLang="zh-TW" sz="2798" dirty="0">
                <a:solidFill>
                  <a:schemeClr val="tx1"/>
                </a:solidFill>
              </a:rPr>
              <a:t>means? </a:t>
            </a:r>
            <a:r>
              <a:rPr lang="en-US" altLang="zh-TW" sz="2798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798" dirty="0">
                <a:solidFill>
                  <a:schemeClr val="tx1"/>
                </a:solidFill>
              </a:rPr>
              <a:t> is </a:t>
            </a:r>
            <a:r>
              <a:rPr lang="en-US" altLang="zh-TW" sz="2798" i="1" dirty="0">
                <a:solidFill>
                  <a:schemeClr val="tx1"/>
                </a:solidFill>
              </a:rPr>
              <a:t>not</a:t>
            </a:r>
            <a:r>
              <a:rPr lang="en-US" altLang="zh-TW" sz="2798" dirty="0">
                <a:solidFill>
                  <a:schemeClr val="tx1"/>
                </a:solidFill>
              </a:rPr>
              <a:t> </a:t>
            </a:r>
            <a:r>
              <a:rPr lang="en-US" altLang="zh-TW" sz="2798" i="1" dirty="0">
                <a:solidFill>
                  <a:schemeClr val="tx1"/>
                </a:solidFill>
              </a:rPr>
              <a:t>a copy</a:t>
            </a:r>
            <a:r>
              <a:rPr lang="en-US" altLang="zh-TW" sz="2798" dirty="0">
                <a:solidFill>
                  <a:schemeClr val="tx1"/>
                </a:solidFill>
              </a:rPr>
              <a:t> of </a:t>
            </a:r>
            <a:r>
              <a:rPr lang="en-US" altLang="zh-TW" sz="2798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</a:t>
            </a:r>
            <a:r>
              <a:rPr lang="en-US" altLang="zh-TW" sz="2798" dirty="0" err="1">
                <a:solidFill>
                  <a:schemeClr val="tx1"/>
                </a:solidFill>
              </a:rPr>
              <a:t>’s</a:t>
            </a:r>
            <a:r>
              <a:rPr lang="en-US" altLang="zh-TW" sz="2798" dirty="0">
                <a:solidFill>
                  <a:schemeClr val="tx1"/>
                </a:solidFill>
              </a:rPr>
              <a:t> keys, only a window pointing to those keys.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solidFill>
                  <a:schemeClr val="tx1"/>
                </a:solidFill>
              </a:rPr>
              <a:t>If keys change, then you will view that through the window. 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96624" y="1512661"/>
            <a:ext cx="9136546" cy="970054"/>
          </a:xfrm>
          <a:prstGeom prst="rect">
            <a:avLst/>
          </a:prstGeom>
          <a:solidFill>
            <a:srgbClr val="FFFFFF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defTabSz="845864" fontAlgn="base">
              <a:spcBef>
                <a:spcPct val="0"/>
              </a:spcBef>
              <a:spcAft>
                <a:spcPct val="0"/>
              </a:spcAft>
            </a:pPr>
            <a:endParaRPr lang="en-US" sz="1998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>
          <a:xfrm>
            <a:off x="946" y="36187"/>
            <a:ext cx="9727896" cy="822289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4396" dirty="0">
                <a:solidFill>
                  <a:srgbClr val="2D2DB9"/>
                </a:solidFill>
                <a:cs typeface="Arial" panose="020B0604020202020204" pitchFamily="34" charset="0"/>
              </a:rPr>
              <a:t>Dictionary dynamic views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680273" y="1171638"/>
            <a:ext cx="5028669" cy="318562"/>
          </a:xfrm>
          <a:prstGeom prst="rect">
            <a:avLst/>
          </a:prstGeom>
          <a:solidFill>
            <a:srgbClr val="FFFFFF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defTabSz="845864" fontAlgn="base">
              <a:spcBef>
                <a:spcPct val="0"/>
              </a:spcBef>
              <a:spcAft>
                <a:spcPct val="0"/>
              </a:spcAft>
            </a:pPr>
            <a:endParaRPr lang="en-US" sz="1998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96623" y="1168960"/>
            <a:ext cx="2305086" cy="318562"/>
          </a:xfrm>
          <a:prstGeom prst="rect">
            <a:avLst/>
          </a:prstGeom>
          <a:solidFill>
            <a:srgbClr val="FFFFFF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defTabSz="845864" fontAlgn="base">
              <a:spcBef>
                <a:spcPct val="0"/>
              </a:spcBef>
              <a:spcAft>
                <a:spcPct val="0"/>
              </a:spcAft>
            </a:pPr>
            <a:endParaRPr lang="en-US" sz="1998">
              <a:solidFill>
                <a:srgbClr val="FFFFFF"/>
              </a:solidFill>
              <a:latin typeface="Times New Roman" charset="0"/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 flipH="1">
            <a:off x="2521068" y="1326154"/>
            <a:ext cx="1159560" cy="386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3067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448896" y="535760"/>
            <a:ext cx="8908133" cy="6319445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998" dirty="0"/>
              <a:t>A dictionary </a:t>
            </a:r>
            <a:r>
              <a:rPr lang="en-US" altLang="zh-TW" sz="2998" i="1" u="sng" dirty="0"/>
              <a:t>view</a:t>
            </a:r>
            <a:r>
              <a:rPr lang="en-US" altLang="zh-TW" sz="2998" dirty="0"/>
              <a:t> is a </a:t>
            </a:r>
            <a:r>
              <a:rPr lang="en-US" altLang="zh-TW" sz="2998" i="1" u="sng" dirty="0"/>
              <a:t>window</a:t>
            </a:r>
            <a:r>
              <a:rPr lang="en-US" altLang="zh-TW" sz="2998" dirty="0"/>
              <a:t> on its keys &amp; values: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999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>
                <a:latin typeface="Lucida Console" panose="020B0609040504020204" pitchFamily="49" charset="0"/>
              </a:rPr>
              <a:t> = {'e': 2, 'b': 1, 'c': 1, 'B': 500}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valuesView</a:t>
            </a:r>
            <a:r>
              <a:rPr lang="en-US" altLang="zh-TW" sz="2398" dirty="0">
                <a:latin typeface="Lucida Console" panose="020B0609040504020204" pitchFamily="49" charset="0"/>
              </a:rPr>
              <a:t>=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 err="1">
                <a:latin typeface="Lucida Console" panose="020B0609040504020204" pitchFamily="49" charset="0"/>
              </a:rPr>
              <a:t>.values</a:t>
            </a:r>
            <a:r>
              <a:rPr lang="en-US" altLang="zh-TW" sz="2398" dirty="0">
                <a:latin typeface="Lucida Console" panose="020B0609040504020204" pitchFamily="49" charset="0"/>
              </a:rPr>
              <a:t>();</a:t>
            </a:r>
            <a:r>
              <a:rPr lang="en-US" altLang="zh-TW" sz="2398" b="1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398" dirty="0">
                <a:latin typeface="Lucida Console" panose="020B0609040504020204" pitchFamily="49" charset="0"/>
              </a:rPr>
              <a:t>=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 err="1">
                <a:latin typeface="Lucida Console" panose="020B0609040504020204" pitchFamily="49" charset="0"/>
              </a:rPr>
              <a:t>.keys</a:t>
            </a:r>
            <a:r>
              <a:rPr lang="en-US" altLang="zh-TW" sz="2398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valuesCopy</a:t>
            </a:r>
            <a:r>
              <a:rPr lang="en-US" altLang="zh-TW" sz="2398" b="1" dirty="0">
                <a:latin typeface="Lucida Console" panose="020B0609040504020204" pitchFamily="49" charset="0"/>
              </a:rPr>
              <a:t>=</a:t>
            </a:r>
            <a:r>
              <a:rPr lang="en-US" altLang="zh-TW" sz="2398" b="1" u="sng" dirty="0">
                <a:solidFill>
                  <a:srgbClr val="CC3399"/>
                </a:solidFill>
                <a:latin typeface="Lucida Console" panose="020B0609040504020204" pitchFamily="49" charset="0"/>
              </a:rPr>
              <a:t>list</a:t>
            </a:r>
            <a:r>
              <a:rPr lang="en-US" altLang="zh-TW" sz="2398" b="1" dirty="0">
                <a:latin typeface="Lucida Console" panose="020B0609040504020204" pitchFamily="49" charset="0"/>
              </a:rPr>
              <a:t>(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var.values</a:t>
            </a:r>
            <a:r>
              <a:rPr lang="en-US" altLang="zh-TW" sz="2398" b="1" dirty="0">
                <a:latin typeface="Lucida Console" panose="020B0609040504020204" pitchFamily="49" charset="0"/>
              </a:rPr>
              <a:t>())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del 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>
                <a:latin typeface="Lucida Console" panose="020B0609040504020204" pitchFamily="49" charset="0"/>
              </a:rPr>
              <a:t>['e']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398" dirty="0">
                <a:latin typeface="Lucida Console" panose="020B0609040504020204" pitchFamily="49" charset="0"/>
              </a:rPr>
              <a:t> # No e anymore!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latin typeface="Lucida Console" panose="020B0609040504020204" pitchFamily="49" charset="0"/>
              </a:rPr>
              <a:t>dict_keys</a:t>
            </a:r>
            <a:r>
              <a:rPr lang="en-US" altLang="zh-TW" sz="2398" dirty="0">
                <a:latin typeface="Lucida Console" panose="020B0609040504020204" pitchFamily="49" charset="0"/>
              </a:rPr>
              <a:t>(['b', 'c', 'B'])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valuesView</a:t>
            </a:r>
            <a:r>
              <a:rPr lang="en-US" altLang="zh-TW" sz="2398" dirty="0">
                <a:latin typeface="Lucida Console" panose="020B0609040504020204" pitchFamily="49" charset="0"/>
              </a:rPr>
              <a:t> # No e value (2) anymore!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latin typeface="Lucida Console" panose="020B0609040504020204" pitchFamily="49" charset="0"/>
              </a:rPr>
              <a:t>dict_values</a:t>
            </a:r>
            <a:r>
              <a:rPr lang="en-US" altLang="zh-TW" sz="2398" dirty="0">
                <a:latin typeface="Lucida Console" panose="020B0609040504020204" pitchFamily="49" charset="0"/>
              </a:rPr>
              <a:t>([1, 1, 500])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valuesCopy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# The copied one </a:t>
            </a:r>
            <a:r>
              <a:rPr lang="en-US" altLang="zh-TW" sz="2398" u="sng" dirty="0">
                <a:solidFill>
                  <a:schemeClr val="tx1"/>
                </a:solidFill>
                <a:latin typeface="Lucida Console" panose="020B0609040504020204" pitchFamily="49" charset="0"/>
              </a:rPr>
              <a:t>kept the 2</a:t>
            </a: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398" b="1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, 1, 1, 500]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049" dirty="0">
              <a:latin typeface="Lucida Console" panose="020B0609040504020204" pitchFamily="49" charset="0"/>
            </a:endParaRPr>
          </a:p>
          <a:p>
            <a:pPr>
              <a:buClrTx/>
            </a:pPr>
            <a:r>
              <a:rPr lang="en-US" altLang="zh-TW" sz="2798" dirty="0">
                <a:solidFill>
                  <a:srgbClr val="C5C5C5"/>
                </a:solidFill>
              </a:rPr>
              <a:t>See what </a:t>
            </a:r>
            <a:r>
              <a:rPr lang="en-US" altLang="zh-TW" sz="2798" b="1" dirty="0">
                <a:solidFill>
                  <a:srgbClr val="C5C5C5"/>
                </a:solidFill>
              </a:rPr>
              <a:t>dynamic </a:t>
            </a:r>
            <a:r>
              <a:rPr lang="en-US" altLang="zh-TW" sz="2798" dirty="0">
                <a:solidFill>
                  <a:srgbClr val="C5C5C5"/>
                </a:solidFill>
              </a:rPr>
              <a:t>means? </a:t>
            </a:r>
            <a:r>
              <a:rPr lang="en-US" altLang="zh-TW" sz="2798" dirty="0" err="1">
                <a:solidFill>
                  <a:srgbClr val="C5C5C5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798" dirty="0">
                <a:solidFill>
                  <a:srgbClr val="C5C5C5"/>
                </a:solidFill>
              </a:rPr>
              <a:t> is </a:t>
            </a:r>
            <a:r>
              <a:rPr lang="en-US" altLang="zh-TW" sz="2798" i="1" dirty="0">
                <a:solidFill>
                  <a:srgbClr val="C5C5C5"/>
                </a:solidFill>
              </a:rPr>
              <a:t>not</a:t>
            </a:r>
            <a:r>
              <a:rPr lang="en-US" altLang="zh-TW" sz="2798" dirty="0">
                <a:solidFill>
                  <a:srgbClr val="C5C5C5"/>
                </a:solidFill>
              </a:rPr>
              <a:t> </a:t>
            </a:r>
            <a:r>
              <a:rPr lang="en-US" altLang="zh-TW" sz="2798" i="1" dirty="0">
                <a:solidFill>
                  <a:srgbClr val="C5C5C5"/>
                </a:solidFill>
              </a:rPr>
              <a:t>a copy</a:t>
            </a:r>
            <a:r>
              <a:rPr lang="en-US" altLang="zh-TW" sz="2798" dirty="0">
                <a:solidFill>
                  <a:srgbClr val="C5C5C5"/>
                </a:solidFill>
              </a:rPr>
              <a:t> of </a:t>
            </a:r>
            <a:r>
              <a:rPr lang="en-US" altLang="zh-TW" sz="2798" dirty="0" err="1">
                <a:solidFill>
                  <a:srgbClr val="C5C5C5"/>
                </a:solidFill>
                <a:latin typeface="Lucida Console" panose="020B0609040504020204" pitchFamily="49" charset="0"/>
              </a:rPr>
              <a:t>var</a:t>
            </a:r>
            <a:r>
              <a:rPr lang="en-US" altLang="zh-TW" sz="2798" dirty="0" err="1">
                <a:solidFill>
                  <a:srgbClr val="C5C5C5"/>
                </a:solidFill>
              </a:rPr>
              <a:t>’s</a:t>
            </a:r>
            <a:r>
              <a:rPr lang="en-US" altLang="zh-TW" sz="2798" dirty="0">
                <a:solidFill>
                  <a:srgbClr val="C5C5C5"/>
                </a:solidFill>
              </a:rPr>
              <a:t> keys, only a window pointing to those keys.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solidFill>
                  <a:srgbClr val="C5C5C5"/>
                </a:solidFill>
              </a:rPr>
              <a:t>If keys change, then you will view that through the window. 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If</a:t>
            </a:r>
            <a:r>
              <a:rPr lang="en-US" altLang="zh-TW" sz="1998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you</a:t>
            </a:r>
            <a:r>
              <a:rPr lang="en-US" altLang="zh-TW" sz="1998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don’t</a:t>
            </a:r>
            <a:r>
              <a:rPr lang="en-US" altLang="zh-TW" sz="1998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want</a:t>
            </a:r>
            <a:r>
              <a:rPr lang="en-US" altLang="zh-TW" sz="1998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this (</a:t>
            </a:r>
            <a:r>
              <a:rPr lang="en-US" altLang="zh-TW" dirty="0" err="1">
                <a:solidFill>
                  <a:srgbClr val="FF0000"/>
                </a:solidFill>
              </a:rPr>
              <a:t>eg</a:t>
            </a:r>
            <a:r>
              <a:rPr lang="en-US" altLang="zh-TW" dirty="0">
                <a:solidFill>
                  <a:srgbClr val="FF0000"/>
                </a:solidFill>
              </a:rPr>
              <a:t>,</a:t>
            </a:r>
            <a:r>
              <a:rPr lang="en-US" altLang="zh-TW" sz="1998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if you’re</a:t>
            </a:r>
            <a:r>
              <a:rPr lang="en-US" altLang="zh-TW" sz="1998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iterating</a:t>
            </a:r>
            <a:r>
              <a:rPr lang="en-US" altLang="zh-TW" sz="1998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over</a:t>
            </a:r>
            <a:r>
              <a:rPr lang="en-US" altLang="zh-TW" sz="1998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a</a:t>
            </a:r>
            <a:r>
              <a:rPr lang="en-US" altLang="zh-TW" sz="1998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dictionary while</a:t>
            </a:r>
            <a:r>
              <a:rPr lang="en-US" altLang="zh-TW" sz="1998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also</a:t>
            </a:r>
            <a:r>
              <a:rPr lang="en-US" altLang="zh-TW" sz="1998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changing</a:t>
            </a:r>
            <a:r>
              <a:rPr lang="en-US" altLang="zh-TW" sz="1799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it), then make</a:t>
            </a:r>
            <a:r>
              <a:rPr lang="en-US" altLang="zh-TW" dirty="0">
                <a:solidFill>
                  <a:srgbClr val="00B0F0"/>
                </a:solidFill>
              </a:rPr>
              <a:t> a copy </a:t>
            </a:r>
            <a:r>
              <a:rPr lang="en-US" altLang="zh-TW" dirty="0">
                <a:solidFill>
                  <a:srgbClr val="FF0000"/>
                </a:solidFill>
              </a:rPr>
              <a:t>with “</a:t>
            </a:r>
            <a:r>
              <a:rPr lang="en-US" altLang="zh-TW" u="sng" dirty="0">
                <a:solidFill>
                  <a:srgbClr val="CC3399"/>
                </a:solidFill>
              </a:rPr>
              <a:t>list</a:t>
            </a:r>
            <a:r>
              <a:rPr lang="en-US" altLang="zh-TW" dirty="0">
                <a:solidFill>
                  <a:srgbClr val="FF0000"/>
                </a:solidFill>
              </a:rPr>
              <a:t>” instead.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96624" y="2184313"/>
            <a:ext cx="9136546" cy="1625379"/>
          </a:xfrm>
          <a:prstGeom prst="rect">
            <a:avLst/>
          </a:prstGeom>
          <a:solidFill>
            <a:srgbClr val="FFFFFF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defTabSz="845864" fontAlgn="base">
              <a:spcBef>
                <a:spcPct val="0"/>
              </a:spcBef>
              <a:spcAft>
                <a:spcPct val="0"/>
              </a:spcAft>
            </a:pPr>
            <a:endParaRPr lang="en-US" sz="1998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8" name="Rectangle 1"/>
          <p:cNvSpPr txBox="1">
            <a:spLocks noChangeArrowheads="1"/>
          </p:cNvSpPr>
          <p:nvPr/>
        </p:nvSpPr>
        <p:spPr>
          <a:xfrm>
            <a:off x="946" y="36187"/>
            <a:ext cx="9727896" cy="822289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4396" dirty="0">
                <a:solidFill>
                  <a:srgbClr val="2D2DB9"/>
                </a:solidFill>
                <a:cs typeface="Arial" panose="020B0604020202020204" pitchFamily="34" charset="0"/>
              </a:rPr>
              <a:t>Dictionary dynamic views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 flipH="1">
            <a:off x="2521068" y="1326154"/>
            <a:ext cx="1159560" cy="386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ectangle 5"/>
          <p:cNvSpPr/>
          <p:nvPr/>
        </p:nvSpPr>
        <p:spPr bwMode="auto">
          <a:xfrm>
            <a:off x="296624" y="1144863"/>
            <a:ext cx="9136546" cy="685241"/>
          </a:xfrm>
          <a:prstGeom prst="rect">
            <a:avLst/>
          </a:prstGeom>
          <a:solidFill>
            <a:srgbClr val="FFFFFF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defTabSz="845864" fontAlgn="base">
              <a:spcBef>
                <a:spcPct val="0"/>
              </a:spcBef>
              <a:spcAft>
                <a:spcPct val="0"/>
              </a:spcAft>
            </a:pPr>
            <a:endParaRPr lang="en-US" sz="1998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96624" y="1848675"/>
            <a:ext cx="9136546" cy="312985"/>
          </a:xfrm>
          <a:prstGeom prst="rect">
            <a:avLst/>
          </a:prstGeom>
          <a:solidFill>
            <a:srgbClr val="FFFFFF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defTabSz="845864" fontAlgn="base">
              <a:spcBef>
                <a:spcPct val="0"/>
              </a:spcBef>
              <a:spcAft>
                <a:spcPct val="0"/>
              </a:spcAft>
            </a:pPr>
            <a:endParaRPr lang="en-US" sz="1998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80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1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448896" y="535760"/>
            <a:ext cx="8908133" cy="6319445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998" dirty="0"/>
              <a:t>A dictionary </a:t>
            </a:r>
            <a:r>
              <a:rPr lang="en-US" altLang="zh-TW" sz="2998" i="1" u="sng" dirty="0"/>
              <a:t>view</a:t>
            </a:r>
            <a:r>
              <a:rPr lang="en-US" altLang="zh-TW" sz="2998" dirty="0"/>
              <a:t> is a </a:t>
            </a:r>
            <a:r>
              <a:rPr lang="en-US" altLang="zh-TW" sz="2998" i="1" u="sng" dirty="0"/>
              <a:t>window</a:t>
            </a:r>
            <a:r>
              <a:rPr lang="en-US" altLang="zh-TW" sz="2998" dirty="0"/>
              <a:t> on its keys &amp; values: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999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>
                <a:latin typeface="Lucida Console" panose="020B0609040504020204" pitchFamily="49" charset="0"/>
              </a:rPr>
              <a:t> = {'e': 2, 'b': 1, 'c': 1, 'B': 500}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valuesView</a:t>
            </a:r>
            <a:r>
              <a:rPr lang="en-US" altLang="zh-TW" sz="2398" dirty="0">
                <a:latin typeface="Lucida Console" panose="020B0609040504020204" pitchFamily="49" charset="0"/>
              </a:rPr>
              <a:t>=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 err="1">
                <a:latin typeface="Lucida Console" panose="020B0609040504020204" pitchFamily="49" charset="0"/>
              </a:rPr>
              <a:t>.values</a:t>
            </a:r>
            <a:r>
              <a:rPr lang="en-US" altLang="zh-TW" sz="2398" dirty="0">
                <a:latin typeface="Lucida Console" panose="020B0609040504020204" pitchFamily="49" charset="0"/>
              </a:rPr>
              <a:t>();</a:t>
            </a:r>
            <a:r>
              <a:rPr lang="en-US" altLang="zh-TW" sz="2398" b="1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398" dirty="0">
                <a:latin typeface="Lucida Console" panose="020B0609040504020204" pitchFamily="49" charset="0"/>
              </a:rPr>
              <a:t>=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 err="1">
                <a:latin typeface="Lucida Console" panose="020B0609040504020204" pitchFamily="49" charset="0"/>
              </a:rPr>
              <a:t>.keys</a:t>
            </a:r>
            <a:r>
              <a:rPr lang="en-US" altLang="zh-TW" sz="2398" dirty="0"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valuesCopy</a:t>
            </a:r>
            <a:r>
              <a:rPr lang="en-US" altLang="zh-TW" sz="2398" dirty="0">
                <a:latin typeface="Lucida Console" panose="020B0609040504020204" pitchFamily="49" charset="0"/>
              </a:rPr>
              <a:t>=list(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 err="1">
                <a:latin typeface="Lucida Console" panose="020B0609040504020204" pitchFamily="49" charset="0"/>
              </a:rPr>
              <a:t>.values</a:t>
            </a:r>
            <a:r>
              <a:rPr lang="en-US" altLang="zh-TW" sz="2398" dirty="0">
                <a:latin typeface="Lucida Console" panose="020B0609040504020204" pitchFamily="49" charset="0"/>
              </a:rPr>
              <a:t>())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del </a:t>
            </a:r>
            <a:r>
              <a:rPr lang="en-US" altLang="zh-TW" sz="2398" b="1" dirty="0" err="1">
                <a:latin typeface="Lucida Console" panose="020B0609040504020204" pitchFamily="49" charset="0"/>
              </a:rPr>
              <a:t>var</a:t>
            </a:r>
            <a:r>
              <a:rPr lang="en-US" altLang="zh-TW" sz="2398" dirty="0">
                <a:latin typeface="Lucida Console" panose="020B0609040504020204" pitchFamily="49" charset="0"/>
              </a:rPr>
              <a:t>['e']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keysView</a:t>
            </a:r>
            <a:r>
              <a:rPr lang="en-US" altLang="zh-TW" sz="2398" dirty="0">
                <a:latin typeface="Lucida Console" panose="020B0609040504020204" pitchFamily="49" charset="0"/>
              </a:rPr>
              <a:t> # No e anymore!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latin typeface="Lucida Console" panose="020B0609040504020204" pitchFamily="49" charset="0"/>
              </a:rPr>
              <a:t>dict_keys</a:t>
            </a:r>
            <a:r>
              <a:rPr lang="en-US" altLang="zh-TW" sz="2398" dirty="0">
                <a:latin typeface="Lucida Console" panose="020B0609040504020204" pitchFamily="49" charset="0"/>
              </a:rPr>
              <a:t>(['b', 'c', 'B'])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valuesView</a:t>
            </a:r>
            <a:r>
              <a:rPr lang="en-US" altLang="zh-TW" sz="2398" dirty="0">
                <a:latin typeface="Lucida Console" panose="020B0609040504020204" pitchFamily="49" charset="0"/>
              </a:rPr>
              <a:t> # No e value (2) anymore!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 err="1">
                <a:latin typeface="Lucida Console" panose="020B0609040504020204" pitchFamily="49" charset="0"/>
              </a:rPr>
              <a:t>dict_values</a:t>
            </a:r>
            <a:r>
              <a:rPr lang="en-US" altLang="zh-TW" sz="2398" dirty="0">
                <a:latin typeface="Lucida Console" panose="020B0609040504020204" pitchFamily="49" charset="0"/>
              </a:rPr>
              <a:t>([1, 1, 500])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398" dirty="0">
                <a:latin typeface="Lucida Console" panose="020B0609040504020204" pitchFamily="49" charset="0"/>
              </a:rPr>
              <a:t> </a:t>
            </a:r>
            <a:r>
              <a:rPr lang="en-US" altLang="zh-TW" sz="2398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valuesCopy</a:t>
            </a:r>
            <a:r>
              <a:rPr lang="en-US" altLang="zh-TW" sz="2398" dirty="0">
                <a:latin typeface="Lucida Console" panose="020B0609040504020204" pitchFamily="49" charset="0"/>
              </a:rPr>
              <a:t> # The copied one kept the 2!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[2, 1, 1, 500]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1049" dirty="0">
              <a:latin typeface="Lucida Console" panose="020B0609040504020204" pitchFamily="49" charset="0"/>
            </a:endParaRPr>
          </a:p>
          <a:p>
            <a:r>
              <a:rPr lang="en-US" altLang="zh-TW" sz="2798" dirty="0"/>
              <a:t>See what </a:t>
            </a:r>
            <a:r>
              <a:rPr lang="en-US" altLang="zh-TW" sz="2798" b="1" dirty="0"/>
              <a:t>dynamic </a:t>
            </a:r>
            <a:r>
              <a:rPr lang="en-US" altLang="zh-TW" sz="2798" dirty="0"/>
              <a:t>means? </a:t>
            </a:r>
            <a:r>
              <a:rPr lang="en-US" altLang="zh-TW" sz="2798" dirty="0" err="1">
                <a:latin typeface="Lucida Console" panose="020B0609040504020204" pitchFamily="49" charset="0"/>
              </a:rPr>
              <a:t>keysView</a:t>
            </a:r>
            <a:r>
              <a:rPr lang="en-US" altLang="zh-TW" sz="2798" dirty="0"/>
              <a:t> is </a:t>
            </a:r>
            <a:r>
              <a:rPr lang="en-US" altLang="zh-TW" sz="2798" i="1" dirty="0"/>
              <a:t>not</a:t>
            </a:r>
            <a:r>
              <a:rPr lang="en-US" altLang="zh-TW" sz="2798" dirty="0"/>
              <a:t> </a:t>
            </a:r>
            <a:r>
              <a:rPr lang="en-US" altLang="zh-TW" sz="2798" i="1" dirty="0"/>
              <a:t>a copy</a:t>
            </a:r>
            <a:r>
              <a:rPr lang="en-US" altLang="zh-TW" sz="2798" dirty="0"/>
              <a:t> of </a:t>
            </a:r>
            <a:r>
              <a:rPr lang="en-US" altLang="zh-TW" sz="2798" dirty="0" err="1">
                <a:latin typeface="Lucida Console" panose="020B0609040504020204" pitchFamily="49" charset="0"/>
              </a:rPr>
              <a:t>var</a:t>
            </a:r>
            <a:r>
              <a:rPr lang="en-US" altLang="zh-TW" sz="2798" dirty="0" err="1"/>
              <a:t>’s</a:t>
            </a:r>
            <a:r>
              <a:rPr lang="en-US" altLang="zh-TW" sz="2798" dirty="0"/>
              <a:t> keys, only a window pointing to those keys.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If keys change, then you will view that through the window.</a:t>
            </a:r>
          </a:p>
          <a:p>
            <a:pPr lvl="1"/>
            <a:r>
              <a:rPr lang="en-US" altLang="zh-TW" dirty="0"/>
              <a:t>If</a:t>
            </a:r>
            <a:r>
              <a:rPr lang="en-US" altLang="zh-TW" sz="1998" dirty="0"/>
              <a:t> </a:t>
            </a:r>
            <a:r>
              <a:rPr lang="en-US" altLang="zh-TW" dirty="0"/>
              <a:t>you</a:t>
            </a:r>
            <a:r>
              <a:rPr lang="en-US" altLang="zh-TW" sz="1998" dirty="0"/>
              <a:t> </a:t>
            </a:r>
            <a:r>
              <a:rPr lang="en-US" altLang="zh-TW" dirty="0"/>
              <a:t>don’t</a:t>
            </a:r>
            <a:r>
              <a:rPr lang="en-US" altLang="zh-TW" sz="1998" dirty="0"/>
              <a:t> </a:t>
            </a:r>
            <a:r>
              <a:rPr lang="en-US" altLang="zh-TW" dirty="0"/>
              <a:t>want</a:t>
            </a:r>
            <a:r>
              <a:rPr lang="en-US" altLang="zh-TW" sz="1998" dirty="0"/>
              <a:t> </a:t>
            </a:r>
            <a:r>
              <a:rPr lang="en-US" altLang="zh-TW" dirty="0"/>
              <a:t>this (</a:t>
            </a:r>
            <a:r>
              <a:rPr lang="en-US" altLang="zh-TW" dirty="0" err="1"/>
              <a:t>eg</a:t>
            </a:r>
            <a:r>
              <a:rPr lang="en-US" altLang="zh-TW" dirty="0"/>
              <a:t>,</a:t>
            </a:r>
            <a:r>
              <a:rPr lang="en-US" altLang="zh-TW" sz="1998" dirty="0"/>
              <a:t> </a:t>
            </a:r>
            <a:r>
              <a:rPr lang="en-US" altLang="zh-TW" dirty="0"/>
              <a:t>if you’re</a:t>
            </a:r>
            <a:r>
              <a:rPr lang="en-US" altLang="zh-TW" sz="1998" dirty="0"/>
              <a:t> </a:t>
            </a:r>
            <a:r>
              <a:rPr lang="en-US" altLang="zh-TW" dirty="0"/>
              <a:t>iterating</a:t>
            </a:r>
            <a:r>
              <a:rPr lang="en-US" altLang="zh-TW" sz="1998" dirty="0"/>
              <a:t> </a:t>
            </a:r>
            <a:r>
              <a:rPr lang="en-US" altLang="zh-TW" dirty="0"/>
              <a:t>over</a:t>
            </a:r>
            <a:r>
              <a:rPr lang="en-US" altLang="zh-TW" sz="1998" dirty="0"/>
              <a:t> </a:t>
            </a:r>
            <a:r>
              <a:rPr lang="en-US" altLang="zh-TW" dirty="0"/>
              <a:t>a</a:t>
            </a:r>
            <a:r>
              <a:rPr lang="en-US" altLang="zh-TW" sz="1998" dirty="0"/>
              <a:t> </a:t>
            </a:r>
            <a:r>
              <a:rPr lang="en-US" altLang="zh-TW" dirty="0"/>
              <a:t>dictionary while</a:t>
            </a:r>
            <a:r>
              <a:rPr lang="en-US" altLang="zh-TW" sz="1998" dirty="0"/>
              <a:t> </a:t>
            </a:r>
            <a:r>
              <a:rPr lang="en-US" altLang="zh-TW" dirty="0"/>
              <a:t>also</a:t>
            </a:r>
            <a:r>
              <a:rPr lang="en-US" altLang="zh-TW" sz="1998" dirty="0"/>
              <a:t> </a:t>
            </a:r>
            <a:r>
              <a:rPr lang="en-US" altLang="zh-TW" dirty="0"/>
              <a:t>changing</a:t>
            </a:r>
            <a:r>
              <a:rPr lang="en-US" altLang="zh-TW" sz="1799" dirty="0"/>
              <a:t> </a:t>
            </a:r>
            <a:r>
              <a:rPr lang="en-US" altLang="zh-TW" dirty="0"/>
              <a:t>it), then make a copy with “list” instead.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36187"/>
            <a:ext cx="9727896" cy="822289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GB" altLang="en-US" sz="4396" dirty="0">
                <a:solidFill>
                  <a:srgbClr val="2D2DB9"/>
                </a:solidFill>
                <a:cs typeface="Arial" panose="020B0604020202020204" pitchFamily="34" charset="0"/>
              </a:rPr>
              <a:t>Dictionary dynamic views</a:t>
            </a:r>
          </a:p>
        </p:txBody>
      </p:sp>
    </p:spTree>
    <p:extLst>
      <p:ext uri="{BB962C8B-B14F-4D97-AF65-F5344CB8AC3E}">
        <p14:creationId xmlns:p14="http://schemas.microsoft.com/office/powerpoint/2010/main" val="119594201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448899" y="644907"/>
            <a:ext cx="9376621" cy="6210299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0" b="1" dirty="0">
                <a:solidFill>
                  <a:srgbClr val="9900CC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0" dirty="0">
                <a:latin typeface="Lucida Console" panose="020B0609040504020204" pitchFamily="49" charset="0"/>
              </a:rPr>
              <a:t>=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4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5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6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7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8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9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10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  <a:r>
              <a:rPr lang="en-US" altLang="zh-TW" sz="2220" dirty="0">
                <a:latin typeface="Lucida Console" panose="020B0609040504020204" pitchFamily="49" charset="0"/>
              </a:rPr>
              <a:t>; </a:t>
            </a:r>
            <a:r>
              <a:rPr lang="en-US" altLang="zh-TW" sz="2220" b="1" dirty="0">
                <a:solidFill>
                  <a:srgbClr val="9900CC"/>
                </a:solidFill>
                <a:latin typeface="Lucida Console" panose="020B0609040504020204" pitchFamily="49" charset="0"/>
              </a:rPr>
              <a:t>D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4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5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6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7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8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9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10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0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0" dirty="0">
                <a:latin typeface="Lucida Console" panose="020B0609040504020204" pitchFamily="49" charset="0"/>
              </a:rPr>
              <a:t>=tuple(</a:t>
            </a:r>
            <a:r>
              <a:rPr lang="en-US" altLang="zh-TW" sz="2220" b="1" dirty="0" err="1">
                <a:solidFill>
                  <a:srgbClr val="9900CC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0" dirty="0" err="1">
                <a:latin typeface="Lucida Console" panose="020B0609040504020204" pitchFamily="49" charset="0"/>
              </a:rPr>
              <a:t>.</a:t>
            </a:r>
            <a:r>
              <a:rPr lang="en-US" altLang="zh-TW" sz="2220" b="1" dirty="0" err="1">
                <a:solidFill>
                  <a:srgbClr val="FF6969"/>
                </a:solidFill>
                <a:latin typeface="Lucida Console" panose="020B0609040504020204" pitchFamily="49" charset="0"/>
              </a:rPr>
              <a:t>keys</a:t>
            </a:r>
            <a:r>
              <a:rPr lang="en-US" altLang="zh-TW" sz="2220" dirty="0">
                <a:latin typeface="Lucida Console" panose="020B0609040504020204" pitchFamily="49" charset="0"/>
              </a:rPr>
              <a:t>()); </a:t>
            </a:r>
            <a:r>
              <a:rPr lang="en-US" altLang="zh-TW" sz="2220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0" dirty="0">
                <a:latin typeface="Lucida Console" panose="020B0609040504020204" pitchFamily="49" charset="0"/>
              </a:rPr>
              <a:t>(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220" dirty="0"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5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 7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 9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 1</a:t>
            </a:r>
            <a:r>
              <a:rPr lang="en-US" altLang="zh-TW" sz="2220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0" dirty="0">
                <a:solidFill>
                  <a:srgbClr val="92D050"/>
                </a:solidFill>
                <a:latin typeface="Lucida Console" panose="020B0609040504020204" pitchFamily="49" charset="0"/>
              </a:rPr>
              <a:t> # </a:t>
            </a:r>
            <a:r>
              <a:rPr lang="en-US" altLang="zh-TW" sz="259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order of elements in K is arbitrary. But whatever order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dirty="0">
                <a:solidFill>
                  <a:srgbClr val="92D050"/>
                </a:solidFill>
                <a:latin typeface="Lucida Console" panose="020B0609040504020204" pitchFamily="49" charset="0"/>
              </a:rPr>
              <a:t> # </a:t>
            </a:r>
            <a:r>
              <a:rPr lang="en-US" altLang="zh-TW" sz="259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assigned is now fixed, since K is a tuple.</a:t>
            </a:r>
            <a:endParaRPr lang="en-US" altLang="zh-TW" sz="222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0" dirty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0" b="1" dirty="0">
                <a:solidFill>
                  <a:srgbClr val="0033CC"/>
                </a:solidFill>
                <a:latin typeface="Lucida Console" panose="020B0609040504020204" pitchFamily="49" charset="0"/>
              </a:rPr>
              <a:t>V</a:t>
            </a:r>
            <a:r>
              <a:rPr lang="en-US" altLang="zh-TW" sz="2220" dirty="0">
                <a:latin typeface="Lucida Console" panose="020B0609040504020204" pitchFamily="49" charset="0"/>
              </a:rPr>
              <a:t>=list(</a:t>
            </a:r>
            <a:r>
              <a:rPr lang="en-US" altLang="zh-TW" sz="2220" b="1" dirty="0" err="1">
                <a:solidFill>
                  <a:srgbClr val="9900CC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0" dirty="0" err="1">
                <a:latin typeface="Lucida Console" panose="020B0609040504020204" pitchFamily="49" charset="0"/>
              </a:rPr>
              <a:t>.</a:t>
            </a:r>
            <a:r>
              <a:rPr lang="en-US" altLang="zh-TW" sz="2220" b="1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values</a:t>
            </a:r>
            <a:r>
              <a:rPr lang="en-US" altLang="zh-TW" sz="2220" dirty="0">
                <a:latin typeface="Lucida Console" panose="020B0609040504020204" pitchFamily="49" charset="0"/>
              </a:rPr>
              <a:t>());</a:t>
            </a:r>
            <a:r>
              <a:rPr lang="en-US" altLang="zh-TW" sz="2220" b="1" dirty="0">
                <a:solidFill>
                  <a:srgbClr val="0033CC"/>
                </a:solidFill>
                <a:latin typeface="Lucida Console" panose="020B0609040504020204" pitchFamily="49" charset="0"/>
              </a:rPr>
              <a:t>V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0" dirty="0">
                <a:latin typeface="Lucida Console" panose="020B0609040504020204" pitchFamily="49" charset="0"/>
              </a:rPr>
              <a:t>[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4</a:t>
            </a:r>
            <a:r>
              <a:rPr lang="en-US" altLang="zh-TW" sz="2220" dirty="0"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6</a:t>
            </a:r>
            <a:r>
              <a:rPr lang="en-US" altLang="zh-TW" sz="2220" dirty="0"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8</a:t>
            </a:r>
            <a:r>
              <a:rPr lang="en-US" altLang="zh-TW" sz="2220" dirty="0"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10</a:t>
            </a:r>
            <a:r>
              <a:rPr lang="en-US" altLang="zh-TW" sz="2220" dirty="0"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220" dirty="0"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zh-TW" sz="2220" dirty="0">
                <a:solidFill>
                  <a:srgbClr val="92D050"/>
                </a:solidFill>
                <a:latin typeface="Lucida Console" panose="020B0609040504020204" pitchFamily="49" charset="0"/>
              </a:rPr>
              <a:t> #</a:t>
            </a:r>
            <a:r>
              <a:rPr lang="en-US" altLang="zh-TW" sz="222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order of V is </a:t>
            </a:r>
            <a:r>
              <a:rPr lang="en-US" altLang="zh-TW" sz="2590" b="1" i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altLang="zh-TW" sz="259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arbitrary. It </a:t>
            </a:r>
            <a:r>
              <a:rPr lang="en-US" altLang="zh-TW" sz="2590" b="1" i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altLang="zh-TW" sz="259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match the order </a:t>
            </a:r>
            <a:r>
              <a:rPr lang="en-US" altLang="zh-TW" sz="2590" spc="-1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59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TW" sz="2590" spc="-4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59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0" dirty="0">
                <a:solidFill>
                  <a:srgbClr val="92D050"/>
                </a:solidFill>
                <a:latin typeface="Lucida Console" panose="020B0609040504020204" pitchFamily="49" charset="0"/>
              </a:rPr>
              <a:t> #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</a:t>
            </a:r>
            <a:r>
              <a:rPr lang="en-US" altLang="zh-TW" sz="2398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TW" sz="2398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en-US" altLang="zh-TW" sz="2590" spc="-4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</a:t>
            </a:r>
            <a:r>
              <a:rPr lang="en-US" altLang="zh-TW" sz="2398" spc="-4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4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altLang="zh-TW" sz="2398" spc="-4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4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2398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TW" sz="2198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198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4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TW" sz="2590" spc="-3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0" spc="-16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398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590" spc="-5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590" spc="-1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590" spc="-6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en-US" altLang="zh-TW" sz="2398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3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</a:t>
            </a:r>
            <a:r>
              <a:rPr lang="en-US" altLang="zh-TW" sz="2590" spc="-6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altLang="zh-TW" sz="2398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590" spc="-5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398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</a:t>
            </a:r>
            <a:r>
              <a:rPr lang="en-US" altLang="zh-TW" sz="2590" spc="-6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</a:t>
            </a:r>
            <a:r>
              <a:rPr lang="en-US" altLang="zh-TW" sz="2398" spc="-6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1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590" spc="-9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TW" sz="2590" spc="-45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59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2220" dirty="0">
              <a:solidFill>
                <a:srgbClr val="FFFFFF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0" dirty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0" b="1" dirty="0">
                <a:solidFill>
                  <a:srgbClr val="9900CC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5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]=</a:t>
            </a:r>
            <a:r>
              <a:rPr lang="en-US" altLang="zh-TW" sz="2220" b="1" dirty="0">
                <a:solidFill>
                  <a:schemeClr val="tx1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sz="2220" b="1" dirty="0">
                <a:solidFill>
                  <a:srgbClr val="9900CC"/>
                </a:solidFill>
                <a:latin typeface="Lucida Console" panose="020B0609040504020204" pitchFamily="49" charset="0"/>
              </a:rPr>
              <a:t>D 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# </a:t>
            </a:r>
            <a:r>
              <a:rPr lang="en-US" altLang="zh-TW" sz="25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Changing D, won’t change the copies</a:t>
            </a:r>
            <a:endParaRPr lang="en-US" altLang="zh-TW" sz="222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4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5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b="1" dirty="0">
                <a:solidFill>
                  <a:schemeClr val="tx1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7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8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9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10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0" dirty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0" b="1" dirty="0">
                <a:solidFill>
                  <a:srgbClr val="FF0000"/>
                </a:solidFill>
                <a:latin typeface="Lucida Console" panose="020B0609040504020204" pitchFamily="49" charset="0"/>
              </a:rPr>
              <a:t>zip</a:t>
            </a:r>
            <a:r>
              <a:rPr lang="en-US" altLang="zh-TW" sz="2220" dirty="0">
                <a:latin typeface="Lucida Console" panose="020B0609040504020204" pitchFamily="49" charset="0"/>
              </a:rPr>
              <a:t>(</a:t>
            </a:r>
            <a:r>
              <a:rPr lang="en-US" altLang="zh-TW" sz="2220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0" dirty="0">
                <a:latin typeface="Lucida Console" panose="020B0609040504020204" pitchFamily="49" charset="0"/>
              </a:rPr>
              <a:t>,</a:t>
            </a:r>
            <a:r>
              <a:rPr lang="en-US" altLang="zh-TW" sz="2220" b="1" dirty="0">
                <a:solidFill>
                  <a:srgbClr val="0033CC"/>
                </a:solidFill>
                <a:latin typeface="Lucida Console" panose="020B0609040504020204" pitchFamily="49" charset="0"/>
              </a:rPr>
              <a:t>V</a:t>
            </a:r>
            <a:r>
              <a:rPr lang="en-US" altLang="zh-TW" sz="2220" dirty="0">
                <a:latin typeface="Lucida Console" panose="020B0609040504020204" pitchFamily="49" charset="0"/>
              </a:rPr>
              <a:t>) 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# </a:t>
            </a:r>
            <a:r>
              <a:rPr lang="en-US" altLang="zh-TW" sz="25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what happens if you don’t type cast zip:</a:t>
            </a:r>
            <a:endParaRPr lang="en-US" altLang="zh-TW" sz="222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&lt;zip object at 0x6ffffab0c08&gt;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0" dirty="0">
                <a:latin typeface="Lucida Console" panose="020B0609040504020204" pitchFamily="49" charset="0"/>
              </a:rPr>
              <a:t>list(</a:t>
            </a:r>
            <a:r>
              <a:rPr lang="en-US" altLang="zh-TW" sz="2220" b="1" dirty="0">
                <a:solidFill>
                  <a:srgbClr val="FF0000"/>
                </a:solidFill>
                <a:latin typeface="Lucida Console" panose="020B0609040504020204" pitchFamily="49" charset="0"/>
              </a:rPr>
              <a:t>zip</a:t>
            </a:r>
            <a:r>
              <a:rPr lang="en-US" altLang="zh-TW" sz="2220" dirty="0">
                <a:latin typeface="Lucida Console" panose="020B0609040504020204" pitchFamily="49" charset="0"/>
              </a:rPr>
              <a:t>(</a:t>
            </a:r>
            <a:r>
              <a:rPr lang="en-US" altLang="zh-TW" sz="2220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0" dirty="0">
                <a:latin typeface="Lucida Console" panose="020B0609040504020204" pitchFamily="49" charset="0"/>
              </a:rPr>
              <a:t>,</a:t>
            </a:r>
            <a:r>
              <a:rPr lang="en-US" altLang="zh-TW" sz="2220" b="1" dirty="0">
                <a:solidFill>
                  <a:srgbClr val="0033CC"/>
                </a:solidFill>
                <a:latin typeface="Lucida Console" panose="020B0609040504020204" pitchFamily="49" charset="0"/>
              </a:rPr>
              <a:t>V</a:t>
            </a:r>
            <a:r>
              <a:rPr lang="en-US" altLang="zh-TW" sz="2220" dirty="0">
                <a:latin typeface="Lucida Console" panose="020B0609040504020204" pitchFamily="49" charset="0"/>
              </a:rPr>
              <a:t>))</a:t>
            </a:r>
            <a:r>
              <a:rPr lang="en-US" altLang="zh-TW" sz="2220" spc="-185" dirty="0">
                <a:solidFill>
                  <a:schemeClr val="tx1"/>
                </a:solidFill>
                <a:latin typeface="Lucida Console" panose="020B0609040504020204" pitchFamily="49" charset="0"/>
              </a:rPr>
              <a:t># </a:t>
            </a:r>
            <a:r>
              <a:rPr lang="en-US" altLang="zh-TW" sz="25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Casting creates a list of tuple pairs: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0" dirty="0">
                <a:latin typeface="Lucida Console" panose="020B0609040504020204" pitchFamily="49" charset="0"/>
              </a:rPr>
              <a:t>[(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4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), (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5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6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), (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7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8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), (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9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10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), (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altLang="zh-TW" sz="2220" dirty="0" err="1">
                <a:latin typeface="Lucida Console" panose="020B0609040504020204" pitchFamily="49" charset="0"/>
              </a:rPr>
              <a:t>dict</a:t>
            </a:r>
            <a:r>
              <a:rPr lang="en-US" altLang="zh-TW" sz="2220" dirty="0">
                <a:latin typeface="Lucida Console" panose="020B0609040504020204" pitchFamily="49" charset="0"/>
              </a:rPr>
              <a:t>(</a:t>
            </a:r>
            <a:r>
              <a:rPr lang="en-US" altLang="zh-TW" sz="2220" b="1" dirty="0">
                <a:solidFill>
                  <a:srgbClr val="FF0000"/>
                </a:solidFill>
                <a:latin typeface="Lucida Console" panose="020B0609040504020204" pitchFamily="49" charset="0"/>
              </a:rPr>
              <a:t>zip</a:t>
            </a:r>
            <a:r>
              <a:rPr lang="en-US" altLang="zh-TW" sz="2220" dirty="0">
                <a:latin typeface="Lucida Console" panose="020B0609040504020204" pitchFamily="49" charset="0"/>
              </a:rPr>
              <a:t>(</a:t>
            </a:r>
            <a:r>
              <a:rPr lang="en-US" altLang="zh-TW" sz="2220" b="1" dirty="0">
                <a:solidFill>
                  <a:srgbClr val="FF6969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220" dirty="0">
                <a:latin typeface="Lucida Console" panose="020B0609040504020204" pitchFamily="49" charset="0"/>
              </a:rPr>
              <a:t>,</a:t>
            </a:r>
            <a:r>
              <a:rPr lang="en-US" altLang="zh-TW" sz="222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V</a:t>
            </a:r>
            <a:r>
              <a:rPr lang="en-US" altLang="zh-TW" sz="2220" dirty="0">
                <a:latin typeface="Lucida Console" panose="020B0609040504020204" pitchFamily="49" charset="0"/>
              </a:rPr>
              <a:t>))</a:t>
            </a:r>
            <a:r>
              <a:rPr lang="en-US" altLang="zh-TW" sz="2220" spc="-185" dirty="0">
                <a:solidFill>
                  <a:schemeClr val="tx1"/>
                </a:solidFill>
                <a:latin typeface="Lucida Console" panose="020B0609040504020204" pitchFamily="49" charset="0"/>
              </a:rPr>
              <a:t># </a:t>
            </a:r>
            <a:r>
              <a:rPr lang="en-US" altLang="zh-TW" sz="2590" spc="-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5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ecreates</a:t>
            </a:r>
            <a:r>
              <a:rPr lang="en-US" altLang="zh-TW" sz="239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590"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5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39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</a:t>
            </a:r>
            <a:r>
              <a:rPr lang="en-US" altLang="zh-TW" sz="239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</a:t>
            </a:r>
            <a:r>
              <a:rPr lang="en-US" altLang="zh-TW" sz="2590"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5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nary</a:t>
            </a:r>
            <a:r>
              <a:rPr lang="en-US" altLang="zh-TW" sz="239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90" spc="-1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5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TW" sz="2590" spc="-1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5:6</a:t>
            </a:r>
            <a:r>
              <a:rPr lang="en-US" altLang="zh-TW" sz="25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4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5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6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7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8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9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10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0" dirty="0">
                <a:solidFill>
                  <a:srgbClr val="FF696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0" dirty="0">
                <a:solidFill>
                  <a:srgbClr val="0033CC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22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946" y="36188"/>
            <a:ext cx="9727896" cy="757527"/>
          </a:xfrm>
          <a:prstGeom prst="rect">
            <a:avLst/>
          </a:prstGeom>
        </p:spPr>
        <p:txBody>
          <a:bodyPr vert="horz" lIns="84590" tIns="42295" rIns="84590" bIns="42295" rtlCol="0" anchor="ctr">
            <a:normAutofit/>
          </a:bodyPr>
          <a:lstStyle>
            <a:lvl1pPr algn="ctr" defTabSz="7886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5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47000"/>
              </a:lnSpc>
              <a:tabLst>
                <a:tab pos="0" algn="l"/>
                <a:tab pos="413971" algn="l"/>
                <a:tab pos="827940" algn="l"/>
                <a:tab pos="1241911" algn="l"/>
                <a:tab pos="1655880" algn="l"/>
                <a:tab pos="2071437" algn="l"/>
                <a:tab pos="2485407" algn="l"/>
                <a:tab pos="2899377" algn="l"/>
                <a:tab pos="3313347" algn="l"/>
                <a:tab pos="3728903" algn="l"/>
                <a:tab pos="4142873" algn="l"/>
                <a:tab pos="4556844" algn="l"/>
                <a:tab pos="4970813" algn="l"/>
                <a:tab pos="5386369" algn="l"/>
                <a:tab pos="5800340" algn="l"/>
                <a:tab pos="6214310" algn="l"/>
                <a:tab pos="6628280" algn="l"/>
                <a:tab pos="7043836" algn="l"/>
                <a:tab pos="7457805" algn="l"/>
                <a:tab pos="7871777" algn="l"/>
                <a:tab pos="8285745" algn="l"/>
              </a:tabLst>
            </a:pPr>
            <a:r>
              <a:rPr lang="en-US" altLang="en-US" sz="4197" dirty="0">
                <a:solidFill>
                  <a:srgbClr val="2D2DB9"/>
                </a:solidFill>
                <a:cs typeface="Arial" panose="020B0604020202020204" pitchFamily="34" charset="0"/>
              </a:rPr>
              <a:t>A dictionary view </a:t>
            </a:r>
            <a:r>
              <a:rPr lang="en-US" altLang="en-US" sz="4197" u="sng" dirty="0">
                <a:solidFill>
                  <a:srgbClr val="2D2DB9"/>
                </a:solidFill>
                <a:cs typeface="Arial" panose="020B0604020202020204" pitchFamily="34" charset="0"/>
              </a:rPr>
              <a:t>imposes</a:t>
            </a:r>
            <a:r>
              <a:rPr lang="en-US" altLang="en-US" sz="4197" dirty="0">
                <a:solidFill>
                  <a:srgbClr val="2D2DB9"/>
                </a:solidFill>
                <a:cs typeface="Arial" panose="020B0604020202020204" pitchFamily="34" charset="0"/>
              </a:rPr>
              <a:t> an order</a:t>
            </a:r>
            <a:endParaRPr lang="en-GB" altLang="en-US" sz="4197" dirty="0">
              <a:solidFill>
                <a:srgbClr val="2D2DB9"/>
              </a:solidFill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48898" y="644907"/>
            <a:ext cx="798167" cy="5724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590" tIns="42295" rIns="84590" bIns="42295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5864">
              <a:lnSpc>
                <a:spcPct val="85000"/>
              </a:lnSpc>
              <a:spcBef>
                <a:spcPts val="0"/>
              </a:spcBef>
              <a:buNone/>
            </a:pPr>
            <a:endParaRPr lang="en-US" altLang="zh-TW" sz="2220" b="1" kern="0" dirty="0">
              <a:solidFill>
                <a:srgbClr val="9900CC"/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5000"/>
              </a:lnSpc>
              <a:spcBef>
                <a:spcPts val="0"/>
              </a:spcBef>
              <a:buNone/>
            </a:pPr>
            <a:endParaRPr lang="en-US" altLang="zh-TW" sz="222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22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2220" b="1" kern="0" dirty="0">
              <a:solidFill>
                <a:srgbClr val="FF6969"/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5000"/>
              </a:lnSpc>
              <a:spcBef>
                <a:spcPts val="0"/>
              </a:spcBef>
              <a:buNone/>
            </a:pPr>
            <a:endParaRPr lang="en-US" altLang="zh-TW" sz="2220" kern="0" dirty="0"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590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defTabSz="845864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590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.</a:t>
            </a:r>
            <a:endParaRPr lang="en-US" altLang="zh-TW" sz="2220" kern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845864">
              <a:lnSpc>
                <a:spcPct val="75000"/>
              </a:lnSpc>
              <a:spcBef>
                <a:spcPts val="0"/>
              </a:spcBef>
              <a:buNone/>
            </a:pPr>
            <a:endParaRPr lang="en-US" altLang="zh-TW" sz="2220" kern="0" dirty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75000"/>
              </a:lnSpc>
              <a:spcBef>
                <a:spcPts val="0"/>
              </a:spcBef>
              <a:buNone/>
            </a:pPr>
            <a:endParaRPr lang="en-US" altLang="zh-TW" sz="2220" b="1" kern="0" dirty="0">
              <a:solidFill>
                <a:srgbClr val="0033CC"/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5000"/>
              </a:lnSpc>
              <a:spcBef>
                <a:spcPts val="0"/>
              </a:spcBef>
              <a:buNone/>
            </a:pPr>
            <a:endParaRPr lang="en-US" altLang="zh-TW" sz="2220" kern="0" dirty="0"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590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590" kern="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 defTabSz="845864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222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</a:t>
            </a:r>
            <a:r>
              <a:rPr lang="en-US" altLang="zh-TW" sz="2590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2220" kern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845864">
              <a:lnSpc>
                <a:spcPct val="70000"/>
              </a:lnSpc>
              <a:spcBef>
                <a:spcPts val="0"/>
              </a:spcBef>
              <a:buNone/>
            </a:pPr>
            <a:endParaRPr lang="en-US" altLang="zh-TW" sz="2220" kern="0" dirty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590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.</a:t>
            </a:r>
            <a:endParaRPr lang="en-US" altLang="zh-TW" sz="2220" b="1" kern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845864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222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65000"/>
              </a:lnSpc>
              <a:spcBef>
                <a:spcPts val="0"/>
              </a:spcBef>
              <a:buNone/>
            </a:pPr>
            <a:endParaRPr lang="en-US" altLang="zh-TW" sz="2220" kern="0" dirty="0">
              <a:solidFill>
                <a:srgbClr val="92D050"/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222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</a:t>
            </a:r>
            <a:r>
              <a:rPr lang="en-US" altLang="zh-TW" sz="2590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2220" kern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845864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222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590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defTabSz="845864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222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indent="0" defTabSz="845864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590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defTabSz="845864">
              <a:spcBef>
                <a:spcPts val="0"/>
              </a:spcBef>
              <a:buNone/>
            </a:pPr>
            <a:endParaRPr lang="en-US" altLang="zh-TW" sz="1017" kern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41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71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716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716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716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716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716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716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716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7168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7168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7168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callable.__doc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"callable"); _.remove("type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"hash"); _.remove("id");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54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8"/>
          <p:cNvSpPr/>
          <p:nvPr/>
        </p:nvSpPr>
        <p:spPr bwMode="auto">
          <a:xfrm>
            <a:off x="1612217" y="3099728"/>
            <a:ext cx="6429218" cy="1519547"/>
          </a:xfrm>
          <a:prstGeom prst="wedgeRoundRectCallout">
            <a:avLst>
              <a:gd name="adj1" fmla="val 26593"/>
              <a:gd name="adj2" fmla="val 148152"/>
              <a:gd name="adj3" fmla="val 16667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683" numCol="1" rtlCol="0" anchor="t" anchorCtr="0" compatLnSpc="1">
            <a:prstTxWarp prst="textNoShape">
              <a:avLst/>
            </a:prstTxWarp>
          </a:bodyPr>
          <a:lstStyle/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zh-TW" sz="1998" kern="0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Zip is a way to merge lists.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  </a:t>
            </a:r>
            <a:endParaRPr lang="en-US" altLang="zh-TW" sz="2798" kern="0" dirty="0">
              <a:solidFill>
                <a:srgbClr val="0091C4"/>
              </a:solidFill>
              <a:ea typeface="MS PGothic" pitchFamily="34" charset="-128"/>
            </a:endParaRP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91C4"/>
                </a:solidFill>
                <a:ea typeface="MS PGothic" pitchFamily="34" charset="-128"/>
              </a:rPr>
              <a:t> </a:t>
            </a:r>
            <a:r>
              <a:rPr lang="en-US" altLang="zh-TW" sz="2798" kern="0" dirty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 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endParaRPr lang="en-US" altLang="zh-TW" sz="2798" kern="0" dirty="0">
              <a:solidFill>
                <a:srgbClr val="000000"/>
              </a:solidFill>
              <a:ea typeface="MS PGothic" pitchFamily="34" charset="-128"/>
            </a:endParaRP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  </a:t>
            </a:r>
            <a:endParaRPr lang="en-US" altLang="zh-TW" sz="2398" kern="0" dirty="0">
              <a:solidFill>
                <a:srgbClr val="000000"/>
              </a:solidFill>
              <a:latin typeface="Lucida Console" panose="020B0609040504020204" pitchFamily="49" charset="0"/>
              <a:ea typeface="MS PGothic" pitchFamily="34" charset="-128"/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1636076" y="3099728"/>
            <a:ext cx="6429218" cy="1519547"/>
          </a:xfrm>
          <a:prstGeom prst="wedgeRoundRectCallout">
            <a:avLst>
              <a:gd name="adj1" fmla="val 21556"/>
              <a:gd name="adj2" fmla="val 64783"/>
              <a:gd name="adj3" fmla="val 16667"/>
            </a:avLst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683" numCol="1" rtlCol="0" anchor="t" anchorCtr="0" compatLnSpc="1">
            <a:prstTxWarp prst="textNoShape">
              <a:avLst/>
            </a:prstTxWarp>
          </a:bodyPr>
          <a:lstStyle/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zh-TW" sz="1998" kern="0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endParaRPr lang="en-US" altLang="zh-TW" sz="2798" kern="0" dirty="0">
              <a:solidFill>
                <a:srgbClr val="000000"/>
              </a:solidFill>
              <a:ea typeface="MS PGothic" pitchFamily="34" charset="-128"/>
            </a:endParaRP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  </a:t>
            </a:r>
            <a:r>
              <a:rPr lang="en-US" altLang="zh-TW" sz="2798" kern="0" dirty="0">
                <a:solidFill>
                  <a:schemeClr val="accent2"/>
                </a:solidFill>
                <a:ea typeface="MS PGothic" pitchFamily="34" charset="-128"/>
              </a:rPr>
              <a:t>- It can be used to make a dictionary.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chemeClr val="accent2"/>
                </a:solidFill>
                <a:ea typeface="MS PGothic" pitchFamily="34" charset="-128"/>
              </a:rPr>
              <a:t>  </a:t>
            </a:r>
            <a:r>
              <a:rPr lang="en-US" altLang="zh-TW" sz="2798" kern="0" dirty="0">
                <a:solidFill>
                  <a:srgbClr val="BFBFBF"/>
                </a:solidFill>
                <a:ea typeface="MS PGothic" pitchFamily="34" charset="-128"/>
              </a:rPr>
              <a:t>- It can be used in parallel traversal.</a:t>
            </a: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endParaRPr lang="en-US" altLang="zh-TW" sz="2798" kern="0" dirty="0">
              <a:solidFill>
                <a:srgbClr val="000000"/>
              </a:solidFill>
              <a:ea typeface="MS PGothic" pitchFamily="34" charset="-128"/>
            </a:endParaRPr>
          </a:p>
          <a:p>
            <a:pPr defTabSz="845864" eaLnBrk="0" fontAlgn="base" hangingPunct="0">
              <a:spcAft>
                <a:spcPct val="0"/>
              </a:spcAft>
              <a:buClr>
                <a:srgbClr val="2D2DB9"/>
              </a:buClr>
            </a:pPr>
            <a:r>
              <a:rPr lang="en-US" altLang="zh-TW" sz="2798" kern="0" dirty="0">
                <a:solidFill>
                  <a:srgbClr val="000000"/>
                </a:solidFill>
                <a:ea typeface="MS PGothic" pitchFamily="34" charset="-128"/>
              </a:rPr>
              <a:t>  </a:t>
            </a:r>
            <a:endParaRPr lang="en-US" altLang="zh-TW" sz="2398" kern="0" dirty="0">
              <a:solidFill>
                <a:srgbClr val="000000"/>
              </a:solidFill>
              <a:latin typeface="Lucida Console" panose="020B0609040504020204" pitchFamily="49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7628039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1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animClr clrSpc="rgb" dir="cw">
                                      <p:cBhvr>
                                        <p:cTn id="14" dur="1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15" dur="1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9" dur="1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1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1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-140990" y="972258"/>
            <a:ext cx="9722512" cy="587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590" tIns="42295" rIns="84590" bIns="42295" numCol="1" anchor="t" anchorCtr="0" compatLnSpc="1">
            <a:prstTxWarp prst="textNoShape">
              <a:avLst/>
            </a:prstTxWarp>
            <a:noAutofit/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961" kern="0" dirty="0">
                <a:solidFill>
                  <a:srgbClr val="002060"/>
                </a:solidFill>
              </a:rPr>
              <a:t> You can also assign several variables simultaneously:</a:t>
            </a:r>
            <a:endParaRPr lang="en-US" altLang="en-US" sz="2590" kern="0" dirty="0">
              <a:solidFill>
                <a:srgbClr val="002060"/>
              </a:solidFill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; print(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)      </a:t>
            </a:r>
            <a:r>
              <a:rPr lang="en-US" alt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#all equal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 </a:t>
            </a:r>
            <a:r>
              <a:rPr lang="en-US" alt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 </a:t>
            </a:r>
            <a:r>
              <a:rPr lang="en-US" alt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2598" b="1" kern="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; print(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) </a:t>
            </a:r>
            <a:r>
              <a:rPr lang="en-US" alt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#respectively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2</a:t>
            </a:r>
            <a:r>
              <a:rPr lang="en-US" altLang="en-US" sz="2598" b="1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kern="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kern="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kern="0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</a:t>
            </a:r>
            <a:r>
              <a:rPr lang="en-US" altLang="en-US" sz="259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list/tuple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kern="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; print(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kern="0" dirty="0" err="1">
                <a:solidFill>
                  <a:srgbClr val="E89898"/>
                </a:solidFill>
                <a:cs typeface="Arial" panose="020B0604020202020204" pitchFamily="34" charset="0"/>
              </a:rPr>
              <a:t>Traceback</a:t>
            </a:r>
            <a:r>
              <a:rPr lang="en-US" altLang="en-US" sz="2598" kern="0" dirty="0">
                <a:solidFill>
                  <a:srgbClr val="E89898"/>
                </a:solidFill>
                <a:cs typeface="Arial" panose="020B0604020202020204" pitchFamily="34" charset="0"/>
              </a:rPr>
              <a:t> (most recent call last):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kern="0" dirty="0">
                <a:solidFill>
                  <a:srgbClr val="E89898"/>
                </a:solidFill>
                <a:cs typeface="Arial" panose="020B0604020202020204" pitchFamily="34" charset="0"/>
              </a:rPr>
              <a:t>  File "&lt;</a:t>
            </a:r>
            <a:r>
              <a:rPr lang="en-US" altLang="en-US" sz="2598" kern="0" dirty="0" err="1">
                <a:solidFill>
                  <a:srgbClr val="E89898"/>
                </a:solidFill>
                <a:cs typeface="Arial" panose="020B0604020202020204" pitchFamily="34" charset="0"/>
              </a:rPr>
              <a:t>stdin</a:t>
            </a:r>
            <a:r>
              <a:rPr lang="en-US" altLang="en-US" sz="2598" kern="0" dirty="0">
                <a:solidFill>
                  <a:srgbClr val="E89898"/>
                </a:solidFill>
                <a:cs typeface="Arial" panose="020B0604020202020204" pitchFamily="34" charset="0"/>
              </a:rPr>
              <a:t>&gt;", line 1, in &lt;module&gt;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kern="0" dirty="0" err="1">
                <a:solidFill>
                  <a:srgbClr val="FF0000"/>
                </a:solidFill>
                <a:cs typeface="Arial" panose="020B0604020202020204" pitchFamily="34" charset="0"/>
              </a:rPr>
              <a:t>ValueError</a:t>
            </a:r>
            <a:r>
              <a:rPr lang="en-US" altLang="en-US" sz="2598" kern="0" dirty="0">
                <a:solidFill>
                  <a:srgbClr val="FF0000"/>
                </a:solidFill>
                <a:cs typeface="Arial" panose="020B0604020202020204" pitchFamily="34" charset="0"/>
              </a:rPr>
              <a:t>: too many values to unpack (expected 3)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kern="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; print(</a:t>
            </a:r>
            <a:r>
              <a:rPr lang="en-US" altLang="en-US" sz="2598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kern="0" dirty="0" err="1">
                <a:solidFill>
                  <a:srgbClr val="E89898"/>
                </a:solidFill>
                <a:cs typeface="Arial" panose="020B0604020202020204" pitchFamily="34" charset="0"/>
              </a:rPr>
              <a:t>Traceback</a:t>
            </a:r>
            <a:r>
              <a:rPr lang="en-US" altLang="en-US" sz="2598" kern="0" dirty="0">
                <a:solidFill>
                  <a:srgbClr val="E89898"/>
                </a:solidFill>
                <a:cs typeface="Arial" panose="020B0604020202020204" pitchFamily="34" charset="0"/>
              </a:rPr>
              <a:t> (most recent call last):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kern="0" dirty="0">
                <a:solidFill>
                  <a:srgbClr val="E89898"/>
                </a:solidFill>
                <a:cs typeface="Arial" panose="020B0604020202020204" pitchFamily="34" charset="0"/>
              </a:rPr>
              <a:t>  File "&lt;</a:t>
            </a:r>
            <a:r>
              <a:rPr lang="en-US" altLang="en-US" sz="2598" kern="0" dirty="0" err="1">
                <a:solidFill>
                  <a:srgbClr val="E89898"/>
                </a:solidFill>
                <a:cs typeface="Arial" panose="020B0604020202020204" pitchFamily="34" charset="0"/>
              </a:rPr>
              <a:t>stdin</a:t>
            </a:r>
            <a:r>
              <a:rPr lang="en-US" altLang="en-US" sz="2598" kern="0" dirty="0">
                <a:solidFill>
                  <a:srgbClr val="E89898"/>
                </a:solidFill>
                <a:cs typeface="Arial" panose="020B0604020202020204" pitchFamily="34" charset="0"/>
              </a:rPr>
              <a:t>&gt;", line 1, in &lt;module&gt;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Tx/>
              <a:buNone/>
            </a:pPr>
            <a:r>
              <a:rPr lang="en-US" altLang="en-US" sz="2598" kern="0" dirty="0" err="1">
                <a:solidFill>
                  <a:srgbClr val="FF0000"/>
                </a:solidFill>
                <a:cs typeface="Arial" panose="020B0604020202020204" pitchFamily="34" charset="0"/>
              </a:rPr>
              <a:t>ValueError</a:t>
            </a:r>
            <a:r>
              <a:rPr lang="en-US" altLang="en-US" sz="2598" kern="0" dirty="0">
                <a:solidFill>
                  <a:srgbClr val="FF0000"/>
                </a:solidFill>
                <a:cs typeface="Arial" panose="020B0604020202020204" pitchFamily="34" charset="0"/>
              </a:rPr>
              <a:t>: not enough values to unpack (expected 3, got 2)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-436263" y="1428476"/>
            <a:ext cx="10165104" cy="5294029"/>
            <a:chOff x="0" y="1219200"/>
            <a:chExt cx="9144000" cy="5638800"/>
          </a:xfrm>
        </p:grpSpPr>
        <p:sp>
          <p:nvSpPr>
            <p:cNvPr id="2" name="Rectangle 1"/>
            <p:cNvSpPr/>
            <p:nvPr/>
          </p:nvSpPr>
          <p:spPr>
            <a:xfrm>
              <a:off x="0" y="4267200"/>
              <a:ext cx="9144000" cy="2590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398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1219200"/>
              <a:ext cx="9144000" cy="152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398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62000" y="3886200"/>
              <a:ext cx="5562600" cy="34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398">
                <a:solidFill>
                  <a:prstClr val="white"/>
                </a:solidFill>
              </a:endParaRPr>
            </a:p>
          </p:txBody>
        </p:sp>
      </p:grpSp>
      <p:sp>
        <p:nvSpPr>
          <p:cNvPr id="4" name="Rectangle 3"/>
          <p:cNvSpPr/>
          <p:nvPr/>
        </p:nvSpPr>
        <p:spPr bwMode="auto">
          <a:xfrm>
            <a:off x="-424955" y="6717091"/>
            <a:ext cx="10154743" cy="1062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defTabSz="913668" fontAlgn="base">
              <a:spcBef>
                <a:spcPct val="0"/>
              </a:spcBef>
              <a:spcAft>
                <a:spcPct val="0"/>
              </a:spcAft>
            </a:pPr>
            <a:endParaRPr lang="en-US" sz="1998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-7929" y="5332447"/>
            <a:ext cx="9736772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" y="2835028"/>
            <a:ext cx="10963855" cy="1560827"/>
          </a:xfrm>
          <a:prstGeom prst="rect">
            <a:avLst/>
          </a:prstGeom>
          <a:noFill/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598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598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list/tuple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598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12" name="Trapezoid 11"/>
          <p:cNvSpPr>
            <a:spLocks noChangeAspect="1"/>
          </p:cNvSpPr>
          <p:nvPr/>
        </p:nvSpPr>
        <p:spPr bwMode="auto">
          <a:xfrm rot="-2700000">
            <a:off x="-573713" y="290160"/>
            <a:ext cx="2371433" cy="643472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0" rIns="91365" bIns="45683" numCol="1" rtlCol="0" anchor="ctr" anchorCtr="1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398" dirty="0">
                <a:solidFill>
                  <a:srgbClr val="000000"/>
                </a:solidFill>
                <a:ea typeface="新細明體" charset="-120"/>
              </a:rPr>
              <a:t>Lecture 2</a:t>
            </a:r>
            <a:br>
              <a:rPr lang="en-US" sz="2398" dirty="0">
                <a:solidFill>
                  <a:srgbClr val="000000"/>
                </a:solidFill>
                <a:ea typeface="新細明體" charset="-120"/>
              </a:rPr>
            </a:br>
            <a:r>
              <a:rPr lang="en-US" sz="2398" dirty="0">
                <a:solidFill>
                  <a:srgbClr val="000000"/>
                </a:solidFill>
                <a:ea typeface="新細明體" charset="-120"/>
              </a:rPr>
              <a:t>Slide 25</a:t>
            </a:r>
            <a:endParaRPr lang="en-US" sz="2798" dirty="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 bwMode="auto">
          <a:xfrm>
            <a:off x="296623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Multiple Assignment</a:t>
            </a:r>
          </a:p>
        </p:txBody>
      </p:sp>
    </p:spTree>
    <p:extLst>
      <p:ext uri="{BB962C8B-B14F-4D97-AF65-F5344CB8AC3E}">
        <p14:creationId xmlns:p14="http://schemas.microsoft.com/office/powerpoint/2010/main" val="314359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8011E-6 -4.81481E-6 L 2.98011E-6 0.36945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9" grpId="0"/>
      <p:bldP spid="9" grpId="1"/>
      <p:bldP spid="9" grpId="2"/>
      <p:bldP spid="12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 bwMode="auto">
          <a:xfrm>
            <a:off x="296623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Multiple Assignment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88930" y="764174"/>
            <a:ext cx="8908133" cy="6091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0" bIns="45683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x=(1,2,3);y=('a',[2],(3,));z=(1,'','c')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for </a:t>
            </a:r>
            <a:r>
              <a:rPr lang="en-US" sz="2598" kern="0" dirty="0" err="1">
                <a:latin typeface="Lucida Console" panose="020B0609040504020204" pitchFamily="49" charset="0"/>
              </a:rPr>
              <a:t>i,j,k</a:t>
            </a:r>
            <a:r>
              <a:rPr lang="en-US" sz="2598" kern="0" dirty="0">
                <a:latin typeface="Lucida Console" panose="020B0609040504020204" pitchFamily="49" charset="0"/>
              </a:rPr>
              <a:t> in (</a:t>
            </a:r>
            <a:r>
              <a:rPr lang="en-US" sz="2598" kern="0" dirty="0" err="1">
                <a:latin typeface="Lucida Console" panose="020B0609040504020204" pitchFamily="49" charset="0"/>
              </a:rPr>
              <a:t>x,y,z</a:t>
            </a:r>
            <a:r>
              <a:rPr lang="en-US" sz="2598" kern="0" dirty="0">
                <a:latin typeface="Lucida Console" panose="020B0609040504020204" pitchFamily="49" charset="0"/>
              </a:rPr>
              <a:t>): </a:t>
            </a:r>
            <a:r>
              <a:rPr lang="en-US" sz="2598" b="1" kern="0" dirty="0">
                <a:solidFill>
                  <a:srgbClr val="FF0000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sz="2598" kern="0" dirty="0">
                <a:latin typeface="Lucida Console" panose="020B0609040504020204" pitchFamily="49" charset="0"/>
              </a:rPr>
              <a:t>    print (</a:t>
            </a:r>
            <a:r>
              <a:rPr lang="en-US" sz="2598" kern="0" dirty="0" err="1">
                <a:latin typeface="Lucida Console" panose="020B0609040504020204" pitchFamily="49" charset="0"/>
              </a:rPr>
              <a:t>i,j,k</a:t>
            </a:r>
            <a:r>
              <a:rPr lang="en-US" altLang="zh-TW" sz="2598" kern="0" dirty="0" err="1">
                <a:latin typeface="Lucida Console" panose="020B0609040504020204" pitchFamily="49" charset="0"/>
              </a:rPr>
              <a:t>,sep</a:t>
            </a:r>
            <a:r>
              <a:rPr lang="en-US" altLang="zh-TW" sz="2598" kern="0" dirty="0">
                <a:latin typeface="Lucida Console" panose="020B0609040504020204" pitchFamily="49" charset="0"/>
              </a:rPr>
              <a:t>=" , "</a:t>
            </a:r>
            <a:r>
              <a:rPr lang="en-US" sz="2598" kern="0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latin typeface="Lucida Console" panose="020B0609040504020204" pitchFamily="49" charset="0"/>
              </a:rPr>
              <a:t>1 , 2 , 3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latin typeface="Lucida Console" panose="020B0609040504020204" pitchFamily="49" charset="0"/>
              </a:rPr>
              <a:t>a , [2] , (3,)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598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41284808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=(1,2,3)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;y=('a',[2],(3,));z=(1,'','c')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latin typeface="Lucida Console" panose="020B0609040504020204" pitchFamily="49" charset="0"/>
              </a:rPr>
              <a:t>,</a:t>
            </a:r>
            <a:r>
              <a:rPr 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latin typeface="Lucida Console" panose="020B0609040504020204" pitchFamily="49" charset="0"/>
              </a:rPr>
              <a:t>,</a:t>
            </a:r>
            <a:r>
              <a:rPr 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,y,z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i,j,k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1 , 2 , 3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a , [2] , (3,)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1949584428"/>
      </p:ext>
    </p:extLst>
  </p:cSld>
  <p:clrMapOvr>
    <a:masterClrMapping/>
  </p:clrMapOvr>
  <p:transition spd="med"/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,2,3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;y=('a',[2],(3,));z=(1,'','c')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,j,k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,y,z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,j,k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b="1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, 2 , 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a , [2] , (3,)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4019413980"/>
      </p:ext>
    </p:extLst>
  </p:cSld>
  <p:clrMapOvr>
    <a:masterClrMapping/>
  </p:clrMapOvr>
  <p:transition spd="med"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,3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;y=('a',[2],(3,));z=(1,'','c')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,k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,y,z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b="1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b="1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, 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a , [2] , (3,)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2549081289"/>
      </p:ext>
    </p:extLst>
  </p:cSld>
  <p:clrMapOvr>
    <a:masterClrMapping/>
  </p:clrMapOvr>
  <p:transition spd="med"/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dirty="0">
                <a:latin typeface="Lucida Console" panose="020B0609040504020204" pitchFamily="49" charset="0"/>
              </a:rPr>
              <a:t>(</a:t>
            </a: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  <a:r>
              <a:rPr lang="en-US" dirty="0">
                <a:latin typeface="Lucida Console" panose="020B0609040504020204" pitchFamily="49" charset="0"/>
              </a:rPr>
              <a:t>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;y=('a',[2],(3,));z=(1,'','c')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,y,z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b="1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b="1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a , [2] , (3,)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2118094964"/>
      </p:ext>
    </p:extLst>
  </p:cSld>
  <p:clrMapOvr>
    <a:masterClrMapping/>
  </p:clrMapOvr>
  <p:transition spd="med"/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=(</a:t>
            </a:r>
            <a:r>
              <a:rPr lang="en-US" b="1" dirty="0">
                <a:solidFill>
                  <a:schemeClr val="tx1"/>
                </a:solidFill>
                <a:latin typeface="Lucida Console" panose="020B0609040504020204" pitchFamily="49" charset="0"/>
              </a:rPr>
              <a:t>'a'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,[2],(3,))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;z=(1,'','c')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dirty="0" err="1"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dirty="0" err="1">
                <a:latin typeface="Lucida Console" panose="020B0609040504020204" pitchFamily="49" charset="0"/>
              </a:rPr>
              <a:t>k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i,j,k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a , [2] , (3,)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4002581465"/>
      </p:ext>
    </p:extLst>
  </p:cSld>
  <p:clrMapOvr>
    <a:masterClrMapping/>
  </p:clrMapOvr>
  <p:transition spd="med"/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=(</a:t>
            </a: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,[2],(3,)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;z=(1,'','c')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,j,k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,j,k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, [2] , (3,)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1235820565"/>
      </p:ext>
    </p:extLst>
  </p:cSld>
  <p:clrMapOvr>
    <a:masterClrMapping/>
  </p:clrMapOvr>
  <p:transition spd="med"/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=(</a:t>
            </a: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[2]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,(3,)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;z=(1,'','c')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,k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endParaRPr lang="en-US" b="1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[2]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 , (3,)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2999778067"/>
      </p:ext>
    </p:extLst>
  </p:cSld>
  <p:clrMapOvr>
    <a:masterClrMapping/>
  </p:clrMapOvr>
  <p:transition spd="med"/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=(</a:t>
            </a: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[2]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(3,)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;z=(1,'','c')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endParaRPr lang="en-US" b="1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[2]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(3,)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2300646633"/>
      </p:ext>
    </p:extLst>
  </p:cSld>
  <p:clrMapOvr>
    <a:masterClrMapping/>
  </p:clrMapOvr>
  <p:transition spd="med"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);y=(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'a'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[2]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(3,)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z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=(</a:t>
            </a:r>
            <a:r>
              <a:rPr lang="en-US" b="1" dirty="0">
                <a:solidFill>
                  <a:schemeClr val="tx1"/>
                </a:solidFill>
                <a:latin typeface="Lucida Console" panose="020B06090405040202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,'','c')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dirty="0" err="1"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dirty="0" err="1">
                <a:latin typeface="Lucida Console" panose="020B0609040504020204" pitchFamily="49" charset="0"/>
              </a:rPr>
              <a:t>k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,y,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,j,k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endParaRPr lang="en-US" b="1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0D8F8"/>
                </a:solidFill>
                <a:latin typeface="Lucida Console" panose="020B0609040504020204" pitchFamily="49" charset="0"/>
              </a:rPr>
              <a:t>a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b="1" dirty="0">
                <a:solidFill>
                  <a:srgbClr val="FFE080"/>
                </a:solidFill>
                <a:latin typeface="Lucida Console" panose="020B0609040504020204" pitchFamily="49" charset="0"/>
              </a:rPr>
              <a:t>[2]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b="1" dirty="0">
                <a:solidFill>
                  <a:srgbClr val="80D8A8"/>
                </a:solidFill>
                <a:latin typeface="Lucida Console" panose="020B0609040504020204" pitchFamily="49" charset="0"/>
              </a:rPr>
              <a:t>(3,)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1174120957"/>
      </p:ext>
    </p:extLst>
  </p:cSld>
  <p:clrMapOvr>
    <a:masterClrMapping/>
  </p:clrMapOvr>
  <p:transition spd="med"/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);y=(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'a'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[2]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(3,)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z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=(</a:t>
            </a: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,'','c')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,j,k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,y,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,j,k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endParaRPr lang="en-US" b="1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0D8F8"/>
                </a:solidFill>
                <a:latin typeface="Lucida Console" panose="020B0609040504020204" pitchFamily="49" charset="0"/>
              </a:rPr>
              <a:t>a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b="1" dirty="0">
                <a:solidFill>
                  <a:srgbClr val="FFE080"/>
                </a:solidFill>
                <a:latin typeface="Lucida Console" panose="020B0609040504020204" pitchFamily="49" charset="0"/>
              </a:rPr>
              <a:t>[2]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b="1" dirty="0">
                <a:solidFill>
                  <a:srgbClr val="80D8A8"/>
                </a:solidFill>
                <a:latin typeface="Lucida Console" panose="020B0609040504020204" pitchFamily="49" charset="0"/>
              </a:rPr>
              <a:t>(3,)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,  ,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2175331829"/>
      </p:ext>
    </p:extLst>
  </p:cSld>
  <p:clrMapOvr>
    <a:masterClrMapping/>
  </p:clrMapOvr>
  <p:transition spd="med"/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);y=(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'a'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[2]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(3,)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z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=(</a:t>
            </a: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''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,'c')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,k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y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endParaRPr lang="en-US" altLang="zh-TW" b="1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[2]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(3,)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,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2812501315"/>
      </p:ext>
    </p:extLst>
  </p:cSld>
  <p:clrMapOvr>
    <a:masterClrMapping/>
  </p:clrMapOvr>
  <p:transition spd="med"/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);y=(</a:t>
            </a:r>
            <a:r>
              <a:rPr lang="en-US" b="1" dirty="0">
                <a:solidFill>
                  <a:srgbClr val="80D8F8"/>
                </a:solidFill>
                <a:latin typeface="Lucida Console" panose="020B0609040504020204" pitchFamily="49" charset="0"/>
              </a:rPr>
              <a:t>'a'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solidFill>
                  <a:srgbClr val="FFE080"/>
                </a:solidFill>
                <a:latin typeface="Lucida Console" panose="020B0609040504020204" pitchFamily="49" charset="0"/>
              </a:rPr>
              <a:t>[2]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solidFill>
                  <a:srgbClr val="80D8A8"/>
                </a:solidFill>
                <a:latin typeface="Lucida Console" panose="020B0609040504020204" pitchFamily="49" charset="0"/>
              </a:rPr>
              <a:t>(3,)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=(</a:t>
            </a: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solidFill>
                  <a:srgbClr val="FFC000"/>
                </a:solidFill>
                <a:latin typeface="Lucida Console" panose="020B0609040504020204" pitchFamily="49" charset="0"/>
              </a:rPr>
              <a:t>''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'c'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y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z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dirty="0">
                <a:latin typeface="Lucida Console" panose="020B060904050402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b="1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endParaRPr lang="en-US" altLang="zh-TW" b="1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[2]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(3,)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 , </a:t>
            </a:r>
            <a:r>
              <a:rPr 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9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2373865218"/>
      </p:ext>
    </p:extLst>
  </p:cSld>
  <p:clrMapOvr>
    <a:masterClrMapping/>
  </p:clrMapOvr>
  <p:transition spd="med"/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6621" y="764174"/>
            <a:ext cx="8908133" cy="6091031"/>
          </a:xfrm>
        </p:spPr>
        <p:txBody>
          <a:bodyPr vert="horz" wrap="square" lIns="84590" tIns="42295" rIns="0" bIns="42295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);y=(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'a'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[2]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(3,)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);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=(</a:t>
            </a: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''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'c'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 err="1">
                <a:solidFill>
                  <a:srgbClr val="80D8F8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>
                <a:solidFill>
                  <a:srgbClr val="FFE080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>
                <a:solidFill>
                  <a:srgbClr val="80D8A8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in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z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):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b="1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print (</a:t>
            </a:r>
            <a:r>
              <a:rPr lang="en-US" altLang="zh-TW" b="1" dirty="0" err="1">
                <a:solidFill>
                  <a:srgbClr val="80D8F8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>
                <a:solidFill>
                  <a:srgbClr val="FFE080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b="1" dirty="0" err="1">
                <a:solidFill>
                  <a:srgbClr val="80D8A8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=" , 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endParaRPr lang="en-US" altLang="zh-TW" b="1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FFE080"/>
                </a:solidFill>
                <a:latin typeface="Lucida Console" panose="020B0609040504020204" pitchFamily="49" charset="0"/>
              </a:rPr>
              <a:t>[2]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(3,)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b="1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b="1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,  , </a:t>
            </a:r>
            <a:r>
              <a:rPr lang="en-US" altLang="zh-TW" b="1" dirty="0">
                <a:solidFill>
                  <a:srgbClr val="80D8A8"/>
                </a:solidFill>
                <a:latin typeface="Lucida Console" panose="020B0609040504020204" pitchFamily="49" charset="0"/>
              </a:rPr>
              <a:t>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b="1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7928" y="5332447"/>
            <a:ext cx="9737716" cy="1522758"/>
          </a:xfrm>
          <a:prstGeom prst="rect">
            <a:avLst/>
          </a:prstGeom>
          <a:solidFill>
            <a:srgbClr val="FFF2CC"/>
          </a:solidFill>
        </p:spPr>
        <p:txBody>
          <a:bodyPr vert="horz" lIns="91365" tIns="45683" rIns="91365" bIns="45683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=(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598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598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598" b="1" dirty="0" err="1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;print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598" dirty="0" err="1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2598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598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#through a list/</a:t>
            </a:r>
            <a:r>
              <a:rPr lang="en-US" altLang="en-US" sz="2598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598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2598" b="1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598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81000"/>
              </a:lnSpc>
              <a:buFontTx/>
              <a:buNone/>
            </a:pPr>
            <a:r>
              <a:rPr lang="en-US" altLang="en-US" sz="2598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598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13684888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96621" y="3534271"/>
            <a:ext cx="10811580" cy="3320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0" bIns="45683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for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in(</a:t>
            </a:r>
            <a:r>
              <a:rPr lang="en-US" sz="2598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,y,z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[0:2]):</a:t>
            </a:r>
            <a:r>
              <a:rPr lang="en-US" sz="2598" b="1" kern="0" dirty="0">
                <a:solidFill>
                  <a:srgbClr val="FF0000"/>
                </a:solidFill>
              </a:rPr>
              <a:t>#Sizes</a:t>
            </a:r>
            <a:r>
              <a:rPr lang="en-US" sz="1998" b="1" kern="0" dirty="0">
                <a:solidFill>
                  <a:srgbClr val="FF0000"/>
                </a:solidFill>
              </a:rPr>
              <a:t> </a:t>
            </a:r>
            <a:r>
              <a:rPr lang="en-US" sz="2598" b="1" kern="0" dirty="0">
                <a:solidFill>
                  <a:srgbClr val="FF0000"/>
                </a:solidFill>
              </a:rPr>
              <a:t>must</a:t>
            </a:r>
            <a:r>
              <a:rPr lang="en-US" sz="1998" b="1" kern="0" dirty="0">
                <a:solidFill>
                  <a:srgbClr val="FF0000"/>
                </a:solidFill>
              </a:rPr>
              <a:t> </a:t>
            </a:r>
            <a:r>
              <a:rPr lang="en-US" sz="2598" b="1" kern="0" dirty="0">
                <a:solidFill>
                  <a:srgbClr val="FF0000"/>
                </a:solidFill>
              </a:rPr>
              <a:t>match!</a:t>
            </a:r>
            <a:endParaRPr lang="en-US" sz="2598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sz="2598" kern="0" dirty="0">
                <a:latin typeface="Lucida Console" panose="020B0609040504020204" pitchFamily="49" charset="0"/>
              </a:rPr>
              <a:t>   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print (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,",",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j,",",k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sz="2598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88930" y="764174"/>
            <a:ext cx="8908133" cy="6091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0" bIns="45683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sz="2598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=(</a:t>
            </a: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sz="2598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sz="2598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  <a:r>
              <a:rPr lang="en-US" sz="2598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;y=(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'a'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[2]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(3,)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);z=(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1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'c'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for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k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in (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x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y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z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):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sz="2598" kern="0" dirty="0">
                <a:latin typeface="Lucida Console" panose="020B0609040504020204" pitchFamily="49" charset="0"/>
              </a:rPr>
              <a:t>   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print (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=" , "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1 , 2 , 3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a , [2] , (3,)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598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857731077"/>
      </p:ext>
    </p:extLst>
  </p:cSld>
  <p:clrMapOvr>
    <a:masterClrMapping/>
  </p:clrMapOvr>
  <p:transition spd="med"/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96621" y="3534271"/>
            <a:ext cx="10811580" cy="3320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0" bIns="45683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for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in(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x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,z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[0:2]):</a:t>
            </a:r>
            <a:r>
              <a:rPr lang="en-US" sz="2598" b="1" kern="0" dirty="0">
                <a:solidFill>
                  <a:srgbClr val="FF0000"/>
                </a:solidFill>
              </a:rPr>
              <a:t>#Sizes</a:t>
            </a:r>
            <a:r>
              <a:rPr lang="en-US" sz="1998" b="1" kern="0" dirty="0">
                <a:solidFill>
                  <a:srgbClr val="FF0000"/>
                </a:solidFill>
              </a:rPr>
              <a:t> </a:t>
            </a:r>
            <a:r>
              <a:rPr lang="en-US" sz="2598" b="1" kern="0" dirty="0">
                <a:solidFill>
                  <a:srgbClr val="FF0000"/>
                </a:solidFill>
              </a:rPr>
              <a:t>must</a:t>
            </a:r>
            <a:r>
              <a:rPr lang="en-US" sz="1998" b="1" kern="0" dirty="0">
                <a:solidFill>
                  <a:srgbClr val="FF0000"/>
                </a:solidFill>
              </a:rPr>
              <a:t> </a:t>
            </a:r>
            <a:r>
              <a:rPr lang="en-US" sz="2598" b="1" kern="0" dirty="0">
                <a:solidFill>
                  <a:srgbClr val="FF0000"/>
                </a:solidFill>
              </a:rPr>
              <a:t>match!</a:t>
            </a:r>
            <a:endParaRPr lang="en-US" sz="2598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sz="2598" kern="0" dirty="0">
                <a:latin typeface="Lucida Console" panose="020B0609040504020204" pitchFamily="49" charset="0"/>
              </a:rPr>
              <a:t>   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print (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,",",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j,",",k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[2]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(3,)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88553" y="764174"/>
            <a:ext cx="8908133" cy="6091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0" bIns="45683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x=(</a:t>
            </a:r>
            <a:r>
              <a:rPr lang="en-US" sz="2598" b="1" kern="0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);</a:t>
            </a:r>
            <a:r>
              <a:rPr lang="en-US" sz="2598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sz="2598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=(</a:t>
            </a: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sz="2598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[2]</a:t>
            </a:r>
            <a:r>
              <a:rPr lang="en-US" sz="2598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(3,)</a:t>
            </a:r>
            <a:r>
              <a:rPr lang="en-US" sz="2598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;z=(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1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'c'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for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k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in (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x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y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z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):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sz="2598" kern="0" dirty="0">
                <a:latin typeface="Lucida Console" panose="020B0609040504020204" pitchFamily="49" charset="0"/>
              </a:rPr>
              <a:t>   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print (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=" , "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1 , 2 , 3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a , [2] , (3,)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598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1500821200"/>
      </p:ext>
    </p:extLst>
  </p:cSld>
  <p:clrMapOvr>
    <a:masterClrMapping/>
  </p:clrMapOvr>
  <p:transition spd="med"/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96621" y="3534271"/>
            <a:ext cx="10811580" cy="3320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0" bIns="45683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for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in(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x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y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z</a:t>
            </a:r>
            <a:r>
              <a:rPr lang="en-US" sz="25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[0:2]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):</a:t>
            </a:r>
            <a:r>
              <a:rPr lang="en-US" sz="2598" b="1" kern="0" dirty="0">
                <a:solidFill>
                  <a:srgbClr val="FF0000"/>
                </a:solidFill>
              </a:rPr>
              <a:t>#Sizes</a:t>
            </a:r>
            <a:r>
              <a:rPr lang="en-US" sz="1998" b="1" kern="0" dirty="0">
                <a:solidFill>
                  <a:srgbClr val="FF0000"/>
                </a:solidFill>
              </a:rPr>
              <a:t> </a:t>
            </a:r>
            <a:r>
              <a:rPr lang="en-US" sz="2598" b="1" kern="0" dirty="0">
                <a:solidFill>
                  <a:srgbClr val="FF0000"/>
                </a:solidFill>
              </a:rPr>
              <a:t>must</a:t>
            </a:r>
            <a:r>
              <a:rPr lang="en-US" sz="1998" b="1" kern="0" dirty="0">
                <a:solidFill>
                  <a:srgbClr val="FF0000"/>
                </a:solidFill>
              </a:rPr>
              <a:t> </a:t>
            </a:r>
            <a:r>
              <a:rPr lang="en-US" sz="2598" b="1" kern="0" dirty="0">
                <a:solidFill>
                  <a:srgbClr val="FF0000"/>
                </a:solidFill>
              </a:rPr>
              <a:t>match!</a:t>
            </a:r>
            <a:endParaRPr lang="en-US" sz="2598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sz="2598" kern="0" dirty="0">
                <a:latin typeface="Lucida Console" panose="020B0609040504020204" pitchFamily="49" charset="0"/>
              </a:rPr>
              <a:t>   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print (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,",",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j,",",k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[2]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(3,)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 err="1">
                <a:solidFill>
                  <a:srgbClr val="E89898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2598" kern="0" dirty="0">
                <a:solidFill>
                  <a:srgbClr val="E89898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E89898"/>
                </a:solidFill>
                <a:latin typeface="Lucida Console" panose="020B0609040504020204" pitchFamily="49" charset="0"/>
              </a:rPr>
              <a:t>  File "&lt;</a:t>
            </a:r>
            <a:r>
              <a:rPr lang="en-US" sz="2598" kern="0" dirty="0" err="1">
                <a:solidFill>
                  <a:srgbClr val="E89898"/>
                </a:solidFill>
                <a:latin typeface="Lucida Console" panose="020B0609040504020204" pitchFamily="49" charset="0"/>
              </a:rPr>
              <a:t>stdin</a:t>
            </a:r>
            <a:r>
              <a:rPr lang="en-US" sz="2598" kern="0" dirty="0">
                <a:solidFill>
                  <a:srgbClr val="E89898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 err="1">
                <a:solidFill>
                  <a:srgbClr val="E89898"/>
                </a:solidFill>
                <a:latin typeface="Lucida Console" panose="020B0609040504020204" pitchFamily="49" charset="0"/>
              </a:rPr>
              <a:t>ValueError</a:t>
            </a:r>
            <a:r>
              <a:rPr lang="en-US" sz="2598" b="1" kern="0" dirty="0">
                <a:solidFill>
                  <a:srgbClr val="E89898"/>
                </a:solidFill>
                <a:latin typeface="Lucida Console" panose="020B0609040504020204" pitchFamily="49" charset="0"/>
              </a:rPr>
              <a:t>:</a:t>
            </a:r>
            <a:r>
              <a:rPr lang="en-US" sz="1998" b="1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need</a:t>
            </a:r>
            <a:r>
              <a:rPr lang="en-US" sz="19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5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more</a:t>
            </a:r>
            <a:r>
              <a:rPr lang="en-US" sz="19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5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than</a:t>
            </a:r>
            <a:r>
              <a:rPr lang="en-US" sz="19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5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sz="19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5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values</a:t>
            </a:r>
            <a:r>
              <a:rPr lang="en-US" sz="19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598" b="1" kern="0" dirty="0">
                <a:solidFill>
                  <a:srgbClr val="E89898"/>
                </a:solidFill>
                <a:latin typeface="Lucida Console" panose="020B0609040504020204" pitchFamily="49" charset="0"/>
              </a:rPr>
              <a:t>to</a:t>
            </a:r>
            <a:r>
              <a:rPr lang="en-US" sz="1998" b="1" kern="0" dirty="0">
                <a:solidFill>
                  <a:srgbClr val="E89898"/>
                </a:solidFill>
                <a:latin typeface="Lucida Console" panose="020B0609040504020204" pitchFamily="49" charset="0"/>
              </a:rPr>
              <a:t> </a:t>
            </a:r>
            <a:r>
              <a:rPr lang="en-US" sz="2598" b="1" kern="0" dirty="0">
                <a:solidFill>
                  <a:srgbClr val="E89898"/>
                </a:solidFill>
                <a:latin typeface="Lucida Console" panose="020B0609040504020204" pitchFamily="49" charset="0"/>
              </a:rPr>
              <a:t>unpack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88553" y="764174"/>
            <a:ext cx="8908133" cy="6091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0" bIns="45683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x=(</a:t>
            </a:r>
            <a:r>
              <a:rPr lang="en-US" sz="2598" b="1" kern="0" dirty="0">
                <a:solidFill>
                  <a:srgbClr val="80D8F8"/>
                </a:solidFill>
                <a:latin typeface="Lucida Console" panose="020B0609040504020204" pitchFamily="49" charset="0"/>
              </a:rPr>
              <a:t>1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E080"/>
                </a:solidFill>
                <a:latin typeface="Lucida Console" panose="020B0609040504020204" pitchFamily="49" charset="0"/>
              </a:rPr>
              <a:t>2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80D8A8"/>
                </a:solidFill>
                <a:latin typeface="Lucida Console" panose="020B0609040504020204" pitchFamily="49" charset="0"/>
              </a:rPr>
              <a:t>3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);y=(</a:t>
            </a:r>
            <a:r>
              <a:rPr lang="en-US" sz="2598" b="1" kern="0" dirty="0">
                <a:solidFill>
                  <a:srgbClr val="80D8F8"/>
                </a:solidFill>
                <a:latin typeface="Lucida Console" panose="020B0609040504020204" pitchFamily="49" charset="0"/>
              </a:rPr>
              <a:t>'a'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E080"/>
                </a:solidFill>
                <a:latin typeface="Lucida Console" panose="020B0609040504020204" pitchFamily="49" charset="0"/>
              </a:rPr>
              <a:t>[2]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80D8A8"/>
                </a:solidFill>
                <a:latin typeface="Lucida Console" panose="020B0609040504020204" pitchFamily="49" charset="0"/>
              </a:rPr>
              <a:t>(3,)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);</a:t>
            </a:r>
            <a:r>
              <a:rPr lang="en-US" sz="25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z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=(</a:t>
            </a: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''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'c'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for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k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in (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x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y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z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):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sz="2598" kern="0" dirty="0">
                <a:latin typeface="Lucida Console" panose="020B0609040504020204" pitchFamily="49" charset="0"/>
              </a:rPr>
              <a:t>   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print (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=" , "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1 , 2 , 3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a , [2] , (3,)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1 ,  , c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598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4788756" y="2058518"/>
            <a:ext cx="989793" cy="685241"/>
          </a:xfrm>
          <a:prstGeom prst="wedgeRoundRectCallout">
            <a:avLst>
              <a:gd name="adj1" fmla="val 3398"/>
              <a:gd name="adj2" fmla="val 172500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798" dirty="0">
                <a:solidFill>
                  <a:srgbClr val="000000"/>
                </a:solidFill>
                <a:latin typeface="Times New Roman" charset="0"/>
              </a:rPr>
              <a:t>gave 2</a:t>
            </a:r>
            <a:endParaRPr lang="zh-TW" altLang="en-US" sz="2798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2047792" y="2058518"/>
            <a:ext cx="989793" cy="685241"/>
          </a:xfrm>
          <a:prstGeom prst="wedgeRoundRectCallout">
            <a:avLst>
              <a:gd name="adj1" fmla="val 3398"/>
              <a:gd name="adj2" fmla="val 172500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798" dirty="0">
                <a:solidFill>
                  <a:srgbClr val="000000"/>
                </a:solidFill>
                <a:latin typeface="Times New Roman" charset="0"/>
              </a:rPr>
              <a:t>need 3</a:t>
            </a:r>
            <a:endParaRPr lang="zh-TW" altLang="en-US" sz="2798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</p:spTree>
    <p:extLst>
      <p:ext uri="{BB962C8B-B14F-4D97-AF65-F5344CB8AC3E}">
        <p14:creationId xmlns:p14="http://schemas.microsoft.com/office/powerpoint/2010/main" val="418272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 bwMode="auto">
          <a:xfrm>
            <a:off x="284875" y="3253"/>
            <a:ext cx="9136546" cy="76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5864"/>
            <a:r>
              <a:rPr lang="en-US" altLang="zh-TW" sz="4396" kern="0" dirty="0">
                <a:latin typeface="Elephant" panose="02020904090505020303" pitchFamily="18" charset="0"/>
              </a:rPr>
              <a:t>Parallel Traversal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96624" y="3525787"/>
            <a:ext cx="9745650" cy="3329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0" bIns="45683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5864">
              <a:spcBef>
                <a:spcPts val="0"/>
              </a:spcBef>
              <a:buNone/>
            </a:pPr>
            <a:r>
              <a:rPr lang="en-US" sz="2598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=(</a:t>
            </a: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3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);</a:t>
            </a:r>
            <a:r>
              <a:rPr lang="en-US" sz="2598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y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=(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'a'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[2]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(3,)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);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z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=(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''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'c'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for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in (</a:t>
            </a:r>
            <a:r>
              <a:rPr lang="en-US" sz="25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zip(</a:t>
            </a:r>
            <a:r>
              <a:rPr lang="en-US" sz="2598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x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y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z</a:t>
            </a:r>
            <a:r>
              <a:rPr lang="en-US" sz="25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):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>
                <a:solidFill>
                  <a:srgbClr val="E89898"/>
                </a:solidFill>
              </a:rPr>
              <a:t># What is zip? </a:t>
            </a:r>
            <a:r>
              <a:rPr lang="en-US" sz="2598" b="1" kern="0" dirty="0">
                <a:solidFill>
                  <a:srgbClr val="FFFFFF"/>
                </a:solidFill>
              </a:rPr>
              <a:t>______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sz="2598" kern="0" dirty="0">
                <a:latin typeface="Lucida Console" panose="020B0609040504020204" pitchFamily="49" charset="0"/>
              </a:rPr>
              <a:t>   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print (</a:t>
            </a:r>
            <a:r>
              <a:rPr lang="en-US" sz="2598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=" , "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[a]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[2]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endParaRPr lang="en-US" sz="2598" b="1" kern="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3 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 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(3,)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c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598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88553" y="764174"/>
            <a:ext cx="8908133" cy="6091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0" bIns="45683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5864">
              <a:spcBef>
                <a:spcPts val="0"/>
              </a:spcBef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x=(</a:t>
            </a: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);y=(</a:t>
            </a: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'a'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[2]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(3,)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);</a:t>
            </a:r>
            <a:r>
              <a:rPr lang="en-US" sz="2598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z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=(</a:t>
            </a: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''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'c'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for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k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in (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x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y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z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):</a:t>
            </a:r>
            <a:r>
              <a:rPr lang="en-US" sz="2598" kern="0" dirty="0">
                <a:latin typeface="Lucida Console" panose="020B0609040504020204" pitchFamily="49" charset="0"/>
              </a:rPr>
              <a:t> </a:t>
            </a:r>
            <a:r>
              <a:rPr lang="en-US" sz="2598" b="1" kern="0" dirty="0">
                <a:solidFill>
                  <a:srgbClr val="E89898"/>
                </a:solidFill>
              </a:rPr>
              <a:t># Multiple lists are OK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sz="2598" kern="0" dirty="0">
                <a:latin typeface="Lucida Console" panose="020B0609040504020204" pitchFamily="49" charset="0"/>
              </a:rPr>
              <a:t>    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print (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i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j</a:t>
            </a:r>
            <a:r>
              <a:rPr lang="en-US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sz="2598" b="1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k</a:t>
            </a:r>
            <a:r>
              <a:rPr lang="en-US" altLang="zh-TW" sz="2598" kern="0" dirty="0" err="1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,sep</a:t>
            </a:r>
            <a:r>
              <a:rPr lang="en-US" altLang="zh-TW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=" , "</a:t>
            </a: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a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[2]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, 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(3,)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1 </a:t>
            </a:r>
            <a:r>
              <a:rPr lang="en-US" sz="2598" b="1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,  , </a:t>
            </a:r>
            <a:r>
              <a:rPr lang="en-US" sz="2598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c</a:t>
            </a:r>
          </a:p>
          <a:p>
            <a:pPr marL="0" indent="0" defTabSz="845864">
              <a:spcBef>
                <a:spcPts val="0"/>
              </a:spcBef>
              <a:buNone/>
            </a:pPr>
            <a:r>
              <a:rPr lang="en-US" sz="2598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598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88555" y="840312"/>
            <a:ext cx="9288822" cy="2740964"/>
          </a:xfrm>
          <a:prstGeom prst="rect">
            <a:avLst/>
          </a:prstGeom>
          <a:solidFill>
            <a:srgbClr val="FFFFFF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defTabSz="845864" fontAlgn="base">
              <a:spcBef>
                <a:spcPct val="0"/>
              </a:spcBef>
              <a:spcAft>
                <a:spcPct val="0"/>
              </a:spcAft>
            </a:pPr>
            <a:endParaRPr lang="zh-TW" altLang="en-US" sz="1998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5647523" y="4773322"/>
            <a:ext cx="2277901" cy="1433825"/>
          </a:xfrm>
          <a:prstGeom prst="wedgeRoundRectCallout">
            <a:avLst>
              <a:gd name="adj1" fmla="val -186098"/>
              <a:gd name="adj2" fmla="val 1792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845864" fontAlgn="base">
              <a:spcBef>
                <a:spcPct val="0"/>
              </a:spcBef>
              <a:spcAft>
                <a:spcPct val="0"/>
              </a:spcAft>
            </a:pPr>
            <a:r>
              <a:rPr lang="en-US" sz="2798" dirty="0">
                <a:solidFill>
                  <a:srgbClr val="000000"/>
                </a:solidFill>
                <a:latin typeface="Times New Roman" charset="0"/>
              </a:rPr>
              <a:t>There is an </a:t>
            </a:r>
            <a:r>
              <a:rPr lang="en-US" sz="2798" dirty="0">
                <a:solidFill>
                  <a:srgbClr val="00B050"/>
                </a:solidFill>
                <a:latin typeface="Times New Roman" charset="0"/>
              </a:rPr>
              <a:t>empty string </a:t>
            </a:r>
            <a:r>
              <a:rPr lang="en-US" sz="2798" dirty="0">
                <a:solidFill>
                  <a:srgbClr val="000000"/>
                </a:solidFill>
                <a:latin typeface="Times New Roman" charset="0"/>
              </a:rPr>
              <a:t>here.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61376" y="3253"/>
            <a:ext cx="9136546" cy="761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5864"/>
            <a:r>
              <a:rPr lang="en-US" altLang="zh-TW" sz="4396" kern="0" dirty="0">
                <a:latin typeface="Elephant" panose="02020904090505020303" pitchFamily="18" charset="0"/>
              </a:rPr>
              <a:t>Parallel Traversal with </a:t>
            </a:r>
            <a:r>
              <a:rPr lang="en-US" altLang="zh-TW" sz="4396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zip</a:t>
            </a:r>
            <a:endParaRPr lang="en-US" altLang="zh-TW" sz="4071" b="1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H="1">
            <a:off x="6834705" y="3763653"/>
            <a:ext cx="864076" cy="172815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1732690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10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callable.__doc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"callable"); _.remove("type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"hash"); _.remove("id");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_[2]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del </a:t>
            </a:r>
            <a:r>
              <a:rPr lang="en-US" altLang="zh-TW" sz="2600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_[-4]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del </a:t>
            </a:r>
            <a:r>
              <a:rPr lang="en-US" altLang="zh-TW" sz="2600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_[-1]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_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769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54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685470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90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901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callable.__doc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"callable"); _.remove("type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"hash"); _.remove("id");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_[2]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del </a:t>
            </a:r>
            <a:r>
              <a:rPr lang="en-US" altLang="zh-TW" sz="2600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_[-4]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del </a:t>
            </a:r>
            <a:r>
              <a:rPr lang="en-US" altLang="zh-TW" sz="2600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_[-1]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69677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"/>
    </mc:Choice>
    <mc:Fallback xmlns="">
      <p:transition advTm="200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callable.__doc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"callable"); _.remove("type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"hash"); _.remove("id");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_[2]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del </a:t>
            </a:r>
            <a:r>
              <a:rPr lang="en-US" altLang="zh-TW" sz="2600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_[-4]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del </a:t>
            </a:r>
            <a:r>
              <a:rPr lang="en-US" altLang="zh-TW" sz="2600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_[-1]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226123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"/>
    </mc:Choice>
    <mc:Fallback xmlns="">
      <p:transition advTm="200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print(</a:t>
            </a:r>
            <a:r>
              <a:rPr lang="en-US" altLang="zh-TW" sz="2600" spc="-15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callable.__doc</a:t>
            </a:r>
            <a:r>
              <a:rPr lang="en-US" altLang="zh-TW" sz="2600" spc="-15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__)</a:t>
            </a: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"callable"); _.remove("type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"hash"); _.remove("id");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_[2]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del </a:t>
            </a:r>
            <a:r>
              <a:rPr lang="en-US" altLang="zh-TW" sz="2600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_[-4]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del </a:t>
            </a:r>
            <a:r>
              <a:rPr lang="en-US" altLang="zh-TW" sz="2600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_[-1]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417813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"/>
    </mc:Choice>
    <mc:Fallback xmlns="">
      <p:transition advTm="200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 whether the object is callable (i.e., some 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"callable"); _.remove("type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_.remove(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"hash"); _.remove("id");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del </a:t>
            </a:r>
            <a:r>
              <a:rPr lang="en-US" altLang="zh-TW" sz="2600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_[2]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del </a:t>
            </a:r>
            <a:r>
              <a:rPr lang="en-US" altLang="zh-TW" sz="2600" kern="0" spc="-100" dirty="0">
                <a:solidFill>
                  <a:srgbClr val="46FD33"/>
                </a:solidFill>
                <a:latin typeface="Consolas" panose="020B0609020204030204" pitchFamily="49" charset="0"/>
              </a:rPr>
              <a:t>_[-4]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del </a:t>
            </a:r>
            <a:r>
              <a:rPr lang="en-US" altLang="zh-TW" sz="2600" kern="0" spc="-100" dirty="0">
                <a:solidFill>
                  <a:srgbClr val="11C1FF"/>
                </a:solidFill>
                <a:latin typeface="Consolas" panose="020B0609020204030204" pitchFamily="49" charset="0"/>
              </a:rPr>
              <a:t>_[-1]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83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054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97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1"/>
                            </p:stCondLst>
                            <p:childTnLst>
                              <p:par>
                                <p:cTn id="20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894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kind of function).</a:t>
            </a:r>
          </a:p>
          <a:p>
            <a:pPr lvl="0">
              <a:lnSpc>
                <a:spcPct val="90000"/>
              </a:lnSpc>
            </a:pPr>
            <a:endParaRPr lang="en-US" altLang="zh-TW" sz="2600" dirty="0">
              <a:solidFill>
                <a:srgbClr val="717171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Note that classes are callable, as are instances of classes with a __call__() method.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 _.remove("callable"); _.remove("type")</a:t>
            </a:r>
          </a:p>
          <a:p>
            <a:pPr>
              <a:lnSpc>
                <a:spcPct val="90000"/>
              </a:lnSpc>
            </a:pPr>
            <a:r>
              <a:rPr lang="en-US" altLang="zh-TW" sz="26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 _.remove("hash"); _.remove("id");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enumerate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'exit', 'filter',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rgbClr val="717171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rgbClr val="71717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slice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rgbClr val="71717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', 'super', '</a:t>
            </a:r>
            <a:r>
              <a:rPr lang="en-US" altLang="zh-TW" sz="2600" b="1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zip</a:t>
            </a: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717171"/>
                </a:solidFill>
                <a:latin typeface="Consolas" panose="020B0609020204030204" pitchFamily="49" charset="0"/>
              </a:rPr>
              <a:t>&gt;&gt;&gt; del _[2]; del _[-4]; del _[-1]; _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isinstanc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issubclas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memoryvie</a:t>
            </a:r>
            <a:r>
              <a:rPr lang="en-US" altLang="zh-TW" sz="2600" kern="0" spc="-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nex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objec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ope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propert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qui</a:t>
            </a:r>
            <a:r>
              <a:rPr lang="en-US" altLang="zh-TW" sz="2600" kern="0" spc="-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kern="0" spc="-3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kern="0" spc="-2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'</a:t>
            </a:r>
            <a:r>
              <a:rPr lang="en-US" altLang="zh-TW" sz="2600" kern="0" spc="-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kern="0" spc="-1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super</a:t>
            </a:r>
            <a:r>
              <a:rPr lang="en-US" altLang="zh-TW" sz="2600" kern="0" spc="-1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']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StillNeedToDiscuss</a:t>
            </a:r>
            <a:r>
              <a:rPr lang="en-US" altLang="zh-TW" sz="26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=_</a:t>
            </a:r>
          </a:p>
          <a:p>
            <a:pPr>
              <a:lnSpc>
                <a:spcPct val="90000"/>
              </a:lnSpc>
            </a:pP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endParaRPr lang="en-US" altLang="zh-TW" sz="2600" kern="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3029" y="6363480"/>
            <a:ext cx="7328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054894" y="645400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51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729788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A lambda (or anonymous </a:t>
            </a:r>
            <a:r>
              <a:rPr lang="zh-TW" altLang="en-US" sz="4000" spc="-100" dirty="0">
                <a:solidFill>
                  <a:srgbClr val="0070C0"/>
                </a:solidFill>
                <a:cs typeface="Arial" panose="020B0604020202020204" pitchFamily="34" charset="0"/>
              </a:rPr>
              <a:t>匿名</a:t>
            </a:r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) function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85775" y="1524000"/>
            <a:ext cx="8722519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small and unnamed.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return just one value, in the form of an expression. 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 be a single expression.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its own local namespace and cannot access variables other than </a:t>
            </a:r>
            <a:r>
              <a:rPr lang="en-US" sz="3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globals</a:t>
            </a:r>
            <a:r>
              <a:rPr 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those in its parameter list.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Although it looks like a one-line version of a function, it has its own uses.</a:t>
            </a:r>
          </a:p>
        </p:txBody>
      </p:sp>
    </p:spTree>
    <p:extLst>
      <p:ext uri="{BB962C8B-B14F-4D97-AF65-F5344CB8AC3E}">
        <p14:creationId xmlns:p14="http://schemas.microsoft.com/office/powerpoint/2010/main" val="31061429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21495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64294" y="914400"/>
            <a:ext cx="9372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cat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sum = lambda arg1, arg2: arg1 +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sum( 10, 20 ))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sum( 20, 20 ))</a:t>
            </a:r>
          </a:p>
          <a:p>
            <a:pPr lvl="1"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#</a:t>
            </a: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pyt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hon3 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30 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40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729788" cy="84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lambda function </a:t>
            </a:r>
            <a:r>
              <a:rPr lang="en-US" altLang="en-US" sz="4400" spc="-100" dirty="0">
                <a:solidFill>
                  <a:schemeClr val="bg1"/>
                </a:solidFill>
                <a:cs typeface="Arial" panose="020B0604020202020204" pitchFamily="34" charset="0"/>
              </a:rPr>
              <a:t>vs conventional</a:t>
            </a:r>
          </a:p>
        </p:txBody>
      </p:sp>
    </p:spTree>
    <p:extLst>
      <p:ext uri="{BB962C8B-B14F-4D97-AF65-F5344CB8AC3E}">
        <p14:creationId xmlns:p14="http://schemas.microsoft.com/office/powerpoint/2010/main" val="248529437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21495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64294" y="914400"/>
            <a:ext cx="9372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cat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sum = lambda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arg1, arg2 :        arg1 +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sum( 10, 20 ))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sum( 20, 20 ))</a:t>
            </a:r>
          </a:p>
          <a:p>
            <a:pPr lvl="1"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#</a:t>
            </a: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pyt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hon3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30 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40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729788" cy="84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lambda function </a:t>
            </a:r>
            <a:r>
              <a:rPr lang="en-US" altLang="en-US" sz="4400" spc="-100" dirty="0">
                <a:solidFill>
                  <a:schemeClr val="bg1"/>
                </a:solidFill>
                <a:cs typeface="Arial" panose="020B0604020202020204" pitchFamily="34" charset="0"/>
              </a:rPr>
              <a:t>vs conventional</a:t>
            </a:r>
          </a:p>
        </p:txBody>
      </p:sp>
    </p:spTree>
    <p:extLst>
      <p:ext uri="{BB962C8B-B14F-4D97-AF65-F5344CB8AC3E}">
        <p14:creationId xmlns:p14="http://schemas.microsoft.com/office/powerpoint/2010/main" val="2069787291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21495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64294" y="914400"/>
            <a:ext cx="9372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cat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sum = lambda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arg1, arg2 :        arg1 +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sum( 10, 20 ))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sum( 20, 20 ))</a:t>
            </a:r>
          </a:p>
          <a:p>
            <a:pPr lvl="1">
              <a:buNone/>
            </a:pP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pyt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hon3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30 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40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729788" cy="84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2D2DB9"/>
                </a:solidFill>
                <a:cs typeface="Arial" panose="020B0604020202020204" pitchFamily="34" charset="0"/>
              </a:rPr>
              <a:t>lambda function </a:t>
            </a:r>
            <a:r>
              <a:rPr lang="en-US" altLang="en-US" sz="4400" spc="-100" dirty="0">
                <a:solidFill>
                  <a:srgbClr val="B5B5ED"/>
                </a:solidFill>
                <a:cs typeface="Arial" panose="020B0604020202020204" pitchFamily="34" charset="0"/>
              </a:rPr>
              <a:t>vs conventional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4294" y="914400"/>
            <a:ext cx="9665494" cy="58674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cat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conventionalFunction.py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 sum     (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arg1, arg2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return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arg1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+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sum( 10, 20 ))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sum( 20, 20 ))</a:t>
            </a:r>
          </a:p>
          <a:p>
            <a:pPr lvl="1"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#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python3 </a:t>
            </a:r>
            <a:r>
              <a:rPr lang="en-US" altLang="zh-TW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conventionalFunction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30 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40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0"/>
            <a:ext cx="9729788" cy="84124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B5B5ED"/>
                </a:solidFill>
                <a:cs typeface="Arial" panose="020B0604020202020204" pitchFamily="34" charset="0"/>
              </a:rPr>
              <a:t>lambda function vs </a:t>
            </a:r>
            <a:r>
              <a:rPr lang="en-US" altLang="en-US" sz="4400" spc="-100" dirty="0">
                <a:solidFill>
                  <a:srgbClr val="2D2DB9"/>
                </a:solidFill>
                <a:cs typeface="Arial" panose="020B0604020202020204" pitchFamily="34" charset="0"/>
              </a:rPr>
              <a:t>conventional</a:t>
            </a:r>
          </a:p>
        </p:txBody>
      </p:sp>
    </p:spTree>
    <p:extLst>
      <p:ext uri="{BB962C8B-B14F-4D97-AF65-F5344CB8AC3E}">
        <p14:creationId xmlns:p14="http://schemas.microsoft.com/office/powerpoint/2010/main" val="12187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21495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64294" y="914400"/>
            <a:ext cx="9665494" cy="586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cat test1.py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 sum    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(arg1, arg2): return 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arg1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+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( 10, 20 ))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( 20, 20 ))</a:t>
            </a:r>
          </a:p>
          <a:p>
            <a:pPr lvl="1">
              <a:buFontTx/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#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python3 test1.py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30 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40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972978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Functions are just objects</a:t>
            </a:r>
          </a:p>
        </p:txBody>
      </p:sp>
    </p:spTree>
    <p:extLst>
      <p:ext uri="{BB962C8B-B14F-4D97-AF65-F5344CB8AC3E}">
        <p14:creationId xmlns:p14="http://schemas.microsoft.com/office/powerpoint/2010/main" val="56282445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21495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64294" y="914400"/>
            <a:ext cx="9665494" cy="586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test2.py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 sum    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(arg1, arg2): return 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arg1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+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( 10, 20 ))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( 20, 20 ))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S=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S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 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test2.py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30 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40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972978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Functions are just objects</a:t>
            </a:r>
          </a:p>
        </p:txBody>
      </p:sp>
    </p:spTree>
    <p:extLst>
      <p:ext uri="{BB962C8B-B14F-4D97-AF65-F5344CB8AC3E}">
        <p14:creationId xmlns:p14="http://schemas.microsoft.com/office/powerpoint/2010/main" val="286238716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21495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64294" y="914400"/>
            <a:ext cx="9665494" cy="586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cat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test3.py</a:t>
            </a:r>
            <a:endParaRPr lang="en-US" sz="2800" dirty="0"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 sum    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(arg1, arg2): return arg1 + arg2</a:t>
            </a:r>
          </a:p>
          <a:p>
            <a:pPr lvl="1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S=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</a:p>
          <a:p>
            <a:pPr lvl="1">
              <a:buFontTx/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    (arg1, arg2): return arg1 *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 of product: ",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( 20, 20 ))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S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 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#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test3.py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 of product: 400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972978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Redefine a function, copy remains </a:t>
            </a:r>
          </a:p>
        </p:txBody>
      </p:sp>
    </p:spTree>
    <p:extLst>
      <p:ext uri="{BB962C8B-B14F-4D97-AF65-F5344CB8AC3E}">
        <p14:creationId xmlns:p14="http://schemas.microsoft.com/office/powerpoint/2010/main" val="274373692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21495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64294" y="914400"/>
            <a:ext cx="9665494" cy="586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cat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test4.py</a:t>
            </a:r>
            <a:endParaRPr lang="en-US" sz="2800" dirty="0"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 sum     (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arg1, arg2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return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arg1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+ arg2</a:t>
            </a:r>
          </a:p>
          <a:p>
            <a:pPr lvl="1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S=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</a:p>
          <a:p>
            <a:pPr lvl="1">
              <a:buFontTx/>
              <a:buNone/>
            </a:pP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P </a:t>
            </a:r>
            <a:r>
              <a:rPr lang="en-US" altLang="zh-TW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= lambda  </a:t>
            </a:r>
            <a:r>
              <a:rPr lang="en-US" altLang="zh-TW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arg1, arg2: arg1 *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 of product: ",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P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 ( 20, 20 ))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S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 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#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test4.py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 of product: 400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972978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lambda function vs conventional</a:t>
            </a:r>
          </a:p>
        </p:txBody>
      </p:sp>
    </p:spTree>
    <p:extLst>
      <p:ext uri="{BB962C8B-B14F-4D97-AF65-F5344CB8AC3E}">
        <p14:creationId xmlns:p14="http://schemas.microsoft.com/office/powerpoint/2010/main" val="250903175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But what </a:t>
            </a:r>
            <a:r>
              <a:rPr lang="en-US" sz="4400" i="1" dirty="0">
                <a:solidFill>
                  <a:srgbClr val="0070C0"/>
                </a:solidFill>
              </a:rPr>
              <a:t>is</a:t>
            </a:r>
            <a:r>
              <a:rPr lang="en-US" sz="4400" dirty="0">
                <a:solidFill>
                  <a:srgbClr val="0070C0"/>
                </a:solidFill>
              </a:rPr>
              <a:t> a </a:t>
            </a:r>
            <a:r>
              <a:rPr lang="en-US" sz="4400" dirty="0" err="1">
                <a:solidFill>
                  <a:srgbClr val="0070C0"/>
                </a:solidFill>
              </a:rPr>
              <a:t>lamba</a:t>
            </a:r>
            <a:r>
              <a:rPr lang="en-US" sz="4400" dirty="0">
                <a:solidFill>
                  <a:srgbClr val="0070C0"/>
                </a:solidFill>
              </a:rPr>
              <a:t>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894" y="1161142"/>
            <a:ext cx="9144000" cy="5696857"/>
          </a:xfrm>
        </p:spPr>
        <p:txBody>
          <a:bodyPr>
            <a:normAutofit/>
          </a:bodyPr>
          <a:lstStyle/>
          <a:p>
            <a:r>
              <a:rPr lang="en-US" sz="3600" spc="-30" dirty="0">
                <a:latin typeface="Arial" panose="020B0604020202020204" pitchFamily="34" charset="0"/>
                <a:cs typeface="Arial" panose="020B0604020202020204" pitchFamily="34" charset="0"/>
              </a:rPr>
              <a:t>Because lambda functions can only contain expressions, they have some similarities to:</a:t>
            </a:r>
          </a:p>
          <a:p>
            <a:pPr marL="0" indent="0">
              <a:buNone/>
            </a:pPr>
            <a:endParaRPr lang="en-US" sz="1800" spc="-3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bg1"/>
              </a:buClr>
            </a:pPr>
            <a:r>
              <a:rPr lang="en-US" sz="3600" spc="-3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600" spc="-3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’</a:t>
            </a:r>
            <a:r>
              <a:rPr lang="en-US" sz="3600" spc="-30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sz="3600" spc="-3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#define </a:t>
            </a:r>
            <a:r>
              <a:rPr lang="en-US" sz="3600" spc="-30" dirty="0">
                <a:latin typeface="Arial" panose="020B0604020202020204" pitchFamily="34" charset="0"/>
                <a:cs typeface="Arial" panose="020B0604020202020204" pitchFamily="34" charset="0"/>
              </a:rPr>
              <a:t>macro.</a:t>
            </a:r>
          </a:p>
          <a:p>
            <a:pPr marL="0" indent="0">
              <a:buNone/>
            </a:pPr>
            <a:endParaRPr lang="en-US" sz="1800" spc="-3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spc="-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people know the basics of C</a:t>
            </a:r>
            <a:r>
              <a:rPr lang="en-US" sz="3600" spc="-50" dirty="0">
                <a:solidFill>
                  <a:schemeClr val="accent4"/>
                </a:solidFill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’</a:t>
            </a:r>
            <a:r>
              <a:rPr lang="en-US" sz="3600" spc="-5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#define:</a:t>
            </a:r>
          </a:p>
          <a:p>
            <a:pPr marL="788213" lvl="2" indent="0">
              <a:buNone/>
            </a:pPr>
            <a:r>
              <a:rPr lang="en-US" sz="3200" spc="-30" dirty="0">
                <a:solidFill>
                  <a:srgbClr val="0000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#define </a:t>
            </a:r>
            <a:r>
              <a:rPr lang="en-US" sz="3200" b="1" spc="-30" dirty="0" err="1">
                <a:solidFill>
                  <a:srgbClr val="0000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MAXsize</a:t>
            </a:r>
            <a:r>
              <a:rPr lang="en-US" sz="3200" spc="-30" dirty="0">
                <a:solidFill>
                  <a:srgbClr val="0000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100</a:t>
            </a:r>
          </a:p>
          <a:p>
            <a:pPr marL="788213" lvl="2" indent="0">
              <a:buNone/>
            </a:pPr>
            <a:r>
              <a:rPr lang="en-US" sz="3200" spc="-30" dirty="0" err="1">
                <a:latin typeface="Lucida Console" panose="020B0609040504020204" pitchFamily="49" charset="0"/>
                <a:cs typeface="Arial" panose="020B0604020202020204" pitchFamily="34" charset="0"/>
              </a:rPr>
              <a:t>int</a:t>
            </a:r>
            <a:r>
              <a:rPr lang="en-US" sz="3200" spc="-30" dirty="0">
                <a:latin typeface="Lucida Console" panose="020B0609040504020204" pitchFamily="49" charset="0"/>
                <a:cs typeface="Arial" panose="020B0604020202020204" pitchFamily="34" charset="0"/>
              </a:rPr>
              <a:t> A[</a:t>
            </a:r>
            <a:r>
              <a:rPr lang="en-US" sz="3200" b="1" spc="-30" dirty="0" err="1">
                <a:latin typeface="Lucida Console" panose="020B0609040504020204" pitchFamily="49" charset="0"/>
                <a:cs typeface="Arial" panose="020B0604020202020204" pitchFamily="34" charset="0"/>
              </a:rPr>
              <a:t>MAXsize</a:t>
            </a:r>
            <a:r>
              <a:rPr lang="en-US" sz="3200" spc="-30" dirty="0">
                <a:latin typeface="Lucida Console" panose="020B0609040504020204" pitchFamily="49" charset="0"/>
                <a:cs typeface="Arial" panose="020B0604020202020204" pitchFamily="34" charset="0"/>
              </a:rPr>
              <a:t>], B[</a:t>
            </a:r>
            <a:r>
              <a:rPr lang="en-US" sz="3200" b="1" spc="-30" dirty="0" err="1">
                <a:latin typeface="Lucida Console" panose="020B0609040504020204" pitchFamily="49" charset="0"/>
                <a:cs typeface="Arial" panose="020B0604020202020204" pitchFamily="34" charset="0"/>
              </a:rPr>
              <a:t>MAXsize</a:t>
            </a:r>
            <a:r>
              <a:rPr lang="en-US" sz="3200" spc="-30" dirty="0">
                <a:latin typeface="Lucida Console" panose="020B0609040504020204" pitchFamily="49" charset="0"/>
                <a:cs typeface="Arial" panose="020B0604020202020204" pitchFamily="34" charset="0"/>
              </a:rPr>
              <a:t>];</a:t>
            </a:r>
          </a:p>
          <a:p>
            <a:r>
              <a:rPr lang="en-US" sz="3600" spc="-3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some don't know it can take </a:t>
            </a:r>
            <a:r>
              <a:rPr lang="en-US" sz="3600" i="1" spc="-3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arguments</a:t>
            </a:r>
            <a:r>
              <a:rPr lang="en-US" sz="3600" spc="-3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788213" lvl="2" indent="0">
              <a:buNone/>
            </a:pPr>
            <a:r>
              <a:rPr lang="en-US" sz="3200" spc="-30" dirty="0">
                <a:solidFill>
                  <a:srgbClr val="0000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#define </a:t>
            </a:r>
            <a:r>
              <a:rPr lang="en-US" sz="3200" b="1" spc="-30" dirty="0">
                <a:solidFill>
                  <a:srgbClr val="0000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sum(</a:t>
            </a:r>
            <a:r>
              <a:rPr lang="en-US" sz="3200" b="1" spc="-30" dirty="0" err="1">
                <a:solidFill>
                  <a:srgbClr val="0000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x,y</a:t>
            </a:r>
            <a:r>
              <a:rPr lang="en-US" sz="3200" b="1" spc="-30" dirty="0">
                <a:solidFill>
                  <a:srgbClr val="0000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r>
              <a:rPr lang="en-US" sz="3200" spc="-30" dirty="0">
                <a:solidFill>
                  <a:srgbClr val="0000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(</a:t>
            </a:r>
            <a:r>
              <a:rPr lang="en-US" sz="3200" spc="-30" dirty="0" err="1">
                <a:solidFill>
                  <a:srgbClr val="0000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x+y</a:t>
            </a:r>
            <a:r>
              <a:rPr lang="en-US" sz="3200" spc="-30" dirty="0">
                <a:solidFill>
                  <a:srgbClr val="0000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</a:p>
          <a:p>
            <a:pPr marL="788213" lvl="2" indent="0">
              <a:buNone/>
            </a:pPr>
            <a:r>
              <a:rPr lang="en-US" sz="3200" spc="-30" dirty="0" err="1">
                <a:latin typeface="Lucida Console" panose="020B0609040504020204" pitchFamily="49" charset="0"/>
                <a:cs typeface="Arial" panose="020B0604020202020204" pitchFamily="34" charset="0"/>
              </a:rPr>
              <a:t>printf</a:t>
            </a:r>
            <a:r>
              <a:rPr lang="en-US" sz="3200" spc="-30" dirty="0">
                <a:latin typeface="Lucida Console" panose="020B0609040504020204" pitchFamily="49" charset="0"/>
                <a:cs typeface="Arial" panose="020B0604020202020204" pitchFamily="34" charset="0"/>
              </a:rPr>
              <a:t>("1+2=%d\</a:t>
            </a:r>
            <a:r>
              <a:rPr lang="en-US" sz="3200" spc="-30" dirty="0" err="1">
                <a:latin typeface="Lucida Console" panose="020B0609040504020204" pitchFamily="49" charset="0"/>
                <a:cs typeface="Arial" panose="020B0604020202020204" pitchFamily="34" charset="0"/>
              </a:rPr>
              <a:t>n",</a:t>
            </a:r>
            <a:r>
              <a:rPr lang="en-US" sz="3200" b="1" spc="-30" dirty="0" err="1">
                <a:latin typeface="Lucida Console" panose="020B0609040504020204" pitchFamily="49" charset="0"/>
                <a:cs typeface="Arial" panose="020B0604020202020204" pitchFamily="34" charset="0"/>
              </a:rPr>
              <a:t>sum</a:t>
            </a:r>
            <a:r>
              <a:rPr lang="en-US" sz="3200" b="1" spc="-30" dirty="0">
                <a:latin typeface="Lucida Console" panose="020B0609040504020204" pitchFamily="49" charset="0"/>
                <a:cs typeface="Arial" panose="020B0604020202020204" pitchFamily="34" charset="0"/>
              </a:rPr>
              <a:t>(1,2)</a:t>
            </a:r>
            <a:r>
              <a:rPr lang="en-US" sz="3200" spc="-30" dirty="0">
                <a:latin typeface="Lucida Console" panose="020B0609040504020204" pitchFamily="49" charset="0"/>
                <a:cs typeface="Arial" panose="020B0604020202020204" pitchFamily="34" charset="0"/>
              </a:rPr>
              <a:t>); </a:t>
            </a:r>
            <a:endParaRPr lang="en-US" sz="3200" spc="-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63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92895" y="473144"/>
            <a:ext cx="9144000" cy="1000925"/>
          </a:xfrm>
          <a:prstGeom prst="rect">
            <a:avLst/>
          </a:prstGeom>
          <a:solidFill>
            <a:schemeClr val="bg1"/>
          </a:solidFill>
        </p:spPr>
        <p:txBody>
          <a:bodyPr vert="horz" lIns="78823" tIns="39411" rIns="78823" bIns="39411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we may not be calling a function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0494" y="0"/>
            <a:ext cx="9448801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38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en-US" altLang="en-US" sz="35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</a:t>
            </a:r>
            <a:r>
              <a:rPr lang="en-US" altLang="en-US" sz="35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alt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alt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  <a:r>
              <a:rPr lang="en-US" alt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altLang="en-US" sz="38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</a:t>
            </a:r>
            <a:r>
              <a:rPr lang="en-US" alt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</a:t>
            </a:r>
            <a:r>
              <a:rPr lang="en-US" altLang="en-US" sz="38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</a:t>
            </a:r>
            <a:r>
              <a:rPr lang="en-US" altLang="en-US" sz="38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026" y="1779374"/>
            <a:ext cx="7957751" cy="43742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 cat prog1.c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stdio.h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&gt;</a:t>
            </a:r>
          </a:p>
          <a:p>
            <a:pPr>
              <a:lnSpc>
                <a:spcPct val="85000"/>
              </a:lnSpc>
            </a:pP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 sum(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a, 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b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)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{</a:t>
            </a:r>
            <a:r>
              <a:rPr lang="en-US" sz="2700" dirty="0">
                <a:solidFill>
                  <a:srgbClr val="FFFFFF"/>
                </a:solidFill>
                <a:latin typeface="Lucida Console" panose="020B0609040504020204" pitchFamily="49" charset="0"/>
              </a:rPr>
              <a:t>return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(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a+b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);}</a:t>
            </a:r>
          </a:p>
          <a:p>
            <a:pPr>
              <a:lnSpc>
                <a:spcPct val="85000"/>
              </a:lnSpc>
            </a:pP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main()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{   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printf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("%d\n", 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sum(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1,2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)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85000"/>
              </a:lnSpc>
            </a:pP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 ./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a.out</a:t>
            </a: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3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98734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92895" y="473144"/>
            <a:ext cx="9144000" cy="1001050"/>
          </a:xfrm>
          <a:prstGeom prst="rect">
            <a:avLst/>
          </a:prstGeom>
          <a:solidFill>
            <a:schemeClr val="bg1"/>
          </a:solidFill>
        </p:spPr>
        <p:txBody>
          <a:bodyPr vert="horz" lIns="78823" tIns="39411" rIns="78823" bIns="39411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endParaRPr lang="en-US" sz="3793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2026" y="1779374"/>
            <a:ext cx="7957751" cy="43742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 cat prog2.c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stdio.h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&gt;</a:t>
            </a:r>
          </a:p>
          <a:p>
            <a:pPr>
              <a:lnSpc>
                <a:spcPct val="85000"/>
              </a:lnSpc>
            </a:pP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#define sum(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a, b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)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(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a+b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main()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{   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printf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("%d\n", 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sum(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1,2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)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85000"/>
              </a:lnSpc>
            </a:pP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 ./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a.out</a:t>
            </a: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3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92895" y="473144"/>
            <a:ext cx="9144000" cy="1000925"/>
          </a:xfrm>
          <a:prstGeom prst="rect">
            <a:avLst/>
          </a:prstGeom>
          <a:solidFill>
            <a:schemeClr val="bg1"/>
          </a:solidFill>
        </p:spPr>
        <p:txBody>
          <a:bodyPr vert="horz" lIns="78823" tIns="39411" rIns="78823" bIns="39411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we may not be calling a function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0494" y="0"/>
            <a:ext cx="9448801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38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en-US" altLang="en-US" sz="35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</a:t>
            </a:r>
            <a:r>
              <a:rPr lang="en-US" altLang="en-US" sz="35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alt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alt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  <a:r>
              <a:rPr lang="en-US" alt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altLang="en-US" sz="38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</a:t>
            </a:r>
            <a:r>
              <a:rPr lang="en-US" alt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</a:t>
            </a:r>
            <a:r>
              <a:rPr lang="en-US" altLang="en-US" sz="38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</a:t>
            </a:r>
            <a:r>
              <a:rPr lang="en-US" altLang="en-US" sz="3800" b="1" spc="-5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ion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92895" y="0"/>
            <a:ext cx="9144000" cy="762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#define is pre-processed into…</a:t>
            </a:r>
          </a:p>
        </p:txBody>
      </p:sp>
    </p:spTree>
    <p:extLst>
      <p:ext uri="{BB962C8B-B14F-4D97-AF65-F5344CB8AC3E}">
        <p14:creationId xmlns:p14="http://schemas.microsoft.com/office/powerpoint/2010/main" val="294635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92895" y="0"/>
            <a:ext cx="9144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#define is pre-processed into…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772026" y="1779374"/>
            <a:ext cx="7957751" cy="43742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 cat prog2.c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stdio.h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&gt;</a:t>
            </a:r>
          </a:p>
          <a:p>
            <a:pPr>
              <a:lnSpc>
                <a:spcPct val="85000"/>
              </a:lnSpc>
            </a:pP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#define sum(a, b) 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(</a:t>
            </a:r>
            <a:r>
              <a:rPr lang="en-US" sz="2700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a+b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main()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{   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printf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("%d\n", 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(1+2)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85000"/>
              </a:lnSpc>
            </a:pP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 ./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a.out</a:t>
            </a: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3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27280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92895" y="0"/>
            <a:ext cx="9144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why this prints “3311”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67" y="1783080"/>
            <a:ext cx="7957751" cy="43708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 cat prog3.c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stdio.h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a = 1000, b = 100, 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c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= 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10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, 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d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= 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1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2700" spc="-1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spc="-100" dirty="0">
                <a:solidFill>
                  <a:prstClr val="white"/>
                </a:solidFill>
                <a:latin typeface="Lucida Console" panose="020B0609040504020204" pitchFamily="49" charset="0"/>
              </a:rPr>
              <a:t> sum(</a:t>
            </a:r>
            <a:r>
              <a:rPr lang="en-US" sz="2700" spc="-1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spc="-1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700" spc="-100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a</a:t>
            </a:r>
            <a:r>
              <a:rPr lang="en-US" sz="2700" spc="-1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,int</a:t>
            </a:r>
            <a:r>
              <a:rPr lang="en-US" sz="2700" spc="-100" dirty="0">
                <a:solidFill>
                  <a:prstClr val="white"/>
                </a:solidFill>
                <a:latin typeface="Lucida Console" panose="020B0609040504020204" pitchFamily="49" charset="0"/>
              </a:rPr>
              <a:t> </a:t>
            </a:r>
            <a:r>
              <a:rPr lang="en-US" sz="2700" spc="-100" dirty="0">
                <a:solidFill>
                  <a:srgbClr val="FFFF00"/>
                </a:solidFill>
                <a:latin typeface="Lucida Console" panose="020B0609040504020204" pitchFamily="49" charset="0"/>
              </a:rPr>
              <a:t>b</a:t>
            </a:r>
            <a:r>
              <a:rPr lang="en-US" sz="2700" spc="-100" dirty="0">
                <a:solidFill>
                  <a:prstClr val="white"/>
                </a:solidFill>
                <a:latin typeface="Lucida Console" panose="020B0609040504020204" pitchFamily="49" charset="0"/>
              </a:rPr>
              <a:t>) {return (</a:t>
            </a:r>
            <a:r>
              <a:rPr lang="en-US" sz="2700" spc="-100" dirty="0" err="1">
                <a:solidFill>
                  <a:srgbClr val="FFFF00"/>
                </a:solidFill>
                <a:latin typeface="Lucida Console" panose="020B0609040504020204" pitchFamily="49" charset="0"/>
              </a:rPr>
              <a:t>a+b+c+d</a:t>
            </a:r>
            <a:r>
              <a:rPr lang="en-US" sz="2700" spc="-100" dirty="0">
                <a:solidFill>
                  <a:prstClr val="white"/>
                </a:solidFill>
                <a:latin typeface="Lucida Console" panose="020B0609040504020204" pitchFamily="49" charset="0"/>
              </a:rPr>
              <a:t>);}</a:t>
            </a:r>
          </a:p>
          <a:p>
            <a:pPr>
              <a:lnSpc>
                <a:spcPct val="85000"/>
              </a:lnSpc>
            </a:pP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main()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{  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a = 2000, b = 200, c = 20;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  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printf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("%d\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n",sum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(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3000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,</a:t>
            </a: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300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));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 ./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a.out</a:t>
            </a: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srgbClr val="FFFF00"/>
                </a:solidFill>
                <a:latin typeface="Lucida Console" panose="020B0609040504020204" pitchFamily="49" charset="0"/>
              </a:rPr>
              <a:t>3311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14584975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92895" y="473144"/>
            <a:ext cx="9144000" cy="1000925"/>
          </a:xfrm>
          <a:prstGeom prst="rect">
            <a:avLst/>
          </a:prstGeom>
          <a:solidFill>
            <a:schemeClr val="bg1"/>
          </a:solidFill>
        </p:spPr>
        <p:txBody>
          <a:bodyPr vert="horz" lIns="78823" tIns="15765" rIns="78823" bIns="39411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Because it preprocesses into…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92895" y="0"/>
            <a:ext cx="9144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But, why does this print “3321”?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026" y="1783080"/>
            <a:ext cx="7957751" cy="43708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 cat prog4.c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stdio.h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a = 1000, b = 100, c = 10, 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d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= 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1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#define sum(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, 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b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) (</a:t>
            </a:r>
            <a:r>
              <a:rPr lang="en-US" sz="27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a+b+c+d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85000"/>
              </a:lnSpc>
            </a:pP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main()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{  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a = 2000, b = 200, 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c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= 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20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  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printf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("%d\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n",sum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(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3000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,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300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));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 ./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a.out</a:t>
            </a: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3321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19762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92895" y="473144"/>
            <a:ext cx="9144000" cy="1000925"/>
          </a:xfrm>
          <a:prstGeom prst="rect">
            <a:avLst/>
          </a:prstGeom>
          <a:solidFill>
            <a:schemeClr val="bg1"/>
          </a:solidFill>
        </p:spPr>
        <p:txBody>
          <a:bodyPr vert="horz" lIns="78823" tIns="15765" rIns="78823" bIns="39411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Because it preprocesses into…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772026" y="1783080"/>
            <a:ext cx="7957751" cy="43708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 cat prog4.c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#include &lt;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stdio.h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&gt;</a:t>
            </a:r>
          </a:p>
          <a:p>
            <a:pPr>
              <a:lnSpc>
                <a:spcPct val="85000"/>
              </a:lnSpc>
            </a:pP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a = 1000, b = 100, c = 10, 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d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= 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1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#define sum(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, 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b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) (</a:t>
            </a:r>
            <a:r>
              <a:rPr lang="en-US" sz="27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a+b+c+d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)</a:t>
            </a:r>
            <a:endParaRPr lang="en-US" sz="2700" dirty="0">
              <a:solidFill>
                <a:srgbClr val="FFFF00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main()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{  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int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a = 2000, b = 200, 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c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= 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20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   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printf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("%d\n",</a:t>
            </a:r>
            <a:r>
              <a:rPr lang="en-US" sz="2700" dirty="0">
                <a:solidFill>
                  <a:schemeClr val="bg1"/>
                </a:solidFill>
                <a:latin typeface="Lucida Console" panose="020B0609040504020204" pitchFamily="49" charset="0"/>
              </a:rPr>
              <a:t>(</a:t>
            </a: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3000+300+c+d</a:t>
            </a:r>
            <a:r>
              <a:rPr lang="en-US" sz="2700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}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 ./</a:t>
            </a:r>
            <a:r>
              <a:rPr lang="en-US" sz="27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a.out</a:t>
            </a:r>
            <a:endParaRPr lang="en-US" sz="2700" dirty="0">
              <a:solidFill>
                <a:prstClr val="white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srgbClr val="FFC000"/>
                </a:solidFill>
                <a:latin typeface="Lucida Console" panose="020B0609040504020204" pitchFamily="49" charset="0"/>
              </a:rPr>
              <a:t>3321</a:t>
            </a:r>
          </a:p>
          <a:p>
            <a:pPr>
              <a:lnSpc>
                <a:spcPct val="85000"/>
              </a:lnSpc>
            </a:pPr>
            <a:r>
              <a:rPr lang="en-US" sz="2700" dirty="0">
                <a:solidFill>
                  <a:prstClr val="white"/>
                </a:solidFill>
                <a:latin typeface="Lucida Console" panose="020B0609040504020204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86647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42020" y="838200"/>
            <a:ext cx="8994875" cy="6019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</a:rPr>
              <a:t>Looks like a function call, but it isn’t. </a:t>
            </a:r>
          </a:p>
          <a:p>
            <a:pPr lvl="1">
              <a:spcBef>
                <a:spcPts val="0"/>
              </a:spcBef>
            </a:pPr>
            <a:r>
              <a:rPr lang="en-US" sz="3276" dirty="0">
                <a:solidFill>
                  <a:prstClr val="black"/>
                </a:solidFill>
              </a:rPr>
              <a:t>The </a:t>
            </a:r>
            <a:r>
              <a:rPr lang="en-US" sz="3276" u="sng" dirty="0">
                <a:solidFill>
                  <a:prstClr val="black"/>
                </a:solidFill>
              </a:rPr>
              <a:t>pre</a:t>
            </a:r>
            <a:r>
              <a:rPr lang="en-US" sz="3276" dirty="0">
                <a:solidFill>
                  <a:prstClr val="black"/>
                </a:solidFill>
              </a:rPr>
              <a:t>processor substitutes it before compiling.</a:t>
            </a:r>
          </a:p>
          <a:p>
            <a:pPr>
              <a:lnSpc>
                <a:spcPct val="80000"/>
              </a:lnSpc>
              <a:spcBef>
                <a:spcPts val="2400"/>
              </a:spcBef>
            </a:pPr>
            <a:r>
              <a:rPr lang="en-US" dirty="0">
                <a:solidFill>
                  <a:prstClr val="black"/>
                </a:solidFill>
              </a:rPr>
              <a:t>Doesn’t have its own scope. It can access variables of the function invoking it.</a:t>
            </a:r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US" sz="3276" dirty="0">
                <a:solidFill>
                  <a:prstClr val="black"/>
                </a:solidFill>
              </a:rPr>
              <a:t>But an actual function is different, as we saw – </a:t>
            </a:r>
            <a:br>
              <a:rPr lang="en-US" sz="3276" dirty="0">
                <a:solidFill>
                  <a:prstClr val="black"/>
                </a:solidFill>
              </a:rPr>
            </a:br>
            <a:r>
              <a:rPr lang="en-US" sz="3276" dirty="0">
                <a:solidFill>
                  <a:prstClr val="black"/>
                </a:solidFill>
              </a:rPr>
              <a:t>it can’t see the caller’s variables, only global.</a:t>
            </a: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spcBef>
                <a:spcPts val="2400"/>
              </a:spcBef>
            </a:pPr>
            <a:r>
              <a:rPr lang="en-US" spc="-30" dirty="0">
                <a:solidFill>
                  <a:prstClr val="black"/>
                </a:solidFill>
              </a:rPr>
              <a:t>Must</a:t>
            </a:r>
            <a:r>
              <a:rPr lang="en-US" sz="3000" spc="-30" dirty="0">
                <a:solidFill>
                  <a:prstClr val="black"/>
                </a:solidFill>
              </a:rPr>
              <a:t> </a:t>
            </a:r>
            <a:r>
              <a:rPr lang="en-US" spc="-30" dirty="0">
                <a:solidFill>
                  <a:prstClr val="black"/>
                </a:solidFill>
              </a:rPr>
              <a:t>compute</a:t>
            </a:r>
            <a:r>
              <a:rPr lang="en-US" sz="3000" spc="-30" dirty="0">
                <a:solidFill>
                  <a:prstClr val="black"/>
                </a:solidFill>
              </a:rPr>
              <a:t> </a:t>
            </a:r>
            <a:r>
              <a:rPr lang="en-US" spc="-30" dirty="0">
                <a:solidFill>
                  <a:prstClr val="black"/>
                </a:solidFill>
              </a:rPr>
              <a:t>an</a:t>
            </a:r>
            <a:r>
              <a:rPr lang="en-US" sz="3000" spc="-30" dirty="0">
                <a:solidFill>
                  <a:prstClr val="black"/>
                </a:solidFill>
              </a:rPr>
              <a:t> </a:t>
            </a:r>
            <a:r>
              <a:rPr lang="en-US" spc="-30" dirty="0">
                <a:solidFill>
                  <a:prstClr val="black"/>
                </a:solidFill>
              </a:rPr>
              <a:t>expression</a:t>
            </a:r>
            <a:r>
              <a:rPr lang="en-US" sz="3000" spc="-30" dirty="0">
                <a:solidFill>
                  <a:prstClr val="black"/>
                </a:solidFill>
              </a:rPr>
              <a:t> </a:t>
            </a:r>
            <a:r>
              <a:rPr lang="en-US" spc="-30" dirty="0">
                <a:solidFill>
                  <a:prstClr val="black"/>
                </a:solidFill>
              </a:rPr>
              <a:t>(can’t</a:t>
            </a:r>
            <a:r>
              <a:rPr lang="en-US" sz="3000" spc="-30" dirty="0">
                <a:solidFill>
                  <a:prstClr val="black"/>
                </a:solidFill>
              </a:rPr>
              <a:t> </a:t>
            </a:r>
            <a:r>
              <a:rPr lang="en-US" spc="-30" dirty="0">
                <a:solidFill>
                  <a:prstClr val="black"/>
                </a:solidFill>
              </a:rPr>
              <a:t>have</a:t>
            </a:r>
            <a:r>
              <a:rPr lang="en-US" sz="3000" spc="-30" dirty="0">
                <a:solidFill>
                  <a:prstClr val="black"/>
                </a:solidFill>
              </a:rPr>
              <a:t> </a:t>
            </a:r>
            <a:r>
              <a:rPr lang="en-US" spc="-30" dirty="0">
                <a:solidFill>
                  <a:prstClr val="black"/>
                </a:solidFill>
              </a:rPr>
              <a:t>statements),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i="1" dirty="0">
                <a:solidFill>
                  <a:prstClr val="black"/>
                </a:solidFill>
              </a:rPr>
              <a:t>if it gets used in an argument or expression</a:t>
            </a:r>
            <a:r>
              <a:rPr lang="en-US" dirty="0">
                <a:solidFill>
                  <a:prstClr val="black"/>
                </a:solidFill>
              </a:rPr>
              <a:t>:</a:t>
            </a:r>
          </a:p>
          <a:p>
            <a:pPr marL="404813" indent="0">
              <a:spcBef>
                <a:spcPts val="0"/>
              </a:spcBef>
              <a:buNone/>
            </a:pP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#define sum(</a:t>
            </a: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a,b,c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) (</a:t>
            </a: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a+b+c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  <a:b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</a:b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int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 main(){</a:t>
            </a: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printf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("%</a:t>
            </a: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d",sum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(1,2,3)}</a:t>
            </a:r>
          </a:p>
          <a:p>
            <a:pPr>
              <a:spcBef>
                <a:spcPts val="2400"/>
              </a:spcBef>
            </a:pPr>
            <a:r>
              <a:rPr lang="en-US" dirty="0">
                <a:solidFill>
                  <a:prstClr val="black"/>
                </a:solidFill>
              </a:rPr>
              <a:t>May contain statements, </a:t>
            </a:r>
            <a:r>
              <a:rPr lang="en-US" i="1" dirty="0">
                <a:solidFill>
                  <a:prstClr val="black"/>
                </a:solidFill>
              </a:rPr>
              <a:t>if used like a function call</a:t>
            </a:r>
            <a:r>
              <a:rPr lang="en-US" dirty="0">
                <a:solidFill>
                  <a:prstClr val="black"/>
                </a:solidFill>
              </a:rPr>
              <a:t>:</a:t>
            </a:r>
          </a:p>
          <a:p>
            <a:pPr marL="394107" lvl="1" indent="0">
              <a:spcBef>
                <a:spcPts val="0"/>
              </a:spcBef>
              <a:buNone/>
            </a:pP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#def</a:t>
            </a:r>
            <a:r>
              <a:rPr lang="en-US" sz="2600" spc="-50" dirty="0">
                <a:solidFill>
                  <a:srgbClr val="2D2DB9"/>
                </a:solidFill>
                <a:latin typeface="Lucida Console" panose="020B0609040504020204" pitchFamily="49" charset="0"/>
              </a:rPr>
              <a:t>i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ne</a:t>
            </a:r>
            <a:r>
              <a:rPr lang="en-US" sz="1900" dirty="0">
                <a:solidFill>
                  <a:srgbClr val="2D2DB9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ASSERT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(</a:t>
            </a:r>
            <a:r>
              <a:rPr lang="en-US" sz="2600" spc="-300" dirty="0">
                <a:solidFill>
                  <a:srgbClr val="2D2DB9"/>
                </a:solidFill>
                <a:latin typeface="Lucida Console" panose="020B0609040504020204" pitchFamily="49" charset="0"/>
              </a:rPr>
              <a:t>c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{</a:t>
            </a:r>
            <a:r>
              <a:rPr lang="en-US" sz="2600" spc="-50" dirty="0">
                <a:solidFill>
                  <a:srgbClr val="2D2DB9"/>
                </a:solidFill>
                <a:latin typeface="Lucida Console" panose="020B0609040504020204" pitchFamily="49" charset="0"/>
              </a:rPr>
              <a:t>i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400" dirty="0">
                <a:solidFill>
                  <a:srgbClr val="2D2DB9"/>
                </a:solidFill>
                <a:latin typeface="Lucida Console" panose="020B0609040504020204" pitchFamily="49" charset="0"/>
              </a:rPr>
              <a:t>(!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(c)){</a:t>
            </a: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pr</a:t>
            </a:r>
            <a:r>
              <a:rPr lang="en-US" sz="2600" spc="-5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i</a:t>
            </a: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nt</a:t>
            </a:r>
            <a:r>
              <a:rPr lang="en-US" sz="2600" spc="-3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("E"</a:t>
            </a:r>
            <a:r>
              <a:rPr lang="en-US" sz="2600" spc="-50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300" dirty="0">
                <a:solidFill>
                  <a:srgbClr val="2D2DB9"/>
                </a:solidFill>
                <a:latin typeface="Lucida Console" panose="020B0609040504020204" pitchFamily="49" charset="0"/>
              </a:rPr>
              <a:t>;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exi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t(1</a:t>
            </a:r>
            <a:r>
              <a:rPr lang="en-US" sz="2600" spc="-50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300" dirty="0">
                <a:solidFill>
                  <a:srgbClr val="2D2DB9"/>
                </a:solidFill>
                <a:latin typeface="Lucida Console" panose="020B0609040504020204" pitchFamily="49" charset="0"/>
              </a:rPr>
              <a:t>;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}}</a:t>
            </a:r>
          </a:p>
          <a:p>
            <a:pPr marL="394107" lvl="1" indent="0">
              <a:spcBef>
                <a:spcPts val="0"/>
              </a:spcBef>
              <a:buNone/>
            </a:pPr>
            <a:r>
              <a:rPr lang="en-US" sz="2600" spc="-2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int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 main(){ASSERT(1</a:t>
            </a:r>
            <a:r>
              <a:rPr lang="en-US" sz="2600" spc="-200" dirty="0">
                <a:solidFill>
                  <a:srgbClr val="2D2DB9"/>
                </a:solidFill>
                <a:latin typeface="Arial Narrow" panose="020B0606020202030204" pitchFamily="34" charset="0"/>
              </a:rPr>
              <a:t>=</a:t>
            </a:r>
            <a:r>
              <a:rPr lang="en-US" sz="1900" spc="-200" dirty="0">
                <a:solidFill>
                  <a:srgbClr val="2D2DB9"/>
                </a:solidFill>
                <a:latin typeface="Arial Narrow" panose="020B0606020202030204" pitchFamily="34" charset="0"/>
              </a:rPr>
              <a:t> </a:t>
            </a:r>
            <a:r>
              <a:rPr lang="en-US" sz="2600" spc="-200" dirty="0">
                <a:solidFill>
                  <a:srgbClr val="2D2DB9"/>
                </a:solidFill>
                <a:latin typeface="Arial Narrow" panose="020B0606020202030204" pitchFamily="34" charset="0"/>
              </a:rPr>
              <a:t>=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2);}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92895" y="0"/>
            <a:ext cx="9144000" cy="685800"/>
          </a:xfrm>
          <a:prstGeom prst="rect">
            <a:avLst/>
          </a:prstGeom>
          <a:solidFill>
            <a:schemeClr val="bg1"/>
          </a:solidFill>
        </p:spPr>
        <p:txBody>
          <a:bodyPr vert="horz" lIns="78823" tIns="15765" rIns="78823" bIns="39411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Lessons from C preprocessor #define</a:t>
            </a:r>
          </a:p>
        </p:txBody>
      </p:sp>
    </p:spTree>
    <p:extLst>
      <p:ext uri="{BB962C8B-B14F-4D97-AF65-F5344CB8AC3E}">
        <p14:creationId xmlns:p14="http://schemas.microsoft.com/office/powerpoint/2010/main" val="185653338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42020" y="838200"/>
            <a:ext cx="8994875" cy="6019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FF0000"/>
                </a:solidFill>
              </a:rPr>
              <a:t>Looks like a function call, but it isn’t. </a:t>
            </a:r>
          </a:p>
          <a:p>
            <a:pPr lvl="1">
              <a:spcBef>
                <a:spcPts val="0"/>
              </a:spcBef>
            </a:pPr>
            <a:r>
              <a:rPr lang="en-US" sz="3276" dirty="0">
                <a:solidFill>
                  <a:prstClr val="white">
                    <a:lumMod val="75000"/>
                  </a:prstClr>
                </a:solidFill>
              </a:rPr>
              <a:t>The </a:t>
            </a:r>
            <a:r>
              <a:rPr lang="en-US" sz="3276" u="sng" dirty="0">
                <a:solidFill>
                  <a:prstClr val="white">
                    <a:lumMod val="75000"/>
                  </a:prstClr>
                </a:solidFill>
              </a:rPr>
              <a:t>pre</a:t>
            </a:r>
            <a:r>
              <a:rPr lang="en-US" sz="3276" dirty="0">
                <a:solidFill>
                  <a:prstClr val="white">
                    <a:lumMod val="75000"/>
                  </a:prstClr>
                </a:solidFill>
              </a:rPr>
              <a:t>processor substitutes it before compiling.</a:t>
            </a:r>
          </a:p>
          <a:p>
            <a:pPr>
              <a:lnSpc>
                <a:spcPct val="80000"/>
              </a:lnSpc>
              <a:spcBef>
                <a:spcPts val="2400"/>
              </a:spcBef>
            </a:pPr>
            <a:r>
              <a:rPr lang="en-US" dirty="0">
                <a:solidFill>
                  <a:prstClr val="white">
                    <a:lumMod val="75000"/>
                  </a:prstClr>
                </a:solidFill>
              </a:rPr>
              <a:t>Doesn’t have its own scope. It can access variables of the function invoking it.</a:t>
            </a:r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US" sz="3276" dirty="0">
                <a:solidFill>
                  <a:srgbClr val="FF0000"/>
                </a:solidFill>
              </a:rPr>
              <a:t>But an actual function is different, as we saw – </a:t>
            </a:r>
            <a:br>
              <a:rPr lang="en-US" sz="3276" dirty="0">
                <a:solidFill>
                  <a:srgbClr val="FF0000"/>
                </a:solidFill>
              </a:rPr>
            </a:br>
            <a:r>
              <a:rPr lang="en-US" sz="3276" dirty="0">
                <a:solidFill>
                  <a:srgbClr val="FF0000"/>
                </a:solidFill>
              </a:rPr>
              <a:t>it can’t see the caller’s variables, only global</a:t>
            </a:r>
            <a:r>
              <a:rPr lang="en-US" sz="3276" dirty="0">
                <a:solidFill>
                  <a:prstClr val="white">
                    <a:lumMod val="75000"/>
                  </a:prstClr>
                </a:solidFill>
              </a:rPr>
              <a:t>.</a:t>
            </a:r>
            <a:endParaRPr lang="en-US" dirty="0">
              <a:solidFill>
                <a:prstClr val="white">
                  <a:lumMod val="75000"/>
                </a:prstClr>
              </a:solidFill>
            </a:endParaRPr>
          </a:p>
          <a:p>
            <a:pPr>
              <a:lnSpc>
                <a:spcPct val="80000"/>
              </a:lnSpc>
              <a:spcBef>
                <a:spcPts val="2400"/>
              </a:spcBef>
            </a:pPr>
            <a:r>
              <a:rPr lang="en-US" spc="-30" dirty="0">
                <a:solidFill>
                  <a:srgbClr val="FF0000"/>
                </a:solidFill>
              </a:rPr>
              <a:t>Must</a:t>
            </a:r>
            <a:r>
              <a:rPr lang="en-US" sz="3000" spc="-30" dirty="0">
                <a:solidFill>
                  <a:srgbClr val="FF0000"/>
                </a:solidFill>
              </a:rPr>
              <a:t> </a:t>
            </a:r>
            <a:r>
              <a:rPr lang="en-US" spc="-30" dirty="0">
                <a:solidFill>
                  <a:srgbClr val="FF0000"/>
                </a:solidFill>
              </a:rPr>
              <a:t>compute</a:t>
            </a:r>
            <a:r>
              <a:rPr lang="en-US" sz="3000" spc="-30" dirty="0">
                <a:solidFill>
                  <a:srgbClr val="FF0000"/>
                </a:solidFill>
              </a:rPr>
              <a:t> </a:t>
            </a:r>
            <a:r>
              <a:rPr lang="en-US" spc="-30" dirty="0">
                <a:solidFill>
                  <a:srgbClr val="FF0000"/>
                </a:solidFill>
              </a:rPr>
              <a:t>an</a:t>
            </a:r>
            <a:r>
              <a:rPr lang="en-US" sz="3000" spc="-30" dirty="0">
                <a:solidFill>
                  <a:srgbClr val="FF0000"/>
                </a:solidFill>
              </a:rPr>
              <a:t> </a:t>
            </a:r>
            <a:r>
              <a:rPr lang="en-US" spc="-30" dirty="0">
                <a:solidFill>
                  <a:srgbClr val="FF0000"/>
                </a:solidFill>
              </a:rPr>
              <a:t>expression</a:t>
            </a:r>
            <a:r>
              <a:rPr lang="en-US" sz="3000" spc="-30" dirty="0">
                <a:solidFill>
                  <a:srgbClr val="FF0000"/>
                </a:solidFill>
              </a:rPr>
              <a:t> </a:t>
            </a:r>
            <a:r>
              <a:rPr lang="en-US" spc="-30" dirty="0">
                <a:solidFill>
                  <a:srgbClr val="FF0000"/>
                </a:solidFill>
              </a:rPr>
              <a:t>(can’t</a:t>
            </a:r>
            <a:r>
              <a:rPr lang="en-US" sz="3000" spc="-30" dirty="0">
                <a:solidFill>
                  <a:srgbClr val="FF0000"/>
                </a:solidFill>
              </a:rPr>
              <a:t> </a:t>
            </a:r>
            <a:r>
              <a:rPr lang="en-US" spc="-30" dirty="0">
                <a:solidFill>
                  <a:srgbClr val="FF0000"/>
                </a:solidFill>
              </a:rPr>
              <a:t>have</a:t>
            </a:r>
            <a:r>
              <a:rPr lang="en-US" sz="3000" spc="-30" dirty="0">
                <a:solidFill>
                  <a:srgbClr val="FF0000"/>
                </a:solidFill>
              </a:rPr>
              <a:t> </a:t>
            </a:r>
            <a:r>
              <a:rPr lang="en-US" spc="-30" dirty="0">
                <a:solidFill>
                  <a:srgbClr val="FF0000"/>
                </a:solidFill>
              </a:rPr>
              <a:t>statements)</a:t>
            </a:r>
            <a:r>
              <a:rPr lang="en-US" spc="-30" dirty="0">
                <a:solidFill>
                  <a:prstClr val="white">
                    <a:lumMod val="75000"/>
                  </a:prstClr>
                </a:solidFill>
              </a:rPr>
              <a:t>,</a:t>
            </a:r>
            <a:r>
              <a:rPr lang="en-US" dirty="0">
                <a:solidFill>
                  <a:prstClr val="white">
                    <a:lumMod val="75000"/>
                  </a:prstClr>
                </a:solidFill>
              </a:rPr>
              <a:t> </a:t>
            </a:r>
            <a:r>
              <a:rPr lang="en-US" i="1" dirty="0">
                <a:solidFill>
                  <a:prstClr val="white">
                    <a:lumMod val="75000"/>
                  </a:prstClr>
                </a:solidFill>
              </a:rPr>
              <a:t>if it gets used in an argument or expression</a:t>
            </a:r>
            <a:r>
              <a:rPr lang="en-US" dirty="0">
                <a:solidFill>
                  <a:prstClr val="white">
                    <a:lumMod val="75000"/>
                  </a:prstClr>
                </a:solidFill>
              </a:rPr>
              <a:t>:</a:t>
            </a:r>
          </a:p>
          <a:p>
            <a:pPr marL="404813" indent="0">
              <a:spcBef>
                <a:spcPts val="0"/>
              </a:spcBef>
              <a:buNone/>
            </a:pPr>
            <a: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#define sum(</a:t>
            </a:r>
            <a:r>
              <a:rPr lang="en-US" sz="2600" dirty="0" err="1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a,b,c</a:t>
            </a:r>
            <a: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) (</a:t>
            </a:r>
            <a:r>
              <a:rPr lang="en-US" sz="2600" dirty="0" err="1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a+b+c</a:t>
            </a:r>
            <a: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)</a:t>
            </a:r>
            <a:b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</a:br>
            <a:r>
              <a:rPr lang="en-US" sz="2600" dirty="0" err="1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int</a:t>
            </a:r>
            <a: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 main(){</a:t>
            </a:r>
            <a:r>
              <a:rPr lang="en-US" sz="2600" dirty="0" err="1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printf</a:t>
            </a:r>
            <a: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("%</a:t>
            </a:r>
            <a:r>
              <a:rPr lang="en-US" sz="2600" dirty="0" err="1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d",sum</a:t>
            </a:r>
            <a: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(1,2,3)}</a:t>
            </a:r>
          </a:p>
          <a:p>
            <a:pPr>
              <a:spcBef>
                <a:spcPts val="2400"/>
              </a:spcBef>
            </a:pPr>
            <a:r>
              <a:rPr lang="en-US" dirty="0">
                <a:solidFill>
                  <a:prstClr val="white">
                    <a:lumMod val="75000"/>
                  </a:prstClr>
                </a:solidFill>
              </a:rPr>
              <a:t>May contain statements, </a:t>
            </a:r>
            <a:r>
              <a:rPr lang="en-US" i="1" dirty="0">
                <a:solidFill>
                  <a:prstClr val="white">
                    <a:lumMod val="75000"/>
                  </a:prstClr>
                </a:solidFill>
              </a:rPr>
              <a:t>if used like a function call</a:t>
            </a:r>
            <a:r>
              <a:rPr lang="en-US" dirty="0">
                <a:solidFill>
                  <a:prstClr val="white">
                    <a:lumMod val="75000"/>
                  </a:prstClr>
                </a:solidFill>
              </a:rPr>
              <a:t>:</a:t>
            </a:r>
          </a:p>
          <a:p>
            <a:pPr marL="394107" lvl="1" indent="0">
              <a:spcBef>
                <a:spcPts val="0"/>
              </a:spcBef>
              <a:buNone/>
            </a:pPr>
            <a: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#def</a:t>
            </a:r>
            <a:r>
              <a:rPr lang="en-US" sz="2600" spc="-5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i</a:t>
            </a:r>
            <a: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ne</a:t>
            </a:r>
            <a:r>
              <a:rPr lang="en-US" sz="19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ASSERT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(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c</a:t>
            </a:r>
            <a: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{</a:t>
            </a:r>
            <a:r>
              <a:rPr lang="en-US" sz="2600" spc="-5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i</a:t>
            </a:r>
            <a: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4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(!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(c)){</a:t>
            </a:r>
            <a:r>
              <a:rPr lang="en-US" sz="2600" dirty="0" err="1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pr</a:t>
            </a:r>
            <a:r>
              <a:rPr lang="en-US" sz="2600" spc="-50" dirty="0" err="1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i</a:t>
            </a:r>
            <a:r>
              <a:rPr lang="en-US" sz="2600" dirty="0" err="1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nt</a:t>
            </a:r>
            <a:r>
              <a:rPr lang="en-US" sz="2600" spc="-300" dirty="0" err="1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1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("E"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;</a:t>
            </a:r>
            <a:r>
              <a:rPr lang="en-US" sz="26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exi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t(1</a:t>
            </a:r>
            <a:r>
              <a:rPr lang="en-US" sz="2600" spc="-5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3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;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}}</a:t>
            </a:r>
          </a:p>
          <a:p>
            <a:pPr marL="394107" lvl="1" indent="0">
              <a:spcBef>
                <a:spcPts val="0"/>
              </a:spcBef>
              <a:buNone/>
            </a:pPr>
            <a:r>
              <a:rPr lang="en-US" sz="2600" spc="-200" dirty="0" err="1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int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 main(){ASSERT(1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Arial Narrow" panose="020B0606020202030204" pitchFamily="34" charset="0"/>
              </a:rPr>
              <a:t>=</a:t>
            </a:r>
            <a:r>
              <a:rPr lang="en-US" sz="1900" spc="-200" dirty="0">
                <a:solidFill>
                  <a:prstClr val="white">
                    <a:lumMod val="75000"/>
                  </a:prstClr>
                </a:solidFill>
                <a:latin typeface="Arial Narrow" panose="020B0606020202030204" pitchFamily="34" charset="0"/>
              </a:rPr>
              <a:t> 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Arial Narrow" panose="020B0606020202030204" pitchFamily="34" charset="0"/>
              </a:rPr>
              <a:t>=</a:t>
            </a:r>
            <a:r>
              <a:rPr lang="en-US" sz="2600" spc="-20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2);}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7295" y="5257800"/>
            <a:ext cx="7266949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prstClr val="black"/>
                </a:solidFill>
              </a:rPr>
              <a:t>Python lambda functions have these 3 features.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</a:rPr>
              <a:t>So they are, in some ways, closer to macros. 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And yet, in other ways, closer to functions.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92895" y="0"/>
            <a:ext cx="9144000" cy="685800"/>
          </a:xfrm>
          <a:prstGeom prst="rect">
            <a:avLst/>
          </a:prstGeom>
          <a:solidFill>
            <a:schemeClr val="bg1"/>
          </a:solidFill>
        </p:spPr>
        <p:txBody>
          <a:bodyPr vert="horz" lIns="78823" tIns="15765" rIns="78823" bIns="39411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Lessons from C preprocessor #define</a:t>
            </a:r>
          </a:p>
        </p:txBody>
      </p:sp>
    </p:spTree>
    <p:extLst>
      <p:ext uri="{BB962C8B-B14F-4D97-AF65-F5344CB8AC3E}">
        <p14:creationId xmlns:p14="http://schemas.microsoft.com/office/powerpoint/2010/main" val="154297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92895" y="0"/>
            <a:ext cx="9144000" cy="1295400"/>
          </a:xfrm>
          <a:prstGeom prst="rect">
            <a:avLst/>
          </a:prstGeom>
          <a:solidFill>
            <a:schemeClr val="bg1"/>
          </a:solidFill>
        </p:spPr>
        <p:txBody>
          <a:bodyPr vert="horz" lIns="78823" tIns="15765" rIns="78823" bIns="39411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Notice the output here matches C’s function example, not its macro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2026" y="1853516"/>
            <a:ext cx="7957751" cy="430015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5000"/>
              </a:lnSpc>
            </a:pP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&gt;&gt;&gt; a=1000;b=100;c=10;d=1</a:t>
            </a:r>
          </a:p>
          <a:p>
            <a:r>
              <a:rPr lang="pt-BR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&gt;&gt;&gt; sum = lambda a, b: a+b+c+d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800" dirty="0" err="1">
                <a:solidFill>
                  <a:prstClr val="white"/>
                </a:solidFill>
                <a:latin typeface="Lucida Console" panose="020B0609040504020204" pitchFamily="49" charset="0"/>
              </a:rPr>
              <a:t>def</a:t>
            </a:r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 f():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...     a=2000;b=200;c=20;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...     print (sum (3000,300))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...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&gt;&gt;&gt; f()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3311</a:t>
            </a:r>
          </a:p>
          <a:p>
            <a:r>
              <a:rPr lang="en-US" sz="2800" dirty="0">
                <a:solidFill>
                  <a:prstClr val="white"/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lnSpc>
                <a:spcPct val="85000"/>
              </a:lnSpc>
            </a:pPr>
            <a:endParaRPr lang="en-US" sz="2800" dirty="0">
              <a:solidFill>
                <a:prstClr val="white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51338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42020" y="838200"/>
            <a:ext cx="8994875" cy="6019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prstClr val="black"/>
                </a:solidFill>
              </a:rPr>
              <a:t>Looks like a function call, but it isn’t. </a:t>
            </a:r>
          </a:p>
          <a:p>
            <a:pPr lvl="1">
              <a:spcBef>
                <a:spcPts val="0"/>
              </a:spcBef>
            </a:pPr>
            <a:r>
              <a:rPr lang="en-US" sz="3276" dirty="0">
                <a:solidFill>
                  <a:prstClr val="black"/>
                </a:solidFill>
              </a:rPr>
              <a:t>The </a:t>
            </a:r>
            <a:r>
              <a:rPr lang="en-US" sz="3276" u="sng" dirty="0">
                <a:solidFill>
                  <a:prstClr val="black"/>
                </a:solidFill>
              </a:rPr>
              <a:t>pre</a:t>
            </a:r>
            <a:r>
              <a:rPr lang="en-US" sz="3276" dirty="0">
                <a:solidFill>
                  <a:prstClr val="black"/>
                </a:solidFill>
              </a:rPr>
              <a:t>processor substitutes it before compiling.</a:t>
            </a:r>
          </a:p>
          <a:p>
            <a:pPr>
              <a:lnSpc>
                <a:spcPct val="80000"/>
              </a:lnSpc>
              <a:spcBef>
                <a:spcPts val="2400"/>
              </a:spcBef>
            </a:pPr>
            <a:r>
              <a:rPr lang="en-US" dirty="0">
                <a:solidFill>
                  <a:prstClr val="black"/>
                </a:solidFill>
              </a:rPr>
              <a:t>Doesn’t have its own scope. It can access variables of the function invoking it.</a:t>
            </a:r>
          </a:p>
          <a:p>
            <a:pPr lvl="1">
              <a:lnSpc>
                <a:spcPct val="80000"/>
              </a:lnSpc>
              <a:spcBef>
                <a:spcPts val="0"/>
              </a:spcBef>
            </a:pPr>
            <a:r>
              <a:rPr lang="en-US" sz="3276" dirty="0">
                <a:solidFill>
                  <a:prstClr val="black"/>
                </a:solidFill>
              </a:rPr>
              <a:t>But an actual function is different, as we saw – </a:t>
            </a:r>
            <a:br>
              <a:rPr lang="en-US" sz="3276" dirty="0">
                <a:solidFill>
                  <a:prstClr val="black"/>
                </a:solidFill>
              </a:rPr>
            </a:br>
            <a:r>
              <a:rPr lang="en-US" sz="3276" dirty="0">
                <a:solidFill>
                  <a:prstClr val="black"/>
                </a:solidFill>
              </a:rPr>
              <a:t>it can’t see the caller’s variables, only global.</a:t>
            </a: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80000"/>
              </a:lnSpc>
              <a:spcBef>
                <a:spcPts val="2400"/>
              </a:spcBef>
            </a:pPr>
            <a:r>
              <a:rPr lang="en-US" spc="-30" dirty="0">
                <a:solidFill>
                  <a:prstClr val="black"/>
                </a:solidFill>
              </a:rPr>
              <a:t>Must</a:t>
            </a:r>
            <a:r>
              <a:rPr lang="en-US" sz="3000" spc="-30" dirty="0">
                <a:solidFill>
                  <a:prstClr val="black"/>
                </a:solidFill>
              </a:rPr>
              <a:t> </a:t>
            </a:r>
            <a:r>
              <a:rPr lang="en-US" spc="-30" dirty="0">
                <a:solidFill>
                  <a:prstClr val="black"/>
                </a:solidFill>
              </a:rPr>
              <a:t>compute</a:t>
            </a:r>
            <a:r>
              <a:rPr lang="en-US" sz="3000" spc="-30" dirty="0">
                <a:solidFill>
                  <a:prstClr val="black"/>
                </a:solidFill>
              </a:rPr>
              <a:t> </a:t>
            </a:r>
            <a:r>
              <a:rPr lang="en-US" spc="-30" dirty="0">
                <a:solidFill>
                  <a:prstClr val="black"/>
                </a:solidFill>
              </a:rPr>
              <a:t>an</a:t>
            </a:r>
            <a:r>
              <a:rPr lang="en-US" sz="3000" spc="-30" dirty="0">
                <a:solidFill>
                  <a:prstClr val="black"/>
                </a:solidFill>
              </a:rPr>
              <a:t> </a:t>
            </a:r>
            <a:r>
              <a:rPr lang="en-US" spc="-30" dirty="0">
                <a:solidFill>
                  <a:prstClr val="black"/>
                </a:solidFill>
              </a:rPr>
              <a:t>expression</a:t>
            </a:r>
            <a:r>
              <a:rPr lang="en-US" sz="3000" spc="-30" dirty="0">
                <a:solidFill>
                  <a:prstClr val="black"/>
                </a:solidFill>
              </a:rPr>
              <a:t> </a:t>
            </a:r>
            <a:r>
              <a:rPr lang="en-US" spc="-30" dirty="0">
                <a:solidFill>
                  <a:prstClr val="black"/>
                </a:solidFill>
              </a:rPr>
              <a:t>(can’t</a:t>
            </a:r>
            <a:r>
              <a:rPr lang="en-US" sz="3000" spc="-30" dirty="0">
                <a:solidFill>
                  <a:prstClr val="black"/>
                </a:solidFill>
              </a:rPr>
              <a:t> </a:t>
            </a:r>
            <a:r>
              <a:rPr lang="en-US" spc="-30" dirty="0">
                <a:solidFill>
                  <a:prstClr val="black"/>
                </a:solidFill>
              </a:rPr>
              <a:t>have</a:t>
            </a:r>
            <a:r>
              <a:rPr lang="en-US" sz="3000" spc="-30" dirty="0">
                <a:solidFill>
                  <a:prstClr val="black"/>
                </a:solidFill>
              </a:rPr>
              <a:t> </a:t>
            </a:r>
            <a:r>
              <a:rPr lang="en-US" spc="-30" dirty="0">
                <a:solidFill>
                  <a:prstClr val="black"/>
                </a:solidFill>
              </a:rPr>
              <a:t>statements),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i="1" dirty="0">
                <a:solidFill>
                  <a:prstClr val="black"/>
                </a:solidFill>
              </a:rPr>
              <a:t>if it gets used in an argument or expression</a:t>
            </a:r>
            <a:r>
              <a:rPr lang="en-US" dirty="0">
                <a:solidFill>
                  <a:prstClr val="black"/>
                </a:solidFill>
              </a:rPr>
              <a:t>:</a:t>
            </a:r>
          </a:p>
          <a:p>
            <a:pPr marL="404813" indent="0">
              <a:spcBef>
                <a:spcPts val="0"/>
              </a:spcBef>
              <a:buNone/>
            </a:pP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#define sum(</a:t>
            </a: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a,b,c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) (</a:t>
            </a: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a+b+c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  <a:b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</a:b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int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 main(){</a:t>
            </a: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printf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("%</a:t>
            </a: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d",sum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(1,2,3)}</a:t>
            </a:r>
          </a:p>
          <a:p>
            <a:pPr>
              <a:spcBef>
                <a:spcPts val="2400"/>
              </a:spcBef>
            </a:pPr>
            <a:r>
              <a:rPr lang="en-US" dirty="0">
                <a:solidFill>
                  <a:prstClr val="black"/>
                </a:solidFill>
              </a:rPr>
              <a:t>May contain statements, </a:t>
            </a:r>
            <a:r>
              <a:rPr lang="en-US" i="1" dirty="0">
                <a:solidFill>
                  <a:prstClr val="black"/>
                </a:solidFill>
              </a:rPr>
              <a:t>if used like a function call</a:t>
            </a:r>
            <a:r>
              <a:rPr lang="en-US" dirty="0">
                <a:solidFill>
                  <a:prstClr val="black"/>
                </a:solidFill>
              </a:rPr>
              <a:t>:</a:t>
            </a:r>
          </a:p>
          <a:p>
            <a:pPr marL="394107" lvl="1" indent="0">
              <a:spcBef>
                <a:spcPts val="0"/>
              </a:spcBef>
              <a:buNone/>
            </a:pP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#def</a:t>
            </a:r>
            <a:r>
              <a:rPr lang="en-US" sz="2600" spc="-50" dirty="0">
                <a:solidFill>
                  <a:srgbClr val="2D2DB9"/>
                </a:solidFill>
                <a:latin typeface="Lucida Console" panose="020B0609040504020204" pitchFamily="49" charset="0"/>
              </a:rPr>
              <a:t>i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ne</a:t>
            </a:r>
            <a:r>
              <a:rPr lang="en-US" sz="1900" dirty="0">
                <a:solidFill>
                  <a:srgbClr val="2D2DB9"/>
                </a:solidFill>
                <a:latin typeface="Lucida Console" panose="020B0609040504020204" pitchFamily="49" charset="0"/>
              </a:rPr>
              <a:t> 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ASSERT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(</a:t>
            </a:r>
            <a:r>
              <a:rPr lang="en-US" sz="2600" spc="-300" dirty="0">
                <a:solidFill>
                  <a:srgbClr val="2D2DB9"/>
                </a:solidFill>
                <a:latin typeface="Lucida Console" panose="020B0609040504020204" pitchFamily="49" charset="0"/>
              </a:rPr>
              <a:t>c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{</a:t>
            </a:r>
            <a:r>
              <a:rPr lang="en-US" sz="2600" spc="-50" dirty="0">
                <a:solidFill>
                  <a:srgbClr val="2D2DB9"/>
                </a:solidFill>
                <a:latin typeface="Lucida Console" panose="020B0609040504020204" pitchFamily="49" charset="0"/>
              </a:rPr>
              <a:t>i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400" dirty="0">
                <a:solidFill>
                  <a:srgbClr val="2D2DB9"/>
                </a:solidFill>
                <a:latin typeface="Lucida Console" panose="020B0609040504020204" pitchFamily="49" charset="0"/>
              </a:rPr>
              <a:t>(!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(c)){</a:t>
            </a: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pr</a:t>
            </a:r>
            <a:r>
              <a:rPr lang="en-US" sz="2600" spc="-5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i</a:t>
            </a:r>
            <a:r>
              <a:rPr lang="en-US" sz="26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nt</a:t>
            </a:r>
            <a:r>
              <a:rPr lang="en-US" sz="2600" spc="-3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f</a:t>
            </a:r>
            <a:r>
              <a:rPr lang="en-US" sz="2600" spc="-100" dirty="0">
                <a:solidFill>
                  <a:srgbClr val="2D2DB9"/>
                </a:solidFill>
                <a:latin typeface="Lucida Console" panose="020B0609040504020204" pitchFamily="49" charset="0"/>
              </a:rPr>
              <a:t>("E"</a:t>
            </a:r>
            <a:r>
              <a:rPr lang="en-US" sz="2600" spc="-50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300" dirty="0">
                <a:solidFill>
                  <a:srgbClr val="2D2DB9"/>
                </a:solidFill>
                <a:latin typeface="Lucida Console" panose="020B0609040504020204" pitchFamily="49" charset="0"/>
              </a:rPr>
              <a:t>;</a:t>
            </a:r>
            <a:r>
              <a:rPr lang="en-US" sz="2600" dirty="0">
                <a:solidFill>
                  <a:srgbClr val="2D2DB9"/>
                </a:solidFill>
                <a:latin typeface="Lucida Console" panose="020B0609040504020204" pitchFamily="49" charset="0"/>
              </a:rPr>
              <a:t>exi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t(1</a:t>
            </a:r>
            <a:r>
              <a:rPr lang="en-US" sz="2600" spc="-50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  <a:r>
              <a:rPr lang="en-US" sz="2600" spc="-300" dirty="0">
                <a:solidFill>
                  <a:srgbClr val="2D2DB9"/>
                </a:solidFill>
                <a:latin typeface="Lucida Console" panose="020B0609040504020204" pitchFamily="49" charset="0"/>
              </a:rPr>
              <a:t>;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}}</a:t>
            </a:r>
          </a:p>
          <a:p>
            <a:pPr marL="394107" lvl="1" indent="0">
              <a:spcBef>
                <a:spcPts val="0"/>
              </a:spcBef>
              <a:buNone/>
            </a:pPr>
            <a:r>
              <a:rPr lang="en-US" sz="2600" spc="-2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int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 main(){ASSERT(1</a:t>
            </a:r>
            <a:r>
              <a:rPr lang="en-US" sz="2600" spc="-200" dirty="0">
                <a:solidFill>
                  <a:srgbClr val="2D2DB9"/>
                </a:solidFill>
                <a:latin typeface="Arial Narrow" panose="020B0606020202030204" pitchFamily="34" charset="0"/>
              </a:rPr>
              <a:t>=</a:t>
            </a:r>
            <a:r>
              <a:rPr lang="en-US" sz="1900" spc="-200" dirty="0">
                <a:solidFill>
                  <a:srgbClr val="2D2DB9"/>
                </a:solidFill>
                <a:latin typeface="Arial Narrow" panose="020B0606020202030204" pitchFamily="34" charset="0"/>
              </a:rPr>
              <a:t> </a:t>
            </a:r>
            <a:r>
              <a:rPr lang="en-US" sz="2600" spc="-200" dirty="0">
                <a:solidFill>
                  <a:srgbClr val="2D2DB9"/>
                </a:solidFill>
                <a:latin typeface="Arial Narrow" panose="020B0606020202030204" pitchFamily="34" charset="0"/>
              </a:rPr>
              <a:t>=</a:t>
            </a:r>
            <a:r>
              <a:rPr lang="en-US" sz="2600" spc="-200" dirty="0">
                <a:solidFill>
                  <a:srgbClr val="2D2DB9"/>
                </a:solidFill>
                <a:latin typeface="Lucida Console" panose="020B0609040504020204" pitchFamily="49" charset="0"/>
              </a:rPr>
              <a:t>2);}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92895" y="0"/>
            <a:ext cx="9144000" cy="685800"/>
          </a:xfrm>
          <a:prstGeom prst="rect">
            <a:avLst/>
          </a:prstGeom>
          <a:solidFill>
            <a:schemeClr val="bg1"/>
          </a:solidFill>
        </p:spPr>
        <p:txBody>
          <a:bodyPr vert="horz" lIns="78823" tIns="15765" rIns="78823" bIns="39411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Lessons from C preprocessor #define</a:t>
            </a:r>
          </a:p>
        </p:txBody>
      </p:sp>
      <p:sp>
        <p:nvSpPr>
          <p:cNvPr id="2" name="Rectangle 1"/>
          <p:cNvSpPr/>
          <p:nvPr/>
        </p:nvSpPr>
        <p:spPr>
          <a:xfrm>
            <a:off x="292894" y="685800"/>
            <a:ext cx="9144000" cy="4876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ular Callout 2"/>
          <p:cNvSpPr/>
          <p:nvPr/>
        </p:nvSpPr>
        <p:spPr>
          <a:xfrm>
            <a:off x="1207294" y="2895600"/>
            <a:ext cx="6324600" cy="1981200"/>
          </a:xfrm>
          <a:prstGeom prst="wedgeRoundRectCallout">
            <a:avLst>
              <a:gd name="adj1" fmla="val -20833"/>
              <a:gd name="adj2" fmla="val 94230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4400" dirty="0">
                <a:solidFill>
                  <a:schemeClr val="tx1"/>
                </a:solidFill>
              </a:rPr>
              <a:t>Statements in #defines can be used in C to allow for clean iterators .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1207294" y="304800"/>
            <a:ext cx="6324600" cy="1981200"/>
          </a:xfrm>
          <a:prstGeom prst="wedgeRoundRectCallout">
            <a:avLst>
              <a:gd name="adj1" fmla="val -20833"/>
              <a:gd name="adj2" fmla="val 94230"/>
              <a:gd name="adj3" fmla="val 16667"/>
            </a:avLst>
          </a:prstGeom>
          <a:solidFill>
            <a:srgbClr val="C0DF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4400" dirty="0">
                <a:solidFill>
                  <a:schemeClr val="tx1"/>
                </a:solidFill>
              </a:rPr>
              <a:t>But Python is even cleaner, because it allows </a:t>
            </a:r>
            <a:r>
              <a:rPr lang="en-US" sz="4400" dirty="0">
                <a:solidFill>
                  <a:srgbClr val="7030A0"/>
                </a:solidFill>
              </a:rPr>
              <a:t>generator functions</a:t>
            </a:r>
            <a:r>
              <a:rPr lang="en-US" sz="4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5169694" y="2743200"/>
            <a:ext cx="3048000" cy="1981200"/>
          </a:xfrm>
          <a:prstGeom prst="wedgeRoundRectCallout">
            <a:avLst>
              <a:gd name="adj1" fmla="val -71628"/>
              <a:gd name="adj2" fmla="val -92549"/>
              <a:gd name="adj3" fmla="val 16667"/>
            </a:avLst>
          </a:prstGeom>
          <a:solidFill>
            <a:srgbClr val="B5B5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4400" dirty="0">
                <a:solidFill>
                  <a:schemeClr val="tx1"/>
                </a:solidFill>
              </a:rPr>
              <a:t>More on these next week…</a:t>
            </a:r>
          </a:p>
        </p:txBody>
      </p:sp>
    </p:spTree>
    <p:extLst>
      <p:ext uri="{BB962C8B-B14F-4D97-AF65-F5344CB8AC3E}">
        <p14:creationId xmlns:p14="http://schemas.microsoft.com/office/powerpoint/2010/main" val="90849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0"/>
            <a:ext cx="97297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en-US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Using conditionals in expressions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73894" y="838200"/>
            <a:ext cx="87630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Tx/>
              <a:buNone/>
              <a:defRPr sz="4300" b="1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 eaLnBrk="1" hangingPunct="1"/>
            <a:r>
              <a:rPr lang="en-US" altLang="zh-TW" sz="3200" b="0" dirty="0">
                <a:solidFill>
                  <a:srgbClr val="000000"/>
                </a:solidFill>
                <a:cs typeface="Times New Roman" panose="02020603050405020304" pitchFamily="18" charset="0"/>
              </a:rPr>
              <a:t>You know that you can’t put statements in expressions. Consider in C:</a:t>
            </a:r>
          </a:p>
          <a:p>
            <a:pPr algn="l" eaLnBrk="1" hangingPunct="1"/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</a:t>
            </a:r>
            <a:r>
              <a:rPr lang="en-US" altLang="zh-TW" sz="2400" b="0" dirty="0" err="1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printf</a:t>
            </a: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("abs(%d)=%d",</a:t>
            </a:r>
            <a:r>
              <a:rPr lang="en-US" altLang="zh-TW" sz="2400" b="0" dirty="0" err="1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x,if</a:t>
            </a: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(x&gt;0) x; else -x);</a:t>
            </a:r>
          </a:p>
          <a:p>
            <a:pPr algn="l" eaLnBrk="1" hangingPunct="1"/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                    </a:t>
            </a:r>
            <a:r>
              <a:rPr lang="en-US" altLang="zh-TW" sz="3600" b="0" baseline="300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  <a:sym typeface="Wingdings 3" panose="05040102010807070707" pitchFamily="18" charset="2"/>
              </a:rPr>
              <a:t></a:t>
            </a:r>
            <a:r>
              <a:rPr lang="en-US" altLang="zh-TW" sz="2400" b="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  <a:sym typeface="Wingdings 3" panose="05040102010807070707" pitchFamily="18" charset="2"/>
              </a:rPr>
              <a:t>syntax error</a:t>
            </a:r>
            <a:endParaRPr lang="en-US" altLang="zh-TW" sz="2400" b="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TW" sz="3200" b="0" dirty="0">
                <a:solidFill>
                  <a:srgbClr val="000000"/>
                </a:solidFill>
                <a:cs typeface="Times New Roman" panose="02020603050405020304" pitchFamily="18" charset="0"/>
              </a:rPr>
              <a:t>Even if we hide it in a #define, it’s still no good:</a:t>
            </a:r>
            <a:endParaRPr lang="en-US" altLang="zh-TW" sz="2400" b="0" dirty="0">
              <a:solidFill>
                <a:srgbClr val="00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buClrTx/>
            </a:pP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#define abs(x) if(x&gt;0) x; else</a:t>
            </a:r>
            <a:r>
              <a:rPr lang="en-US" altLang="zh-TW" sz="16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-x</a:t>
            </a:r>
          </a:p>
          <a:p>
            <a:pPr algn="l" eaLnBrk="1" hangingPunct="1">
              <a:lnSpc>
                <a:spcPct val="60000"/>
              </a:lnSpc>
              <a:spcBef>
                <a:spcPct val="0"/>
              </a:spcBef>
              <a:buClrTx/>
            </a:pP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</a:t>
            </a:r>
            <a:r>
              <a:rPr lang="en-US" altLang="zh-TW" sz="2400" b="0" spc="-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...</a:t>
            </a:r>
          </a:p>
          <a:p>
            <a:pPr algn="l" eaLnBrk="1" hangingPunct="1">
              <a:spcBef>
                <a:spcPct val="0"/>
              </a:spcBef>
              <a:buClrTx/>
            </a:pP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</a:t>
            </a:r>
            <a:r>
              <a:rPr lang="en-US" altLang="zh-TW" sz="2400" b="0" dirty="0" err="1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printf</a:t>
            </a: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("abs(%d)=%d",</a:t>
            </a:r>
            <a:r>
              <a:rPr lang="en-US" altLang="zh-TW" sz="2400" b="0" dirty="0" err="1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x,abs</a:t>
            </a: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(x));</a:t>
            </a:r>
          </a:p>
          <a:p>
            <a:pPr algn="l" eaLnBrk="1" hangingPunct="1">
              <a:spcBef>
                <a:spcPct val="0"/>
              </a:spcBef>
              <a:buClrTx/>
            </a:pP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                       </a:t>
            </a:r>
            <a:r>
              <a:rPr lang="en-US" altLang="zh-TW" sz="3600" b="0" baseline="300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  <a:sym typeface="Wingdings 3" panose="05040102010807070707" pitchFamily="18" charset="2"/>
              </a:rPr>
              <a:t></a:t>
            </a:r>
            <a:r>
              <a:rPr lang="en-US" altLang="zh-TW" sz="2400" b="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  <a:sym typeface="Wingdings 3" panose="05040102010807070707" pitchFamily="18" charset="2"/>
              </a:rPr>
              <a:t>syntax error</a:t>
            </a:r>
            <a:r>
              <a:rPr lang="en-US" altLang="zh-TW" sz="3200" b="0" dirty="0">
                <a:solidFill>
                  <a:srgbClr val="2D2DB9"/>
                </a:solidFill>
                <a:cs typeface="Times New Roman" panose="02020603050405020304" pitchFamily="18" charset="0"/>
              </a:rPr>
              <a:t>   </a:t>
            </a:r>
          </a:p>
          <a:p>
            <a:pPr algn="l" eaLnBrk="1" hangingPunct="1"/>
            <a:r>
              <a:rPr lang="en-US" altLang="zh-TW" sz="3200" b="0" dirty="0">
                <a:solidFill>
                  <a:srgbClr val="000000"/>
                </a:solidFill>
                <a:cs typeface="Times New Roman" panose="02020603050405020304" pitchFamily="18" charset="0"/>
              </a:rPr>
              <a:t>Of course, we could use a function:</a:t>
            </a:r>
          </a:p>
          <a:p>
            <a:pPr algn="l" eaLnBrk="1" hangingPunct="1">
              <a:spcBef>
                <a:spcPct val="0"/>
              </a:spcBef>
              <a:buClrTx/>
            </a:pP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</a:t>
            </a:r>
            <a:r>
              <a:rPr lang="en-US" altLang="zh-TW" sz="2400" b="0" dirty="0" err="1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int</a:t>
            </a: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abs(</a:t>
            </a:r>
            <a:r>
              <a:rPr lang="en-US" altLang="zh-TW" sz="2400" b="0" dirty="0" err="1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int</a:t>
            </a: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x){i</a:t>
            </a:r>
            <a:r>
              <a:rPr lang="en-US" altLang="zh-TW" sz="2400" b="0" spc="-6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f(x&gt;0</a:t>
            </a:r>
            <a:r>
              <a:rPr lang="en-US" altLang="zh-TW" sz="2400" b="0" spc="-2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return</a:t>
            </a:r>
            <a:r>
              <a:rPr lang="en-US" altLang="zh-TW" sz="1800" b="0" spc="-2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2400" b="0" spc="-70" dirty="0" err="1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en-US" altLang="zh-TW" sz="2400" b="0" spc="-50" dirty="0" err="1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;el</a:t>
            </a:r>
            <a:r>
              <a:rPr lang="en-US" altLang="zh-TW" sz="2400" b="0" spc="-20" dirty="0" err="1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</a:t>
            </a:r>
            <a:r>
              <a:rPr lang="en-US" altLang="zh-TW" sz="1800" b="0" spc="-2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2400" b="0" spc="-2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retu</a:t>
            </a: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rn</a:t>
            </a:r>
            <a:r>
              <a:rPr lang="en-US" altLang="zh-TW" sz="16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2400" b="0" spc="-1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-</a:t>
            </a:r>
            <a:r>
              <a:rPr lang="en-US" altLang="zh-TW" sz="2400" b="0" spc="-14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en-US" altLang="zh-TW" sz="2400" b="0" spc="-2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</a:t>
            </a:r>
            <a:r>
              <a:rPr lang="en-US" altLang="zh-TW" sz="2400" b="0" spc="-1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}</a:t>
            </a:r>
            <a:endParaRPr lang="en-US" altLang="zh-TW" sz="3200" b="0" spc="-100" dirty="0">
              <a:solidFill>
                <a:srgbClr val="2D2DB9"/>
              </a:solidFill>
              <a:cs typeface="Times New Roman" panose="02020603050405020304" pitchFamily="18" charset="0"/>
            </a:endParaRPr>
          </a:p>
          <a:p>
            <a:pPr algn="l" eaLnBrk="1" hangingPunct="1">
              <a:spcBef>
                <a:spcPts val="1200"/>
              </a:spcBef>
              <a:buClrTx/>
            </a:pPr>
            <a:r>
              <a:rPr lang="en-US" altLang="zh-TW" sz="3200" b="0" dirty="0">
                <a:solidFill>
                  <a:srgbClr val="000000"/>
                </a:solidFill>
                <a:cs typeface="Times New Roman" panose="02020603050405020304" pitchFamily="18" charset="0"/>
              </a:rPr>
              <a:t>But we also could have used the </a:t>
            </a:r>
            <a:r>
              <a:rPr lang="en-US" altLang="zh-TW" sz="3200" dirty="0">
                <a:solidFill>
                  <a:srgbClr val="FF0000"/>
                </a:solidFill>
                <a:cs typeface="Times New Roman" panose="02020603050405020304" pitchFamily="18" charset="0"/>
              </a:rPr>
              <a:t>?</a:t>
            </a:r>
            <a:r>
              <a:rPr lang="en-US" altLang="zh-TW" sz="3200" dirty="0">
                <a:solidFill>
                  <a:srgbClr val="339933"/>
                </a:solidFill>
                <a:cs typeface="Times New Roman" panose="02020603050405020304" pitchFamily="18" charset="0"/>
              </a:rPr>
              <a:t>:</a:t>
            </a:r>
            <a:r>
              <a:rPr lang="en-US" altLang="zh-TW" sz="3200" b="0" dirty="0">
                <a:solidFill>
                  <a:srgbClr val="000000"/>
                </a:solidFill>
                <a:cs typeface="Times New Roman" panose="02020603050405020304" pitchFamily="18" charset="0"/>
              </a:rPr>
              <a:t> syntax:</a:t>
            </a:r>
          </a:p>
          <a:p>
            <a:pPr algn="l" eaLnBrk="1" hangingPunct="1">
              <a:spcBef>
                <a:spcPts val="0"/>
              </a:spcBef>
              <a:buClrTx/>
            </a:pP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#define abs(x) (x&gt;0)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?</a:t>
            </a: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en-US" altLang="zh-TW" sz="24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</a:t>
            </a:r>
            <a:r>
              <a:rPr lang="en-US" altLang="zh-TW" sz="24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-x</a:t>
            </a:r>
          </a:p>
        </p:txBody>
      </p:sp>
    </p:spTree>
    <p:extLst>
      <p:ext uri="{BB962C8B-B14F-4D97-AF65-F5344CB8AC3E}">
        <p14:creationId xmlns:p14="http://schemas.microsoft.com/office/powerpoint/2010/main" val="172924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CC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CC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73894" y="1143000"/>
            <a:ext cx="8763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Tx/>
              <a:buNone/>
              <a:defRPr sz="4300" b="1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 eaLnBrk="1" hangingPunct="1">
              <a:spcBef>
                <a:spcPts val="780"/>
              </a:spcBef>
              <a:buClrTx/>
            </a:pPr>
            <a:r>
              <a:rPr lang="en-US" altLang="zh-TW" sz="3200" b="0" dirty="0">
                <a:solidFill>
                  <a:srgbClr val="000000"/>
                </a:solidFill>
                <a:cs typeface="Times New Roman" panose="02020603050405020304" pitchFamily="18" charset="0"/>
              </a:rPr>
              <a:t>C’s “?:” syntax:</a:t>
            </a:r>
          </a:p>
          <a:p>
            <a:pPr algn="l" eaLnBrk="1" hangingPunct="1">
              <a:spcBef>
                <a:spcPts val="780"/>
              </a:spcBef>
              <a:buClrTx/>
            </a:pPr>
            <a:r>
              <a:rPr lang="en-US" altLang="zh-TW" sz="2800" b="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28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TW" sz="2800" b="0" dirty="0" err="1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printf</a:t>
            </a:r>
            <a:r>
              <a:rPr lang="en-US" altLang="zh-TW" sz="28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("abs(x)=%d\n",</a:t>
            </a:r>
            <a:r>
              <a:rPr lang="en-US" altLang="zh-TW" sz="280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(x&gt;0)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?</a:t>
            </a: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-x</a:t>
            </a:r>
            <a:r>
              <a:rPr lang="en-US" altLang="zh-TW" sz="28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en-US" altLang="zh-TW" sz="2800" b="0" dirty="0">
              <a:solidFill>
                <a:srgbClr val="00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algn="l" eaLnBrk="1" hangingPunct="1">
              <a:spcBef>
                <a:spcPts val="780"/>
              </a:spcBef>
              <a:buClrTx/>
            </a:pPr>
            <a:endParaRPr lang="en-US" altLang="zh-TW" sz="3200" b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l" eaLnBrk="1" hangingPunct="1">
              <a:spcBef>
                <a:spcPts val="780"/>
              </a:spcBef>
              <a:buClrTx/>
            </a:pPr>
            <a:r>
              <a:rPr lang="en-US" altLang="zh-TW" sz="3200" b="0" dirty="0">
                <a:solidFill>
                  <a:srgbClr val="000000"/>
                </a:solidFill>
                <a:cs typeface="Times New Roman" panose="02020603050405020304" pitchFamily="18" charset="0"/>
              </a:rPr>
              <a:t>Python has an analogous syntax (</a:t>
            </a:r>
            <a:r>
              <a:rPr lang="zh-TW" altLang="en-US" sz="2800" b="0" dirty="0">
                <a:solidFill>
                  <a:srgbClr val="0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類似語法</a:t>
            </a:r>
            <a:r>
              <a:rPr lang="en-US" altLang="zh-TW" sz="3200" b="0" dirty="0">
                <a:solidFill>
                  <a:srgbClr val="000000"/>
                </a:solidFill>
                <a:cs typeface="Times New Roman" panose="02020603050405020304" pitchFamily="18" charset="0"/>
              </a:rPr>
              <a:t>):</a:t>
            </a:r>
          </a:p>
          <a:p>
            <a:pPr algn="l" eaLnBrk="1" hangingPunct="1">
              <a:spcBef>
                <a:spcPts val="780"/>
              </a:spcBef>
              <a:buClrTx/>
            </a:pPr>
            <a:r>
              <a:rPr lang="en-US" altLang="zh-TW" sz="28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print("abs(x)=", </a:t>
            </a: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en-US" altLang="zh-TW" sz="28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if </a:t>
            </a:r>
            <a:r>
              <a:rPr lang="en-US" altLang="zh-TW" sz="280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(x&gt;0)</a:t>
            </a:r>
            <a:r>
              <a:rPr lang="en-US" altLang="zh-TW" sz="28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else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-x</a:t>
            </a:r>
            <a:r>
              <a:rPr lang="en-US" altLang="zh-TW" sz="28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 </a:t>
            </a:r>
          </a:p>
          <a:p>
            <a:pPr algn="l" eaLnBrk="1" hangingPunct="1">
              <a:spcBef>
                <a:spcPts val="780"/>
              </a:spcBef>
              <a:buClrTx/>
            </a:pPr>
            <a:endParaRPr lang="en-US" altLang="zh-TW" sz="3200" b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l" eaLnBrk="1" hangingPunct="1">
              <a:spcBef>
                <a:spcPts val="780"/>
              </a:spcBef>
              <a:buClrTx/>
            </a:pPr>
            <a:r>
              <a:rPr lang="en-US" altLang="zh-TW" sz="3200" b="0" dirty="0">
                <a:solidFill>
                  <a:srgbClr val="000000"/>
                </a:solidFill>
                <a:cs typeface="Times New Roman" panose="02020603050405020304" pitchFamily="18" charset="0"/>
              </a:rPr>
              <a:t>Of course, in the above case, none of this is  necessary, because Python has abs() built-in:</a:t>
            </a:r>
          </a:p>
          <a:p>
            <a:pPr algn="l" eaLnBrk="1" hangingPunct="1">
              <a:spcBef>
                <a:spcPts val="780"/>
              </a:spcBef>
              <a:buClrTx/>
            </a:pPr>
            <a:r>
              <a:rPr lang="en-US" altLang="zh-TW" sz="2800" b="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print("abs(x)=",abs(x))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0"/>
            <a:ext cx="97297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en-US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Using conditionals in expressions</a:t>
            </a:r>
          </a:p>
        </p:txBody>
      </p:sp>
      <p:sp>
        <p:nvSpPr>
          <p:cNvPr id="2" name="Double Bracket 1"/>
          <p:cNvSpPr/>
          <p:nvPr/>
        </p:nvSpPr>
        <p:spPr bwMode="auto">
          <a:xfrm>
            <a:off x="638945" y="4648200"/>
            <a:ext cx="8382000" cy="1447800"/>
          </a:xfrm>
          <a:prstGeom prst="bracketPair">
            <a:avLst>
              <a:gd name="adj" fmla="val 9045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664494" y="4191000"/>
            <a:ext cx="6400800" cy="2362200"/>
            <a:chOff x="1371600" y="3733800"/>
            <a:chExt cx="6400800" cy="2362200"/>
          </a:xfrm>
          <a:solidFill>
            <a:srgbClr val="CCFFCC"/>
          </a:solidFill>
        </p:grpSpPr>
        <p:sp>
          <p:nvSpPr>
            <p:cNvPr id="10" name="矩形 1"/>
            <p:cNvSpPr/>
            <p:nvPr/>
          </p:nvSpPr>
          <p:spPr bwMode="auto">
            <a:xfrm>
              <a:off x="1371600" y="3733800"/>
              <a:ext cx="6400800" cy="23622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800" dirty="0">
                  <a:solidFill>
                    <a:srgbClr val="3333CC"/>
                  </a:solidFill>
                  <a:latin typeface="Times New Roman" charset="0"/>
                </a:rPr>
                <a:t>The</a:t>
              </a: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800" dirty="0">
                  <a:solidFill>
                    <a:srgbClr val="3333CC"/>
                  </a:solidFill>
                  <a:latin typeface="Times New Roman" charset="0"/>
                </a:rPr>
                <a:t>Python</a:t>
              </a: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800" dirty="0">
                  <a:solidFill>
                    <a:srgbClr val="3333CC"/>
                  </a:solidFill>
                  <a:latin typeface="Times New Roman" charset="0"/>
                </a:rPr>
                <a:t>lines</a:t>
              </a: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800" dirty="0">
                  <a:solidFill>
                    <a:srgbClr val="3333CC"/>
                  </a:solidFill>
                  <a:latin typeface="Times New Roman" charset="0"/>
                </a:rPr>
                <a:t>up</a:t>
              </a: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800" dirty="0">
                  <a:solidFill>
                    <a:srgbClr val="3333CC"/>
                  </a:solidFill>
                  <a:latin typeface="Times New Roman" charset="0"/>
                </a:rPr>
                <a:t>better</a:t>
              </a: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800" dirty="0">
                  <a:solidFill>
                    <a:srgbClr val="3333CC"/>
                  </a:solidFill>
                  <a:latin typeface="Times New Roman" charset="0"/>
                </a:rPr>
                <a:t>with</a:t>
              </a: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800" dirty="0">
                  <a:solidFill>
                    <a:srgbClr val="3333CC"/>
                  </a:solidFill>
                  <a:latin typeface="Times New Roman" charset="0"/>
                </a:rPr>
                <a:t>the</a:t>
              </a: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800" dirty="0">
                  <a:solidFill>
                    <a:srgbClr val="3333CC"/>
                  </a:solidFill>
                  <a:latin typeface="Times New Roman" charset="0"/>
                </a:rPr>
                <a:t>notation that is used to define abs(</a:t>
              </a:r>
              <a:r>
                <a:rPr lang="en-US" altLang="zh-TW" sz="1200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800" dirty="0">
                  <a:solidFill>
                    <a:srgbClr val="3333CC"/>
                  </a:solidFill>
                  <a:latin typeface="Times New Roman" charset="0"/>
                </a:rPr>
                <a:t>) in mathematics: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400" dirty="0">
                <a:solidFill>
                  <a:srgbClr val="3333CC"/>
                </a:solidFill>
                <a:latin typeface="Times New Roman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altLang="zh-TW" sz="1400" dirty="0">
                <a:solidFill>
                  <a:srgbClr val="3333CC"/>
                </a:solidFill>
                <a:latin typeface="Times New Roman" charset="0"/>
              </a:endParaRPr>
            </a:p>
            <a:p>
              <a:pPr fontAlgn="base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                                   x    </a:t>
              </a:r>
              <a:r>
                <a:rPr lang="en-US" altLang="zh-TW" sz="2400" i="1" dirty="0">
                  <a:solidFill>
                    <a:srgbClr val="3333CC"/>
                  </a:solidFill>
                  <a:latin typeface="Times New Roman" charset="0"/>
                </a:rPr>
                <a:t>if (x</a:t>
              </a:r>
              <a:r>
                <a:rPr lang="en-US" altLang="zh-TW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&gt;</a:t>
              </a:r>
              <a:r>
                <a:rPr lang="en-US" altLang="zh-TW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400" i="1" dirty="0">
                  <a:solidFill>
                    <a:srgbClr val="3333CC"/>
                  </a:solidFill>
                  <a:latin typeface="Times New Roman" charset="0"/>
                </a:rPr>
                <a:t>0)</a:t>
              </a:r>
            </a:p>
            <a:p>
              <a:pPr fontAlgn="base">
                <a:lnSpc>
                  <a:spcPct val="6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               abs(x)  =</a:t>
              </a:r>
            </a:p>
            <a:p>
              <a:pPr fontAlgn="base">
                <a:lnSpc>
                  <a:spcPct val="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                                 </a:t>
              </a:r>
              <a:r>
                <a:rPr lang="en-US" altLang="zh-TW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-x    </a:t>
              </a:r>
              <a:r>
                <a:rPr lang="en-US" altLang="zh-TW" sz="2400" i="1" dirty="0">
                  <a:solidFill>
                    <a:srgbClr val="3333CC"/>
                  </a:solidFill>
                  <a:latin typeface="Times New Roman" charset="0"/>
                </a:rPr>
                <a:t>if (x</a:t>
              </a:r>
              <a:r>
                <a:rPr lang="en-US" altLang="zh-TW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400" dirty="0">
                  <a:solidFill>
                    <a:srgbClr val="3333CC"/>
                  </a:solidFill>
                  <a:latin typeface="Times New Roman" charset="0"/>
                </a:rPr>
                <a:t>≤</a:t>
              </a:r>
              <a:r>
                <a:rPr lang="en-US" altLang="zh-TW" dirty="0">
                  <a:solidFill>
                    <a:srgbClr val="3333CC"/>
                  </a:solidFill>
                  <a:latin typeface="Times New Roman" charset="0"/>
                </a:rPr>
                <a:t> </a:t>
              </a:r>
              <a:r>
                <a:rPr lang="en-US" altLang="zh-TW" sz="2400" i="1" dirty="0">
                  <a:solidFill>
                    <a:srgbClr val="3333CC"/>
                  </a:solidFill>
                  <a:latin typeface="Times New Roman" charset="0"/>
                </a:rPr>
                <a:t>0)</a:t>
              </a:r>
              <a:endParaRPr lang="zh-TW" altLang="en-US" sz="2400" i="1" dirty="0">
                <a:solidFill>
                  <a:srgbClr val="3333CC"/>
                </a:solidFill>
                <a:latin typeface="Times New Roman" charset="0"/>
              </a:endParaRPr>
            </a:p>
          </p:txBody>
        </p:sp>
        <p:sp>
          <p:nvSpPr>
            <p:cNvPr id="11" name="左大括弧 2"/>
            <p:cNvSpPr/>
            <p:nvPr/>
          </p:nvSpPr>
          <p:spPr bwMode="auto">
            <a:xfrm>
              <a:off x="3810000" y="4996475"/>
              <a:ext cx="190658" cy="685800"/>
            </a:xfrm>
            <a:prstGeom prst="leftBrace">
              <a:avLst>
                <a:gd name="adj1" fmla="val 27948"/>
                <a:gd name="adj2" fmla="val 50000"/>
              </a:avLst>
            </a:prstGeom>
            <a:grpFill/>
            <a:ln w="19050" cap="flat" cmpd="sng" algn="ctr">
              <a:solidFill>
                <a:srgbClr val="2D2DB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649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73894" y="1143000"/>
            <a:ext cx="8763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Tx/>
              <a:buNone/>
              <a:defRPr sz="4300" b="1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 eaLnBrk="1" hangingPunct="1">
              <a:spcBef>
                <a:spcPts val="780"/>
              </a:spcBef>
              <a:buClrTx/>
            </a:pPr>
            <a:r>
              <a:rPr lang="en-US" altLang="zh-TW" sz="3200" b="0" dirty="0">
                <a:solidFill>
                  <a:srgbClr val="000000"/>
                </a:solidFill>
                <a:cs typeface="Times New Roman" panose="02020603050405020304" pitchFamily="18" charset="0"/>
              </a:rPr>
              <a:t>Since Python's lambda functions can only be expressions, the ability to put conditions into expressions is helpful:</a:t>
            </a:r>
          </a:p>
          <a:p>
            <a:pPr algn="l" eaLnBrk="1" hangingPunct="1">
              <a:spcBef>
                <a:spcPts val="0"/>
              </a:spcBef>
              <a:buClrTx/>
            </a:pPr>
            <a:r>
              <a:rPr lang="en-US" altLang="zh-TW" sz="2800" b="0" dirty="0">
                <a:solidFill>
                  <a:schemeClr val="bg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 </a:t>
            </a:r>
            <a:r>
              <a:rPr lang="en-US" altLang="zh-TW" sz="2800" b="0" dirty="0" err="1">
                <a:solidFill>
                  <a:srgbClr val="3333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clipsum</a:t>
            </a:r>
            <a:r>
              <a:rPr lang="en-US" altLang="zh-TW" sz="2800" b="0" dirty="0">
                <a:solidFill>
                  <a:srgbClr val="3333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=lambda arg1,arg2: </a:t>
            </a:r>
            <a:r>
              <a:rPr lang="en-US" altLang="zh-TW" sz="2800" b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\ </a:t>
            </a:r>
            <a:br>
              <a:rPr lang="en-US" altLang="zh-TW" sz="2800" b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</a:br>
            <a:r>
              <a:rPr lang="en-US" altLang="zh-TW" sz="2800" b="0" dirty="0">
                <a:solidFill>
                  <a:schemeClr val="bg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... </a:t>
            </a:r>
            <a:r>
              <a:rPr lang="en-US" altLang="zh-TW" sz="2800" b="0" dirty="0">
                <a:solidFill>
                  <a:srgbClr val="EEA2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arg1+arg2 if arg1+arg2&lt;100 </a:t>
            </a:r>
            <a:r>
              <a:rPr lang="en-US" altLang="zh-TW" sz="2800" b="0" dirty="0">
                <a:solidFill>
                  <a:srgbClr val="9630A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else 100</a:t>
            </a:r>
          </a:p>
          <a:p>
            <a:pPr algn="l" eaLnBrk="1" hangingPunct="1">
              <a:spcBef>
                <a:spcPts val="0"/>
              </a:spcBef>
              <a:buClrTx/>
            </a:pPr>
            <a:r>
              <a:rPr lang="en-US" altLang="zh-TW" sz="2800" b="0" dirty="0">
                <a:solidFill>
                  <a:schemeClr val="bg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 </a:t>
            </a:r>
            <a:r>
              <a:rPr lang="en-US" altLang="zh-TW" sz="2800" b="0" dirty="0" err="1">
                <a:solidFill>
                  <a:srgbClr val="3333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clipsum</a:t>
            </a:r>
            <a:r>
              <a:rPr lang="en-US" altLang="zh-TW" sz="2800" b="0" dirty="0">
                <a:solidFill>
                  <a:srgbClr val="3333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(50,40</a:t>
            </a:r>
            <a:r>
              <a:rPr lang="en-US" altLang="zh-TW" sz="2800" b="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algn="l" eaLnBrk="1" hangingPunct="1">
              <a:spcBef>
                <a:spcPts val="0"/>
              </a:spcBef>
              <a:buClrTx/>
            </a:pPr>
            <a:r>
              <a:rPr lang="en-US" altLang="zh-TW" sz="2800" b="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90</a:t>
            </a:r>
          </a:p>
          <a:p>
            <a:pPr algn="l" eaLnBrk="1" hangingPunct="1">
              <a:spcBef>
                <a:spcPts val="0"/>
              </a:spcBef>
              <a:buClrTx/>
            </a:pPr>
            <a:r>
              <a:rPr lang="en-US" altLang="zh-TW" sz="2800" b="0" dirty="0">
                <a:solidFill>
                  <a:schemeClr val="bg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 </a:t>
            </a:r>
            <a:r>
              <a:rPr lang="en-US" altLang="zh-TW" sz="2800" b="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clipsum</a:t>
            </a:r>
            <a:r>
              <a:rPr lang="en-US" altLang="zh-TW" sz="2800" b="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(50,60)</a:t>
            </a:r>
          </a:p>
          <a:p>
            <a:pPr algn="l" eaLnBrk="1" hangingPunct="1">
              <a:spcBef>
                <a:spcPts val="0"/>
              </a:spcBef>
              <a:buClrTx/>
            </a:pPr>
            <a:r>
              <a:rPr lang="en-US" altLang="zh-TW" sz="2800" b="0" dirty="0">
                <a:solidFill>
                  <a:srgbClr val="9630A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100</a:t>
            </a:r>
          </a:p>
          <a:p>
            <a:pPr algn="l" eaLnBrk="1" hangingPunct="1">
              <a:spcBef>
                <a:spcPts val="0"/>
              </a:spcBef>
              <a:buClrTx/>
            </a:pPr>
            <a:r>
              <a:rPr lang="en-US" altLang="zh-TW" sz="2800" b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0"/>
            <a:ext cx="97297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en-US" kern="0" dirty="0">
                <a:solidFill>
                  <a:srgbClr val="0070C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Using conditionals in expressions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73894" y="1143000"/>
            <a:ext cx="9144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Tx/>
              <a:buNone/>
              <a:defRPr sz="4300" b="1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 eaLnBrk="1" hangingPunct="1">
              <a:spcBef>
                <a:spcPts val="780"/>
              </a:spcBef>
              <a:buClrTx/>
            </a:pPr>
            <a:br>
              <a:rPr lang="en-US" altLang="zh-TW" sz="3200" b="0" dirty="0">
                <a:solidFill>
                  <a:srgbClr val="000000"/>
                </a:solidFill>
                <a:cs typeface="Times New Roman" panose="02020603050405020304" pitchFamily="18" charset="0"/>
              </a:rPr>
            </a:br>
            <a:br>
              <a:rPr lang="en-US" altLang="zh-TW" sz="3200" b="0" dirty="0">
                <a:solidFill>
                  <a:srgbClr val="000000"/>
                </a:solidFill>
                <a:cs typeface="Times New Roman" panose="02020603050405020304" pitchFamily="18" charset="0"/>
              </a:rPr>
            </a:br>
            <a:endParaRPr lang="en-US" altLang="zh-TW" sz="3200" b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l" eaLnBrk="1" hangingPunct="1">
              <a:spcBef>
                <a:spcPts val="0"/>
              </a:spcBef>
              <a:buClrTx/>
            </a:pPr>
            <a:r>
              <a:rPr lang="en-US" altLang="zh-TW" sz="2800" b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</a:p>
          <a:p>
            <a:pPr algn="l" eaLnBrk="1" hangingPunct="1">
              <a:spcBef>
                <a:spcPts val="0"/>
              </a:spcBef>
              <a:buClrTx/>
            </a:pPr>
            <a:r>
              <a:rPr lang="en-US" altLang="zh-TW" sz="2800" b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... </a:t>
            </a:r>
          </a:p>
          <a:p>
            <a:pPr algn="l" eaLnBrk="1" hangingPunct="1">
              <a:spcBef>
                <a:spcPts val="0"/>
              </a:spcBef>
              <a:buClrTx/>
            </a:pPr>
            <a:r>
              <a:rPr lang="en-US" altLang="zh-TW" sz="2800" b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altLang="zh-TW" sz="2800" b="0" dirty="0">
              <a:solidFill>
                <a:schemeClr val="accent2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algn="l" eaLnBrk="1" hangingPunct="1">
              <a:spcBef>
                <a:spcPts val="0"/>
              </a:spcBef>
              <a:buClrTx/>
            </a:pPr>
            <a:endParaRPr lang="en-US" altLang="zh-TW" sz="2800" b="0" dirty="0">
              <a:solidFill>
                <a:srgbClr val="FFC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algn="l" eaLnBrk="1" hangingPunct="1">
              <a:spcBef>
                <a:spcPts val="0"/>
              </a:spcBef>
              <a:buClrTx/>
            </a:pPr>
            <a:r>
              <a:rPr lang="en-US" altLang="zh-TW" sz="2800" b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altLang="zh-TW" sz="2800" b="0" dirty="0">
              <a:solidFill>
                <a:schemeClr val="accent2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algn="l" eaLnBrk="1" hangingPunct="1">
              <a:spcBef>
                <a:spcPts val="0"/>
              </a:spcBef>
              <a:buClrTx/>
            </a:pPr>
            <a:endParaRPr lang="en-US" altLang="zh-TW" sz="2800" b="0" dirty="0">
              <a:solidFill>
                <a:srgbClr val="7030A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76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8256" y="609600"/>
            <a:ext cx="10333038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285750" indent="-285750">
              <a:lnSpc>
                <a:spcPct val="90000"/>
              </a:lnSpc>
              <a:spcBef>
                <a:spcPts val="1200"/>
              </a:spcBef>
            </a:pPr>
            <a:r>
              <a:rPr lang="en-US" altLang="en-US" sz="2800" dirty="0"/>
              <a:t>When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0070C0"/>
                </a:solidFill>
              </a:rPr>
              <a:t>non-</a:t>
            </a:r>
            <a:r>
              <a:rPr lang="en-US" altLang="en-US" sz="2800" b="1" spc="-100" dirty="0" err="1">
                <a:solidFill>
                  <a:srgbClr val="0070C0"/>
                </a:solidFill>
              </a:rPr>
              <a:t>booleans</a:t>
            </a:r>
            <a:r>
              <a:rPr lang="en-US" altLang="en-US" sz="2400" dirty="0"/>
              <a:t> </a:t>
            </a:r>
            <a:r>
              <a:rPr lang="en-US" altLang="en-US" sz="2800" dirty="0"/>
              <a:t>are</a:t>
            </a:r>
            <a:r>
              <a:rPr lang="en-US" altLang="en-US" sz="2400" dirty="0"/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used</a:t>
            </a:r>
            <a:r>
              <a:rPr lang="en-US" altLang="en-US" sz="2400" b="1" spc="-100" dirty="0">
                <a:solidFill>
                  <a:srgbClr val="7030A0"/>
                </a:solidFill>
              </a:rPr>
              <a:t> </a:t>
            </a:r>
            <a:r>
              <a:rPr lang="en-US" altLang="en-US" sz="2800" b="1" spc="-100" dirty="0">
                <a:solidFill>
                  <a:srgbClr val="7030A0"/>
                </a:solidFill>
              </a:rPr>
              <a:t>as </a:t>
            </a:r>
            <a:r>
              <a:rPr lang="en-US" altLang="en-US" sz="2800" b="1" spc="-100" dirty="0" err="1">
                <a:solidFill>
                  <a:srgbClr val="7030A0"/>
                </a:solidFill>
              </a:rPr>
              <a:t>booleans</a:t>
            </a:r>
            <a:r>
              <a:rPr lang="en-US" altLang="en-US" sz="2800" dirty="0"/>
              <a:t>,</a:t>
            </a:r>
            <a:r>
              <a:rPr lang="en-US" altLang="en-US" sz="24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r>
              <a:rPr lang="en-US" altLang="en-US" sz="2400" dirty="0"/>
              <a:t> </a:t>
            </a:r>
            <a:r>
              <a:rPr lang="en-US" altLang="en-US" sz="2800" dirty="0"/>
              <a:t>is</a:t>
            </a:r>
            <a:r>
              <a:rPr lang="en-US" altLang="en-US" sz="2400" dirty="0"/>
              <a:t> </a:t>
            </a:r>
            <a:r>
              <a:rPr lang="en-US" altLang="en-US" sz="2800" dirty="0"/>
              <a:t>treated</a:t>
            </a:r>
            <a:r>
              <a:rPr lang="en-US" altLang="en-US" sz="2400" dirty="0"/>
              <a:t> </a:t>
            </a:r>
            <a:r>
              <a:rPr lang="en-US" altLang="en-US" sz="2800" dirty="0"/>
              <a:t>as </a:t>
            </a:r>
            <a:r>
              <a:rPr lang="en-US" altLang="en-US" sz="2800" dirty="0">
                <a:solidFill>
                  <a:srgbClr val="000000"/>
                </a:solidFill>
              </a:rPr>
              <a:t>False</a:t>
            </a:r>
            <a:r>
              <a:rPr lang="en-US" altLang="en-US" sz="2800" dirty="0">
                <a:solidFill>
                  <a:srgbClr val="FFC000"/>
                </a:solidFill>
              </a:rPr>
              <a:t> </a:t>
            </a:r>
            <a:r>
              <a:rPr lang="en-US" altLang="en-US" sz="2800" dirty="0"/>
              <a:t>(</a:t>
            </a:r>
            <a:r>
              <a:rPr lang="en-US" altLang="en-US" dirty="0"/>
              <a:t>just like in C++, </a:t>
            </a:r>
            <a:r>
              <a:rPr lang="en-US" altLang="en-US" dirty="0" err="1"/>
              <a:t>eg</a:t>
            </a:r>
            <a:r>
              <a:rPr lang="en-US" altLang="en-US" dirty="0"/>
              <a:t>:  </a:t>
            </a:r>
            <a:r>
              <a:rPr lang="en-US" altLang="en-US" i="1" dirty="0" err="1"/>
              <a:t>cin</a:t>
            </a:r>
            <a:r>
              <a:rPr lang="en-US" altLang="en-US" i="1" dirty="0"/>
              <a:t>&gt;&gt;x; if (</a:t>
            </a:r>
            <a:r>
              <a:rPr lang="en-US" altLang="en-US" b="1" i="1" dirty="0">
                <a:solidFill>
                  <a:srgbClr val="7030A0"/>
                </a:solidFill>
              </a:rPr>
              <a:t>!</a:t>
            </a:r>
            <a:r>
              <a:rPr lang="en-US" altLang="en-US" i="1" dirty="0">
                <a:solidFill>
                  <a:srgbClr val="FF0000"/>
                </a:solidFill>
              </a:rPr>
              <a:t>x</a:t>
            </a:r>
            <a:r>
              <a:rPr lang="en-US" altLang="en-US" i="1" dirty="0"/>
              <a:t>)</a:t>
            </a:r>
            <a:r>
              <a:rPr lang="en-US" altLang="en-US" i="1" dirty="0" err="1"/>
              <a:t>cout</a:t>
            </a:r>
            <a:r>
              <a:rPr lang="en-US" altLang="en-US" i="1" dirty="0"/>
              <a:t>&lt;&lt; "</a:t>
            </a:r>
            <a:r>
              <a:rPr lang="en-US" altLang="en-US" i="1" dirty="0">
                <a:solidFill>
                  <a:srgbClr val="FFC000"/>
                </a:solidFill>
              </a:rPr>
              <a:t>It was 0.</a:t>
            </a:r>
            <a:r>
              <a:rPr lang="en-US" altLang="en-US" i="1" dirty="0"/>
              <a:t>";</a:t>
            </a:r>
            <a:r>
              <a:rPr lang="en-US" altLang="en-US" sz="2800" dirty="0"/>
              <a:t>)</a:t>
            </a:r>
          </a:p>
          <a:p>
            <a:pPr lvl="1">
              <a:lnSpc>
                <a:spcPct val="70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00B05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True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0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50" dirty="0"/>
              <a:t>G</a:t>
            </a:r>
            <a:r>
              <a:rPr lang="en-US" altLang="en-US" sz="2800" spc="-70" dirty="0"/>
              <a:t>oin</a:t>
            </a:r>
            <a:r>
              <a:rPr lang="en-US" altLang="en-US" sz="2800" spc="-50" dirty="0"/>
              <a:t>g</a:t>
            </a:r>
            <a:r>
              <a:rPr lang="en-US" altLang="en-US" spc="-50" dirty="0"/>
              <a:t> </a:t>
            </a:r>
            <a:r>
              <a:rPr lang="en-US" altLang="en-US" sz="2800" spc="-50" dirty="0"/>
              <a:t>b</a:t>
            </a:r>
            <a:r>
              <a:rPr lang="en-US" altLang="en-US" sz="2800" spc="-110" dirty="0"/>
              <a:t>ey</a:t>
            </a:r>
            <a:r>
              <a:rPr lang="en-US" altLang="en-US" sz="2800" spc="-70" dirty="0"/>
              <a:t>on</a:t>
            </a:r>
            <a:r>
              <a:rPr lang="en-US" altLang="en-US" sz="2800" spc="-50" dirty="0"/>
              <a:t>d</a:t>
            </a:r>
            <a:r>
              <a:rPr lang="en-US" altLang="en-US" sz="2400" spc="-50" dirty="0"/>
              <a:t> </a:t>
            </a:r>
            <a:r>
              <a:rPr lang="en-US" altLang="en-US" sz="2800" spc="-160" dirty="0">
                <a:solidFill>
                  <a:srgbClr val="000000"/>
                </a:solidFill>
                <a:cs typeface="+mn-cs"/>
              </a:rPr>
              <a:t>C</a:t>
            </a:r>
            <a:r>
              <a:rPr lang="en-US" altLang="en-US" spc="-50" dirty="0">
                <a:solidFill>
                  <a:srgbClr val="000000"/>
                </a:solidFill>
                <a:cs typeface="+mn-cs"/>
              </a:rPr>
              <a:t>+</a:t>
            </a:r>
            <a:r>
              <a:rPr lang="en-US" altLang="en-US" spc="-460" dirty="0">
                <a:solidFill>
                  <a:srgbClr val="000000"/>
                </a:solidFill>
                <a:cs typeface="+mn-cs"/>
              </a:rPr>
              <a:t>+</a:t>
            </a:r>
            <a:r>
              <a:rPr lang="en-US" altLang="en-US" sz="2800" spc="-50" dirty="0">
                <a:solidFill>
                  <a:srgbClr val="000000"/>
                </a:solidFill>
                <a:cs typeface="+mn-cs"/>
              </a:rPr>
              <a:t>,</a:t>
            </a:r>
            <a:r>
              <a:rPr lang="en-US" altLang="en-US" sz="2400" spc="-50" dirty="0">
                <a:solidFill>
                  <a:srgbClr val="000000"/>
                </a:solidFill>
                <a:cs typeface="+mn-cs"/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  <a:cs typeface="+mn-cs"/>
              </a:rPr>
              <a:t>Pyt</a:t>
            </a:r>
            <a:r>
              <a:rPr lang="en-US" altLang="en-US" sz="2800" spc="-70" dirty="0">
                <a:solidFill>
                  <a:srgbClr val="000000"/>
                </a:solidFill>
                <a:cs typeface="+mn-cs"/>
              </a:rPr>
              <a:t>hon</a:t>
            </a:r>
            <a:r>
              <a:rPr lang="en-US" altLang="en-US" sz="2400" spc="-70" dirty="0">
                <a:solidFill>
                  <a:srgbClr val="000000"/>
                </a:solidFill>
                <a:cs typeface="+mn-cs"/>
              </a:rPr>
              <a:t> </a:t>
            </a:r>
            <a:r>
              <a:rPr lang="en-US" altLang="en-US" sz="2800" spc="-70" dirty="0">
                <a:solidFill>
                  <a:srgbClr val="000000"/>
                </a:solidFill>
                <a:cs typeface="+mn-cs"/>
              </a:rPr>
              <a:t>als</a:t>
            </a:r>
            <a:r>
              <a:rPr lang="en-US" altLang="en-US" sz="2800" spc="-50" dirty="0">
                <a:solidFill>
                  <a:srgbClr val="000000"/>
                </a:solidFill>
                <a:cs typeface="+mn-cs"/>
              </a:rPr>
              <a:t>o</a:t>
            </a:r>
            <a:r>
              <a:rPr lang="en-US" altLang="en-US" sz="2400" spc="-50" dirty="0">
                <a:solidFill>
                  <a:srgbClr val="000000"/>
                </a:solidFill>
                <a:cs typeface="+mn-cs"/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  <a:cs typeface="+mn-cs"/>
              </a:rPr>
              <a:t>treats</a:t>
            </a:r>
            <a:r>
              <a:rPr lang="en-US" altLang="en-US" sz="2400" spc="-50" dirty="0">
                <a:solidFill>
                  <a:srgbClr val="000000"/>
                </a:solidFill>
                <a:cs typeface="+mn-cs"/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  <a:cs typeface="+mn-cs"/>
              </a:rPr>
              <a:t>empty</a:t>
            </a:r>
            <a:r>
              <a:rPr lang="en-US" altLang="en-US" sz="2000" spc="-50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  <a:cs typeface="+mn-cs"/>
              </a:rPr>
              <a:t>things</a:t>
            </a:r>
            <a:r>
              <a:rPr lang="en-US" altLang="en-US" sz="2400" spc="-50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altLang="en-US" sz="2800" spc="-50" dirty="0">
                <a:solidFill>
                  <a:srgbClr val="000000"/>
                </a:solidFill>
                <a:cs typeface="+mn-cs"/>
              </a:rPr>
              <a:t>as </a:t>
            </a:r>
            <a:r>
              <a:rPr lang="en-US" altLang="en-US" sz="2800" spc="-210" dirty="0">
                <a:solidFill>
                  <a:srgbClr val="FFC000"/>
                </a:solidFill>
                <a:cs typeface="+mn-cs"/>
              </a:rPr>
              <a:t>F</a:t>
            </a:r>
            <a:r>
              <a:rPr lang="en-US" altLang="en-US" sz="2800" spc="-50" dirty="0">
                <a:solidFill>
                  <a:srgbClr val="FFC000"/>
                </a:solidFill>
                <a:cs typeface="+mn-cs"/>
              </a:rPr>
              <a:t>als</a:t>
            </a:r>
            <a:r>
              <a:rPr lang="en-US" altLang="en-US" sz="2800" spc="-100" dirty="0">
                <a:solidFill>
                  <a:srgbClr val="FFC000"/>
                </a:solidFill>
                <a:cs typeface="+mn-cs"/>
              </a:rPr>
              <a:t>e</a:t>
            </a:r>
            <a:r>
              <a:rPr lang="en-US" altLang="en-US" sz="2800" spc="-50" dirty="0"/>
              <a:t>: </a:t>
            </a:r>
          </a:p>
          <a:p>
            <a:pPr lvl="1">
              <a:lnSpc>
                <a:spcPct val="70000"/>
              </a:lnSpc>
              <a:spcBef>
                <a:spcPts val="30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 </a:t>
            </a:r>
            <a:r>
              <a:rPr lang="en-US" altLang="en-US" sz="2200" b="1" dirty="0" err="1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not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""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[]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()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{}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set() 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FFC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False</a:t>
            </a:r>
          </a:p>
          <a:p>
            <a:pPr marL="285750" indent="-285750">
              <a:spcBef>
                <a:spcPts val="900"/>
              </a:spcBef>
            </a:pPr>
            <a:r>
              <a:rPr lang="en-US" altLang="en-US" sz="2800" spc="-100" dirty="0"/>
              <a:t>No</a:t>
            </a:r>
            <a:r>
              <a:rPr lang="en-US" altLang="en-US" sz="2800" spc="-80" dirty="0"/>
              <a:t>n-</a:t>
            </a:r>
            <a:r>
              <a:rPr lang="en-US" altLang="en-US" sz="2800" spc="-80" dirty="0" err="1"/>
              <a:t>boolean</a:t>
            </a:r>
            <a:r>
              <a:rPr lang="en-US" altLang="en-US" sz="2800" spc="-50" dirty="0" err="1"/>
              <a:t>s</a:t>
            </a:r>
            <a:r>
              <a:rPr lang="en-US" altLang="en-US" sz="1800" dirty="0"/>
              <a:t> </a:t>
            </a:r>
            <a:r>
              <a:rPr lang="en-US" altLang="en-US" sz="2800" b="1" i="1" spc="-100" dirty="0"/>
              <a:t>keep their original value</a:t>
            </a:r>
            <a:r>
              <a:rPr lang="en-US" altLang="en-US" sz="2800" b="1" i="1" spc="-300" dirty="0"/>
              <a:t>s</a:t>
            </a:r>
            <a:r>
              <a:rPr lang="en-US" altLang="en-US" sz="2800" dirty="0"/>
              <a:t>,</a:t>
            </a:r>
            <a:r>
              <a:rPr lang="en-US" altLang="en-US" sz="1800" dirty="0"/>
              <a:t> </a:t>
            </a:r>
            <a:r>
              <a:rPr lang="en-US" altLang="en-US" sz="2800" spc="-50" dirty="0"/>
              <a:t>w</a:t>
            </a:r>
            <a:r>
              <a:rPr lang="en-US" altLang="en-US" sz="2800" spc="-80" dirty="0"/>
              <a:t>he</a:t>
            </a:r>
            <a:r>
              <a:rPr lang="en-US" altLang="en-US" sz="2800" spc="-50" dirty="0"/>
              <a:t>n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used</a:t>
            </a:r>
            <a:r>
              <a:rPr lang="en-US" altLang="en-US" sz="2400" spc="-50" dirty="0"/>
              <a:t> </a:t>
            </a:r>
            <a:r>
              <a:rPr lang="en-US" altLang="en-US" sz="2800" spc="-50" dirty="0"/>
              <a:t>in</a:t>
            </a:r>
            <a:r>
              <a:rPr lang="en-US" altLang="en-US" sz="2400" spc="-50" dirty="0"/>
              <a:t> </a:t>
            </a:r>
            <a:r>
              <a:rPr lang="en-US" altLang="en-US" sz="2800" spc="-80" dirty="0"/>
              <a:t>logi</a:t>
            </a:r>
            <a:r>
              <a:rPr lang="en-US" altLang="en-US" sz="2800" spc="-100" dirty="0"/>
              <a:t>c</a:t>
            </a:r>
            <a:r>
              <a:rPr lang="en-US" altLang="en-US" sz="2800" dirty="0"/>
              <a:t>:</a:t>
            </a:r>
          </a:p>
          <a:p>
            <a:pPr lvl="1">
              <a:lnSpc>
                <a:spcPct val="75000"/>
              </a:lnSpc>
              <a:spcBef>
                <a:spcPts val="300"/>
              </a:spcBef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...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#</a:t>
            </a:r>
            <a:r>
              <a:rPr lang="en-US" altLang="en-US" sz="2200" spc="-40" dirty="0">
                <a:solidFill>
                  <a:srgbClr val="FF9393"/>
                </a:solidFill>
                <a:cs typeface="Arial" panose="020B0604020202020204" pitchFamily="34" charset="0"/>
              </a:rPr>
              <a:t>yo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u still </a:t>
            </a:r>
            <a:r>
              <a:rPr lang="en-US" altLang="en-US" sz="2200" spc="-40" dirty="0">
                <a:solidFill>
                  <a:srgbClr val="FF9393"/>
                </a:solidFill>
                <a:cs typeface="Arial" panose="020B0604020202020204" pitchFamily="34" charset="0"/>
              </a:rPr>
              <a:t>need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 to </a:t>
            </a:r>
            <a:r>
              <a:rPr lang="en-US" altLang="en-US" sz="2200" spc="-50" dirty="0">
                <a:solidFill>
                  <a:srgbClr val="FF9393"/>
                </a:solidFill>
                <a:cs typeface="Arial" panose="020B0604020202020204" pitchFamily="34" charset="0"/>
              </a:rPr>
              <a:t>evaluate 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t</a:t>
            </a:r>
            <a:r>
              <a:rPr lang="en-US" altLang="en-US" sz="2200" spc="-50" dirty="0">
                <a:solidFill>
                  <a:srgbClr val="FF9393"/>
                </a:solidFill>
                <a:cs typeface="Arial" panose="020B0604020202020204" pitchFamily="34" charset="0"/>
              </a:rPr>
              <a:t>h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e 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something</a:t>
            </a:r>
            <a:r>
              <a:rPr lang="en-US" altLang="en-US" sz="2200" dirty="0">
                <a:solidFill>
                  <a:srgbClr val="FF9393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200" spc="-40" dirty="0">
                <a:solidFill>
                  <a:srgbClr val="FF9393"/>
                </a:solidFill>
                <a:cs typeface="Arial" panose="020B0604020202020204" pitchFamily="34" charset="0"/>
              </a:rPr>
              <a:t>so we get an answer o</a:t>
            </a:r>
            <a:r>
              <a:rPr lang="en-US" altLang="en-US" sz="2200" dirty="0">
                <a:solidFill>
                  <a:srgbClr val="FF9393"/>
                </a:solidFill>
                <a:cs typeface="Arial" panose="020B0604020202020204" pitchFamily="34" charset="0"/>
              </a:rPr>
              <a:t>f: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200" spc="-100" dirty="0">
                <a:solidFill>
                  <a:srgbClr val="FFFFF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r>
              <a:rPr lang="en-US" altLang="en-US" sz="18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en-US" sz="2200" spc="-100" dirty="0">
                <a:solidFill>
                  <a:srgbClr val="BFBFBF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5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6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</a:t>
            </a:r>
            <a:r>
              <a:rPr lang="en-US" altLang="en-US" sz="16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and</a:t>
            </a:r>
            <a:r>
              <a:rPr lang="en-US" altLang="en-US" sz="20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  <a:r>
              <a:rPr lang="en-US" altLang="en-US" sz="2200" dirty="0">
                <a:solidFill>
                  <a:srgbClr val="FF9393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#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The</a:t>
            </a:r>
            <a:r>
              <a:rPr lang="en-US" altLang="en-US" sz="2000" spc="-30" dirty="0">
                <a:solidFill>
                  <a:srgbClr val="FF9393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spc="-30" dirty="0">
                <a:solidFill>
                  <a:srgbClr val="FF9393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1100" spc="-30" dirty="0">
                <a:solidFill>
                  <a:srgbClr val="FF9393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spc="-30" dirty="0">
                <a:solidFill>
                  <a:srgbClr val="FF9393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sz="2000" spc="-30" dirty="0">
                <a:solidFill>
                  <a:srgbClr val="FF9393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aren’t needed:</a:t>
            </a:r>
            <a:r>
              <a:rPr lang="en-US" altLang="en-US" sz="2000" spc="-30" dirty="0">
                <a:solidFill>
                  <a:srgbClr val="FF9393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spc="-2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</a:t>
            </a:r>
            <a:r>
              <a:rPr lang="en-US" altLang="en-US" sz="2200" spc="-3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r</a:t>
            </a:r>
            <a:r>
              <a:rPr lang="en-US" altLang="en-US" sz="2200" spc="-3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has precedence </a:t>
            </a:r>
            <a:r>
              <a:rPr lang="en-US" altLang="en-US" sz="2200" spc="-100" dirty="0">
                <a:solidFill>
                  <a:srgbClr val="FF9393"/>
                </a:solidFill>
                <a:cs typeface="Arial" panose="020B0604020202020204" pitchFamily="34" charset="0"/>
              </a:rPr>
              <a:t>ov</a:t>
            </a:r>
            <a:r>
              <a:rPr lang="en-US" altLang="en-US" sz="2200" spc="-30" dirty="0">
                <a:solidFill>
                  <a:srgbClr val="FF9393"/>
                </a:solidFill>
                <a:cs typeface="Arial" panose="020B0604020202020204" pitchFamily="34" charset="0"/>
              </a:rPr>
              <a:t>er </a:t>
            </a:r>
            <a:r>
              <a:rPr lang="en-US" altLang="en-US" sz="2200" spc="-10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an</a:t>
            </a:r>
            <a:r>
              <a:rPr lang="en-US" altLang="en-US" sz="2200" spc="-30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d</a:t>
            </a:r>
          </a:p>
          <a:p>
            <a:pPr marL="457200" lvl="1" indent="0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en-US" sz="2200" b="1" spc="-100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7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itchFamily="49" charset="0"/>
              </a:rPr>
              <a:t>&gt;&gt;&gt;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0+0j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{}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spc="-100" dirty="0">
                <a:solidFill>
                  <a:srgbClr val="FF0000"/>
                </a:solidFill>
                <a:latin typeface="Lucida Console" pitchFamily="49" charset="0"/>
              </a:rPr>
              <a:t>''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'string!'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=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2.718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FFFFFF">
                    <a:lumMod val="75000"/>
                  </a:srgbClr>
                </a:solidFill>
                <a:latin typeface="Lucida Console" pitchFamily="49" charset="0"/>
              </a:rPr>
              <a:t>&gt;&gt;&gt;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print("First non-null:",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a 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or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b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 or 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itchFamily="49" charset="0"/>
              </a:rPr>
              <a:t>c 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or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d</a:t>
            </a:r>
            <a:r>
              <a:rPr lang="en-US" altLang="en-US" sz="2200" b="1" spc="-100" dirty="0">
                <a:solidFill>
                  <a:srgbClr val="7030A0"/>
                </a:solidFill>
                <a:latin typeface="Lucida Console" pitchFamily="49" charset="0"/>
              </a:rPr>
              <a:t> or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e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) 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spc="-100" dirty="0">
                <a:solidFill>
                  <a:srgbClr val="000000"/>
                </a:solidFill>
                <a:latin typeface="Lucida Console" pitchFamily="49" charset="0"/>
              </a:rPr>
              <a:t>First non-null: </a:t>
            </a:r>
            <a:r>
              <a:rPr lang="en-US" altLang="en-US" sz="2200" b="1" spc="-100" dirty="0">
                <a:solidFill>
                  <a:srgbClr val="0070C0"/>
                </a:solidFill>
                <a:latin typeface="Lucida Console" pitchFamily="49" charset="0"/>
              </a:rPr>
              <a:t>string!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&gt;&gt;&gt;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(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0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()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FF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{}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"a"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7030A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or</a:t>
            </a:r>
            <a:r>
              <a:rPr lang="en-US" altLang="en-US" sz="2200" b="1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 </a:t>
            </a:r>
            <a:r>
              <a:rPr lang="en-US" altLang="en-US" sz="2200" b="1" dirty="0">
                <a:solidFill>
                  <a:srgbClr val="0070C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3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) * 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'</a:t>
            </a:r>
            <a:r>
              <a:rPr lang="en-US" alt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aaaaa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Arial" panose="020B0604020202020204" pitchFamily="34" charset="0"/>
              </a:rPr>
              <a:t>'</a:t>
            </a:r>
            <a:endParaRPr lang="en-US" altLang="en-US" sz="2200" b="1" spc="-100" dirty="0">
              <a:solidFill>
                <a:srgbClr val="0070C0"/>
              </a:solidFill>
              <a:latin typeface="Lucida Console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074" kern="0" dirty="0">
                <a:solidFill>
                  <a:srgbClr val="0070C0"/>
                </a:solidFill>
                <a:latin typeface="Elephant" panose="02020904090505020303" pitchFamily="18" charset="0"/>
              </a:rPr>
              <a:t>Non-Booleans in Comparisons</a:t>
            </a:r>
          </a:p>
        </p:txBody>
      </p:sp>
      <p:grpSp>
        <p:nvGrpSpPr>
          <p:cNvPr id="4" name="Group 3"/>
          <p:cNvGrpSpPr/>
          <p:nvPr/>
        </p:nvGrpSpPr>
        <p:grpSpPr>
          <a:xfrm flipH="1">
            <a:off x="7340848" y="434793"/>
            <a:ext cx="3125129" cy="784901"/>
            <a:chOff x="-734800" y="434792"/>
            <a:chExt cx="3125129" cy="784901"/>
          </a:xfrm>
        </p:grpSpPr>
        <p:sp>
          <p:nvSpPr>
            <p:cNvPr id="6" name="Trapezoid 5"/>
            <p:cNvSpPr/>
            <p:nvPr/>
          </p:nvSpPr>
          <p:spPr bwMode="auto">
            <a:xfrm rot="-2700000">
              <a:off x="-734800" y="435836"/>
              <a:ext cx="3125129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-2700000">
              <a:off x="-514076" y="434792"/>
              <a:ext cx="271764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4</a:t>
              </a:r>
              <a:b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#40</a:t>
              </a:r>
            </a:p>
          </p:txBody>
        </p:sp>
      </p:grpSp>
      <p:sp>
        <p:nvSpPr>
          <p:cNvPr id="9" name="Rounded Rectangular Callout 8"/>
          <p:cNvSpPr/>
          <p:nvPr/>
        </p:nvSpPr>
        <p:spPr>
          <a:xfrm>
            <a:off x="1893094" y="2819400"/>
            <a:ext cx="7010400" cy="2667000"/>
          </a:xfrm>
          <a:prstGeom prst="wedgeRoundRectCallout">
            <a:avLst>
              <a:gd name="adj1" fmla="val -20676"/>
              <a:gd name="adj2" fmla="val -131120"/>
              <a:gd name="adj3" fmla="val 16667"/>
            </a:avLst>
          </a:prstGeom>
          <a:solidFill>
            <a:srgbClr val="B5B5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4400" dirty="0">
                <a:solidFill>
                  <a:schemeClr val="tx1"/>
                </a:solidFill>
              </a:rPr>
              <a:t>This was a different topic, but it could be used in similar ways (</a:t>
            </a:r>
            <a:r>
              <a:rPr lang="en-US" sz="4400" dirty="0" err="1">
                <a:solidFill>
                  <a:schemeClr val="tx1"/>
                </a:solidFill>
              </a:rPr>
              <a:t>eg</a:t>
            </a:r>
            <a:r>
              <a:rPr lang="en-US" sz="4400" dirty="0">
                <a:solidFill>
                  <a:schemeClr val="tx1"/>
                </a:solidFill>
              </a:rPr>
              <a:t>, in the current homework).</a:t>
            </a:r>
          </a:p>
        </p:txBody>
      </p:sp>
    </p:spTree>
    <p:extLst>
      <p:ext uri="{BB962C8B-B14F-4D97-AF65-F5344CB8AC3E}">
        <p14:creationId xmlns:p14="http://schemas.microsoft.com/office/powerpoint/2010/main" val="279598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96621" y="2795"/>
            <a:ext cx="9136546" cy="761379"/>
          </a:xfrm>
        </p:spPr>
        <p:txBody>
          <a:bodyPr/>
          <a:lstStyle/>
          <a:p>
            <a:r>
              <a:rPr lang="en-US" altLang="en-US" sz="4396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Comprehensions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872" y="840312"/>
            <a:ext cx="8790320" cy="6014893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en-US" sz="3197" spc="-10" dirty="0"/>
              <a:t>A list can be </a:t>
            </a:r>
            <a:r>
              <a:rPr lang="en-US" altLang="en-US" sz="3197" i="1" spc="-10" dirty="0"/>
              <a:t>comprehended</a:t>
            </a:r>
            <a:r>
              <a:rPr lang="en-US" altLang="en-US" sz="3197" spc="-10" dirty="0"/>
              <a:t> (created </a:t>
            </a:r>
            <a:r>
              <a:rPr lang="en-US" altLang="en-US" sz="3197" i="1" spc="-10" dirty="0"/>
              <a:t>in-place</a:t>
            </a:r>
            <a:r>
              <a:rPr lang="en-US" altLang="en-US" sz="3197" spc="-10" dirty="0"/>
              <a:t>) </a:t>
            </a:r>
            <a:r>
              <a:rPr lang="en-US" altLang="en-US" sz="3197" dirty="0"/>
              <a:t>immediately as its elements are calculated:</a:t>
            </a:r>
            <a:endParaRPr lang="en-US" altLang="en-US" sz="2798" dirty="0">
              <a:solidFill>
                <a:schemeClr val="tx1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798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[</a:t>
            </a:r>
            <a:r>
              <a:rPr lang="en-US" altLang="en-US" sz="2798" dirty="0">
                <a:solidFill>
                  <a:schemeClr val="accent2"/>
                </a:solidFill>
                <a:latin typeface="Lucida Console" pitchFamily="49" charset="0"/>
              </a:rPr>
              <a:t>3*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for 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)]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	[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3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6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9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798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[{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798" dirty="0">
                <a:solidFill>
                  <a:schemeClr val="accent2"/>
                </a:solidFill>
                <a:latin typeface="Lucida Console" pitchFamily="49" charset="0"/>
              </a:rPr>
              <a:t>**2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} for 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4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)]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	[{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1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}, {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4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}, {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9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}, {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4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16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}]</a:t>
            </a:r>
          </a:p>
          <a:p>
            <a:r>
              <a:rPr lang="en-US" altLang="en-US" sz="3197" dirty="0">
                <a:solidFill>
                  <a:schemeClr val="tx1"/>
                </a:solidFill>
              </a:rPr>
              <a:t>Set comprehension:</a:t>
            </a:r>
            <a:endParaRPr lang="en-US" altLang="en-US" sz="2798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798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798" dirty="0">
                <a:solidFill>
                  <a:schemeClr val="accent2"/>
                </a:solidFill>
                <a:latin typeface="Lucida Console" pitchFamily="49" charset="0"/>
              </a:rPr>
              <a:t>**3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for 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)}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	{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8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1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27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r>
              <a:rPr lang="en-US" altLang="en-US" sz="3197" dirty="0">
                <a:solidFill>
                  <a:schemeClr val="tx1"/>
                </a:solidFill>
              </a:rPr>
              <a:t>Dictionary comprehension:</a:t>
            </a:r>
            <a:endParaRPr lang="en-US" altLang="en-US" sz="2798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798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798" dirty="0" err="1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798" dirty="0" err="1">
                <a:solidFill>
                  <a:schemeClr val="tx1"/>
                </a:solidFill>
                <a:latin typeface="Lucida Console" pitchFamily="49" charset="0"/>
              </a:rPr>
              <a:t>:</a:t>
            </a:r>
            <a:r>
              <a:rPr lang="en-US" altLang="en-US" sz="2798" dirty="0" err="1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798" dirty="0">
                <a:solidFill>
                  <a:schemeClr val="accent2"/>
                </a:solidFill>
                <a:latin typeface="Lucida Console" pitchFamily="49" charset="0"/>
              </a:rPr>
              <a:t>**4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for 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)}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	{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1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16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798" dirty="0">
                <a:solidFill>
                  <a:srgbClr val="CC3399"/>
                </a:solidFill>
                <a:latin typeface="Lucida Console" pitchFamily="49" charset="0"/>
              </a:rPr>
              <a:t>81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r>
              <a:rPr lang="en-US" altLang="en-US" sz="3197" b="1" dirty="0">
                <a:solidFill>
                  <a:srgbClr val="7030A0"/>
                </a:solidFill>
              </a:rPr>
              <a:t>But tuples and strings don’t work.</a:t>
            </a:r>
            <a:endParaRPr lang="en-US" altLang="en-US" sz="2798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9655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96621" y="2795"/>
            <a:ext cx="9136546" cy="761379"/>
          </a:xfrm>
        </p:spPr>
        <p:txBody>
          <a:bodyPr/>
          <a:lstStyle/>
          <a:p>
            <a:r>
              <a:rPr lang="en-US" altLang="en-US" sz="4396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</a:t>
            </a:r>
            <a:r>
              <a:rPr lang="en-US" altLang="en-US" sz="4396" spc="-1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omp</a:t>
            </a:r>
            <a:r>
              <a:rPr lang="en-US" altLang="en-US" sz="4396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r</a:t>
            </a:r>
            <a:r>
              <a:rPr lang="en-US" altLang="en-US" sz="4396" spc="-3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ehension</a:t>
            </a:r>
            <a:r>
              <a:rPr lang="en-US" altLang="en-US" sz="4396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s</a:t>
            </a:r>
            <a:r>
              <a:rPr lang="en-US" altLang="en-US" sz="3997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396" spc="-3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w</a:t>
            </a:r>
            <a:r>
              <a:rPr lang="en-US" altLang="en-US" sz="4396" b="1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/</a:t>
            </a:r>
            <a:r>
              <a:rPr lang="en-US" altLang="en-US" sz="3997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1998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396" dirty="0">
                <a:solidFill>
                  <a:srgbClr val="FF00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nested</a:t>
            </a:r>
            <a:r>
              <a:rPr lang="en-US" altLang="en-US" sz="3997" dirty="0">
                <a:solidFill>
                  <a:srgbClr val="FF00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396" dirty="0">
                <a:solidFill>
                  <a:srgbClr val="FF00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loops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896" y="840312"/>
            <a:ext cx="9280893" cy="601489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3197" dirty="0">
                <a:solidFill>
                  <a:schemeClr val="tx1"/>
                </a:solidFill>
              </a:rPr>
              <a:t>A loop nested in a loop within a comprehension:</a:t>
            </a:r>
            <a:endParaRPr lang="en-US" altLang="en-US" sz="2798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chemeClr val="tx1"/>
                </a:solidFill>
                <a:latin typeface="Lucida Console" pitchFamily="49" charset="0"/>
              </a:rPr>
              <a:t>  </a:t>
            </a:r>
            <a:r>
              <a:rPr lang="en-US" altLang="zh-TW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798" dirty="0">
                <a:latin typeface="Lucida Console" panose="020B0609040504020204" pitchFamily="49" charset="0"/>
              </a:rPr>
              <a:t> vec1 = ['A','B','C']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altLang="zh-TW" sz="2798" dirty="0">
                <a:latin typeface="Lucida Console" panose="020B0609040504020204" pitchFamily="49" charset="0"/>
              </a:rPr>
              <a:t>  </a:t>
            </a:r>
            <a:r>
              <a:rPr lang="fr-FR" altLang="zh-TW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fr-FR" altLang="zh-TW" sz="2798" dirty="0">
                <a:latin typeface="Lucida Console" panose="020B0609040504020204" pitchFamily="49" charset="0"/>
              </a:rPr>
              <a:t> vec2 = ['1','2','3','4']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altLang="zh-TW" sz="2798" dirty="0">
                <a:latin typeface="Lucida Console" panose="020B0609040504020204" pitchFamily="49" charset="0"/>
              </a:rPr>
              <a:t>  </a:t>
            </a:r>
            <a:r>
              <a:rPr lang="en-US" altLang="zh-TW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798" dirty="0">
                <a:latin typeface="Lucida Console" panose="020B0609040504020204" pitchFamily="49" charset="0"/>
              </a:rPr>
              <a:t> 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798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798" dirty="0" err="1">
                <a:latin typeface="Lucida Console" panose="020B0609040504020204" pitchFamily="49" charset="0"/>
              </a:rPr>
              <a:t>+</a:t>
            </a:r>
            <a:r>
              <a:rPr lang="en-US" altLang="zh-TW" sz="2798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798" dirty="0">
                <a:latin typeface="Lucida Console" panose="020B0609040504020204" pitchFamily="49" charset="0"/>
              </a:rPr>
              <a:t> </a:t>
            </a:r>
            <a:r>
              <a:rPr lang="en-US" altLang="zh-TW" sz="2798" b="1" dirty="0">
                <a:solidFill>
                  <a:srgbClr val="CC3399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798" dirty="0">
                <a:latin typeface="Lucida Console" panose="020B0609040504020204" pitchFamily="49" charset="0"/>
              </a:rPr>
              <a:t> </a:t>
            </a:r>
            <a:r>
              <a:rPr lang="en-US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798" dirty="0">
                <a:latin typeface="Lucida Console" panose="020B0609040504020204" pitchFamily="49" charset="0"/>
              </a:rPr>
              <a:t> in </a:t>
            </a:r>
            <a:r>
              <a:rPr lang="en-US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vec1</a:t>
            </a:r>
            <a:r>
              <a:rPr lang="en-US" altLang="zh-TW" sz="2798" dirty="0">
                <a:latin typeface="Lucida Console" panose="020B0609040504020204" pitchFamily="49" charset="0"/>
              </a:rPr>
              <a:t> </a:t>
            </a:r>
            <a:r>
              <a:rPr lang="en-US" altLang="zh-TW" sz="2798" b="1" u="sng" dirty="0">
                <a:solidFill>
                  <a:srgbClr val="CC3399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798" dirty="0">
                <a:latin typeface="Lucida Console" panose="020B0609040504020204" pitchFamily="49" charset="0"/>
              </a:rPr>
              <a:t> </a:t>
            </a:r>
            <a:r>
              <a:rPr lang="en-US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798" dirty="0">
                <a:latin typeface="Lucida Console" panose="020B0609040504020204" pitchFamily="49" charset="0"/>
              </a:rPr>
              <a:t> in </a:t>
            </a:r>
            <a:r>
              <a:rPr lang="en-US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vec2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altLang="zh-TW" sz="2798" dirty="0">
                <a:latin typeface="Lucida Console" panose="020B0609040504020204" pitchFamily="49" charset="0"/>
              </a:rPr>
              <a:t>  </a:t>
            </a:r>
            <a:r>
              <a:rPr lang="pt-BR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pt-BR" altLang="zh-TW" sz="2798" dirty="0">
                <a:latin typeface="Lucida Console" panose="020B0609040504020204" pitchFamily="49" charset="0"/>
              </a:rPr>
              <a:t>'</a:t>
            </a:r>
            <a:r>
              <a:rPr lang="pt-BR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pt-BR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pt-BR" altLang="zh-TW" sz="2798" dirty="0">
                <a:latin typeface="Lucida Console" panose="020B0609040504020204" pitchFamily="49" charset="0"/>
              </a:rPr>
              <a:t>', '</a:t>
            </a:r>
            <a:r>
              <a:rPr lang="pt-BR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pt-BR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pt-BR" altLang="zh-TW" sz="2798" dirty="0">
                <a:latin typeface="Lucida Console" panose="020B0609040504020204" pitchFamily="49" charset="0"/>
              </a:rPr>
              <a:t>', '</a:t>
            </a:r>
            <a:r>
              <a:rPr lang="pt-BR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pt-BR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  <a:r>
              <a:rPr lang="pt-BR" altLang="zh-TW" sz="2798" dirty="0">
                <a:latin typeface="Lucida Console" panose="020B0609040504020204" pitchFamily="49" charset="0"/>
              </a:rPr>
              <a:t>', '</a:t>
            </a:r>
            <a:r>
              <a:rPr lang="pt-BR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pt-BR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pt-BR" altLang="zh-TW" sz="2798" dirty="0">
                <a:latin typeface="Lucida Console" panose="020B0609040504020204" pitchFamily="49" charset="0"/>
              </a:rPr>
              <a:t>', '</a:t>
            </a:r>
            <a:r>
              <a:rPr lang="pt-BR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B</a:t>
            </a:r>
            <a:r>
              <a:rPr lang="pt-BR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pt-BR" altLang="zh-TW" sz="2798" dirty="0">
                <a:latin typeface="Lucida Console" panose="020B0609040504020204" pitchFamily="49" charset="0"/>
              </a:rPr>
              <a:t>', '</a:t>
            </a:r>
            <a:r>
              <a:rPr lang="pt-BR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B</a:t>
            </a:r>
            <a:r>
              <a:rPr lang="pt-BR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pt-BR" altLang="zh-TW" sz="2798" dirty="0">
                <a:latin typeface="Lucida Console" panose="020B0609040504020204" pitchFamily="49" charset="0"/>
              </a:rPr>
              <a:t>',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altLang="zh-TW" sz="2798" dirty="0">
                <a:latin typeface="Lucida Console" panose="020B0609040504020204" pitchFamily="49" charset="0"/>
              </a:rPr>
              <a:t>  '</a:t>
            </a:r>
            <a:r>
              <a:rPr lang="pt-BR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B</a:t>
            </a:r>
            <a:r>
              <a:rPr lang="pt-BR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  <a:r>
              <a:rPr lang="pt-BR" altLang="zh-TW" sz="2798" dirty="0">
                <a:latin typeface="Lucida Console" panose="020B0609040504020204" pitchFamily="49" charset="0"/>
              </a:rPr>
              <a:t>', '</a:t>
            </a:r>
            <a:r>
              <a:rPr lang="pt-BR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B</a:t>
            </a:r>
            <a:r>
              <a:rPr lang="pt-BR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pt-BR" altLang="zh-TW" sz="2798" dirty="0">
                <a:latin typeface="Lucida Console" panose="020B0609040504020204" pitchFamily="49" charset="0"/>
              </a:rPr>
              <a:t>', '</a:t>
            </a:r>
            <a:r>
              <a:rPr lang="pt-BR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C</a:t>
            </a:r>
            <a:r>
              <a:rPr lang="pt-BR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pt-BR" altLang="zh-TW" sz="2798" dirty="0">
                <a:latin typeface="Lucida Console" panose="020B0609040504020204" pitchFamily="49" charset="0"/>
              </a:rPr>
              <a:t>', '</a:t>
            </a:r>
            <a:r>
              <a:rPr lang="pt-BR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C</a:t>
            </a:r>
            <a:r>
              <a:rPr lang="pt-BR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pt-BR" altLang="zh-TW" sz="2798" dirty="0">
                <a:latin typeface="Lucida Console" panose="020B0609040504020204" pitchFamily="49" charset="0"/>
              </a:rPr>
              <a:t>', '</a:t>
            </a:r>
            <a:r>
              <a:rPr lang="pt-BR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C</a:t>
            </a:r>
            <a:r>
              <a:rPr lang="pt-BR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  <a:r>
              <a:rPr lang="pt-BR" altLang="zh-TW" sz="2798" dirty="0">
                <a:latin typeface="Lucida Console" panose="020B0609040504020204" pitchFamily="49" charset="0"/>
              </a:rPr>
              <a:t>', '</a:t>
            </a:r>
            <a:r>
              <a:rPr lang="pt-BR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C</a:t>
            </a:r>
            <a:r>
              <a:rPr lang="pt-BR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pt-BR" altLang="zh-TW" sz="2798" dirty="0">
                <a:latin typeface="Lucida Console" panose="020B0609040504020204" pitchFamily="49" charset="0"/>
              </a:rPr>
              <a:t>'</a:t>
            </a:r>
            <a:r>
              <a:rPr lang="pt-BR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</a:t>
            </a:r>
            <a:endParaRPr lang="pt-BR" altLang="zh-TW" sz="2798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altLang="zh-TW" sz="1599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3197" dirty="0">
                <a:solidFill>
                  <a:schemeClr val="tx1"/>
                </a:solidFill>
              </a:rPr>
              <a:t>The following use parallel--but not nested--loops:</a:t>
            </a:r>
            <a:endParaRPr lang="en-US" altLang="en-US" sz="2398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 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798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798" dirty="0" err="1">
                <a:solidFill>
                  <a:schemeClr val="tx1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2798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b="1" dirty="0">
                <a:solidFill>
                  <a:srgbClr val="CC3399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798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798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 in ("</a:t>
            </a:r>
            <a:r>
              <a:rPr lang="en-US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","</a:t>
            </a:r>
            <a:r>
              <a:rPr lang="en-US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{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798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798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2798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b="1" dirty="0">
                <a:solidFill>
                  <a:srgbClr val="CC3399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798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798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798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798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[[</a:t>
            </a:r>
            <a:r>
              <a:rPr lang="en-US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],(</a:t>
            </a:r>
            <a:r>
              <a:rPr lang="en-US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),{</a:t>
            </a:r>
            <a:r>
              <a:rPr lang="en-US" altLang="zh-TW" sz="2798" dirty="0">
                <a:solidFill>
                  <a:srgbClr val="2D2DB9"/>
                </a:solidFill>
                <a:latin typeface="Lucida Console" panose="020B0609040504020204" pitchFamily="49" charset="0"/>
              </a:rPr>
              <a:t>5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798" dirty="0">
                <a:solidFill>
                  <a:srgbClr val="00B050"/>
                </a:solidFill>
                <a:latin typeface="Lucida Console" panose="020B0609040504020204" pitchFamily="49" charset="0"/>
              </a:rPr>
              <a:t>6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}]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[</a:t>
            </a:r>
            <a:r>
              <a:rPr lang="en-US" altLang="zh-TW" sz="2798" dirty="0">
                <a:solidFill>
                  <a:schemeClr val="tx1"/>
                </a:solidFill>
                <a:latin typeface="Lucida Console" panose="020B0609040504020204" pitchFamily="49" charset="0"/>
              </a:rPr>
              <a:t>3, 7, 11</a:t>
            </a: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798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41491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37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96621" y="2795"/>
            <a:ext cx="9136546" cy="761379"/>
          </a:xfrm>
        </p:spPr>
        <p:txBody>
          <a:bodyPr/>
          <a:lstStyle/>
          <a:p>
            <a:r>
              <a:rPr lang="en-US" altLang="en-US" sz="4396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Comprehensions</a:t>
            </a:r>
            <a:r>
              <a:rPr lang="en-US" altLang="en-US" sz="3997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3997" spc="-3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w</a:t>
            </a:r>
            <a:r>
              <a:rPr lang="en-US" altLang="en-US" sz="3997" b="1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/</a:t>
            </a:r>
            <a:r>
              <a:rPr lang="en-US" altLang="en-US" sz="3997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1998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396" dirty="0">
                <a:solidFill>
                  <a:srgbClr val="FF00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ifs</a:t>
            </a:r>
            <a:endParaRPr lang="en-US" altLang="en-US" sz="4396" dirty="0"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896" y="840312"/>
            <a:ext cx="8984271" cy="6014893"/>
          </a:xfrm>
        </p:spPr>
        <p:txBody>
          <a:bodyPr/>
          <a:lstStyle/>
          <a:p>
            <a:pPr marL="287108" indent="-287108">
              <a:spcBef>
                <a:spcPts val="0"/>
              </a:spcBef>
            </a:pPr>
            <a:r>
              <a:rPr lang="en-US" altLang="en-US" sz="3197" dirty="0"/>
              <a:t>Only</a:t>
            </a:r>
            <a:r>
              <a:rPr lang="en-US" altLang="en-US" sz="2798" dirty="0"/>
              <a:t> </a:t>
            </a:r>
            <a:r>
              <a:rPr lang="en-US" altLang="en-US" sz="3197" dirty="0"/>
              <a:t>adds</a:t>
            </a:r>
            <a:r>
              <a:rPr lang="en-US" altLang="en-US" sz="2798" dirty="0"/>
              <a:t> </a:t>
            </a:r>
            <a:r>
              <a:rPr lang="en-US" altLang="en-US" sz="3197" dirty="0"/>
              <a:t>to</a:t>
            </a:r>
            <a:r>
              <a:rPr lang="en-US" altLang="en-US" sz="2798" dirty="0"/>
              <a:t> </a:t>
            </a:r>
            <a:r>
              <a:rPr lang="en-US" altLang="en-US" sz="3197" dirty="0"/>
              <a:t>the</a:t>
            </a:r>
            <a:r>
              <a:rPr lang="en-US" altLang="en-US" sz="2798" dirty="0"/>
              <a:t> </a:t>
            </a:r>
            <a:r>
              <a:rPr lang="en-US" altLang="en-US" sz="3197" dirty="0"/>
              <a:t>list/set/</a:t>
            </a:r>
            <a:r>
              <a:rPr lang="en-US" altLang="en-US" sz="3197" dirty="0" err="1"/>
              <a:t>dict</a:t>
            </a:r>
            <a:r>
              <a:rPr lang="en-US" altLang="en-US" sz="2798" dirty="0"/>
              <a:t> </a:t>
            </a:r>
            <a:r>
              <a:rPr lang="en-US" altLang="en-US" sz="3197" dirty="0"/>
              <a:t>if</a:t>
            </a:r>
            <a:r>
              <a:rPr lang="en-US" altLang="en-US" sz="2798" dirty="0"/>
              <a:t> </a:t>
            </a:r>
            <a:r>
              <a:rPr lang="en-US" altLang="en-US" sz="3197" dirty="0"/>
              <a:t>condition</a:t>
            </a:r>
            <a:r>
              <a:rPr lang="en-US" altLang="en-US" sz="2798" dirty="0"/>
              <a:t> </a:t>
            </a:r>
            <a:r>
              <a:rPr lang="en-US" altLang="en-US" sz="3197" dirty="0"/>
              <a:t>is</a:t>
            </a:r>
            <a:r>
              <a:rPr lang="en-US" altLang="en-US" sz="2798" dirty="0"/>
              <a:t> </a:t>
            </a:r>
            <a:r>
              <a:rPr lang="en-US" altLang="en-US" sz="3197" dirty="0"/>
              <a:t>true:</a:t>
            </a:r>
            <a:endParaRPr lang="en-US" altLang="en-US" sz="2798" dirty="0">
              <a:solidFill>
                <a:schemeClr val="tx1"/>
              </a:solidFill>
              <a:latin typeface="Lucida Console" pitchFamily="49" charset="0"/>
            </a:endParaRPr>
          </a:p>
          <a:p>
            <a:pPr>
              <a:buNone/>
            </a:pPr>
            <a:r>
              <a:rPr lang="en-US" altLang="zh-TW" sz="2798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798" dirty="0">
                <a:latin typeface="Lucida Console" panose="020B0609040504020204" pitchFamily="49" charset="0"/>
              </a:rPr>
              <a:t> </a:t>
            </a:r>
            <a:r>
              <a:rPr lang="en-US" altLang="en-US" sz="2798" dirty="0" err="1">
                <a:solidFill>
                  <a:schemeClr val="tx1"/>
                </a:solidFill>
                <a:latin typeface="Lucida Console" pitchFamily="49" charset="0"/>
              </a:rPr>
              <a:t>vec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= [2,4,6]</a:t>
            </a:r>
          </a:p>
          <a:p>
            <a:pPr>
              <a:buNone/>
            </a:pPr>
            <a:r>
              <a:rPr lang="en-US" altLang="en-US" sz="2798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[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3*x </a:t>
            </a:r>
            <a:r>
              <a:rPr lang="en-US" altLang="en-US" sz="2798" b="1" dirty="0">
                <a:solidFill>
                  <a:srgbClr val="CC3399"/>
                </a:solidFill>
                <a:latin typeface="Lucida Console" pitchFamily="49" charset="0"/>
              </a:rPr>
              <a:t>for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x in </a:t>
            </a:r>
            <a:r>
              <a:rPr lang="en-US" altLang="en-US" sz="2798" dirty="0" err="1">
                <a:solidFill>
                  <a:schemeClr val="tx1"/>
                </a:solidFill>
                <a:latin typeface="Lucida Console" pitchFamily="49" charset="0"/>
              </a:rPr>
              <a:t>vec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798" b="1" u="sng" dirty="0">
                <a:solidFill>
                  <a:srgbClr val="CC3399"/>
                </a:solidFill>
                <a:latin typeface="Lucida Console" pitchFamily="49" charset="0"/>
              </a:rPr>
              <a:t>if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x &gt; 3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]</a:t>
            </a:r>
          </a:p>
          <a:p>
            <a:pPr>
              <a:buNone/>
            </a:pP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[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12, 18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]</a:t>
            </a:r>
          </a:p>
          <a:p>
            <a:pPr>
              <a:buNone/>
            </a:pPr>
            <a:r>
              <a:rPr lang="en-US" altLang="en-US" sz="2798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[</a:t>
            </a:r>
            <a:r>
              <a:rPr lang="en-US" altLang="en-US" sz="2798" dirty="0" err="1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798" b="1" dirty="0">
                <a:solidFill>
                  <a:srgbClr val="CC3399"/>
                </a:solidFill>
                <a:latin typeface="Lucida Console" pitchFamily="49" charset="0"/>
              </a:rPr>
              <a:t>for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798" dirty="0" err="1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in range(20) </a:t>
            </a:r>
            <a:r>
              <a:rPr lang="en-US" altLang="en-US" sz="2798" b="1" u="sng" dirty="0">
                <a:solidFill>
                  <a:srgbClr val="CC3399"/>
                </a:solidFill>
                <a:latin typeface="Lucida Console" pitchFamily="49" charset="0"/>
              </a:rPr>
              <a:t>if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i%2==1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]</a:t>
            </a:r>
          </a:p>
          <a:p>
            <a:pPr>
              <a:buNone/>
            </a:pP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[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1, 3, 5, 7, 9, 11, 13, 15, 17, 19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]</a:t>
            </a:r>
          </a:p>
          <a:p>
            <a:pPr>
              <a:buNone/>
            </a:pPr>
            <a:r>
              <a:rPr lang="en-US" altLang="en-US" sz="2798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from math import </a:t>
            </a:r>
            <a:r>
              <a:rPr lang="en-US" altLang="en-US" sz="2798" dirty="0" err="1">
                <a:solidFill>
                  <a:schemeClr val="tx1"/>
                </a:solidFill>
                <a:latin typeface="Lucida Console" pitchFamily="49" charset="0"/>
              </a:rPr>
              <a:t>gcd</a:t>
            </a:r>
            <a:endParaRPr lang="en-US" altLang="en-US" sz="2798" dirty="0">
              <a:solidFill>
                <a:schemeClr val="tx1"/>
              </a:solidFill>
              <a:latin typeface="Lucida Console" pitchFamily="49" charset="0"/>
            </a:endParaRPr>
          </a:p>
          <a:p>
            <a:pPr>
              <a:buNone/>
            </a:pPr>
            <a:r>
              <a:rPr lang="en-US" altLang="en-US" sz="2798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 #(</a:t>
            </a:r>
            <a:r>
              <a:rPr lang="en-US" altLang="en-US" sz="2798" dirty="0" err="1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gcd</a:t>
            </a:r>
            <a:r>
              <a:rPr lang="en-US" altLang="en-US" sz="2798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= greatest common denominator)</a:t>
            </a:r>
          </a:p>
          <a:p>
            <a:pPr>
              <a:buNone/>
            </a:pPr>
            <a:r>
              <a:rPr lang="en-US" altLang="en-US" sz="2798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{</a:t>
            </a:r>
            <a:r>
              <a:rPr lang="en-US" altLang="en-US" sz="2798" dirty="0" err="1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798" b="1" dirty="0">
                <a:solidFill>
                  <a:srgbClr val="CC3399"/>
                </a:solidFill>
                <a:latin typeface="Lucida Console" pitchFamily="49" charset="0"/>
              </a:rPr>
              <a:t>for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798" dirty="0" err="1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in range(60)</a:t>
            </a:r>
            <a:r>
              <a:rPr lang="en-US" altLang="en-US" sz="2798" b="1" u="sng" dirty="0">
                <a:solidFill>
                  <a:srgbClr val="CC3399"/>
                </a:solidFill>
                <a:latin typeface="Lucida Console" pitchFamily="49" charset="0"/>
              </a:rPr>
              <a:t>if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798" dirty="0" err="1">
                <a:solidFill>
                  <a:schemeClr val="tx1"/>
                </a:solidFill>
                <a:latin typeface="Lucida Console" pitchFamily="49" charset="0"/>
              </a:rPr>
              <a:t>gcd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(60,i)==2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}</a:t>
            </a:r>
          </a:p>
          <a:p>
            <a:pPr>
              <a:buNone/>
            </a:pP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{</a:t>
            </a:r>
            <a:r>
              <a:rPr lang="en-US" altLang="en-US" sz="2798" dirty="0">
                <a:solidFill>
                  <a:schemeClr val="tx1"/>
                </a:solidFill>
                <a:latin typeface="Lucida Console" pitchFamily="49" charset="0"/>
              </a:rPr>
              <a:t>2, 34, 58, 38, 14, 46, 22, 26</a:t>
            </a:r>
            <a:r>
              <a:rPr lang="en-US" altLang="en-US" sz="2798" dirty="0">
                <a:solidFill>
                  <a:srgbClr val="FF0000"/>
                </a:solidFill>
                <a:latin typeface="Lucida Console" pitchFamily="49" charset="0"/>
              </a:rPr>
              <a:t>}</a:t>
            </a:r>
          </a:p>
          <a:p>
            <a:pPr>
              <a:buNone/>
            </a:pPr>
            <a:r>
              <a:rPr lang="en-US" altLang="en-US" sz="2798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endParaRPr lang="en-US" altLang="en-US" sz="3197" dirty="0">
              <a:solidFill>
                <a:schemeClr val="bg1">
                  <a:lumMod val="75000"/>
                </a:schemeClr>
              </a:solidFill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15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896" y="1275753"/>
            <a:ext cx="8908133" cy="5503314"/>
          </a:xfrm>
        </p:spPr>
        <p:txBody>
          <a:bodyPr/>
          <a:lstStyle/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zh-TW" sz="3997" dirty="0">
                <a:solidFill>
                  <a:srgbClr val="2427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us assume the following file exists:</a:t>
            </a:r>
            <a:endParaRPr lang="zh-TW" altLang="zh-TW" sz="2798" dirty="0">
              <a:solidFill>
                <a:srgbClr val="303336"/>
              </a:solidFill>
              <a:latin typeface="Times New Roman" panose="02020603050405020304" pitchFamily="18" charset="0"/>
              <a:ea typeface="inheri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prime.py</a:t>
            </a:r>
          </a:p>
          <a:p>
            <a:pPr marL="0" indent="0"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from math import </a:t>
            </a:r>
            <a:r>
              <a:rPr lang="en-US" altLang="zh-TW" sz="2398" dirty="0" err="1">
                <a:latin typeface="Lucida Console" panose="020B0609040504020204" pitchFamily="49" charset="0"/>
              </a:rPr>
              <a:t>sqrt</a:t>
            </a:r>
            <a:r>
              <a:rPr lang="en-US" altLang="zh-TW" sz="2398" dirty="0">
                <a:latin typeface="Lucida Console" panose="020B0609040504020204" pitchFamily="49" charset="0"/>
              </a:rPr>
              <a:t>, </a:t>
            </a:r>
            <a:r>
              <a:rPr lang="en-US" altLang="zh-TW" sz="2398" dirty="0" err="1">
                <a:latin typeface="Lucida Console" panose="020B0609040504020204" pitchFamily="49" charset="0"/>
              </a:rPr>
              <a:t>gcd</a:t>
            </a:r>
            <a:r>
              <a:rPr lang="en-US" altLang="zh-TW" sz="2398" dirty="0">
                <a:latin typeface="Lucida Console" panose="020B0609040504020204" pitchFamily="49" charset="0"/>
              </a:rPr>
              <a:t>, floor</a:t>
            </a:r>
          </a:p>
          <a:p>
            <a:pPr marL="0" indent="0">
              <a:buNone/>
            </a:pPr>
            <a:r>
              <a:rPr lang="en-US" altLang="zh-TW" sz="2398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398" dirty="0">
                <a:solidFill>
                  <a:srgbClr val="CC3399"/>
                </a:solidFill>
                <a:latin typeface="Lucida Console" panose="020B0609040504020204" pitchFamily="49" charset="0"/>
              </a:rPr>
              <a:t> prime</a:t>
            </a:r>
            <a:r>
              <a:rPr lang="en-US" altLang="zh-TW" sz="2398" dirty="0">
                <a:latin typeface="Lucida Console" panose="020B0609040504020204" pitchFamily="49" charset="0"/>
              </a:rPr>
              <a:t>(</a:t>
            </a:r>
            <a:r>
              <a:rPr lang="en-US" altLang="zh-TW" sz="2398" dirty="0">
                <a:solidFill>
                  <a:schemeClr val="accent2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398" dirty="0">
                <a:latin typeface="Lucida Console" panose="020B0609040504020204" pitchFamily="49" charset="0"/>
              </a:rPr>
              <a:t>):</a:t>
            </a:r>
          </a:p>
          <a:p>
            <a:pPr marL="0" indent="0"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   '''Tests if the argument is prime (</a:t>
            </a:r>
            <a:r>
              <a:rPr lang="zh-TW" altLang="en-US" sz="2398" dirty="0">
                <a:latin typeface="Lucida Console" panose="020B0609040504020204" pitchFamily="49" charset="0"/>
              </a:rPr>
              <a:t>質數</a:t>
            </a:r>
            <a:r>
              <a:rPr lang="en-US" altLang="zh-TW" sz="2398" dirty="0">
                <a:latin typeface="Lucida Console" panose="020B0609040504020204" pitchFamily="49" charset="0"/>
              </a:rPr>
              <a:t>).'''</a:t>
            </a:r>
          </a:p>
          <a:p>
            <a:pPr marL="0" indent="0"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   </a:t>
            </a:r>
            <a:r>
              <a:rPr lang="en-US" altLang="zh-TW" sz="2398" dirty="0">
                <a:solidFill>
                  <a:schemeClr val="accent2"/>
                </a:solidFill>
                <a:latin typeface="Lucida Console" panose="020B0609040504020204" pitchFamily="49" charset="0"/>
              </a:rPr>
              <a:t>if a&lt;2</a:t>
            </a:r>
            <a:r>
              <a:rPr lang="en-US" altLang="zh-TW" sz="2398" dirty="0">
                <a:latin typeface="Lucida Console" panose="020B0609040504020204" pitchFamily="49" charset="0"/>
              </a:rPr>
              <a:t>: 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return False</a:t>
            </a:r>
          </a:p>
          <a:p>
            <a:pPr marL="0" indent="0"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   for </a:t>
            </a:r>
            <a:r>
              <a:rPr lang="en-US" altLang="zh-TW" sz="2398" dirty="0" err="1">
                <a:latin typeface="Lucida Console" panose="020B0609040504020204" pitchFamily="49" charset="0"/>
              </a:rPr>
              <a:t>i</a:t>
            </a:r>
            <a:r>
              <a:rPr lang="en-US" altLang="zh-TW" sz="2398" dirty="0">
                <a:latin typeface="Lucida Console" panose="020B0609040504020204" pitchFamily="49" charset="0"/>
              </a:rPr>
              <a:t> in range(2,floor(</a:t>
            </a:r>
            <a:r>
              <a:rPr lang="en-US" altLang="zh-TW" sz="2398" dirty="0" err="1">
                <a:latin typeface="Lucida Console" panose="020B0609040504020204" pitchFamily="49" charset="0"/>
              </a:rPr>
              <a:t>sqrt</a:t>
            </a:r>
            <a:r>
              <a:rPr lang="en-US" altLang="zh-TW" sz="2398" dirty="0">
                <a:latin typeface="Lucida Console" panose="020B0609040504020204" pitchFamily="49" charset="0"/>
              </a:rPr>
              <a:t>(a))+1):</a:t>
            </a:r>
          </a:p>
          <a:p>
            <a:pPr marL="0" indent="0"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      </a:t>
            </a:r>
            <a:r>
              <a:rPr lang="en-US" altLang="zh-TW" sz="2398" dirty="0">
                <a:solidFill>
                  <a:schemeClr val="accent2"/>
                </a:solidFill>
                <a:latin typeface="Lucida Console" panose="020B0609040504020204" pitchFamily="49" charset="0"/>
              </a:rPr>
              <a:t>if </a:t>
            </a:r>
            <a:r>
              <a:rPr lang="en-US" altLang="zh-TW" sz="2398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gcd</a:t>
            </a:r>
            <a:r>
              <a:rPr lang="en-US" altLang="zh-TW" sz="2398" dirty="0">
                <a:solidFill>
                  <a:schemeClr val="accent2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398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i,a</a:t>
            </a:r>
            <a:r>
              <a:rPr lang="en-US" altLang="zh-TW" sz="2398" dirty="0">
                <a:solidFill>
                  <a:schemeClr val="accent2"/>
                </a:solidFill>
                <a:latin typeface="Lucida Console" panose="020B0609040504020204" pitchFamily="49" charset="0"/>
              </a:rPr>
              <a:t>)&gt;1</a:t>
            </a:r>
            <a:r>
              <a:rPr lang="en-US" altLang="zh-TW" sz="2398" dirty="0">
                <a:latin typeface="Lucida Console" panose="020B0609040504020204" pitchFamily="49" charset="0"/>
              </a:rPr>
              <a:t>: 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return False</a:t>
            </a:r>
          </a:p>
          <a:p>
            <a:pPr marL="0" indent="0">
              <a:buNone/>
            </a:pPr>
            <a:r>
              <a:rPr lang="en-US" altLang="zh-TW" sz="2398" dirty="0">
                <a:latin typeface="Lucida Console" panose="020B0609040504020204" pitchFamily="49" charset="0"/>
              </a:rPr>
              <a:t>   </a:t>
            </a:r>
            <a:r>
              <a:rPr lang="en-US" altLang="zh-TW" sz="2398" dirty="0">
                <a:solidFill>
                  <a:srgbClr val="339933"/>
                </a:solidFill>
                <a:latin typeface="Lucida Console" panose="020B0609040504020204" pitchFamily="49" charset="0"/>
              </a:rPr>
              <a:t>return True</a:t>
            </a:r>
          </a:p>
          <a:p>
            <a:pPr marL="0" indent="0"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</a:t>
            </a:r>
          </a:p>
          <a:p>
            <a:pPr marL="0" indent="0">
              <a:spcBef>
                <a:spcPct val="0"/>
              </a:spcBef>
              <a:buClrTx/>
              <a:buNone/>
            </a:pPr>
            <a:endParaRPr lang="en-US" altLang="zh-TW" sz="2798" dirty="0">
              <a:solidFill>
                <a:srgbClr val="242729"/>
              </a:solidFill>
              <a:cs typeface="Arial" panose="020B0604020202020204" pitchFamily="34" charset="0"/>
            </a:endParaRPr>
          </a:p>
          <a:p>
            <a:pPr marL="0" indent="0" algn="ctr">
              <a:spcBef>
                <a:spcPct val="0"/>
              </a:spcBef>
              <a:buClrTx/>
              <a:buNone/>
            </a:pPr>
            <a:r>
              <a:rPr lang="en-US" altLang="zh-TW" sz="2798" dirty="0">
                <a:solidFill>
                  <a:srgbClr val="242729"/>
                </a:solidFill>
                <a:cs typeface="Arial" panose="020B0604020202020204" pitchFamily="34" charset="0"/>
              </a:rPr>
              <a:t>…on the next slide, we will import this file…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96621" y="2795"/>
            <a:ext cx="9136546" cy="761379"/>
          </a:xfrm>
        </p:spPr>
        <p:txBody>
          <a:bodyPr/>
          <a:lstStyle/>
          <a:p>
            <a:r>
              <a:rPr lang="en-US" altLang="en-US" sz="4396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Comprehensions</a:t>
            </a:r>
            <a:r>
              <a:rPr lang="en-US" altLang="en-US" sz="3997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396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can</a:t>
            </a:r>
            <a:r>
              <a:rPr lang="en-US" altLang="en-US" sz="3997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396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make</a:t>
            </a:r>
            <a:endParaRPr lang="en-US" altLang="en-US" sz="4396" dirty="0"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99618" y="505819"/>
            <a:ext cx="9136546" cy="810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3668"/>
            <a:r>
              <a:rPr lang="en-US" altLang="en-US" sz="4396" kern="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smaller lists</a:t>
            </a:r>
            <a:endParaRPr lang="en-US" altLang="en-US" sz="4396" kern="0" dirty="0"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2498354" y="3703536"/>
            <a:ext cx="1395043" cy="1532583"/>
          </a:xfrm>
          <a:prstGeom prst="wedgeRoundRectCallout">
            <a:avLst>
              <a:gd name="adj1" fmla="val 59510"/>
              <a:gd name="adj2" fmla="val -11083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913668" fontAlgn="base">
              <a:spcBef>
                <a:spcPct val="0"/>
              </a:spcBef>
              <a:defRPr/>
            </a:pPr>
            <a:r>
              <a:rPr lang="en-US" sz="2798" kern="0" dirty="0" err="1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sqrt</a:t>
            </a: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=</a:t>
            </a:r>
          </a:p>
          <a:p>
            <a:pPr algn="ctr" defTabSz="913668" fontAlgn="base">
              <a:spcBef>
                <a:spcPct val="0"/>
              </a:spcBef>
              <a:defRPr/>
            </a:pP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square</a:t>
            </a:r>
          </a:p>
          <a:p>
            <a:pPr algn="ctr" defTabSz="913668" fontAlgn="base">
              <a:spcBef>
                <a:spcPct val="0"/>
              </a:spcBef>
              <a:defRPr/>
            </a:pP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root</a:t>
            </a:r>
          </a:p>
          <a:p>
            <a:pPr algn="ctr" defTabSz="913668" fontAlgn="base">
              <a:spcBef>
                <a:spcPct val="0"/>
              </a:spcBef>
              <a:defRPr/>
            </a:pPr>
            <a:endParaRPr lang="en-US" sz="2798" b="1" kern="0" dirty="0">
              <a:solidFill>
                <a:srgbClr val="70AD47"/>
              </a:solidFill>
              <a:latin typeface="Calibri"/>
            </a:endParaRP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3903017" y="3708862"/>
            <a:ext cx="1964847" cy="2421677"/>
          </a:xfrm>
          <a:prstGeom prst="wedgeRoundRectCallout">
            <a:avLst>
              <a:gd name="adj1" fmla="val 11905"/>
              <a:gd name="adj2" fmla="val -8968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5683" rIns="0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913668" fontAlgn="base">
              <a:spcBef>
                <a:spcPct val="0"/>
              </a:spcBef>
              <a:defRPr/>
            </a:pPr>
            <a:r>
              <a:rPr lang="en-US" sz="2798" kern="0" dirty="0" err="1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gcd</a:t>
            </a: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=</a:t>
            </a:r>
            <a:b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</a:b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greatest</a:t>
            </a:r>
            <a:b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</a:b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common</a:t>
            </a:r>
            <a:b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</a:br>
            <a:r>
              <a:rPr lang="en-US" sz="2798" kern="0" spc="-10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denominator</a:t>
            </a:r>
            <a:br>
              <a:rPr lang="en-US" sz="2798" kern="0" spc="-10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</a:b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(</a:t>
            </a:r>
            <a:r>
              <a:rPr lang="zh-TW" altLang="en-US" sz="2298" b="1" kern="0" spc="-100" dirty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  <a:cs typeface="Times New Roman" panose="02020603050405020304" pitchFamily="18" charset="0"/>
              </a:rPr>
              <a:t>最大公因數</a:t>
            </a: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)</a:t>
            </a:r>
            <a:endParaRPr lang="en-US" sz="2798" b="1" kern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5872789" y="3709694"/>
            <a:ext cx="1395043" cy="2382377"/>
          </a:xfrm>
          <a:prstGeom prst="wedgeRoundRectCallout">
            <a:avLst>
              <a:gd name="adj1" fmla="val -24966"/>
              <a:gd name="adj2" fmla="val -9089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913668" fontAlgn="base">
              <a:spcBef>
                <a:spcPct val="0"/>
              </a:spcBef>
              <a:defRPr/>
            </a:pP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floor=</a:t>
            </a:r>
          </a:p>
          <a:p>
            <a:pPr algn="ctr" defTabSz="913668" fontAlgn="base">
              <a:spcBef>
                <a:spcPct val="0"/>
              </a:spcBef>
              <a:defRPr/>
            </a:pP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largest integer that is</a:t>
            </a:r>
          </a:p>
          <a:p>
            <a:pPr algn="ctr" defTabSz="913668" fontAlgn="base">
              <a:spcBef>
                <a:spcPct val="0"/>
              </a:spcBef>
              <a:defRPr/>
            </a:pP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X</a:t>
            </a:r>
          </a:p>
          <a:p>
            <a:pPr algn="ctr" defTabSz="913668" fontAlgn="base">
              <a:spcBef>
                <a:spcPct val="0"/>
              </a:spcBef>
              <a:defRPr/>
            </a:pPr>
            <a:endParaRPr lang="en-US" sz="2798" b="1" kern="0" dirty="0">
              <a:solidFill>
                <a:srgbClr val="70AD47"/>
              </a:solidFill>
              <a:latin typeface="Calibri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787909" y="3698289"/>
            <a:ext cx="1699581" cy="1503108"/>
          </a:xfrm>
          <a:prstGeom prst="wedgeRoundRectCallout">
            <a:avLst>
              <a:gd name="adj1" fmla="val 17950"/>
              <a:gd name="adj2" fmla="val -8618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65" tIns="45683" rIns="91365" bIns="45683" numCol="1" rtlCol="0" anchor="t" anchorCtr="0" compatLnSpc="1">
            <a:prstTxWarp prst="textNoShape">
              <a:avLst/>
            </a:prstTxWarp>
          </a:bodyPr>
          <a:lstStyle/>
          <a:p>
            <a:pPr algn="ctr" defTabSz="913668" fontAlgn="base">
              <a:spcBef>
                <a:spcPct val="0"/>
              </a:spcBef>
              <a:defRPr/>
            </a:pP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prime number=</a:t>
            </a:r>
          </a:p>
          <a:p>
            <a:pPr algn="ctr" defTabSz="913668" fontAlgn="base">
              <a:spcBef>
                <a:spcPct val="0"/>
              </a:spcBef>
              <a:defRPr/>
            </a:pP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(</a:t>
            </a:r>
            <a:r>
              <a:rPr lang="zh-TW" altLang="en-US" sz="2298" b="1" kern="0" dirty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  <a:cs typeface="Times New Roman" panose="02020603050405020304" pitchFamily="18" charset="0"/>
              </a:rPr>
              <a:t>質數</a:t>
            </a:r>
            <a:r>
              <a:rPr lang="en-US" sz="2798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)</a:t>
            </a:r>
            <a:endParaRPr lang="en-US" sz="2798" b="1" kern="0" dirty="0">
              <a:solidFill>
                <a:srgbClr val="70AD47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83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759" y="1214157"/>
            <a:ext cx="9212684" cy="5641048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398" dirty="0">
                <a:latin typeface="Arial Narrow" panose="020B0606020202030204" pitchFamily="34" charset="0"/>
              </a:rPr>
              <a:t> </a:t>
            </a:r>
            <a:r>
              <a:rPr lang="en-US" altLang="zh-TW" sz="2398" dirty="0">
                <a:solidFill>
                  <a:schemeClr val="tx1"/>
                </a:solidFill>
                <a:latin typeface="Lucida Console" panose="020B0609040504020204" pitchFamily="49" charset="0"/>
              </a:rPr>
              <a:t>from prime import prime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398" dirty="0">
                <a:latin typeface="Arial Narrow" panose="020B0606020202030204" pitchFamily="34" charset="0"/>
              </a:rPr>
              <a:t> 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#The following lists all primes &lt; 15: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398" dirty="0">
                <a:latin typeface="Arial Narrow" panose="020B0606020202030204" pitchFamily="34" charset="0"/>
              </a:rPr>
              <a:t> </a:t>
            </a:r>
            <a:r>
              <a:rPr lang="en-US" altLang="zh-TW" sz="2398" dirty="0">
                <a:latin typeface="Lucida Console" panose="020B0609040504020204" pitchFamily="49" charset="0"/>
              </a:rPr>
              <a:t>[x for x in range(15) </a:t>
            </a:r>
            <a:r>
              <a:rPr lang="en-US" altLang="zh-TW" sz="2398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398" dirty="0">
                <a:latin typeface="Lucida Console" panose="020B0609040504020204" pitchFamily="49" charset="0"/>
              </a:rPr>
              <a:t>(x)]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398" dirty="0">
                <a:latin typeface="Arial Narrow" panose="020B0606020202030204" pitchFamily="34" charset="0"/>
              </a:rPr>
              <a:t> 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numbers &lt; 15 where 2x+1 is prime: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398" dirty="0">
                <a:latin typeface="Arial Narrow" panose="020B0606020202030204" pitchFamily="34" charset="0"/>
              </a:rPr>
              <a:t> </a:t>
            </a:r>
            <a:r>
              <a:rPr lang="en-US" altLang="zh-TW" sz="2398" dirty="0">
                <a:latin typeface="Lucida Console" panose="020B0609040504020204" pitchFamily="49" charset="0"/>
              </a:rPr>
              <a:t>[x for x in range(15) </a:t>
            </a:r>
            <a:r>
              <a:rPr lang="en-US" altLang="zh-TW" sz="2398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398" dirty="0">
                <a:latin typeface="Lucida Console" panose="020B0609040504020204" pitchFamily="49" charset="0"/>
              </a:rPr>
              <a:t>(2*x+1)]</a:t>
            </a:r>
            <a:endParaRPr lang="en-US" altLang="zh-TW" sz="2398" dirty="0">
              <a:latin typeface="Arial Narrow" panose="020B0606020202030204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rgbClr val="2D2DB9"/>
                </a:solidFill>
                <a:latin typeface="Lucida Console" panose="020B0609040504020204" pitchFamily="49" charset="0"/>
              </a:rPr>
              <a:t>[1, 2, 3, 5, 6, 8, 9, 11, 14]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398" dirty="0">
                <a:latin typeface="Arial Narrow" panose="020B0606020202030204" pitchFamily="34" charset="0"/>
              </a:rPr>
              <a:t> </a:t>
            </a:r>
            <a:r>
              <a:rPr lang="en-US" altLang="zh-TW" sz="2398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the corresponding 2x+1 numbers: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398" dirty="0">
                <a:latin typeface="Arial Narrow" panose="020B0606020202030204" pitchFamily="34" charset="0"/>
              </a:rPr>
              <a:t> </a:t>
            </a:r>
            <a:r>
              <a:rPr lang="en-US" altLang="zh-TW" sz="2398" dirty="0">
                <a:latin typeface="Lucida Console" panose="020B0609040504020204" pitchFamily="49" charset="0"/>
              </a:rPr>
              <a:t>[2*x+1 for x in range(15) </a:t>
            </a:r>
            <a:r>
              <a:rPr lang="en-US" altLang="zh-TW" sz="2398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398" dirty="0">
                <a:latin typeface="Lucida Console" panose="020B0609040504020204" pitchFamily="49" charset="0"/>
              </a:rPr>
              <a:t>(2*x+1)]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rgbClr val="2D2DB9"/>
                </a:solidFill>
                <a:latin typeface="Lucida Console" panose="020B0609040504020204" pitchFamily="49" charset="0"/>
              </a:rPr>
              <a:t>[3, 5, 7, 11, 13, 17, 19, 23, 29]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2398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96621" y="2795"/>
            <a:ext cx="9136546" cy="761379"/>
          </a:xfrm>
        </p:spPr>
        <p:txBody>
          <a:bodyPr/>
          <a:lstStyle/>
          <a:p>
            <a:r>
              <a:rPr lang="en-US" altLang="en-US" sz="4396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Some list comprehensions</a:t>
            </a:r>
            <a:r>
              <a:rPr lang="en-US" altLang="en-US" sz="3997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396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that</a:t>
            </a:r>
            <a:endParaRPr lang="en-US" altLang="en-US" sz="4396" dirty="0"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99618" y="505819"/>
            <a:ext cx="9136546" cy="810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65" tIns="45683" rIns="91365" bIns="45683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3668"/>
            <a:r>
              <a:rPr lang="en-US" altLang="en-US" sz="4396" kern="0" spc="-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use</a:t>
            </a:r>
            <a:r>
              <a:rPr lang="en-US" altLang="en-US" sz="3997" kern="0" spc="-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396" kern="0" spc="-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t</a:t>
            </a:r>
            <a:r>
              <a:rPr lang="en-US" altLang="en-US" sz="4396" kern="0" spc="-1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he</a:t>
            </a:r>
            <a:r>
              <a:rPr lang="en-US" altLang="en-US" sz="3997" kern="0" spc="-1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396" kern="0" spc="-1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p</a:t>
            </a:r>
            <a:r>
              <a:rPr lang="en-US" altLang="en-US" sz="4396" kern="0" spc="-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ri</a:t>
            </a:r>
            <a:r>
              <a:rPr lang="en-US" altLang="en-US" sz="4396" kern="0" spc="-1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m</a:t>
            </a:r>
            <a:r>
              <a:rPr lang="en-US" altLang="en-US" sz="4396" kern="0" spc="-2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</a:t>
            </a:r>
            <a:r>
              <a:rPr lang="en-US" altLang="en-US" sz="4396" b="1" kern="0" spc="-50" dirty="0">
                <a:solidFill>
                  <a:schemeClr val="accent6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(</a:t>
            </a:r>
            <a:r>
              <a:rPr lang="en-US" altLang="en-US" sz="799" b="1" kern="0" spc="-50" dirty="0">
                <a:solidFill>
                  <a:schemeClr val="accent6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4396" b="1" kern="0" spc="-50" dirty="0">
                <a:solidFill>
                  <a:schemeClr val="accent6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)</a:t>
            </a:r>
            <a:r>
              <a:rPr lang="en-US" altLang="en-US" sz="3997" kern="0" spc="-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396" kern="0" spc="-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fu</a:t>
            </a:r>
            <a:r>
              <a:rPr lang="en-US" altLang="en-US" sz="4396" kern="0" spc="-1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n</a:t>
            </a:r>
            <a:r>
              <a:rPr lang="en-US" altLang="en-US" sz="4396" kern="0" spc="-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cti</a:t>
            </a:r>
            <a:r>
              <a:rPr lang="en-US" altLang="en-US" sz="4396" kern="0" spc="-1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o</a:t>
            </a:r>
            <a:r>
              <a:rPr lang="en-US" altLang="en-US" sz="4396" kern="0" spc="-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n</a:t>
            </a:r>
            <a:r>
              <a:rPr lang="en-US" altLang="en-US" sz="3997" kern="0" spc="-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396" kern="0" spc="-1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w</a:t>
            </a:r>
            <a:r>
              <a:rPr lang="en-US" altLang="en-US" sz="4396" kern="0" spc="-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</a:t>
            </a:r>
            <a:r>
              <a:rPr lang="en-US" altLang="en-US" sz="3997" kern="0" spc="-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396" kern="0" spc="-5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made:</a:t>
            </a:r>
            <a:endParaRPr lang="en-US" altLang="en-US" sz="4396" kern="0" spc="-50" dirty="0"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331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13644</TotalTime>
  <Words>29465</Words>
  <Application>Microsoft Office PowerPoint</Application>
  <PresentationFormat>自訂</PresentationFormat>
  <Paragraphs>3354</Paragraphs>
  <Slides>193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7</vt:i4>
      </vt:variant>
      <vt:variant>
        <vt:lpstr>投影片標題</vt:lpstr>
      </vt:variant>
      <vt:variant>
        <vt:i4>193</vt:i4>
      </vt:variant>
    </vt:vector>
  </HeadingPairs>
  <TitlesOfParts>
    <vt:vector size="214" baseType="lpstr">
      <vt:lpstr>Arial Unicode MS</vt:lpstr>
      <vt:lpstr>Agency FB</vt:lpstr>
      <vt:lpstr>Arial</vt:lpstr>
      <vt:lpstr>Arial Narrow</vt:lpstr>
      <vt:lpstr>Bahnschrift</vt:lpstr>
      <vt:lpstr>Calibri</vt:lpstr>
      <vt:lpstr>Calibri Light</vt:lpstr>
      <vt:lpstr>Consolas</vt:lpstr>
      <vt:lpstr>Cooper Black</vt:lpstr>
      <vt:lpstr>Elephant</vt:lpstr>
      <vt:lpstr>Lucida Console</vt:lpstr>
      <vt:lpstr>Lucida Sans Typewriter</vt:lpstr>
      <vt:lpstr>Times New Roman</vt:lpstr>
      <vt:lpstr>Wingdings</vt:lpstr>
      <vt:lpstr>Office Theme</vt:lpstr>
      <vt:lpstr>4_Default Design</vt:lpstr>
      <vt:lpstr>Default Design</vt:lpstr>
      <vt:lpstr>1_Default Design</vt:lpstr>
      <vt:lpstr>5_Office Theme</vt:lpstr>
      <vt:lpstr>5_Default Design</vt:lpstr>
      <vt:lpstr>2_Default Design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Python takes the idea of objects  to its limit: everything is an object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Using is  with Tuples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But what is a lamba function?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Comprehensions</vt:lpstr>
      <vt:lpstr>Comprehensions w/  nested loops</vt:lpstr>
      <vt:lpstr>Comprehensions w/  ifs</vt:lpstr>
      <vt:lpstr>Comprehensions can make</vt:lpstr>
      <vt:lpstr>Some list comprehensions that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variable names</dc:title>
  <dc:creator>Steve Haga</dc:creator>
  <cp:lastModifiedBy>黃啟桓</cp:lastModifiedBy>
  <cp:revision>562</cp:revision>
  <dcterms:created xsi:type="dcterms:W3CDTF">2017-03-07T03:26:49Z</dcterms:created>
  <dcterms:modified xsi:type="dcterms:W3CDTF">2021-04-06T07:47:51Z</dcterms:modified>
</cp:coreProperties>
</file>