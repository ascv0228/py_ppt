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6" r:id="rId2"/>
    <p:sldMasterId id="2147483744" r:id="rId3"/>
    <p:sldMasterId id="2147483756" r:id="rId4"/>
    <p:sldMasterId id="2147483768" r:id="rId5"/>
  </p:sldMasterIdLst>
  <p:notesMasterIdLst>
    <p:notesMasterId r:id="rId118"/>
  </p:notesMasterIdLst>
  <p:sldIdLst>
    <p:sldId id="1887" r:id="rId6"/>
    <p:sldId id="1780" r:id="rId7"/>
    <p:sldId id="1779" r:id="rId8"/>
    <p:sldId id="1752" r:id="rId9"/>
    <p:sldId id="1753" r:id="rId10"/>
    <p:sldId id="1754" r:id="rId11"/>
    <p:sldId id="1755" r:id="rId12"/>
    <p:sldId id="1756" r:id="rId13"/>
    <p:sldId id="1757" r:id="rId14"/>
    <p:sldId id="1758" r:id="rId15"/>
    <p:sldId id="1759" r:id="rId16"/>
    <p:sldId id="1760" r:id="rId17"/>
    <p:sldId id="1761" r:id="rId18"/>
    <p:sldId id="1763" r:id="rId19"/>
    <p:sldId id="1817" r:id="rId20"/>
    <p:sldId id="1816" r:id="rId21"/>
    <p:sldId id="1764" r:id="rId22"/>
    <p:sldId id="1765" r:id="rId23"/>
    <p:sldId id="1766" r:id="rId24"/>
    <p:sldId id="1767" r:id="rId25"/>
    <p:sldId id="1768" r:id="rId26"/>
    <p:sldId id="1769" r:id="rId27"/>
    <p:sldId id="1770" r:id="rId28"/>
    <p:sldId id="1771" r:id="rId29"/>
    <p:sldId id="1772" r:id="rId30"/>
    <p:sldId id="1814" r:id="rId31"/>
    <p:sldId id="1815" r:id="rId32"/>
    <p:sldId id="1773" r:id="rId33"/>
    <p:sldId id="1774" r:id="rId34"/>
    <p:sldId id="1775" r:id="rId35"/>
    <p:sldId id="1776" r:id="rId36"/>
    <p:sldId id="1777" r:id="rId37"/>
    <p:sldId id="1778" r:id="rId38"/>
    <p:sldId id="1781" r:id="rId39"/>
    <p:sldId id="1782" r:id="rId40"/>
    <p:sldId id="1783" r:id="rId41"/>
    <p:sldId id="1784" r:id="rId42"/>
    <p:sldId id="1785" r:id="rId43"/>
    <p:sldId id="1786" r:id="rId44"/>
    <p:sldId id="1787" r:id="rId45"/>
    <p:sldId id="1788" r:id="rId46"/>
    <p:sldId id="1789" r:id="rId47"/>
    <p:sldId id="1790" r:id="rId48"/>
    <p:sldId id="1791" r:id="rId49"/>
    <p:sldId id="1792" r:id="rId50"/>
    <p:sldId id="1793" r:id="rId51"/>
    <p:sldId id="1794" r:id="rId52"/>
    <p:sldId id="1796" r:id="rId53"/>
    <p:sldId id="1802" r:id="rId54"/>
    <p:sldId id="1797" r:id="rId55"/>
    <p:sldId id="1798" r:id="rId56"/>
    <p:sldId id="1799" r:id="rId57"/>
    <p:sldId id="1800" r:id="rId58"/>
    <p:sldId id="1801" r:id="rId59"/>
    <p:sldId id="1812" r:id="rId60"/>
    <p:sldId id="1813" r:id="rId61"/>
    <p:sldId id="1803" r:id="rId62"/>
    <p:sldId id="1853" r:id="rId63"/>
    <p:sldId id="1854" r:id="rId64"/>
    <p:sldId id="1870" r:id="rId65"/>
    <p:sldId id="1857" r:id="rId66"/>
    <p:sldId id="1860" r:id="rId67"/>
    <p:sldId id="1861" r:id="rId68"/>
    <p:sldId id="1862" r:id="rId69"/>
    <p:sldId id="1863" r:id="rId70"/>
    <p:sldId id="1859" r:id="rId71"/>
    <p:sldId id="1865" r:id="rId72"/>
    <p:sldId id="1866" r:id="rId73"/>
    <p:sldId id="1868" r:id="rId74"/>
    <p:sldId id="1869" r:id="rId75"/>
    <p:sldId id="1871" r:id="rId76"/>
    <p:sldId id="1872" r:id="rId77"/>
    <p:sldId id="1266" r:id="rId78"/>
    <p:sldId id="1827" r:id="rId79"/>
    <p:sldId id="1092" r:id="rId80"/>
    <p:sldId id="1268" r:id="rId81"/>
    <p:sldId id="1269" r:id="rId82"/>
    <p:sldId id="1095" r:id="rId83"/>
    <p:sldId id="1832" r:id="rId84"/>
    <p:sldId id="1833" r:id="rId85"/>
    <p:sldId id="1834" r:id="rId86"/>
    <p:sldId id="1835" r:id="rId87"/>
    <p:sldId id="1836" r:id="rId88"/>
    <p:sldId id="1837" r:id="rId89"/>
    <p:sldId id="1838" r:id="rId90"/>
    <p:sldId id="1841" r:id="rId91"/>
    <p:sldId id="1842" r:id="rId92"/>
    <p:sldId id="1843" r:id="rId93"/>
    <p:sldId id="1407" r:id="rId94"/>
    <p:sldId id="1408" r:id="rId95"/>
    <p:sldId id="1087" r:id="rId96"/>
    <p:sldId id="1088" r:id="rId97"/>
    <p:sldId id="1089" r:id="rId98"/>
    <p:sldId id="1873" r:id="rId99"/>
    <p:sldId id="1874" r:id="rId100"/>
    <p:sldId id="1875" r:id="rId101"/>
    <p:sldId id="1876" r:id="rId102"/>
    <p:sldId id="1877" r:id="rId103"/>
    <p:sldId id="1878" r:id="rId104"/>
    <p:sldId id="1879" r:id="rId105"/>
    <p:sldId id="1880" r:id="rId106"/>
    <p:sldId id="1881" r:id="rId107"/>
    <p:sldId id="1882" r:id="rId108"/>
    <p:sldId id="1883" r:id="rId109"/>
    <p:sldId id="1884" r:id="rId110"/>
    <p:sldId id="1885" r:id="rId111"/>
    <p:sldId id="1886" r:id="rId112"/>
    <p:sldId id="1083" r:id="rId113"/>
    <p:sldId id="1264" r:id="rId114"/>
    <p:sldId id="1427" r:id="rId115"/>
    <p:sldId id="1086" r:id="rId116"/>
    <p:sldId id="1225" r:id="rId117"/>
  </p:sldIdLst>
  <p:sldSz cx="972978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0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0070C0"/>
    <a:srgbClr val="00E266"/>
    <a:srgbClr val="C00000"/>
    <a:srgbClr val="FFFFFF"/>
    <a:srgbClr val="BFBFBF"/>
    <a:srgbClr val="41719C"/>
    <a:srgbClr val="0086EA"/>
    <a:srgbClr val="C18E8E"/>
    <a:srgbClr val="B58E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64" d="100"/>
          <a:sy n="64" d="100"/>
        </p:scale>
        <p:origin x="1156" y="32"/>
      </p:cViewPr>
      <p:guideLst>
        <p:guide orient="horz" pos="2160"/>
        <p:guide pos="30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117" Type="http://schemas.openxmlformats.org/officeDocument/2006/relationships/slide" Target="slides/slide112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12" Type="http://schemas.openxmlformats.org/officeDocument/2006/relationships/slide" Target="slides/slide107.xml"/><Relationship Id="rId16" Type="http://schemas.openxmlformats.org/officeDocument/2006/relationships/slide" Target="slides/slide11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slide" Target="slides/slide108.xml"/><Relationship Id="rId118" Type="http://schemas.openxmlformats.org/officeDocument/2006/relationships/notesMaster" Target="notesMasters/notesMaster1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slide" Target="slides/slide103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49" Type="http://schemas.openxmlformats.org/officeDocument/2006/relationships/slide" Target="slides/slide44.xml"/><Relationship Id="rId114" Type="http://schemas.openxmlformats.org/officeDocument/2006/relationships/slide" Target="slides/slide109.xml"/><Relationship Id="rId119" Type="http://schemas.openxmlformats.org/officeDocument/2006/relationships/presProps" Target="presProps.xml"/><Relationship Id="rId44" Type="http://schemas.openxmlformats.org/officeDocument/2006/relationships/slide" Target="slides/slide39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120" Type="http://schemas.openxmlformats.org/officeDocument/2006/relationships/viewProps" Target="viewProp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slide" Target="slides/slide110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12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slide" Target="slides/slide11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Relationship Id="rId15" Type="http://schemas.openxmlformats.org/officeDocument/2006/relationships/slide" Target="slides/slide10.xml"/><Relationship Id="rId36" Type="http://schemas.openxmlformats.org/officeDocument/2006/relationships/slide" Target="slides/slide31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52" Type="http://schemas.openxmlformats.org/officeDocument/2006/relationships/slide" Target="slides/slide47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1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D558E-8742-4BFA-AD8A-F33C97E8B945}" type="datetimeFigureOut">
              <a:rPr lang="en-US" smtClean="0"/>
              <a:pPr/>
              <a:t>3/18/2021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9838" y="1143000"/>
            <a:ext cx="4378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E9357-523C-40C5-B7CE-88AC67A9F1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68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18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83179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19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6456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2EE039-1782-4F12-8B48-78128A38A07F}" type="slidenum">
              <a:rPr lang="en-US">
                <a:solidFill>
                  <a:prstClr val="black"/>
                </a:solidFill>
              </a:rPr>
              <a:pPr/>
              <a:t>94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9838" y="1143000"/>
            <a:ext cx="4378325" cy="30861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2791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2EE039-1782-4F12-8B48-78128A38A07F}" type="slidenum">
              <a:rPr lang="en-US">
                <a:solidFill>
                  <a:prstClr val="black"/>
                </a:solidFill>
              </a:rPr>
              <a:pPr/>
              <a:t>96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9838" y="1143000"/>
            <a:ext cx="4378325" cy="30861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43503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2EE039-1782-4F12-8B48-78128A38A07F}" type="slidenum">
              <a:rPr lang="en-US">
                <a:solidFill>
                  <a:prstClr val="black"/>
                </a:solidFill>
              </a:rPr>
              <a:pPr/>
              <a:t>97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9838" y="1143000"/>
            <a:ext cx="4378325" cy="30861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1051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2EE039-1782-4F12-8B48-78128A38A07F}" type="slidenum">
              <a:rPr lang="en-US">
                <a:solidFill>
                  <a:prstClr val="black"/>
                </a:solidFill>
              </a:rPr>
              <a:pPr/>
              <a:t>98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9838" y="1143000"/>
            <a:ext cx="4378325" cy="30861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0709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2EE039-1782-4F12-8B48-78128A38A07F}" type="slidenum">
              <a:rPr lang="en-US">
                <a:solidFill>
                  <a:prstClr val="black"/>
                </a:solidFill>
              </a:rPr>
              <a:pPr/>
              <a:t>99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9838" y="1143000"/>
            <a:ext cx="4378325" cy="30861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9898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2EE039-1782-4F12-8B48-78128A38A07F}" type="slidenum">
              <a:rPr lang="en-US">
                <a:solidFill>
                  <a:prstClr val="black"/>
                </a:solidFill>
              </a:rPr>
              <a:pPr/>
              <a:t>100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9838" y="1143000"/>
            <a:ext cx="4378325" cy="30861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8145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2EE039-1782-4F12-8B48-78128A38A07F}" type="slidenum">
              <a:rPr lang="en-US">
                <a:solidFill>
                  <a:prstClr val="black"/>
                </a:solidFill>
              </a:rPr>
              <a:pPr/>
              <a:t>101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9838" y="1143000"/>
            <a:ext cx="4378325" cy="30861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4518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2EE039-1782-4F12-8B48-78128A38A07F}" type="slidenum">
              <a:rPr lang="en-US">
                <a:solidFill>
                  <a:prstClr val="black"/>
                </a:solidFill>
              </a:rPr>
              <a:pPr/>
              <a:t>102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9838" y="1143000"/>
            <a:ext cx="4378325" cy="30861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1379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2EE039-1782-4F12-8B48-78128A38A07F}" type="slidenum">
              <a:rPr lang="en-US">
                <a:solidFill>
                  <a:prstClr val="black"/>
                </a:solidFill>
              </a:rPr>
              <a:pPr/>
              <a:t>103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9838" y="1143000"/>
            <a:ext cx="4378325" cy="30861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77566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2EE039-1782-4F12-8B48-78128A38A07F}" type="slidenum">
              <a:rPr lang="en-US">
                <a:solidFill>
                  <a:prstClr val="black"/>
                </a:solidFill>
              </a:rPr>
              <a:pPr/>
              <a:t>104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9838" y="1143000"/>
            <a:ext cx="4378325" cy="30861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83473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2EE039-1782-4F12-8B48-78128A38A07F}" type="slidenum">
              <a:rPr lang="en-US">
                <a:solidFill>
                  <a:prstClr val="black"/>
                </a:solidFill>
              </a:rPr>
              <a:pPr/>
              <a:t>105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9838" y="1143000"/>
            <a:ext cx="4378325" cy="30861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06321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2EE039-1782-4F12-8B48-78128A38A07F}" type="slidenum">
              <a:rPr lang="en-US">
                <a:solidFill>
                  <a:prstClr val="black"/>
                </a:solidFill>
              </a:rPr>
              <a:pPr/>
              <a:t>106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9838" y="1143000"/>
            <a:ext cx="4378325" cy="30861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71851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2EE039-1782-4F12-8B48-78128A38A07F}" type="slidenum">
              <a:rPr lang="en-US">
                <a:solidFill>
                  <a:prstClr val="black"/>
                </a:solidFill>
              </a:rPr>
              <a:pPr/>
              <a:t>107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9838" y="1143000"/>
            <a:ext cx="4378325" cy="30861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50382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4ECED83F-33EE-4E3E-90B4-BDCF3368AA78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111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17763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1188" cy="34115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17764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70718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4ECED83F-33EE-4E3E-90B4-BDCF3368AA78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112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17763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1188" cy="34115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17764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5627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734" y="1122363"/>
            <a:ext cx="827032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94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18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0"/>
            <a:ext cx="839194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5"/>
            <a:ext cx="839194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63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5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401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365127"/>
            <a:ext cx="839194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1" y="1681163"/>
            <a:ext cx="411615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1" y="2505075"/>
            <a:ext cx="411615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6" y="1681163"/>
            <a:ext cx="413642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6" y="2505075"/>
            <a:ext cx="413642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3/18/2021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0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2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891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7" y="987427"/>
            <a:ext cx="492570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21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6427" y="987427"/>
            <a:ext cx="492570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797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276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80" y="365125"/>
            <a:ext cx="2097986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4" y="365125"/>
            <a:ext cx="6172334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31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735" y="1122363"/>
            <a:ext cx="827032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217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576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1"/>
            <a:ext cx="839194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6"/>
            <a:ext cx="839194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190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6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025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365128"/>
            <a:ext cx="839194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1" y="1681163"/>
            <a:ext cx="411615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1" y="2505075"/>
            <a:ext cx="411615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6" y="1681163"/>
            <a:ext cx="413642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6" y="2505075"/>
            <a:ext cx="413642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7424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7359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566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8" y="987428"/>
            <a:ext cx="492570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5278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6428" y="987428"/>
            <a:ext cx="492570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9366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6292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80" y="365125"/>
            <a:ext cx="209798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3" y="365125"/>
            <a:ext cx="617233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6353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29734" y="3124200"/>
            <a:ext cx="8270320" cy="838200"/>
          </a:xfrm>
        </p:spPr>
        <p:txBody>
          <a:bodyPr/>
          <a:lstStyle>
            <a:lvl1pPr>
              <a:defRPr sz="43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59468" y="4191000"/>
            <a:ext cx="6648688" cy="990600"/>
          </a:xfrm>
        </p:spPr>
        <p:txBody>
          <a:bodyPr/>
          <a:lstStyle>
            <a:lvl1pPr marL="0" indent="0" algn="ctr">
              <a:buFontTx/>
              <a:buNone/>
              <a:defRPr sz="4299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29734" y="6248400"/>
            <a:ext cx="2027039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4344" y="6248400"/>
            <a:ext cx="3081100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3015" y="6248400"/>
            <a:ext cx="2027039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67388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77284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586" y="4406903"/>
            <a:ext cx="8270320" cy="1362075"/>
          </a:xfrm>
        </p:spPr>
        <p:txBody>
          <a:bodyPr anchor="t"/>
          <a:lstStyle>
            <a:lvl1pPr algn="l">
              <a:defRPr sz="399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586" y="2906716"/>
            <a:ext cx="827032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0" indent="0">
              <a:buNone/>
              <a:defRPr sz="1800"/>
            </a:lvl2pPr>
            <a:lvl3pPr marL="914360" indent="0">
              <a:buNone/>
              <a:defRPr sz="1600"/>
            </a:lvl3pPr>
            <a:lvl4pPr marL="1371540" indent="0">
              <a:buNone/>
              <a:defRPr sz="1400"/>
            </a:lvl4pPr>
            <a:lvl5pPr marL="1828721" indent="0">
              <a:buNone/>
              <a:defRPr sz="1400"/>
            </a:lvl5pPr>
            <a:lvl6pPr marL="2285901" indent="0">
              <a:buNone/>
              <a:defRPr sz="1400"/>
            </a:lvl6pPr>
            <a:lvl7pPr marL="2743081" indent="0">
              <a:buNone/>
              <a:defRPr sz="1400"/>
            </a:lvl7pPr>
            <a:lvl8pPr marL="3200261" indent="0">
              <a:buNone/>
              <a:defRPr sz="1400"/>
            </a:lvl8pPr>
            <a:lvl9pPr marL="3657441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39887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7571" y="1676400"/>
            <a:ext cx="421624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5977" y="1676400"/>
            <a:ext cx="421624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49946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490" y="274638"/>
            <a:ext cx="8756809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490" y="1535113"/>
            <a:ext cx="429901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1" indent="0">
              <a:buNone/>
              <a:defRPr sz="1600" b="1"/>
            </a:lvl6pPr>
            <a:lvl7pPr marL="2743081" indent="0">
              <a:buNone/>
              <a:defRPr sz="1600" b="1"/>
            </a:lvl7pPr>
            <a:lvl8pPr marL="3200261" indent="0">
              <a:buNone/>
              <a:defRPr sz="1600" b="1"/>
            </a:lvl8pPr>
            <a:lvl9pPr marL="365744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490" y="2174875"/>
            <a:ext cx="429901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2599" y="1535113"/>
            <a:ext cx="430070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1" indent="0">
              <a:buNone/>
              <a:defRPr sz="1600" b="1"/>
            </a:lvl6pPr>
            <a:lvl7pPr marL="2743081" indent="0">
              <a:buNone/>
              <a:defRPr sz="1600" b="1"/>
            </a:lvl7pPr>
            <a:lvl8pPr marL="3200261" indent="0">
              <a:buNone/>
              <a:defRPr sz="1600" b="1"/>
            </a:lvl8pPr>
            <a:lvl9pPr marL="365744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2599" y="2174875"/>
            <a:ext cx="430070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34094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0691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28823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491" y="273050"/>
            <a:ext cx="32010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4077" y="273053"/>
            <a:ext cx="543922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491" y="1435103"/>
            <a:ext cx="32010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0" indent="0">
              <a:buNone/>
              <a:defRPr sz="1200"/>
            </a:lvl2pPr>
            <a:lvl3pPr marL="914360" indent="0">
              <a:buNone/>
              <a:defRPr sz="1000"/>
            </a:lvl3pPr>
            <a:lvl4pPr marL="1371540" indent="0">
              <a:buNone/>
              <a:defRPr sz="900"/>
            </a:lvl4pPr>
            <a:lvl5pPr marL="1828721" indent="0">
              <a:buNone/>
              <a:defRPr sz="900"/>
            </a:lvl5pPr>
            <a:lvl6pPr marL="2285901" indent="0">
              <a:buNone/>
              <a:defRPr sz="900"/>
            </a:lvl6pPr>
            <a:lvl7pPr marL="2743081" indent="0">
              <a:buNone/>
              <a:defRPr sz="900"/>
            </a:lvl7pPr>
            <a:lvl8pPr marL="3200261" indent="0">
              <a:buNone/>
              <a:defRPr sz="900"/>
            </a:lvl8pPr>
            <a:lvl9pPr marL="365744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44964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106" y="4800600"/>
            <a:ext cx="583787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7106" y="612776"/>
            <a:ext cx="583787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0" indent="0">
              <a:buNone/>
              <a:defRPr sz="2800"/>
            </a:lvl2pPr>
            <a:lvl3pPr marL="914360" indent="0">
              <a:buNone/>
              <a:defRPr sz="2400"/>
            </a:lvl3pPr>
            <a:lvl4pPr marL="1371540" indent="0">
              <a:buNone/>
              <a:defRPr sz="2000"/>
            </a:lvl4pPr>
            <a:lvl5pPr marL="1828721" indent="0">
              <a:buNone/>
              <a:defRPr sz="2000"/>
            </a:lvl5pPr>
            <a:lvl6pPr marL="2285901" indent="0">
              <a:buNone/>
              <a:defRPr sz="2000"/>
            </a:lvl6pPr>
            <a:lvl7pPr marL="2743081" indent="0">
              <a:buNone/>
              <a:defRPr sz="2000"/>
            </a:lvl7pPr>
            <a:lvl8pPr marL="3200261" indent="0">
              <a:buNone/>
              <a:defRPr sz="2000"/>
            </a:lvl8pPr>
            <a:lvl9pPr marL="3657441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7106" y="5367338"/>
            <a:ext cx="583787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0" indent="0">
              <a:buNone/>
              <a:defRPr sz="1200"/>
            </a:lvl2pPr>
            <a:lvl3pPr marL="914360" indent="0">
              <a:buNone/>
              <a:defRPr sz="1000"/>
            </a:lvl3pPr>
            <a:lvl4pPr marL="1371540" indent="0">
              <a:buNone/>
              <a:defRPr sz="900"/>
            </a:lvl4pPr>
            <a:lvl5pPr marL="1828721" indent="0">
              <a:buNone/>
              <a:defRPr sz="900"/>
            </a:lvl5pPr>
            <a:lvl6pPr marL="2285901" indent="0">
              <a:buNone/>
              <a:defRPr sz="900"/>
            </a:lvl6pPr>
            <a:lvl7pPr marL="2743081" indent="0">
              <a:buNone/>
              <a:defRPr sz="900"/>
            </a:lvl7pPr>
            <a:lvl8pPr marL="3200261" indent="0">
              <a:buNone/>
              <a:defRPr sz="900"/>
            </a:lvl8pPr>
            <a:lvl9pPr marL="365744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40859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87486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3556" y="381000"/>
            <a:ext cx="2148662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7573" y="381000"/>
            <a:ext cx="6283821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33848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734" y="1122363"/>
            <a:ext cx="827032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3973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6829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1"/>
            <a:ext cx="839194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6"/>
            <a:ext cx="839194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3711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6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1285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365128"/>
            <a:ext cx="839194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2" y="1681163"/>
            <a:ext cx="411615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2" y="2505075"/>
            <a:ext cx="411615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6" y="1681163"/>
            <a:ext cx="413642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6" y="2505075"/>
            <a:ext cx="413642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5093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4787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523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6" y="987428"/>
            <a:ext cx="492570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9927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6426" y="987428"/>
            <a:ext cx="492570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84669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8761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80" y="365125"/>
            <a:ext cx="2097986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4" y="365125"/>
            <a:ext cx="6172334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0602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734" y="1122363"/>
            <a:ext cx="827032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76502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00633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0"/>
            <a:ext cx="839194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5"/>
            <a:ext cx="839194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34586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5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24146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365127"/>
            <a:ext cx="839194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1" y="1681163"/>
            <a:ext cx="411615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1" y="2505075"/>
            <a:ext cx="411615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6" y="1681163"/>
            <a:ext cx="413642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6" y="2505075"/>
            <a:ext cx="413642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97393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89264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8538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7" y="987427"/>
            <a:ext cx="492570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9064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6427" y="987427"/>
            <a:ext cx="492570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22267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61343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80" y="365125"/>
            <a:ext cx="2097986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4" y="365125"/>
            <a:ext cx="6172334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3/18/2021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941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923" y="365127"/>
            <a:ext cx="83919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923" y="1825625"/>
            <a:ext cx="83919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923" y="6356352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750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924" y="365128"/>
            <a:ext cx="83919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924" y="1825625"/>
            <a:ext cx="83919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923" y="6356353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3/18/2021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2993" y="6356353"/>
            <a:ext cx="328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1663" y="6356353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51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7571" y="381000"/>
            <a:ext cx="8594646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7571" y="1295401"/>
            <a:ext cx="8594646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7571" y="6324601"/>
            <a:ext cx="6243281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3015" y="6324601"/>
            <a:ext cx="218920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403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18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36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54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721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885" indent="-342885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17" indent="-285738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2950" indent="-22859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131" indent="-22859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311" indent="-22859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490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671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8851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032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924" y="365128"/>
            <a:ext cx="83919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924" y="1825625"/>
            <a:ext cx="83919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924" y="6356353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3/18/2021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2994" y="6356353"/>
            <a:ext cx="3283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Guide to Programming with Python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1663" y="6356353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336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923" y="365127"/>
            <a:ext cx="83919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923" y="1825625"/>
            <a:ext cx="83919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923" y="6356352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3/18/2021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194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-59316" y="818866"/>
            <a:ext cx="9900497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dirty="0" smtClean="0">
                <a:solidFill>
                  <a:prstClr val="black"/>
                </a:solidFill>
              </a:rPr>
              <a:t>  </a:t>
            </a:r>
            <a:r>
              <a:rPr lang="en-US" sz="3300" spc="-10" dirty="0" smtClean="0">
                <a:solidFill>
                  <a:prstClr val="black"/>
                </a:solidFill>
              </a:rPr>
              <a:t>The</a:t>
            </a:r>
            <a:r>
              <a:rPr lang="en-US" sz="3200" spc="-10" dirty="0" smtClean="0">
                <a:solidFill>
                  <a:prstClr val="black"/>
                </a:solidFill>
              </a:rPr>
              <a:t> </a:t>
            </a:r>
            <a:r>
              <a:rPr lang="en-US" sz="3300" spc="-10" dirty="0">
                <a:solidFill>
                  <a:prstClr val="black"/>
                </a:solidFill>
              </a:rPr>
              <a:t>header</a:t>
            </a:r>
            <a:r>
              <a:rPr lang="en-US" sz="3200" spc="-10" dirty="0">
                <a:solidFill>
                  <a:prstClr val="black"/>
                </a:solidFill>
              </a:rPr>
              <a:t> </a:t>
            </a:r>
            <a:r>
              <a:rPr lang="en-US" sz="3300" spc="-10" dirty="0">
                <a:solidFill>
                  <a:prstClr val="black"/>
                </a:solidFill>
              </a:rPr>
              <a:t>is</a:t>
            </a:r>
            <a:r>
              <a:rPr lang="en-US" sz="3200" spc="-10" dirty="0">
                <a:solidFill>
                  <a:prstClr val="black"/>
                </a:solidFill>
              </a:rPr>
              <a:t> </a:t>
            </a:r>
            <a:r>
              <a:rPr lang="en-US" sz="3300" spc="-10" dirty="0">
                <a:solidFill>
                  <a:prstClr val="black"/>
                </a:solidFill>
              </a:rPr>
              <a:t>recognized</a:t>
            </a:r>
            <a:r>
              <a:rPr lang="en-US" sz="3200" spc="-10" dirty="0">
                <a:solidFill>
                  <a:prstClr val="black"/>
                </a:solidFill>
              </a:rPr>
              <a:t> </a:t>
            </a:r>
            <a:r>
              <a:rPr lang="en-US" sz="3300" spc="-10" dirty="0">
                <a:solidFill>
                  <a:prstClr val="black"/>
                </a:solidFill>
              </a:rPr>
              <a:t>because</a:t>
            </a:r>
            <a:r>
              <a:rPr lang="en-US" sz="3200" spc="-10" dirty="0">
                <a:solidFill>
                  <a:prstClr val="black"/>
                </a:solidFill>
              </a:rPr>
              <a:t> </a:t>
            </a:r>
            <a:r>
              <a:rPr lang="en-US" sz="3300" spc="-10" dirty="0">
                <a:solidFill>
                  <a:prstClr val="black"/>
                </a:solidFill>
              </a:rPr>
              <a:t>it</a:t>
            </a:r>
            <a:r>
              <a:rPr lang="en-US" sz="3200" spc="-10" dirty="0">
                <a:solidFill>
                  <a:prstClr val="black"/>
                </a:solidFill>
              </a:rPr>
              <a:t> </a:t>
            </a:r>
            <a:r>
              <a:rPr lang="en-US" sz="3300" spc="-10" dirty="0">
                <a:solidFill>
                  <a:prstClr val="black"/>
                </a:solidFill>
              </a:rPr>
              <a:t>always</a:t>
            </a:r>
            <a:r>
              <a:rPr lang="en-US" sz="3200" spc="-10" dirty="0">
                <a:solidFill>
                  <a:prstClr val="black"/>
                </a:solidFill>
              </a:rPr>
              <a:t> </a:t>
            </a:r>
            <a:r>
              <a:rPr lang="en-US" sz="3300" spc="-10" dirty="0">
                <a:solidFill>
                  <a:prstClr val="black"/>
                </a:solidFill>
              </a:rPr>
              <a:t>has</a:t>
            </a:r>
            <a:r>
              <a:rPr lang="en-US" sz="3200" spc="-10" dirty="0">
                <a:solidFill>
                  <a:prstClr val="black"/>
                </a:solidFill>
              </a:rPr>
              <a:t> </a:t>
            </a:r>
            <a:r>
              <a:rPr lang="en-US" sz="3300" spc="-10" dirty="0" smtClean="0">
                <a:solidFill>
                  <a:prstClr val="black"/>
                </a:solidFill>
              </a:rPr>
              <a:t>4</a:t>
            </a:r>
            <a:r>
              <a:rPr lang="en-US" sz="3200" spc="-10" dirty="0" smtClean="0">
                <a:solidFill>
                  <a:prstClr val="black"/>
                </a:solidFill>
              </a:rPr>
              <a:t> </a:t>
            </a:r>
            <a:r>
              <a:rPr lang="en-US" sz="3300" spc="-10" dirty="0">
                <a:solidFill>
                  <a:prstClr val="black"/>
                </a:solidFill>
              </a:rPr>
              <a:t>parts</a:t>
            </a:r>
            <a:r>
              <a:rPr lang="en-US" sz="3200" spc="-10" dirty="0">
                <a:solidFill>
                  <a:prstClr val="black"/>
                </a:solidFill>
              </a:rPr>
              <a:t>:</a:t>
            </a:r>
            <a:endParaRPr lang="en-US" sz="3600" spc="-10" dirty="0">
              <a:solidFill>
                <a:prstClr val="black"/>
              </a:solidFill>
            </a:endParaRPr>
          </a:p>
          <a:p>
            <a:pPr marL="682625" lvl="1" indent="-395288">
              <a:spcBef>
                <a:spcPts val="0"/>
              </a:spcBef>
              <a:buFont typeface="+mj-lt"/>
              <a:buAutoNum type="arabicPeriod"/>
            </a:pPr>
            <a:r>
              <a:rPr lang="en-US" sz="3200" dirty="0">
                <a:solidFill>
                  <a:prstClr val="black"/>
                </a:solidFill>
              </a:rPr>
              <a:t>It begins with the keyword </a:t>
            </a:r>
            <a:r>
              <a:rPr lang="en-US" sz="3200" b="1" dirty="0" err="1">
                <a:solidFill>
                  <a:prstClr val="black"/>
                </a:solidFill>
              </a:rPr>
              <a:t>def</a:t>
            </a:r>
            <a:endParaRPr lang="en-US" sz="3200" b="1" dirty="0">
              <a:solidFill>
                <a:prstClr val="black"/>
              </a:solidFill>
            </a:endParaRPr>
          </a:p>
          <a:p>
            <a:pPr marL="682625" lvl="1" indent="-395288">
              <a:buFont typeface="+mj-lt"/>
              <a:buAutoNum type="arabicPeriod"/>
            </a:pPr>
            <a:r>
              <a:rPr lang="en-US" sz="3200" dirty="0">
                <a:solidFill>
                  <a:prstClr val="black"/>
                </a:solidFill>
              </a:rPr>
              <a:t>It then has a </a:t>
            </a:r>
            <a:r>
              <a:rPr lang="en-US" sz="3200" dirty="0">
                <a:solidFill>
                  <a:srgbClr val="0000FF"/>
                </a:solidFill>
              </a:rPr>
              <a:t>function name</a:t>
            </a:r>
          </a:p>
          <a:p>
            <a:pPr marL="682625" lvl="1" indent="-395288">
              <a:buFont typeface="+mj-lt"/>
              <a:buAutoNum type="arabicPeriod"/>
            </a:pPr>
            <a:r>
              <a:rPr lang="en-US" sz="3200" dirty="0">
                <a:solidFill>
                  <a:prstClr val="black"/>
                </a:solidFill>
              </a:rPr>
              <a:t>It then has a </a:t>
            </a:r>
            <a:r>
              <a:rPr lang="en-US" sz="3200" dirty="0">
                <a:solidFill>
                  <a:srgbClr val="C00000"/>
                </a:solidFill>
              </a:rPr>
              <a:t>pair of parentheses</a:t>
            </a:r>
            <a:r>
              <a:rPr lang="en-US" sz="3200" dirty="0">
                <a:solidFill>
                  <a:prstClr val="black"/>
                </a:solidFill>
              </a:rPr>
              <a:t>, </a:t>
            </a:r>
            <a:r>
              <a:rPr lang="en-US" sz="3200" dirty="0">
                <a:solidFill>
                  <a:srgbClr val="C00000"/>
                </a:solidFill>
              </a:rPr>
              <a:t>( )</a:t>
            </a:r>
          </a:p>
          <a:p>
            <a:pPr marL="287337" lvl="2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prstClr val="black"/>
                </a:solidFill>
              </a:rPr>
              <a:t>    </a:t>
            </a:r>
            <a:r>
              <a:rPr lang="en-US" sz="2800" dirty="0" smtClean="0">
                <a:solidFill>
                  <a:prstClr val="black"/>
                </a:solidFill>
              </a:rPr>
              <a:t> - </a:t>
            </a:r>
            <a:r>
              <a:rPr lang="en-US" sz="2800" dirty="0">
                <a:solidFill>
                  <a:prstClr val="black"/>
                </a:solidFill>
              </a:rPr>
              <a:t>Optionally, </a:t>
            </a:r>
            <a:r>
              <a:rPr lang="en-US" sz="2800" dirty="0">
                <a:solidFill>
                  <a:srgbClr val="008000"/>
                </a:solidFill>
              </a:rPr>
              <a:t>argumen</a:t>
            </a:r>
            <a:r>
              <a:rPr lang="en-US" sz="2800" spc="-100" dirty="0">
                <a:solidFill>
                  <a:srgbClr val="008000"/>
                </a:solidFill>
              </a:rPr>
              <a:t>t(s</a:t>
            </a:r>
            <a:r>
              <a:rPr lang="en-US" sz="2800" dirty="0">
                <a:solidFill>
                  <a:srgbClr val="008000"/>
                </a:solidFill>
              </a:rPr>
              <a:t>)</a:t>
            </a:r>
            <a:r>
              <a:rPr lang="en-US" sz="2800" dirty="0">
                <a:solidFill>
                  <a:prstClr val="black"/>
                </a:solidFill>
              </a:rPr>
              <a:t> can be place inside the parentheses</a:t>
            </a:r>
            <a:endParaRPr lang="en-US" sz="1600" dirty="0">
              <a:solidFill>
                <a:prstClr val="black"/>
              </a:solidFill>
            </a:endParaRPr>
          </a:p>
          <a:p>
            <a:pPr marL="682625" lvl="1" indent="-395288">
              <a:buFont typeface="+mj-lt"/>
              <a:buAutoNum type="arabicPeriod"/>
            </a:pPr>
            <a:r>
              <a:rPr lang="en-US" sz="3200" dirty="0">
                <a:solidFill>
                  <a:prstClr val="black"/>
                </a:solidFill>
              </a:rPr>
              <a:t>It has a </a:t>
            </a:r>
            <a:r>
              <a:rPr lang="en-US" sz="3200" dirty="0">
                <a:solidFill>
                  <a:srgbClr val="B86410"/>
                </a:solidFill>
              </a:rPr>
              <a:t>colon</a:t>
            </a:r>
            <a:r>
              <a:rPr lang="en-US" sz="3200" dirty="0">
                <a:solidFill>
                  <a:prstClr val="black"/>
                </a:solidFill>
              </a:rPr>
              <a:t>, </a:t>
            </a:r>
            <a:r>
              <a:rPr lang="en-US" sz="3200" b="1" dirty="0">
                <a:solidFill>
                  <a:srgbClr val="B86410"/>
                </a:solidFill>
              </a:rPr>
              <a:t>:</a:t>
            </a:r>
            <a:r>
              <a:rPr lang="en-US" sz="3200" dirty="0">
                <a:solidFill>
                  <a:prstClr val="black"/>
                </a:solidFill>
              </a:rPr>
              <a:t>, after the closing </a:t>
            </a:r>
            <a:r>
              <a:rPr lang="en-US" sz="3200" dirty="0" smtClean="0">
                <a:solidFill>
                  <a:prstClr val="black"/>
                </a:solidFill>
              </a:rPr>
              <a:t>parenthesis.</a:t>
            </a:r>
            <a:endParaRPr lang="en-US" sz="3200" dirty="0">
              <a:solidFill>
                <a:prstClr val="black"/>
              </a:solidFill>
            </a:endParaRPr>
          </a:p>
          <a:p>
            <a:pPr marL="512763" lvl="1" indent="-225425">
              <a:buFont typeface="+mj-lt"/>
              <a:buAutoNum type="arabicPeriod"/>
            </a:pPr>
            <a:r>
              <a:rPr lang="en-US" sz="3200" i="1" spc="-100" dirty="0" smtClean="0">
                <a:solidFill>
                  <a:prstClr val="black"/>
                </a:solidFill>
              </a:rPr>
              <a:t> </a:t>
            </a:r>
            <a:r>
              <a:rPr lang="en-US" sz="3200" i="1" dirty="0" smtClean="0">
                <a:solidFill>
                  <a:prstClr val="black"/>
                </a:solidFill>
                <a:latin typeface="Arial Narrow" panose="020B0606020202030204" pitchFamily="34" charset="0"/>
              </a:rPr>
              <a:t>Optionally</a:t>
            </a:r>
            <a:r>
              <a:rPr lang="en-US" sz="3200" i="1" dirty="0">
                <a:solidFill>
                  <a:prstClr val="black"/>
                </a:solidFill>
                <a:latin typeface="Arial Narrow" panose="020B0606020202030204" pitchFamily="34" charset="0"/>
              </a:rPr>
              <a:t>, </a:t>
            </a:r>
            <a:r>
              <a:rPr lang="en-US" sz="3200" i="1" dirty="0" smtClean="0">
                <a:solidFill>
                  <a:prstClr val="black"/>
                </a:solidFill>
                <a:latin typeface="Arial Narrow" panose="020B0606020202030204" pitchFamily="34" charset="0"/>
              </a:rPr>
              <a:t>there can be a </a:t>
            </a:r>
            <a:r>
              <a:rPr lang="en-US" sz="3200" i="1" dirty="0">
                <a:solidFill>
                  <a:prstClr val="black"/>
                </a:solidFill>
                <a:latin typeface="Arial Narrow" panose="020B0606020202030204" pitchFamily="34" charset="0"/>
              </a:rPr>
              <a:t>2</a:t>
            </a:r>
            <a:r>
              <a:rPr lang="en-US" sz="3200" i="1" baseline="30000" dirty="0">
                <a:solidFill>
                  <a:prstClr val="black"/>
                </a:solidFill>
                <a:latin typeface="Arial Narrow" panose="020B0606020202030204" pitchFamily="34" charset="0"/>
              </a:rPr>
              <a:t>nd</a:t>
            </a:r>
            <a:r>
              <a:rPr lang="en-US" sz="3200" i="1" dirty="0">
                <a:solidFill>
                  <a:prstClr val="black"/>
                </a:solidFill>
                <a:latin typeface="Arial Narrow" panose="020B0606020202030204" pitchFamily="34" charset="0"/>
              </a:rPr>
              <a:t> line, for </a:t>
            </a:r>
            <a:r>
              <a:rPr lang="en-US" sz="3200" i="1" dirty="0">
                <a:solidFill>
                  <a:srgbClr val="00FFCC"/>
                </a:solidFill>
                <a:latin typeface="Arial Narrow" panose="020B0606020202030204" pitchFamily="34" charset="0"/>
              </a:rPr>
              <a:t>documentation</a:t>
            </a:r>
            <a:r>
              <a:rPr lang="en-US" sz="3200" i="1" dirty="0">
                <a:solidFill>
                  <a:prstClr val="black"/>
                </a:solidFill>
                <a:latin typeface="Arial Narrow" panose="020B0606020202030204" pitchFamily="34" charset="0"/>
              </a:rPr>
              <a:t>.</a:t>
            </a:r>
          </a:p>
          <a:p>
            <a:pPr>
              <a:spcBef>
                <a:spcPts val="2400"/>
              </a:spcBef>
              <a:buClr>
                <a:prstClr val="black"/>
              </a:buClr>
            </a:pPr>
            <a:r>
              <a:rPr lang="en-US" sz="3200" spc="-10" dirty="0">
                <a:solidFill>
                  <a:srgbClr val="FF0000"/>
                </a:solidFill>
              </a:rPr>
              <a:t>The</a:t>
            </a:r>
            <a:r>
              <a:rPr lang="en-US" sz="3200" spc="-10" dirty="0">
                <a:solidFill>
                  <a:prstClr val="black"/>
                </a:solidFill>
              </a:rPr>
              <a:t> </a:t>
            </a:r>
            <a:r>
              <a:rPr lang="en-US" sz="3200" spc="-10" dirty="0">
                <a:solidFill>
                  <a:srgbClr val="660066"/>
                </a:solidFill>
              </a:rPr>
              <a:t>body</a:t>
            </a:r>
            <a:r>
              <a:rPr lang="en-US" sz="3200" spc="-10" dirty="0">
                <a:solidFill>
                  <a:prstClr val="black"/>
                </a:solidFill>
              </a:rPr>
              <a:t> </a:t>
            </a:r>
            <a:r>
              <a:rPr lang="en-US" sz="3200" spc="-10" dirty="0">
                <a:solidFill>
                  <a:srgbClr val="FF0000"/>
                </a:solidFill>
              </a:rPr>
              <a:t>is recognized </a:t>
            </a:r>
            <a:r>
              <a:rPr lang="en-US" sz="3200" spc="-10" dirty="0" smtClean="0">
                <a:solidFill>
                  <a:srgbClr val="FF0000"/>
                </a:solidFill>
              </a:rPr>
              <a:t>by indenting it </a:t>
            </a:r>
            <a:r>
              <a:rPr lang="en-US" sz="3200" spc="-10" dirty="0">
                <a:solidFill>
                  <a:srgbClr val="FF0000"/>
                </a:solidFill>
              </a:rPr>
              <a:t>under the </a:t>
            </a:r>
            <a:r>
              <a:rPr lang="en-US" sz="3200" spc="-10" dirty="0" smtClean="0">
                <a:solidFill>
                  <a:srgbClr val="FF0000"/>
                </a:solidFill>
              </a:rPr>
              <a:t>header.</a:t>
            </a:r>
            <a:endParaRPr lang="en-US" sz="3200" spc="-10" dirty="0">
              <a:solidFill>
                <a:srgbClr val="FF0000"/>
              </a:solidFill>
            </a:endParaRPr>
          </a:p>
          <a:p>
            <a:pPr lvl="1"/>
            <a:r>
              <a:rPr lang="en-US" sz="2800" dirty="0" smtClean="0">
                <a:solidFill>
                  <a:prstClr val="black"/>
                </a:solidFill>
              </a:rPr>
              <a:t>A </a:t>
            </a:r>
            <a:r>
              <a:rPr lang="en-US" sz="2800" dirty="0">
                <a:solidFill>
                  <a:prstClr val="black"/>
                </a:solidFill>
              </a:rPr>
              <a:t>return statement </a:t>
            </a:r>
            <a:r>
              <a:rPr lang="en-US" sz="2800" dirty="0" smtClean="0">
                <a:solidFill>
                  <a:prstClr val="black"/>
                </a:solidFill>
              </a:rPr>
              <a:t>exits, </a:t>
            </a:r>
            <a:r>
              <a:rPr lang="en-US" sz="2800" dirty="0">
                <a:solidFill>
                  <a:prstClr val="black"/>
                </a:solidFill>
              </a:rPr>
              <a:t>optionally passing back a value.</a:t>
            </a:r>
          </a:p>
          <a:p>
            <a:pPr lvl="1"/>
            <a:endParaRPr lang="en-US" sz="1400" b="1" dirty="0">
              <a:solidFill>
                <a:prstClr val="black"/>
              </a:solidFill>
            </a:endParaRPr>
          </a:p>
          <a:p>
            <a:pPr lvl="1">
              <a:buFontTx/>
              <a:buNone/>
            </a:pPr>
            <a:r>
              <a:rPr lang="en-US" sz="2800" b="1" dirty="0" err="1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printme</a:t>
            </a:r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str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</a:rPr>
              <a:t>)</a:t>
            </a:r>
            <a:r>
              <a:rPr lang="en-US" sz="2800" b="1" dirty="0">
                <a:solidFill>
                  <a:srgbClr val="B86410"/>
                </a:solidFill>
                <a:latin typeface="Consolas" panose="020B0609020204030204" pitchFamily="49" charset="0"/>
                <a:cs typeface="Courier New" pitchFamily="49" charset="0"/>
              </a:rPr>
              <a:t>: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		 </a:t>
            </a:r>
            <a:r>
              <a:rPr lang="en-US" sz="2800" dirty="0">
                <a:solidFill>
                  <a:srgbClr val="00FFCC"/>
                </a:solidFill>
                <a:latin typeface="Consolas" panose="020B0609020204030204" pitchFamily="49" charset="0"/>
                <a:cs typeface="Courier New" pitchFamily="49" charset="0"/>
              </a:rPr>
              <a:t>"""This prints the string passed into it"""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	  </a:t>
            </a:r>
            <a:r>
              <a:rPr lang="en-US" sz="2800" dirty="0">
                <a:solidFill>
                  <a:srgbClr val="660066"/>
                </a:solidFill>
                <a:latin typeface="Consolas" panose="020B0609020204030204" pitchFamily="49" charset="0"/>
                <a:cs typeface="Courier New" pitchFamily="49" charset="0"/>
              </a:rPr>
              <a:t>print (</a:t>
            </a:r>
            <a:r>
              <a:rPr lang="en-US" sz="2800" dirty="0" err="1">
                <a:solidFill>
                  <a:srgbClr val="660066"/>
                </a:solidFill>
                <a:latin typeface="Consolas" panose="020B0609020204030204" pitchFamily="49" charset="0"/>
                <a:cs typeface="Courier New" pitchFamily="49" charset="0"/>
              </a:rPr>
              <a:t>str</a:t>
            </a:r>
            <a:r>
              <a:rPr lang="en-US" sz="2800" dirty="0">
                <a:solidFill>
                  <a:srgbClr val="660066"/>
                </a:solidFill>
                <a:latin typeface="Consolas" panose="020B0609020204030204" pitchFamily="49" charset="0"/>
                <a:cs typeface="Courier New" pitchFamily="49" charset="0"/>
              </a:rPr>
              <a:t>) </a:t>
            </a:r>
            <a:r>
              <a:rPr lang="en-US" sz="2400" dirty="0">
                <a:solidFill>
                  <a:srgbClr val="660066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 smtClean="0">
                <a:solidFill>
                  <a:srgbClr val="0070C0"/>
                </a:solidFill>
                <a:latin typeface="Elephant" panose="02020904090505020303" pitchFamily="18" charset="0"/>
              </a:rPr>
              <a:t>De</a:t>
            </a:r>
            <a:r>
              <a:rPr lang="en-US" altLang="zh-TW" sz="4074" kern="0" spc="350" dirty="0" smtClean="0">
                <a:solidFill>
                  <a:srgbClr val="0070C0"/>
                </a:solidFill>
                <a:latin typeface="Elephant" panose="02020904090505020303" pitchFamily="18" charset="0"/>
              </a:rPr>
              <a:t>f</a:t>
            </a:r>
            <a:r>
              <a:rPr lang="en-US" altLang="zh-TW" sz="4074" kern="0" dirty="0" smtClean="0">
                <a:solidFill>
                  <a:srgbClr val="0070C0"/>
                </a:solidFill>
                <a:latin typeface="Elephant" panose="02020904090505020303" pitchFamily="18" charset="0"/>
              </a:rPr>
              <a:t>ining a Function</a:t>
            </a:r>
            <a:endParaRPr lang="en-US" altLang="zh-TW" sz="2300" kern="0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sp>
        <p:nvSpPr>
          <p:cNvPr id="2" name="圓角矩形圖說文字 1"/>
          <p:cNvSpPr/>
          <p:nvPr/>
        </p:nvSpPr>
        <p:spPr>
          <a:xfrm>
            <a:off x="2502694" y="5562600"/>
            <a:ext cx="2667000" cy="1143000"/>
          </a:xfrm>
          <a:prstGeom prst="wedgeRoundRectCallout">
            <a:avLst>
              <a:gd name="adj1" fmla="val -118378"/>
              <a:gd name="adj2" fmla="val 2419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Remember to add this indentation!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6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 txBox="1">
            <a:spLocks/>
          </p:cNvSpPr>
          <p:nvPr/>
        </p:nvSpPr>
        <p:spPr>
          <a:xfrm>
            <a:off x="-117134" y="1076326"/>
            <a:ext cx="10582728" cy="5895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900" dirty="0">
                <a:solidFill>
                  <a:sysClr val="windowText" lastClr="000000"/>
                </a:solidFill>
                <a:latin typeface="Calibri"/>
              </a:rPr>
              <a:t>    </a:t>
            </a:r>
            <a:r>
              <a:rPr lang="en-US" altLang="en-US" sz="1400" dirty="0">
                <a:solidFill>
                  <a:sysClr val="windowText" lastClr="000000"/>
                </a:solidFill>
                <a:latin typeface="Calibri"/>
                <a:cs typeface="Calibri" panose="020F0502020204030204" pitchFamily="34" charset="0"/>
              </a:rPr>
              <a:t> </a:t>
            </a:r>
            <a:r>
              <a:rPr lang="en-US" altLang="en-US" sz="4000" dirty="0">
                <a:solidFill>
                  <a:sysClr val="window" lastClr="FFFFFF"/>
                </a:solidFill>
                <a:latin typeface="Calibri"/>
                <a:cs typeface="Calibri" panose="020F0502020204030204" pitchFamily="34" charset="0"/>
              </a:rPr>
              <a:t>Several variables can also be </a:t>
            </a:r>
            <a:r>
              <a:rPr lang="en-US" altLang="en-US" sz="4000" b="1" i="1" dirty="0">
                <a:solidFill>
                  <a:sysClr val="window" lastClr="FFFFFF"/>
                </a:solidFill>
                <a:latin typeface="Calibri"/>
                <a:cs typeface="Calibri" panose="020F0502020204030204" pitchFamily="34" charset="0"/>
              </a:rPr>
              <a:t>assigned  simultaneously</a:t>
            </a:r>
            <a:r>
              <a:rPr lang="en-US" altLang="en-US" sz="4000" dirty="0">
                <a:solidFill>
                  <a:sysClr val="window" lastClr="FFFFFF"/>
                </a:solidFill>
                <a:latin typeface="Calibri"/>
                <a:cs typeface="Calibri" panose="020F0502020204030204" pitchFamily="34" charset="0"/>
              </a:rPr>
              <a:t>:</a:t>
            </a:r>
            <a:endParaRPr lang="en-US" altLang="en-US" sz="3900" dirty="0">
              <a:solidFill>
                <a:sysClr val="window" lastClr="FFFFFF"/>
              </a:solidFill>
              <a:latin typeface="Calibri"/>
            </a:endParaRP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ysClr val="window" lastClr="FFFFFF">
                    <a:lumMod val="6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b="1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15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     </a:t>
            </a:r>
            <a:r>
              <a:rPr lang="en-US" altLang="en-US" sz="15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#all set to 1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 </a:t>
            </a:r>
            <a:r>
              <a:rPr lang="en-US" altLang="en-US" sz="32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 </a:t>
            </a:r>
            <a:r>
              <a:rPr lang="en-US" altLang="en-US" sz="32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3200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3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15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 </a:t>
            </a:r>
            <a:r>
              <a:rPr lang="en-US" altLang="en-US" sz="15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#respectively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32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2</a:t>
            </a:r>
            <a:r>
              <a:rPr lang="en-US" altLang="en-US" sz="3200" b="1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3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32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3200" spc="-1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spc="-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3200" b="1" spc="-2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3200" spc="-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spc="-20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3200" spc="-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spc="-1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3200" spc="-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3200" spc="-1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1300" b="1" spc="-1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b="1" spc="-10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3200" spc="-1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spc="-100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3200" spc="-1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1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</a:t>
            </a:r>
            <a:r>
              <a:rPr lang="en-US" altLang="en-US" sz="3200" spc="-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t(</a:t>
            </a:r>
            <a:r>
              <a:rPr lang="en-US" altLang="en-US" sz="3200" spc="-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#from</a:t>
            </a:r>
            <a:r>
              <a:rPr lang="en-US" altLang="en-US" sz="21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spc="-8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li</a:t>
            </a: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</a:t>
            </a: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Arial Black" panose="020B0A04020102020204" pitchFamily="34" charset="0"/>
                <a:cs typeface="Leelawadee UI" panose="020B0502040204020203" pitchFamily="34" charset="-34"/>
              </a:rPr>
              <a:t>/</a:t>
            </a: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tu</a:t>
            </a:r>
            <a:r>
              <a:rPr lang="en-US" altLang="en-US" sz="3200" spc="-8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pl</a:t>
            </a: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32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5</a:t>
            </a:r>
            <a:r>
              <a:rPr lang="en-US" altLang="en-US" sz="3200" b="1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3200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15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endParaRPr lang="en-US" altLang="en-US" sz="3200" dirty="0">
              <a:solidFill>
                <a:sysClr val="windowText" lastClr="000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 err="1">
                <a:solidFill>
                  <a:srgbClr val="E89898"/>
                </a:solidFill>
                <a:cs typeface="Arial" panose="020B0604020202020204" pitchFamily="34" charset="0"/>
              </a:rPr>
              <a:t>Traceback</a:t>
            </a:r>
            <a:r>
              <a:rPr lang="en-US" altLang="en-US" sz="3200" dirty="0">
                <a:solidFill>
                  <a:srgbClr val="E89898"/>
                </a:solidFill>
                <a:cs typeface="Arial" panose="020B0604020202020204" pitchFamily="34" charset="0"/>
              </a:rPr>
              <a:t> (most recent call last):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rgbClr val="E89898"/>
                </a:solidFill>
                <a:cs typeface="Arial" panose="020B0604020202020204" pitchFamily="34" charset="0"/>
              </a:rPr>
              <a:t>  File "&lt;</a:t>
            </a:r>
            <a:r>
              <a:rPr lang="en-US" altLang="en-US" sz="3200" dirty="0" err="1">
                <a:solidFill>
                  <a:srgbClr val="E89898"/>
                </a:solidFill>
                <a:cs typeface="Arial" panose="020B0604020202020204" pitchFamily="34" charset="0"/>
              </a:rPr>
              <a:t>stdin</a:t>
            </a:r>
            <a:r>
              <a:rPr lang="en-US" altLang="en-US" sz="3200" dirty="0">
                <a:solidFill>
                  <a:srgbClr val="E89898"/>
                </a:solidFill>
                <a:cs typeface="Arial" panose="020B0604020202020204" pitchFamily="34" charset="0"/>
              </a:rPr>
              <a:t>&gt;", line 1, in &lt;module&gt;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 err="1">
                <a:solidFill>
                  <a:srgbClr val="FF0000"/>
                </a:solidFill>
                <a:cs typeface="Arial" panose="020B0604020202020204" pitchFamily="34" charset="0"/>
              </a:rPr>
              <a:t>ValueError</a:t>
            </a:r>
            <a:r>
              <a:rPr lang="en-US" altLang="en-US" sz="3200" dirty="0">
                <a:solidFill>
                  <a:srgbClr val="FF0000"/>
                </a:solidFill>
                <a:cs typeface="Arial" panose="020B0604020202020204" pitchFamily="34" charset="0"/>
              </a:rPr>
              <a:t>: not enough values to unpack (expected 3, got 2)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b="1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3200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3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 err="1">
                <a:solidFill>
                  <a:srgbClr val="E89898"/>
                </a:solidFill>
                <a:cs typeface="Arial" panose="020B0604020202020204" pitchFamily="34" charset="0"/>
              </a:rPr>
              <a:t>Traceback</a:t>
            </a:r>
            <a:r>
              <a:rPr lang="en-US" altLang="en-US" sz="3200" dirty="0">
                <a:solidFill>
                  <a:srgbClr val="E89898"/>
                </a:solidFill>
                <a:cs typeface="Arial" panose="020B0604020202020204" pitchFamily="34" charset="0"/>
              </a:rPr>
              <a:t> (most recent call last):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rgbClr val="E89898"/>
                </a:solidFill>
                <a:cs typeface="Arial" panose="020B0604020202020204" pitchFamily="34" charset="0"/>
              </a:rPr>
              <a:t>  File "&lt;</a:t>
            </a:r>
            <a:r>
              <a:rPr lang="en-US" altLang="en-US" sz="3200" dirty="0" err="1">
                <a:solidFill>
                  <a:srgbClr val="E89898"/>
                </a:solidFill>
                <a:cs typeface="Arial" panose="020B0604020202020204" pitchFamily="34" charset="0"/>
              </a:rPr>
              <a:t>stdin</a:t>
            </a:r>
            <a:r>
              <a:rPr lang="en-US" altLang="en-US" sz="3200" dirty="0">
                <a:solidFill>
                  <a:srgbClr val="E89898"/>
                </a:solidFill>
                <a:cs typeface="Arial" panose="020B0604020202020204" pitchFamily="34" charset="0"/>
              </a:rPr>
              <a:t>&gt;", line 1, in &lt;module&gt;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 err="1">
                <a:solidFill>
                  <a:srgbClr val="FF0000"/>
                </a:solidFill>
                <a:cs typeface="Arial" panose="020B0604020202020204" pitchFamily="34" charset="0"/>
              </a:rPr>
              <a:t>ValueError</a:t>
            </a:r>
            <a:r>
              <a:rPr lang="en-US" altLang="en-US" sz="3200" dirty="0">
                <a:solidFill>
                  <a:srgbClr val="FF0000"/>
                </a:solidFill>
                <a:cs typeface="Arial" panose="020B0604020202020204" pitchFamily="34" charset="0"/>
              </a:rPr>
              <a:t>: too many values to unpack (expected 3)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ysClr val="window" lastClr="FFFFFF">
                    <a:lumMod val="6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5578" y="2235000"/>
            <a:ext cx="710730" cy="21961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>
              <a:defRPr/>
            </a:pPr>
            <a:r>
              <a:rPr lang="en-US" altLang="zh-TW" sz="2500" kern="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  <a:ea typeface="新細明體" panose="02020500000000000000" pitchFamily="18" charset="-120"/>
              </a:rPr>
              <a:t>&gt;&gt;&gt;</a:t>
            </a:r>
            <a:endParaRPr lang="zh-TW" altLang="en-US" sz="2500" kern="0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  <a:ea typeface="新細明體" panose="02020500000000000000" pitchFamily="18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5578" y="2925242"/>
            <a:ext cx="710730" cy="21961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>
              <a:defRPr/>
            </a:pPr>
            <a:r>
              <a:rPr lang="en-US" altLang="zh-TW" sz="2500" kern="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  <a:ea typeface="新細明體" panose="02020500000000000000" pitchFamily="18" charset="-120"/>
              </a:rPr>
              <a:t>&gt;&gt;&gt;</a:t>
            </a:r>
            <a:endParaRPr lang="zh-TW" altLang="en-US" sz="2500" kern="0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  <a:ea typeface="新細明體" panose="02020500000000000000" pitchFamily="18" charset="-12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5578" y="3624393"/>
            <a:ext cx="710730" cy="21961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>
              <a:defRPr/>
            </a:pPr>
            <a:r>
              <a:rPr lang="en-US" altLang="zh-TW" sz="2500" kern="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  <a:ea typeface="新細明體" panose="02020500000000000000" pitchFamily="18" charset="-120"/>
              </a:rPr>
              <a:t>&gt;&gt;&gt;</a:t>
            </a:r>
            <a:endParaRPr lang="zh-TW" altLang="en-US" sz="2500" kern="0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  <a:ea typeface="新細明體" panose="02020500000000000000" pitchFamily="18" charset="-12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5578" y="5013476"/>
            <a:ext cx="710730" cy="219612"/>
          </a:xfrm>
          <a:prstGeom prst="rect">
            <a:avLst/>
          </a:prstGeom>
          <a:solidFill>
            <a:srgbClr val="FDFDF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>
              <a:defRPr/>
            </a:pPr>
            <a:r>
              <a:rPr lang="en-US" altLang="zh-TW" sz="2500" kern="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  <a:ea typeface="新細明體" panose="02020500000000000000" pitchFamily="18" charset="-120"/>
              </a:rPr>
              <a:t>&gt;&gt;&gt;</a:t>
            </a:r>
            <a:endParaRPr lang="zh-TW" altLang="en-US" sz="2500" kern="0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  <a:ea typeface="新細明體" panose="02020500000000000000" pitchFamily="18" charset="-12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Multiple </a:t>
            </a:r>
            <a:r>
              <a:rPr lang="en-US" altLang="zh-TW" sz="4074" kern="0" dirty="0" smtClean="0">
                <a:solidFill>
                  <a:srgbClr val="0070C0"/>
                </a:solidFill>
                <a:latin typeface="Elephant" panose="02020904090505020303" pitchFamily="18" charset="0"/>
              </a:rPr>
              <a:t>Assignments</a:t>
            </a:r>
            <a:r>
              <a:rPr lang="en-US" altLang="zh-TW" sz="2300" kern="0" dirty="0" smtClean="0">
                <a:solidFill>
                  <a:schemeClr val="bg1"/>
                </a:solidFill>
                <a:latin typeface="Elephant" panose="02020904090505020303" pitchFamily="18" charset="0"/>
              </a:rPr>
              <a:t>_</a:t>
            </a:r>
            <a:endParaRPr lang="en-US" altLang="zh-TW" sz="2300" kern="0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7940" y="800101"/>
            <a:ext cx="9647555" cy="8291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8438" indent="-198438">
              <a:lnSpc>
                <a:spcPct val="98000"/>
              </a:lnSpc>
              <a:buClr>
                <a:srgbClr val="3333CC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altLang="en-US" sz="2400" spc="-100" dirty="0">
                <a:solidFill>
                  <a:sysClr val="windowText" lastClr="000000"/>
                </a:solidFill>
                <a:cs typeface="Calibri" panose="020F0502020204030204" pitchFamily="34" charset="0"/>
              </a:rPr>
              <a:t> </a:t>
            </a:r>
            <a:r>
              <a:rPr lang="en-US" altLang="en-US" sz="3200" kern="0" spc="-100" dirty="0" smtClean="0">
                <a:solidFill>
                  <a:srgbClr val="000000"/>
                </a:solidFill>
              </a:rPr>
              <a:t>Variable </a:t>
            </a:r>
            <a:r>
              <a:rPr lang="en-US" altLang="en-US" sz="3200" kern="0" spc="-100" dirty="0">
                <a:solidFill>
                  <a:srgbClr val="FF0000"/>
                </a:solidFill>
              </a:rPr>
              <a:t>assignments</a:t>
            </a:r>
            <a:r>
              <a:rPr lang="en-US" altLang="en-US" sz="3200" kern="0" spc="-100" dirty="0">
                <a:solidFill>
                  <a:srgbClr val="000000"/>
                </a:solidFill>
              </a:rPr>
              <a:t> can be </a:t>
            </a:r>
            <a:r>
              <a:rPr lang="en-US" altLang="en-US" sz="3200" b="1" i="1" kern="0" spc="-100" dirty="0">
                <a:solidFill>
                  <a:srgbClr val="FF0000"/>
                </a:solidFill>
              </a:rPr>
              <a:t>chained</a:t>
            </a:r>
            <a:r>
              <a:rPr lang="en-US" altLang="en-US" sz="2000" kern="0" spc="-100" dirty="0">
                <a:solidFill>
                  <a:srgbClr val="000000"/>
                </a:solidFill>
              </a:rPr>
              <a:t> </a:t>
            </a:r>
            <a:r>
              <a:rPr lang="en-US" altLang="en-US" sz="3200" kern="0" spc="-100" dirty="0" smtClean="0">
                <a:solidFill>
                  <a:srgbClr val="000000"/>
                </a:solidFill>
              </a:rPr>
              <a:t>:</a:t>
            </a:r>
            <a:endParaRPr lang="en-US" altLang="en-US" sz="3200" kern="0" spc="-1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80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-164306" y="990600"/>
            <a:ext cx="9601201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sz="2800" kern="0" dirty="0"/>
          </a:p>
          <a:p>
            <a:pPr lvl="1">
              <a:lnSpc>
                <a:spcPct val="98000"/>
              </a:lnSpc>
              <a:spcBef>
                <a:spcPts val="0"/>
              </a:spcBef>
              <a:buFontTx/>
              <a:buNone/>
            </a:pPr>
            <a:r>
              <a:rPr lang="en-US" altLang="en-US" sz="250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25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1&lt;2==2&lt;3</a:t>
            </a:r>
            <a:endParaRPr lang="en-US" altLang="en-US" sz="2500" b="1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lvl="1">
              <a:lnSpc>
                <a:spcPct val="98000"/>
              </a:lnSpc>
              <a:spcBef>
                <a:spcPts val="0"/>
              </a:spcBef>
              <a:buFontTx/>
              <a:buNone/>
            </a:pPr>
            <a:r>
              <a:rPr lang="en-US" altLang="en-US" sz="25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0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1&lt;2==2&lt;3 </a:t>
            </a:r>
            <a:r>
              <a:rPr lang="en-US" altLang="en-US" sz="25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and</a:t>
            </a:r>
            <a:r>
              <a:rPr lang="en-US" altLang="en-US" sz="25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00" b="1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7!=2!=7</a:t>
            </a:r>
            <a:endParaRPr lang="en-US" altLang="en-US" sz="2500" b="1" dirty="0">
              <a:solidFill>
                <a:srgbClr val="0070C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00" b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  <a:endParaRPr lang="en-US" altLang="en-US" sz="2500" b="1" dirty="0">
              <a:solidFill>
                <a:srgbClr val="0070C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0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1&lt;2&lt;3&gt;0&lt;4&lt;8&gt;2   </a:t>
            </a:r>
            <a:r>
              <a:rPr lang="en-US" altLang="en-US" sz="2500" dirty="0"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endParaRPr lang="en-US" altLang="en-US" sz="25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0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00" b="1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1&lt;2&lt;3&lt;4&lt;0&lt;5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False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00" dirty="0">
                <a:solidFill>
                  <a:schemeClr val="bg1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r>
              <a:rPr lang="en-US" altLang="en-US" sz="25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5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1&lt;2&lt;3 </a:t>
            </a:r>
            <a:r>
              <a:rPr lang="en-US" altLang="en-US" sz="25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and</a:t>
            </a:r>
            <a:r>
              <a:rPr lang="en-US" altLang="en-US" sz="25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1&lt;2&gt;1&lt;2&gt;1&lt;2&gt;</a:t>
            </a:r>
            <a:r>
              <a:rPr lang="en-US" altLang="en-US" sz="25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False</a:t>
            </a:r>
            <a:r>
              <a:rPr lang="en-US" altLang="en-US" sz="25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&lt;</a:t>
            </a:r>
            <a:r>
              <a:rPr lang="en-US" altLang="en-US" sz="25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250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2500" kern="0" dirty="0">
              <a:solidFill>
                <a:srgbClr val="000000"/>
              </a:solidFill>
              <a:latin typeface="Lucida Console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Multiple Comparisons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7940" y="804672"/>
            <a:ext cx="10333355" cy="8291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8438" indent="-198438">
              <a:lnSpc>
                <a:spcPct val="98000"/>
              </a:lnSpc>
              <a:buClr>
                <a:srgbClr val="3333CC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ysClr val="windowText" lastClr="000000"/>
                </a:solidFill>
                <a:cs typeface="Calibri" panose="020F0502020204030204" pitchFamily="34" charset="0"/>
              </a:rPr>
              <a:t> </a:t>
            </a:r>
            <a:r>
              <a:rPr lang="en-US" altLang="en-US" sz="3200" kern="0" dirty="0">
                <a:solidFill>
                  <a:srgbClr val="000000"/>
                </a:solidFill>
              </a:rPr>
              <a:t>Comparisons </a:t>
            </a:r>
            <a:r>
              <a:rPr lang="en-US" altLang="en-US" sz="3200" kern="0" dirty="0" smtClean="0">
                <a:solidFill>
                  <a:srgbClr val="000000"/>
                </a:solidFill>
              </a:rPr>
              <a:t>can also </a:t>
            </a:r>
            <a:r>
              <a:rPr lang="en-US" altLang="en-US" sz="3200" kern="0" dirty="0">
                <a:solidFill>
                  <a:srgbClr val="000000"/>
                </a:solidFill>
              </a:rPr>
              <a:t>be </a:t>
            </a:r>
            <a:r>
              <a:rPr lang="en-US" altLang="en-US" sz="3200" b="1" i="1" kern="0" dirty="0" smtClean="0">
                <a:solidFill>
                  <a:srgbClr val="FF0000"/>
                </a:solidFill>
              </a:rPr>
              <a:t>chained</a:t>
            </a:r>
            <a:r>
              <a:rPr lang="en-US" altLang="en-US" sz="2000" b="1" i="1" kern="0" dirty="0" smtClean="0">
                <a:solidFill>
                  <a:srgbClr val="FF0000"/>
                </a:solidFill>
              </a:rPr>
              <a:t> </a:t>
            </a:r>
            <a:r>
              <a:rPr lang="en-US" altLang="en-US" sz="3200" kern="0" dirty="0" smtClean="0">
                <a:solidFill>
                  <a:srgbClr val="000000"/>
                </a:solidFill>
              </a:rPr>
              <a:t>:</a:t>
            </a:r>
            <a:endParaRPr lang="en-US" altLang="en-US" sz="3200" kern="0" dirty="0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164305" y="990600"/>
            <a:ext cx="1371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sz="2800" kern="0" dirty="0"/>
          </a:p>
          <a:p>
            <a:pPr lvl="1">
              <a:lnSpc>
                <a:spcPct val="98000"/>
              </a:lnSpc>
              <a:spcBef>
                <a:spcPts val="0"/>
              </a:spcBef>
              <a:buFontTx/>
              <a:buNone/>
            </a:pPr>
            <a:endParaRPr lang="en-US" altLang="en-US" sz="2500" b="1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2500" b="1" dirty="0">
              <a:solidFill>
                <a:srgbClr val="00B05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8000"/>
              </a:lnSpc>
              <a:spcBef>
                <a:spcPts val="0"/>
              </a:spcBef>
              <a:buFontTx/>
              <a:buNone/>
            </a:pPr>
            <a:r>
              <a:rPr lang="en-US" altLang="en-US" sz="2500" dirty="0" smtClean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500" b="1" dirty="0">
              <a:solidFill>
                <a:srgbClr val="0070C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2500" b="1" dirty="0">
              <a:solidFill>
                <a:srgbClr val="0070C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00" dirty="0" smtClean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5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2500" b="1" dirty="0">
              <a:solidFill>
                <a:srgbClr val="00B05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00" dirty="0" smtClean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500" b="1" dirty="0">
              <a:solidFill>
                <a:srgbClr val="000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2500" b="1" dirty="0">
              <a:solidFill>
                <a:srgbClr val="FFC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endParaRPr lang="en-US" altLang="en-US" sz="2500" b="1" dirty="0">
              <a:solidFill>
                <a:srgbClr val="00B05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2500" b="1" dirty="0">
              <a:solidFill>
                <a:srgbClr val="00B05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500" b="1" dirty="0">
              <a:solidFill>
                <a:srgbClr val="00B05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5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-164306" y="609600"/>
            <a:ext cx="10333038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ts val="1200"/>
              </a:spcBef>
              <a:buClr>
                <a:srgbClr val="FFFFFF"/>
              </a:buClr>
            </a:pPr>
            <a:r>
              <a:rPr lang="en-US" altLang="en-US" sz="2800" kern="0" spc="-30" dirty="0"/>
              <a:t>Can compare </a:t>
            </a:r>
            <a:r>
              <a:rPr lang="en-US" altLang="en-US" sz="2800" b="1" kern="0" spc="-30" dirty="0">
                <a:solidFill>
                  <a:srgbClr val="00B0F0"/>
                </a:solidFill>
              </a:rPr>
              <a:t>strings</a:t>
            </a:r>
            <a:r>
              <a:rPr lang="en-US" altLang="en-US" sz="2800" kern="0" spc="-30" dirty="0">
                <a:solidFill>
                  <a:srgbClr val="FFFFFF">
                    <a:lumMod val="95000"/>
                  </a:srgbClr>
                </a:solidFill>
              </a:rPr>
              <a:t>, lists, tuples, sets, but </a:t>
            </a:r>
            <a:r>
              <a:rPr lang="en-US" altLang="en-US" sz="2800" b="1" kern="0" spc="-30" dirty="0">
                <a:solidFill>
                  <a:srgbClr val="FFFFFF">
                    <a:lumMod val="95000"/>
                  </a:srgbClr>
                </a:solidFill>
              </a:rPr>
              <a:t>not</a:t>
            </a:r>
            <a:r>
              <a:rPr lang="en-US" altLang="en-US" sz="2800" kern="0" spc="-30" dirty="0">
                <a:solidFill>
                  <a:srgbClr val="FFFFFF">
                    <a:lumMod val="95000"/>
                  </a:srgbClr>
                </a:solidFill>
              </a:rPr>
              <a:t> dictionaries</a:t>
            </a:r>
            <a:endParaRPr lang="en-US" altLang="en-US" sz="2800" kern="0" spc="-30" dirty="0">
              <a:solidFill>
                <a:srgbClr val="FFFFFF">
                  <a:lumMod val="85000"/>
                </a:srgbClr>
              </a:solidFill>
            </a:endParaRPr>
          </a:p>
          <a:p>
            <a:pPr lvl="1">
              <a:spcBef>
                <a:spcPts val="0"/>
              </a:spcBef>
            </a:pPr>
            <a:r>
              <a:rPr lang="en-US" altLang="en-US" sz="2600" dirty="0"/>
              <a:t>Compares left-to-right until </a:t>
            </a:r>
            <a:r>
              <a:rPr lang="en-US" altLang="en-US" sz="2600" dirty="0">
                <a:solidFill>
                  <a:srgbClr val="FF1493"/>
                </a:solidFill>
              </a:rPr>
              <a:t>first differenc</a:t>
            </a:r>
            <a:r>
              <a:rPr lang="en-US" altLang="en-US" sz="2600" dirty="0">
                <a:solidFill>
                  <a:srgbClr val="FF1493"/>
                </a:solidFill>
                <a:sym typeface="Wingdings" pitchFamily="2" charset="2"/>
              </a:rPr>
              <a:t>e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D9D9D9"/>
                </a:solidFill>
                <a:sym typeface="Wingdings" pitchFamily="2" charset="2"/>
              </a:rPr>
              <a:t>Subsequences are smaller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D9D9D9"/>
                </a:solidFill>
                <a:sym typeface="Wingdings" pitchFamily="2" charset="2"/>
              </a:rPr>
              <a:t>Strings use ASCII comparison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 print('appl</a:t>
            </a:r>
            <a:r>
              <a:rPr lang="en-US" altLang="en-US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e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'&lt;'appl</a:t>
            </a:r>
            <a:r>
              <a:rPr lang="en-US" altLang="en-US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y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')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  <a:sym typeface="Wingdings" pitchFamily="2" charset="2"/>
              </a:rPr>
              <a:t>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FFFFFF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sz="2200" kern="0" dirty="0"/>
          </a:p>
        </p:txBody>
      </p:sp>
      <p:sp>
        <p:nvSpPr>
          <p:cNvPr id="2" name="圓角矩形圖說文字 1"/>
          <p:cNvSpPr/>
          <p:nvPr/>
        </p:nvSpPr>
        <p:spPr bwMode="auto">
          <a:xfrm>
            <a:off x="369094" y="1943100"/>
            <a:ext cx="7543800" cy="1371600"/>
          </a:xfrm>
          <a:prstGeom prst="wedgeRoundRectCallout">
            <a:avLst>
              <a:gd name="adj1" fmla="val -11257"/>
              <a:gd name="adj2" fmla="val -85520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88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That is: the comparison is based on the order </a:t>
            </a:r>
            <a:b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</a:b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the strings would appear in an English Dictionary (not to be confused with a Python dictionary type).</a:t>
            </a:r>
            <a:endParaRPr lang="zh-TW" altLang="en-US" sz="2800" dirty="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6" name="圓角矩形圖說文字 5"/>
          <p:cNvSpPr/>
          <p:nvPr/>
        </p:nvSpPr>
        <p:spPr bwMode="auto">
          <a:xfrm>
            <a:off x="2464594" y="4305299"/>
            <a:ext cx="5372100" cy="990600"/>
          </a:xfrm>
          <a:prstGeom prst="wedgeRoundRectCallout">
            <a:avLst>
              <a:gd name="adj1" fmla="val -24492"/>
              <a:gd name="adj2" fmla="val -104422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88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Indeed, ‘apple’ does appear earlier</a:t>
            </a:r>
            <a:b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</a:b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than ‘apply’ in an English dictionary.</a:t>
            </a:r>
            <a:endParaRPr lang="zh-TW" altLang="en-US" sz="2800" dirty="0">
              <a:solidFill>
                <a:srgbClr val="FFFFFF"/>
              </a:solidFill>
              <a:latin typeface="Times New Roman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714" y="1866820"/>
            <a:ext cx="1562180" cy="1562180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Comparison Rules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-166547" y="3388661"/>
            <a:ext cx="1755724" cy="1297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5525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6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-164306" y="609600"/>
            <a:ext cx="10218738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ts val="1200"/>
              </a:spcBef>
              <a:buClr>
                <a:srgbClr val="FFFFFF"/>
              </a:buClr>
            </a:pPr>
            <a:r>
              <a:rPr lang="en-US" altLang="en-US" sz="2800" kern="0" spc="-30" dirty="0"/>
              <a:t>Can compare </a:t>
            </a:r>
            <a:r>
              <a:rPr lang="en-US" altLang="en-US" sz="2800" b="1" kern="0" spc="-30" dirty="0">
                <a:solidFill>
                  <a:srgbClr val="00B0F0"/>
                </a:solidFill>
              </a:rPr>
              <a:t>strings</a:t>
            </a:r>
            <a:r>
              <a:rPr lang="en-US" altLang="en-US" sz="2800" kern="0" spc="-30" dirty="0">
                <a:solidFill>
                  <a:srgbClr val="FFFFFF">
                    <a:lumMod val="95000"/>
                  </a:srgbClr>
                </a:solidFill>
              </a:rPr>
              <a:t>, lists, tuples, sets, but </a:t>
            </a:r>
            <a:r>
              <a:rPr lang="en-US" altLang="en-US" sz="2800" b="1" kern="0" spc="-30" dirty="0">
                <a:solidFill>
                  <a:srgbClr val="FFFFFF">
                    <a:lumMod val="95000"/>
                  </a:srgbClr>
                </a:solidFill>
              </a:rPr>
              <a:t>not</a:t>
            </a:r>
            <a:r>
              <a:rPr lang="en-US" altLang="en-US" sz="2800" kern="0" spc="-30" dirty="0">
                <a:solidFill>
                  <a:srgbClr val="FFFFFF">
                    <a:lumMod val="95000"/>
                  </a:srgbClr>
                </a:solidFill>
              </a:rPr>
              <a:t> dictionaries</a:t>
            </a:r>
            <a:endParaRPr lang="en-US" altLang="en-US" sz="2800" kern="0" spc="-30" dirty="0">
              <a:solidFill>
                <a:srgbClr val="FFFFFF">
                  <a:lumMod val="85000"/>
                </a:srgbClr>
              </a:solidFill>
            </a:endParaRP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FFFFFF">
                    <a:lumMod val="65000"/>
                  </a:srgbClr>
                </a:solidFill>
              </a:rPr>
              <a:t>Compares left-to-right until first differenc</a:t>
            </a:r>
            <a:r>
              <a:rPr lang="en-US" altLang="en-US" sz="2600" dirty="0">
                <a:solidFill>
                  <a:srgbClr val="FFFFFF">
                    <a:lumMod val="65000"/>
                  </a:srgbClr>
                </a:solidFill>
                <a:sym typeface="Wingdings" pitchFamily="2" charset="2"/>
              </a:rPr>
              <a:t>e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FF1493"/>
                </a:solidFill>
                <a:sym typeface="Wingdings" pitchFamily="2" charset="2"/>
              </a:rPr>
              <a:t>Subsequences</a:t>
            </a:r>
            <a:r>
              <a:rPr lang="en-US" altLang="en-US" sz="2600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altLang="en-US" sz="2600" dirty="0">
                <a:solidFill>
                  <a:srgbClr val="000000"/>
                </a:solidFill>
                <a:sym typeface="Wingdings" pitchFamily="2" charset="2"/>
              </a:rPr>
              <a:t>are smaller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D9D9D9"/>
                </a:solidFill>
                <a:sym typeface="Wingdings" pitchFamily="2" charset="2"/>
              </a:rPr>
              <a:t>Strings use ASCII comparison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	&gt;&gt;&gt; 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print('appl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e'&lt;'apply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')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	&gt;&gt;&gt; 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print('</a:t>
            </a:r>
            <a:r>
              <a:rPr lang="en-US" altLang="en-US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app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le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'&lt;'</a:t>
            </a:r>
            <a:r>
              <a:rPr lang="en-US" altLang="en-US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app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')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False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FFFFFF"/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  <p:sp>
        <p:nvSpPr>
          <p:cNvPr id="6" name="圓角矩形圖說文字 5"/>
          <p:cNvSpPr/>
          <p:nvPr/>
        </p:nvSpPr>
        <p:spPr bwMode="auto">
          <a:xfrm>
            <a:off x="1550194" y="4953000"/>
            <a:ext cx="5600700" cy="990600"/>
          </a:xfrm>
          <a:prstGeom prst="wedgeRoundRectCallout">
            <a:avLst>
              <a:gd name="adj1" fmla="val -22464"/>
              <a:gd name="adj2" fmla="val -92928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88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Indeed, ‘apple’ wou</a:t>
            </a:r>
            <a:r>
              <a:rPr lang="en-US" altLang="zh-TW" sz="2800" dirty="0">
                <a:solidFill>
                  <a:schemeClr val="bg1"/>
                </a:solidFill>
                <a:latin typeface="Times New Roman" charset="0"/>
              </a:rPr>
              <a:t>ld </a:t>
            </a:r>
            <a:r>
              <a:rPr lang="en-US" altLang="zh-TW" sz="2800" b="1" dirty="0">
                <a:solidFill>
                  <a:schemeClr val="bg1"/>
                </a:solidFill>
                <a:latin typeface="Times New Roman" charset="0"/>
              </a:rPr>
              <a:t>not</a:t>
            </a:r>
            <a:r>
              <a:rPr lang="en-US" altLang="zh-TW" sz="2800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be earlier</a:t>
            </a:r>
          </a:p>
          <a:p>
            <a:pPr algn="ctr" fontAlgn="base">
              <a:lnSpc>
                <a:spcPct val="88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than ‘app’ in an English dictionary.</a:t>
            </a:r>
            <a:endParaRPr lang="zh-TW" altLang="en-US" sz="2800" dirty="0">
              <a:solidFill>
                <a:srgbClr val="FFFFFF"/>
              </a:solidFill>
              <a:latin typeface="Times New Roman" charset="0"/>
            </a:endParaRPr>
          </a:p>
        </p:txBody>
      </p:sp>
      <p:pic>
        <p:nvPicPr>
          <p:cNvPr id="9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714" y="2209720"/>
            <a:ext cx="1562180" cy="1562180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Comparison Rules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-166547" y="3388659"/>
            <a:ext cx="1755724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</p:txBody>
      </p:sp>
      <p:sp>
        <p:nvSpPr>
          <p:cNvPr id="11" name="圓角矩形圖說文字 1"/>
          <p:cNvSpPr/>
          <p:nvPr/>
        </p:nvSpPr>
        <p:spPr bwMode="auto">
          <a:xfrm>
            <a:off x="369094" y="2304288"/>
            <a:ext cx="7543800" cy="1371600"/>
          </a:xfrm>
          <a:prstGeom prst="wedgeRoundRectCallout">
            <a:avLst>
              <a:gd name="adj1" fmla="val -30374"/>
              <a:gd name="adj2" fmla="val -85520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88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That is: the comparison is based on the order </a:t>
            </a:r>
            <a:b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</a:b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the strings would appear in an English Dictionary (not to be confused with a Python dictionary type).</a:t>
            </a:r>
            <a:endParaRPr lang="zh-TW" altLang="en-US" sz="2800" dirty="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09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-164306" y="609600"/>
            <a:ext cx="102870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ts val="1200"/>
              </a:spcBef>
              <a:buClr>
                <a:srgbClr val="FFFFFF"/>
              </a:buClr>
            </a:pPr>
            <a:r>
              <a:rPr lang="en-US" altLang="en-US" sz="2800" kern="0" spc="-30" dirty="0"/>
              <a:t>Can compare </a:t>
            </a:r>
            <a:r>
              <a:rPr lang="en-US" altLang="en-US" sz="2800" b="1" kern="0" spc="-30" dirty="0">
                <a:solidFill>
                  <a:srgbClr val="00B0F0"/>
                </a:solidFill>
              </a:rPr>
              <a:t>strings</a:t>
            </a:r>
            <a:r>
              <a:rPr lang="en-US" altLang="en-US" sz="2800" kern="0" spc="-30" dirty="0">
                <a:solidFill>
                  <a:srgbClr val="FFFFFF">
                    <a:lumMod val="95000"/>
                  </a:srgbClr>
                </a:solidFill>
              </a:rPr>
              <a:t>, lists, tuples, sets, but </a:t>
            </a:r>
            <a:r>
              <a:rPr lang="en-US" altLang="en-US" sz="2800" b="1" kern="0" spc="-30" dirty="0">
                <a:solidFill>
                  <a:srgbClr val="FFFFFF">
                    <a:lumMod val="95000"/>
                  </a:srgbClr>
                </a:solidFill>
              </a:rPr>
              <a:t>not</a:t>
            </a:r>
            <a:r>
              <a:rPr lang="en-US" altLang="en-US" sz="2800" kern="0" spc="-30" dirty="0">
                <a:solidFill>
                  <a:srgbClr val="FFFFFF">
                    <a:lumMod val="95000"/>
                  </a:srgbClr>
                </a:solidFill>
              </a:rPr>
              <a:t> dictionaries</a:t>
            </a:r>
            <a:endParaRPr lang="en-US" altLang="en-US" sz="2800" kern="0" spc="-30" dirty="0">
              <a:solidFill>
                <a:srgbClr val="FFFFFF">
                  <a:lumMod val="85000"/>
                </a:srgbClr>
              </a:solidFill>
            </a:endParaRP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FFFFFF">
                    <a:lumMod val="65000"/>
                  </a:srgbClr>
                </a:solidFill>
              </a:rPr>
              <a:t>Compares left-to-right until first differenc</a:t>
            </a:r>
            <a:r>
              <a:rPr lang="en-US" altLang="en-US" sz="2600" dirty="0">
                <a:solidFill>
                  <a:srgbClr val="FFFFFF">
                    <a:lumMod val="65000"/>
                  </a:srgbClr>
                </a:solidFill>
                <a:sym typeface="Wingdings" pitchFamily="2" charset="2"/>
              </a:rPr>
              <a:t>e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FFFFFF">
                    <a:lumMod val="65000"/>
                  </a:srgbClr>
                </a:solidFill>
                <a:sym typeface="Wingdings" pitchFamily="2" charset="2"/>
              </a:rPr>
              <a:t>Subsequences are smaller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000000"/>
                </a:solidFill>
                <a:sym typeface="Wingdings" pitchFamily="2" charset="2"/>
              </a:rPr>
              <a:t>Strings use </a:t>
            </a:r>
            <a:r>
              <a:rPr lang="en-US" altLang="en-US" sz="2600" dirty="0">
                <a:solidFill>
                  <a:srgbClr val="FF1493"/>
                </a:solidFill>
                <a:sym typeface="Wingdings" pitchFamily="2" charset="2"/>
              </a:rPr>
              <a:t>ASCII </a:t>
            </a:r>
            <a:r>
              <a:rPr lang="en-US" altLang="en-US" sz="2600" dirty="0">
                <a:solidFill>
                  <a:srgbClr val="000000"/>
                </a:solidFill>
                <a:sym typeface="Wingdings" pitchFamily="2" charset="2"/>
              </a:rPr>
              <a:t>comparison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</a:t>
            </a: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 print('appl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e'&lt;'apply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')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 p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rint('apple'&lt;'app')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	False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 print('</a:t>
            </a:r>
            <a:r>
              <a:rPr lang="en-US" altLang="en-US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a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pple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'&lt;'</a:t>
            </a:r>
            <a:r>
              <a:rPr lang="en-US" altLang="en-US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C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SE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')#</a:t>
            </a:r>
            <a:r>
              <a:rPr lang="en-US" altLang="en-US" dirty="0" err="1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ord</a:t>
            </a:r>
            <a:r>
              <a:rPr lang="en-US" altLang="en-US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('a')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dirty="0" err="1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ord</a:t>
            </a:r>
            <a:r>
              <a:rPr lang="en-US" altLang="en-US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('C')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?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	False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7F7F7F"/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  <p:sp>
        <p:nvSpPr>
          <p:cNvPr id="6" name="圓角矩形圖說文字 5"/>
          <p:cNvSpPr/>
          <p:nvPr/>
        </p:nvSpPr>
        <p:spPr bwMode="auto">
          <a:xfrm>
            <a:off x="1893094" y="5943600"/>
            <a:ext cx="4914900" cy="914400"/>
          </a:xfrm>
          <a:prstGeom prst="wedgeRoundRectCallout">
            <a:avLst>
              <a:gd name="adj1" fmla="val -50813"/>
              <a:gd name="adj2" fmla="val -90649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88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But this is </a:t>
            </a:r>
            <a:r>
              <a:rPr lang="en-US" altLang="zh-TW" sz="2800" b="1" dirty="0">
                <a:solidFill>
                  <a:srgbClr val="FF0000"/>
                </a:solidFill>
                <a:latin typeface="Times New Roman" charset="0"/>
              </a:rPr>
              <a:t>not</a:t>
            </a:r>
            <a:r>
              <a:rPr lang="en-US" altLang="zh-TW" sz="2800" b="1" dirty="0">
                <a:solidFill>
                  <a:srgbClr val="FFFFFF"/>
                </a:solidFill>
                <a:latin typeface="Times New Roman" charset="0"/>
              </a:rPr>
              <a:t> </a:t>
            </a: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the ordering that an English dictionary would use.</a:t>
            </a:r>
            <a:endParaRPr lang="zh-TW" altLang="en-US" sz="2800" dirty="0">
              <a:solidFill>
                <a:srgbClr val="FFFFFF"/>
              </a:solidFill>
              <a:latin typeface="Times New Roman" charset="0"/>
            </a:endParaRPr>
          </a:p>
        </p:txBody>
      </p:sp>
      <p:pic>
        <p:nvPicPr>
          <p:cNvPr id="14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172" y="2647910"/>
            <a:ext cx="1562180" cy="1562180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8163552" y="2647910"/>
            <a:ext cx="1371600" cy="1562180"/>
            <a:chOff x="7696200" y="5295820"/>
            <a:chExt cx="1371600" cy="1562180"/>
          </a:xfrm>
        </p:grpSpPr>
        <p:cxnSp>
          <p:nvCxnSpPr>
            <p:cNvPr id="3" name="Straight Connector 2"/>
            <p:cNvCxnSpPr/>
            <p:nvPr/>
          </p:nvCxnSpPr>
          <p:spPr bwMode="auto">
            <a:xfrm>
              <a:off x="7696200" y="5295820"/>
              <a:ext cx="1371600" cy="156218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Straight Connector 15"/>
            <p:cNvCxnSpPr/>
            <p:nvPr/>
          </p:nvCxnSpPr>
          <p:spPr bwMode="auto">
            <a:xfrm flipH="1">
              <a:off x="7696200" y="5295820"/>
              <a:ext cx="1371600" cy="156218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5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Comparison Rules</a:t>
            </a: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-166547" y="3388659"/>
            <a:ext cx="1755724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</p:txBody>
      </p:sp>
      <p:sp>
        <p:nvSpPr>
          <p:cNvPr id="10" name="圓角矩形圖說文字 1"/>
          <p:cNvSpPr/>
          <p:nvPr/>
        </p:nvSpPr>
        <p:spPr bwMode="auto">
          <a:xfrm>
            <a:off x="369094" y="2743200"/>
            <a:ext cx="7543800" cy="1371600"/>
          </a:xfrm>
          <a:prstGeom prst="wedgeRoundRectCallout">
            <a:avLst>
              <a:gd name="adj1" fmla="val -17718"/>
              <a:gd name="adj2" fmla="val -86500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88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That is: the comparison </a:t>
            </a:r>
            <a:r>
              <a:rPr lang="en-US" altLang="zh-TW" sz="2800" dirty="0">
                <a:solidFill>
                  <a:srgbClr val="FFFF00"/>
                </a:solidFill>
                <a:latin typeface="Times New Roman" charset="0"/>
              </a:rPr>
              <a:t>is</a:t>
            </a:r>
            <a:r>
              <a:rPr lang="en-US" altLang="zh-TW" sz="2800" spc="-300" dirty="0">
                <a:solidFill>
                  <a:srgbClr val="FFFF00"/>
                </a:solidFill>
                <a:latin typeface="Times New Roman" charset="0"/>
              </a:rPr>
              <a:t>n</a:t>
            </a:r>
            <a:r>
              <a:rPr lang="en-US" altLang="zh-TW" sz="2800" spc="-200" dirty="0">
                <a:solidFill>
                  <a:srgbClr val="FFFF00"/>
                </a:solidFill>
                <a:latin typeface="Times New Roman" charset="0"/>
              </a:rPr>
              <a:t>’</a:t>
            </a:r>
            <a:r>
              <a:rPr lang="en-US" altLang="zh-TW" sz="2800" dirty="0">
                <a:solidFill>
                  <a:srgbClr val="FFFF00"/>
                </a:solidFill>
                <a:latin typeface="Times New Roman" charset="0"/>
              </a:rPr>
              <a:t>t </a:t>
            </a:r>
            <a:r>
              <a:rPr lang="en-US" altLang="zh-TW" sz="2800" spc="-50" dirty="0">
                <a:solidFill>
                  <a:srgbClr val="FFFF00"/>
                </a:solidFill>
                <a:latin typeface="Times New Roman" charset="0"/>
              </a:rPr>
              <a:t>al</a:t>
            </a:r>
            <a:r>
              <a:rPr lang="en-US" altLang="zh-TW" sz="2800" spc="-110" dirty="0">
                <a:solidFill>
                  <a:srgbClr val="FFFF00"/>
                </a:solidFill>
                <a:latin typeface="Times New Roman" charset="0"/>
              </a:rPr>
              <a:t>way</a:t>
            </a:r>
            <a:r>
              <a:rPr lang="en-US" altLang="zh-TW" sz="2800" dirty="0">
                <a:solidFill>
                  <a:srgbClr val="FFFF00"/>
                </a:solidFill>
                <a:latin typeface="Times New Roman" charset="0"/>
              </a:rPr>
              <a:t>s t</a:t>
            </a:r>
            <a:r>
              <a:rPr lang="en-US" altLang="zh-TW" sz="2800" spc="-80" dirty="0">
                <a:solidFill>
                  <a:srgbClr val="FFFF00"/>
                </a:solidFill>
                <a:latin typeface="Times New Roman" charset="0"/>
              </a:rPr>
              <a:t>h</a:t>
            </a:r>
            <a:r>
              <a:rPr lang="en-US" altLang="zh-TW" sz="2800" dirty="0">
                <a:solidFill>
                  <a:srgbClr val="FFFF00"/>
                </a:solidFill>
                <a:latin typeface="Times New Roman" charset="0"/>
              </a:rPr>
              <a:t>e sa</a:t>
            </a:r>
            <a:r>
              <a:rPr lang="en-US" altLang="zh-TW" sz="2800" spc="-40" dirty="0">
                <a:solidFill>
                  <a:srgbClr val="FFFF00"/>
                </a:solidFill>
                <a:latin typeface="Times New Roman" charset="0"/>
              </a:rPr>
              <a:t>m</a:t>
            </a:r>
            <a:r>
              <a:rPr lang="en-US" altLang="zh-TW" sz="2800" dirty="0">
                <a:solidFill>
                  <a:srgbClr val="FFFF00"/>
                </a:solidFill>
                <a:latin typeface="Times New Roman" charset="0"/>
              </a:rPr>
              <a:t>e </a:t>
            </a: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as </a:t>
            </a:r>
            <a:r>
              <a:rPr lang="en-US" altLang="zh-TW" sz="2800" spc="-70" dirty="0">
                <a:solidFill>
                  <a:srgbClr val="FFFFFF"/>
                </a:solidFill>
                <a:latin typeface="Times New Roman" charset="0"/>
              </a:rPr>
              <a:t>h</a:t>
            </a:r>
            <a:r>
              <a:rPr lang="en-US" altLang="zh-TW" sz="2800" spc="-120" dirty="0">
                <a:solidFill>
                  <a:srgbClr val="FFFFFF"/>
                </a:solidFill>
                <a:latin typeface="Times New Roman" charset="0"/>
              </a:rPr>
              <a:t>o</a:t>
            </a: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w</a:t>
            </a:r>
            <a:b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</a:b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the strings would appear in an English Dictionary</a:t>
            </a:r>
            <a:b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</a:b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(not to be confused with a Python dictionary type).</a:t>
            </a:r>
            <a:endParaRPr lang="zh-TW" altLang="en-US" sz="2800" dirty="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109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-164306" y="609600"/>
            <a:ext cx="100584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ts val="1200"/>
              </a:spcBef>
              <a:buClr>
                <a:srgbClr val="FFFFFF"/>
              </a:buClr>
            </a:pPr>
            <a:r>
              <a:rPr lang="en-US" altLang="en-US" sz="2800" kern="0" spc="-30" dirty="0"/>
              <a:t>Can compare </a:t>
            </a:r>
            <a:r>
              <a:rPr lang="en-US" altLang="en-US" sz="2800" b="1" kern="0" spc="-30" dirty="0">
                <a:solidFill>
                  <a:srgbClr val="00B0F0"/>
                </a:solidFill>
              </a:rPr>
              <a:t>strings</a:t>
            </a:r>
            <a:r>
              <a:rPr lang="en-US" altLang="en-US" sz="2800" kern="0" spc="-30" dirty="0">
                <a:solidFill>
                  <a:srgbClr val="FFFFFF">
                    <a:lumMod val="95000"/>
                  </a:srgbClr>
                </a:solidFill>
              </a:rPr>
              <a:t>, lists, tuples, sets, but </a:t>
            </a:r>
            <a:r>
              <a:rPr lang="en-US" altLang="en-US" sz="2800" b="1" kern="0" spc="-30" dirty="0">
                <a:solidFill>
                  <a:srgbClr val="FFFFFF">
                    <a:lumMod val="95000"/>
                  </a:srgbClr>
                </a:solidFill>
              </a:rPr>
              <a:t>not</a:t>
            </a:r>
            <a:r>
              <a:rPr lang="en-US" altLang="en-US" sz="2800" kern="0" spc="-30" dirty="0">
                <a:solidFill>
                  <a:srgbClr val="FFFFFF">
                    <a:lumMod val="95000"/>
                  </a:srgbClr>
                </a:solidFill>
              </a:rPr>
              <a:t> dictionaries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FFFFFF">
                    <a:lumMod val="65000"/>
                  </a:srgbClr>
                </a:solidFill>
              </a:rPr>
              <a:t>Compares left-to-right until first differenc</a:t>
            </a:r>
            <a:r>
              <a:rPr lang="en-US" altLang="en-US" sz="2600" dirty="0">
                <a:solidFill>
                  <a:srgbClr val="FFFFFF">
                    <a:lumMod val="65000"/>
                  </a:srgbClr>
                </a:solidFill>
                <a:sym typeface="Wingdings" pitchFamily="2" charset="2"/>
              </a:rPr>
              <a:t>e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FFFFFF">
                    <a:lumMod val="65000"/>
                  </a:srgbClr>
                </a:solidFill>
                <a:sym typeface="Wingdings" pitchFamily="2" charset="2"/>
              </a:rPr>
              <a:t>Subsequences are smaller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000000"/>
                </a:solidFill>
                <a:sym typeface="Wingdings" pitchFamily="2" charset="2"/>
              </a:rPr>
              <a:t>Strings use </a:t>
            </a:r>
            <a:r>
              <a:rPr lang="en-US" altLang="en-US" sz="2600" dirty="0">
                <a:solidFill>
                  <a:srgbClr val="FF0000"/>
                </a:solidFill>
                <a:sym typeface="Wingdings" pitchFamily="2" charset="2"/>
              </a:rPr>
              <a:t>ASCII </a:t>
            </a:r>
            <a:r>
              <a:rPr lang="en-US" altLang="en-US" sz="2600" dirty="0">
                <a:solidFill>
                  <a:srgbClr val="000000"/>
                </a:solidFill>
                <a:sym typeface="Wingdings" pitchFamily="2" charset="2"/>
              </a:rPr>
              <a:t>comparison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	&gt;&gt;&gt; 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print('appl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e'&lt;'apply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')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	&gt;&gt;&gt; 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p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rint('apple'&lt;'app')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	False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	&gt;&gt;&gt; 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print('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a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pple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'&lt;'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C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SE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')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#</a:t>
            </a:r>
            <a:r>
              <a:rPr lang="en-US" altLang="en-US" dirty="0" err="1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ord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('a')&lt;</a:t>
            </a:r>
            <a:r>
              <a:rPr lang="en-US" altLang="en-US" dirty="0" err="1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ord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('C')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?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False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 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dirty="0" err="1">
                <a:latin typeface="Lucida Console" panose="020B0609040504020204" pitchFamily="49" charset="0"/>
                <a:sym typeface="Wingdings" pitchFamily="2" charset="2"/>
              </a:rPr>
              <a:t>ord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('a'</a:t>
            </a:r>
            <a:r>
              <a:rPr lang="en-US" altLang="en-US" spc="-200" dirty="0"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,"&lt;</a:t>
            </a:r>
            <a:r>
              <a:rPr lang="en-US" altLang="en-US" spc="-200" dirty="0"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,</a:t>
            </a:r>
            <a:r>
              <a:rPr lang="en-US" altLang="en-US" dirty="0" err="1">
                <a:latin typeface="Lucida Console" panose="020B0609040504020204" pitchFamily="49" charset="0"/>
                <a:sym typeface="Wingdings" pitchFamily="2" charset="2"/>
              </a:rPr>
              <a:t>ord</a:t>
            </a:r>
            <a:r>
              <a:rPr lang="en-US" altLang="en-US" spc="-20" dirty="0">
                <a:latin typeface="Lucida Console" panose="020B0609040504020204" pitchFamily="49" charset="0"/>
                <a:sym typeface="Wingdings" pitchFamily="2" charset="2"/>
              </a:rPr>
              <a:t>('C'</a:t>
            </a:r>
            <a:r>
              <a:rPr lang="en-US" altLang="en-US" spc="-200" dirty="0"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spc="-20" dirty="0">
                <a:latin typeface="Lucida Console" panose="020B0609040504020204" pitchFamily="49" charset="0"/>
                <a:sym typeface="Wingdings" pitchFamily="2" charset="2"/>
              </a:rPr>
              <a:t>,"?</a:t>
            </a:r>
            <a:r>
              <a:rPr lang="en-US" altLang="en-US" sz="2000" spc="-20" dirty="0"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200" dirty="0"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spc="-20" dirty="0">
                <a:latin typeface="Lucida Console" panose="020B0609040504020204" pitchFamily="49" charset="0"/>
                <a:sym typeface="Wingdings" pitchFamily="2" charset="2"/>
              </a:rPr>
              <a:t>,'a'&lt;'C')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97 &lt; 67 ?  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False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FFFFFF">
                  <a:lumMod val="50000"/>
                </a:srgbClr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Comparison Rules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-166547" y="3388659"/>
            <a:ext cx="1755724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FF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</a:p>
        </p:txBody>
      </p:sp>
      <p:pic>
        <p:nvPicPr>
          <p:cNvPr id="5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172" y="2647910"/>
            <a:ext cx="1562180" cy="156218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8163552" y="2647910"/>
            <a:ext cx="1371600" cy="1562180"/>
            <a:chOff x="7696200" y="5295820"/>
            <a:chExt cx="1371600" cy="1562180"/>
          </a:xfrm>
        </p:grpSpPr>
        <p:cxnSp>
          <p:nvCxnSpPr>
            <p:cNvPr id="10" name="Straight Connector 9"/>
            <p:cNvCxnSpPr/>
            <p:nvPr/>
          </p:nvCxnSpPr>
          <p:spPr bwMode="auto">
            <a:xfrm>
              <a:off x="7696200" y="5295820"/>
              <a:ext cx="1371600" cy="156218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Connector 10"/>
            <p:cNvCxnSpPr/>
            <p:nvPr/>
          </p:nvCxnSpPr>
          <p:spPr bwMode="auto">
            <a:xfrm flipH="1">
              <a:off x="7696200" y="5295820"/>
              <a:ext cx="1371600" cy="156218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2" name="圓角矩形圖說文字 1"/>
          <p:cNvSpPr/>
          <p:nvPr/>
        </p:nvSpPr>
        <p:spPr bwMode="auto">
          <a:xfrm>
            <a:off x="369094" y="2743200"/>
            <a:ext cx="7543800" cy="1371600"/>
          </a:xfrm>
          <a:prstGeom prst="wedgeRoundRectCallout">
            <a:avLst>
              <a:gd name="adj1" fmla="val -17718"/>
              <a:gd name="adj2" fmla="val -86500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88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That is: the comparison </a:t>
            </a:r>
            <a:r>
              <a:rPr lang="en-US" altLang="zh-TW" sz="2800" dirty="0">
                <a:solidFill>
                  <a:srgbClr val="FFFF00"/>
                </a:solidFill>
                <a:latin typeface="Times New Roman" charset="0"/>
              </a:rPr>
              <a:t>is</a:t>
            </a:r>
            <a:r>
              <a:rPr lang="en-US" altLang="zh-TW" sz="2800" spc="-300" dirty="0">
                <a:solidFill>
                  <a:srgbClr val="FFFF00"/>
                </a:solidFill>
                <a:latin typeface="Times New Roman" charset="0"/>
              </a:rPr>
              <a:t>n</a:t>
            </a:r>
            <a:r>
              <a:rPr lang="en-US" altLang="zh-TW" sz="2800" spc="-200" dirty="0">
                <a:solidFill>
                  <a:srgbClr val="FFFF00"/>
                </a:solidFill>
                <a:latin typeface="Times New Roman" charset="0"/>
              </a:rPr>
              <a:t>’</a:t>
            </a:r>
            <a:r>
              <a:rPr lang="en-US" altLang="zh-TW" sz="2800" dirty="0">
                <a:solidFill>
                  <a:srgbClr val="FFFF00"/>
                </a:solidFill>
                <a:latin typeface="Times New Roman" charset="0"/>
              </a:rPr>
              <a:t>t </a:t>
            </a:r>
            <a:r>
              <a:rPr lang="en-US" altLang="zh-TW" sz="2800" spc="-50" dirty="0">
                <a:solidFill>
                  <a:srgbClr val="FFFF00"/>
                </a:solidFill>
                <a:latin typeface="Times New Roman" charset="0"/>
              </a:rPr>
              <a:t>al</a:t>
            </a:r>
            <a:r>
              <a:rPr lang="en-US" altLang="zh-TW" sz="2800" spc="-110" dirty="0">
                <a:solidFill>
                  <a:srgbClr val="FFFF00"/>
                </a:solidFill>
                <a:latin typeface="Times New Roman" charset="0"/>
              </a:rPr>
              <a:t>way</a:t>
            </a:r>
            <a:r>
              <a:rPr lang="en-US" altLang="zh-TW" sz="2800" dirty="0">
                <a:solidFill>
                  <a:srgbClr val="FFFF00"/>
                </a:solidFill>
                <a:latin typeface="Times New Roman" charset="0"/>
              </a:rPr>
              <a:t>s t</a:t>
            </a:r>
            <a:r>
              <a:rPr lang="en-US" altLang="zh-TW" sz="2800" spc="-80" dirty="0">
                <a:solidFill>
                  <a:srgbClr val="FFFF00"/>
                </a:solidFill>
                <a:latin typeface="Times New Roman" charset="0"/>
              </a:rPr>
              <a:t>h</a:t>
            </a:r>
            <a:r>
              <a:rPr lang="en-US" altLang="zh-TW" sz="2800" dirty="0">
                <a:solidFill>
                  <a:srgbClr val="FFFF00"/>
                </a:solidFill>
                <a:latin typeface="Times New Roman" charset="0"/>
              </a:rPr>
              <a:t>e sa</a:t>
            </a:r>
            <a:r>
              <a:rPr lang="en-US" altLang="zh-TW" sz="2800" spc="-40" dirty="0">
                <a:solidFill>
                  <a:srgbClr val="FFFF00"/>
                </a:solidFill>
                <a:latin typeface="Times New Roman" charset="0"/>
              </a:rPr>
              <a:t>m</a:t>
            </a:r>
            <a:r>
              <a:rPr lang="en-US" altLang="zh-TW" sz="2800" dirty="0">
                <a:solidFill>
                  <a:srgbClr val="FFFF00"/>
                </a:solidFill>
                <a:latin typeface="Times New Roman" charset="0"/>
              </a:rPr>
              <a:t>e </a:t>
            </a: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as </a:t>
            </a:r>
            <a:r>
              <a:rPr lang="en-US" altLang="zh-TW" sz="2800" spc="-70" dirty="0">
                <a:solidFill>
                  <a:srgbClr val="FFFFFF"/>
                </a:solidFill>
                <a:latin typeface="Times New Roman" charset="0"/>
              </a:rPr>
              <a:t>h</a:t>
            </a:r>
            <a:r>
              <a:rPr lang="en-US" altLang="zh-TW" sz="2800" spc="-120" dirty="0">
                <a:solidFill>
                  <a:srgbClr val="FFFFFF"/>
                </a:solidFill>
                <a:latin typeface="Times New Roman" charset="0"/>
              </a:rPr>
              <a:t>o</a:t>
            </a: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w</a:t>
            </a:r>
            <a:b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</a:b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the strings would appear in an English Dictionary</a:t>
            </a:r>
            <a:b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</a:b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(not to be confused with a Python dictionary type).</a:t>
            </a:r>
            <a:endParaRPr lang="zh-TW" altLang="en-US" sz="2800" dirty="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10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-164306" y="609600"/>
            <a:ext cx="100584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ts val="1200"/>
              </a:spcBef>
              <a:buClr>
                <a:srgbClr val="FFFFFF"/>
              </a:buClr>
            </a:pPr>
            <a:r>
              <a:rPr lang="en-US" altLang="en-US" sz="2800" kern="0" spc="-30" dirty="0"/>
              <a:t>Can compare </a:t>
            </a:r>
            <a:r>
              <a:rPr lang="en-US" altLang="en-US" sz="2800" b="1" kern="0" spc="-30" dirty="0">
                <a:solidFill>
                  <a:srgbClr val="00B0F0"/>
                </a:solidFill>
              </a:rPr>
              <a:t>strings</a:t>
            </a:r>
            <a:r>
              <a:rPr lang="en-US" altLang="en-US" sz="2800" kern="0" spc="-30" dirty="0">
                <a:solidFill>
                  <a:srgbClr val="FFFFFF">
                    <a:lumMod val="95000"/>
                  </a:srgbClr>
                </a:solidFill>
              </a:rPr>
              <a:t>, lists, tuples, sets, but </a:t>
            </a:r>
            <a:r>
              <a:rPr lang="en-US" altLang="en-US" sz="2800" b="1" kern="0" spc="-30" dirty="0">
                <a:solidFill>
                  <a:srgbClr val="FFFFFF">
                    <a:lumMod val="95000"/>
                  </a:srgbClr>
                </a:solidFill>
              </a:rPr>
              <a:t>not</a:t>
            </a:r>
            <a:r>
              <a:rPr lang="en-US" altLang="en-US" sz="2800" kern="0" spc="-30" dirty="0">
                <a:solidFill>
                  <a:srgbClr val="FFFFFF">
                    <a:lumMod val="95000"/>
                  </a:srgbClr>
                </a:solidFill>
              </a:rPr>
              <a:t> dictionaries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/>
              <a:t>Compares left-to-right until </a:t>
            </a:r>
            <a:r>
              <a:rPr lang="en-US" altLang="en-US" sz="2600" dirty="0">
                <a:solidFill>
                  <a:srgbClr val="FF1493"/>
                </a:solidFill>
              </a:rPr>
              <a:t>first differenc</a:t>
            </a:r>
            <a:r>
              <a:rPr lang="en-US" altLang="en-US" sz="2600" dirty="0">
                <a:solidFill>
                  <a:srgbClr val="FF1493"/>
                </a:solidFill>
                <a:sym typeface="Wingdings" pitchFamily="2" charset="2"/>
              </a:rPr>
              <a:t>e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FFFFFF">
                    <a:lumMod val="65000"/>
                  </a:srgbClr>
                </a:solidFill>
                <a:sym typeface="Wingdings" pitchFamily="2" charset="2"/>
              </a:rPr>
              <a:t>Subsequences are smaller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ABABAB"/>
                </a:solidFill>
                <a:sym typeface="Wingdings" pitchFamily="2" charset="2"/>
              </a:rPr>
              <a:t>Strings use ASCII comparison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	&gt;&gt;&gt; 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print('appl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e'&lt;'apply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')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	&gt;&gt;&gt; 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p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rint('apple'&lt;'app')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	False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	&gt;&gt;&gt; 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print('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a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pple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'&lt;'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C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SE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')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#</a:t>
            </a:r>
            <a:r>
              <a:rPr lang="en-US" altLang="en-US" dirty="0" err="1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ord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('a')&lt;</a:t>
            </a:r>
            <a:r>
              <a:rPr lang="en-US" altLang="en-US" dirty="0" err="1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ord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('C')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?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False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 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dirty="0" err="1">
                <a:latin typeface="Lucida Console" panose="020B0609040504020204" pitchFamily="49" charset="0"/>
                <a:sym typeface="Wingdings" pitchFamily="2" charset="2"/>
              </a:rPr>
              <a:t>ord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('a'</a:t>
            </a:r>
            <a:r>
              <a:rPr lang="en-US" altLang="en-US" spc="-200" dirty="0"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,"&lt;</a:t>
            </a:r>
            <a:r>
              <a:rPr lang="en-US" altLang="en-US" spc="-200" dirty="0"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,</a:t>
            </a:r>
            <a:r>
              <a:rPr lang="en-US" altLang="en-US" dirty="0" err="1">
                <a:latin typeface="Lucida Console" panose="020B0609040504020204" pitchFamily="49" charset="0"/>
                <a:sym typeface="Wingdings" pitchFamily="2" charset="2"/>
              </a:rPr>
              <a:t>ord</a:t>
            </a:r>
            <a:r>
              <a:rPr lang="en-US" altLang="en-US" spc="-20" dirty="0">
                <a:latin typeface="Lucida Console" panose="020B0609040504020204" pitchFamily="49" charset="0"/>
                <a:sym typeface="Wingdings" pitchFamily="2" charset="2"/>
              </a:rPr>
              <a:t>('C'</a:t>
            </a:r>
            <a:r>
              <a:rPr lang="en-US" altLang="en-US" spc="-200" dirty="0"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spc="-20" dirty="0">
                <a:latin typeface="Lucida Console" panose="020B0609040504020204" pitchFamily="49" charset="0"/>
                <a:sym typeface="Wingdings" pitchFamily="2" charset="2"/>
              </a:rPr>
              <a:t>,"?</a:t>
            </a:r>
            <a:r>
              <a:rPr lang="en-US" altLang="en-US" sz="2000" spc="-20" dirty="0"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200" dirty="0"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spc="-20" dirty="0">
                <a:latin typeface="Lucida Console" panose="020B0609040504020204" pitchFamily="49" charset="0"/>
                <a:sym typeface="Wingdings" pitchFamily="2" charset="2"/>
              </a:rPr>
              <a:t>,'a'&lt;'C')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97 &lt; 67 ?  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False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FFFFFF">
                  <a:lumMod val="50000"/>
                </a:srgbClr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Comparison Rules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-166547" y="3388659"/>
            <a:ext cx="1755724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FF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</a:p>
        </p:txBody>
      </p:sp>
      <p:pic>
        <p:nvPicPr>
          <p:cNvPr id="5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172" y="2647910"/>
            <a:ext cx="1562180" cy="156218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8163552" y="2647910"/>
            <a:ext cx="1371600" cy="1562180"/>
            <a:chOff x="7696200" y="5295820"/>
            <a:chExt cx="1371600" cy="1562180"/>
          </a:xfrm>
        </p:grpSpPr>
        <p:cxnSp>
          <p:nvCxnSpPr>
            <p:cNvPr id="10" name="Straight Connector 9"/>
            <p:cNvCxnSpPr/>
            <p:nvPr/>
          </p:nvCxnSpPr>
          <p:spPr bwMode="auto">
            <a:xfrm>
              <a:off x="7696200" y="5295820"/>
              <a:ext cx="1371600" cy="156218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Connector 10"/>
            <p:cNvCxnSpPr/>
            <p:nvPr/>
          </p:nvCxnSpPr>
          <p:spPr bwMode="auto">
            <a:xfrm flipH="1">
              <a:off x="7696200" y="5295820"/>
              <a:ext cx="1371600" cy="156218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2" name="圓角矩形圖說文字 1"/>
          <p:cNvSpPr/>
          <p:nvPr/>
        </p:nvSpPr>
        <p:spPr bwMode="auto">
          <a:xfrm>
            <a:off x="369094" y="2743200"/>
            <a:ext cx="7543800" cy="1371600"/>
          </a:xfrm>
          <a:prstGeom prst="wedgeRoundRectCallout">
            <a:avLst>
              <a:gd name="adj1" fmla="val -17718"/>
              <a:gd name="adj2" fmla="val -86500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88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That is: the comparison </a:t>
            </a:r>
            <a:r>
              <a:rPr lang="en-US" altLang="zh-TW" sz="2800" dirty="0">
                <a:solidFill>
                  <a:srgbClr val="FFFF00"/>
                </a:solidFill>
                <a:latin typeface="Times New Roman" charset="0"/>
              </a:rPr>
              <a:t>is</a:t>
            </a:r>
            <a:r>
              <a:rPr lang="en-US" altLang="zh-TW" sz="2800" spc="-300" dirty="0">
                <a:solidFill>
                  <a:srgbClr val="FFFF00"/>
                </a:solidFill>
                <a:latin typeface="Times New Roman" charset="0"/>
              </a:rPr>
              <a:t>n</a:t>
            </a:r>
            <a:r>
              <a:rPr lang="en-US" altLang="zh-TW" sz="2800" spc="-200" dirty="0">
                <a:solidFill>
                  <a:srgbClr val="FFFF00"/>
                </a:solidFill>
                <a:latin typeface="Times New Roman" charset="0"/>
              </a:rPr>
              <a:t>’</a:t>
            </a:r>
            <a:r>
              <a:rPr lang="en-US" altLang="zh-TW" sz="2800" dirty="0">
                <a:solidFill>
                  <a:srgbClr val="FFFF00"/>
                </a:solidFill>
                <a:latin typeface="Times New Roman" charset="0"/>
              </a:rPr>
              <a:t>t </a:t>
            </a:r>
            <a:r>
              <a:rPr lang="en-US" altLang="zh-TW" sz="2800" spc="-50" dirty="0">
                <a:solidFill>
                  <a:srgbClr val="FFFF00"/>
                </a:solidFill>
                <a:latin typeface="Times New Roman" charset="0"/>
              </a:rPr>
              <a:t>al</a:t>
            </a:r>
            <a:r>
              <a:rPr lang="en-US" altLang="zh-TW" sz="2800" spc="-110" dirty="0">
                <a:solidFill>
                  <a:srgbClr val="FFFF00"/>
                </a:solidFill>
                <a:latin typeface="Times New Roman" charset="0"/>
              </a:rPr>
              <a:t>way</a:t>
            </a:r>
            <a:r>
              <a:rPr lang="en-US" altLang="zh-TW" sz="2800" dirty="0">
                <a:solidFill>
                  <a:srgbClr val="FFFF00"/>
                </a:solidFill>
                <a:latin typeface="Times New Roman" charset="0"/>
              </a:rPr>
              <a:t>s t</a:t>
            </a:r>
            <a:r>
              <a:rPr lang="en-US" altLang="zh-TW" sz="2800" spc="-80" dirty="0">
                <a:solidFill>
                  <a:srgbClr val="FFFF00"/>
                </a:solidFill>
                <a:latin typeface="Times New Roman" charset="0"/>
              </a:rPr>
              <a:t>h</a:t>
            </a:r>
            <a:r>
              <a:rPr lang="en-US" altLang="zh-TW" sz="2800" dirty="0">
                <a:solidFill>
                  <a:srgbClr val="FFFF00"/>
                </a:solidFill>
                <a:latin typeface="Times New Roman" charset="0"/>
              </a:rPr>
              <a:t>e sa</a:t>
            </a:r>
            <a:r>
              <a:rPr lang="en-US" altLang="zh-TW" sz="2800" spc="-40" dirty="0">
                <a:solidFill>
                  <a:srgbClr val="FFFF00"/>
                </a:solidFill>
                <a:latin typeface="Times New Roman" charset="0"/>
              </a:rPr>
              <a:t>m</a:t>
            </a:r>
            <a:r>
              <a:rPr lang="en-US" altLang="zh-TW" sz="2800" dirty="0">
                <a:solidFill>
                  <a:srgbClr val="FFFF00"/>
                </a:solidFill>
                <a:latin typeface="Times New Roman" charset="0"/>
              </a:rPr>
              <a:t>e </a:t>
            </a: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as </a:t>
            </a:r>
            <a:r>
              <a:rPr lang="en-US" altLang="zh-TW" sz="2800" spc="-70" dirty="0">
                <a:solidFill>
                  <a:srgbClr val="FFFFFF"/>
                </a:solidFill>
                <a:latin typeface="Times New Roman" charset="0"/>
              </a:rPr>
              <a:t>h</a:t>
            </a:r>
            <a:r>
              <a:rPr lang="en-US" altLang="zh-TW" sz="2800" spc="-120" dirty="0">
                <a:solidFill>
                  <a:srgbClr val="FFFFFF"/>
                </a:solidFill>
                <a:latin typeface="Times New Roman" charset="0"/>
              </a:rPr>
              <a:t>o</a:t>
            </a: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w</a:t>
            </a:r>
            <a:b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</a:b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the strings would appear in an English Dictionary</a:t>
            </a:r>
            <a:b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</a:br>
            <a:r>
              <a:rPr lang="en-US" altLang="zh-TW" sz="2800" dirty="0">
                <a:solidFill>
                  <a:srgbClr val="FFFFFF"/>
                </a:solidFill>
                <a:latin typeface="Times New Roman" charset="0"/>
              </a:rPr>
              <a:t>(not to be confused with a Python dictionary type).</a:t>
            </a:r>
            <a:endParaRPr lang="zh-TW" altLang="en-US" sz="2800" dirty="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64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-164306" y="609600"/>
            <a:ext cx="101727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ts val="1200"/>
              </a:spcBef>
              <a:buClr>
                <a:srgbClr val="FFFFFF"/>
              </a:buClr>
            </a:pPr>
            <a:r>
              <a:rPr lang="en-US" altLang="en-US" sz="2800" kern="0" spc="-30" dirty="0"/>
              <a:t>Can com</a:t>
            </a:r>
            <a:r>
              <a:rPr lang="en-US" altLang="en-US" sz="2800" kern="0" spc="-30" dirty="0">
                <a:solidFill>
                  <a:srgbClr val="000000"/>
                </a:solidFill>
              </a:rPr>
              <a:t>pare </a:t>
            </a:r>
            <a:r>
              <a:rPr lang="en-US" altLang="en-US" sz="2800" b="1" kern="0" spc="-30" dirty="0">
                <a:solidFill>
                  <a:srgbClr val="00B0F0"/>
                </a:solidFill>
              </a:rPr>
              <a:t>strings</a:t>
            </a:r>
            <a:r>
              <a:rPr lang="en-US" altLang="en-US" sz="2800" kern="0" spc="-30" dirty="0">
                <a:solidFill>
                  <a:srgbClr val="FFFFFF">
                    <a:lumMod val="95000"/>
                  </a:srgbClr>
                </a:solidFill>
              </a:rPr>
              <a:t>, lists, tuples, sets, but </a:t>
            </a:r>
            <a:r>
              <a:rPr lang="en-US" altLang="en-US" sz="2800" b="1" kern="0" spc="-30" dirty="0">
                <a:solidFill>
                  <a:srgbClr val="FFFFFF">
                    <a:lumMod val="95000"/>
                  </a:srgbClr>
                </a:solidFill>
              </a:rPr>
              <a:t>not</a:t>
            </a:r>
            <a:r>
              <a:rPr lang="en-US" altLang="en-US" sz="2800" kern="0" spc="-30" dirty="0">
                <a:solidFill>
                  <a:srgbClr val="FFFFFF">
                    <a:lumMod val="95000"/>
                  </a:srgbClr>
                </a:solidFill>
              </a:rPr>
              <a:t> dictionaries</a:t>
            </a:r>
            <a:endParaRPr lang="en-US" altLang="en-US" sz="2800" kern="0" spc="-30" dirty="0">
              <a:solidFill>
                <a:srgbClr val="FF0000"/>
              </a:solidFill>
            </a:endParaRPr>
          </a:p>
          <a:p>
            <a:pPr lvl="1">
              <a:spcBef>
                <a:spcPts val="0"/>
              </a:spcBef>
            </a:pPr>
            <a:r>
              <a:rPr lang="en-US" altLang="en-US" sz="2600" dirty="0"/>
              <a:t>Compares left-to-right until </a:t>
            </a:r>
            <a:r>
              <a:rPr lang="en-US" altLang="en-US" sz="2600" dirty="0">
                <a:solidFill>
                  <a:srgbClr val="FF1493"/>
                </a:solidFill>
              </a:rPr>
              <a:t>first differenc</a:t>
            </a:r>
            <a:r>
              <a:rPr lang="en-US" altLang="en-US" sz="2600" dirty="0">
                <a:solidFill>
                  <a:srgbClr val="FF1493"/>
                </a:solidFill>
                <a:sym typeface="Wingdings" pitchFamily="2" charset="2"/>
              </a:rPr>
              <a:t>e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FFFFFF">
                    <a:lumMod val="85000"/>
                  </a:srgbClr>
                </a:solidFill>
                <a:sym typeface="Wingdings" pitchFamily="2" charset="2"/>
              </a:rPr>
              <a:t>Subsequences are smaller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sz="1400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</a:t>
            </a:r>
            <a:r>
              <a:rPr lang="en-US" altLang="en-US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3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,4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</a:t>
            </a:r>
            <a:r>
              <a:rPr lang="en-US" altLang="en-US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4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,3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  <a:sym typeface="Wingdings" pitchFamily="2" charset="2"/>
              </a:rPr>
              <a:t>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solidFill>
                <a:srgbClr val="7F7F7F"/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Comparison Rules</a:t>
            </a:r>
          </a:p>
        </p:txBody>
      </p:sp>
      <p:cxnSp>
        <p:nvCxnSpPr>
          <p:cNvPr id="6" name="Straight Arrow Connector 5"/>
          <p:cNvCxnSpPr/>
          <p:nvPr/>
        </p:nvCxnSpPr>
        <p:spPr bwMode="auto">
          <a:xfrm flipH="1">
            <a:off x="2921794" y="1028700"/>
            <a:ext cx="228600" cy="10287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 flipH="1">
            <a:off x="4001130" y="1433017"/>
            <a:ext cx="750626" cy="70058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1493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5111149" y="1460312"/>
            <a:ext cx="732429" cy="70513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1493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-164306" y="2770632"/>
            <a:ext cx="1755724" cy="3455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7F7F7F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7F7F7F"/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4105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-164306" y="609600"/>
            <a:ext cx="101727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ts val="1200"/>
              </a:spcBef>
              <a:buClr>
                <a:srgbClr val="FFFFFF"/>
              </a:buClr>
            </a:pPr>
            <a:r>
              <a:rPr lang="en-US" altLang="en-US" sz="2800" kern="0" spc="-30" dirty="0"/>
              <a:t>Can com</a:t>
            </a:r>
            <a:r>
              <a:rPr lang="en-US" altLang="en-US" sz="2800" kern="0" spc="-30" dirty="0">
                <a:solidFill>
                  <a:srgbClr val="000000"/>
                </a:solidFill>
              </a:rPr>
              <a:t>pare </a:t>
            </a:r>
            <a:r>
              <a:rPr lang="en-US" altLang="en-US" sz="2800" kern="0" spc="-30" dirty="0"/>
              <a:t>strings, </a:t>
            </a:r>
            <a:r>
              <a:rPr lang="en-US" altLang="en-US" sz="2800" b="1" kern="0" spc="-30" dirty="0">
                <a:solidFill>
                  <a:srgbClr val="00B0F0"/>
                </a:solidFill>
              </a:rPr>
              <a:t>lists</a:t>
            </a:r>
            <a:r>
              <a:rPr lang="en-US" altLang="en-US" sz="2800" kern="0" spc="-30" dirty="0">
                <a:solidFill>
                  <a:srgbClr val="FFFFFF">
                    <a:lumMod val="95000"/>
                  </a:srgbClr>
                </a:solidFill>
              </a:rPr>
              <a:t>, tuples, sets, but </a:t>
            </a:r>
            <a:r>
              <a:rPr lang="en-US" altLang="en-US" sz="2800" b="1" kern="0" spc="-30" dirty="0">
                <a:solidFill>
                  <a:srgbClr val="FFFFFF">
                    <a:lumMod val="95000"/>
                  </a:srgbClr>
                </a:solidFill>
              </a:rPr>
              <a:t>not</a:t>
            </a:r>
            <a:r>
              <a:rPr lang="en-US" altLang="en-US" sz="2800" kern="0" spc="-30" dirty="0">
                <a:solidFill>
                  <a:srgbClr val="FFFFFF">
                    <a:lumMod val="95000"/>
                  </a:srgbClr>
                </a:solidFill>
              </a:rPr>
              <a:t> dictionaries</a:t>
            </a:r>
            <a:endParaRPr lang="en-US" altLang="en-US" sz="2800" kern="0" spc="-30" dirty="0">
              <a:solidFill>
                <a:srgbClr val="FF0000"/>
              </a:solidFill>
            </a:endParaRPr>
          </a:p>
          <a:p>
            <a:pPr lvl="1">
              <a:spcBef>
                <a:spcPts val="0"/>
              </a:spcBef>
            </a:pPr>
            <a:r>
              <a:rPr lang="en-US" altLang="en-US" sz="2600" dirty="0"/>
              <a:t>Compares left-to-right until </a:t>
            </a:r>
            <a:r>
              <a:rPr lang="en-US" altLang="en-US" sz="2600" dirty="0">
                <a:solidFill>
                  <a:srgbClr val="FF1493"/>
                </a:solidFill>
              </a:rPr>
              <a:t>first differenc</a:t>
            </a:r>
            <a:r>
              <a:rPr lang="en-US" altLang="en-US" sz="2600" dirty="0">
                <a:solidFill>
                  <a:srgbClr val="FF1493"/>
                </a:solidFill>
                <a:sym typeface="Wingdings" pitchFamily="2" charset="2"/>
              </a:rPr>
              <a:t>e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FFFFFF">
                    <a:lumMod val="85000"/>
                  </a:srgbClr>
                </a:solidFill>
                <a:sym typeface="Wingdings" pitchFamily="2" charset="2"/>
              </a:rPr>
              <a:t>Subsequences are smaller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sz="1400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 print(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1,2,4,3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[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</a:t>
            </a:r>
            <a:r>
              <a:rPr lang="en-US" altLang="en-US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3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,4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]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[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</a:t>
            </a:r>
            <a:r>
              <a:rPr lang="en-US" altLang="en-US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4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,3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]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  <a:sym typeface="Wingdings" pitchFamily="2" charset="2"/>
              </a:rPr>
              <a:t>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solidFill>
                <a:srgbClr val="7F7F7F"/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Comparison Rules</a:t>
            </a:r>
          </a:p>
        </p:txBody>
      </p:sp>
      <p:cxnSp>
        <p:nvCxnSpPr>
          <p:cNvPr id="6" name="Straight Arrow Connector 5"/>
          <p:cNvCxnSpPr/>
          <p:nvPr/>
        </p:nvCxnSpPr>
        <p:spPr bwMode="auto">
          <a:xfrm flipH="1">
            <a:off x="3021810" y="1028700"/>
            <a:ext cx="1042985" cy="17907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-164306" y="2770632"/>
            <a:ext cx="1755724" cy="3455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7F7F7F"/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950494" y="1482390"/>
            <a:ext cx="1943100" cy="1375110"/>
            <a:chOff x="4389437" y="1482389"/>
            <a:chExt cx="1943100" cy="1032211"/>
          </a:xfrm>
        </p:grpSpPr>
        <p:cxnSp>
          <p:nvCxnSpPr>
            <p:cNvPr id="10" name="Straight Arrow Connector 9"/>
            <p:cNvCxnSpPr/>
            <p:nvPr/>
          </p:nvCxnSpPr>
          <p:spPr bwMode="auto">
            <a:xfrm flipH="1">
              <a:off x="4389437" y="1482389"/>
              <a:ext cx="831694" cy="103221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1493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" name="Straight Arrow Connector 11"/>
            <p:cNvCxnSpPr/>
            <p:nvPr/>
          </p:nvCxnSpPr>
          <p:spPr bwMode="auto">
            <a:xfrm>
              <a:off x="5570537" y="1485900"/>
              <a:ext cx="762000" cy="102870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1493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46463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-164306" y="609600"/>
            <a:ext cx="101727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ts val="1200"/>
              </a:spcBef>
              <a:buClr>
                <a:srgbClr val="FFFFFF"/>
              </a:buClr>
            </a:pPr>
            <a:r>
              <a:rPr lang="en-US" altLang="en-US" sz="2800" kern="0" spc="-30" dirty="0"/>
              <a:t>Can com</a:t>
            </a:r>
            <a:r>
              <a:rPr lang="en-US" altLang="en-US" sz="2800" kern="0" spc="-30" dirty="0">
                <a:solidFill>
                  <a:srgbClr val="000000"/>
                </a:solidFill>
              </a:rPr>
              <a:t>pare </a:t>
            </a:r>
            <a:r>
              <a:rPr lang="en-US" altLang="en-US" sz="2800" kern="0" spc="-30" dirty="0"/>
              <a:t>strings, </a:t>
            </a:r>
            <a:r>
              <a:rPr lang="en-US" altLang="en-US" sz="2800" kern="0" spc="-30" dirty="0">
                <a:solidFill>
                  <a:srgbClr val="000000"/>
                </a:solidFill>
              </a:rPr>
              <a:t>lists, </a:t>
            </a:r>
            <a:r>
              <a:rPr lang="en-US" altLang="en-US" sz="2800" b="1" kern="0" spc="-30" dirty="0">
                <a:solidFill>
                  <a:srgbClr val="00B0F0"/>
                </a:solidFill>
              </a:rPr>
              <a:t>tuples</a:t>
            </a:r>
            <a:r>
              <a:rPr lang="en-US" altLang="en-US" sz="2800" kern="0" spc="-30" dirty="0">
                <a:solidFill>
                  <a:srgbClr val="FFFFFF">
                    <a:lumMod val="95000"/>
                  </a:srgbClr>
                </a:solidFill>
              </a:rPr>
              <a:t>, sets, but </a:t>
            </a:r>
            <a:r>
              <a:rPr lang="en-US" altLang="en-US" sz="2800" b="1" kern="0" spc="-30" dirty="0">
                <a:solidFill>
                  <a:srgbClr val="FFFFFF">
                    <a:lumMod val="95000"/>
                  </a:srgbClr>
                </a:solidFill>
              </a:rPr>
              <a:t>not</a:t>
            </a:r>
            <a:r>
              <a:rPr lang="en-US" altLang="en-US" sz="2800" kern="0" spc="-30" dirty="0">
                <a:solidFill>
                  <a:srgbClr val="FFFFFF">
                    <a:lumMod val="95000"/>
                  </a:srgbClr>
                </a:solidFill>
              </a:rPr>
              <a:t> dictionaries</a:t>
            </a:r>
            <a:endParaRPr lang="en-US" altLang="en-US" sz="2800" kern="0" spc="-30" dirty="0">
              <a:solidFill>
                <a:srgbClr val="FF0000"/>
              </a:solidFill>
            </a:endParaRPr>
          </a:p>
          <a:p>
            <a:pPr lvl="1">
              <a:spcBef>
                <a:spcPts val="0"/>
              </a:spcBef>
            </a:pPr>
            <a:r>
              <a:rPr lang="en-US" altLang="en-US" sz="2600" dirty="0"/>
              <a:t>Compares left-to-right until </a:t>
            </a:r>
            <a:r>
              <a:rPr lang="en-US" altLang="en-US" sz="2600" dirty="0">
                <a:solidFill>
                  <a:srgbClr val="FF1493"/>
                </a:solidFill>
              </a:rPr>
              <a:t>first differenc</a:t>
            </a:r>
            <a:r>
              <a:rPr lang="en-US" altLang="en-US" sz="2600" dirty="0">
                <a:solidFill>
                  <a:srgbClr val="FF1493"/>
                </a:solidFill>
                <a:sym typeface="Wingdings" pitchFamily="2" charset="2"/>
              </a:rPr>
              <a:t>e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FFFFFF">
                    <a:lumMod val="85000"/>
                  </a:srgbClr>
                </a:solidFill>
                <a:sym typeface="Wingdings" pitchFamily="2" charset="2"/>
              </a:rPr>
              <a:t>Subsequences are smaller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sz="1400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 print(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1,2,4,3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 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[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]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[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1,2,4,3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]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(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</a:t>
            </a:r>
            <a:r>
              <a:rPr lang="en-US" altLang="en-US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3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,4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(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</a:t>
            </a:r>
            <a:r>
              <a:rPr lang="en-US" altLang="en-US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4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,3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  <a:sym typeface="Wingdings" pitchFamily="2" charset="2"/>
              </a:rPr>
              <a:t>True	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Comparison Rules</a:t>
            </a:r>
          </a:p>
        </p:txBody>
      </p:sp>
      <p:cxnSp>
        <p:nvCxnSpPr>
          <p:cNvPr id="6" name="Straight Arrow Connector 5"/>
          <p:cNvCxnSpPr/>
          <p:nvPr/>
        </p:nvCxnSpPr>
        <p:spPr bwMode="auto">
          <a:xfrm flipH="1">
            <a:off x="3028159" y="1028700"/>
            <a:ext cx="1836739" cy="255905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-164306" y="2770632"/>
            <a:ext cx="1755724" cy="3455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7F7F7F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3973835" y="1437565"/>
            <a:ext cx="1919761" cy="2220037"/>
            <a:chOff x="4412776" y="1461117"/>
            <a:chExt cx="1919761" cy="1053483"/>
          </a:xfrm>
        </p:grpSpPr>
        <p:cxnSp>
          <p:nvCxnSpPr>
            <p:cNvPr id="14" name="Straight Arrow Connector 13"/>
            <p:cNvCxnSpPr/>
            <p:nvPr/>
          </p:nvCxnSpPr>
          <p:spPr bwMode="auto">
            <a:xfrm flipH="1">
              <a:off x="4412776" y="1465435"/>
              <a:ext cx="859809" cy="1036212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1493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" name="Straight Arrow Connector 14"/>
            <p:cNvCxnSpPr/>
            <p:nvPr/>
          </p:nvCxnSpPr>
          <p:spPr bwMode="auto">
            <a:xfrm>
              <a:off x="5522794" y="1461117"/>
              <a:ext cx="809743" cy="1053483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1493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40915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-164306" y="609600"/>
            <a:ext cx="10333038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ts val="1200"/>
              </a:spcBef>
              <a:buClr>
                <a:srgbClr val="FFFFFF"/>
              </a:buClr>
            </a:pPr>
            <a:r>
              <a:rPr lang="en-US" altLang="en-US" sz="2800" kern="0" spc="-30" dirty="0"/>
              <a:t>Can com</a:t>
            </a:r>
            <a:r>
              <a:rPr lang="en-US" altLang="en-US" sz="2800" kern="0" spc="-30" dirty="0">
                <a:solidFill>
                  <a:srgbClr val="000000"/>
                </a:solidFill>
              </a:rPr>
              <a:t>pare </a:t>
            </a:r>
            <a:r>
              <a:rPr lang="en-US" altLang="en-US" sz="2800" kern="0" spc="-30" dirty="0"/>
              <a:t>strings, </a:t>
            </a:r>
            <a:r>
              <a:rPr lang="en-US" altLang="en-US" sz="2800" kern="0" spc="-30" dirty="0">
                <a:solidFill>
                  <a:srgbClr val="000000"/>
                </a:solidFill>
              </a:rPr>
              <a:t>lists, tuples, </a:t>
            </a:r>
            <a:r>
              <a:rPr lang="en-US" altLang="en-US" sz="2800" b="1" kern="0" spc="-30" dirty="0">
                <a:solidFill>
                  <a:srgbClr val="00B0F0"/>
                </a:solidFill>
              </a:rPr>
              <a:t>sets</a:t>
            </a:r>
            <a:r>
              <a:rPr lang="en-US" altLang="en-US" sz="2800" kern="0" spc="-30" dirty="0">
                <a:solidFill>
                  <a:srgbClr val="FFFFFF">
                    <a:lumMod val="95000"/>
                  </a:srgbClr>
                </a:solidFill>
              </a:rPr>
              <a:t>, but </a:t>
            </a:r>
            <a:r>
              <a:rPr lang="en-US" altLang="en-US" sz="2800" b="1" kern="0" spc="-30" dirty="0">
                <a:solidFill>
                  <a:srgbClr val="FFFFFF">
                    <a:lumMod val="95000"/>
                  </a:srgbClr>
                </a:solidFill>
              </a:rPr>
              <a:t>not</a:t>
            </a:r>
            <a:r>
              <a:rPr lang="en-US" altLang="en-US" sz="2800" kern="0" spc="-30" dirty="0">
                <a:solidFill>
                  <a:srgbClr val="FFFFFF">
                    <a:lumMod val="95000"/>
                  </a:srgbClr>
                </a:solidFill>
              </a:rPr>
              <a:t> dictionaries</a:t>
            </a:r>
            <a:endParaRPr lang="en-US" altLang="en-US" sz="2800" kern="0" spc="-30" dirty="0">
              <a:solidFill>
                <a:srgbClr val="FF0000"/>
              </a:solidFill>
            </a:endParaRPr>
          </a:p>
          <a:p>
            <a:pPr lvl="1">
              <a:spcBef>
                <a:spcPts val="0"/>
              </a:spcBef>
            </a:pPr>
            <a:r>
              <a:rPr lang="en-US" altLang="en-US" sz="2600" strike="sngStrike" dirty="0"/>
              <a:t>Compares</a:t>
            </a:r>
            <a:r>
              <a:rPr lang="en-US" altLang="en-US" sz="2600" strike="sngStrike" dirty="0">
                <a:solidFill>
                  <a:srgbClr val="FF0000"/>
                </a:solidFill>
              </a:rPr>
              <a:t> left-to-right </a:t>
            </a:r>
            <a:r>
              <a:rPr lang="en-US" altLang="en-US" sz="2600" strike="sngStrike" dirty="0"/>
              <a:t>until </a:t>
            </a:r>
            <a:r>
              <a:rPr lang="en-US" altLang="en-US" sz="2600" strike="sngStrike" dirty="0">
                <a:solidFill>
                  <a:srgbClr val="FF1493"/>
                </a:solidFill>
              </a:rPr>
              <a:t>first differenc</a:t>
            </a:r>
            <a:r>
              <a:rPr lang="en-US" altLang="en-US" sz="2600" strike="sngStrike" dirty="0">
                <a:solidFill>
                  <a:srgbClr val="FF1493"/>
                </a:solidFill>
                <a:sym typeface="Wingdings" pitchFamily="2" charset="2"/>
              </a:rPr>
              <a:t>e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FFFFFF">
                    <a:lumMod val="85000"/>
                  </a:srgbClr>
                </a:solidFill>
                <a:sym typeface="Wingdings" pitchFamily="2" charset="2"/>
              </a:rPr>
              <a:t>Subsequences are smaller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sz="1400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 print(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1,2,4,3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	&gt;&gt;&gt; 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[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]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[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1,2,4,3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]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 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(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(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1,2,4,3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{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}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{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1,2,4,3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}</a:t>
            </a:r>
            <a:r>
              <a:rPr lang="en-US" altLang="en-US" spc="-100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sz="2400" spc="50" dirty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  <a:sym typeface="Wingdings" pitchFamily="2" charset="2"/>
              </a:rPr>
              <a:t>#</a:t>
            </a:r>
            <a:r>
              <a:rPr lang="en-US" altLang="en-US" sz="2400" dirty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  <a:sym typeface="Wingdings" pitchFamily="2" charset="2"/>
              </a:rPr>
              <a:t>s</a:t>
            </a:r>
            <a:r>
              <a:rPr lang="en-US" altLang="en-US" sz="2400" spc="-30" dirty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  <a:sym typeface="Wingdings" pitchFamily="2" charset="2"/>
              </a:rPr>
              <a:t>e</a:t>
            </a:r>
            <a:r>
              <a:rPr lang="en-US" altLang="en-US" sz="2400" dirty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  <a:sym typeface="Wingdings" pitchFamily="2" charset="2"/>
              </a:rPr>
              <a:t>ts</a:t>
            </a:r>
            <a:r>
              <a:rPr lang="en-US" altLang="en-US" sz="1800" dirty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en-US" sz="2400" dirty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  <a:sym typeface="Wingdings" pitchFamily="2" charset="2"/>
              </a:rPr>
              <a:t>h</a:t>
            </a:r>
            <a:r>
              <a:rPr lang="en-US" altLang="en-US" sz="2400" spc="-100" dirty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  <a:sym typeface="Wingdings" pitchFamily="2" charset="2"/>
              </a:rPr>
              <a:t>av</a:t>
            </a:r>
            <a:r>
              <a:rPr lang="en-US" altLang="en-US" sz="2400" dirty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  <a:sym typeface="Wingdings" pitchFamily="2" charset="2"/>
              </a:rPr>
              <a:t>e</a:t>
            </a:r>
            <a:r>
              <a:rPr lang="en-US" altLang="en-US" sz="1800" dirty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en-US" sz="2400" u="sng" spc="-40" dirty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  <a:sym typeface="Wingdings" pitchFamily="2" charset="2"/>
              </a:rPr>
              <a:t>n</a:t>
            </a:r>
            <a:r>
              <a:rPr lang="en-US" altLang="en-US" sz="2400" u="sng" dirty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  <a:sym typeface="Wingdings" pitchFamily="2" charset="2"/>
              </a:rPr>
              <a:t>o</a:t>
            </a:r>
            <a:r>
              <a:rPr lang="en-US" altLang="en-US" sz="1800" u="sng" dirty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en-US" sz="2400" u="sng" dirty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  <a:sym typeface="Wingdings" pitchFamily="2" charset="2"/>
              </a:rPr>
              <a:t>left</a:t>
            </a:r>
            <a:r>
              <a:rPr lang="en-US" altLang="en-US" sz="1800" u="sng" dirty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en-US" sz="2400" u="sng" spc="-50" dirty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  <a:sym typeface="Wingdings" pitchFamily="2" charset="2"/>
              </a:rPr>
              <a:t>o</a:t>
            </a:r>
            <a:r>
              <a:rPr lang="en-US" altLang="en-US" sz="2400" u="sng" dirty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  <a:sym typeface="Wingdings" pitchFamily="2" charset="2"/>
              </a:rPr>
              <a:t>r</a:t>
            </a:r>
            <a:r>
              <a:rPr lang="en-US" altLang="en-US" sz="1800" u="sng" dirty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en-US" sz="2400" u="sng" dirty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  <a:sym typeface="Wingdings" pitchFamily="2" charset="2"/>
              </a:rPr>
              <a:t>ri</a:t>
            </a:r>
            <a:r>
              <a:rPr lang="en-US" altLang="en-US" sz="2400" u="sng" spc="-50" dirty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  <a:sym typeface="Wingdings" pitchFamily="2" charset="2"/>
              </a:rPr>
              <a:t>g</a:t>
            </a:r>
            <a:r>
              <a:rPr lang="en-US" altLang="en-US" sz="2400" u="sng" spc="-30" dirty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  <a:sym typeface="Wingdings" pitchFamily="2" charset="2"/>
              </a:rPr>
              <a:t>h</a:t>
            </a:r>
            <a:r>
              <a:rPr lang="en-US" altLang="en-US" sz="2400" u="sng" dirty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  <a:sym typeface="Wingdings" pitchFamily="2" charset="2"/>
              </a:rPr>
              <a:t>t</a:t>
            </a:r>
            <a:endParaRPr lang="en-US" altLang="en-US" u="sng" dirty="0">
              <a:solidFill>
                <a:srgbClr val="000000"/>
              </a:solidFill>
              <a:latin typeface="Arial Narrow" panose="020B060602020203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False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Comparison Rules</a:t>
            </a:r>
          </a:p>
        </p:txBody>
      </p:sp>
      <p:cxnSp>
        <p:nvCxnSpPr>
          <p:cNvPr id="6" name="Straight Arrow Connector 5"/>
          <p:cNvCxnSpPr/>
          <p:nvPr/>
        </p:nvCxnSpPr>
        <p:spPr bwMode="auto">
          <a:xfrm flipH="1">
            <a:off x="3036094" y="1028700"/>
            <a:ext cx="2743200" cy="33147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-164306" y="2770632"/>
            <a:ext cx="1755724" cy="3455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7F7F7F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7F7F7F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 flipH="1" flipV="1">
            <a:off x="3066220" y="1393751"/>
            <a:ext cx="5680831" cy="306483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90638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-164306" y="609600"/>
            <a:ext cx="10333038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ts val="1200"/>
              </a:spcBef>
              <a:buClr>
                <a:srgbClr val="FFFFFF"/>
              </a:buClr>
            </a:pPr>
            <a:r>
              <a:rPr lang="en-US" altLang="en-US" sz="2800" kern="0" spc="-30" dirty="0"/>
              <a:t>Can com</a:t>
            </a:r>
            <a:r>
              <a:rPr lang="en-US" altLang="en-US" sz="2800" kern="0" spc="-30" dirty="0">
                <a:solidFill>
                  <a:srgbClr val="000000"/>
                </a:solidFill>
              </a:rPr>
              <a:t>pare </a:t>
            </a:r>
            <a:r>
              <a:rPr lang="en-US" altLang="en-US" sz="2800" kern="0" spc="-30" dirty="0"/>
              <a:t>strings, </a:t>
            </a:r>
            <a:r>
              <a:rPr lang="en-US" altLang="en-US" sz="2800" kern="0" spc="-30" dirty="0">
                <a:solidFill>
                  <a:srgbClr val="000000"/>
                </a:solidFill>
              </a:rPr>
              <a:t>lists, tuples, sets, </a:t>
            </a:r>
            <a:r>
              <a:rPr lang="en-US" altLang="en-US" sz="2800" kern="0" spc="-30" dirty="0">
                <a:solidFill>
                  <a:srgbClr val="FF0000"/>
                </a:solidFill>
              </a:rPr>
              <a:t>but </a:t>
            </a:r>
            <a:r>
              <a:rPr lang="en-US" altLang="en-US" sz="2800" b="1" kern="0" spc="-30" dirty="0">
                <a:solidFill>
                  <a:srgbClr val="FF0000"/>
                </a:solidFill>
              </a:rPr>
              <a:t>not</a:t>
            </a:r>
            <a:r>
              <a:rPr lang="en-US" altLang="en-US" sz="2800" kern="0" spc="-30" dirty="0">
                <a:solidFill>
                  <a:srgbClr val="FF0000"/>
                </a:solidFill>
              </a:rPr>
              <a:t> dictionaries</a:t>
            </a:r>
          </a:p>
          <a:p>
            <a:pPr lvl="1">
              <a:spcBef>
                <a:spcPts val="0"/>
              </a:spcBef>
            </a:pPr>
            <a:r>
              <a:rPr lang="en-US" altLang="en-US" sz="2600" strike="sngStrike" dirty="0"/>
              <a:t>Compares</a:t>
            </a:r>
            <a:r>
              <a:rPr lang="en-US" altLang="en-US" sz="2600" strike="sngStrike" dirty="0">
                <a:solidFill>
                  <a:srgbClr val="FF0000"/>
                </a:solidFill>
              </a:rPr>
              <a:t> left-to-right </a:t>
            </a:r>
            <a:r>
              <a:rPr lang="en-US" altLang="en-US" sz="2600" strike="sngStrike" dirty="0"/>
              <a:t>until </a:t>
            </a:r>
            <a:r>
              <a:rPr lang="en-US" altLang="en-US" sz="2600" strike="sngStrike" dirty="0">
                <a:solidFill>
                  <a:srgbClr val="FF1493"/>
                </a:solidFill>
              </a:rPr>
              <a:t>first </a:t>
            </a:r>
            <a:r>
              <a:rPr lang="en-US" altLang="en-US" sz="2600" strike="sngStrike" dirty="0" smtClean="0">
                <a:solidFill>
                  <a:srgbClr val="FF1493"/>
                </a:solidFill>
              </a:rPr>
              <a:t>difference</a:t>
            </a:r>
            <a:endParaRPr lang="en-US" altLang="en-US" sz="2600" strike="sngStrike" dirty="0">
              <a:solidFill>
                <a:srgbClr val="FF1493"/>
              </a:solidFill>
              <a:sym typeface="Wingdings" pitchFamily="2" charset="2"/>
            </a:endParaRP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FFFFFF">
                    <a:lumMod val="85000"/>
                  </a:srgbClr>
                </a:solidFill>
                <a:sym typeface="Wingdings" pitchFamily="2" charset="2"/>
              </a:rPr>
              <a:t>Subsequences are smaller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sz="1400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 print(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1,2,4,3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	&gt;&gt;&gt; 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[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]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[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1,2,4,3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]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 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(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(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1,2,4,3</a:t>
            </a:r>
            <a:r>
              <a:rPr lang="en-US" altLang="en-US" b="1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dirty="0" smtClean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 smtClean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 </a:t>
            </a:r>
            <a:r>
              <a:rPr lang="en-US" altLang="en-US" dirty="0" smtClean="0">
                <a:solidFill>
                  <a:srgbClr val="858585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 smtClean="0">
                <a:solidFill>
                  <a:srgbClr val="858585"/>
                </a:solidFill>
                <a:latin typeface="Lucida Console" panose="020B0609040504020204" pitchFamily="49" charset="0"/>
                <a:sym typeface="Wingdings" pitchFamily="2" charset="2"/>
              </a:rPr>
              <a:t>{</a:t>
            </a:r>
            <a:r>
              <a:rPr lang="en-US" altLang="en-US" dirty="0" smtClean="0">
                <a:solidFill>
                  <a:srgbClr val="858585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 smtClean="0">
                <a:solidFill>
                  <a:srgbClr val="858585"/>
                </a:solidFill>
                <a:latin typeface="Lucida Console" panose="020B0609040504020204" pitchFamily="49" charset="0"/>
                <a:sym typeface="Wingdings" pitchFamily="2" charset="2"/>
              </a:rPr>
              <a:t>}</a:t>
            </a:r>
            <a:r>
              <a:rPr lang="en-US" altLang="en-US" dirty="0" smtClean="0">
                <a:solidFill>
                  <a:srgbClr val="858585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 smtClean="0">
                <a:solidFill>
                  <a:srgbClr val="858585"/>
                </a:solidFill>
                <a:latin typeface="Lucida Console" panose="020B0609040504020204" pitchFamily="49" charset="0"/>
                <a:sym typeface="Wingdings" pitchFamily="2" charset="2"/>
              </a:rPr>
              <a:t>{</a:t>
            </a:r>
            <a:r>
              <a:rPr lang="en-US" altLang="en-US" dirty="0" smtClean="0">
                <a:solidFill>
                  <a:srgbClr val="858585"/>
                </a:solidFill>
                <a:latin typeface="Lucida Console" panose="020B0609040504020204" pitchFamily="49" charset="0"/>
                <a:sym typeface="Wingdings" pitchFamily="2" charset="2"/>
              </a:rPr>
              <a:t>1,2,4,3</a:t>
            </a:r>
            <a:r>
              <a:rPr lang="en-US" altLang="en-US" b="1" dirty="0" smtClean="0">
                <a:solidFill>
                  <a:srgbClr val="7F7F7F"/>
                </a:solidFill>
                <a:latin typeface="Lucida Console" panose="020B0609040504020204" pitchFamily="49" charset="0"/>
                <a:cs typeface="+mn-cs"/>
                <a:sym typeface="Wingdings" pitchFamily="2" charset="2"/>
              </a:rPr>
              <a:t>}</a:t>
            </a:r>
            <a:r>
              <a:rPr lang="en-US" altLang="en-US" spc="-100" dirty="0" smtClean="0">
                <a:solidFill>
                  <a:srgbClr val="7F7F7F"/>
                </a:solidFill>
                <a:latin typeface="Lucida Console" panose="020B0609040504020204" pitchFamily="49" charset="0"/>
                <a:cs typeface="+mn-cs"/>
                <a:sym typeface="Wingdings" pitchFamily="2" charset="2"/>
              </a:rPr>
              <a:t>)</a:t>
            </a:r>
            <a:r>
              <a:rPr lang="en-US" altLang="en-US" sz="2400" spc="50" dirty="0" smtClean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#</a:t>
            </a:r>
            <a:r>
              <a:rPr lang="en-US" altLang="en-US" sz="240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s</a:t>
            </a:r>
            <a:r>
              <a:rPr lang="en-US" altLang="en-US" sz="2400" spc="-3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e</a:t>
            </a:r>
            <a:r>
              <a:rPr lang="en-US" altLang="en-US" sz="240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ts</a:t>
            </a:r>
            <a:r>
              <a:rPr lang="en-US" altLang="en-US" sz="180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en-US" sz="240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h</a:t>
            </a:r>
            <a:r>
              <a:rPr lang="en-US" altLang="en-US" sz="2400" spc="-10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av</a:t>
            </a:r>
            <a:r>
              <a:rPr lang="en-US" altLang="en-US" sz="240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e</a:t>
            </a:r>
            <a:r>
              <a:rPr lang="en-US" altLang="en-US" sz="180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en-US" sz="2400" u="sng" spc="-4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n</a:t>
            </a:r>
            <a:r>
              <a:rPr lang="en-US" altLang="en-US" sz="2400" u="sng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o</a:t>
            </a:r>
            <a:r>
              <a:rPr lang="en-US" altLang="en-US" sz="1800" u="sng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en-US" sz="2400" u="sng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left</a:t>
            </a:r>
            <a:r>
              <a:rPr lang="en-US" altLang="en-US" sz="1800" u="sng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en-US" sz="2400" u="sng" spc="-5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o</a:t>
            </a:r>
            <a:r>
              <a:rPr lang="en-US" altLang="en-US" sz="2400" u="sng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r</a:t>
            </a:r>
            <a:r>
              <a:rPr lang="en-US" altLang="en-US" sz="1800" u="sng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en-US" sz="2400" u="sng" dirty="0" smtClean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ri</a:t>
            </a:r>
            <a:r>
              <a:rPr lang="en-US" altLang="en-US" sz="2400" u="sng" spc="-50" dirty="0" smtClean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g</a:t>
            </a:r>
            <a:r>
              <a:rPr lang="en-US" altLang="en-US" sz="2400" u="sng" spc="-30" dirty="0" smtClean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h</a:t>
            </a:r>
            <a:r>
              <a:rPr lang="en-US" altLang="en-US" sz="2400" u="sng" dirty="0" smtClean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t</a:t>
            </a:r>
            <a:endParaRPr lang="en-US" altLang="en-US" u="sng" spc="50" dirty="0" smtClean="0">
              <a:solidFill>
                <a:srgbClr val="858585"/>
              </a:solidFill>
              <a:latin typeface="Arial Narrow" panose="020B060602020203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858585"/>
                </a:solidFill>
                <a:latin typeface="Lucida Console" panose="020B0609040504020204" pitchFamily="49" charset="0"/>
                <a:sym typeface="Wingdings" pitchFamily="2" charset="2"/>
              </a:rPr>
              <a:t>	False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858585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858585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{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</a:t>
            </a: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: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2,3</a:t>
            </a: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: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4</a:t>
            </a: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}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{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</a:t>
            </a: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: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2,4</a:t>
            </a: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: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3</a:t>
            </a: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}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pc="160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spc="160" dirty="0" err="1">
                <a:solidFill>
                  <a:srgbClr val="FFAFAF"/>
                </a:solidFill>
                <a:latin typeface="Arial Narrow" panose="020B0606020202030204" pitchFamily="34" charset="0"/>
                <a:sym typeface="Wingdings" pitchFamily="2" charset="2"/>
              </a:rPr>
              <a:t>Traceback</a:t>
            </a:r>
            <a:r>
              <a:rPr lang="en-US" altLang="en-US" spc="160" dirty="0">
                <a:solidFill>
                  <a:srgbClr val="FFAFAF"/>
                </a:solidFill>
                <a:latin typeface="Arial Narrow" panose="020B0606020202030204" pitchFamily="34" charset="0"/>
                <a:sym typeface="Wingdings" pitchFamily="2" charset="2"/>
              </a:rPr>
              <a:t> (most recent call last):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pc="160" dirty="0">
                <a:solidFill>
                  <a:srgbClr val="FFAFAF"/>
                </a:solidFill>
                <a:latin typeface="Arial Narrow" panose="020B0606020202030204" pitchFamily="34" charset="0"/>
                <a:sym typeface="Wingdings" pitchFamily="2" charset="2"/>
              </a:rPr>
              <a:t>	  File "&lt;</a:t>
            </a:r>
            <a:r>
              <a:rPr lang="en-US" altLang="en-US" spc="160" dirty="0" err="1">
                <a:solidFill>
                  <a:srgbClr val="FFAFAF"/>
                </a:solidFill>
                <a:latin typeface="Arial Narrow" panose="020B0606020202030204" pitchFamily="34" charset="0"/>
                <a:sym typeface="Wingdings" pitchFamily="2" charset="2"/>
              </a:rPr>
              <a:t>stdin</a:t>
            </a:r>
            <a:r>
              <a:rPr lang="en-US" altLang="en-US" spc="160" dirty="0">
                <a:solidFill>
                  <a:srgbClr val="FFAFAF"/>
                </a:solidFill>
                <a:latin typeface="Arial Narrow" panose="020B0606020202030204" pitchFamily="34" charset="0"/>
                <a:sym typeface="Wingdings" pitchFamily="2" charset="2"/>
              </a:rPr>
              <a:t>&gt;", line 1, in &lt;module&gt;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pc="160" dirty="0">
                <a:solidFill>
                  <a:srgbClr val="FFAFAF"/>
                </a:solidFill>
                <a:latin typeface="Arial Narrow" panose="020B0606020202030204" pitchFamily="34" charset="0"/>
                <a:sym typeface="Wingdings" pitchFamily="2" charset="2"/>
              </a:rPr>
              <a:t>	</a:t>
            </a:r>
            <a:r>
              <a:rPr lang="en-US" altLang="en-US" spc="130" dirty="0" err="1">
                <a:solidFill>
                  <a:srgbClr val="FFAFAF"/>
                </a:solidFill>
                <a:latin typeface="Arial Narrow" panose="020B0606020202030204" pitchFamily="34" charset="0"/>
                <a:sym typeface="Wingdings" pitchFamily="2" charset="2"/>
              </a:rPr>
              <a:t>TypeError</a:t>
            </a:r>
            <a:r>
              <a:rPr lang="en-US" altLang="en-US" spc="130" dirty="0">
                <a:solidFill>
                  <a:srgbClr val="FFAFAF"/>
                </a:solidFill>
                <a:latin typeface="Arial Narrow" panose="020B0606020202030204" pitchFamily="34" charset="0"/>
                <a:sym typeface="Wingdings" pitchFamily="2" charset="2"/>
              </a:rPr>
              <a:t>: '</a:t>
            </a:r>
            <a:r>
              <a:rPr lang="en-US" altLang="en-US" spc="130" dirty="0">
                <a:solidFill>
                  <a:srgbClr val="000000"/>
                </a:solidFill>
                <a:latin typeface="Arial Narrow" panose="020B0606020202030204" pitchFamily="34" charset="0"/>
                <a:sym typeface="Wingdings" pitchFamily="2" charset="2"/>
              </a:rPr>
              <a:t>&lt;</a:t>
            </a:r>
            <a:r>
              <a:rPr lang="en-US" altLang="en-US" spc="130" dirty="0">
                <a:solidFill>
                  <a:srgbClr val="FFAFAF"/>
                </a:solidFill>
                <a:latin typeface="Arial Narrow" panose="020B0606020202030204" pitchFamily="34" charset="0"/>
                <a:sym typeface="Wingdings" pitchFamily="2" charset="2"/>
              </a:rPr>
              <a:t>' not supported between instances of '</a:t>
            </a:r>
            <a:r>
              <a:rPr lang="en-US" altLang="en-US" spc="130" dirty="0" err="1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dict</a:t>
            </a:r>
            <a:r>
              <a:rPr lang="en-US" altLang="en-US" spc="130" dirty="0">
                <a:solidFill>
                  <a:srgbClr val="FFAFAF"/>
                </a:solidFill>
                <a:latin typeface="Arial Narrow" panose="020B0606020202030204" pitchFamily="34" charset="0"/>
                <a:sym typeface="Wingdings" pitchFamily="2" charset="2"/>
              </a:rPr>
              <a:t>' and '</a:t>
            </a:r>
            <a:r>
              <a:rPr lang="en-US" altLang="en-US" spc="130" dirty="0" err="1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dict</a:t>
            </a:r>
            <a:r>
              <a:rPr lang="en-US" altLang="en-US" spc="130" dirty="0">
                <a:solidFill>
                  <a:srgbClr val="FFAFAF"/>
                </a:solidFill>
                <a:latin typeface="Arial Narrow" panose="020B0606020202030204" pitchFamily="34" charset="0"/>
                <a:sym typeface="Wingdings" pitchFamily="2" charset="2"/>
              </a:rPr>
              <a:t>'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858585"/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Comparison Rules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-164306" y="2770632"/>
            <a:ext cx="1755724" cy="3455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7F7F7F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7F7F7F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  <p:cxnSp>
        <p:nvCxnSpPr>
          <p:cNvPr id="9" name="Straight Arrow Connector 8"/>
          <p:cNvCxnSpPr/>
          <p:nvPr/>
        </p:nvCxnSpPr>
        <p:spPr bwMode="auto">
          <a:xfrm flipH="1">
            <a:off x="3034508" y="1028700"/>
            <a:ext cx="5259386" cy="407035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579932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-164306" y="609600"/>
            <a:ext cx="101727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ts val="1200"/>
              </a:spcBef>
              <a:buClr>
                <a:srgbClr val="FFFFFF"/>
              </a:buClr>
            </a:pPr>
            <a:r>
              <a:rPr lang="en-US" altLang="en-US" sz="2800" kern="0" spc="-30" dirty="0"/>
              <a:t>Can com</a:t>
            </a:r>
            <a:r>
              <a:rPr lang="en-US" altLang="en-US" sz="2800" kern="0" spc="-30" dirty="0">
                <a:solidFill>
                  <a:srgbClr val="000000"/>
                </a:solidFill>
              </a:rPr>
              <a:t>pare </a:t>
            </a:r>
            <a:r>
              <a:rPr lang="en-US" altLang="en-US" sz="2800" kern="0" spc="-30" dirty="0"/>
              <a:t>strings</a:t>
            </a:r>
            <a:r>
              <a:rPr lang="en-US" altLang="en-US" sz="2800" kern="0" spc="-30" dirty="0">
                <a:solidFill>
                  <a:srgbClr val="000000"/>
                </a:solidFill>
              </a:rPr>
              <a:t>, lists, tuples, sets</a:t>
            </a:r>
            <a:r>
              <a:rPr lang="en-US" altLang="en-US" sz="2800" kern="0" spc="-30" dirty="0">
                <a:solidFill>
                  <a:srgbClr val="F2F2F2"/>
                </a:solidFill>
              </a:rPr>
              <a:t>, but </a:t>
            </a:r>
            <a:r>
              <a:rPr lang="en-US" altLang="en-US" sz="2800" b="1" kern="0" spc="-30" dirty="0">
                <a:solidFill>
                  <a:srgbClr val="F2F2F2"/>
                </a:solidFill>
              </a:rPr>
              <a:t>not</a:t>
            </a:r>
            <a:r>
              <a:rPr lang="en-US" altLang="en-US" sz="2800" kern="0" spc="-30" dirty="0">
                <a:solidFill>
                  <a:srgbClr val="F2F2F2"/>
                </a:solidFill>
              </a:rPr>
              <a:t> dictionaries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/>
              <a:t>Compares</a:t>
            </a:r>
            <a:r>
              <a:rPr lang="en-US" altLang="en-US" sz="2600" dirty="0">
                <a:solidFill>
                  <a:srgbClr val="FF0000"/>
                </a:solidFill>
              </a:rPr>
              <a:t> left-to-right </a:t>
            </a:r>
            <a:r>
              <a:rPr lang="en-US" altLang="en-US" sz="2600" dirty="0"/>
              <a:t>until </a:t>
            </a:r>
            <a:r>
              <a:rPr lang="en-US" altLang="en-US" sz="2600" dirty="0">
                <a:solidFill>
                  <a:srgbClr val="FF1493"/>
                </a:solidFill>
              </a:rPr>
              <a:t>first differenc</a:t>
            </a:r>
            <a:r>
              <a:rPr lang="en-US" altLang="en-US" sz="2600" dirty="0">
                <a:solidFill>
                  <a:srgbClr val="FF1493"/>
                </a:solidFill>
                <a:sym typeface="Wingdings" pitchFamily="2" charset="2"/>
              </a:rPr>
              <a:t>e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FFFFFF">
                    <a:lumMod val="85000"/>
                  </a:srgbClr>
                </a:solidFill>
                <a:sym typeface="Wingdings" pitchFamily="2" charset="2"/>
              </a:rPr>
              <a:t>Subsequences are smaller</a:t>
            </a:r>
            <a:endParaRPr lang="en-US" altLang="en-US" sz="2600" dirty="0">
              <a:solidFill>
                <a:srgbClr val="000000"/>
              </a:solidFill>
              <a:sym typeface="Wingdings" pitchFamily="2" charset="2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sz="1400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&gt;&gt;&gt;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1,2,4,3</a:t>
            </a:r>
            <a:r>
              <a:rPr lang="en-US" altLang="en-US" b="1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  <a:sym typeface="Wingdings" pitchFamily="2" charset="2"/>
              </a:rPr>
              <a:t>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[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]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[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1,2,4,3</a:t>
            </a:r>
            <a:r>
              <a:rPr lang="en-US" altLang="en-US" b="1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]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  <a:sym typeface="Wingdings" pitchFamily="2" charset="2"/>
              </a:rPr>
              <a:t>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(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(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1,2,4,3</a:t>
            </a:r>
            <a:r>
              <a:rPr lang="en-US" altLang="en-US" b="1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  <a:sym typeface="Wingdings" pitchFamily="2" charset="2"/>
              </a:rPr>
              <a:t>True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{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}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{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1,2,4,3</a:t>
            </a:r>
            <a:r>
              <a:rPr lang="en-US" altLang="en-US" b="1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}</a:t>
            </a:r>
            <a:r>
              <a:rPr lang="en-US" altLang="en-US" spc="-100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sz="2400" spc="50" dirty="0" smtClean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#</a:t>
            </a:r>
            <a:r>
              <a:rPr lang="en-US" altLang="en-US" sz="240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s</a:t>
            </a:r>
            <a:r>
              <a:rPr lang="en-US" altLang="en-US" sz="2400" spc="-3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e</a:t>
            </a:r>
            <a:r>
              <a:rPr lang="en-US" altLang="en-US" sz="240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ts</a:t>
            </a:r>
            <a:r>
              <a:rPr lang="en-US" altLang="en-US" sz="180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en-US" sz="240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h</a:t>
            </a:r>
            <a:r>
              <a:rPr lang="en-US" altLang="en-US" sz="2400" spc="-10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av</a:t>
            </a:r>
            <a:r>
              <a:rPr lang="en-US" altLang="en-US" sz="240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e</a:t>
            </a:r>
            <a:r>
              <a:rPr lang="en-US" altLang="en-US" sz="180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en-US" sz="2400" u="sng" spc="-4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n</a:t>
            </a:r>
            <a:r>
              <a:rPr lang="en-US" altLang="en-US" sz="2400" u="sng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o</a:t>
            </a:r>
            <a:r>
              <a:rPr lang="en-US" altLang="en-US" sz="1800" u="sng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en-US" sz="2400" u="sng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left</a:t>
            </a:r>
            <a:r>
              <a:rPr lang="en-US" altLang="en-US" sz="1800" u="sng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en-US" sz="2400" u="sng" spc="-5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o</a:t>
            </a:r>
            <a:r>
              <a:rPr lang="en-US" altLang="en-US" sz="2400" u="sng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r</a:t>
            </a:r>
            <a:r>
              <a:rPr lang="en-US" altLang="en-US" sz="1800" u="sng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en-US" sz="2400" u="sng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ri</a:t>
            </a:r>
            <a:r>
              <a:rPr lang="en-US" altLang="en-US" sz="2400" u="sng" spc="-5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g</a:t>
            </a:r>
            <a:r>
              <a:rPr lang="en-US" altLang="en-US" sz="2400" u="sng" spc="-3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h</a:t>
            </a:r>
            <a:r>
              <a:rPr lang="en-US" altLang="en-US" sz="2400" u="sng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t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 smtClean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False</a:t>
            </a: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Comparison Rules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-164306" y="2775046"/>
            <a:ext cx="1755724" cy="3423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33817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-164306" y="609600"/>
            <a:ext cx="101727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ts val="1200"/>
              </a:spcBef>
              <a:buClr>
                <a:srgbClr val="FFFFFF"/>
              </a:buClr>
            </a:pPr>
            <a:r>
              <a:rPr lang="en-US" altLang="en-US" sz="2800" kern="0" spc="-30" dirty="0"/>
              <a:t>Can com</a:t>
            </a:r>
            <a:r>
              <a:rPr lang="en-US" altLang="en-US" sz="2800" kern="0" spc="-30" dirty="0">
                <a:solidFill>
                  <a:srgbClr val="000000"/>
                </a:solidFill>
              </a:rPr>
              <a:t>pare </a:t>
            </a:r>
            <a:r>
              <a:rPr lang="en-US" altLang="en-US" sz="2800" kern="0" spc="-30" dirty="0"/>
              <a:t>strings</a:t>
            </a:r>
            <a:r>
              <a:rPr lang="en-US" altLang="en-US" sz="2800" kern="0" spc="-30" dirty="0">
                <a:solidFill>
                  <a:srgbClr val="000000"/>
                </a:solidFill>
              </a:rPr>
              <a:t>, lists, tuples, sets</a:t>
            </a:r>
            <a:r>
              <a:rPr lang="en-US" altLang="en-US" sz="2800" kern="0" spc="-30" dirty="0">
                <a:solidFill>
                  <a:srgbClr val="F2F2F2"/>
                </a:solidFill>
              </a:rPr>
              <a:t>, but </a:t>
            </a:r>
            <a:r>
              <a:rPr lang="en-US" altLang="en-US" sz="2800" b="1" kern="0" spc="-30" dirty="0">
                <a:solidFill>
                  <a:srgbClr val="F2F2F2"/>
                </a:solidFill>
              </a:rPr>
              <a:t>not</a:t>
            </a:r>
            <a:r>
              <a:rPr lang="en-US" altLang="en-US" sz="2800" kern="0" spc="-30" dirty="0">
                <a:solidFill>
                  <a:srgbClr val="F2F2F2"/>
                </a:solidFill>
              </a:rPr>
              <a:t> dictionaries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/>
              <a:t>Compares</a:t>
            </a:r>
            <a:r>
              <a:rPr lang="en-US" altLang="en-US" sz="2600" dirty="0">
                <a:solidFill>
                  <a:srgbClr val="FF0000"/>
                </a:solidFill>
              </a:rPr>
              <a:t> left-to-right </a:t>
            </a:r>
            <a:r>
              <a:rPr lang="en-US" altLang="en-US" sz="2600" dirty="0"/>
              <a:t>until </a:t>
            </a:r>
            <a:r>
              <a:rPr lang="en-US" altLang="en-US" sz="2600" dirty="0">
                <a:solidFill>
                  <a:srgbClr val="FF1493"/>
                </a:solidFill>
              </a:rPr>
              <a:t>first differenc</a:t>
            </a:r>
            <a:r>
              <a:rPr lang="en-US" altLang="en-US" sz="2600" dirty="0">
                <a:solidFill>
                  <a:srgbClr val="FF1493"/>
                </a:solidFill>
                <a:sym typeface="Wingdings" pitchFamily="2" charset="2"/>
              </a:rPr>
              <a:t>e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FFFFFF">
                    <a:lumMod val="85000"/>
                  </a:srgbClr>
                </a:solidFill>
                <a:sym typeface="Wingdings" pitchFamily="2" charset="2"/>
              </a:rPr>
              <a:t>Subsequences are smaller</a:t>
            </a:r>
            <a:endParaRPr lang="en-US" altLang="en-US" sz="2600" dirty="0">
              <a:solidFill>
                <a:srgbClr val="000000"/>
              </a:solidFill>
              <a:sym typeface="Wingdings" pitchFamily="2" charset="2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sz="1400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&gt;&gt;&gt;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 smtClean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False</a:t>
            </a:r>
            <a:endParaRPr lang="en-US" altLang="en-US" dirty="0">
              <a:solidFill>
                <a:srgbClr val="0066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[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]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[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]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 smtClean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False</a:t>
            </a:r>
            <a:endParaRPr lang="en-US" altLang="en-US" dirty="0">
              <a:solidFill>
                <a:srgbClr val="0066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(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(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 smtClean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False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{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}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{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}</a:t>
            </a:r>
            <a:r>
              <a:rPr lang="en-US" altLang="en-US" spc="-100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sz="2400" spc="50" dirty="0" smtClean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#</a:t>
            </a:r>
            <a:r>
              <a:rPr lang="en-US" altLang="en-US" sz="240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s</a:t>
            </a:r>
            <a:r>
              <a:rPr lang="en-US" altLang="en-US" sz="2400" spc="-3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e</a:t>
            </a:r>
            <a:r>
              <a:rPr lang="en-US" altLang="en-US" sz="240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ts</a:t>
            </a:r>
            <a:r>
              <a:rPr lang="en-US" altLang="en-US" sz="180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en-US" sz="240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h</a:t>
            </a:r>
            <a:r>
              <a:rPr lang="en-US" altLang="en-US" sz="2400" spc="-10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av</a:t>
            </a:r>
            <a:r>
              <a:rPr lang="en-US" altLang="en-US" sz="240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e</a:t>
            </a:r>
            <a:r>
              <a:rPr lang="en-US" altLang="en-US" sz="180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en-US" sz="2400" u="sng" spc="-4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n</a:t>
            </a:r>
            <a:r>
              <a:rPr lang="en-US" altLang="en-US" sz="2400" u="sng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o</a:t>
            </a:r>
            <a:r>
              <a:rPr lang="en-US" altLang="en-US" sz="1800" u="sng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en-US" sz="2400" u="sng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left</a:t>
            </a:r>
            <a:r>
              <a:rPr lang="en-US" altLang="en-US" sz="1800" u="sng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en-US" sz="2400" u="sng" spc="-50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o</a:t>
            </a:r>
            <a:r>
              <a:rPr lang="en-US" altLang="en-US" sz="2400" u="sng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r</a:t>
            </a:r>
            <a:r>
              <a:rPr lang="en-US" altLang="en-US" sz="1800" u="sng" dirty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en-US" sz="2400" u="sng" dirty="0" smtClean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ri</a:t>
            </a:r>
            <a:r>
              <a:rPr lang="en-US" altLang="en-US" sz="2400" u="sng" spc="-50" dirty="0" smtClean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g</a:t>
            </a:r>
            <a:r>
              <a:rPr lang="en-US" altLang="en-US" sz="2400" u="sng" spc="-30" dirty="0" smtClean="0">
                <a:solidFill>
                  <a:srgbClr val="FF0000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  <a:sym typeface="Wingdings" pitchFamily="2" charset="2"/>
              </a:rPr>
              <a:t>ht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 smtClean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False</a:t>
            </a: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Comparison Rules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-164306" y="2775046"/>
            <a:ext cx="1755724" cy="3423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69350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-164306" y="609600"/>
            <a:ext cx="101727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ts val="1200"/>
              </a:spcBef>
              <a:buClr>
                <a:srgbClr val="FFFFFF"/>
              </a:buClr>
            </a:pPr>
            <a:r>
              <a:rPr lang="en-US" altLang="en-US" sz="2800" kern="0" spc="-30" dirty="0"/>
              <a:t>Can com</a:t>
            </a:r>
            <a:r>
              <a:rPr lang="en-US" altLang="en-US" sz="2800" kern="0" spc="-30" dirty="0">
                <a:solidFill>
                  <a:srgbClr val="000000"/>
                </a:solidFill>
              </a:rPr>
              <a:t>pare </a:t>
            </a:r>
            <a:r>
              <a:rPr lang="en-US" altLang="en-US" sz="2800" kern="0" spc="-30" dirty="0"/>
              <a:t>strings</a:t>
            </a:r>
            <a:r>
              <a:rPr lang="en-US" altLang="en-US" sz="2800" kern="0" spc="-30" dirty="0">
                <a:solidFill>
                  <a:srgbClr val="000000"/>
                </a:solidFill>
              </a:rPr>
              <a:t>, lists, tuples, sets</a:t>
            </a:r>
            <a:r>
              <a:rPr lang="en-US" altLang="en-US" sz="2800" kern="0" spc="-30" dirty="0">
                <a:solidFill>
                  <a:srgbClr val="F2F2F2"/>
                </a:solidFill>
              </a:rPr>
              <a:t>, but </a:t>
            </a:r>
            <a:r>
              <a:rPr lang="en-US" altLang="en-US" sz="2800" b="1" kern="0" spc="-30" dirty="0">
                <a:solidFill>
                  <a:srgbClr val="F2F2F2"/>
                </a:solidFill>
              </a:rPr>
              <a:t>not</a:t>
            </a:r>
            <a:r>
              <a:rPr lang="en-US" altLang="en-US" sz="2800" kern="0" spc="-30" dirty="0">
                <a:solidFill>
                  <a:srgbClr val="F2F2F2"/>
                </a:solidFill>
              </a:rPr>
              <a:t> dictionaries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D9D9D9"/>
                </a:solidFill>
              </a:rPr>
              <a:t>Compares left-to-right until first differenc</a:t>
            </a:r>
            <a:r>
              <a:rPr lang="en-US" altLang="en-US" sz="2600" dirty="0">
                <a:solidFill>
                  <a:srgbClr val="D9D9D9"/>
                </a:solidFill>
                <a:sym typeface="Wingdings" pitchFamily="2" charset="2"/>
              </a:rPr>
              <a:t>e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FF1493"/>
                </a:solidFill>
                <a:sym typeface="Wingdings" pitchFamily="2" charset="2"/>
              </a:rPr>
              <a:t>Subsequences</a:t>
            </a:r>
            <a:r>
              <a:rPr lang="en-US" altLang="en-US" sz="2600" dirty="0">
                <a:solidFill>
                  <a:srgbClr val="000000"/>
                </a:solidFill>
                <a:sym typeface="Wingdings" pitchFamily="2" charset="2"/>
              </a:rPr>
              <a:t> are smaller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sz="1400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&gt;&gt;&gt;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,0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  <a:sym typeface="Wingdings" pitchFamily="2" charset="2"/>
              </a:rPr>
              <a:t>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[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]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[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,0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]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  <a:sym typeface="Wingdings" pitchFamily="2" charset="2"/>
              </a:rPr>
              <a:t>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(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(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,0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  <a:sym typeface="Wingdings" pitchFamily="2" charset="2"/>
              </a:rPr>
              <a:t>True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{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}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{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,0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}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  <a:sym typeface="Wingdings" pitchFamily="2" charset="2"/>
              </a:rPr>
              <a:t>True	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Comparison Rules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-164306" y="2775046"/>
            <a:ext cx="1755724" cy="3423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28744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-164306" y="5053840"/>
            <a:ext cx="10744200" cy="1654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{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</a:t>
            </a:r>
            <a:r>
              <a:rPr lang="en-US" altLang="en-US" b="1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,4</a:t>
            </a:r>
            <a:r>
              <a:rPr lang="en-US" altLang="en-US" b="1" dirty="0" smtClean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}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 smtClean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{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</a:t>
            </a:r>
            <a:r>
              <a:rPr lang="en-US" altLang="en-US" b="1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,0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}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sz="2400" dirty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#</a:t>
            </a:r>
            <a:r>
              <a:rPr lang="en-US" altLang="en-US" sz="2400" spc="-20" dirty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What if </a:t>
            </a:r>
            <a:r>
              <a:rPr lang="en-US" altLang="en-US" sz="2400" spc="-20" dirty="0" smtClean="0">
                <a:solidFill>
                  <a:srgbClr val="FF1493"/>
                </a:solidFill>
                <a:latin typeface="Arial Narrow" panose="020B0606020202030204" pitchFamily="34" charset="0"/>
                <a:sym typeface="Wingdings" pitchFamily="2" charset="2"/>
              </a:rPr>
              <a:t>element </a:t>
            </a:r>
            <a:r>
              <a:rPr lang="en-US" altLang="en-US" sz="2400" spc="-2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smalle</a:t>
            </a:r>
            <a:r>
              <a:rPr lang="en-US" altLang="en-US" sz="2400" spc="-15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r</a:t>
            </a:r>
            <a:r>
              <a:rPr lang="en-US" altLang="en-US" dirty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?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False</a:t>
            </a: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smtClean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 smtClean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 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 smtClean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{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</a:t>
            </a:r>
            <a:r>
              <a:rPr lang="en-US" altLang="en-US" b="1" dirty="0" smtClean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,4</a:t>
            </a:r>
            <a:r>
              <a:rPr lang="en-US" altLang="en-US" b="1" dirty="0" smtClean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}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&gt;=</a:t>
            </a:r>
            <a:r>
              <a:rPr lang="en-US" altLang="en-US" b="1" dirty="0" smtClean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{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</a:t>
            </a:r>
            <a:r>
              <a:rPr lang="en-US" altLang="en-US" spc="-100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,3</a:t>
            </a:r>
            <a:r>
              <a:rPr lang="en-US" altLang="en-US" b="1" spc="-100" dirty="0" smtClean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,</a:t>
            </a:r>
            <a:r>
              <a:rPr lang="en-US" altLang="en-US" b="1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0</a:t>
            </a:r>
            <a:r>
              <a:rPr lang="en-US" altLang="en-US" b="1" spc="-200" dirty="0" smtClean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}</a:t>
            </a:r>
            <a:r>
              <a:rPr lang="en-US" altLang="en-US" spc="-250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sz="2400" spc="-10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#</a:t>
            </a:r>
            <a:r>
              <a:rPr lang="en-US" altLang="en-US" sz="240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T</a:t>
            </a:r>
            <a:r>
              <a:rPr lang="en-US" altLang="en-US" sz="2400" spc="-7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h</a:t>
            </a:r>
            <a:r>
              <a:rPr lang="en-US" altLang="en-US" sz="2400" spc="-4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a</a:t>
            </a:r>
            <a:r>
              <a:rPr lang="en-US" altLang="en-US" sz="240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t</a:t>
            </a:r>
            <a:r>
              <a:rPr lang="en-US" altLang="en-US" spc="-23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’</a:t>
            </a:r>
            <a:r>
              <a:rPr lang="en-US" altLang="en-US" sz="2400" spc="-10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s </a:t>
            </a:r>
            <a:r>
              <a:rPr lang="en-US" altLang="en-US" sz="240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f</a:t>
            </a:r>
            <a:r>
              <a:rPr lang="en-US" altLang="en-US" sz="2400" spc="-6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als</a:t>
            </a:r>
            <a:r>
              <a:rPr lang="en-US" altLang="en-US" sz="2400" spc="-23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e</a:t>
            </a:r>
            <a:r>
              <a:rPr lang="en-US" altLang="en-US" sz="2400" spc="-6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,</a:t>
            </a:r>
            <a:r>
              <a:rPr lang="en-US" altLang="en-US" sz="1400" spc="-60" dirty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 </a:t>
            </a:r>
            <a:r>
              <a:rPr lang="en-US" altLang="en-US" sz="2400" spc="-6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so</a:t>
            </a:r>
            <a:r>
              <a:rPr lang="en-US" altLang="en-US" sz="2000" spc="-6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 </a:t>
            </a:r>
            <a:r>
              <a:rPr lang="en-US" altLang="en-US" sz="2400" spc="3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t</a:t>
            </a:r>
            <a:r>
              <a:rPr lang="en-US" altLang="en-US" sz="2400" spc="-8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hi</a:t>
            </a:r>
            <a:r>
              <a:rPr lang="en-US" altLang="en-US" sz="2400" spc="-10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s is </a:t>
            </a:r>
            <a:r>
              <a:rPr lang="en-US" altLang="en-US" sz="2400" spc="3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t</a:t>
            </a:r>
            <a:r>
              <a:rPr lang="en-US" altLang="en-US" sz="2400" spc="2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r</a:t>
            </a:r>
            <a:r>
              <a:rPr lang="en-US" altLang="en-US" sz="2400" spc="-10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u</a:t>
            </a:r>
            <a:r>
              <a:rPr lang="en-US" altLang="en-US" sz="2400" spc="-350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e</a:t>
            </a:r>
            <a:r>
              <a:rPr lang="en-US" altLang="en-US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?</a:t>
            </a:r>
            <a:endParaRPr lang="en-US" altLang="en-US" dirty="0" smtClean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False</a:t>
            </a: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 smtClean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 smtClean="0">
                <a:solidFill>
                  <a:srgbClr val="FF0000"/>
                </a:solidFill>
                <a:latin typeface="Arial Narrow" panose="020B0606020202030204" pitchFamily="34" charset="0"/>
                <a:sym typeface="Wingdings" pitchFamily="2" charset="2"/>
              </a:rPr>
              <a:t># </a:t>
            </a:r>
            <a:r>
              <a:rPr lang="en-US" altLang="en-US" spc="-100" dirty="0" smtClean="0">
                <a:solidFill>
                  <a:srgbClr val="00B0F0"/>
                </a:solidFill>
                <a:latin typeface="Arial Narrow" panose="020B0606020202030204" pitchFamily="34" charset="0"/>
                <a:sym typeface="Wingdings" pitchFamily="2" charset="2"/>
              </a:rPr>
              <a:t>Q</a:t>
            </a:r>
            <a:r>
              <a:rPr lang="en-US" altLang="en-US" dirty="0" smtClean="0">
                <a:solidFill>
                  <a:srgbClr val="00B0F0"/>
                </a:solidFill>
                <a:latin typeface="Arial Narrow" panose="020B0606020202030204" pitchFamily="34" charset="0"/>
                <a:sym typeface="Wingdings" pitchFamily="2" charset="2"/>
              </a:rPr>
              <a:t>:</a:t>
            </a:r>
            <a:r>
              <a:rPr lang="en-US" altLang="en-US" sz="1800" dirty="0" smtClean="0">
                <a:solidFill>
                  <a:srgbClr val="00B0F0"/>
                </a:solidFill>
                <a:latin typeface="Arial Narrow" panose="020B0606020202030204" pitchFamily="34" charset="0"/>
                <a:sym typeface="Wingdings" pitchFamily="2" charset="2"/>
              </a:rPr>
              <a:t> </a:t>
            </a:r>
            <a:r>
              <a:rPr lang="en-US" altLang="en-US" dirty="0" smtClean="0">
                <a:solidFill>
                  <a:srgbClr val="00B0F0"/>
                </a:solidFill>
                <a:latin typeface="Arial Narrow" panose="020B0606020202030204" pitchFamily="34" charset="0"/>
                <a:sym typeface="Wingdings" pitchFamily="2" charset="2"/>
              </a:rPr>
              <a:t>If we know that X</a:t>
            </a:r>
            <a:r>
              <a:rPr lang="en-US" altLang="en-US" sz="700" dirty="0" smtClean="0">
                <a:solidFill>
                  <a:srgbClr val="00B0F0"/>
                </a:solidFill>
                <a:latin typeface="Arial Narrow" panose="020B0606020202030204" pitchFamily="34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00B0F0"/>
                </a:solidFill>
                <a:latin typeface="Arial Narrow" panose="020B0606020202030204" pitchFamily="34" charset="0"/>
                <a:sym typeface="Wingdings" pitchFamily="2" charset="2"/>
              </a:rPr>
              <a:t>≮</a:t>
            </a:r>
            <a:r>
              <a:rPr lang="en-US" altLang="en-US" sz="1000" dirty="0" smtClean="0">
                <a:solidFill>
                  <a:srgbClr val="00B0F0"/>
                </a:solidFill>
                <a:latin typeface="Arial Narrow" panose="020B0606020202030204" pitchFamily="34" charset="0"/>
                <a:sym typeface="Wingdings" pitchFamily="2" charset="2"/>
              </a:rPr>
              <a:t> </a:t>
            </a:r>
            <a:r>
              <a:rPr lang="en-US" altLang="en-US" spc="-250" dirty="0" smtClean="0">
                <a:solidFill>
                  <a:srgbClr val="00B0F0"/>
                </a:solidFill>
                <a:latin typeface="Arial Narrow" panose="020B0606020202030204" pitchFamily="34" charset="0"/>
                <a:sym typeface="Wingdings" pitchFamily="2" charset="2"/>
              </a:rPr>
              <a:t>Y</a:t>
            </a:r>
            <a:r>
              <a:rPr lang="en-US" altLang="en-US" dirty="0" smtClean="0">
                <a:solidFill>
                  <a:srgbClr val="00B0F0"/>
                </a:solidFill>
                <a:latin typeface="Arial Narrow" panose="020B0606020202030204" pitchFamily="34" charset="0"/>
                <a:sym typeface="Wingdings" pitchFamily="2" charset="2"/>
              </a:rPr>
              <a:t>, wouldn’t that imply</a:t>
            </a:r>
            <a:r>
              <a:rPr lang="en-US" altLang="en-US" sz="1600" dirty="0" smtClean="0">
                <a:solidFill>
                  <a:srgbClr val="00B0F0"/>
                </a:solidFill>
                <a:latin typeface="Arial Narrow" panose="020B0606020202030204" pitchFamily="34" charset="0"/>
                <a:sym typeface="Wingdings" pitchFamily="2" charset="2"/>
              </a:rPr>
              <a:t> </a:t>
            </a:r>
            <a:r>
              <a:rPr lang="en-US" altLang="en-US" dirty="0" smtClean="0">
                <a:solidFill>
                  <a:srgbClr val="00B0F0"/>
                </a:solidFill>
                <a:latin typeface="Arial Narrow" panose="020B0606020202030204" pitchFamily="34" charset="0"/>
                <a:sym typeface="Wingdings" pitchFamily="2" charset="2"/>
              </a:rPr>
              <a:t>X</a:t>
            </a:r>
            <a:r>
              <a:rPr lang="en-US" altLang="en-US" sz="1400" dirty="0" smtClean="0">
                <a:solidFill>
                  <a:srgbClr val="00B0F0"/>
                </a:solidFill>
                <a:latin typeface="Arial Narrow" panose="020B0606020202030204" pitchFamily="34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00B0F0"/>
                </a:solidFill>
                <a:latin typeface="Arial Narrow" panose="020B0606020202030204" pitchFamily="34" charset="0"/>
                <a:sym typeface="Wingdings" pitchFamily="2" charset="2"/>
              </a:rPr>
              <a:t>≥</a:t>
            </a:r>
            <a:r>
              <a:rPr lang="en-US" altLang="en-US" sz="200" dirty="0" smtClean="0">
                <a:solidFill>
                  <a:srgbClr val="00B0F0"/>
                </a:solidFill>
                <a:latin typeface="Arial Narrow" panose="020B0606020202030204" pitchFamily="34" charset="0"/>
                <a:sym typeface="Wingdings" pitchFamily="2" charset="2"/>
              </a:rPr>
              <a:t> </a:t>
            </a:r>
            <a:r>
              <a:rPr lang="en-US" altLang="en-US" dirty="0" smtClean="0">
                <a:solidFill>
                  <a:srgbClr val="00B0F0"/>
                </a:solidFill>
                <a:latin typeface="Arial Narrow" panose="020B0606020202030204" pitchFamily="34" charset="0"/>
                <a:sym typeface="Wingdings" pitchFamily="2" charset="2"/>
              </a:rPr>
              <a:t>Y? </a:t>
            </a:r>
            <a:r>
              <a:rPr lang="en-US" altLang="en-US" sz="2000" dirty="0" smtClean="0">
                <a:solidFill>
                  <a:srgbClr val="00B0F0"/>
                </a:solidFill>
                <a:latin typeface="Arial Narrow" panose="020B0606020202030204" pitchFamily="34" charset="0"/>
                <a:sym typeface="Wingdings" pitchFamily="2" charset="2"/>
              </a:rPr>
              <a:t> </a:t>
            </a:r>
            <a:r>
              <a:rPr lang="en-US" altLang="en-US" dirty="0" smtClean="0">
                <a:solidFill>
                  <a:srgbClr val="00B0F0"/>
                </a:solidFill>
                <a:latin typeface="Arial Narrow" panose="020B0606020202030204" pitchFamily="34" charset="0"/>
                <a:sym typeface="Wingdings" pitchFamily="2" charset="2"/>
              </a:rPr>
              <a:t> </a:t>
            </a:r>
            <a:r>
              <a:rPr lang="en-US" altLang="en-US" spc="-100" dirty="0" smtClean="0">
                <a:solidFill>
                  <a:srgbClr val="00B050"/>
                </a:solidFill>
                <a:latin typeface="Arial Narrow" panose="020B0606020202030204" pitchFamily="34" charset="0"/>
                <a:sym typeface="Wingdings" pitchFamily="2" charset="2"/>
              </a:rPr>
              <a:t>A</a:t>
            </a:r>
            <a:r>
              <a:rPr lang="en-US" altLang="en-US" dirty="0" smtClean="0">
                <a:solidFill>
                  <a:srgbClr val="00B050"/>
                </a:solidFill>
                <a:latin typeface="Arial Narrow" panose="020B0606020202030204" pitchFamily="34" charset="0"/>
                <a:sym typeface="Wingdings" pitchFamily="2" charset="2"/>
              </a:rPr>
              <a:t>: Not for</a:t>
            </a:r>
            <a:r>
              <a:rPr lang="en-US" altLang="en-US" sz="1200" dirty="0" smtClean="0">
                <a:solidFill>
                  <a:srgbClr val="00B050"/>
                </a:solidFill>
                <a:latin typeface="Arial Narrow" panose="020B0606020202030204" pitchFamily="34" charset="0"/>
                <a:sym typeface="Wingdings" pitchFamily="2" charset="2"/>
              </a:rPr>
              <a:t> </a:t>
            </a:r>
            <a:r>
              <a:rPr lang="en-US" altLang="en-US" i="1" dirty="0" smtClean="0">
                <a:solidFill>
                  <a:srgbClr val="00B050"/>
                </a:solidFill>
                <a:latin typeface="Arial Narrow" panose="020B0606020202030204" pitchFamily="34" charset="0"/>
                <a:sym typeface="Wingdings" pitchFamily="2" charset="2"/>
              </a:rPr>
              <a:t>sets</a:t>
            </a:r>
            <a:r>
              <a:rPr lang="en-US" altLang="en-US" dirty="0" smtClean="0">
                <a:solidFill>
                  <a:srgbClr val="00B050"/>
                </a:solidFill>
                <a:latin typeface="Arial Narrow" panose="020B0606020202030204" pitchFamily="34" charset="0"/>
                <a:sym typeface="Wingdings" pitchFamily="2" charset="2"/>
              </a:rPr>
              <a:t>...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Comparison Rules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-164306" y="2775046"/>
            <a:ext cx="1755724" cy="3423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&gt;&gt;&gt;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BFBFBF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latin typeface="Lucida Console" panose="020B0609040504020204" pitchFamily="49" charset="0"/>
              <a:sym typeface="Wingdings" pitchFamily="2" charset="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164306" y="5767754"/>
            <a:ext cx="1755724" cy="109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2000" dirty="0">
              <a:solidFill>
                <a:srgbClr val="7F7F7F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-164306" y="609600"/>
            <a:ext cx="101727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ts val="1200"/>
              </a:spcBef>
              <a:buClr>
                <a:srgbClr val="FFFFFF"/>
              </a:buClr>
            </a:pPr>
            <a:r>
              <a:rPr lang="en-US" altLang="en-US" sz="2800" kern="0" spc="-30" dirty="0">
                <a:solidFill>
                  <a:srgbClr val="D9D9D9"/>
                </a:solidFill>
              </a:rPr>
              <a:t>Can compare strings, lists, tuple</a:t>
            </a:r>
            <a:r>
              <a:rPr lang="en-US" altLang="en-US" sz="2800" kern="0" spc="-120" dirty="0">
                <a:solidFill>
                  <a:srgbClr val="D9D9D9"/>
                </a:solidFill>
              </a:rPr>
              <a:t>s</a:t>
            </a:r>
            <a:r>
              <a:rPr lang="en-US" altLang="en-US" sz="2800" kern="0" spc="-30" dirty="0">
                <a:solidFill>
                  <a:srgbClr val="D9D9D9"/>
                </a:solidFill>
              </a:rPr>
              <a:t>,</a:t>
            </a:r>
            <a:r>
              <a:rPr lang="en-US" altLang="en-US" sz="1900" kern="0" dirty="0">
                <a:solidFill>
                  <a:srgbClr val="D9D9D9"/>
                </a:solidFill>
              </a:rPr>
              <a:t> </a:t>
            </a:r>
            <a:r>
              <a:rPr lang="en-US" altLang="en-US" sz="2800" b="1" kern="0" spc="-30" dirty="0">
                <a:solidFill>
                  <a:srgbClr val="00B0F0"/>
                </a:solidFill>
              </a:rPr>
              <a:t>set</a:t>
            </a:r>
            <a:r>
              <a:rPr lang="en-US" altLang="en-US" sz="2800" b="1" kern="0" spc="-200" dirty="0">
                <a:solidFill>
                  <a:srgbClr val="00B0F0"/>
                </a:solidFill>
              </a:rPr>
              <a:t>s</a:t>
            </a:r>
            <a:r>
              <a:rPr lang="en-US" altLang="en-US" sz="2800" kern="0" spc="-30" dirty="0">
                <a:solidFill>
                  <a:srgbClr val="D9D9D9"/>
                </a:solidFill>
              </a:rPr>
              <a:t>, but </a:t>
            </a:r>
            <a:r>
              <a:rPr lang="en-US" altLang="en-US" sz="2800" b="1" kern="0" spc="-30" dirty="0">
                <a:solidFill>
                  <a:srgbClr val="D9D9D9"/>
                </a:solidFill>
              </a:rPr>
              <a:t>not</a:t>
            </a:r>
            <a:r>
              <a:rPr lang="en-US" altLang="en-US" sz="2800" kern="0" spc="-30" dirty="0">
                <a:solidFill>
                  <a:srgbClr val="D9D9D9"/>
                </a:solidFill>
              </a:rPr>
              <a:t> dictionaries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D9D9D9"/>
                </a:solidFill>
              </a:rPr>
              <a:t>Compares left-to-right until first differenc</a:t>
            </a:r>
            <a:r>
              <a:rPr lang="en-US" altLang="en-US" sz="2600" dirty="0">
                <a:solidFill>
                  <a:srgbClr val="D9D9D9"/>
                </a:solidFill>
                <a:sym typeface="Wingdings" pitchFamily="2" charset="2"/>
              </a:rPr>
              <a:t>e</a:t>
            </a:r>
          </a:p>
          <a:p>
            <a:pPr lvl="1">
              <a:spcBef>
                <a:spcPts val="0"/>
              </a:spcBef>
            </a:pPr>
            <a:r>
              <a:rPr lang="en-US" altLang="en-US" sz="2600" dirty="0">
                <a:solidFill>
                  <a:srgbClr val="D9D9D9"/>
                </a:solidFill>
                <a:sym typeface="Wingdings" pitchFamily="2" charset="2"/>
              </a:rPr>
              <a:t>Subsequences are smaller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en-US" sz="1400" dirty="0"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FFC5E4"/>
                </a:solidFill>
                <a:latin typeface="Lucida Console" panose="020B0609040504020204" pitchFamily="49" charset="0"/>
                <a:sym typeface="Wingdings" pitchFamily="2" charset="2"/>
              </a:rPr>
              <a:t>,0</a:t>
            </a:r>
            <a:r>
              <a:rPr lang="en-US" altLang="en-US" b="1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"</a:t>
            </a: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A6CAA6"/>
                </a:solidFill>
                <a:latin typeface="Lucida Console" panose="020B0609040504020204" pitchFamily="49" charset="0"/>
                <a:sym typeface="Wingdings" pitchFamily="2" charset="2"/>
              </a:rPr>
              <a:t>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&gt;&gt;&gt; print(</a:t>
            </a:r>
            <a:r>
              <a:rPr lang="en-US" altLang="en-US" b="1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[</a:t>
            </a: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]</a:t>
            </a: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[</a:t>
            </a: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FFC5E4"/>
                </a:solidFill>
                <a:latin typeface="Lucida Console" panose="020B0609040504020204" pitchFamily="49" charset="0"/>
                <a:sym typeface="Wingdings" pitchFamily="2" charset="2"/>
              </a:rPr>
              <a:t>,0</a:t>
            </a:r>
            <a:r>
              <a:rPr lang="en-US" altLang="en-US" b="1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]</a:t>
            </a: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A6CAA6"/>
                </a:solidFill>
                <a:latin typeface="Lucida Console" panose="020B0609040504020204" pitchFamily="49" charset="0"/>
                <a:sym typeface="Wingdings" pitchFamily="2" charset="2"/>
              </a:rPr>
              <a:t>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(</a:t>
            </a: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(</a:t>
            </a: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FFC5E4"/>
                </a:solidFill>
                <a:latin typeface="Lucida Console" panose="020B0609040504020204" pitchFamily="49" charset="0"/>
                <a:sym typeface="Wingdings" pitchFamily="2" charset="2"/>
              </a:rPr>
              <a:t>,0</a:t>
            </a:r>
            <a:r>
              <a:rPr lang="en-US" altLang="en-US" b="1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A6CAA6"/>
                </a:solidFill>
                <a:latin typeface="Lucida Console" panose="020B0609040504020204" pitchFamily="49" charset="0"/>
                <a:sym typeface="Wingdings" pitchFamily="2" charset="2"/>
              </a:rPr>
              <a:t>True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	&gt;&gt;&gt;</a:t>
            </a: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{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}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{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1,2,3,4</a:t>
            </a:r>
            <a:r>
              <a:rPr lang="en-US" altLang="en-US" b="1" dirty="0">
                <a:solidFill>
                  <a:srgbClr val="FF1493"/>
                </a:solidFill>
                <a:latin typeface="Lucida Console" panose="020B0609040504020204" pitchFamily="49" charset="0"/>
                <a:sym typeface="Wingdings" pitchFamily="2" charset="2"/>
              </a:rPr>
              <a:t>,0</a:t>
            </a:r>
            <a:r>
              <a:rPr lang="en-US" altLang="en-US" b="1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}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  <a:sym typeface="Wingdings" pitchFamily="2" charset="2"/>
              </a:rPr>
              <a:t>True	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7F7F7F"/>
                </a:solidFill>
                <a:latin typeface="Lucida Console" panose="020B0609040504020204" pitchFamily="49" charset="0"/>
                <a:sym typeface="Wingdings" pitchFamily="2" charset="2"/>
              </a:rPr>
              <a:t>	</a:t>
            </a:r>
            <a:r>
              <a:rPr lang="en-US" altLang="en-US" dirty="0" smtClean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solidFill>
                <a:srgbClr val="BFBFBF"/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69492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1"/>
          <p:cNvSpPr>
            <a:spLocks noGrp="1" noChangeArrowheads="1"/>
          </p:cNvSpPr>
          <p:nvPr>
            <p:ph type="title"/>
          </p:nvPr>
        </p:nvSpPr>
        <p:spPr>
          <a:xfrm>
            <a:off x="-129259" y="2133"/>
            <a:ext cx="9929553" cy="1047099"/>
          </a:xfrm>
        </p:spPr>
        <p:txBody>
          <a:bodyPr/>
          <a:lstStyle/>
          <a:p>
            <a:pPr algn="ctr">
              <a:lnSpc>
                <a:spcPct val="47000"/>
              </a:lnSpc>
              <a:tabLst>
                <a:tab pos="0" algn="l"/>
                <a:tab pos="414096" algn="l"/>
                <a:tab pos="828192" algn="l"/>
                <a:tab pos="1242287" algn="l"/>
                <a:tab pos="1656383" algn="l"/>
                <a:tab pos="2072065" algn="l"/>
                <a:tab pos="2486162" algn="l"/>
                <a:tab pos="2900257" algn="l"/>
                <a:tab pos="3314353" algn="l"/>
                <a:tab pos="3730035" algn="l"/>
                <a:tab pos="4144131" algn="l"/>
                <a:tab pos="4558227" algn="l"/>
                <a:tab pos="4972323" algn="l"/>
                <a:tab pos="5388004" algn="l"/>
                <a:tab pos="5802101" algn="l"/>
                <a:tab pos="6216196" algn="l"/>
                <a:tab pos="6630292" algn="l"/>
                <a:tab pos="7045974" algn="l"/>
                <a:tab pos="7460069" algn="l"/>
                <a:tab pos="7874166" algn="l"/>
                <a:tab pos="8288261" algn="l"/>
              </a:tabLst>
            </a:pPr>
            <a:r>
              <a:rPr lang="en-GB" altLang="en-US" sz="4071" dirty="0">
                <a:solidFill>
                  <a:srgbClr val="0070C0"/>
                </a:solidFill>
                <a:latin typeface="Elephant" panose="02020904090505020303" pitchFamily="18" charset="0"/>
              </a:rPr>
              <a:t>C</a:t>
            </a:r>
            <a:r>
              <a:rPr lang="en-GB" altLang="en-US" sz="4071" spc="-157" dirty="0">
                <a:solidFill>
                  <a:srgbClr val="0070C0"/>
                </a:solidFill>
                <a:latin typeface="Elephant" panose="02020904090505020303" pitchFamily="18" charset="0"/>
              </a:rPr>
              <a:t>o</a:t>
            </a:r>
            <a:r>
              <a:rPr lang="en-GB" altLang="en-US" sz="4071" spc="-93" dirty="0">
                <a:solidFill>
                  <a:srgbClr val="0070C0"/>
                </a:solidFill>
                <a:latin typeface="Elephant" panose="02020904090505020303" pitchFamily="18" charset="0"/>
              </a:rPr>
              <a:t>m</a:t>
            </a:r>
            <a:r>
              <a:rPr lang="en-GB" altLang="en-US" sz="4071" dirty="0">
                <a:solidFill>
                  <a:srgbClr val="0070C0"/>
                </a:solidFill>
                <a:latin typeface="Elephant" panose="02020904090505020303" pitchFamily="18" charset="0"/>
              </a:rPr>
              <a:t>pared</a:t>
            </a:r>
            <a:r>
              <a:rPr lang="en-GB" altLang="en-US" sz="3200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GB" altLang="en-US" sz="4071" dirty="0">
                <a:solidFill>
                  <a:srgbClr val="0070C0"/>
                </a:solidFill>
                <a:latin typeface="Elephant" panose="02020904090505020303" pitchFamily="18" charset="0"/>
              </a:rPr>
              <a:t>sets</a:t>
            </a:r>
            <a:r>
              <a:rPr lang="en-GB" altLang="en-US" sz="3200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GB" altLang="en-US" sz="4071" spc="-83" dirty="0">
                <a:solidFill>
                  <a:srgbClr val="0070C0"/>
                </a:solidFill>
                <a:latin typeface="Elephant" panose="02020904090505020303" pitchFamily="18" charset="0"/>
              </a:rPr>
              <a:t>on</a:t>
            </a:r>
            <a:r>
              <a:rPr lang="en-GB" altLang="en-US" sz="4071" dirty="0">
                <a:solidFill>
                  <a:srgbClr val="0070C0"/>
                </a:solidFill>
                <a:latin typeface="Elephant" panose="02020904090505020303" pitchFamily="18" charset="0"/>
              </a:rPr>
              <a:t>ly</a:t>
            </a:r>
            <a:r>
              <a:rPr lang="en-GB" altLang="en-US" sz="3200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GB" altLang="en-US" sz="4071" dirty="0">
                <a:solidFill>
                  <a:srgbClr val="0070C0"/>
                </a:solidFill>
                <a:latin typeface="Elephant" panose="02020904090505020303" pitchFamily="18" charset="0"/>
              </a:rPr>
              <a:t>h</a:t>
            </a:r>
            <a:r>
              <a:rPr lang="en-GB" altLang="en-US" sz="4071" spc="-231" dirty="0">
                <a:solidFill>
                  <a:srgbClr val="0070C0"/>
                </a:solidFill>
                <a:latin typeface="Elephant" panose="02020904090505020303" pitchFamily="18" charset="0"/>
              </a:rPr>
              <a:t>a</a:t>
            </a:r>
            <a:r>
              <a:rPr lang="en-GB" altLang="en-US" sz="4071" spc="-120" dirty="0">
                <a:solidFill>
                  <a:srgbClr val="0070C0"/>
                </a:solidFill>
                <a:latin typeface="Elephant" panose="02020904090505020303" pitchFamily="18" charset="0"/>
              </a:rPr>
              <a:t>v</a:t>
            </a:r>
            <a:r>
              <a:rPr lang="en-GB" altLang="en-US" sz="4071" dirty="0">
                <a:solidFill>
                  <a:srgbClr val="0070C0"/>
                </a:solidFill>
                <a:latin typeface="Elephant" panose="02020904090505020303" pitchFamily="18" charset="0"/>
              </a:rPr>
              <a:t>e</a:t>
            </a:r>
            <a:r>
              <a:rPr lang="en-GB" altLang="en-US" sz="3200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GB" altLang="en-US" sz="4071" b="1" i="1" dirty="0">
                <a:solidFill>
                  <a:srgbClr val="FF0000"/>
                </a:solidFill>
                <a:latin typeface="Elephant" panose="02020904090505020303" pitchFamily="18" charset="0"/>
              </a:rPr>
              <a:t>partial</a:t>
            </a:r>
            <a:r>
              <a:rPr lang="en-GB" altLang="en-US" sz="3701" b="1" i="1" dirty="0">
                <a:solidFill>
                  <a:srgbClr val="FF0000"/>
                </a:solidFill>
                <a:latin typeface="Elephant" panose="02020904090505020303" pitchFamily="18" charset="0"/>
              </a:rPr>
              <a:t> </a:t>
            </a:r>
            <a:r>
              <a:rPr lang="en-GB" altLang="en-US" sz="4071" dirty="0">
                <a:solidFill>
                  <a:srgbClr val="0070C0"/>
                </a:solidFill>
                <a:latin typeface="Elephant" panose="02020904090505020303" pitchFamily="18" charset="0"/>
              </a:rPr>
              <a:t>order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5736" y="763659"/>
            <a:ext cx="9434055" cy="609221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198" dirty="0">
                <a:solidFill>
                  <a:srgbClr val="DA9500"/>
                </a:solidFill>
              </a:rPr>
              <a:t>Ordinary numbers have a </a:t>
            </a:r>
            <a:r>
              <a:rPr lang="en-US" sz="3198" b="1" dirty="0">
                <a:solidFill>
                  <a:srgbClr val="DA9500"/>
                </a:solidFill>
              </a:rPr>
              <a:t>full</a:t>
            </a:r>
            <a:r>
              <a:rPr lang="en-US" sz="3198" dirty="0">
                <a:solidFill>
                  <a:srgbClr val="DA9500"/>
                </a:solidFill>
              </a:rPr>
              <a:t> order:</a:t>
            </a:r>
            <a:br>
              <a:rPr lang="en-US" sz="3198" dirty="0">
                <a:solidFill>
                  <a:srgbClr val="DA9500"/>
                </a:solidFill>
              </a:rPr>
            </a:br>
            <a:r>
              <a:rPr lang="en-US" sz="222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221" dirty="0">
                <a:latin typeface="Lucida Console" panose="020B0609040504020204" pitchFamily="49" charset="0"/>
              </a:rPr>
              <a:t>if(not A&lt;B)and(not </a:t>
            </a:r>
            <a:r>
              <a:rPr lang="en-US" sz="2221" dirty="0" smtClean="0">
                <a:latin typeface="Lucida Console" panose="020B0609040504020204" pitchFamily="49" charset="0"/>
              </a:rPr>
              <a:t>A&gt;B):</a:t>
            </a:r>
            <a:r>
              <a:rPr lang="en-US" sz="2221" dirty="0">
                <a:latin typeface="Lucida Console" panose="020B0609040504020204" pitchFamily="49" charset="0"/>
              </a:rPr>
              <a:t>print("I </a:t>
            </a:r>
            <a:r>
              <a:rPr lang="en-US" sz="2221" dirty="0" err="1">
                <a:latin typeface="Lucida Console" panose="020B0609040504020204" pitchFamily="49" charset="0"/>
              </a:rPr>
              <a:t>know",A</a:t>
            </a:r>
            <a:r>
              <a:rPr lang="en-US" sz="2221" dirty="0">
                <a:latin typeface="Lucida Console" panose="020B0609040504020204" pitchFamily="49" charset="0"/>
              </a:rPr>
              <a:t>,"==",B)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TW" sz="3198" dirty="0">
                <a:solidFill>
                  <a:srgbClr val="DA9500"/>
                </a:solidFill>
              </a:rPr>
              <a:t>Complex numbers have </a:t>
            </a:r>
            <a:r>
              <a:rPr lang="en-US" altLang="zh-TW" sz="3198" b="1" dirty="0">
                <a:solidFill>
                  <a:srgbClr val="DA9500"/>
                </a:solidFill>
              </a:rPr>
              <a:t>no</a:t>
            </a:r>
            <a:r>
              <a:rPr lang="en-US" altLang="zh-TW" sz="3198" dirty="0">
                <a:solidFill>
                  <a:srgbClr val="DA9500"/>
                </a:solidFill>
              </a:rPr>
              <a:t> order: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21" dirty="0">
                <a:solidFill>
                  <a:srgbClr val="FFC00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22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1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1" dirty="0">
                <a:latin typeface="Lucida Console" panose="020B0609040504020204" pitchFamily="49" charset="0"/>
              </a:rPr>
              <a:t>2+2j </a:t>
            </a:r>
            <a:r>
              <a:rPr lang="en-US" altLang="zh-TW" sz="2221" b="1" dirty="0">
                <a:latin typeface="Lucida Console" panose="020B0609040504020204" pitchFamily="49" charset="0"/>
              </a:rPr>
              <a:t>&lt;</a:t>
            </a:r>
            <a:r>
              <a:rPr lang="en-US" altLang="zh-TW" sz="2221" b="1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1" dirty="0">
                <a:latin typeface="Lucida Console" panose="020B0609040504020204" pitchFamily="49" charset="0"/>
              </a:rPr>
              <a:t>3+2j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21" dirty="0">
                <a:solidFill>
                  <a:srgbClr val="FFAFAF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221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221" dirty="0">
                <a:solidFill>
                  <a:srgbClr val="FFAFAF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1" dirty="0">
                <a:solidFill>
                  <a:srgbClr val="FFAFAF"/>
                </a:solidFill>
                <a:latin typeface="Lucida Console" panose="020B0609040504020204" pitchFamily="49" charset="0"/>
              </a:rPr>
              <a:t>    File "&lt;</a:t>
            </a:r>
            <a:r>
              <a:rPr lang="en-US" altLang="zh-TW" sz="2221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221" dirty="0">
                <a:solidFill>
                  <a:srgbClr val="FFAFAF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591" dirty="0">
                <a:solidFill>
                  <a:srgbClr val="FFAFAF"/>
                </a:solidFill>
                <a:latin typeface="Arial Narrow" panose="020B0606020202030204" pitchFamily="34" charset="0"/>
              </a:rPr>
              <a:t>    </a:t>
            </a:r>
            <a:r>
              <a:rPr lang="en-US" altLang="zh-TW" sz="2591" dirty="0" err="1">
                <a:solidFill>
                  <a:srgbClr val="FFAFAF"/>
                </a:solidFill>
                <a:latin typeface="Arial Narrow" panose="020B0606020202030204" pitchFamily="34" charset="0"/>
              </a:rPr>
              <a:t>TypeError</a:t>
            </a:r>
            <a:r>
              <a:rPr lang="en-US" altLang="zh-TW" sz="2591" dirty="0">
                <a:solidFill>
                  <a:srgbClr val="FFAFAF"/>
                </a:solidFill>
                <a:latin typeface="Arial Narrow" panose="020B0606020202030204" pitchFamily="34" charset="0"/>
              </a:rPr>
              <a:t>:</a:t>
            </a:r>
            <a:r>
              <a:rPr lang="en-US" altLang="zh-TW" sz="2591" dirty="0">
                <a:solidFill>
                  <a:srgbClr val="FF0000"/>
                </a:solidFill>
                <a:latin typeface="Arial Narrow" panose="020B0606020202030204" pitchFamily="34" charset="0"/>
              </a:rPr>
              <a:t> '</a:t>
            </a:r>
            <a:r>
              <a:rPr lang="en-US" altLang="zh-TW" sz="2591" b="1" dirty="0">
                <a:latin typeface="Arial Narrow" panose="020B0606020202030204" pitchFamily="34" charset="0"/>
              </a:rPr>
              <a:t>&lt;</a:t>
            </a:r>
            <a:r>
              <a:rPr lang="en-US" altLang="zh-TW" sz="2591" dirty="0">
                <a:solidFill>
                  <a:srgbClr val="FF0000"/>
                </a:solidFill>
                <a:latin typeface="Arial Narrow" panose="020B0606020202030204" pitchFamily="34" charset="0"/>
              </a:rPr>
              <a:t>' not supported </a:t>
            </a:r>
            <a:r>
              <a:rPr lang="en-US" altLang="zh-TW" sz="2591" dirty="0">
                <a:solidFill>
                  <a:srgbClr val="FFAFAF"/>
                </a:solidFill>
                <a:latin typeface="Arial Narrow" panose="020B0606020202030204" pitchFamily="34" charset="0"/>
              </a:rPr>
              <a:t>between instances of 'complex' and 'complex'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altLang="zh-TW" sz="2221" dirty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221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1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1" dirty="0">
                <a:latin typeface="Lucida Console" panose="020B0609040504020204" pitchFamily="49" charset="0"/>
              </a:rPr>
              <a:t>2+2j</a:t>
            </a:r>
            <a:r>
              <a:rPr lang="en-US" altLang="zh-TW" sz="2221" dirty="0">
                <a:solidFill>
                  <a:srgbClr val="FF0000"/>
                </a:solidFill>
                <a:latin typeface="Lucida Console" panose="020B0609040504020204" pitchFamily="49" charset="0"/>
              </a:rPr>
              <a:t>==</a:t>
            </a:r>
            <a:r>
              <a:rPr lang="en-US" altLang="zh-TW" sz="2221" dirty="0">
                <a:latin typeface="Lucida Console" panose="020B0609040504020204" pitchFamily="49" charset="0"/>
              </a:rPr>
              <a:t>3+2j</a:t>
            </a:r>
            <a:r>
              <a:rPr lang="en-US" altLang="zh-TW" sz="2221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1" dirty="0">
                <a:solidFill>
                  <a:srgbClr val="DA9500"/>
                </a:solidFill>
                <a:latin typeface="Lucida Console" panose="020B0609040504020204" pitchFamily="49" charset="0"/>
              </a:rPr>
              <a:t># But they </a:t>
            </a:r>
            <a:r>
              <a:rPr lang="en-US" altLang="zh-TW" sz="2221" b="1" u="sng" dirty="0">
                <a:solidFill>
                  <a:srgbClr val="DA9500"/>
                </a:solidFill>
                <a:latin typeface="Lucida Console" panose="020B0609040504020204" pitchFamily="49" charset="0"/>
              </a:rPr>
              <a:t>do</a:t>
            </a:r>
            <a:r>
              <a:rPr lang="en-US" altLang="zh-TW" sz="2221" dirty="0">
                <a:solidFill>
                  <a:srgbClr val="DA9500"/>
                </a:solidFill>
                <a:latin typeface="Lucida Console" panose="020B0609040504020204" pitchFamily="49" charset="0"/>
              </a:rPr>
              <a:t> have</a:t>
            </a:r>
            <a:r>
              <a:rPr lang="en-US" altLang="zh-TW" sz="2221" dirty="0">
                <a:solidFill>
                  <a:srgbClr val="FF0000"/>
                </a:solidFill>
                <a:latin typeface="Lucida Console" panose="020B0609040504020204" pitchFamily="49" charset="0"/>
              </a:rPr>
              <a:t> equality </a:t>
            </a:r>
            <a:r>
              <a:rPr lang="en-US" altLang="zh-TW" sz="2221" dirty="0">
                <a:solidFill>
                  <a:srgbClr val="DA9500"/>
                </a:solidFill>
                <a:latin typeface="Lucida Console" panose="020B0609040504020204" pitchFamily="49" charset="0"/>
              </a:rPr>
              <a:t>and</a:t>
            </a:r>
            <a:r>
              <a:rPr lang="en-US" altLang="zh-TW" sz="2221" dirty="0">
                <a:solidFill>
                  <a:srgbClr val="FF0000"/>
                </a:solidFill>
                <a:latin typeface="Lucida Console" panose="020B0609040504020204" pitchFamily="49" charset="0"/>
              </a:rPr>
              <a:t> != </a:t>
            </a:r>
            <a:r>
              <a:rPr lang="en-US" altLang="zh-TW" sz="2221" dirty="0">
                <a:solidFill>
                  <a:srgbClr val="DA950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21" dirty="0">
                <a:solidFill>
                  <a:srgbClr val="FF0000"/>
                </a:solidFill>
                <a:latin typeface="Lucida Console" panose="020B0609040504020204" pitchFamily="49" charset="0"/>
              </a:rPr>
              <a:t>  False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TW" sz="3198" dirty="0">
                <a:solidFill>
                  <a:srgbClr val="DA9500"/>
                </a:solidFill>
              </a:rPr>
              <a:t>Lists, tuples and strings compare </a:t>
            </a:r>
            <a:r>
              <a:rPr lang="en-US" altLang="zh-TW" sz="3198" b="1" dirty="0">
                <a:solidFill>
                  <a:srgbClr val="DA9500"/>
                </a:solidFill>
              </a:rPr>
              <a:t>left to right</a:t>
            </a:r>
            <a:r>
              <a:rPr lang="en-US" altLang="zh-TW" sz="3198" dirty="0">
                <a:solidFill>
                  <a:srgbClr val="DA9500"/>
                </a:solidFill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21" dirty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22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1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1" dirty="0">
                <a:latin typeface="Lucida Console" panose="020B0609040504020204" pitchFamily="49" charset="0"/>
              </a:rPr>
              <a:t>if(A&lt;=B):print("I </a:t>
            </a:r>
            <a:r>
              <a:rPr lang="en-US" altLang="zh-TW" sz="2221" dirty="0" err="1">
                <a:latin typeface="Lucida Console" panose="020B0609040504020204" pitchFamily="49" charset="0"/>
              </a:rPr>
              <a:t>know:",A</a:t>
            </a:r>
            <a:r>
              <a:rPr lang="en-US" altLang="zh-TW" sz="2221" dirty="0">
                <a:latin typeface="Lucida Console" panose="020B0609040504020204" pitchFamily="49" charset="0"/>
              </a:rPr>
              <a:t>[0],"&lt;=",B[0])</a:t>
            </a:r>
            <a:endParaRPr lang="en-US" altLang="zh-TW" sz="3198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Bef>
                <a:spcPts val="1800"/>
              </a:spcBef>
              <a:buClr>
                <a:srgbClr val="DA9500"/>
              </a:buClr>
            </a:pPr>
            <a:r>
              <a:rPr lang="en-US" sz="3198" b="1" dirty="0">
                <a:solidFill>
                  <a:srgbClr val="00B050"/>
                </a:solidFill>
              </a:rPr>
              <a:t>Set</a:t>
            </a:r>
            <a:r>
              <a:rPr lang="en-US" sz="3198" dirty="0">
                <a:solidFill>
                  <a:srgbClr val="FFC000"/>
                </a:solidFill>
              </a:rPr>
              <a:t> </a:t>
            </a:r>
            <a:r>
              <a:rPr lang="en-US" sz="3198" dirty="0">
                <a:solidFill>
                  <a:srgbClr val="DA9500"/>
                </a:solidFill>
              </a:rPr>
              <a:t>comparisons have only a </a:t>
            </a:r>
            <a:r>
              <a:rPr lang="en-US" sz="3198" b="1" i="1" dirty="0">
                <a:solidFill>
                  <a:srgbClr val="FF0000"/>
                </a:solidFill>
              </a:rPr>
              <a:t>partial </a:t>
            </a:r>
            <a:r>
              <a:rPr lang="en-US" sz="3198" b="1" dirty="0">
                <a:solidFill>
                  <a:srgbClr val="DA9500"/>
                </a:solidFill>
              </a:rPr>
              <a:t>order</a:t>
            </a:r>
            <a:r>
              <a:rPr lang="en-US" sz="3198" dirty="0">
                <a:solidFill>
                  <a:srgbClr val="DA9500"/>
                </a:solidFill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21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 &gt;&gt;&gt; </a:t>
            </a:r>
            <a:r>
              <a:rPr lang="en-US" altLang="zh-TW" sz="2221" dirty="0">
                <a:solidFill>
                  <a:srgbClr val="000000"/>
                </a:solidFill>
                <a:latin typeface="Lucida Console" panose="020B0609040504020204" pitchFamily="49" charset="0"/>
              </a:rPr>
              <a:t>if(</a:t>
            </a:r>
            <a:r>
              <a:rPr lang="en-US" altLang="zh-TW" sz="2221" dirty="0">
                <a:solidFill>
                  <a:srgbClr val="DA9500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1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1" dirty="0">
                <a:solidFill>
                  <a:srgbClr val="DA9500"/>
                </a:solidFill>
                <a:latin typeface="Lucida Console" panose="020B0609040504020204" pitchFamily="49" charset="0"/>
              </a:rPr>
              <a:t>A&lt;=B</a:t>
            </a:r>
            <a:r>
              <a:rPr lang="en-US" altLang="zh-TW" sz="2221" dirty="0">
                <a:solidFill>
                  <a:srgbClr val="000000"/>
                </a:solidFill>
                <a:latin typeface="Lucida Console" panose="020B0609040504020204" pitchFamily="49" charset="0"/>
              </a:rPr>
              <a:t>): print("I don’t know </a:t>
            </a:r>
            <a:r>
              <a:rPr lang="en-US" altLang="zh-TW" sz="2221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that",</a:t>
            </a:r>
            <a:r>
              <a:rPr lang="en-US" altLang="zh-TW" sz="2221" dirty="0" err="1">
                <a:solidFill>
                  <a:srgbClr val="DA95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221" dirty="0">
                <a:solidFill>
                  <a:srgbClr val="000000"/>
                </a:solidFill>
                <a:latin typeface="Lucida Console" panose="020B0609040504020204" pitchFamily="49" charset="0"/>
              </a:rPr>
              <a:t>,"</a:t>
            </a:r>
            <a:r>
              <a:rPr lang="en-US" altLang="zh-TW" sz="2221" dirty="0">
                <a:solidFill>
                  <a:srgbClr val="DA9500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1" dirty="0">
                <a:solidFill>
                  <a:srgbClr val="000000"/>
                </a:solidFill>
                <a:latin typeface="Lucida Console" panose="020B0609040504020204" pitchFamily="49" charset="0"/>
              </a:rPr>
              <a:t>",</a:t>
            </a:r>
            <a:r>
              <a:rPr lang="en-US" altLang="zh-TW" sz="2221" dirty="0">
                <a:solidFill>
                  <a:srgbClr val="DA950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sz="2221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21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1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1" dirty="0">
                <a:solidFill>
                  <a:srgbClr val="000000"/>
                </a:solidFill>
                <a:latin typeface="Lucida Console" panose="020B0609040504020204" pitchFamily="49" charset="0"/>
              </a:rPr>
              <a:t>if(</a:t>
            </a:r>
            <a:r>
              <a:rPr lang="en-US" altLang="zh-TW" sz="2221" dirty="0">
                <a:solidFill>
                  <a:srgbClr val="FF0000"/>
                </a:solidFill>
                <a:latin typeface="Lucida Console" panose="020B0609040504020204" pitchFamily="49" charset="0"/>
              </a:rPr>
              <a:t>A&lt;B</a:t>
            </a:r>
            <a:r>
              <a:rPr lang="en-US" altLang="zh-TW" sz="2221" dirty="0">
                <a:solidFill>
                  <a:srgbClr val="000000"/>
                </a:solidFill>
                <a:latin typeface="Lucida Console" panose="020B0609040504020204" pitchFamily="49" charset="0"/>
              </a:rPr>
              <a:t>) and (</a:t>
            </a:r>
            <a:r>
              <a:rPr lang="en-US" altLang="zh-TW" sz="2221" dirty="0">
                <a:solidFill>
                  <a:srgbClr val="FF0000"/>
                </a:solidFill>
                <a:latin typeface="Lucida Console" panose="020B0609040504020204" pitchFamily="49" charset="0"/>
              </a:rPr>
              <a:t>B&lt;C</a:t>
            </a:r>
            <a:r>
              <a:rPr lang="en-US" altLang="zh-TW" sz="2221" dirty="0">
                <a:solidFill>
                  <a:srgbClr val="000000"/>
                </a:solidFill>
                <a:latin typeface="Lucida Console" panose="020B0609040504020204" pitchFamily="49" charset="0"/>
              </a:rPr>
              <a:t>): print("I </a:t>
            </a:r>
            <a:r>
              <a:rPr lang="en-US" altLang="zh-TW" sz="2221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do</a:t>
            </a:r>
            <a:r>
              <a:rPr lang="en-US" altLang="zh-TW" sz="20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 </a:t>
            </a:r>
            <a:r>
              <a:rPr lang="en-US" altLang="zh-TW" sz="2221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know</a:t>
            </a:r>
            <a:r>
              <a:rPr lang="en-US" altLang="zh-TW" sz="6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1" dirty="0" err="1" smtClean="0">
                <a:solidFill>
                  <a:srgbClr val="000000"/>
                </a:solidFill>
                <a:latin typeface="Lucida Console" panose="020B0609040504020204" pitchFamily="49" charset="0"/>
              </a:rPr>
              <a:t>that</a:t>
            </a:r>
            <a:r>
              <a:rPr lang="en-US" altLang="zh-TW" sz="2221" spc="-100" dirty="0" err="1" smtClean="0">
                <a:solidFill>
                  <a:srgbClr val="000000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221" dirty="0" err="1" smtClean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221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1" dirty="0">
                <a:solidFill>
                  <a:srgbClr val="000000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221" dirty="0">
                <a:solidFill>
                  <a:srgbClr val="FF0000"/>
                </a:solidFill>
                <a:latin typeface="Lucida Console" panose="020B0609040504020204" pitchFamily="49" charset="0"/>
              </a:rPr>
              <a:t>&lt;</a:t>
            </a:r>
            <a:r>
              <a:rPr lang="en-US" altLang="zh-TW" sz="2221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221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1" dirty="0">
                <a:solidFill>
                  <a:srgbClr val="FF0000"/>
                </a:solidFill>
                <a:latin typeface="Lucida Console" panose="020B0609040504020204" pitchFamily="49" charset="0"/>
              </a:rPr>
              <a:t>C</a:t>
            </a:r>
            <a:r>
              <a:rPr lang="en-US" altLang="zh-TW" sz="2221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endParaRPr lang="en-US" altLang="zh-TW" sz="2221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37450" y="3630511"/>
            <a:ext cx="699230" cy="1117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22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endParaRPr lang="en-US" sz="222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r>
              <a:rPr lang="en-US" altLang="zh-TW" sz="222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220" dirty="0"/>
          </a:p>
        </p:txBody>
      </p:sp>
    </p:spTree>
    <p:extLst>
      <p:ext uri="{BB962C8B-B14F-4D97-AF65-F5344CB8AC3E}">
        <p14:creationId xmlns:p14="http://schemas.microsoft.com/office/powerpoint/2010/main" val="21873171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1"/>
          <p:cNvSpPr>
            <a:spLocks noGrp="1" noChangeArrowheads="1"/>
          </p:cNvSpPr>
          <p:nvPr>
            <p:ph type="title"/>
          </p:nvPr>
        </p:nvSpPr>
        <p:spPr>
          <a:xfrm>
            <a:off x="-129259" y="2130"/>
            <a:ext cx="9929553" cy="912270"/>
          </a:xfrm>
        </p:spPr>
        <p:txBody>
          <a:bodyPr/>
          <a:lstStyle/>
          <a:p>
            <a:pPr algn="ctr">
              <a:lnSpc>
                <a:spcPct val="80000"/>
              </a:lnSpc>
              <a:tabLst>
                <a:tab pos="0" algn="l"/>
                <a:tab pos="414096" algn="l"/>
                <a:tab pos="828192" algn="l"/>
                <a:tab pos="1242287" algn="l"/>
                <a:tab pos="1656383" algn="l"/>
                <a:tab pos="2072065" algn="l"/>
                <a:tab pos="2486162" algn="l"/>
                <a:tab pos="2900257" algn="l"/>
                <a:tab pos="3314353" algn="l"/>
                <a:tab pos="3730035" algn="l"/>
                <a:tab pos="4144131" algn="l"/>
                <a:tab pos="4558227" algn="l"/>
                <a:tab pos="4972323" algn="l"/>
                <a:tab pos="5388004" algn="l"/>
                <a:tab pos="5802101" algn="l"/>
                <a:tab pos="6216196" algn="l"/>
                <a:tab pos="6630292" algn="l"/>
                <a:tab pos="7045974" algn="l"/>
                <a:tab pos="7460069" algn="l"/>
                <a:tab pos="7874166" algn="l"/>
                <a:tab pos="8288261" algn="l"/>
              </a:tabLst>
            </a:pPr>
            <a:r>
              <a:rPr lang="en-US" altLang="en-US" sz="4071" spc="-157" dirty="0">
                <a:solidFill>
                  <a:srgbClr val="0070C0"/>
                </a:solidFill>
                <a:latin typeface="Elephant" panose="02020904090505020303" pitchFamily="18" charset="0"/>
              </a:rPr>
              <a:t>Imposing a </a:t>
            </a:r>
            <a:r>
              <a:rPr lang="en-US" altLang="en-US" sz="4071" spc="-157" dirty="0">
                <a:solidFill>
                  <a:srgbClr val="FF0000"/>
                </a:solidFill>
                <a:latin typeface="Elephant" panose="02020904090505020303" pitchFamily="18" charset="0"/>
              </a:rPr>
              <a:t>full order</a:t>
            </a:r>
            <a:r>
              <a:rPr lang="en-US" altLang="en-US" sz="4071" spc="-157" dirty="0">
                <a:solidFill>
                  <a:srgbClr val="0070C0"/>
                </a:solidFill>
                <a:latin typeface="Elephant" panose="02020904090505020303" pitchFamily="18" charset="0"/>
              </a:rPr>
              <a:t> on a</a:t>
            </a:r>
            <a:r>
              <a:rPr lang="en-GB" altLang="en-US" sz="3701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GB" altLang="en-US" sz="4071" b="1" dirty="0">
                <a:solidFill>
                  <a:srgbClr val="FF0000"/>
                </a:solidFill>
                <a:latin typeface="Elephant" panose="02020904090505020303" pitchFamily="18" charset="0"/>
              </a:rPr>
              <a:t>partial</a:t>
            </a:r>
            <a:r>
              <a:rPr lang="en-GB" altLang="en-US" sz="3701" b="1" dirty="0">
                <a:solidFill>
                  <a:srgbClr val="FF0000"/>
                </a:solidFill>
                <a:latin typeface="Elephant" panose="02020904090505020303" pitchFamily="18" charset="0"/>
              </a:rPr>
              <a:t> </a:t>
            </a:r>
            <a:r>
              <a:rPr lang="en-GB" altLang="en-US" sz="4071" b="1" dirty="0">
                <a:solidFill>
                  <a:srgbClr val="FF0000"/>
                </a:solidFill>
                <a:latin typeface="Elephant" panose="02020904090505020303" pitchFamily="18" charset="0"/>
              </a:rPr>
              <a:t>order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60934" y="906953"/>
            <a:ext cx="9504560" cy="5948918"/>
          </a:xfrm>
        </p:spPr>
        <p:txBody>
          <a:bodyPr>
            <a:noAutofit/>
          </a:bodyPr>
          <a:lstStyle/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4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4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4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{3,1}</a:t>
            </a:r>
            <a:r>
              <a:rPr lang="en-US" altLang="zh-TW" sz="24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{1}</a:t>
            </a:r>
            <a:r>
              <a:rPr lang="en-US" altLang="zh-TW" sz="24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{1,2,3,4,5,6}</a:t>
            </a:r>
            <a:r>
              <a:rPr lang="en-US" altLang="zh-TW" sz="24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{2,3,4,1}</a:t>
            </a:r>
            <a:r>
              <a:rPr lang="en-US" altLang="zh-TW" sz="24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4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4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40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4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{1, 3}</a:t>
            </a:r>
            <a:r>
              <a:rPr lang="en-US" altLang="zh-TW" sz="24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spc="-100" dirty="0">
                <a:latin typeface="Lucida Console" panose="020B0609040504020204" pitchFamily="49" charset="0"/>
              </a:rPr>
              <a:t> </a:t>
            </a:r>
            <a:r>
              <a:rPr lang="en-US" altLang="zh-TW" sz="24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{1}</a:t>
            </a:r>
            <a:r>
              <a:rPr lang="en-US" altLang="zh-TW" sz="24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spc="-100" dirty="0">
                <a:latin typeface="Lucida Console" panose="020B0609040504020204" pitchFamily="49" charset="0"/>
              </a:rPr>
              <a:t> </a:t>
            </a:r>
            <a:r>
              <a:rPr lang="en-US" altLang="zh-TW" sz="24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{1, 2, 3, 4, 5, 6}</a:t>
            </a:r>
            <a:r>
              <a:rPr lang="en-US" altLang="zh-TW" sz="24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spc="-100" dirty="0">
                <a:latin typeface="Lucida Console" panose="020B0609040504020204" pitchFamily="49" charset="0"/>
              </a:rPr>
              <a:t> </a:t>
            </a:r>
            <a:r>
              <a:rPr lang="en-US" altLang="zh-TW" sz="24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{1, 2, 3, 4}</a:t>
            </a:r>
            <a:r>
              <a:rPr lang="en-US" altLang="zh-TW" sz="240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400" b="1" spc="-1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400" spc="-1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.sort</a:t>
            </a:r>
            <a:r>
              <a:rPr lang="en-US" altLang="zh-TW" sz="240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400" spc="-100" dirty="0">
                <a:latin typeface="Lucida Console" panose="020B0609040504020204" pitchFamily="49" charset="0"/>
              </a:rPr>
              <a:t> </a:t>
            </a:r>
            <a:r>
              <a:rPr lang="en-US" altLang="zh-TW" sz="24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#Now each subsequent element is a superset of the one before it.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4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{1}</a:t>
            </a:r>
            <a:r>
              <a:rPr lang="en-US" altLang="zh-TW" sz="24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 {1, 3}</a:t>
            </a:r>
            <a:r>
              <a:rPr lang="en-US" altLang="zh-TW" sz="24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 {1, 2, 3, 4}</a:t>
            </a:r>
            <a:r>
              <a:rPr lang="en-US" altLang="zh-TW" sz="24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 {1, 2, 3, 4, 5, 6}</a:t>
            </a:r>
            <a:r>
              <a:rPr lang="en-US" altLang="zh-TW" sz="240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400" spc="-100" dirty="0">
                <a:latin typeface="Lucida Console" panose="020B0609040504020204" pitchFamily="49" charset="0"/>
              </a:rPr>
              <a:t> </a:t>
            </a:r>
            <a:r>
              <a:rPr lang="en-US" altLang="zh-TW" sz="24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4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+=</a:t>
            </a:r>
            <a:r>
              <a:rPr lang="en-US" altLang="zh-TW" sz="24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4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{1,2}</a:t>
            </a:r>
            <a:r>
              <a:rPr lang="en-US" altLang="zh-TW" sz="24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]</a:t>
            </a:r>
            <a:r>
              <a:rPr lang="en-US" altLang="zh-TW" sz="2400" spc="-100" dirty="0"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zh-TW" sz="2400" dirty="0">
                <a:solidFill>
                  <a:srgbClr val="FF0000"/>
                </a:solidFill>
              </a:rPr>
              <a:t> {1}</a:t>
            </a:r>
            <a:r>
              <a:rPr lang="en-US" altLang="zh-TW" sz="1110" dirty="0">
                <a:solidFill>
                  <a:srgbClr val="FF0000"/>
                </a:solidFill>
              </a:rPr>
              <a:t> </a:t>
            </a:r>
            <a:r>
              <a:rPr lang="en-US" altLang="zh-TW" sz="2406" dirty="0">
                <a:solidFill>
                  <a:srgbClr val="FF0000"/>
                </a:solidFill>
              </a:rPr>
              <a:t>&lt;</a:t>
            </a:r>
            <a:r>
              <a:rPr lang="en-US" altLang="zh-TW" sz="1110" dirty="0">
                <a:solidFill>
                  <a:srgbClr val="FF0000"/>
                </a:solidFill>
              </a:rPr>
              <a:t> </a:t>
            </a:r>
            <a:r>
              <a:rPr lang="en-US" altLang="zh-TW" sz="2400" dirty="0">
                <a:solidFill>
                  <a:srgbClr val="FF0000"/>
                </a:solidFill>
              </a:rPr>
              <a:t>{1,2}</a:t>
            </a:r>
            <a:r>
              <a:rPr lang="en-US" altLang="zh-TW" sz="1110" dirty="0">
                <a:solidFill>
                  <a:srgbClr val="FF0000"/>
                </a:solidFill>
              </a:rPr>
              <a:t> </a:t>
            </a:r>
            <a:r>
              <a:rPr lang="en-US" altLang="zh-TW" sz="2406" dirty="0">
                <a:solidFill>
                  <a:srgbClr val="FF0000"/>
                </a:solidFill>
              </a:rPr>
              <a:t>&lt;</a:t>
            </a:r>
            <a:r>
              <a:rPr lang="en-US" altLang="zh-TW" sz="1110" dirty="0">
                <a:solidFill>
                  <a:srgbClr val="FF0000"/>
                </a:solidFill>
              </a:rPr>
              <a:t> </a:t>
            </a:r>
            <a:r>
              <a:rPr lang="en-US" altLang="zh-TW" sz="2406" dirty="0">
                <a:solidFill>
                  <a:srgbClr val="FF0000"/>
                </a:solidFill>
              </a:rPr>
              <a:t>{</a:t>
            </a:r>
            <a:r>
              <a:rPr lang="en-US" altLang="zh-TW" sz="2400" dirty="0">
                <a:solidFill>
                  <a:srgbClr val="FF0000"/>
                </a:solidFill>
              </a:rPr>
              <a:t>1,2,3,4</a:t>
            </a:r>
            <a:r>
              <a:rPr lang="en-US" altLang="zh-TW" sz="2406" dirty="0">
                <a:solidFill>
                  <a:srgbClr val="FF0000"/>
                </a:solidFill>
              </a:rPr>
              <a:t>}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but</a:t>
            </a:r>
            <a:r>
              <a:rPr lang="en-US" altLang="zh-TW" sz="2400" dirty="0">
                <a:solidFill>
                  <a:srgbClr val="FF0000"/>
                </a:solidFill>
              </a:rPr>
              <a:t> {1,2}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can’t compare to</a:t>
            </a:r>
            <a:r>
              <a:rPr lang="en-US" altLang="zh-TW" sz="2400" dirty="0">
                <a:solidFill>
                  <a:srgbClr val="FF0000"/>
                </a:solidFill>
              </a:rPr>
              <a:t> {1,3}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4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4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L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400" spc="-110" dirty="0">
                <a:solidFill>
                  <a:srgbClr val="00B05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400" spc="-110" dirty="0">
                <a:solidFill>
                  <a:schemeClr val="accent2"/>
                </a:solidFill>
                <a:latin typeface="Lucida Console" panose="020B0609040504020204" pitchFamily="49" charset="0"/>
              </a:rPr>
              <a:t>{1}</a:t>
            </a:r>
            <a:r>
              <a:rPr lang="en-US" altLang="zh-TW" sz="2400" spc="-11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spc="-110" dirty="0">
                <a:solidFill>
                  <a:schemeClr val="accent2"/>
                </a:solidFill>
                <a:latin typeface="Lucida Console" panose="020B0609040504020204" pitchFamily="49" charset="0"/>
              </a:rPr>
              <a:t> {1, 3}</a:t>
            </a:r>
            <a:r>
              <a:rPr lang="en-US" altLang="zh-TW" sz="2400" spc="-11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spc="-110" dirty="0">
                <a:solidFill>
                  <a:schemeClr val="accent2"/>
                </a:solidFill>
                <a:latin typeface="Lucida Console" panose="020B0609040504020204" pitchFamily="49" charset="0"/>
              </a:rPr>
              <a:t> {1, 2, 3, 4}</a:t>
            </a:r>
            <a:r>
              <a:rPr lang="en-US" altLang="zh-TW" sz="2400" spc="-11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spc="-110" dirty="0">
                <a:solidFill>
                  <a:schemeClr val="accent2"/>
                </a:solidFill>
                <a:latin typeface="Lucida Console" panose="020B0609040504020204" pitchFamily="49" charset="0"/>
              </a:rPr>
              <a:t> {1, 2, 3, 4, 5, 6}</a:t>
            </a:r>
            <a:r>
              <a:rPr lang="en-US" altLang="zh-TW" sz="2400" spc="-11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spc="-110" dirty="0">
                <a:solidFill>
                  <a:schemeClr val="accent2"/>
                </a:solidFill>
                <a:latin typeface="Lucida Console" panose="020B0609040504020204" pitchFamily="49" charset="0"/>
              </a:rPr>
              <a:t> {1, 2}</a:t>
            </a:r>
            <a:r>
              <a:rPr lang="en-US" altLang="zh-TW" sz="2400" spc="-110" dirty="0">
                <a:solidFill>
                  <a:srgbClr val="00B050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400" b="1" spc="-1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400" spc="-1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.sort</a:t>
            </a:r>
            <a:r>
              <a:rPr lang="en-US" altLang="zh-TW" sz="240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4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zh-TW" sz="2400" spc="-93" dirty="0">
                <a:solidFill>
                  <a:srgbClr val="FF0000"/>
                </a:solidFill>
                <a:cs typeface="Times New Roman" panose="02020603050405020304" pitchFamily="18" charset="0"/>
              </a:rPr>
              <a:t>{</a:t>
            </a:r>
            <a:r>
              <a:rPr lang="en-US" altLang="zh-TW" sz="2400" spc="-185" dirty="0">
                <a:solidFill>
                  <a:srgbClr val="FF0000"/>
                </a:solidFill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,3}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spc="-9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spc="-46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impos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 </a:t>
            </a:r>
            <a:r>
              <a:rPr lang="en-US" altLang="zh-TW" sz="2400" spc="-2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 </a:t>
            </a:r>
            <a:r>
              <a:rPr lang="en-US" altLang="zh-TW" sz="2400" spc="-93" dirty="0">
                <a:solidFill>
                  <a:srgbClr val="FF0000"/>
                </a:solidFill>
                <a:cs typeface="Times New Roman" panose="02020603050405020304" pitchFamily="18" charset="0"/>
              </a:rPr>
              <a:t>{</a:t>
            </a:r>
            <a:r>
              <a:rPr lang="en-US" altLang="zh-TW" sz="2400" spc="-185" dirty="0">
                <a:solidFill>
                  <a:srgbClr val="FF0000"/>
                </a:solidFill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,</a:t>
            </a:r>
            <a:r>
              <a:rPr lang="en-US" altLang="zh-TW" sz="2400" spc="-185" dirty="0">
                <a:solidFill>
                  <a:srgbClr val="FF0000"/>
                </a:solidFill>
                <a:cs typeface="Times New Roman" panose="02020603050405020304" pitchFamily="18" charset="0"/>
              </a:rPr>
              <a:t>2</a:t>
            </a:r>
            <a:r>
              <a:rPr lang="en-US" altLang="zh-TW" sz="2400" spc="-93" dirty="0">
                <a:solidFill>
                  <a:srgbClr val="FF0000"/>
                </a:solidFill>
                <a:cs typeface="Times New Roman" panose="02020603050405020304" pitchFamily="18" charset="0"/>
              </a:rPr>
              <a:t>}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but it </a:t>
            </a:r>
            <a:r>
              <a:rPr lang="en-US" altLang="zh-TW" sz="2400" spc="-46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ght </a:t>
            </a:r>
            <a:r>
              <a:rPr lang="en-US" altLang="zh-TW" sz="2400" spc="-46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the other way for </a:t>
            </a:r>
            <a:r>
              <a:rPr lang="en-US" altLang="zh-TW" sz="2400" spc="-9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spc="-110" dirty="0">
                <a:solidFill>
                  <a:srgbClr val="00B05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400" spc="-110" dirty="0">
                <a:solidFill>
                  <a:schemeClr val="accent2"/>
                </a:solidFill>
                <a:latin typeface="Lucida Console" panose="020B0609040504020204" pitchFamily="49" charset="0"/>
              </a:rPr>
              <a:t>{1}</a:t>
            </a:r>
            <a:r>
              <a:rPr lang="en-US" altLang="zh-TW" sz="2400" spc="-11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spc="-110" dirty="0">
                <a:solidFill>
                  <a:schemeClr val="accent2"/>
                </a:solidFill>
                <a:latin typeface="Lucida Console" panose="020B0609040504020204" pitchFamily="49" charset="0"/>
              </a:rPr>
              <a:t> {1, 3}</a:t>
            </a:r>
            <a:r>
              <a:rPr lang="en-US" altLang="zh-TW" sz="2400" spc="-11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spc="-110" dirty="0">
                <a:solidFill>
                  <a:schemeClr val="accent2"/>
                </a:solidFill>
                <a:latin typeface="Lucida Console" panose="020B0609040504020204" pitchFamily="49" charset="0"/>
              </a:rPr>
              <a:t> {1, 2}</a:t>
            </a:r>
            <a:r>
              <a:rPr lang="en-US" altLang="zh-TW" sz="2400" spc="-11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spc="-110" dirty="0">
                <a:solidFill>
                  <a:schemeClr val="accent2"/>
                </a:solidFill>
                <a:latin typeface="Lucida Console" panose="020B0609040504020204" pitchFamily="49" charset="0"/>
              </a:rPr>
              <a:t> {1, 2, 3, 4}</a:t>
            </a:r>
            <a:r>
              <a:rPr lang="en-US" altLang="zh-TW" sz="2400" spc="-11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spc="-110" dirty="0">
                <a:solidFill>
                  <a:schemeClr val="accent2"/>
                </a:solidFill>
                <a:latin typeface="Lucida Console" panose="020B0609040504020204" pitchFamily="49" charset="0"/>
              </a:rPr>
              <a:t> {1, 2, 3, 4, 5, 6}</a:t>
            </a:r>
            <a:r>
              <a:rPr lang="en-US" altLang="zh-TW" sz="240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40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4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+=</a:t>
            </a:r>
            <a:r>
              <a:rPr lang="en-US" altLang="zh-TW" sz="240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400" b="1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(1,2,3)</a:t>
            </a:r>
            <a:r>
              <a:rPr lang="en-US" altLang="zh-TW" sz="240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]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appends a tuple type</a:t>
            </a:r>
            <a:endParaRPr lang="en-US" altLang="zh-TW" sz="2400" dirty="0">
              <a:solidFill>
                <a:srgbClr val="00B050"/>
              </a:solidFill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4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4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L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400" spc="-110" dirty="0">
                <a:solidFill>
                  <a:srgbClr val="00B05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400" spc="-110" dirty="0">
                <a:solidFill>
                  <a:schemeClr val="accent2"/>
                </a:solidFill>
                <a:latin typeface="Lucida Console" panose="020B0609040504020204" pitchFamily="49" charset="0"/>
              </a:rPr>
              <a:t>{1}</a:t>
            </a:r>
            <a:r>
              <a:rPr lang="en-US" altLang="zh-TW" sz="2400" spc="-11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400" spc="-110" dirty="0">
                <a:solidFill>
                  <a:schemeClr val="accent2"/>
                </a:solidFill>
                <a:latin typeface="Lucida Console" panose="020B0609040504020204" pitchFamily="49" charset="0"/>
              </a:rPr>
              <a:t>{1, 3}</a:t>
            </a:r>
            <a:r>
              <a:rPr lang="en-US" altLang="zh-TW" sz="2400" spc="-11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400" spc="-110" dirty="0">
                <a:solidFill>
                  <a:schemeClr val="accent2"/>
                </a:solidFill>
                <a:latin typeface="Lucida Console" panose="020B0609040504020204" pitchFamily="49" charset="0"/>
              </a:rPr>
              <a:t>{1, 2}</a:t>
            </a:r>
            <a:r>
              <a:rPr lang="en-US" altLang="zh-TW" sz="2400" spc="-11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400" spc="-110" dirty="0">
                <a:solidFill>
                  <a:schemeClr val="accent2"/>
                </a:solidFill>
                <a:latin typeface="Lucida Console" panose="020B0609040504020204" pitchFamily="49" charset="0"/>
              </a:rPr>
              <a:t>{1, 2, 3, 4}</a:t>
            </a:r>
            <a:r>
              <a:rPr lang="en-US" altLang="zh-TW" sz="2400" spc="-11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400" spc="-110" dirty="0">
                <a:solidFill>
                  <a:schemeClr val="accent2"/>
                </a:solidFill>
                <a:latin typeface="Lucida Console" panose="020B0609040504020204" pitchFamily="49" charset="0"/>
              </a:rPr>
              <a:t>{1, 2, 3, 4, 5, 6}</a:t>
            </a:r>
            <a:r>
              <a:rPr lang="en-US" altLang="zh-TW" sz="2400" spc="-11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400" b="1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(1, 2, 3)</a:t>
            </a:r>
            <a:r>
              <a:rPr lang="en-US" altLang="zh-TW" sz="240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400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.sort</a:t>
            </a:r>
            <a:r>
              <a:rPr lang="en-US" altLang="zh-TW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()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#different types cannot be compared: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400" dirty="0" err="1">
                <a:solidFill>
                  <a:srgbClr val="FFAFAF"/>
                </a:solidFill>
              </a:rPr>
              <a:t>Traceback</a:t>
            </a:r>
            <a:r>
              <a:rPr lang="en-US" altLang="zh-TW" sz="2400" dirty="0">
                <a:solidFill>
                  <a:srgbClr val="FFAFAF"/>
                </a:solidFill>
              </a:rPr>
              <a:t> (most recent call last):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FFAFAF"/>
                </a:solidFill>
              </a:rPr>
              <a:t>  File "&lt;</a:t>
            </a:r>
            <a:r>
              <a:rPr lang="en-US" altLang="zh-TW" sz="2400" dirty="0" err="1">
                <a:solidFill>
                  <a:srgbClr val="FFAFAF"/>
                </a:solidFill>
              </a:rPr>
              <a:t>stdin</a:t>
            </a:r>
            <a:r>
              <a:rPr lang="en-US" altLang="zh-TW" sz="2400" dirty="0">
                <a:solidFill>
                  <a:srgbClr val="FFAFAF"/>
                </a:solidFill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dirty="0" err="1">
                <a:solidFill>
                  <a:srgbClr val="FFAFAF"/>
                </a:solidFill>
              </a:rPr>
              <a:t>TypeError</a:t>
            </a:r>
            <a:r>
              <a:rPr lang="en-US" altLang="zh-TW" sz="2400" dirty="0">
                <a:solidFill>
                  <a:srgbClr val="FFAFAF"/>
                </a:solidFill>
              </a:rPr>
              <a:t>: </a:t>
            </a:r>
            <a:r>
              <a:rPr lang="en-US" altLang="zh-TW" sz="2400" dirty="0">
                <a:solidFill>
                  <a:srgbClr val="FF0000"/>
                </a:solidFill>
              </a:rPr>
              <a:t>'&lt;' not supported between instances of 'tuple' and 'set'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60934" y="906953"/>
            <a:ext cx="1046360" cy="59489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467" indent="-228467" algn="l" defTabSz="913866" rtl="0" eaLnBrk="1" latinLnBrk="0" hangingPunct="1">
              <a:lnSpc>
                <a:spcPct val="90000"/>
              </a:lnSpc>
              <a:spcBef>
                <a:spcPts val="999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400" indent="-228467" algn="l" defTabSz="9138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333" indent="-228467" algn="l" defTabSz="9138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266" indent="-228467" algn="l" defTabSz="9138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200" indent="-228467" algn="l" defTabSz="9138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132" indent="-228467" algn="l" defTabSz="9138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066" indent="-228467" algn="l" defTabSz="9138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6999" indent="-228467" algn="l" defTabSz="9138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3933" indent="-228467" algn="l" defTabSz="9138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b="1" spc="-1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spc="-10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spc="-1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100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400" spc="-1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100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spc="-1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100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400" dirty="0">
              <a:solidFill>
                <a:srgbClr val="FF0000"/>
              </a:solidFill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100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400" b="1" spc="-1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spc="-1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100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400" spc="-1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100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spc="-1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100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400" dirty="0">
              <a:solidFill>
                <a:srgbClr val="00B050"/>
              </a:solidFill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100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400" b="1" spc="-1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400" spc="-100" dirty="0">
                <a:solidFill>
                  <a:srgbClr val="ED7D31"/>
                </a:solidFill>
                <a:latin typeface="Lucida Console" panose="020B0609040504020204" pitchFamily="49" charset="0"/>
              </a:rPr>
              <a:t>     </a:t>
            </a:r>
            <a:r>
              <a:rPr lang="en-US" altLang="zh-TW" sz="100" spc="-100" dirty="0">
                <a:solidFill>
                  <a:prstClr val="white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spc="-1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400" spc="-100" dirty="0">
                <a:solidFill>
                  <a:srgbClr val="ED7D31"/>
                </a:solidFill>
                <a:latin typeface="Lucida Console" panose="020B0609040504020204" pitchFamily="49" charset="0"/>
              </a:rPr>
              <a:t> </a:t>
            </a:r>
            <a:endParaRPr lang="en-US" altLang="zh-TW" sz="2400" spc="-1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dirty="0">
              <a:solidFill>
                <a:srgbClr val="FFAFAF"/>
              </a:solidFill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dirty="0">
              <a:solidFill>
                <a:srgbClr val="FFAFAF"/>
              </a:solidFill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9029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92895" y="723900"/>
            <a:ext cx="9439916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[1,2,3,4]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(1,2,3,4,0)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err="1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Traceback</a:t>
            </a: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 (most recent call last):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  File "&lt;</a:t>
            </a:r>
            <a:r>
              <a:rPr lang="en-US" altLang="en-US" dirty="0" err="1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stdin</a:t>
            </a: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err="1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TypeError</a:t>
            </a: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: '&lt;' not supported between instances of '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list</a:t>
            </a: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'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 and </a:t>
            </a: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'</a:t>
            </a:r>
            <a:r>
              <a:rPr lang="en-US" altLang="en-US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tuple</a:t>
            </a: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'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 print(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[1,2,3,4]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dirty="0">
                <a:solidFill>
                  <a:srgbClr val="CC3399"/>
                </a:solidFill>
                <a:latin typeface="Lucida Console" panose="020B0609040504020204" pitchFamily="49" charset="0"/>
                <a:sym typeface="Wingdings" pitchFamily="2" charset="2"/>
              </a:rPr>
              <a:t>'12340'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err="1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Traceback</a:t>
            </a: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 (most recent call last):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  File "&lt;</a:t>
            </a:r>
            <a:r>
              <a:rPr lang="en-US" altLang="en-US" dirty="0" err="1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stdin</a:t>
            </a: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err="1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TypeError</a:t>
            </a: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: '&lt;' not supported between instances of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'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list</a:t>
            </a: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' and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'</a:t>
            </a:r>
            <a:r>
              <a:rPr lang="en-US" altLang="en-US" dirty="0" err="1">
                <a:solidFill>
                  <a:srgbClr val="CC3399"/>
                </a:solidFill>
                <a:latin typeface="Lucida Console" panose="020B0609040504020204" pitchFamily="49" charset="0"/>
                <a:sym typeface="Wingdings" pitchFamily="2" charset="2"/>
              </a:rPr>
              <a:t>str</a:t>
            </a: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'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 print(</a:t>
            </a:r>
            <a:r>
              <a:rPr lang="en-US" altLang="en-US" dirty="0">
                <a:solidFill>
                  <a:srgbClr val="339933"/>
                </a:solidFill>
                <a:latin typeface="Lucida Console" panose="020B0609040504020204" pitchFamily="49" charset="0"/>
                <a:sym typeface="Wingdings" pitchFamily="2" charset="2"/>
              </a:rPr>
              <a:t>1234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dirty="0">
                <a:solidFill>
                  <a:srgbClr val="FFC000"/>
                </a:solidFill>
                <a:latin typeface="Lucida Console" panose="020B0609040504020204" pitchFamily="49" charset="0"/>
                <a:sym typeface="Wingdings" pitchFamily="2" charset="2"/>
              </a:rPr>
              <a:t>12340+0j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err="1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Traceback</a:t>
            </a: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 (most recent call last):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  File "&lt;</a:t>
            </a:r>
            <a:r>
              <a:rPr lang="en-US" altLang="en-US" dirty="0" err="1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stdin</a:t>
            </a: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&gt;", line 1, in &lt;module&gt;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err="1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TypeError</a:t>
            </a: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: '&lt;' not supported between instances of '</a:t>
            </a:r>
            <a:r>
              <a:rPr lang="en-US" altLang="en-US" dirty="0" err="1">
                <a:solidFill>
                  <a:srgbClr val="339933"/>
                </a:solidFill>
                <a:latin typeface="Lucida Console" panose="020B0609040504020204" pitchFamily="49" charset="0"/>
                <a:sym typeface="Wingdings" pitchFamily="2" charset="2"/>
              </a:rPr>
              <a:t>int</a:t>
            </a: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'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and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'</a:t>
            </a:r>
            <a:r>
              <a:rPr lang="en-US" altLang="en-US" dirty="0">
                <a:solidFill>
                  <a:srgbClr val="FFC000"/>
                </a:solidFill>
                <a:latin typeface="Lucida Console" panose="020B0609040504020204" pitchFamily="49" charset="0"/>
                <a:sym typeface="Wingdings" pitchFamily="2" charset="2"/>
              </a:rPr>
              <a:t>complex</a:t>
            </a:r>
            <a:r>
              <a:rPr lang="en-US" altLang="en-US" dirty="0">
                <a:solidFill>
                  <a:srgbClr val="FFCDCD"/>
                </a:solidFill>
                <a:latin typeface="Lucida Console" panose="020B0609040504020204" pitchFamily="49" charset="0"/>
                <a:sym typeface="Wingdings" pitchFamily="2" charset="2"/>
              </a:rPr>
              <a:t>'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da-DK" altLang="en-US" dirty="0">
                <a:solidFill>
                  <a:srgbClr val="FFFFF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solidFill>
                <a:srgbClr val="FFFFFF"/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You can’t compare </a:t>
            </a:r>
            <a:r>
              <a:rPr lang="en-US" altLang="zh-TW" sz="4074" i="1" kern="0" dirty="0">
                <a:solidFill>
                  <a:srgbClr val="0070C0"/>
                </a:solidFill>
                <a:latin typeface="Elephant" panose="02020904090505020303" pitchFamily="18" charset="0"/>
              </a:rPr>
              <a:t>different</a:t>
            </a:r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 types</a:t>
            </a:r>
          </a:p>
        </p:txBody>
      </p:sp>
      <p:sp>
        <p:nvSpPr>
          <p:cNvPr id="6" name="矩形 1"/>
          <p:cNvSpPr/>
          <p:nvPr/>
        </p:nvSpPr>
        <p:spPr>
          <a:xfrm>
            <a:off x="384958" y="5918507"/>
            <a:ext cx="694077" cy="3988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da-DK" altLang="en-US" sz="2592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zh-TW" altLang="en-US" sz="2592" dirty="0">
              <a:solidFill>
                <a:srgbClr val="000000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92895" y="723900"/>
            <a:ext cx="838199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FFCDCD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FFCDCD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 smtClean="0">
              <a:solidFill>
                <a:srgbClr val="FFCDCD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FFCDCD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FFCDCD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FFCDCD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 smtClean="0">
              <a:solidFill>
                <a:srgbClr val="FFCDCD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FFCDCD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smtClean="0">
                <a:solidFill>
                  <a:srgbClr val="BFBFBF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solidFill>
                <a:srgbClr val="BFBFBF"/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08342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You can’t compare </a:t>
            </a:r>
            <a:r>
              <a:rPr lang="en-US" altLang="zh-TW" sz="4074" i="1" kern="0" dirty="0">
                <a:solidFill>
                  <a:srgbClr val="0070C0"/>
                </a:solidFill>
                <a:latin typeface="Elephant" panose="02020904090505020303" pitchFamily="18" charset="0"/>
              </a:rPr>
              <a:t>different</a:t>
            </a:r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 types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92895" y="723900"/>
            <a:ext cx="9439916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[1,2,3,4]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(1,2,3,4,0)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err="1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Traceback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 (most recent call last):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  File "&lt;</a:t>
            </a:r>
            <a:r>
              <a:rPr lang="en-US" altLang="en-US" dirty="0" err="1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stdin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err="1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TypeError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: '&lt;' not supported between instances of '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list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' and '</a:t>
            </a:r>
            <a:r>
              <a:rPr lang="en-US" altLang="en-US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tuple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'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 print(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[1,2,3,4]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dirty="0">
                <a:solidFill>
                  <a:srgbClr val="CC3399"/>
                </a:solidFill>
                <a:latin typeface="Lucida Console" panose="020B0609040504020204" pitchFamily="49" charset="0"/>
                <a:sym typeface="Wingdings" pitchFamily="2" charset="2"/>
              </a:rPr>
              <a:t>'12340'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err="1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Traceback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 (most recent call last):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  File "&lt;</a:t>
            </a:r>
            <a:r>
              <a:rPr lang="en-US" altLang="en-US" dirty="0" err="1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stdin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err="1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TypeError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: '&lt;' not supported between instances of '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list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' and '</a:t>
            </a:r>
            <a:r>
              <a:rPr lang="en-US" altLang="en-US" dirty="0" err="1">
                <a:solidFill>
                  <a:srgbClr val="CC3399"/>
                </a:solidFill>
                <a:latin typeface="Lucida Console" panose="020B0609040504020204" pitchFamily="49" charset="0"/>
                <a:sym typeface="Wingdings" pitchFamily="2" charset="2"/>
              </a:rPr>
              <a:t>str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'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 print(</a:t>
            </a:r>
            <a:r>
              <a:rPr lang="en-US" altLang="en-US" dirty="0">
                <a:solidFill>
                  <a:srgbClr val="339933"/>
                </a:solidFill>
                <a:latin typeface="Lucida Console" panose="020B0609040504020204" pitchFamily="49" charset="0"/>
                <a:sym typeface="Wingdings" pitchFamily="2" charset="2"/>
              </a:rPr>
              <a:t>1234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dirty="0">
                <a:solidFill>
                  <a:srgbClr val="FFC000"/>
                </a:solidFill>
                <a:latin typeface="Lucida Console" panose="020B0609040504020204" pitchFamily="49" charset="0"/>
                <a:sym typeface="Wingdings" pitchFamily="2" charset="2"/>
              </a:rPr>
              <a:t>12340+0j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err="1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Traceback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 (most recent call last):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  File "&lt;</a:t>
            </a:r>
            <a:r>
              <a:rPr lang="en-US" altLang="en-US" dirty="0" err="1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stdin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&gt;", line 1, in &lt;module&gt;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err="1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TypeError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: '&lt;' not supported between instances of '</a:t>
            </a:r>
            <a:r>
              <a:rPr lang="en-US" altLang="en-US" dirty="0" err="1">
                <a:solidFill>
                  <a:srgbClr val="339933"/>
                </a:solidFill>
                <a:latin typeface="Lucida Console" panose="020B0609040504020204" pitchFamily="49" charset="0"/>
                <a:sym typeface="Wingdings" pitchFamily="2" charset="2"/>
              </a:rPr>
              <a:t>int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' and '</a:t>
            </a:r>
            <a:r>
              <a:rPr lang="en-US" altLang="en-US" dirty="0">
                <a:solidFill>
                  <a:srgbClr val="FFC000"/>
                </a:solidFill>
                <a:latin typeface="Lucida Console" panose="020B0609040504020204" pitchFamily="49" charset="0"/>
                <a:sym typeface="Wingdings" pitchFamily="2" charset="2"/>
              </a:rPr>
              <a:t>complex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'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da-DK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 </a:t>
            </a:r>
            <a:r>
              <a:rPr lang="da-DK" altLang="en-US" b="1" dirty="0">
                <a:solidFill>
                  <a:srgbClr val="008000"/>
                </a:solidFill>
                <a:latin typeface="Lucida Console" panose="020B0609040504020204" pitchFamily="49" charset="0"/>
                <a:sym typeface="Wingdings" pitchFamily="2" charset="2"/>
              </a:rPr>
              <a:t>0</a:t>
            </a:r>
            <a:r>
              <a:rPr lang="da-DK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&lt;=</a:t>
            </a:r>
            <a:r>
              <a:rPr lang="da-DK" altLang="en-US" b="1" dirty="0">
                <a:solidFill>
                  <a:srgbClr val="CC6600"/>
                </a:solidFill>
                <a:latin typeface="Lucida Console" panose="020B0609040504020204" pitchFamily="49" charset="0"/>
                <a:sym typeface="Wingdings" pitchFamily="2" charset="2"/>
              </a:rPr>
              <a:t>False</a:t>
            </a:r>
            <a:r>
              <a:rPr lang="da-DK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da-DK" altLang="en-US" b="1" dirty="0">
                <a:solidFill>
                  <a:srgbClr val="CC6600"/>
                </a:solidFill>
                <a:latin typeface="Lucida Console" panose="020B0609040504020204" pitchFamily="49" charset="0"/>
                <a:sym typeface="Wingdings" pitchFamily="2" charset="2"/>
              </a:rPr>
              <a:t>True</a:t>
            </a:r>
            <a:r>
              <a:rPr lang="da-DK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&lt;=</a:t>
            </a:r>
            <a:r>
              <a:rPr lang="da-DK" altLang="en-US" b="1" dirty="0">
                <a:solidFill>
                  <a:srgbClr val="008000"/>
                </a:solidFill>
                <a:latin typeface="Lucida Console" panose="020B0609040504020204" pitchFamily="49" charset="0"/>
                <a:sym typeface="Wingdings" pitchFamily="2" charset="2"/>
              </a:rPr>
              <a:t>1</a:t>
            </a:r>
            <a:r>
              <a:rPr lang="da-DK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&gt;=</a:t>
            </a:r>
            <a:r>
              <a:rPr lang="da-DK" altLang="en-US" b="1" dirty="0">
                <a:solidFill>
                  <a:srgbClr val="CC6600"/>
                </a:solidFill>
                <a:latin typeface="Lucida Console" panose="020B0609040504020204" pitchFamily="49" charset="0"/>
                <a:sym typeface="Wingdings" pitchFamily="2" charset="2"/>
              </a:rPr>
              <a:t>True</a:t>
            </a:r>
            <a:r>
              <a:rPr lang="da-DK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da-DK" altLang="en-US" b="1" dirty="0">
                <a:solidFill>
                  <a:srgbClr val="FF3300"/>
                </a:solidFill>
                <a:latin typeface="Lucida Console" panose="020B0609040504020204" pitchFamily="49" charset="0"/>
                <a:sym typeface="Wingdings" pitchFamily="2" charset="2"/>
              </a:rPr>
              <a:t>1.5</a:t>
            </a:r>
            <a:r>
              <a:rPr lang="da-DK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da-DK" altLang="en-US" b="1" dirty="0">
                <a:solidFill>
                  <a:srgbClr val="008000"/>
                </a:solidFill>
                <a:latin typeface="Lucida Console" panose="020B0609040504020204" pitchFamily="49" charset="0"/>
                <a:sym typeface="Wingdings" pitchFamily="2" charset="2"/>
              </a:rPr>
              <a:t>2 </a:t>
            </a:r>
            <a:r>
              <a:rPr lang="da-DK" altLang="en-US" sz="2592" spc="-93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#All </a:t>
            </a:r>
            <a:r>
              <a:rPr lang="da-DK" altLang="en-US" sz="2592" spc="-93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are</a:t>
            </a:r>
            <a:r>
              <a:rPr lang="da-DK" altLang="en-US" sz="2592" spc="-93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da-DK" altLang="en-US" sz="2592" spc="-93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nums</a:t>
            </a:r>
            <a:endParaRPr lang="da-DK" altLang="en-US" spc="-93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da-DK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True</a:t>
            </a:r>
          </a:p>
          <a:p>
            <a:pPr marL="0" indent="0">
              <a:lnSpc>
                <a:spcPct val="6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96870" y="759174"/>
            <a:ext cx="9392424" cy="5162558"/>
          </a:xfrm>
          <a:prstGeom prst="rect">
            <a:avLst/>
          </a:prstGeom>
          <a:solidFill>
            <a:srgbClr val="FFFFFF">
              <a:alpha val="6980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4659" tIns="42330" rIns="84659" bIns="4233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1852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438944" y="458"/>
            <a:ext cx="10607675" cy="7620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But most number types can compare</a:t>
            </a:r>
          </a:p>
        </p:txBody>
      </p:sp>
      <p:sp>
        <p:nvSpPr>
          <p:cNvPr id="9" name="矩形 1"/>
          <p:cNvSpPr/>
          <p:nvPr/>
        </p:nvSpPr>
        <p:spPr>
          <a:xfrm>
            <a:off x="384958" y="5918507"/>
            <a:ext cx="694077" cy="3988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da-DK" altLang="en-US" sz="2592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zh-TW" altLang="en-US" sz="2592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435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92895" y="1810775"/>
            <a:ext cx="9439916" cy="3980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FF6969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2D2DB9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2D2DB9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2D2DB9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  <a:sym typeface="Wingdings" pitchFamily="2" charset="2"/>
              </a:rPr>
              <a:t>&gt;&gt;&gt; print(1234!=1234+1j)</a:t>
            </a:r>
            <a:r>
              <a:rPr lang="en-US" altLang="en-US" sz="1481" spc="-46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#As</a:t>
            </a:r>
            <a:r>
              <a:rPr lang="en-US" altLang="en-US" sz="2222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expecte</a:t>
            </a:r>
            <a:r>
              <a:rPr lang="en-US" altLang="en-US" spc="-324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d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,</a:t>
            </a:r>
            <a:r>
              <a:rPr lang="en-US" altLang="en-US" sz="1111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!=</a:t>
            </a:r>
            <a:r>
              <a:rPr lang="en-US" altLang="en-US" sz="1852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185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i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s</a:t>
            </a:r>
            <a:r>
              <a:rPr lang="en-US" altLang="en-US" sz="1852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True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2D2DB9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  <a:sym typeface="Wingdings" pitchFamily="2" charset="2"/>
              </a:rPr>
              <a:t>&gt;&gt;&gt; print(1234==1234+0j)</a:t>
            </a:r>
            <a:r>
              <a:rPr lang="en-US" altLang="en-US" sz="1481" spc="-46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#This</a:t>
            </a:r>
            <a:r>
              <a:rPr lang="en-US" altLang="en-US" sz="2222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is</a:t>
            </a:r>
            <a:r>
              <a:rPr lang="en-US" altLang="en-US" sz="2222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a</a:t>
            </a:r>
            <a:r>
              <a:rPr lang="en-US" altLang="en-US" sz="2222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special</a:t>
            </a:r>
            <a:r>
              <a:rPr lang="en-US" altLang="en-US" sz="2222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case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2D2DB9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  <a:sym typeface="Wingdings" pitchFamily="2" charset="2"/>
              </a:rPr>
              <a:t>&gt;&gt;&gt; print(1234&lt;1234+0j)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#</a:t>
            </a:r>
            <a:r>
              <a:rPr lang="en-US" altLang="en-US" spc="-509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‘</a:t>
            </a:r>
            <a:r>
              <a:rPr lang="en-US" altLang="en-US" spc="-185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’</a:t>
            </a:r>
            <a:r>
              <a:rPr lang="en-US" altLang="en-US" sz="1666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crashe</a:t>
            </a:r>
            <a:r>
              <a:rPr lang="en-US" altLang="en-US" spc="-231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s,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as </a:t>
            </a:r>
            <a:r>
              <a:rPr lang="en-US" altLang="en-US" spc="-46" dirty="0" smtClean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expected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3021" y="457"/>
            <a:ext cx="9735831" cy="1810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You can </a:t>
            </a:r>
            <a:r>
              <a:rPr lang="en-US" altLang="zh-TW" sz="4074" i="1" kern="0" dirty="0">
                <a:solidFill>
                  <a:srgbClr val="0070C0"/>
                </a:solidFill>
                <a:latin typeface="Elephant" panose="02020904090505020303" pitchFamily="18" charset="0"/>
              </a:rPr>
              <a:t>equality-</a:t>
            </a:r>
            <a:r>
              <a:rPr lang="en-US" altLang="zh-TW" sz="1111" i="1" kern="0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i="1" kern="0" dirty="0">
                <a:solidFill>
                  <a:srgbClr val="0070C0"/>
                </a:solidFill>
                <a:latin typeface="Elephant" panose="02020904090505020303" pitchFamily="18" charset="0"/>
              </a:rPr>
              <a:t>compare</a:t>
            </a:r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 types.</a:t>
            </a:r>
          </a:p>
          <a:p>
            <a:pPr>
              <a:lnSpc>
                <a:spcPct val="80000"/>
              </a:lnSpc>
              <a:spcBef>
                <a:spcPts val="833"/>
              </a:spcBef>
            </a:pPr>
            <a:r>
              <a:rPr lang="en-US" altLang="zh-TW" sz="3703" kern="0" dirty="0">
                <a:solidFill>
                  <a:srgbClr val="000000"/>
                </a:solidFill>
                <a:latin typeface="Elephant" panose="02020904090505020303" pitchFamily="18" charset="0"/>
              </a:rPr>
              <a:t>When I say “</a:t>
            </a:r>
            <a:r>
              <a:rPr lang="en-US" altLang="zh-TW" sz="3703" kern="0" dirty="0">
                <a:solidFill>
                  <a:srgbClr val="FF6969"/>
                </a:solidFill>
                <a:latin typeface="Elephant" panose="02020904090505020303" pitchFamily="18" charset="0"/>
              </a:rPr>
              <a:t>can</a:t>
            </a:r>
            <a:r>
              <a:rPr lang="en-US" altLang="zh-TW" sz="3703" kern="0" dirty="0">
                <a:solidFill>
                  <a:srgbClr val="000000"/>
                </a:solidFill>
                <a:latin typeface="Elephant" panose="02020904090505020303" pitchFamily="18" charset="0"/>
              </a:rPr>
              <a:t>”, I mean: </a:t>
            </a:r>
            <a:r>
              <a:rPr lang="en-US" altLang="zh-TW" sz="3703" kern="0" dirty="0">
                <a:solidFill>
                  <a:srgbClr val="FF6969"/>
                </a:solidFill>
                <a:latin typeface="Elephant" panose="02020904090505020303" pitchFamily="18" charset="0"/>
              </a:rPr>
              <a:t>it</a:t>
            </a:r>
            <a:r>
              <a:rPr lang="en-US" altLang="zh-TW" sz="3703" kern="0" dirty="0">
                <a:solidFill>
                  <a:srgbClr val="00000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3703" kern="0" dirty="0">
                <a:solidFill>
                  <a:srgbClr val="FF6969"/>
                </a:solidFill>
                <a:latin typeface="Elephant" panose="02020904090505020303" pitchFamily="18" charset="0"/>
              </a:rPr>
              <a:t>won’t crash</a:t>
            </a:r>
            <a:r>
              <a:rPr lang="en-US" altLang="zh-TW" sz="3703" kern="0" dirty="0">
                <a:solidFill>
                  <a:srgbClr val="000000"/>
                </a:solidFill>
                <a:latin typeface="Elephant" panose="02020904090505020303" pitchFamily="18" charset="0"/>
              </a:rPr>
              <a:t>.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altLang="zh-TW" sz="3703" kern="0" dirty="0">
                <a:solidFill>
                  <a:srgbClr val="3333CC"/>
                </a:solidFill>
                <a:latin typeface="Elephant" panose="02020904090505020303" pitchFamily="18" charset="0"/>
              </a:rPr>
              <a:t>But the equality answer is always False.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92895" y="1810774"/>
            <a:ext cx="9439916" cy="5047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[1,2,3,4]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==</a:t>
            </a:r>
            <a:r>
              <a:rPr lang="en-US" altLang="en-US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(1,2,3,4)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sz="2222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     </a:t>
            </a:r>
            <a:r>
              <a:rPr lang="en-US" altLang="en-US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#See? False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2D2DB9"/>
                </a:solidFill>
                <a:latin typeface="Lucida Console" panose="020B0609040504020204" pitchFamily="49" charset="0"/>
                <a:sym typeface="Wingdings" pitchFamily="2" charset="2"/>
              </a:rPr>
              <a:t>False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 print(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[1,2,3,4]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==</a:t>
            </a:r>
            <a:r>
              <a:rPr lang="en-US" altLang="en-US" dirty="0">
                <a:solidFill>
                  <a:srgbClr val="CC3399"/>
                </a:solidFill>
                <a:latin typeface="Lucida Console" panose="020B0609040504020204" pitchFamily="49" charset="0"/>
                <a:sym typeface="Wingdings" pitchFamily="2" charset="2"/>
              </a:rPr>
              <a:t>'1234'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  <a:sym typeface="Wingdings" pitchFamily="2" charset="2"/>
              </a:rPr>
              <a:t>  </a:t>
            </a:r>
            <a:r>
              <a:rPr lang="en-US" altLang="en-US" sz="2222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  <a:sym typeface="Wingdings" pitchFamily="2" charset="2"/>
              </a:rPr>
              <a:t>     </a:t>
            </a:r>
            <a:r>
              <a:rPr lang="en-US" altLang="en-US" dirty="0">
                <a:solidFill>
                  <a:srgbClr val="FF6969"/>
                </a:solidFill>
                <a:latin typeface="Lucida Console" panose="020B0609040504020204" pitchFamily="49" charset="0"/>
                <a:cs typeface="+mn-cs"/>
                <a:sym typeface="Wingdings" pitchFamily="2" charset="2"/>
              </a:rPr>
              <a:t>#</a:t>
            </a:r>
            <a:r>
              <a:rPr lang="en-US" altLang="en-US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See? False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2D2DB9"/>
                </a:solidFill>
                <a:latin typeface="Lucida Console" panose="020B0609040504020204" pitchFamily="49" charset="0"/>
                <a:sym typeface="Wingdings" pitchFamily="2" charset="2"/>
              </a:rPr>
              <a:t>False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 print(</a:t>
            </a:r>
            <a:r>
              <a:rPr lang="en-US" altLang="en-US" dirty="0">
                <a:solidFill>
                  <a:srgbClr val="339933"/>
                </a:solidFill>
                <a:latin typeface="Lucida Console" panose="020B0609040504020204" pitchFamily="49" charset="0"/>
                <a:sym typeface="Wingdings" pitchFamily="2" charset="2"/>
              </a:rPr>
              <a:t>1234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==</a:t>
            </a:r>
            <a:r>
              <a:rPr lang="en-US" altLang="en-US" dirty="0">
                <a:solidFill>
                  <a:srgbClr val="FFC000"/>
                </a:solidFill>
                <a:latin typeface="Lucida Console" panose="020B0609040504020204" pitchFamily="49" charset="0"/>
                <a:sym typeface="Wingdings" pitchFamily="2" charset="2"/>
              </a:rPr>
              <a:t>1234+1j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       </a:t>
            </a:r>
            <a:r>
              <a:rPr lang="en-US" altLang="en-US" sz="2222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  <a:sym typeface="Wingdings" pitchFamily="2" charset="2"/>
              </a:rPr>
              <a:t>     </a:t>
            </a:r>
            <a:r>
              <a:rPr lang="en-US" altLang="en-US" dirty="0">
                <a:solidFill>
                  <a:srgbClr val="FF6969"/>
                </a:solidFill>
                <a:latin typeface="Lucida Console" panose="020B0609040504020204" pitchFamily="49" charset="0"/>
                <a:cs typeface="+mn-cs"/>
                <a:sym typeface="Wingdings" pitchFamily="2" charset="2"/>
              </a:rPr>
              <a:t>#</a:t>
            </a:r>
            <a:r>
              <a:rPr lang="en-US" altLang="en-US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See? False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2D2DB9"/>
                </a:solidFill>
                <a:latin typeface="Lucida Console" panose="020B0609040504020204" pitchFamily="49" charset="0"/>
                <a:sym typeface="Wingdings" pitchFamily="2" charset="2"/>
              </a:rPr>
              <a:t>False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 print(</a:t>
            </a:r>
            <a:r>
              <a:rPr lang="en-US" altLang="en-US" dirty="0">
                <a:solidFill>
                  <a:srgbClr val="339933"/>
                </a:solidFill>
                <a:latin typeface="Lucida Console" panose="020B0609040504020204" pitchFamily="49" charset="0"/>
                <a:sym typeface="Wingdings" pitchFamily="2" charset="2"/>
              </a:rPr>
              <a:t>1234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!=</a:t>
            </a:r>
            <a:r>
              <a:rPr lang="en-US" altLang="en-US" dirty="0">
                <a:solidFill>
                  <a:srgbClr val="FFC000"/>
                </a:solidFill>
                <a:latin typeface="Lucida Console" panose="020B0609040504020204" pitchFamily="49" charset="0"/>
                <a:sym typeface="Wingdings" pitchFamily="2" charset="2"/>
              </a:rPr>
              <a:t>1234+1j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2D2DB9"/>
                </a:solidFill>
                <a:latin typeface="Lucida Console" panose="020B0609040504020204" pitchFamily="49" charset="0"/>
                <a:sym typeface="Wingdings" pitchFamily="2" charset="2"/>
              </a:rPr>
              <a:t>True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 print(</a:t>
            </a:r>
            <a:r>
              <a:rPr lang="en-US" altLang="en-US" dirty="0">
                <a:solidFill>
                  <a:srgbClr val="339933"/>
                </a:solidFill>
                <a:latin typeface="Lucida Console" panose="020B0609040504020204" pitchFamily="49" charset="0"/>
                <a:sym typeface="Wingdings" pitchFamily="2" charset="2"/>
              </a:rPr>
              <a:t>1234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==</a:t>
            </a:r>
            <a:r>
              <a:rPr lang="en-US" altLang="en-US" dirty="0">
                <a:solidFill>
                  <a:srgbClr val="FFC000"/>
                </a:solidFill>
                <a:latin typeface="Lucida Console" panose="020B0609040504020204" pitchFamily="49" charset="0"/>
                <a:sym typeface="Wingdings" pitchFamily="2" charset="2"/>
              </a:rPr>
              <a:t>1234+0j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endParaRPr lang="en-US" altLang="en-US" spc="-46" dirty="0">
              <a:solidFill>
                <a:srgbClr val="FF6969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2D2DB9"/>
                </a:solidFill>
                <a:latin typeface="Lucida Console" panose="020B0609040504020204" pitchFamily="49" charset="0"/>
                <a:sym typeface="Wingdings" pitchFamily="2" charset="2"/>
              </a:rPr>
              <a:t>True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 print(</a:t>
            </a:r>
            <a:r>
              <a:rPr lang="en-US" altLang="en-US" dirty="0">
                <a:solidFill>
                  <a:srgbClr val="339933"/>
                </a:solidFill>
                <a:latin typeface="Lucida Console" panose="020B0609040504020204" pitchFamily="49" charset="0"/>
                <a:sym typeface="Wingdings" pitchFamily="2" charset="2"/>
              </a:rPr>
              <a:t>1234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dirty="0">
                <a:solidFill>
                  <a:srgbClr val="FFC000"/>
                </a:solidFill>
                <a:latin typeface="Lucida Console" panose="020B0609040504020204" pitchFamily="49" charset="0"/>
                <a:sym typeface="Wingdings" pitchFamily="2" charset="2"/>
              </a:rPr>
              <a:t>1234+0j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err="1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Traceback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 (most recent call last):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  File "&lt;</a:t>
            </a:r>
            <a:r>
              <a:rPr lang="en-US" altLang="en-US" dirty="0" err="1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stdin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err="1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TypeError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: '&lt;' not supported between instances of '</a:t>
            </a:r>
            <a:r>
              <a:rPr lang="en-US" altLang="en-US" dirty="0" err="1">
                <a:solidFill>
                  <a:srgbClr val="3D9E3D"/>
                </a:solidFill>
                <a:latin typeface="Lucida Console" panose="020B0609040504020204" pitchFamily="49" charset="0"/>
                <a:sym typeface="Wingdings" pitchFamily="2" charset="2"/>
              </a:rPr>
              <a:t>int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' and '</a:t>
            </a:r>
            <a:r>
              <a:rPr lang="en-US" altLang="en-US" dirty="0">
                <a:solidFill>
                  <a:srgbClr val="FFC000"/>
                </a:solidFill>
                <a:latin typeface="Lucida Console" panose="020B0609040504020204" pitchFamily="49" charset="0"/>
                <a:sym typeface="Wingdings" pitchFamily="2" charset="2"/>
              </a:rPr>
              <a:t>complex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'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92895" y="1810775"/>
            <a:ext cx="990599" cy="3828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FF6969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2D2DB9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2D2DB9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2D2DB9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2D2DB9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spc="-46" dirty="0">
              <a:solidFill>
                <a:srgbClr val="FF6969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dirty="0">
              <a:solidFill>
                <a:srgbClr val="2D2DB9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9876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4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4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4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92895" y="1810774"/>
            <a:ext cx="9439916" cy="5047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[1,2,3,4]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==</a:t>
            </a:r>
            <a:r>
              <a:rPr lang="en-US" altLang="en-US" dirty="0">
                <a:solidFill>
                  <a:srgbClr val="00B0F0"/>
                </a:solidFill>
                <a:latin typeface="Lucida Console" panose="020B0609040504020204" pitchFamily="49" charset="0"/>
                <a:sym typeface="Wingdings" pitchFamily="2" charset="2"/>
              </a:rPr>
              <a:t>(1,2,3,4)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sz="2222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     </a:t>
            </a:r>
            <a:r>
              <a:rPr lang="en-US" altLang="en-US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#See? False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2D2DB9"/>
                </a:solidFill>
                <a:latin typeface="Lucida Console" panose="020B0609040504020204" pitchFamily="49" charset="0"/>
                <a:sym typeface="Wingdings" pitchFamily="2" charset="2"/>
              </a:rPr>
              <a:t>False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 print(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[1,2,3,4]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==</a:t>
            </a:r>
            <a:r>
              <a:rPr lang="en-US" altLang="en-US" dirty="0">
                <a:solidFill>
                  <a:srgbClr val="CC3399"/>
                </a:solidFill>
                <a:latin typeface="Lucida Console" panose="020B0609040504020204" pitchFamily="49" charset="0"/>
                <a:sym typeface="Wingdings" pitchFamily="2" charset="2"/>
              </a:rPr>
              <a:t>'1234'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  <a:sym typeface="Wingdings" pitchFamily="2" charset="2"/>
              </a:rPr>
              <a:t>  </a:t>
            </a:r>
            <a:r>
              <a:rPr lang="en-US" altLang="en-US" sz="2222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  <a:sym typeface="Wingdings" pitchFamily="2" charset="2"/>
              </a:rPr>
              <a:t>     </a:t>
            </a:r>
            <a:r>
              <a:rPr lang="en-US" altLang="en-US" dirty="0">
                <a:solidFill>
                  <a:srgbClr val="FF6969"/>
                </a:solidFill>
                <a:latin typeface="Lucida Console" panose="020B0609040504020204" pitchFamily="49" charset="0"/>
                <a:cs typeface="+mn-cs"/>
                <a:sym typeface="Wingdings" pitchFamily="2" charset="2"/>
              </a:rPr>
              <a:t>#</a:t>
            </a:r>
            <a:r>
              <a:rPr lang="en-US" altLang="en-US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See? False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2D2DB9"/>
                </a:solidFill>
                <a:latin typeface="Lucida Console" panose="020B0609040504020204" pitchFamily="49" charset="0"/>
                <a:sym typeface="Wingdings" pitchFamily="2" charset="2"/>
              </a:rPr>
              <a:t>False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 print(</a:t>
            </a:r>
            <a:r>
              <a:rPr lang="en-US" altLang="en-US" dirty="0">
                <a:solidFill>
                  <a:srgbClr val="339933"/>
                </a:solidFill>
                <a:latin typeface="Lucida Console" panose="020B0609040504020204" pitchFamily="49" charset="0"/>
                <a:sym typeface="Wingdings" pitchFamily="2" charset="2"/>
              </a:rPr>
              <a:t>1234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==</a:t>
            </a:r>
            <a:r>
              <a:rPr lang="en-US" altLang="en-US" dirty="0">
                <a:solidFill>
                  <a:srgbClr val="FFC000"/>
                </a:solidFill>
                <a:latin typeface="Lucida Console" panose="020B0609040504020204" pitchFamily="49" charset="0"/>
                <a:sym typeface="Wingdings" pitchFamily="2" charset="2"/>
              </a:rPr>
              <a:t>1234+1j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       </a:t>
            </a:r>
            <a:r>
              <a:rPr lang="en-US" altLang="en-US" sz="2222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  <a:sym typeface="Wingdings" pitchFamily="2" charset="2"/>
              </a:rPr>
              <a:t>     </a:t>
            </a:r>
            <a:r>
              <a:rPr lang="en-US" altLang="en-US" dirty="0">
                <a:solidFill>
                  <a:srgbClr val="FF6969"/>
                </a:solidFill>
                <a:latin typeface="Lucida Console" panose="020B0609040504020204" pitchFamily="49" charset="0"/>
                <a:cs typeface="+mn-cs"/>
                <a:sym typeface="Wingdings" pitchFamily="2" charset="2"/>
              </a:rPr>
              <a:t>#</a:t>
            </a:r>
            <a:r>
              <a:rPr lang="en-US" altLang="en-US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See? False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2D2DB9"/>
                </a:solidFill>
                <a:latin typeface="Lucida Console" panose="020B0609040504020204" pitchFamily="49" charset="0"/>
                <a:sym typeface="Wingdings" pitchFamily="2" charset="2"/>
              </a:rPr>
              <a:t>False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 print(</a:t>
            </a:r>
            <a:r>
              <a:rPr lang="en-US" altLang="en-US" dirty="0">
                <a:solidFill>
                  <a:srgbClr val="339933"/>
                </a:solidFill>
                <a:latin typeface="Lucida Console" panose="020B0609040504020204" pitchFamily="49" charset="0"/>
                <a:sym typeface="Wingdings" pitchFamily="2" charset="2"/>
              </a:rPr>
              <a:t>1234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!=</a:t>
            </a:r>
            <a:r>
              <a:rPr lang="en-US" altLang="en-US" dirty="0">
                <a:solidFill>
                  <a:srgbClr val="FFC000"/>
                </a:solidFill>
                <a:latin typeface="Lucida Console" panose="020B0609040504020204" pitchFamily="49" charset="0"/>
                <a:sym typeface="Wingdings" pitchFamily="2" charset="2"/>
              </a:rPr>
              <a:t>1234+1j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sz="1481" spc="-46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#As</a:t>
            </a:r>
            <a:r>
              <a:rPr lang="en-US" altLang="en-US" sz="2222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expecte</a:t>
            </a:r>
            <a:r>
              <a:rPr lang="en-US" altLang="en-US" spc="-324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d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,</a:t>
            </a:r>
            <a:r>
              <a:rPr lang="en-US" altLang="en-US" sz="1111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!=</a:t>
            </a:r>
            <a:r>
              <a:rPr lang="en-US" altLang="en-US" sz="1852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185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i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s</a:t>
            </a:r>
            <a:r>
              <a:rPr lang="en-US" altLang="en-US" sz="1852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True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2D2DB9"/>
                </a:solidFill>
                <a:latin typeface="Lucida Console" panose="020B0609040504020204" pitchFamily="49" charset="0"/>
                <a:sym typeface="Wingdings" pitchFamily="2" charset="2"/>
              </a:rPr>
              <a:t>True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 print(</a:t>
            </a:r>
            <a:r>
              <a:rPr lang="en-US" altLang="en-US" dirty="0">
                <a:solidFill>
                  <a:srgbClr val="339933"/>
                </a:solidFill>
                <a:latin typeface="Lucida Console" panose="020B0609040504020204" pitchFamily="49" charset="0"/>
                <a:sym typeface="Wingdings" pitchFamily="2" charset="2"/>
              </a:rPr>
              <a:t>1234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==</a:t>
            </a:r>
            <a:r>
              <a:rPr lang="en-US" altLang="en-US" dirty="0">
                <a:solidFill>
                  <a:srgbClr val="FFC000"/>
                </a:solidFill>
                <a:latin typeface="Lucida Console" panose="020B0609040504020204" pitchFamily="49" charset="0"/>
                <a:sym typeface="Wingdings" pitchFamily="2" charset="2"/>
              </a:rPr>
              <a:t>1234+0j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sz="1481" spc="-46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#This</a:t>
            </a:r>
            <a:r>
              <a:rPr lang="en-US" altLang="en-US" sz="2222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is</a:t>
            </a:r>
            <a:r>
              <a:rPr lang="en-US" altLang="en-US" sz="2222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a</a:t>
            </a:r>
            <a:r>
              <a:rPr lang="en-US" altLang="en-US" sz="2222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special</a:t>
            </a:r>
            <a:r>
              <a:rPr lang="en-US" altLang="en-US" sz="2222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case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2D2DB9"/>
                </a:solidFill>
                <a:latin typeface="Lucida Console" panose="020B0609040504020204" pitchFamily="49" charset="0"/>
                <a:sym typeface="Wingdings" pitchFamily="2" charset="2"/>
              </a:rPr>
              <a:t>True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8F8F8"/>
                </a:solidFill>
                <a:latin typeface="Lucida Console" panose="020B0609040504020204" pitchFamily="49" charset="0"/>
                <a:sym typeface="Wingdings" pitchFamily="2" charset="2"/>
              </a:rPr>
              <a:t>&gt;&gt;&gt;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E5E5E5"/>
                </a:solidFill>
                <a:latin typeface="Lucida Console" panose="020B0609040504020204" pitchFamily="49" charset="0"/>
                <a:sym typeface="Wingdings" pitchFamily="2" charset="2"/>
              </a:rPr>
              <a:t>print(</a:t>
            </a:r>
            <a:r>
              <a:rPr lang="en-US" altLang="en-US" dirty="0">
                <a:solidFill>
                  <a:srgbClr val="EAF5EA"/>
                </a:solidFill>
                <a:latin typeface="Lucida Console" panose="020B0609040504020204" pitchFamily="49" charset="0"/>
                <a:sym typeface="Wingdings" pitchFamily="2" charset="2"/>
              </a:rPr>
              <a:t>1234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dirty="0">
                <a:solidFill>
                  <a:srgbClr val="FFF9E5"/>
                </a:solidFill>
                <a:latin typeface="Lucida Console" panose="020B0609040504020204" pitchFamily="49" charset="0"/>
                <a:sym typeface="Wingdings" pitchFamily="2" charset="2"/>
              </a:rPr>
              <a:t>1234+0j</a:t>
            </a:r>
            <a:r>
              <a:rPr lang="en-US" altLang="en-US" dirty="0">
                <a:solidFill>
                  <a:srgbClr val="E5E5E5"/>
                </a:solidFill>
                <a:latin typeface="Lucida Console" panose="020B0609040504020204" pitchFamily="49" charset="0"/>
                <a:sym typeface="Wingdings" pitchFamily="2" charset="2"/>
              </a:rPr>
              <a:t>)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#</a:t>
            </a:r>
            <a:r>
              <a:rPr lang="en-US" altLang="en-US" spc="-509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‘</a:t>
            </a:r>
            <a:r>
              <a:rPr lang="en-US" altLang="en-US" spc="-185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&lt;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’</a:t>
            </a:r>
            <a:r>
              <a:rPr lang="en-US" altLang="en-US" sz="1666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crashe</a:t>
            </a:r>
            <a:r>
              <a:rPr lang="en-US" altLang="en-US" spc="-231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s, </a:t>
            </a:r>
            <a:r>
              <a:rPr lang="en-US" altLang="en-US" spc="-46" dirty="0">
                <a:solidFill>
                  <a:srgbClr val="FF6969"/>
                </a:solidFill>
                <a:latin typeface="Lucida Console" panose="020B0609040504020204" pitchFamily="49" charset="0"/>
                <a:sym typeface="Wingdings" pitchFamily="2" charset="2"/>
              </a:rPr>
              <a:t>as expected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  <a:sym typeface="Wingdings" pitchFamily="2" charset="2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err="1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Traceback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 (most recent call last):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  File "&lt;</a:t>
            </a:r>
            <a:r>
              <a:rPr lang="en-US" altLang="en-US" dirty="0" err="1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stdin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dirty="0" err="1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TypeError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: '&lt;' not supported between instances of '</a:t>
            </a:r>
            <a:r>
              <a:rPr lang="en-US" altLang="en-US" dirty="0" err="1">
                <a:solidFill>
                  <a:srgbClr val="3D9E3D"/>
                </a:solidFill>
                <a:latin typeface="Lucida Console" panose="020B0609040504020204" pitchFamily="49" charset="0"/>
                <a:sym typeface="Wingdings" pitchFamily="2" charset="2"/>
              </a:rPr>
              <a:t>int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' and '</a:t>
            </a:r>
            <a:r>
              <a:rPr lang="en-US" altLang="en-US" dirty="0">
                <a:solidFill>
                  <a:srgbClr val="FFC000"/>
                </a:solidFill>
                <a:latin typeface="Lucida Console" panose="020B0609040504020204" pitchFamily="49" charset="0"/>
                <a:sym typeface="Wingdings" pitchFamily="2" charset="2"/>
              </a:rPr>
              <a:t>complex</a:t>
            </a:r>
            <a:r>
              <a:rPr lang="en-US" altLang="en-US" dirty="0">
                <a:solidFill>
                  <a:srgbClr val="FFAFAF"/>
                </a:solidFill>
                <a:latin typeface="Lucida Console" panose="020B0609040504020204" pitchFamily="49" charset="0"/>
                <a:sym typeface="Wingdings" pitchFamily="2" charset="2"/>
              </a:rPr>
              <a:t>'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3021" y="457"/>
            <a:ext cx="9735831" cy="1810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zh-TW" sz="4074" kern="0" dirty="0">
                <a:solidFill>
                  <a:srgbClr val="E5F0F9"/>
                </a:solidFill>
                <a:latin typeface="Elephant" panose="02020904090505020303" pitchFamily="18" charset="0"/>
              </a:rPr>
              <a:t>You </a:t>
            </a:r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can</a:t>
            </a:r>
            <a:r>
              <a:rPr lang="en-US" altLang="zh-TW" sz="4074" kern="0" dirty="0">
                <a:solidFill>
                  <a:srgbClr val="E5F0F9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i="1" kern="0" dirty="0">
                <a:solidFill>
                  <a:srgbClr val="0070C0"/>
                </a:solidFill>
                <a:latin typeface="Elephant" panose="02020904090505020303" pitchFamily="18" charset="0"/>
              </a:rPr>
              <a:t>equality-</a:t>
            </a:r>
            <a:r>
              <a:rPr lang="en-US" altLang="zh-TW" sz="1111" i="1" kern="0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i="1" kern="0" dirty="0">
                <a:solidFill>
                  <a:srgbClr val="0070C0"/>
                </a:solidFill>
                <a:latin typeface="Elephant" panose="02020904090505020303" pitchFamily="18" charset="0"/>
              </a:rPr>
              <a:t>compare</a:t>
            </a:r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kern="0" dirty="0">
                <a:solidFill>
                  <a:srgbClr val="E5F0F9"/>
                </a:solidFill>
                <a:latin typeface="Elephant" panose="02020904090505020303" pitchFamily="18" charset="0"/>
              </a:rPr>
              <a:t>types.</a:t>
            </a:r>
          </a:p>
          <a:p>
            <a:pPr>
              <a:lnSpc>
                <a:spcPct val="80000"/>
              </a:lnSpc>
              <a:spcBef>
                <a:spcPts val="833"/>
              </a:spcBef>
            </a:pPr>
            <a:r>
              <a:rPr lang="en-US" altLang="zh-TW" sz="3703" kern="0" dirty="0">
                <a:solidFill>
                  <a:srgbClr val="000000"/>
                </a:solidFill>
                <a:latin typeface="Elephant" panose="02020904090505020303" pitchFamily="18" charset="0"/>
              </a:rPr>
              <a:t>When I say “</a:t>
            </a:r>
            <a:r>
              <a:rPr lang="en-US" altLang="zh-TW" sz="3703" kern="0" dirty="0">
                <a:solidFill>
                  <a:srgbClr val="FF6969"/>
                </a:solidFill>
                <a:latin typeface="Elephant" panose="02020904090505020303" pitchFamily="18" charset="0"/>
              </a:rPr>
              <a:t>can</a:t>
            </a:r>
            <a:r>
              <a:rPr lang="en-US" altLang="zh-TW" sz="3703" kern="0" dirty="0">
                <a:solidFill>
                  <a:srgbClr val="000000"/>
                </a:solidFill>
                <a:latin typeface="Elephant" panose="02020904090505020303" pitchFamily="18" charset="0"/>
              </a:rPr>
              <a:t>”, I mean: </a:t>
            </a:r>
            <a:r>
              <a:rPr lang="en-US" altLang="zh-TW" sz="3703" kern="0" dirty="0">
                <a:solidFill>
                  <a:srgbClr val="FF6969"/>
                </a:solidFill>
                <a:latin typeface="Elephant" panose="02020904090505020303" pitchFamily="18" charset="0"/>
              </a:rPr>
              <a:t>it</a:t>
            </a:r>
            <a:r>
              <a:rPr lang="en-US" altLang="zh-TW" sz="3703" kern="0" dirty="0">
                <a:solidFill>
                  <a:srgbClr val="00000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3703" kern="0" dirty="0">
                <a:solidFill>
                  <a:srgbClr val="FF6969"/>
                </a:solidFill>
                <a:latin typeface="Elephant" panose="02020904090505020303" pitchFamily="18" charset="0"/>
              </a:rPr>
              <a:t>won’t crash</a:t>
            </a:r>
            <a:r>
              <a:rPr lang="en-US" altLang="zh-TW" sz="3703" kern="0" dirty="0">
                <a:solidFill>
                  <a:srgbClr val="000000"/>
                </a:solidFill>
                <a:latin typeface="Elephant" panose="02020904090505020303" pitchFamily="18" charset="0"/>
              </a:rPr>
              <a:t>.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altLang="zh-TW" sz="3703" kern="0" dirty="0">
                <a:solidFill>
                  <a:srgbClr val="3333CC"/>
                </a:solidFill>
                <a:latin typeface="Elephant" panose="02020904090505020303" pitchFamily="18" charset="0"/>
              </a:rPr>
              <a:t>But the equality answer is always False.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-283300" y="5546787"/>
            <a:ext cx="10063094" cy="1311215"/>
          </a:xfrm>
          <a:prstGeom prst="rect">
            <a:avLst/>
          </a:prstGeom>
          <a:solidFill>
            <a:srgbClr val="FFFFFF">
              <a:alpha val="8980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-278606" y="685802"/>
            <a:ext cx="10063094" cy="4479587"/>
          </a:xfrm>
          <a:prstGeom prst="rect">
            <a:avLst/>
          </a:prstGeom>
          <a:solidFill>
            <a:srgbClr val="FFFFFF">
              <a:alpha val="8980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464595" y="2057400"/>
            <a:ext cx="5257801" cy="1828800"/>
            <a:chOff x="2674937" y="2057400"/>
            <a:chExt cx="5257801" cy="1828800"/>
          </a:xfrm>
          <a:solidFill>
            <a:srgbClr val="FFFF99"/>
          </a:solidFill>
        </p:grpSpPr>
        <p:sp>
          <p:nvSpPr>
            <p:cNvPr id="10" name="Rounded Rectangular Callout 9"/>
            <p:cNvSpPr/>
            <p:nvPr/>
          </p:nvSpPr>
          <p:spPr bwMode="auto">
            <a:xfrm>
              <a:off x="2674938" y="2628900"/>
              <a:ext cx="5257800" cy="685800"/>
            </a:xfrm>
            <a:prstGeom prst="wedgeRoundRectCallout">
              <a:avLst>
                <a:gd name="adj1" fmla="val -26074"/>
                <a:gd name="adj2" fmla="val -52568"/>
                <a:gd name="adj3" fmla="val 16667"/>
              </a:avLst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600" dirty="0">
                  <a:solidFill>
                    <a:srgbClr val="3333CC"/>
                  </a:solidFill>
                  <a:latin typeface="Times New Roman" charset="0"/>
                </a:rPr>
                <a:t>does not imply</a:t>
              </a:r>
            </a:p>
          </p:txBody>
        </p:sp>
        <p:sp>
          <p:nvSpPr>
            <p:cNvPr id="3" name="Rounded Rectangular Callout 2"/>
            <p:cNvSpPr/>
            <p:nvPr/>
          </p:nvSpPr>
          <p:spPr bwMode="auto">
            <a:xfrm>
              <a:off x="2674937" y="2057400"/>
              <a:ext cx="5257800" cy="685800"/>
            </a:xfrm>
            <a:prstGeom prst="wedgeRoundRectCallout">
              <a:avLst>
                <a:gd name="adj1" fmla="val -22025"/>
                <a:gd name="adj2" fmla="val -264440"/>
                <a:gd name="adj3" fmla="val 16667"/>
              </a:avLst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600" dirty="0">
                  <a:solidFill>
                    <a:srgbClr val="3333CC"/>
                  </a:solidFill>
                  <a:latin typeface="Times New Roman" charset="0"/>
                </a:rPr>
                <a:t>“can equality-compare”</a:t>
              </a:r>
            </a:p>
          </p:txBody>
        </p:sp>
        <p:sp>
          <p:nvSpPr>
            <p:cNvPr id="11" name="Rounded Rectangular Callout 10"/>
            <p:cNvSpPr/>
            <p:nvPr/>
          </p:nvSpPr>
          <p:spPr bwMode="auto">
            <a:xfrm>
              <a:off x="2674938" y="3314700"/>
              <a:ext cx="5257800" cy="571500"/>
            </a:xfrm>
            <a:prstGeom prst="wedgeRoundRectCallout">
              <a:avLst>
                <a:gd name="adj1" fmla="val 22667"/>
                <a:gd name="adj2" fmla="val 290678"/>
                <a:gd name="adj3" fmla="val 16667"/>
              </a:avLst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91440" numCol="1" rtlCol="0" anchor="b" anchorCtr="1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600" dirty="0">
                  <a:solidFill>
                    <a:srgbClr val="3333CC"/>
                  </a:solidFill>
                  <a:latin typeface="Times New Roman" charset="0"/>
                </a:rPr>
                <a:t>“can </a:t>
              </a:r>
              <a:r>
                <a:rPr lang="en-US" sz="3600" b="1" dirty="0">
                  <a:solidFill>
                    <a:srgbClr val="3333CC"/>
                  </a:solidFill>
                  <a:latin typeface="Times New Roman" charset="0"/>
                </a:rPr>
                <a:t>value</a:t>
              </a:r>
              <a:r>
                <a:rPr lang="en-US" sz="3600" dirty="0">
                  <a:solidFill>
                    <a:srgbClr val="3333CC"/>
                  </a:solidFill>
                  <a:latin typeface="Times New Roman" charset="0"/>
                </a:rPr>
                <a:t>-compare”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952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4294" y="762457"/>
            <a:ext cx="10401300" cy="6095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lnSpc>
                <a:spcPct val="85000"/>
              </a:lnSpc>
              <a:spcBef>
                <a:spcPts val="1200"/>
              </a:spcBef>
              <a:spcAft>
                <a:spcPts val="555"/>
              </a:spcAft>
            </a:pPr>
            <a:r>
              <a:rPr lang="en-US" altLang="en-US" sz="2963" kern="0" dirty="0">
                <a:solidFill>
                  <a:srgbClr val="000000"/>
                </a:solidFill>
              </a:rPr>
              <a:t>Comparing different dictionaries doesn’t make sense. 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spcAft>
                <a:spcPts val="555"/>
              </a:spcAft>
              <a:buFont typeface="Wingdings" pitchFamily="2" charset="2"/>
              <a:buNone/>
            </a:pPr>
            <a:r>
              <a:rPr lang="en-US" altLang="en-US" sz="2963" kern="0" dirty="0">
                <a:solidFill>
                  <a:srgbClr val="FF0000"/>
                </a:solidFill>
              </a:rPr>
              <a:t>   </a:t>
            </a:r>
            <a:r>
              <a:rPr lang="en-US" altLang="en-US" sz="1000" kern="0" dirty="0">
                <a:solidFill>
                  <a:srgbClr val="FF0000"/>
                </a:solidFill>
              </a:rPr>
              <a:t> </a:t>
            </a:r>
            <a:r>
              <a:rPr lang="en-US" altLang="en-US" sz="2963" kern="0" dirty="0">
                <a:solidFill>
                  <a:srgbClr val="FF0000"/>
                </a:solidFill>
              </a:rPr>
              <a:t>I mean, how </a:t>
            </a:r>
            <a:r>
              <a:rPr lang="en-US" altLang="en-US" sz="2963" i="1" kern="0" dirty="0">
                <a:solidFill>
                  <a:srgbClr val="FF0000"/>
                </a:solidFill>
              </a:rPr>
              <a:t>should y</a:t>
            </a:r>
            <a:r>
              <a:rPr lang="en-US" altLang="en-US" sz="2963" kern="0" dirty="0">
                <a:solidFill>
                  <a:srgbClr val="FF0000"/>
                </a:solidFill>
              </a:rPr>
              <a:t>ou compare these?</a:t>
            </a:r>
          </a:p>
          <a:p>
            <a:pPr marL="0" indent="395288" eaLnBrk="1" fontAlgn="auto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None/>
            </a:pPr>
            <a:r>
              <a:rPr lang="en-US" altLang="en-US" sz="2200" kern="0" spc="-93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kern="0" spc="-93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 </a:t>
            </a:r>
            <a:r>
              <a:rPr lang="en-US" altLang="en-US" sz="2200" kern="0" spc="-93" dirty="0">
                <a:solidFill>
                  <a:srgbClr val="00B050"/>
                </a:solidFill>
                <a:latin typeface="Lucida Console" panose="020B0609040504020204" pitchFamily="49" charset="0"/>
                <a:cs typeface="+mn-cs"/>
              </a:rPr>
              <a:t>D1=</a:t>
            </a:r>
            <a:r>
              <a:rPr lang="en-US" altLang="en-US" sz="2200" kern="0" spc="-370" dirty="0">
                <a:solidFill>
                  <a:srgbClr val="00B050"/>
                </a:solidFill>
                <a:latin typeface="Lucida Console" panose="020B0609040504020204" pitchFamily="49" charset="0"/>
                <a:cs typeface="+mn-cs"/>
              </a:rPr>
              <a:t>{</a:t>
            </a:r>
            <a:r>
              <a:rPr lang="en-US" altLang="en-US" sz="2200" kern="0" spc="-93" dirty="0">
                <a:solidFill>
                  <a:srgbClr val="00B050"/>
                </a:solidFill>
                <a:latin typeface="Lucida Console" panose="020B0609040504020204" pitchFamily="49" charset="0"/>
                <a:cs typeface="+mn-cs"/>
              </a:rPr>
              <a:t>"banana</a:t>
            </a:r>
            <a:r>
              <a:rPr lang="en-US" altLang="en-US" sz="2200" kern="0" spc="-278" dirty="0">
                <a:solidFill>
                  <a:srgbClr val="00B050"/>
                </a:solidFill>
                <a:latin typeface="Lucida Console" panose="020B0609040504020204" pitchFamily="49" charset="0"/>
                <a:cs typeface="+mn-cs"/>
              </a:rPr>
              <a:t>":</a:t>
            </a:r>
            <a:r>
              <a:rPr lang="en-US" altLang="en-US" sz="2200" kern="0" spc="-93" dirty="0">
                <a:solidFill>
                  <a:srgbClr val="00B050"/>
                </a:solidFill>
                <a:latin typeface="Lucida Console" panose="020B0609040504020204" pitchFamily="49" charset="0"/>
                <a:cs typeface="+mn-cs"/>
              </a:rPr>
              <a:t>"</a:t>
            </a:r>
            <a:r>
              <a:rPr lang="ja-JP" altLang="en-US" sz="2200" kern="0" spc="-93" dirty="0">
                <a:solidFill>
                  <a:srgbClr val="00B050"/>
                </a:solidFill>
                <a:latin typeface="Lucida Console" panose="020B0609040504020204" pitchFamily="49" charset="0"/>
                <a:cs typeface="+mn-cs"/>
              </a:rPr>
              <a:t>バナナ</a:t>
            </a:r>
            <a:r>
              <a:rPr lang="en-US" altLang="en-US" sz="2200" kern="0" spc="-278" dirty="0">
                <a:solidFill>
                  <a:srgbClr val="00B050"/>
                </a:solidFill>
                <a:latin typeface="Lucida Console" panose="020B0609040504020204" pitchFamily="49" charset="0"/>
              </a:rPr>
              <a:t>",</a:t>
            </a:r>
            <a:r>
              <a:rPr lang="en-US" altLang="zh-TW" sz="2200" kern="0" spc="-93" dirty="0">
                <a:solidFill>
                  <a:srgbClr val="00B050"/>
                </a:solidFill>
                <a:latin typeface="Lucida Console" panose="020B0609040504020204" pitchFamily="49" charset="0"/>
                <a:cs typeface="+mn-cs"/>
              </a:rPr>
              <a:t>"</a:t>
            </a:r>
            <a:r>
              <a:rPr lang="en-US" altLang="en-US" sz="2200" kern="0" spc="-93" dirty="0">
                <a:solidFill>
                  <a:srgbClr val="00B050"/>
                </a:solidFill>
                <a:latin typeface="Lucida Console" panose="020B0609040504020204" pitchFamily="49" charset="0"/>
                <a:cs typeface="+mn-cs"/>
              </a:rPr>
              <a:t>durian</a:t>
            </a:r>
            <a:r>
              <a:rPr lang="en-US" altLang="en-US" sz="2200" kern="0" spc="-278" dirty="0">
                <a:solidFill>
                  <a:srgbClr val="00B050"/>
                </a:solidFill>
                <a:latin typeface="Lucida Console" panose="020B0609040504020204" pitchFamily="49" charset="0"/>
              </a:rPr>
              <a:t>":</a:t>
            </a:r>
            <a:r>
              <a:rPr lang="en-US" altLang="en-US" sz="2200" kern="0" spc="-93" dirty="0">
                <a:solidFill>
                  <a:srgbClr val="00B050"/>
                </a:solidFill>
                <a:latin typeface="Lucida Console" panose="020B0609040504020204" pitchFamily="49" charset="0"/>
                <a:cs typeface="+mn-cs"/>
              </a:rPr>
              <a:t>"</a:t>
            </a:r>
            <a:r>
              <a:rPr lang="ja-JP" altLang="en-US" sz="2200" kern="0" spc="-93" dirty="0">
                <a:solidFill>
                  <a:srgbClr val="00B050"/>
                </a:solidFill>
                <a:latin typeface="Lucida Console" panose="020B0609040504020204" pitchFamily="49" charset="0"/>
              </a:rPr>
              <a:t>ドリアン</a:t>
            </a:r>
            <a:r>
              <a:rPr lang="en-US" altLang="en-US" sz="2200" kern="0" spc="-278" dirty="0">
                <a:solidFill>
                  <a:srgbClr val="00B050"/>
                </a:solidFill>
                <a:latin typeface="Lucida Console" panose="020B0609040504020204" pitchFamily="49" charset="0"/>
              </a:rPr>
              <a:t>",</a:t>
            </a:r>
            <a:r>
              <a:rPr lang="en-US" altLang="zh-TW" sz="2200" kern="0" spc="-93" dirty="0">
                <a:solidFill>
                  <a:srgbClr val="00B050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2200" kern="0" spc="-93" dirty="0">
                <a:solidFill>
                  <a:srgbClr val="00B050"/>
                </a:solidFill>
                <a:latin typeface="Lucida Console" panose="020B0609040504020204" pitchFamily="49" charset="0"/>
              </a:rPr>
              <a:t>grapes</a:t>
            </a:r>
            <a:r>
              <a:rPr lang="en-US" altLang="en-US" sz="2200" kern="0" spc="-278" dirty="0">
                <a:solidFill>
                  <a:srgbClr val="00B050"/>
                </a:solidFill>
                <a:latin typeface="Lucida Console" panose="020B0609040504020204" pitchFamily="49" charset="0"/>
              </a:rPr>
              <a:t>":</a:t>
            </a:r>
            <a:r>
              <a:rPr lang="en-US" altLang="en-US" sz="2200" kern="0" spc="-93" dirty="0">
                <a:solidFill>
                  <a:srgbClr val="00B050"/>
                </a:solidFill>
                <a:latin typeface="Lucida Console" panose="020B0609040504020204" pitchFamily="49" charset="0"/>
              </a:rPr>
              <a:t>"</a:t>
            </a:r>
            <a:r>
              <a:rPr lang="ja-JP" altLang="en-US" sz="2200" kern="0" spc="-93" dirty="0">
                <a:solidFill>
                  <a:srgbClr val="00B050"/>
                </a:solidFill>
                <a:latin typeface="Lucida Console" panose="020B0609040504020204" pitchFamily="49" charset="0"/>
              </a:rPr>
              <a:t>ぶどう</a:t>
            </a:r>
            <a:r>
              <a:rPr lang="en-US" altLang="zh-TW" sz="2200" kern="0" spc="-93" dirty="0">
                <a:solidFill>
                  <a:srgbClr val="00B050"/>
                </a:solidFill>
                <a:latin typeface="Lucida Console" panose="020B0609040504020204" pitchFamily="49" charset="0"/>
                <a:cs typeface="+mn-cs"/>
              </a:rPr>
              <a:t>"}</a:t>
            </a:r>
          </a:p>
          <a:p>
            <a:pPr marL="0" indent="395288" eaLnBrk="1" fontAlgn="auto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None/>
            </a:pPr>
            <a:r>
              <a:rPr lang="en-US" altLang="en-US" sz="2200" kern="0" spc="-93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00" kern="0" spc="-93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 </a:t>
            </a:r>
            <a:r>
              <a:rPr lang="en-US" altLang="en-US" sz="2200" kern="0" spc="-93" dirty="0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D2=</a:t>
            </a:r>
            <a:r>
              <a:rPr lang="en-US" altLang="en-US" sz="2200" kern="0" spc="-370" dirty="0">
                <a:solidFill>
                  <a:srgbClr val="FFC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en-US" sz="2200" kern="0" spc="-93" dirty="0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"apple</a:t>
            </a:r>
            <a:r>
              <a:rPr lang="en-US" altLang="en-US" sz="2200" kern="0" spc="-278" dirty="0">
                <a:solidFill>
                  <a:srgbClr val="FFC000"/>
                </a:solidFill>
                <a:latin typeface="Lucida Console" panose="020B0609040504020204" pitchFamily="49" charset="0"/>
              </a:rPr>
              <a:t>":</a:t>
            </a:r>
            <a:r>
              <a:rPr lang="en-US" altLang="en-US" sz="2200" kern="0" spc="-93" dirty="0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"</a:t>
            </a:r>
            <a:r>
              <a:rPr lang="zh-TW" altLang="en-US" sz="2200" kern="0" spc="-93" dirty="0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蘋果</a:t>
            </a:r>
            <a:r>
              <a:rPr lang="en-US" altLang="en-US" sz="2200" kern="0" spc="-278" dirty="0">
                <a:solidFill>
                  <a:srgbClr val="FFC000"/>
                </a:solidFill>
                <a:latin typeface="Lucida Console" panose="020B0609040504020204" pitchFamily="49" charset="0"/>
              </a:rPr>
              <a:t>",</a:t>
            </a:r>
            <a:r>
              <a:rPr lang="en-US" altLang="zh-TW" sz="2200" kern="0" spc="-93" dirty="0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"</a:t>
            </a:r>
            <a:r>
              <a:rPr lang="en-US" altLang="en-US" sz="2200" kern="0" spc="-93" dirty="0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cherry</a:t>
            </a:r>
            <a:r>
              <a:rPr lang="en-US" altLang="en-US" sz="2200" kern="0" spc="-278" dirty="0">
                <a:solidFill>
                  <a:srgbClr val="FFC000"/>
                </a:solidFill>
                <a:latin typeface="Lucida Console" panose="020B0609040504020204" pitchFamily="49" charset="0"/>
              </a:rPr>
              <a:t>":</a:t>
            </a:r>
            <a:r>
              <a:rPr lang="en-US" altLang="en-US" sz="2200" kern="0" spc="-93" dirty="0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"</a:t>
            </a:r>
            <a:r>
              <a:rPr lang="zh-TW" altLang="en-US" sz="2200" kern="0" spc="-93" dirty="0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櫻桃</a:t>
            </a:r>
            <a:r>
              <a:rPr lang="en-US" altLang="en-US" sz="2200" kern="0" spc="-278" dirty="0">
                <a:solidFill>
                  <a:srgbClr val="FFC000"/>
                </a:solidFill>
                <a:latin typeface="Lucida Console" panose="020B0609040504020204" pitchFamily="49" charset="0"/>
              </a:rPr>
              <a:t>",</a:t>
            </a:r>
            <a:r>
              <a:rPr lang="en-US" altLang="zh-TW" sz="2200" kern="0" spc="-93" dirty="0">
                <a:solidFill>
                  <a:srgbClr val="FFC000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2200" kern="0" spc="-93" dirty="0">
                <a:solidFill>
                  <a:srgbClr val="FFC000"/>
                </a:solidFill>
                <a:latin typeface="Lucida Console" panose="020B0609040504020204" pitchFamily="49" charset="0"/>
              </a:rPr>
              <a:t>egg fruit</a:t>
            </a:r>
            <a:r>
              <a:rPr lang="en-US" altLang="en-US" sz="2200" kern="0" spc="-278" dirty="0">
                <a:solidFill>
                  <a:srgbClr val="FFC000"/>
                </a:solidFill>
                <a:latin typeface="Lucida Console" panose="020B0609040504020204" pitchFamily="49" charset="0"/>
              </a:rPr>
              <a:t>":</a:t>
            </a:r>
            <a:r>
              <a:rPr lang="en-US" altLang="en-US" sz="2200" kern="0" spc="-93" dirty="0">
                <a:solidFill>
                  <a:srgbClr val="FFC000"/>
                </a:solidFill>
                <a:latin typeface="Lucida Console" panose="020B0609040504020204" pitchFamily="49" charset="0"/>
              </a:rPr>
              <a:t>"</a:t>
            </a:r>
            <a:r>
              <a:rPr lang="zh-TW" altLang="en-US" sz="2200" kern="0" spc="-93" dirty="0">
                <a:solidFill>
                  <a:srgbClr val="FFC000"/>
                </a:solidFill>
                <a:latin typeface="Lucida Console" panose="020B0609040504020204" pitchFamily="49" charset="0"/>
              </a:rPr>
              <a:t>雞蛋水果</a:t>
            </a:r>
            <a:r>
              <a:rPr lang="en-US" altLang="zh-TW" sz="2200" kern="0" spc="-93" dirty="0">
                <a:solidFill>
                  <a:srgbClr val="FFC000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200" kern="0" spc="-93" dirty="0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}</a:t>
            </a:r>
          </a:p>
          <a:p>
            <a:pPr marL="0" indent="395288" eaLnBrk="1" fontAlgn="auto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None/>
            </a:pPr>
            <a:r>
              <a:rPr lang="en-US" altLang="en-US" sz="2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00" kern="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 </a:t>
            </a:r>
            <a:r>
              <a:rPr lang="en-US" altLang="en-US" sz="2200" b="1" kern="0" dirty="0">
                <a:solidFill>
                  <a:srgbClr val="00B050"/>
                </a:solidFill>
                <a:latin typeface="Lucida Console" panose="020B0609040504020204" pitchFamily="49" charset="0"/>
                <a:cs typeface="+mn-cs"/>
              </a:rPr>
              <a:t>D1</a:t>
            </a:r>
            <a:r>
              <a:rPr lang="en-US" altLang="en-US" sz="2200" kern="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&lt;</a:t>
            </a:r>
            <a:r>
              <a:rPr lang="en-US" altLang="en-US" sz="2200" b="1" kern="0" dirty="0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D2</a:t>
            </a:r>
          </a:p>
          <a:p>
            <a:pPr marL="0" indent="395288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None/>
            </a:pPr>
            <a:r>
              <a:rPr lang="en-US" altLang="en-US" sz="2200" kern="0" dirty="0" err="1">
                <a:solidFill>
                  <a:srgbClr val="FFAFAF"/>
                </a:solidFill>
                <a:cs typeface="+mn-cs"/>
              </a:rPr>
              <a:t>Traceback</a:t>
            </a:r>
            <a:r>
              <a:rPr lang="en-US" altLang="en-US" sz="2200" kern="0" dirty="0">
                <a:solidFill>
                  <a:srgbClr val="FFAFAF"/>
                </a:solidFill>
                <a:cs typeface="+mn-cs"/>
              </a:rPr>
              <a:t> (most recent call last):</a:t>
            </a:r>
          </a:p>
          <a:p>
            <a:pPr marL="0" indent="395288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None/>
            </a:pPr>
            <a:r>
              <a:rPr lang="en-US" altLang="en-US" sz="2200" kern="0" dirty="0">
                <a:solidFill>
                  <a:srgbClr val="FFAFAF"/>
                </a:solidFill>
                <a:cs typeface="+mn-cs"/>
              </a:rPr>
              <a:t>  File "&lt;</a:t>
            </a:r>
            <a:r>
              <a:rPr lang="en-US" altLang="en-US" sz="2200" kern="0" dirty="0" err="1">
                <a:solidFill>
                  <a:srgbClr val="FFAFAF"/>
                </a:solidFill>
                <a:cs typeface="+mn-cs"/>
              </a:rPr>
              <a:t>stdin</a:t>
            </a:r>
            <a:r>
              <a:rPr lang="en-US" altLang="en-US" sz="2200" kern="0" dirty="0">
                <a:solidFill>
                  <a:srgbClr val="FFAFAF"/>
                </a:solidFill>
                <a:cs typeface="+mn-cs"/>
              </a:rPr>
              <a:t>&gt;", line 1, in &lt;module&gt;</a:t>
            </a:r>
          </a:p>
          <a:p>
            <a:pPr marL="0" indent="395288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None/>
            </a:pPr>
            <a:r>
              <a:rPr lang="en-US" altLang="en-US" sz="2200" kern="0" dirty="0" err="1">
                <a:solidFill>
                  <a:srgbClr val="FFAFAF"/>
                </a:solidFill>
                <a:cs typeface="+mn-cs"/>
              </a:rPr>
              <a:t>TypeError</a:t>
            </a:r>
            <a:r>
              <a:rPr lang="en-US" altLang="en-US" sz="2200" kern="0" dirty="0">
                <a:solidFill>
                  <a:srgbClr val="FFAFAF"/>
                </a:solidFill>
                <a:cs typeface="+mn-cs"/>
              </a:rPr>
              <a:t>: </a:t>
            </a:r>
            <a:r>
              <a:rPr lang="en-US" altLang="en-US" sz="2200" kern="0" dirty="0">
                <a:solidFill>
                  <a:srgbClr val="FF0000"/>
                </a:solidFill>
                <a:cs typeface="+mn-cs"/>
              </a:rPr>
              <a:t>'&lt;' not supported </a:t>
            </a:r>
            <a:r>
              <a:rPr lang="en-US" altLang="en-US" sz="2200" kern="0" dirty="0">
                <a:solidFill>
                  <a:srgbClr val="FFAFAF"/>
                </a:solidFill>
                <a:cs typeface="+mn-cs"/>
              </a:rPr>
              <a:t>between instances of</a:t>
            </a:r>
            <a:r>
              <a:rPr lang="en-US" altLang="en-US" sz="2200" kern="0" dirty="0">
                <a:solidFill>
                  <a:srgbClr val="FF0000"/>
                </a:solidFill>
                <a:cs typeface="+mn-cs"/>
              </a:rPr>
              <a:t> '</a:t>
            </a:r>
            <a:r>
              <a:rPr lang="en-US" altLang="en-US" sz="2200" kern="0" dirty="0" err="1">
                <a:solidFill>
                  <a:srgbClr val="FF0000"/>
                </a:solidFill>
                <a:cs typeface="+mn-cs"/>
              </a:rPr>
              <a:t>dict</a:t>
            </a:r>
            <a:r>
              <a:rPr lang="en-US" altLang="en-US" sz="2200" kern="0" dirty="0">
                <a:solidFill>
                  <a:srgbClr val="FF0000"/>
                </a:solidFill>
                <a:cs typeface="+mn-cs"/>
              </a:rPr>
              <a:t>' and '</a:t>
            </a:r>
            <a:r>
              <a:rPr lang="en-US" altLang="en-US" sz="2200" kern="0" dirty="0" err="1">
                <a:solidFill>
                  <a:srgbClr val="FF0000"/>
                </a:solidFill>
                <a:cs typeface="+mn-cs"/>
              </a:rPr>
              <a:t>dict</a:t>
            </a:r>
            <a:r>
              <a:rPr lang="en-US" altLang="en-US" sz="2200" kern="0" dirty="0">
                <a:solidFill>
                  <a:srgbClr val="FF0000"/>
                </a:solidFill>
                <a:cs typeface="+mn-cs"/>
              </a:rPr>
              <a:t>'</a:t>
            </a:r>
          </a:p>
          <a:p>
            <a:pPr eaLnBrk="1" fontAlgn="auto" hangingPunct="1">
              <a:lnSpc>
                <a:spcPct val="85000"/>
              </a:lnSpc>
              <a:spcBef>
                <a:spcPts val="1200"/>
              </a:spcBef>
              <a:spcAft>
                <a:spcPts val="278"/>
              </a:spcAft>
            </a:pPr>
            <a:r>
              <a:rPr lang="en-US" altLang="en-US" sz="2963" kern="0" dirty="0">
                <a:solidFill>
                  <a:srgbClr val="000000"/>
                </a:solidFill>
                <a:cs typeface="+mn-cs"/>
              </a:rPr>
              <a:t>If you wanted to compare </a:t>
            </a:r>
            <a:r>
              <a:rPr lang="en-US" altLang="en-US" sz="2963" i="1" kern="0" dirty="0">
                <a:solidFill>
                  <a:srgbClr val="000000"/>
                </a:solidFill>
                <a:cs typeface="+mn-cs"/>
              </a:rPr>
              <a:t>sizes</a:t>
            </a:r>
            <a:r>
              <a:rPr lang="en-US" altLang="en-US" sz="2963" kern="0" dirty="0">
                <a:solidFill>
                  <a:srgbClr val="000000"/>
                </a:solidFill>
                <a:cs typeface="+mn-cs"/>
              </a:rPr>
              <a:t>, use </a:t>
            </a:r>
            <a:r>
              <a:rPr lang="en-US" altLang="en-US" sz="2963" kern="0" dirty="0" err="1">
                <a:solidFill>
                  <a:srgbClr val="000000"/>
                </a:solidFill>
                <a:cs typeface="+mn-cs"/>
              </a:rPr>
              <a:t>len</a:t>
            </a:r>
            <a:r>
              <a:rPr lang="en-US" altLang="en-US" sz="2963" kern="0" dirty="0">
                <a:solidFill>
                  <a:srgbClr val="000000"/>
                </a:solidFill>
                <a:cs typeface="+mn-cs"/>
              </a:rPr>
              <a:t>():</a:t>
            </a:r>
          </a:p>
          <a:p>
            <a:pPr marL="0" indent="395288" eaLnBrk="1" fontAlgn="auto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None/>
            </a:pPr>
            <a:r>
              <a:rPr lang="en-US" altLang="en-US" sz="2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+mn-cs"/>
              </a:rPr>
              <a:t>&gt;&gt;&gt;</a:t>
            </a:r>
            <a:r>
              <a:rPr lang="en-US" altLang="en-US" sz="2200" kern="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 </a:t>
            </a:r>
            <a:r>
              <a:rPr lang="en-US" altLang="en-US" sz="2200" kern="0" dirty="0" err="1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len</a:t>
            </a:r>
            <a:r>
              <a:rPr lang="en-US" altLang="en-US" sz="2200" kern="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(</a:t>
            </a:r>
            <a:r>
              <a:rPr lang="en-US" altLang="en-US" sz="2200" b="1" kern="0" dirty="0">
                <a:solidFill>
                  <a:srgbClr val="00B050"/>
                </a:solidFill>
                <a:latin typeface="Lucida Console" panose="020B0609040504020204" pitchFamily="49" charset="0"/>
                <a:cs typeface="+mn-cs"/>
              </a:rPr>
              <a:t>D1</a:t>
            </a:r>
            <a:r>
              <a:rPr lang="en-US" altLang="en-US" sz="2200" kern="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)&lt;</a:t>
            </a:r>
            <a:r>
              <a:rPr lang="en-US" altLang="en-US" sz="2200" kern="0" dirty="0" err="1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len</a:t>
            </a:r>
            <a:r>
              <a:rPr lang="en-US" altLang="en-US" sz="2200" kern="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(</a:t>
            </a:r>
            <a:r>
              <a:rPr lang="en-US" altLang="en-US" sz="2200" b="1" kern="0" dirty="0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D2</a:t>
            </a:r>
            <a:r>
              <a:rPr lang="en-US" altLang="en-US" sz="2200" kern="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)</a:t>
            </a:r>
          </a:p>
          <a:p>
            <a:pPr marL="0" indent="395288" eaLnBrk="1" fontAlgn="auto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None/>
            </a:pPr>
            <a:r>
              <a:rPr lang="en-US" altLang="en-US" sz="2200" kern="0" dirty="0">
                <a:solidFill>
                  <a:srgbClr val="FF0000"/>
                </a:solidFill>
                <a:latin typeface="Lucida Console" panose="020B0609040504020204" pitchFamily="49" charset="0"/>
                <a:cs typeface="+mn-cs"/>
              </a:rPr>
              <a:t>False</a:t>
            </a:r>
          </a:p>
          <a:p>
            <a:pPr eaLnBrk="1" fontAlgn="auto" hangingPunct="1">
              <a:lnSpc>
                <a:spcPct val="85000"/>
              </a:lnSpc>
              <a:spcBef>
                <a:spcPts val="1200"/>
              </a:spcBef>
              <a:spcAft>
                <a:spcPts val="555"/>
              </a:spcAft>
            </a:pPr>
            <a:r>
              <a:rPr lang="en-US" altLang="en-US" sz="2963" kern="0" dirty="0">
                <a:solidFill>
                  <a:srgbClr val="000000"/>
                </a:solidFill>
              </a:rPr>
              <a:t>If you wanted to compare the </a:t>
            </a:r>
            <a:r>
              <a:rPr lang="en-US" altLang="en-US" sz="2963" i="1" kern="0" dirty="0">
                <a:solidFill>
                  <a:srgbClr val="000000"/>
                </a:solidFill>
              </a:rPr>
              <a:t>smallest keys</a:t>
            </a:r>
            <a:r>
              <a:rPr lang="en-US" altLang="en-US" sz="2963" kern="0" dirty="0">
                <a:solidFill>
                  <a:srgbClr val="000000"/>
                </a:solidFill>
              </a:rPr>
              <a:t>, do this:</a:t>
            </a:r>
          </a:p>
          <a:p>
            <a:pPr marL="0" indent="395288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None/>
            </a:pPr>
            <a:r>
              <a:rPr lang="en-US" altLang="en-US" sz="2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kern="0" dirty="0">
                <a:solidFill>
                  <a:srgbClr val="3333CC"/>
                </a:solidFill>
                <a:latin typeface="Lucida Console" panose="020B0609040504020204" pitchFamily="49" charset="0"/>
                <a:cs typeface="+mn-cs"/>
              </a:rPr>
              <a:t> </a:t>
            </a:r>
            <a:r>
              <a:rPr lang="en-US" altLang="en-US" sz="2200" kern="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sorted(list(</a:t>
            </a:r>
            <a:r>
              <a:rPr lang="en-US" altLang="en-US" sz="2200" b="1" kern="0" dirty="0">
                <a:solidFill>
                  <a:srgbClr val="00B050"/>
                </a:solidFill>
                <a:latin typeface="Lucida Console" panose="020B0609040504020204" pitchFamily="49" charset="0"/>
                <a:cs typeface="+mn-cs"/>
              </a:rPr>
              <a:t>D1</a:t>
            </a:r>
            <a:r>
              <a:rPr lang="en-US" altLang="en-US" sz="2200" kern="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.keys()))&lt;sorted(list(</a:t>
            </a:r>
            <a:r>
              <a:rPr lang="en-US" altLang="en-US" sz="2200" b="1" kern="0" dirty="0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D2</a:t>
            </a:r>
            <a:r>
              <a:rPr lang="en-US" altLang="en-US" sz="2200" kern="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.keys()))</a:t>
            </a:r>
          </a:p>
          <a:p>
            <a:pPr marL="0" indent="395288" eaLnBrk="1" fontAlgn="auto" hangingPunct="1">
              <a:lnSpc>
                <a:spcPct val="85000"/>
              </a:lnSpc>
              <a:spcBef>
                <a:spcPts val="100"/>
              </a:spcBef>
              <a:spcAft>
                <a:spcPts val="0"/>
              </a:spcAft>
              <a:buClrTx/>
              <a:buFont typeface="Wingdings" pitchFamily="2" charset="2"/>
              <a:buNone/>
            </a:pPr>
            <a:r>
              <a:rPr lang="en-US" altLang="en-US" sz="2200" kern="0" dirty="0">
                <a:solidFill>
                  <a:srgbClr val="FF0000"/>
                </a:solidFill>
                <a:latin typeface="Lucida Console" panose="020B0609040504020204" pitchFamily="49" charset="0"/>
                <a:cs typeface="+mn-cs"/>
              </a:rPr>
              <a:t>False</a:t>
            </a:r>
          </a:p>
          <a:p>
            <a:pPr>
              <a:spcBef>
                <a:spcPts val="1200"/>
              </a:spcBef>
              <a:spcAft>
                <a:spcPts val="278"/>
              </a:spcAft>
            </a:pPr>
            <a:r>
              <a:rPr lang="en-US" altLang="en-US" sz="2963" kern="0" dirty="0">
                <a:solidFill>
                  <a:srgbClr val="000000"/>
                </a:solidFill>
                <a:cs typeface="+mn-cs"/>
              </a:rPr>
              <a:t>Remember that dictionaries are </a:t>
            </a:r>
            <a:r>
              <a:rPr lang="en-US" altLang="en-US" sz="2963" b="1" kern="0" dirty="0">
                <a:solidFill>
                  <a:srgbClr val="3333CC"/>
                </a:solidFill>
                <a:cs typeface="+mn-cs"/>
              </a:rPr>
              <a:t>unordered</a:t>
            </a:r>
            <a:r>
              <a:rPr lang="en-US" altLang="en-US" sz="2963" kern="0" dirty="0">
                <a:solidFill>
                  <a:srgbClr val="000000"/>
                </a:solidFill>
                <a:cs typeface="+mn-cs"/>
              </a:rPr>
              <a:t>, so:</a:t>
            </a:r>
          </a:p>
          <a:p>
            <a:pPr marL="0" indent="395288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None/>
            </a:pPr>
            <a:r>
              <a:rPr lang="en-US" altLang="en-US" sz="2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+mn-cs"/>
              </a:rPr>
              <a:t>&gt;&gt;&gt;</a:t>
            </a:r>
            <a:r>
              <a:rPr lang="en-US" altLang="en-US" sz="2200" kern="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 {</a:t>
            </a:r>
            <a:r>
              <a:rPr lang="en-US" altLang="en-US" sz="2200" b="1" kern="0" dirty="0">
                <a:solidFill>
                  <a:srgbClr val="00B050"/>
                </a:solidFill>
                <a:latin typeface="Lucida Console" panose="020B0609040504020204" pitchFamily="49" charset="0"/>
                <a:cs typeface="+mn-cs"/>
              </a:rPr>
              <a:t>1:2</a:t>
            </a:r>
            <a:r>
              <a:rPr lang="en-US" altLang="en-US" sz="2200" kern="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,</a:t>
            </a:r>
            <a:r>
              <a:rPr lang="en-US" altLang="en-US" sz="2200" b="1" kern="0" dirty="0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3:4</a:t>
            </a:r>
            <a:r>
              <a:rPr lang="en-US" altLang="en-US" sz="2200" kern="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}=={</a:t>
            </a:r>
            <a:r>
              <a:rPr lang="en-US" altLang="en-US" sz="2200" b="1" kern="0" dirty="0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3:4</a:t>
            </a:r>
            <a:r>
              <a:rPr lang="en-US" altLang="en-US" sz="2200" kern="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,</a:t>
            </a:r>
            <a:r>
              <a:rPr lang="en-US" altLang="en-US" sz="2200" b="1" kern="0" dirty="0">
                <a:solidFill>
                  <a:srgbClr val="00B050"/>
                </a:solidFill>
                <a:latin typeface="Lucida Console" panose="020B0609040504020204" pitchFamily="49" charset="0"/>
                <a:cs typeface="+mn-cs"/>
              </a:rPr>
              <a:t>1:2</a:t>
            </a:r>
            <a:r>
              <a:rPr lang="en-US" altLang="en-US" sz="2200" kern="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}</a:t>
            </a:r>
          </a:p>
          <a:p>
            <a:pPr marL="0" indent="395288" eaLnBrk="1" fontAlgn="auto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None/>
            </a:pPr>
            <a:r>
              <a:rPr lang="en-US" altLang="en-US" sz="2200" kern="0" dirty="0">
                <a:solidFill>
                  <a:srgbClr val="3333CC"/>
                </a:solidFill>
                <a:latin typeface="Lucida Console" panose="020B0609040504020204" pitchFamily="49" charset="0"/>
                <a:cs typeface="+mn-cs"/>
              </a:rPr>
              <a:t>True</a:t>
            </a:r>
            <a:endParaRPr lang="en-US" altLang="en-US" sz="2200" kern="0" dirty="0">
              <a:solidFill>
                <a:srgbClr val="000000"/>
              </a:solidFill>
              <a:latin typeface="Lucida Console" panose="020B0609040504020204" pitchFamily="49" charset="0"/>
              <a:cs typeface="+mn-cs"/>
            </a:endParaRPr>
          </a:p>
          <a:p>
            <a:pPr marL="0" indent="0" eaLnBrk="1" fontAlgn="auto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None/>
            </a:pPr>
            <a:endParaRPr lang="en-US" altLang="en-US" sz="2200" kern="0" dirty="0">
              <a:solidFill>
                <a:srgbClr val="3333CC"/>
              </a:solidFill>
              <a:latin typeface="Lucida Console" panose="020B0609040504020204" pitchFamily="49" charset="0"/>
              <a:cs typeface="+mn-cs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Why Not Compare Dictionaries</a:t>
            </a:r>
            <a:r>
              <a:rPr lang="en-US" altLang="zh-TW" sz="4444" kern="0" dirty="0">
                <a:solidFill>
                  <a:srgbClr val="0070C0"/>
                </a:solidFill>
                <a:latin typeface="Cooper Black" panose="0208090404030B020404" pitchFamily="18" charset="0"/>
              </a:rPr>
              <a:t>?</a:t>
            </a:r>
            <a:endParaRPr lang="en-US" altLang="zh-TW" sz="4074" kern="0" dirty="0">
              <a:solidFill>
                <a:srgbClr val="0070C0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37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4294" y="609600"/>
            <a:ext cx="100584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288925" indent="-288925">
              <a:spcBef>
                <a:spcPts val="1200"/>
              </a:spcBef>
            </a:pPr>
            <a:r>
              <a:rPr lang="en-US" altLang="en-US" sz="2800" kern="0" spc="-20" dirty="0"/>
              <a:t>Comparisons apply </a:t>
            </a:r>
            <a:r>
              <a:rPr lang="en-US" altLang="en-US" sz="2800" b="1" kern="0" spc="-20" dirty="0"/>
              <a:t>short-circuit evaluation </a:t>
            </a:r>
            <a:r>
              <a:rPr lang="en-US" altLang="en-US" sz="2800" kern="0" spc="-20" dirty="0"/>
              <a:t>(like C does):</a:t>
            </a:r>
          </a:p>
          <a:p>
            <a:pPr marL="625475" lvl="1" indent="-277813">
              <a:spcBef>
                <a:spcPts val="0"/>
              </a:spcBef>
            </a:pPr>
            <a:r>
              <a:rPr lang="en-US" altLang="en-US" sz="2600" kern="0" dirty="0"/>
              <a:t>Evaluate left to right, stopping when outcome is determined:</a:t>
            </a:r>
          </a:p>
          <a:p>
            <a:pPr marL="1082675" lvl="2">
              <a:spcBef>
                <a:spcPts val="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b="1" kern="0" dirty="0">
                <a:solidFill>
                  <a:srgbClr val="00B050"/>
                </a:solidFill>
              </a:rPr>
              <a:t>True</a:t>
            </a:r>
            <a:r>
              <a:rPr lang="en-US" altLang="en-US" sz="2400" kern="0" dirty="0">
                <a:solidFill>
                  <a:srgbClr val="00B050"/>
                </a:solidFill>
              </a:rPr>
              <a:t> </a:t>
            </a:r>
            <a:r>
              <a:rPr lang="en-US" altLang="en-US" sz="2400" b="1" kern="0" dirty="0"/>
              <a:t>or</a:t>
            </a:r>
            <a:r>
              <a:rPr lang="en-US" altLang="en-US" sz="2400" kern="0" dirty="0"/>
              <a:t> </a:t>
            </a:r>
            <a:r>
              <a:rPr lang="en-US" altLang="en-US" sz="2400" i="1" kern="0" dirty="0">
                <a:solidFill>
                  <a:srgbClr val="000000">
                    <a:lumMod val="50000"/>
                    <a:lumOff val="50000"/>
                  </a:srgbClr>
                </a:solidFill>
              </a:rPr>
              <a:t>Anything</a:t>
            </a:r>
            <a:r>
              <a:rPr lang="en-US" altLang="en-US" sz="2400" kern="0" dirty="0"/>
              <a:t> </a:t>
            </a:r>
            <a:r>
              <a:rPr lang="en-US" altLang="en-US" sz="2400" kern="0" dirty="0">
                <a:sym typeface="Symbol" panose="05050102010706020507" pitchFamily="18" charset="2"/>
              </a:rPr>
              <a:t> </a:t>
            </a:r>
            <a:r>
              <a:rPr lang="en-US" altLang="en-US" sz="2400" b="1" kern="0" dirty="0">
                <a:solidFill>
                  <a:srgbClr val="00B050"/>
                </a:solidFill>
                <a:sym typeface="Symbol" panose="05050102010706020507" pitchFamily="18" charset="2"/>
              </a:rPr>
              <a:t>True</a:t>
            </a:r>
          </a:p>
          <a:p>
            <a:pPr marL="1082675" lvl="2" indent="-227013">
              <a:spcBef>
                <a:spcPts val="0"/>
              </a:spcBef>
              <a:buClr>
                <a:srgbClr val="000000"/>
              </a:buClr>
            </a:pPr>
            <a:r>
              <a:rPr lang="en-US" altLang="en-US" sz="2400" b="1" kern="0" dirty="0">
                <a:solidFill>
                  <a:srgbClr val="FFC000"/>
                </a:solidFill>
              </a:rPr>
              <a:t>False</a:t>
            </a:r>
            <a:r>
              <a:rPr lang="en-US" altLang="en-US" sz="2400" kern="0" dirty="0"/>
              <a:t> </a:t>
            </a:r>
            <a:r>
              <a:rPr lang="en-US" altLang="en-US" sz="2400" b="1" kern="0" dirty="0"/>
              <a:t>and</a:t>
            </a:r>
            <a:r>
              <a:rPr lang="en-US" altLang="en-US" sz="2400" kern="0" dirty="0"/>
              <a:t> </a:t>
            </a:r>
            <a:r>
              <a:rPr lang="en-US" altLang="en-US" sz="2400" i="1" kern="0" dirty="0">
                <a:solidFill>
                  <a:srgbClr val="000000">
                    <a:lumMod val="50000"/>
                    <a:lumOff val="50000"/>
                  </a:srgbClr>
                </a:solidFill>
              </a:rPr>
              <a:t>Anything</a:t>
            </a:r>
            <a:r>
              <a:rPr lang="en-US" altLang="en-US" sz="2400" kern="0" dirty="0">
                <a:solidFill>
                  <a:srgbClr val="000000">
                    <a:lumMod val="50000"/>
                    <a:lumOff val="50000"/>
                  </a:srgbClr>
                </a:solidFill>
              </a:rPr>
              <a:t> </a:t>
            </a:r>
            <a:r>
              <a:rPr lang="en-US" altLang="en-US" sz="2400" kern="0" dirty="0">
                <a:sym typeface="Symbol" panose="05050102010706020507" pitchFamily="18" charset="2"/>
              </a:rPr>
              <a:t> </a:t>
            </a:r>
            <a:r>
              <a:rPr lang="en-US" altLang="en-US" sz="2400" b="1" kern="0" dirty="0">
                <a:solidFill>
                  <a:srgbClr val="FFC000"/>
                </a:solidFill>
                <a:sym typeface="Symbol" panose="05050102010706020507" pitchFamily="18" charset="2"/>
              </a:rPr>
              <a:t>False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14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junk</a:t>
            </a: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 err="1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Traceback</a:t>
            </a: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(most recent call last):</a:t>
            </a: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File "&lt;</a:t>
            </a:r>
            <a:r>
              <a:rPr lang="en-US" altLang="en-US" sz="2200" dirty="0" err="1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stdin</a:t>
            </a: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&gt;", line 1, in &lt;module&gt;</a:t>
            </a: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 err="1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NameError</a:t>
            </a: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: name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'junk' is not defined</a:t>
            </a:r>
            <a:endParaRPr lang="en-US" altLang="en-US" sz="2200" b="1" dirty="0">
              <a:solidFill>
                <a:srgbClr val="FF0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B05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True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junk</a:t>
            </a: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00B05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True</a:t>
            </a:r>
          </a:p>
          <a:p>
            <a:pPr lvl="1" indent="111125">
              <a:lnSpc>
                <a:spcPct val="7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B05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True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and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junk</a:t>
            </a: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 err="1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Traceback</a:t>
            </a: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(most recent call last):</a:t>
            </a: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File "&lt;</a:t>
            </a:r>
            <a:r>
              <a:rPr lang="en-US" altLang="en-US" sz="2200" dirty="0" err="1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stdin</a:t>
            </a: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&gt;", line 1, in &lt;module&gt;</a:t>
            </a: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 err="1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NameError</a:t>
            </a: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: name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'junk' is not defined</a:t>
            </a:r>
            <a:endParaRPr lang="en-US" altLang="en-US" sz="2200" b="1" dirty="0">
              <a:solidFill>
                <a:srgbClr val="FF0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</a:t>
            </a:r>
            <a:r>
              <a:rPr lang="en-US" altLang="en-US" sz="2200" b="1" dirty="0">
                <a:solidFill>
                  <a:srgbClr val="00B05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True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junk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 and </a:t>
            </a:r>
            <a:r>
              <a:rPr lang="en-US" altLang="en-US" sz="2200" b="1" dirty="0" err="1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morejunk</a:t>
            </a:r>
            <a:endParaRPr lang="en-US" altLang="en-US" sz="2200" b="1" dirty="0">
              <a:solidFill>
                <a:srgbClr val="FF0000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 err="1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Traceback</a:t>
            </a: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(most recent call last):</a:t>
            </a: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File "&lt;</a:t>
            </a:r>
            <a:r>
              <a:rPr lang="en-US" altLang="en-US" sz="2200" dirty="0" err="1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stdin</a:t>
            </a: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&gt;", line 1, in &lt;module&gt;</a:t>
            </a: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 err="1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NameError</a:t>
            </a: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: name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'</a:t>
            </a:r>
            <a:r>
              <a:rPr lang="en-US" altLang="en-US" sz="2200" b="1" dirty="0" err="1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morejunk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' is not defined</a:t>
            </a: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((</a:t>
            </a:r>
            <a:r>
              <a:rPr lang="en-US" altLang="en-US" sz="2200" b="1" dirty="0">
                <a:solidFill>
                  <a:srgbClr val="00B05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True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junk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 and </a:t>
            </a:r>
            <a:r>
              <a:rPr lang="en-US" altLang="en-US" sz="2200" b="1" dirty="0">
                <a:solidFill>
                  <a:srgbClr val="FFC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False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 and </a:t>
            </a:r>
            <a:r>
              <a:rPr lang="en-US" altLang="en-US" sz="2200" b="1" dirty="0" err="1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morejunk</a:t>
            </a:r>
            <a:endParaRPr lang="en-US" altLang="en-US" sz="2200" b="1" dirty="0">
              <a:solidFill>
                <a:srgbClr val="FF0000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FFC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False</a:t>
            </a:r>
          </a:p>
          <a:p>
            <a:pPr lvl="1" indent="111125">
              <a:lnSpc>
                <a:spcPct val="65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endParaRPr lang="en-US" altLang="en-US" sz="2200" kern="0" dirty="0">
              <a:solidFill>
                <a:srgbClr val="000000"/>
              </a:solidFill>
              <a:latin typeface="Lucida Console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Short-Circuit Evaluation 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02394" y="2357770"/>
            <a:ext cx="17907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endParaRPr lang="en-US" altLang="en-US" sz="2200" b="1" dirty="0">
              <a:solidFill>
                <a:srgbClr val="FF0000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</a:t>
            </a: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sz="2200" b="1" dirty="0">
              <a:solidFill>
                <a:srgbClr val="FF0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endParaRPr lang="en-US" altLang="en-US" sz="2200" b="1" dirty="0">
              <a:solidFill>
                <a:srgbClr val="FF0000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sz="2200" b="1" dirty="0">
              <a:solidFill>
                <a:srgbClr val="00B050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lvl="1" indent="111125">
              <a:lnSpc>
                <a:spcPct val="7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endParaRPr lang="en-US" altLang="en-US" sz="2200" b="1" dirty="0">
              <a:solidFill>
                <a:srgbClr val="FF0000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</a:t>
            </a: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</a:t>
            </a: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endParaRPr lang="en-US" altLang="en-US" sz="2200" b="1" dirty="0">
              <a:solidFill>
                <a:srgbClr val="FF0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endParaRPr lang="en-US" altLang="en-US" sz="2200" b="1" dirty="0">
              <a:solidFill>
                <a:srgbClr val="FF0000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endParaRPr lang="en-US" altLang="en-US" sz="2200" b="1" dirty="0">
              <a:solidFill>
                <a:srgbClr val="FF0000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lvl="1" indent="111125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endParaRPr lang="en-US" altLang="en-US" sz="2200" b="1" dirty="0">
              <a:solidFill>
                <a:srgbClr val="FF0000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</p:txBody>
      </p:sp>
      <p:sp>
        <p:nvSpPr>
          <p:cNvPr id="6" name="矩形圖說文字 5"/>
          <p:cNvSpPr/>
          <p:nvPr/>
        </p:nvSpPr>
        <p:spPr bwMode="auto">
          <a:xfrm>
            <a:off x="292895" y="3957970"/>
            <a:ext cx="3581399" cy="1223630"/>
          </a:xfrm>
          <a:prstGeom prst="wedgeRectCallout">
            <a:avLst>
              <a:gd name="adj1" fmla="val 55515"/>
              <a:gd name="adj2" fmla="val 126510"/>
            </a:avLst>
          </a:prstGeom>
          <a:solidFill>
            <a:srgbClr val="5B9B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effectLst/>
                <a:latin typeface="Times New Roman" charset="0"/>
              </a:rPr>
              <a:t>When parentheses (</a:t>
            </a:r>
            <a:r>
              <a:rPr lang="zh-TW" altLang="en-US" sz="2000" dirty="0" smtClean="0">
                <a:latin typeface="Times New Roman" charset="0"/>
              </a:rPr>
              <a:t>括號</a:t>
            </a:r>
            <a:r>
              <a:rPr lang="en-US" altLang="zh-TW" sz="2400" dirty="0" smtClean="0">
                <a:latin typeface="Times New Roman" charset="0"/>
              </a:rPr>
              <a:t>) </a:t>
            </a: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effectLst/>
                <a:latin typeface="Times New Roman" charset="0"/>
              </a:rPr>
              <a:t>are not used, the evaluation uses the precedence rules</a:t>
            </a:r>
            <a:endParaRPr kumimoji="0" lang="zh-TW" altLang="en-US" sz="2400" b="0" i="0" u="none" strike="noStrike" cap="none" normalizeH="0" baseline="0" dirty="0" smtClean="0">
              <a:ln>
                <a:noFill/>
              </a:ln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359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140494" y="914400"/>
          <a:ext cx="9448800" cy="5766816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629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**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Exponentiation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~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-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NOT, Positive (unary +), Negative (unary -) 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/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%  //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Multiply and divide-based operations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Addition and subtraction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&gt;&gt;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&lt;&lt;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Shifts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&amp;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^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XOR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|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4937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&lt;=  &lt;  &gt;  &gt;=  ==  !=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/>
                      </a:r>
                      <a:b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in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 not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Comparison tests, including tests for </a:t>
                      </a:r>
                      <a:b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 and identity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NOT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and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AND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or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729742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</a:rPr>
              <a:t>Operator Precedence (</a:t>
            </a:r>
            <a:r>
              <a:rPr lang="zh-TW" altLang="en-US" sz="4800" dirty="0">
                <a:solidFill>
                  <a:srgbClr val="0070C0"/>
                </a:solidFill>
                <a:latin typeface="Elephant" panose="02020904090505020303" pitchFamily="18" charset="0"/>
                <a:ea typeface="新細明體" panose="02020500000000000000" pitchFamily="18" charset="-120"/>
              </a:rPr>
              <a:t>优先权</a:t>
            </a:r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</a:rPr>
              <a:t>)</a:t>
            </a:r>
          </a:p>
        </p:txBody>
      </p:sp>
      <p:sp>
        <p:nvSpPr>
          <p:cNvPr id="8" name="矩形圖說文字 7"/>
          <p:cNvSpPr/>
          <p:nvPr/>
        </p:nvSpPr>
        <p:spPr bwMode="auto">
          <a:xfrm>
            <a:off x="292895" y="3957970"/>
            <a:ext cx="3581399" cy="1223630"/>
          </a:xfrm>
          <a:prstGeom prst="wedgeRectCallout">
            <a:avLst>
              <a:gd name="adj1" fmla="val 53997"/>
              <a:gd name="adj2" fmla="val -324059"/>
            </a:avLst>
          </a:prstGeom>
          <a:solidFill>
            <a:srgbClr val="5B9B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effectLst/>
                <a:latin typeface="Times New Roman" charset="0"/>
              </a:rPr>
              <a:t>When parentheses (</a:t>
            </a:r>
            <a:r>
              <a:rPr lang="zh-TW" altLang="en-US" sz="2000" dirty="0" smtClean="0">
                <a:latin typeface="Times New Roman" charset="0"/>
              </a:rPr>
              <a:t>括號</a:t>
            </a:r>
            <a:r>
              <a:rPr lang="en-US" altLang="zh-TW" sz="2400" dirty="0" smtClean="0">
                <a:latin typeface="Times New Roman" charset="0"/>
              </a:rPr>
              <a:t>) </a:t>
            </a: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effectLst/>
                <a:latin typeface="Times New Roman" charset="0"/>
              </a:rPr>
              <a:t>are not used, the evaluation uses the precedence rules</a:t>
            </a:r>
            <a:endParaRPr kumimoji="0" lang="zh-TW" altLang="en-US" sz="2400" b="0" i="0" u="none" strike="noStrike" cap="none" normalizeH="0" baseline="0" dirty="0" smtClean="0">
              <a:ln>
                <a:noFill/>
              </a:ln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02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147044"/>
              </p:ext>
            </p:extLst>
          </p:nvPr>
        </p:nvGraphicFramePr>
        <p:xfrm>
          <a:off x="140494" y="914400"/>
          <a:ext cx="9448800" cy="5766816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629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**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Exponentiation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~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-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BBAB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NOT, Positive (unary +), Negative (unary -) 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/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%  //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BBAB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Multiply and divide-based operations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Addition and subtraction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&gt;&gt;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&lt;&lt;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Shifts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&amp;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^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BBAB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XOR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|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BBAB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4937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&lt;=  &lt;  &gt;  &gt;=  ==  !=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/>
                      </a:r>
                      <a:b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in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BBAB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 not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Comparison tests, including tests for </a:t>
                      </a:r>
                      <a:b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 and identity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NOT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and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AND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or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729742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</a:rPr>
              <a:t>Operator Precedence (</a:t>
            </a:r>
            <a:r>
              <a:rPr lang="zh-TW" altLang="en-US" sz="4800" dirty="0">
                <a:solidFill>
                  <a:srgbClr val="0070C0"/>
                </a:solidFill>
                <a:latin typeface="Elephant" panose="02020904090505020303" pitchFamily="18" charset="0"/>
                <a:ea typeface="新細明體" panose="02020500000000000000" pitchFamily="18" charset="-120"/>
              </a:rPr>
              <a:t>优先权</a:t>
            </a:r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</a:rPr>
              <a:t>)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58"/>
          <a:stretch/>
        </p:blipFill>
        <p:spPr>
          <a:xfrm>
            <a:off x="5779294" y="1103117"/>
            <a:ext cx="3657601" cy="24782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矩形圖說文字 4"/>
          <p:cNvSpPr/>
          <p:nvPr/>
        </p:nvSpPr>
        <p:spPr bwMode="auto">
          <a:xfrm>
            <a:off x="292895" y="3957970"/>
            <a:ext cx="3581399" cy="1223630"/>
          </a:xfrm>
          <a:prstGeom prst="wedgeRectCallout">
            <a:avLst>
              <a:gd name="adj1" fmla="val 53997"/>
              <a:gd name="adj2" fmla="val -324059"/>
            </a:avLst>
          </a:prstGeom>
          <a:solidFill>
            <a:srgbClr val="5B9B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effectLst/>
                <a:latin typeface="Times New Roman" charset="0"/>
              </a:rPr>
              <a:t>When parentheses (</a:t>
            </a:r>
            <a:r>
              <a:rPr lang="zh-TW" altLang="en-US" sz="2000" dirty="0" smtClean="0">
                <a:latin typeface="Times New Roman" charset="0"/>
              </a:rPr>
              <a:t>括號</a:t>
            </a:r>
            <a:r>
              <a:rPr lang="en-US" altLang="zh-TW" sz="2400" dirty="0" smtClean="0">
                <a:latin typeface="Times New Roman" charset="0"/>
              </a:rPr>
              <a:t>) </a:t>
            </a: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effectLst/>
                <a:latin typeface="Times New Roman" charset="0"/>
              </a:rPr>
              <a:t>are not used, the evaluation uses the precedence rules </a:t>
            </a:r>
            <a:endParaRPr kumimoji="0" lang="zh-TW" altLang="en-US" sz="2400" b="0" i="0" u="none" strike="noStrike" cap="none" normalizeH="0" baseline="0" dirty="0" smtClean="0">
              <a:ln>
                <a:noFill/>
              </a:ln>
              <a:effectLst/>
              <a:latin typeface="Times New Roman" charset="0"/>
            </a:endParaRPr>
          </a:p>
        </p:txBody>
      </p:sp>
      <p:sp>
        <p:nvSpPr>
          <p:cNvPr id="7" name="矩形圖說文字 6"/>
          <p:cNvSpPr/>
          <p:nvPr/>
        </p:nvSpPr>
        <p:spPr bwMode="auto">
          <a:xfrm>
            <a:off x="3950494" y="3957970"/>
            <a:ext cx="1447800" cy="1223630"/>
          </a:xfrm>
          <a:prstGeom prst="wedgeRectCallout">
            <a:avLst>
              <a:gd name="adj1" fmla="val -177567"/>
              <a:gd name="adj2" fmla="val 115353"/>
            </a:avLst>
          </a:prstGeom>
          <a:solidFill>
            <a:srgbClr val="5B9B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and</a:t>
            </a: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effectLst/>
                <a:latin typeface="Times New Roman" charset="0"/>
              </a:rPr>
              <a:t> takes</a:t>
            </a:r>
            <a:br>
              <a:rPr kumimoji="0" lang="en-US" altLang="zh-TW" sz="2400" b="0" i="0" u="none" strike="noStrike" cap="none" normalizeH="0" baseline="0" dirty="0" smtClean="0">
                <a:ln>
                  <a:noFill/>
                </a:ln>
                <a:effectLst/>
                <a:latin typeface="Times New Roman" charset="0"/>
              </a:rPr>
            </a:b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effectLst/>
                <a:latin typeface="Times New Roman" charset="0"/>
              </a:rPr>
              <a:t>precedence</a:t>
            </a:r>
            <a:br>
              <a:rPr kumimoji="0" lang="en-US" altLang="zh-TW" sz="2400" b="0" i="0" u="none" strike="noStrike" cap="none" normalizeH="0" baseline="0" dirty="0" smtClean="0">
                <a:ln>
                  <a:noFill/>
                </a:ln>
                <a:effectLst/>
                <a:latin typeface="Times New Roman" charset="0"/>
              </a:rPr>
            </a:b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effectLst/>
                <a:latin typeface="Times New Roman" charset="0"/>
              </a:rPr>
              <a:t>over </a:t>
            </a: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endParaRPr kumimoji="0" lang="zh-TW" altLang="en-US" sz="2400" b="0" i="0" u="none" strike="noStrike" cap="none" normalizeH="0" baseline="0" dirty="0" smtClean="0">
              <a:ln>
                <a:noFill/>
              </a:ln>
              <a:effectLst/>
              <a:latin typeface="Verdana" panose="020B0604030504040204" pitchFamily="34" charset="0"/>
            </a:endParaRPr>
          </a:p>
        </p:txBody>
      </p:sp>
      <p:sp>
        <p:nvSpPr>
          <p:cNvPr id="8" name="矩形圖說文字 7"/>
          <p:cNvSpPr/>
          <p:nvPr/>
        </p:nvSpPr>
        <p:spPr bwMode="auto">
          <a:xfrm>
            <a:off x="5474494" y="3957970"/>
            <a:ext cx="3886201" cy="1223630"/>
          </a:xfrm>
          <a:prstGeom prst="wedgeRectCallout">
            <a:avLst>
              <a:gd name="adj1" fmla="val -2134"/>
              <a:gd name="adj2" fmla="val -132842"/>
            </a:avLst>
          </a:prstGeom>
          <a:solidFill>
            <a:srgbClr val="5B9B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effectLst/>
                <a:latin typeface="Times New Roman" charset="0"/>
              </a:rPr>
              <a:t>which is what</a:t>
            </a:r>
            <a:r>
              <a:rPr kumimoji="0" lang="en-US" altLang="zh-TW" sz="2400" b="0" i="0" u="none" strike="noStrike" cap="none" normalizeH="0" dirty="0" smtClean="0">
                <a:ln>
                  <a:noFill/>
                </a:ln>
                <a:effectLst/>
                <a:latin typeface="Times New Roman" charset="0"/>
              </a:rPr>
              <a:t> you</a:t>
            </a:r>
            <a:r>
              <a:rPr lang="en-US" altLang="zh-TW" sz="2400" dirty="0" smtClean="0">
                <a:latin typeface="Times New Roman" charset="0"/>
              </a:rPr>
              <a:t>’d expect, based on your</a:t>
            </a: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effectLst/>
                <a:latin typeface="Times New Roman" charset="0"/>
              </a:rPr>
              <a:t> past experience with Boolean algebra…</a:t>
            </a:r>
            <a:endParaRPr kumimoji="0" lang="zh-TW" altLang="en-US" sz="2400" b="0" i="0" u="none" strike="noStrike" cap="none" normalizeH="0" baseline="0" dirty="0" smtClean="0">
              <a:ln>
                <a:noFill/>
              </a:ln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13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8256" y="609600"/>
            <a:ext cx="10333038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285750" indent="-285750">
              <a:lnSpc>
                <a:spcPct val="90000"/>
              </a:lnSpc>
              <a:spcBef>
                <a:spcPts val="1200"/>
              </a:spcBef>
            </a:pPr>
            <a:r>
              <a:rPr lang="en-US" altLang="en-US" sz="2800" dirty="0"/>
              <a:t>When</a:t>
            </a:r>
            <a:r>
              <a:rPr lang="en-US" altLang="en-US" sz="2400" dirty="0"/>
              <a:t> </a:t>
            </a:r>
            <a:r>
              <a:rPr lang="en-US" altLang="en-US" sz="2800" b="1" spc="-100" dirty="0">
                <a:solidFill>
                  <a:srgbClr val="0070C0"/>
                </a:solidFill>
              </a:rPr>
              <a:t>non-</a:t>
            </a:r>
            <a:r>
              <a:rPr lang="en-US" altLang="en-US" sz="2800" b="1" spc="-100" dirty="0" err="1">
                <a:solidFill>
                  <a:srgbClr val="0070C0"/>
                </a:solidFill>
              </a:rPr>
              <a:t>booleans</a:t>
            </a:r>
            <a:r>
              <a:rPr lang="en-US" altLang="en-US" sz="2400" dirty="0"/>
              <a:t> </a:t>
            </a:r>
            <a:r>
              <a:rPr lang="en-US" altLang="en-US" sz="2800" dirty="0"/>
              <a:t>are</a:t>
            </a:r>
            <a:r>
              <a:rPr lang="en-US" altLang="en-US" sz="2400" dirty="0"/>
              <a:t> </a:t>
            </a:r>
            <a:r>
              <a:rPr lang="en-US" altLang="en-US" sz="2800" b="1" spc="-100" dirty="0">
                <a:solidFill>
                  <a:srgbClr val="7030A0"/>
                </a:solidFill>
              </a:rPr>
              <a:t>used</a:t>
            </a:r>
            <a:r>
              <a:rPr lang="en-US" altLang="en-US" sz="2400" b="1" spc="-100" dirty="0">
                <a:solidFill>
                  <a:srgbClr val="7030A0"/>
                </a:solidFill>
              </a:rPr>
              <a:t> </a:t>
            </a:r>
            <a:r>
              <a:rPr lang="en-US" altLang="en-US" sz="2800" b="1" spc="-100" dirty="0">
                <a:solidFill>
                  <a:srgbClr val="7030A0"/>
                </a:solidFill>
              </a:rPr>
              <a:t>as </a:t>
            </a:r>
            <a:r>
              <a:rPr lang="en-US" altLang="en-US" sz="2800" b="1" spc="-100" dirty="0" err="1">
                <a:solidFill>
                  <a:srgbClr val="7030A0"/>
                </a:solidFill>
              </a:rPr>
              <a:t>booleans</a:t>
            </a:r>
            <a:r>
              <a:rPr lang="en-US" altLang="en-US" sz="2800" dirty="0"/>
              <a:t>,</a:t>
            </a:r>
            <a:r>
              <a:rPr lang="en-US" altLang="en-US" sz="2400" dirty="0"/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400" dirty="0"/>
              <a:t> </a:t>
            </a:r>
            <a:r>
              <a:rPr lang="en-US" altLang="en-US" sz="2800" dirty="0"/>
              <a:t>is</a:t>
            </a:r>
            <a:r>
              <a:rPr lang="en-US" altLang="en-US" sz="2400" dirty="0"/>
              <a:t> </a:t>
            </a:r>
            <a:r>
              <a:rPr lang="en-US" altLang="en-US" sz="2800" dirty="0"/>
              <a:t>treated</a:t>
            </a:r>
            <a:r>
              <a:rPr lang="en-US" altLang="en-US" sz="2400" dirty="0"/>
              <a:t> </a:t>
            </a:r>
            <a:r>
              <a:rPr lang="en-US" altLang="en-US" sz="2800" dirty="0"/>
              <a:t>as </a:t>
            </a:r>
            <a:r>
              <a:rPr lang="en-US" altLang="en-US" sz="2800" dirty="0">
                <a:solidFill>
                  <a:schemeClr val="tx1"/>
                </a:solidFill>
              </a:rPr>
              <a:t>False</a:t>
            </a:r>
            <a:r>
              <a:rPr lang="en-US" altLang="en-US" sz="2800" dirty="0">
                <a:solidFill>
                  <a:srgbClr val="FFC000"/>
                </a:solidFill>
              </a:rPr>
              <a:t> </a:t>
            </a:r>
            <a:r>
              <a:rPr lang="en-US" altLang="en-US" sz="2800" dirty="0"/>
              <a:t>(</a:t>
            </a:r>
            <a:r>
              <a:rPr lang="en-US" altLang="en-US" dirty="0"/>
              <a:t>just like in C++, </a:t>
            </a:r>
            <a:r>
              <a:rPr lang="en-US" altLang="en-US" dirty="0" err="1"/>
              <a:t>eg</a:t>
            </a:r>
            <a:r>
              <a:rPr lang="en-US" altLang="en-US" dirty="0"/>
              <a:t>:  </a:t>
            </a:r>
            <a:r>
              <a:rPr lang="en-US" altLang="en-US" i="1" dirty="0" err="1"/>
              <a:t>cin</a:t>
            </a:r>
            <a:r>
              <a:rPr lang="en-US" altLang="en-US" i="1" dirty="0"/>
              <a:t>&gt;&gt;x; if (</a:t>
            </a:r>
            <a:r>
              <a:rPr lang="en-US" altLang="en-US" b="1" i="1" dirty="0">
                <a:solidFill>
                  <a:srgbClr val="7030A0"/>
                </a:solidFill>
              </a:rPr>
              <a:t>!</a:t>
            </a:r>
            <a:r>
              <a:rPr lang="en-US" altLang="en-US" i="1" dirty="0">
                <a:solidFill>
                  <a:srgbClr val="FF0000"/>
                </a:solidFill>
              </a:rPr>
              <a:t>x</a:t>
            </a:r>
            <a:r>
              <a:rPr lang="en-US" altLang="en-US" i="1" dirty="0"/>
              <a:t>)</a:t>
            </a:r>
            <a:r>
              <a:rPr lang="en-US" altLang="en-US" i="1" dirty="0" err="1"/>
              <a:t>cout</a:t>
            </a:r>
            <a:r>
              <a:rPr lang="en-US" altLang="en-US" i="1" dirty="0"/>
              <a:t>&lt;&lt; "</a:t>
            </a:r>
            <a:r>
              <a:rPr lang="en-US" altLang="en-US" i="1" dirty="0">
                <a:solidFill>
                  <a:srgbClr val="FFC000"/>
                </a:solidFill>
              </a:rPr>
              <a:t>It was 0.</a:t>
            </a:r>
            <a:r>
              <a:rPr lang="en-US" altLang="en-US" i="1" dirty="0"/>
              <a:t>";</a:t>
            </a:r>
            <a:r>
              <a:rPr lang="en-US" altLang="en-US" sz="2800" dirty="0"/>
              <a:t>)</a:t>
            </a:r>
          </a:p>
          <a:p>
            <a:pPr lvl="1">
              <a:lnSpc>
                <a:spcPct val="7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 </a:t>
            </a:r>
            <a:r>
              <a:rPr lang="en-US" altLang="en-US" sz="2200" b="1" dirty="0" err="1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00B05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True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 </a:t>
            </a:r>
            <a:r>
              <a:rPr lang="en-US" altLang="en-US" sz="2200" b="1" dirty="0" err="1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0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FFC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False</a:t>
            </a:r>
          </a:p>
          <a:p>
            <a:pPr marL="285750" indent="-285750">
              <a:spcBef>
                <a:spcPts val="900"/>
              </a:spcBef>
            </a:pPr>
            <a:r>
              <a:rPr lang="en-US" altLang="en-US" sz="2800" spc="-50" dirty="0"/>
              <a:t>G</a:t>
            </a:r>
            <a:r>
              <a:rPr lang="en-US" altLang="en-US" sz="2800" spc="-70" dirty="0"/>
              <a:t>oin</a:t>
            </a:r>
            <a:r>
              <a:rPr lang="en-US" altLang="en-US" sz="2800" spc="-50" dirty="0"/>
              <a:t>g</a:t>
            </a:r>
            <a:r>
              <a:rPr lang="en-US" altLang="en-US" spc="-50" dirty="0"/>
              <a:t> </a:t>
            </a:r>
            <a:r>
              <a:rPr lang="en-US" altLang="en-US" sz="2800" spc="-50" dirty="0"/>
              <a:t>b</a:t>
            </a:r>
            <a:r>
              <a:rPr lang="en-US" altLang="en-US" sz="2800" spc="-110" dirty="0"/>
              <a:t>ey</a:t>
            </a:r>
            <a:r>
              <a:rPr lang="en-US" altLang="en-US" sz="2800" spc="-70" dirty="0"/>
              <a:t>on</a:t>
            </a:r>
            <a:r>
              <a:rPr lang="en-US" altLang="en-US" sz="2800" spc="-50" dirty="0"/>
              <a:t>d</a:t>
            </a:r>
            <a:r>
              <a:rPr lang="en-US" altLang="en-US" sz="2400" spc="-50" dirty="0"/>
              <a:t> </a:t>
            </a:r>
            <a:r>
              <a:rPr lang="en-US" altLang="en-US" sz="2800" spc="-160" dirty="0">
                <a:solidFill>
                  <a:srgbClr val="000000"/>
                </a:solidFill>
              </a:rPr>
              <a:t>C</a:t>
            </a:r>
            <a:r>
              <a:rPr lang="en-US" altLang="en-US" spc="-50" dirty="0">
                <a:solidFill>
                  <a:srgbClr val="000000"/>
                </a:solidFill>
              </a:rPr>
              <a:t>+</a:t>
            </a:r>
            <a:r>
              <a:rPr lang="en-US" altLang="en-US" spc="-460" dirty="0">
                <a:solidFill>
                  <a:srgbClr val="000000"/>
                </a:solidFill>
              </a:rPr>
              <a:t>+</a:t>
            </a:r>
            <a:r>
              <a:rPr lang="en-US" altLang="en-US" sz="2800" spc="-50" dirty="0">
                <a:solidFill>
                  <a:srgbClr val="000000"/>
                </a:solidFill>
              </a:rPr>
              <a:t>,</a:t>
            </a:r>
            <a:r>
              <a:rPr lang="en-US" altLang="en-US" sz="2400" spc="-50" dirty="0">
                <a:solidFill>
                  <a:srgbClr val="000000"/>
                </a:solidFill>
              </a:rPr>
              <a:t> </a:t>
            </a:r>
            <a:r>
              <a:rPr lang="en-US" altLang="en-US" sz="2800" spc="-50" dirty="0">
                <a:solidFill>
                  <a:srgbClr val="000000"/>
                </a:solidFill>
              </a:rPr>
              <a:t>Pyt</a:t>
            </a:r>
            <a:r>
              <a:rPr lang="en-US" altLang="en-US" sz="2800" spc="-70" dirty="0">
                <a:solidFill>
                  <a:srgbClr val="000000"/>
                </a:solidFill>
              </a:rPr>
              <a:t>hon</a:t>
            </a:r>
            <a:r>
              <a:rPr lang="en-US" altLang="en-US" sz="2400" spc="-70" dirty="0">
                <a:solidFill>
                  <a:srgbClr val="000000"/>
                </a:solidFill>
              </a:rPr>
              <a:t> </a:t>
            </a:r>
            <a:r>
              <a:rPr lang="en-US" altLang="en-US" sz="2800" spc="-70" dirty="0">
                <a:solidFill>
                  <a:srgbClr val="000000"/>
                </a:solidFill>
              </a:rPr>
              <a:t>als</a:t>
            </a:r>
            <a:r>
              <a:rPr lang="en-US" altLang="en-US" sz="2800" spc="-50" dirty="0">
                <a:solidFill>
                  <a:srgbClr val="000000"/>
                </a:solidFill>
              </a:rPr>
              <a:t>o</a:t>
            </a:r>
            <a:r>
              <a:rPr lang="en-US" altLang="en-US" sz="2400" spc="-50" dirty="0">
                <a:solidFill>
                  <a:srgbClr val="000000"/>
                </a:solidFill>
              </a:rPr>
              <a:t> </a:t>
            </a:r>
            <a:r>
              <a:rPr lang="en-US" altLang="en-US" sz="2800" spc="-50" dirty="0">
                <a:solidFill>
                  <a:srgbClr val="000000"/>
                </a:solidFill>
              </a:rPr>
              <a:t>treats</a:t>
            </a:r>
            <a:r>
              <a:rPr lang="en-US" altLang="en-US" sz="2400" spc="-50" dirty="0">
                <a:solidFill>
                  <a:srgbClr val="000000"/>
                </a:solidFill>
              </a:rPr>
              <a:t> </a:t>
            </a:r>
            <a:r>
              <a:rPr lang="en-US" altLang="en-US" sz="2800" spc="-50" dirty="0">
                <a:solidFill>
                  <a:srgbClr val="FF0000"/>
                </a:solidFill>
              </a:rPr>
              <a:t>empty</a:t>
            </a:r>
            <a:r>
              <a:rPr lang="en-US" altLang="en-US" sz="2000" spc="-50" dirty="0">
                <a:solidFill>
                  <a:srgbClr val="FF0000"/>
                </a:solidFill>
              </a:rPr>
              <a:t> </a:t>
            </a:r>
            <a:r>
              <a:rPr lang="en-US" altLang="en-US" sz="2800" spc="-50" dirty="0">
                <a:solidFill>
                  <a:srgbClr val="FF0000"/>
                </a:solidFill>
              </a:rPr>
              <a:t>things</a:t>
            </a:r>
            <a:r>
              <a:rPr lang="en-US" altLang="en-US" sz="2400" spc="-50" dirty="0">
                <a:solidFill>
                  <a:srgbClr val="FF0000"/>
                </a:solidFill>
              </a:rPr>
              <a:t> </a:t>
            </a:r>
            <a:r>
              <a:rPr lang="en-US" altLang="en-US" sz="2800" spc="-50" dirty="0">
                <a:solidFill>
                  <a:srgbClr val="000000"/>
                </a:solidFill>
              </a:rPr>
              <a:t>as </a:t>
            </a:r>
            <a:r>
              <a:rPr lang="en-US" altLang="en-US" sz="2800" spc="-210" dirty="0">
                <a:solidFill>
                  <a:srgbClr val="FFC000"/>
                </a:solidFill>
              </a:rPr>
              <a:t>F</a:t>
            </a:r>
            <a:r>
              <a:rPr lang="en-US" altLang="en-US" sz="2800" spc="-50" dirty="0">
                <a:solidFill>
                  <a:srgbClr val="FFC000"/>
                </a:solidFill>
              </a:rPr>
              <a:t>als</a:t>
            </a:r>
            <a:r>
              <a:rPr lang="en-US" altLang="en-US" sz="2800" spc="-100" dirty="0">
                <a:solidFill>
                  <a:srgbClr val="FFC000"/>
                </a:solidFill>
              </a:rPr>
              <a:t>e</a:t>
            </a:r>
            <a:r>
              <a:rPr lang="en-US" altLang="en-US" sz="2800" spc="-50" dirty="0"/>
              <a:t>: </a:t>
            </a:r>
          </a:p>
          <a:p>
            <a:pPr lvl="1">
              <a:lnSpc>
                <a:spcPct val="70000"/>
              </a:lnSpc>
              <a:spcBef>
                <a:spcPts val="30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 </a:t>
            </a:r>
            <a:r>
              <a:rPr lang="en-US" altLang="en-US" sz="2200" b="1" dirty="0" err="1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""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[]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()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{}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set()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FFC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False</a:t>
            </a:r>
          </a:p>
          <a:p>
            <a:pPr marL="285750" indent="-285750">
              <a:spcBef>
                <a:spcPts val="900"/>
              </a:spcBef>
            </a:pPr>
            <a:r>
              <a:rPr lang="en-US" altLang="en-US" sz="2800" spc="-100" dirty="0" smtClean="0"/>
              <a:t>No</a:t>
            </a:r>
            <a:r>
              <a:rPr lang="en-US" altLang="en-US" sz="2800" spc="-80" dirty="0" smtClean="0"/>
              <a:t>n-</a:t>
            </a:r>
            <a:r>
              <a:rPr lang="en-US" altLang="en-US" sz="2800" spc="-80" dirty="0" err="1" smtClean="0"/>
              <a:t>boolean</a:t>
            </a:r>
            <a:r>
              <a:rPr lang="en-US" altLang="en-US" sz="2800" spc="-50" dirty="0" err="1" smtClean="0"/>
              <a:t>s</a:t>
            </a:r>
            <a:r>
              <a:rPr lang="en-US" altLang="en-US" sz="1800" dirty="0" smtClean="0"/>
              <a:t> </a:t>
            </a:r>
            <a:r>
              <a:rPr lang="en-US" altLang="en-US" sz="2800" b="1" i="1" spc="-100" dirty="0"/>
              <a:t>keep their original value</a:t>
            </a:r>
            <a:r>
              <a:rPr lang="en-US" altLang="en-US" sz="2800" b="1" i="1" spc="-300" dirty="0"/>
              <a:t>s</a:t>
            </a:r>
            <a:r>
              <a:rPr lang="en-US" altLang="en-US" sz="2800" dirty="0"/>
              <a:t>,</a:t>
            </a:r>
            <a:r>
              <a:rPr lang="en-US" altLang="en-US" sz="1800" dirty="0"/>
              <a:t> </a:t>
            </a:r>
            <a:r>
              <a:rPr lang="en-US" altLang="en-US" sz="2800" spc="-50" dirty="0"/>
              <a:t>w</a:t>
            </a:r>
            <a:r>
              <a:rPr lang="en-US" altLang="en-US" sz="2800" spc="-80" dirty="0"/>
              <a:t>he</a:t>
            </a:r>
            <a:r>
              <a:rPr lang="en-US" altLang="en-US" sz="2800" spc="-50" dirty="0"/>
              <a:t>n</a:t>
            </a:r>
            <a:r>
              <a:rPr lang="en-US" altLang="en-US" sz="2400" spc="-50" dirty="0"/>
              <a:t> </a:t>
            </a:r>
            <a:r>
              <a:rPr lang="en-US" altLang="en-US" sz="2800" spc="-50" dirty="0"/>
              <a:t>used</a:t>
            </a:r>
            <a:r>
              <a:rPr lang="en-US" altLang="en-US" sz="2400" spc="-50" dirty="0"/>
              <a:t> </a:t>
            </a:r>
            <a:r>
              <a:rPr lang="en-US" altLang="en-US" sz="2800" spc="-50" dirty="0"/>
              <a:t>in</a:t>
            </a:r>
            <a:r>
              <a:rPr lang="en-US" altLang="en-US" sz="2400" spc="-50" dirty="0"/>
              <a:t> </a:t>
            </a:r>
            <a:r>
              <a:rPr lang="en-US" altLang="en-US" sz="2800" spc="-80" dirty="0"/>
              <a:t>logi</a:t>
            </a:r>
            <a:r>
              <a:rPr lang="en-US" altLang="en-US" sz="2800" spc="-100" dirty="0"/>
              <a:t>c</a:t>
            </a:r>
            <a:r>
              <a:rPr lang="en-US" altLang="en-US" sz="2800" dirty="0"/>
              <a:t>:</a:t>
            </a:r>
          </a:p>
          <a:p>
            <a:pPr marL="461963" lvl="1" indent="-4763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6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7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\</a:t>
            </a:r>
            <a:r>
              <a:rPr lang="en-US" altLang="en-US" sz="2200" spc="-100" dirty="0">
                <a:solidFill>
                  <a:srgbClr val="FF9393"/>
                </a:solidFill>
                <a:cs typeface="Arial" panose="020B0604020202020204" pitchFamily="34" charset="0"/>
              </a:rPr>
              <a:t># 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It stops evaluating as soon as it sees that 5 is true,</a:t>
            </a:r>
            <a:r>
              <a:rPr lang="en-US" altLang="en-US" sz="2200" dirty="0">
                <a:solidFill>
                  <a:srgbClr val="7030A0"/>
                </a:solidFill>
                <a:cs typeface="Arial" panose="020B0604020202020204" pitchFamily="34" charset="0"/>
              </a:rPr>
              <a:t/>
            </a:r>
            <a:br>
              <a:rPr lang="en-US" altLang="en-US" sz="2200" dirty="0">
                <a:solidFill>
                  <a:srgbClr val="7030A0"/>
                </a:solidFill>
                <a:cs typeface="Arial" panose="020B0604020202020204" pitchFamily="34" charset="0"/>
              </a:rPr>
            </a:b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 </a:t>
            </a: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cs typeface="Arial" panose="020B0604020202020204" pitchFamily="34" charset="0"/>
              </a:rPr>
              <a:t>                       </a:t>
            </a:r>
            <a:r>
              <a:rPr lang="en-US" altLang="en-US" sz="1600" spc="-100" dirty="0">
                <a:solidFill>
                  <a:srgbClr val="FFFFFF">
                    <a:lumMod val="75000"/>
                  </a:srgbClr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cs typeface="Arial" panose="020B0604020202020204" pitchFamily="34" charset="0"/>
              </a:rPr>
              <a:t>  </a:t>
            </a:r>
            <a:r>
              <a:rPr lang="en-US" altLang="en-US" sz="2200" spc="-100" dirty="0" smtClean="0">
                <a:solidFill>
                  <a:srgbClr val="FFFFFF">
                    <a:lumMod val="75000"/>
                  </a:srgbClr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dirty="0" smtClean="0">
                <a:solidFill>
                  <a:srgbClr val="FF9393"/>
                </a:solidFill>
                <a:cs typeface="Arial" panose="020B0604020202020204" pitchFamily="34" charset="0"/>
              </a:rPr>
              <a:t># 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since </a:t>
            </a:r>
            <a:r>
              <a:rPr lang="en-US" altLang="en-US" sz="2200" spc="-5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True</a:t>
            </a:r>
            <a:r>
              <a:rPr lang="en-US" altLang="en-US" sz="1800" spc="-5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5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1800" spc="-5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5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Anything</a:t>
            </a:r>
            <a:r>
              <a:rPr lang="en-US" altLang="en-US" sz="1800" spc="-5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5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1800" spc="-5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50" dirty="0">
                <a:solidFill>
                  <a:srgbClr val="0C77C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Anything</a:t>
            </a:r>
            <a:r>
              <a:rPr lang="en-US" altLang="en-US" sz="1400" spc="-50" dirty="0">
                <a:solidFill>
                  <a:srgbClr val="0C77C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5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==</a:t>
            </a:r>
            <a:r>
              <a:rPr lang="en-US" altLang="en-US" sz="1400" spc="-5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50" dirty="0">
                <a:solidFill>
                  <a:srgbClr val="00B05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True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>
                <a:solidFill>
                  <a:srgbClr val="FFFF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and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6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and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7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\</a:t>
            </a:r>
            <a:r>
              <a:rPr lang="en-US" altLang="en-US" sz="2200" spc="-1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#</a:t>
            </a:r>
            <a:r>
              <a:rPr lang="en-US" altLang="en-US" sz="2200" spc="-100" dirty="0">
                <a:solidFill>
                  <a:srgbClr val="FF9393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If you have</a:t>
            </a:r>
            <a:r>
              <a:rPr lang="en-US" altLang="en-US" sz="1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00B05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True</a:t>
            </a:r>
            <a:r>
              <a:rPr lang="en-US" altLang="en-US" sz="20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and</a:t>
            </a:r>
            <a:r>
              <a:rPr lang="en-US" altLang="en-US" sz="20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00B05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True</a:t>
            </a:r>
            <a:r>
              <a:rPr lang="en-US" altLang="en-US" sz="20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and</a:t>
            </a:r>
            <a:r>
              <a:rPr lang="en-US" altLang="en-US" sz="20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0C77C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Somethin</a:t>
            </a:r>
            <a:r>
              <a:rPr lang="en-US" altLang="en-US" sz="2200" spc="-100" dirty="0">
                <a:solidFill>
                  <a:srgbClr val="0C77C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g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, </a:t>
            </a:r>
          </a:p>
          <a:p>
            <a:pPr lvl="1">
              <a:lnSpc>
                <a:spcPct val="75000"/>
              </a:lnSpc>
              <a:spcBef>
                <a:spcPts val="300"/>
              </a:spcBef>
              <a:buFontTx/>
              <a:buNone/>
            </a:pP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 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#</a:t>
            </a:r>
            <a:r>
              <a:rPr lang="en-US" altLang="en-US" sz="2200" spc="-40" dirty="0">
                <a:solidFill>
                  <a:srgbClr val="FF9393"/>
                </a:solidFill>
                <a:cs typeface="Arial" panose="020B0604020202020204" pitchFamily="34" charset="0"/>
              </a:rPr>
              <a:t>yo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u still </a:t>
            </a:r>
            <a:r>
              <a:rPr lang="en-US" altLang="en-US" sz="2200" spc="-40" dirty="0">
                <a:solidFill>
                  <a:srgbClr val="FF9393"/>
                </a:solidFill>
                <a:cs typeface="Arial" panose="020B0604020202020204" pitchFamily="34" charset="0"/>
              </a:rPr>
              <a:t>need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 to </a:t>
            </a:r>
            <a:r>
              <a:rPr lang="en-US" altLang="en-US" sz="2200" spc="-50" dirty="0">
                <a:solidFill>
                  <a:srgbClr val="FF9393"/>
                </a:solidFill>
                <a:cs typeface="Arial" panose="020B0604020202020204" pitchFamily="34" charset="0"/>
              </a:rPr>
              <a:t>evaluate 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t</a:t>
            </a:r>
            <a:r>
              <a:rPr lang="en-US" altLang="en-US" sz="2200" spc="-50" dirty="0">
                <a:solidFill>
                  <a:srgbClr val="FF9393"/>
                </a:solidFill>
                <a:cs typeface="Arial" panose="020B0604020202020204" pitchFamily="34" charset="0"/>
              </a:rPr>
              <a:t>h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e </a:t>
            </a: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something</a:t>
            </a:r>
            <a:r>
              <a:rPr lang="en-US" altLang="en-US" sz="2200" dirty="0">
                <a:solidFill>
                  <a:srgbClr val="FF9393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200" spc="-40" dirty="0" smtClean="0">
                <a:solidFill>
                  <a:srgbClr val="FF9393"/>
                </a:solidFill>
                <a:cs typeface="Arial" panose="020B0604020202020204" pitchFamily="34" charset="0"/>
              </a:rPr>
              <a:t>so </a:t>
            </a:r>
            <a:r>
              <a:rPr lang="en-US" altLang="en-US" sz="2200" spc="-40" dirty="0">
                <a:solidFill>
                  <a:srgbClr val="FF9393"/>
                </a:solidFill>
                <a:cs typeface="Arial" panose="020B0604020202020204" pitchFamily="34" charset="0"/>
              </a:rPr>
              <a:t>we get an answer o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f: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7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>
                <a:solidFill>
                  <a:srgbClr val="FFFF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 smtClean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000" spc="-100" dirty="0" smtClean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6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  <a:r>
              <a:rPr lang="en-US" altLang="en-US" sz="18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 smtClean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and</a:t>
            </a:r>
            <a:r>
              <a:rPr lang="en-US" altLang="en-US" sz="2000" spc="-100" dirty="0" smtClean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7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spc="-100" dirty="0" smtClean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7</a:t>
            </a:r>
            <a:endParaRPr lang="en-US" altLang="en-US" sz="2200" b="1" spc="-100" dirty="0">
              <a:solidFill>
                <a:srgbClr val="0070C0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>
                <a:solidFill>
                  <a:srgbClr val="FFFF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spc="-100" dirty="0" smtClean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  <a:r>
              <a:rPr lang="en-US" altLang="en-US" sz="2000" spc="-100" dirty="0" smtClean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 smtClean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6</a:t>
            </a:r>
            <a:r>
              <a:rPr lang="en-US" altLang="en-US" sz="1600" spc="-100" dirty="0" smtClean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and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 smtClean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7 </a:t>
            </a:r>
            <a:r>
              <a:rPr lang="en-US" altLang="en-US" sz="2200" dirty="0" smtClean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# </a:t>
            </a:r>
            <a:r>
              <a:rPr lang="en-US" altLang="en-US" sz="2200" spc="-30" dirty="0" smtClean="0">
                <a:solidFill>
                  <a:srgbClr val="FF9393"/>
                </a:solidFill>
                <a:cs typeface="Arial" panose="020B0604020202020204" pitchFamily="34" charset="0"/>
              </a:rPr>
              <a:t>What</a:t>
            </a:r>
            <a:r>
              <a:rPr lang="en-US" altLang="en-US" sz="2000" spc="-30" dirty="0" smtClean="0">
                <a:solidFill>
                  <a:srgbClr val="FF9393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spc="-30" dirty="0" smtClean="0">
                <a:solidFill>
                  <a:srgbClr val="FF9393"/>
                </a:solidFill>
                <a:cs typeface="Arial" panose="020B0604020202020204" pitchFamily="34" charset="0"/>
              </a:rPr>
              <a:t>is the and/or precedence rule?</a:t>
            </a:r>
            <a:endParaRPr lang="en-US" altLang="en-US" sz="2200" spc="-30" dirty="0">
              <a:solidFill>
                <a:srgbClr val="7030A0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spc="-100" dirty="0" smtClean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  <a:endParaRPr lang="en-US" altLang="en-US" sz="2200" b="1" spc="-100" dirty="0">
              <a:solidFill>
                <a:srgbClr val="0070C0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>
                <a:solidFill>
                  <a:srgbClr val="FFFFFF"/>
                </a:solidFill>
                <a:latin typeface="Lucida Console" pitchFamily="49" charset="0"/>
              </a:rPr>
              <a:t>&gt;&gt;&gt;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a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spc="-100" dirty="0">
                <a:solidFill>
                  <a:srgbClr val="FF0000"/>
                </a:solidFill>
                <a:latin typeface="Lucida Console" pitchFamily="49" charset="0"/>
              </a:rPr>
              <a:t>0+0j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spc="-100" dirty="0">
                <a:solidFill>
                  <a:srgbClr val="FF0000"/>
                </a:solidFill>
                <a:latin typeface="Lucida Console" pitchFamily="49" charset="0"/>
              </a:rPr>
              <a:t>{}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spc="-100" dirty="0">
                <a:solidFill>
                  <a:srgbClr val="FF0000"/>
                </a:solidFill>
                <a:latin typeface="Lucida Console" pitchFamily="49" charset="0"/>
              </a:rPr>
              <a:t>''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d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'string!'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 smtClean="0">
                <a:solidFill>
                  <a:srgbClr val="0070C0"/>
                </a:solidFill>
                <a:latin typeface="Lucida Console" pitchFamily="49" charset="0"/>
              </a:rPr>
              <a:t>e</a:t>
            </a:r>
            <a:r>
              <a:rPr lang="en-US" altLang="en-US" sz="2200" spc="-100" dirty="0" smtClean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b="1" spc="-100" dirty="0" smtClean="0">
                <a:solidFill>
                  <a:srgbClr val="0070C0"/>
                </a:solidFill>
                <a:latin typeface="Lucida Console" pitchFamily="49" charset="0"/>
              </a:rPr>
              <a:t>2.718</a:t>
            </a:r>
            <a:endParaRPr lang="en-US" altLang="en-US" sz="2200" b="1" spc="-100" dirty="0">
              <a:solidFill>
                <a:srgbClr val="0070C0"/>
              </a:solidFill>
              <a:latin typeface="Lucida Console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Non-Booleans in Comparisons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7895" y="4000500"/>
            <a:ext cx="1329489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461963" lvl="1" indent="-4763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7030A0"/>
                </a:solidFill>
                <a:cs typeface="Arial" panose="020B0604020202020204" pitchFamily="34" charset="0"/>
              </a:rPr>
              <a:t/>
            </a:r>
            <a:br>
              <a:rPr lang="en-US" altLang="en-US" sz="2200" dirty="0">
                <a:solidFill>
                  <a:srgbClr val="7030A0"/>
                </a:solidFill>
                <a:cs typeface="Arial" panose="020B0604020202020204" pitchFamily="34" charset="0"/>
              </a:rPr>
            </a:br>
            <a:endParaRPr lang="en-US" altLang="en-US" sz="2200" dirty="0">
              <a:solidFill>
                <a:srgbClr val="00B050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endParaRPr lang="en-US" altLang="en-US" sz="2200" b="1" dirty="0">
              <a:solidFill>
                <a:srgbClr val="0070C0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endParaRPr lang="en-US" altLang="en-US" sz="2200" dirty="0">
              <a:solidFill>
                <a:srgbClr val="FF9393"/>
              </a:solidFill>
              <a:cs typeface="Arial" panose="020B0604020202020204" pitchFamily="34" charset="0"/>
            </a:endParaRPr>
          </a:p>
          <a:p>
            <a:pPr lvl="1">
              <a:lnSpc>
                <a:spcPct val="75000"/>
              </a:lnSpc>
              <a:spcBef>
                <a:spcPts val="300"/>
              </a:spcBef>
              <a:buFontTx/>
              <a:buNone/>
            </a:pPr>
            <a:endParaRPr lang="en-US" altLang="en-US" sz="2200" dirty="0">
              <a:solidFill>
                <a:srgbClr val="FF9393"/>
              </a:solidFill>
              <a:cs typeface="Arial" panose="020B0604020202020204" pitchFamily="34" charset="0"/>
            </a:endParaRP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endParaRPr lang="en-US" altLang="en-US" sz="2000" b="1" dirty="0">
              <a:solidFill>
                <a:srgbClr val="0070C0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endParaRPr lang="en-US" altLang="en-US" sz="2200" b="1" dirty="0">
              <a:solidFill>
                <a:srgbClr val="0070C0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endParaRPr lang="en-US" altLang="en-US" sz="2200" b="1" dirty="0">
              <a:solidFill>
                <a:srgbClr val="0070C0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endParaRPr lang="en-US" altLang="en-US" sz="2000" b="1" dirty="0">
              <a:solidFill>
                <a:srgbClr val="0070C0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itchFamily="49" charset="0"/>
              </a:rPr>
              <a:t>&gt;&gt;&gt;</a:t>
            </a:r>
            <a:endParaRPr lang="en-US" altLang="en-US" sz="2200" b="1" dirty="0">
              <a:solidFill>
                <a:srgbClr val="FFFFFF">
                  <a:lumMod val="75000"/>
                </a:srgbClr>
              </a:solidFill>
              <a:latin typeface="Lucida Consol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248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8256" y="609600"/>
            <a:ext cx="10333038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285750" indent="-285750">
              <a:lnSpc>
                <a:spcPct val="90000"/>
              </a:lnSpc>
              <a:spcBef>
                <a:spcPts val="1200"/>
              </a:spcBef>
            </a:pPr>
            <a:r>
              <a:rPr lang="en-US" altLang="en-US" sz="2800" dirty="0"/>
              <a:t>When</a:t>
            </a:r>
            <a:r>
              <a:rPr lang="en-US" altLang="en-US" sz="2400" dirty="0"/>
              <a:t> </a:t>
            </a:r>
            <a:r>
              <a:rPr lang="en-US" altLang="en-US" sz="2800" b="1" spc="-100" dirty="0">
                <a:solidFill>
                  <a:srgbClr val="0070C0"/>
                </a:solidFill>
              </a:rPr>
              <a:t>non-</a:t>
            </a:r>
            <a:r>
              <a:rPr lang="en-US" altLang="en-US" sz="2800" b="1" spc="-100" dirty="0" err="1">
                <a:solidFill>
                  <a:srgbClr val="0070C0"/>
                </a:solidFill>
              </a:rPr>
              <a:t>booleans</a:t>
            </a:r>
            <a:r>
              <a:rPr lang="en-US" altLang="en-US" sz="2400" dirty="0"/>
              <a:t> </a:t>
            </a:r>
            <a:r>
              <a:rPr lang="en-US" altLang="en-US" sz="2800" dirty="0"/>
              <a:t>are</a:t>
            </a:r>
            <a:r>
              <a:rPr lang="en-US" altLang="en-US" sz="2400" dirty="0"/>
              <a:t> </a:t>
            </a:r>
            <a:r>
              <a:rPr lang="en-US" altLang="en-US" sz="2800" b="1" spc="-100" dirty="0">
                <a:solidFill>
                  <a:srgbClr val="7030A0"/>
                </a:solidFill>
              </a:rPr>
              <a:t>used</a:t>
            </a:r>
            <a:r>
              <a:rPr lang="en-US" altLang="en-US" sz="2400" b="1" spc="-100" dirty="0">
                <a:solidFill>
                  <a:srgbClr val="7030A0"/>
                </a:solidFill>
              </a:rPr>
              <a:t> </a:t>
            </a:r>
            <a:r>
              <a:rPr lang="en-US" altLang="en-US" sz="2800" b="1" spc="-100" dirty="0">
                <a:solidFill>
                  <a:srgbClr val="7030A0"/>
                </a:solidFill>
              </a:rPr>
              <a:t>as </a:t>
            </a:r>
            <a:r>
              <a:rPr lang="en-US" altLang="en-US" sz="2800" b="1" spc="-100" dirty="0" err="1">
                <a:solidFill>
                  <a:srgbClr val="7030A0"/>
                </a:solidFill>
              </a:rPr>
              <a:t>booleans</a:t>
            </a:r>
            <a:r>
              <a:rPr lang="en-US" altLang="en-US" sz="2800" dirty="0"/>
              <a:t>,</a:t>
            </a:r>
            <a:r>
              <a:rPr lang="en-US" altLang="en-US" sz="2400" dirty="0"/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400" dirty="0"/>
              <a:t> </a:t>
            </a:r>
            <a:r>
              <a:rPr lang="en-US" altLang="en-US" sz="2800" dirty="0"/>
              <a:t>is</a:t>
            </a:r>
            <a:r>
              <a:rPr lang="en-US" altLang="en-US" sz="2400" dirty="0"/>
              <a:t> </a:t>
            </a:r>
            <a:r>
              <a:rPr lang="en-US" altLang="en-US" sz="2800" dirty="0"/>
              <a:t>treated</a:t>
            </a:r>
            <a:r>
              <a:rPr lang="en-US" altLang="en-US" sz="2400" dirty="0"/>
              <a:t> </a:t>
            </a:r>
            <a:r>
              <a:rPr lang="en-US" altLang="en-US" sz="2800" dirty="0" smtClean="0"/>
              <a:t>as </a:t>
            </a:r>
            <a:r>
              <a:rPr lang="en-US" altLang="en-US" sz="2800" dirty="0">
                <a:solidFill>
                  <a:schemeClr val="tx1"/>
                </a:solidFill>
              </a:rPr>
              <a:t>False</a:t>
            </a:r>
            <a:r>
              <a:rPr lang="en-US" altLang="en-US" sz="2800" dirty="0">
                <a:solidFill>
                  <a:srgbClr val="FFC000"/>
                </a:solidFill>
              </a:rPr>
              <a:t> </a:t>
            </a:r>
            <a:r>
              <a:rPr lang="en-US" altLang="en-US" sz="2800" dirty="0"/>
              <a:t>(</a:t>
            </a:r>
            <a:r>
              <a:rPr lang="en-US" altLang="en-US" dirty="0"/>
              <a:t>just like in C++, </a:t>
            </a:r>
            <a:r>
              <a:rPr lang="en-US" altLang="en-US" dirty="0" err="1"/>
              <a:t>eg</a:t>
            </a:r>
            <a:r>
              <a:rPr lang="en-US" altLang="en-US" dirty="0"/>
              <a:t>:  </a:t>
            </a:r>
            <a:r>
              <a:rPr lang="en-US" altLang="en-US" i="1" dirty="0" err="1"/>
              <a:t>cin</a:t>
            </a:r>
            <a:r>
              <a:rPr lang="en-US" altLang="en-US" i="1" dirty="0"/>
              <a:t>&gt;&gt;x; if (</a:t>
            </a:r>
            <a:r>
              <a:rPr lang="en-US" altLang="en-US" b="1" i="1" dirty="0">
                <a:solidFill>
                  <a:srgbClr val="7030A0"/>
                </a:solidFill>
              </a:rPr>
              <a:t>!</a:t>
            </a:r>
            <a:r>
              <a:rPr lang="en-US" altLang="en-US" i="1" dirty="0">
                <a:solidFill>
                  <a:srgbClr val="FF0000"/>
                </a:solidFill>
              </a:rPr>
              <a:t>x</a:t>
            </a:r>
            <a:r>
              <a:rPr lang="en-US" altLang="en-US" i="1" dirty="0"/>
              <a:t>)</a:t>
            </a:r>
            <a:r>
              <a:rPr lang="en-US" altLang="en-US" i="1" dirty="0" err="1"/>
              <a:t>cout</a:t>
            </a:r>
            <a:r>
              <a:rPr lang="en-US" altLang="en-US" i="1" dirty="0"/>
              <a:t>&lt;&lt; "</a:t>
            </a:r>
            <a:r>
              <a:rPr lang="en-US" altLang="en-US" i="1" dirty="0">
                <a:solidFill>
                  <a:srgbClr val="FFC000"/>
                </a:solidFill>
              </a:rPr>
              <a:t>It was 0.</a:t>
            </a:r>
            <a:r>
              <a:rPr lang="en-US" altLang="en-US" i="1" dirty="0"/>
              <a:t>";</a:t>
            </a:r>
            <a:r>
              <a:rPr lang="en-US" altLang="en-US" sz="2800" dirty="0"/>
              <a:t>)</a:t>
            </a:r>
          </a:p>
          <a:p>
            <a:pPr lvl="1">
              <a:lnSpc>
                <a:spcPct val="7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 </a:t>
            </a:r>
            <a:r>
              <a:rPr lang="en-US" altLang="en-US" sz="2200" b="1" dirty="0" err="1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00B05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True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 </a:t>
            </a:r>
            <a:r>
              <a:rPr lang="en-US" altLang="en-US" sz="2200" b="1" dirty="0" err="1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0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FFC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False</a:t>
            </a:r>
          </a:p>
          <a:p>
            <a:pPr marL="285750" indent="-285750">
              <a:spcBef>
                <a:spcPts val="900"/>
              </a:spcBef>
            </a:pPr>
            <a:r>
              <a:rPr lang="en-US" altLang="en-US" sz="2800" spc="-50" dirty="0"/>
              <a:t>G</a:t>
            </a:r>
            <a:r>
              <a:rPr lang="en-US" altLang="en-US" sz="2800" spc="-70" dirty="0"/>
              <a:t>oin</a:t>
            </a:r>
            <a:r>
              <a:rPr lang="en-US" altLang="en-US" sz="2800" spc="-50" dirty="0"/>
              <a:t>g</a:t>
            </a:r>
            <a:r>
              <a:rPr lang="en-US" altLang="en-US" spc="-50" dirty="0"/>
              <a:t> </a:t>
            </a:r>
            <a:r>
              <a:rPr lang="en-US" altLang="en-US" sz="2800" spc="-50" dirty="0"/>
              <a:t>b</a:t>
            </a:r>
            <a:r>
              <a:rPr lang="en-US" altLang="en-US" sz="2800" spc="-110" dirty="0"/>
              <a:t>ey</a:t>
            </a:r>
            <a:r>
              <a:rPr lang="en-US" altLang="en-US" sz="2800" spc="-70" dirty="0"/>
              <a:t>on</a:t>
            </a:r>
            <a:r>
              <a:rPr lang="en-US" altLang="en-US" sz="2800" spc="-50" dirty="0"/>
              <a:t>d</a:t>
            </a:r>
            <a:r>
              <a:rPr lang="en-US" altLang="en-US" sz="2400" spc="-50" dirty="0"/>
              <a:t> </a:t>
            </a:r>
            <a:r>
              <a:rPr lang="en-US" altLang="en-US" sz="2800" spc="-160" dirty="0">
                <a:solidFill>
                  <a:srgbClr val="000000"/>
                </a:solidFill>
              </a:rPr>
              <a:t>C</a:t>
            </a:r>
            <a:r>
              <a:rPr lang="en-US" altLang="en-US" spc="-50" dirty="0">
                <a:solidFill>
                  <a:srgbClr val="000000"/>
                </a:solidFill>
              </a:rPr>
              <a:t>+</a:t>
            </a:r>
            <a:r>
              <a:rPr lang="en-US" altLang="en-US" spc="-460" dirty="0">
                <a:solidFill>
                  <a:srgbClr val="000000"/>
                </a:solidFill>
              </a:rPr>
              <a:t>+</a:t>
            </a:r>
            <a:r>
              <a:rPr lang="en-US" altLang="en-US" sz="2800" spc="-50" dirty="0">
                <a:solidFill>
                  <a:srgbClr val="000000"/>
                </a:solidFill>
              </a:rPr>
              <a:t>,</a:t>
            </a:r>
            <a:r>
              <a:rPr lang="en-US" altLang="en-US" sz="2400" spc="-50" dirty="0">
                <a:solidFill>
                  <a:srgbClr val="000000"/>
                </a:solidFill>
              </a:rPr>
              <a:t> </a:t>
            </a:r>
            <a:r>
              <a:rPr lang="en-US" altLang="en-US" sz="2800" spc="-50" dirty="0">
                <a:solidFill>
                  <a:srgbClr val="000000"/>
                </a:solidFill>
              </a:rPr>
              <a:t>Pyt</a:t>
            </a:r>
            <a:r>
              <a:rPr lang="en-US" altLang="en-US" sz="2800" spc="-70" dirty="0">
                <a:solidFill>
                  <a:srgbClr val="000000"/>
                </a:solidFill>
              </a:rPr>
              <a:t>hon</a:t>
            </a:r>
            <a:r>
              <a:rPr lang="en-US" altLang="en-US" sz="2400" spc="-70" dirty="0">
                <a:solidFill>
                  <a:srgbClr val="000000"/>
                </a:solidFill>
              </a:rPr>
              <a:t> </a:t>
            </a:r>
            <a:r>
              <a:rPr lang="en-US" altLang="en-US" sz="2800" spc="-70" dirty="0">
                <a:solidFill>
                  <a:srgbClr val="000000"/>
                </a:solidFill>
              </a:rPr>
              <a:t>als</a:t>
            </a:r>
            <a:r>
              <a:rPr lang="en-US" altLang="en-US" sz="2800" spc="-50" dirty="0">
                <a:solidFill>
                  <a:srgbClr val="000000"/>
                </a:solidFill>
              </a:rPr>
              <a:t>o</a:t>
            </a:r>
            <a:r>
              <a:rPr lang="en-US" altLang="en-US" sz="2400" spc="-50" dirty="0">
                <a:solidFill>
                  <a:srgbClr val="000000"/>
                </a:solidFill>
              </a:rPr>
              <a:t> </a:t>
            </a:r>
            <a:r>
              <a:rPr lang="en-US" altLang="en-US" sz="2800" spc="-50" dirty="0">
                <a:solidFill>
                  <a:srgbClr val="000000"/>
                </a:solidFill>
              </a:rPr>
              <a:t>treats</a:t>
            </a:r>
            <a:r>
              <a:rPr lang="en-US" altLang="en-US" sz="2400" spc="-50" dirty="0">
                <a:solidFill>
                  <a:srgbClr val="000000"/>
                </a:solidFill>
              </a:rPr>
              <a:t> </a:t>
            </a:r>
            <a:r>
              <a:rPr lang="en-US" altLang="en-US" sz="2800" spc="-50" dirty="0">
                <a:solidFill>
                  <a:srgbClr val="FF0000"/>
                </a:solidFill>
              </a:rPr>
              <a:t>empty</a:t>
            </a:r>
            <a:r>
              <a:rPr lang="en-US" altLang="en-US" sz="2000" spc="-50" dirty="0">
                <a:solidFill>
                  <a:srgbClr val="FF0000"/>
                </a:solidFill>
              </a:rPr>
              <a:t> </a:t>
            </a:r>
            <a:r>
              <a:rPr lang="en-US" altLang="en-US" sz="2800" spc="-50" dirty="0">
                <a:solidFill>
                  <a:srgbClr val="FF0000"/>
                </a:solidFill>
              </a:rPr>
              <a:t>things</a:t>
            </a:r>
            <a:r>
              <a:rPr lang="en-US" altLang="en-US" sz="2400" spc="-50" dirty="0">
                <a:solidFill>
                  <a:srgbClr val="FF0000"/>
                </a:solidFill>
              </a:rPr>
              <a:t> </a:t>
            </a:r>
            <a:r>
              <a:rPr lang="en-US" altLang="en-US" sz="2800" spc="-50" dirty="0">
                <a:solidFill>
                  <a:srgbClr val="000000"/>
                </a:solidFill>
              </a:rPr>
              <a:t>as </a:t>
            </a:r>
            <a:r>
              <a:rPr lang="en-US" altLang="en-US" sz="2800" spc="-210" dirty="0">
                <a:solidFill>
                  <a:srgbClr val="FFC000"/>
                </a:solidFill>
              </a:rPr>
              <a:t>F</a:t>
            </a:r>
            <a:r>
              <a:rPr lang="en-US" altLang="en-US" sz="2800" spc="-50" dirty="0">
                <a:solidFill>
                  <a:srgbClr val="FFC000"/>
                </a:solidFill>
              </a:rPr>
              <a:t>als</a:t>
            </a:r>
            <a:r>
              <a:rPr lang="en-US" altLang="en-US" sz="2800" spc="-100" dirty="0">
                <a:solidFill>
                  <a:srgbClr val="FFC000"/>
                </a:solidFill>
              </a:rPr>
              <a:t>e</a:t>
            </a:r>
            <a:r>
              <a:rPr lang="en-US" altLang="en-US" sz="2800" spc="-50" dirty="0"/>
              <a:t>: </a:t>
            </a:r>
          </a:p>
          <a:p>
            <a:pPr lvl="1">
              <a:lnSpc>
                <a:spcPct val="70000"/>
              </a:lnSpc>
              <a:spcBef>
                <a:spcPts val="30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 </a:t>
            </a:r>
            <a:r>
              <a:rPr lang="en-US" altLang="en-US" sz="2200" b="1" dirty="0" err="1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""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[]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()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{}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set()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FFC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False</a:t>
            </a:r>
          </a:p>
          <a:p>
            <a:pPr marL="285750" indent="-285750">
              <a:spcBef>
                <a:spcPts val="900"/>
              </a:spcBef>
            </a:pPr>
            <a:r>
              <a:rPr lang="en-US" altLang="en-US" sz="2800" spc="-100" dirty="0"/>
              <a:t>No</a:t>
            </a:r>
            <a:r>
              <a:rPr lang="en-US" altLang="en-US" sz="2800" spc="-80" dirty="0"/>
              <a:t>n-</a:t>
            </a:r>
            <a:r>
              <a:rPr lang="en-US" altLang="en-US" sz="2800" spc="-80" dirty="0" err="1"/>
              <a:t>boolean</a:t>
            </a:r>
            <a:r>
              <a:rPr lang="en-US" altLang="en-US" sz="2800" spc="-50" dirty="0" err="1"/>
              <a:t>s</a:t>
            </a:r>
            <a:r>
              <a:rPr lang="en-US" altLang="en-US" sz="1800" dirty="0"/>
              <a:t> </a:t>
            </a:r>
            <a:r>
              <a:rPr lang="en-US" altLang="en-US" sz="2800" b="1" i="1" spc="-100" dirty="0"/>
              <a:t>keep their original value</a:t>
            </a:r>
            <a:r>
              <a:rPr lang="en-US" altLang="en-US" sz="2800" b="1" i="1" spc="-300" dirty="0"/>
              <a:t>s</a:t>
            </a:r>
            <a:r>
              <a:rPr lang="en-US" altLang="en-US" sz="2800" dirty="0"/>
              <a:t>,</a:t>
            </a:r>
            <a:r>
              <a:rPr lang="en-US" altLang="en-US" sz="1800" dirty="0"/>
              <a:t> </a:t>
            </a:r>
            <a:r>
              <a:rPr lang="en-US" altLang="en-US" sz="2800" spc="-50" dirty="0"/>
              <a:t>w</a:t>
            </a:r>
            <a:r>
              <a:rPr lang="en-US" altLang="en-US" sz="2800" spc="-80" dirty="0"/>
              <a:t>he</a:t>
            </a:r>
            <a:r>
              <a:rPr lang="en-US" altLang="en-US" sz="2800" spc="-50" dirty="0"/>
              <a:t>n</a:t>
            </a:r>
            <a:r>
              <a:rPr lang="en-US" altLang="en-US" sz="2400" spc="-50" dirty="0"/>
              <a:t> </a:t>
            </a:r>
            <a:r>
              <a:rPr lang="en-US" altLang="en-US" sz="2800" spc="-50" dirty="0"/>
              <a:t>used</a:t>
            </a:r>
            <a:r>
              <a:rPr lang="en-US" altLang="en-US" sz="2400" spc="-50" dirty="0"/>
              <a:t> </a:t>
            </a:r>
            <a:r>
              <a:rPr lang="en-US" altLang="en-US" sz="2800" spc="-50" dirty="0"/>
              <a:t>in</a:t>
            </a:r>
            <a:r>
              <a:rPr lang="en-US" altLang="en-US" sz="2400" spc="-50" dirty="0"/>
              <a:t> </a:t>
            </a:r>
            <a:r>
              <a:rPr lang="en-US" altLang="en-US" sz="2800" spc="-80" dirty="0" smtClean="0"/>
              <a:t>logi</a:t>
            </a:r>
            <a:r>
              <a:rPr lang="en-US" altLang="en-US" sz="2800" spc="-100" dirty="0" smtClean="0"/>
              <a:t>c</a:t>
            </a:r>
            <a:r>
              <a:rPr lang="en-US" altLang="en-US" sz="2800" dirty="0" smtClean="0"/>
              <a:t>:</a:t>
            </a:r>
            <a:endParaRPr lang="en-US" altLang="en-US" sz="2800" dirty="0"/>
          </a:p>
          <a:p>
            <a:pPr marL="461963" lvl="1" indent="-4763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 </a:t>
            </a: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cs typeface="Arial" panose="020B0604020202020204" pitchFamily="34" charset="0"/>
              </a:rPr>
              <a:t>                       </a:t>
            </a:r>
            <a:r>
              <a:rPr lang="en-US" altLang="en-US" sz="1600" spc="-100" dirty="0">
                <a:solidFill>
                  <a:srgbClr val="FFFFFF">
                    <a:lumMod val="75000"/>
                  </a:srgbClr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cs typeface="Arial" panose="020B0604020202020204" pitchFamily="34" charset="0"/>
              </a:rPr>
              <a:t>   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# since </a:t>
            </a:r>
            <a:r>
              <a:rPr lang="en-US" altLang="en-US" sz="2200" spc="-5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True</a:t>
            </a:r>
            <a:r>
              <a:rPr lang="en-US" altLang="en-US" sz="1800" spc="-5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5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1800" spc="-5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5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Anything</a:t>
            </a:r>
            <a:r>
              <a:rPr lang="en-US" altLang="en-US" sz="1800" spc="-5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5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1800" spc="-5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50" dirty="0">
                <a:solidFill>
                  <a:srgbClr val="0C77C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Anything</a:t>
            </a:r>
            <a:r>
              <a:rPr lang="en-US" altLang="en-US" sz="1400" spc="-50" dirty="0">
                <a:solidFill>
                  <a:srgbClr val="0C77C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5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==</a:t>
            </a:r>
            <a:r>
              <a:rPr lang="en-US" altLang="en-US" sz="1400" spc="-5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50" dirty="0">
                <a:solidFill>
                  <a:srgbClr val="00B05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True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r>
              <a:rPr lang="en-US" altLang="en-US" sz="2200" spc="-100" dirty="0" smtClean="0">
                <a:solidFill>
                  <a:srgbClr val="FFFF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and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6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and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7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\</a:t>
            </a:r>
            <a:r>
              <a:rPr lang="en-US" altLang="en-US" sz="2200" spc="-1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#</a:t>
            </a:r>
            <a:r>
              <a:rPr lang="en-US" altLang="en-US" sz="2200" spc="-100" dirty="0">
                <a:solidFill>
                  <a:srgbClr val="FF9393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If you have</a:t>
            </a:r>
            <a:r>
              <a:rPr lang="en-US" altLang="en-US" sz="1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00B05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True</a:t>
            </a:r>
            <a:r>
              <a:rPr lang="en-US" altLang="en-US" sz="20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and</a:t>
            </a:r>
            <a:r>
              <a:rPr lang="en-US" altLang="en-US" sz="20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00B05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True</a:t>
            </a:r>
            <a:r>
              <a:rPr lang="en-US" altLang="en-US" sz="20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and</a:t>
            </a:r>
            <a:r>
              <a:rPr lang="en-US" altLang="en-US" sz="20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0C77C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Somethin</a:t>
            </a:r>
            <a:r>
              <a:rPr lang="en-US" altLang="en-US" sz="2200" spc="-100" dirty="0">
                <a:solidFill>
                  <a:srgbClr val="0C77C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g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, </a:t>
            </a:r>
          </a:p>
          <a:p>
            <a:pPr lvl="1">
              <a:lnSpc>
                <a:spcPct val="75000"/>
              </a:lnSpc>
              <a:spcBef>
                <a:spcPts val="300"/>
              </a:spcBef>
              <a:buFontTx/>
              <a:buNone/>
            </a:pP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 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#</a:t>
            </a:r>
            <a:r>
              <a:rPr lang="en-US" altLang="en-US" sz="2200" spc="-40" dirty="0">
                <a:solidFill>
                  <a:srgbClr val="FF9393"/>
                </a:solidFill>
                <a:cs typeface="Arial" panose="020B0604020202020204" pitchFamily="34" charset="0"/>
              </a:rPr>
              <a:t>yo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u still </a:t>
            </a:r>
            <a:r>
              <a:rPr lang="en-US" altLang="en-US" sz="2200" spc="-40" dirty="0">
                <a:solidFill>
                  <a:srgbClr val="FF9393"/>
                </a:solidFill>
                <a:cs typeface="Arial" panose="020B0604020202020204" pitchFamily="34" charset="0"/>
              </a:rPr>
              <a:t>need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 to </a:t>
            </a:r>
            <a:r>
              <a:rPr lang="en-US" altLang="en-US" sz="2200" spc="-50" dirty="0">
                <a:solidFill>
                  <a:srgbClr val="FF9393"/>
                </a:solidFill>
                <a:cs typeface="Arial" panose="020B0604020202020204" pitchFamily="34" charset="0"/>
              </a:rPr>
              <a:t>evaluate 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t</a:t>
            </a:r>
            <a:r>
              <a:rPr lang="en-US" altLang="en-US" sz="2200" spc="-50" dirty="0">
                <a:solidFill>
                  <a:srgbClr val="FF9393"/>
                </a:solidFill>
                <a:cs typeface="Arial" panose="020B0604020202020204" pitchFamily="34" charset="0"/>
              </a:rPr>
              <a:t>h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e </a:t>
            </a: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something</a:t>
            </a:r>
            <a:r>
              <a:rPr lang="en-US" altLang="en-US" sz="2200" dirty="0">
                <a:solidFill>
                  <a:srgbClr val="FF9393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200" spc="-40" dirty="0" smtClean="0">
                <a:solidFill>
                  <a:srgbClr val="FF9393"/>
                </a:solidFill>
                <a:cs typeface="Arial" panose="020B0604020202020204" pitchFamily="34" charset="0"/>
              </a:rPr>
              <a:t>so </a:t>
            </a:r>
            <a:r>
              <a:rPr lang="en-US" altLang="en-US" sz="2200" spc="-40" dirty="0">
                <a:solidFill>
                  <a:srgbClr val="FF9393"/>
                </a:solidFill>
                <a:cs typeface="Arial" panose="020B0604020202020204" pitchFamily="34" charset="0"/>
              </a:rPr>
              <a:t>we get an answer o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f: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7</a:t>
            </a:r>
          </a:p>
          <a:p>
            <a:pPr lvl="1">
              <a:lnSpc>
                <a:spcPct val="72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>
                <a:solidFill>
                  <a:srgbClr val="BFBFB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r>
              <a:rPr lang="en-US" altLang="en-US" sz="2200" spc="-100" dirty="0">
                <a:solidFill>
                  <a:srgbClr val="FFFF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 smtClean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000" spc="-100" dirty="0" smtClean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6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  <a:r>
              <a:rPr lang="en-US" altLang="en-US" sz="18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 smtClean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and</a:t>
            </a:r>
            <a:r>
              <a:rPr lang="en-US" altLang="en-US" sz="2000" spc="-100" dirty="0" smtClean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7</a:t>
            </a:r>
          </a:p>
          <a:p>
            <a:pPr lvl="1">
              <a:lnSpc>
                <a:spcPct val="72000"/>
              </a:lnSpc>
              <a:spcBef>
                <a:spcPts val="0"/>
              </a:spcBef>
              <a:buFontTx/>
              <a:buNone/>
            </a:pPr>
            <a:r>
              <a:rPr lang="en-US" altLang="en-US" sz="2200" b="1" spc="-100" dirty="0" smtClean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7</a:t>
            </a:r>
            <a:endParaRPr lang="en-US" altLang="en-US" sz="2200" b="1" spc="-100" dirty="0">
              <a:solidFill>
                <a:srgbClr val="0070C0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lvl="1">
              <a:lnSpc>
                <a:spcPct val="72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>
                <a:solidFill>
                  <a:srgbClr val="BFBFB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6</a:t>
            </a:r>
            <a:r>
              <a:rPr lang="en-US" altLang="en-US" sz="16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and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7 </a:t>
            </a: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# </a:t>
            </a:r>
            <a:r>
              <a:rPr lang="en-US" altLang="en-US" sz="2200" spc="-30" dirty="0">
                <a:solidFill>
                  <a:srgbClr val="FF9393"/>
                </a:solidFill>
                <a:cs typeface="Arial" panose="020B0604020202020204" pitchFamily="34" charset="0"/>
              </a:rPr>
              <a:t>What</a:t>
            </a:r>
            <a:r>
              <a:rPr lang="en-US" altLang="en-US" sz="2000" spc="-30" dirty="0">
                <a:solidFill>
                  <a:srgbClr val="FF9393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spc="-30" dirty="0">
                <a:solidFill>
                  <a:srgbClr val="FF9393"/>
                </a:solidFill>
                <a:cs typeface="Arial" panose="020B0604020202020204" pitchFamily="34" charset="0"/>
              </a:rPr>
              <a:t>is the and/or precedence rule?</a:t>
            </a:r>
            <a:endParaRPr lang="en-US" altLang="en-US" sz="2200" spc="-30" dirty="0">
              <a:solidFill>
                <a:srgbClr val="7030A0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lvl="1">
              <a:lnSpc>
                <a:spcPct val="72000"/>
              </a:lnSpc>
              <a:spcBef>
                <a:spcPts val="0"/>
              </a:spcBef>
              <a:buFontTx/>
              <a:buNone/>
            </a:pP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 smtClean="0">
                <a:solidFill>
                  <a:srgbClr val="FFFFFF">
                    <a:lumMod val="75000"/>
                  </a:srgbClr>
                </a:solidFill>
                <a:latin typeface="Lucida Console" pitchFamily="49" charset="0"/>
              </a:rPr>
              <a:t>&gt;&gt;&gt;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a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spc="-100" dirty="0">
                <a:solidFill>
                  <a:srgbClr val="FF0000"/>
                </a:solidFill>
                <a:latin typeface="Lucida Console" pitchFamily="49" charset="0"/>
              </a:rPr>
              <a:t>0+0j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spc="-100" dirty="0">
                <a:solidFill>
                  <a:srgbClr val="FF0000"/>
                </a:solidFill>
                <a:latin typeface="Lucida Console" pitchFamily="49" charset="0"/>
              </a:rPr>
              <a:t>{}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spc="-100" dirty="0">
                <a:solidFill>
                  <a:srgbClr val="FF0000"/>
                </a:solidFill>
                <a:latin typeface="Lucida Console" pitchFamily="49" charset="0"/>
              </a:rPr>
              <a:t>''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d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'string!'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 smtClean="0">
                <a:solidFill>
                  <a:srgbClr val="0070C0"/>
                </a:solidFill>
                <a:latin typeface="Lucida Console" pitchFamily="49" charset="0"/>
              </a:rPr>
              <a:t>e</a:t>
            </a:r>
            <a:r>
              <a:rPr lang="en-US" altLang="en-US" sz="2200" spc="-100" dirty="0" smtClean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b="1" spc="-100" dirty="0" smtClean="0">
                <a:solidFill>
                  <a:srgbClr val="0070C0"/>
                </a:solidFill>
                <a:latin typeface="Lucida Console" pitchFamily="49" charset="0"/>
              </a:rPr>
              <a:t>2.718</a:t>
            </a:r>
            <a:endParaRPr lang="en-US" altLang="en-US" sz="2200" b="1" spc="-100" dirty="0">
              <a:solidFill>
                <a:srgbClr val="0070C0"/>
              </a:solidFill>
              <a:latin typeface="Lucida Console" pitchFamily="49" charset="0"/>
            </a:endParaRPr>
          </a:p>
          <a:p>
            <a:pPr lvl="1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>
                <a:solidFill>
                  <a:srgbClr val="FFFFFF"/>
                </a:solidFill>
                <a:latin typeface="Lucida Console" pitchFamily="49" charset="0"/>
              </a:rPr>
              <a:t>&gt;&gt;&gt;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print("First non-null:",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a 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or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 or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c 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or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d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 or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e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)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Non-Booleans in Comparisons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5944" y="6521016"/>
            <a:ext cx="568325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endParaRPr lang="en-US" sz="2200" spc="-1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08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8256" y="609600"/>
            <a:ext cx="10333038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285750" indent="-285750">
              <a:lnSpc>
                <a:spcPct val="90000"/>
              </a:lnSpc>
              <a:spcBef>
                <a:spcPts val="1200"/>
              </a:spcBef>
            </a:pPr>
            <a:r>
              <a:rPr lang="en-US" altLang="en-US" sz="2800" dirty="0"/>
              <a:t>When</a:t>
            </a:r>
            <a:r>
              <a:rPr lang="en-US" altLang="en-US" sz="2400" dirty="0"/>
              <a:t> </a:t>
            </a:r>
            <a:r>
              <a:rPr lang="en-US" altLang="en-US" sz="2800" b="1" spc="-100" dirty="0">
                <a:solidFill>
                  <a:srgbClr val="0070C0"/>
                </a:solidFill>
              </a:rPr>
              <a:t>non-</a:t>
            </a:r>
            <a:r>
              <a:rPr lang="en-US" altLang="en-US" sz="2800" b="1" spc="-100" dirty="0" err="1">
                <a:solidFill>
                  <a:srgbClr val="0070C0"/>
                </a:solidFill>
              </a:rPr>
              <a:t>booleans</a:t>
            </a:r>
            <a:r>
              <a:rPr lang="en-US" altLang="en-US" sz="2400" dirty="0"/>
              <a:t> </a:t>
            </a:r>
            <a:r>
              <a:rPr lang="en-US" altLang="en-US" sz="2800" dirty="0"/>
              <a:t>are</a:t>
            </a:r>
            <a:r>
              <a:rPr lang="en-US" altLang="en-US" sz="2400" dirty="0"/>
              <a:t> </a:t>
            </a:r>
            <a:r>
              <a:rPr lang="en-US" altLang="en-US" sz="2800" b="1" spc="-100" dirty="0">
                <a:solidFill>
                  <a:srgbClr val="7030A0"/>
                </a:solidFill>
              </a:rPr>
              <a:t>used</a:t>
            </a:r>
            <a:r>
              <a:rPr lang="en-US" altLang="en-US" sz="2400" b="1" spc="-100" dirty="0">
                <a:solidFill>
                  <a:srgbClr val="7030A0"/>
                </a:solidFill>
              </a:rPr>
              <a:t> </a:t>
            </a:r>
            <a:r>
              <a:rPr lang="en-US" altLang="en-US" sz="2800" b="1" spc="-100" dirty="0">
                <a:solidFill>
                  <a:srgbClr val="7030A0"/>
                </a:solidFill>
              </a:rPr>
              <a:t>as </a:t>
            </a:r>
            <a:r>
              <a:rPr lang="en-US" altLang="en-US" sz="2800" b="1" spc="-100" dirty="0" err="1">
                <a:solidFill>
                  <a:srgbClr val="7030A0"/>
                </a:solidFill>
              </a:rPr>
              <a:t>booleans</a:t>
            </a:r>
            <a:r>
              <a:rPr lang="en-US" altLang="en-US" sz="2800" dirty="0"/>
              <a:t>,</a:t>
            </a:r>
            <a:r>
              <a:rPr lang="en-US" altLang="en-US" sz="2400" dirty="0"/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400" dirty="0"/>
              <a:t> </a:t>
            </a:r>
            <a:r>
              <a:rPr lang="en-US" altLang="en-US" sz="2800" dirty="0"/>
              <a:t>is</a:t>
            </a:r>
            <a:r>
              <a:rPr lang="en-US" altLang="en-US" sz="2400" dirty="0"/>
              <a:t> </a:t>
            </a:r>
            <a:r>
              <a:rPr lang="en-US" altLang="en-US" sz="2800" dirty="0"/>
              <a:t>treated</a:t>
            </a:r>
            <a:r>
              <a:rPr lang="en-US" altLang="en-US" sz="2400" dirty="0"/>
              <a:t> </a:t>
            </a:r>
            <a:r>
              <a:rPr lang="en-US" altLang="en-US" sz="2800" dirty="0" smtClean="0"/>
              <a:t>as </a:t>
            </a:r>
            <a:r>
              <a:rPr lang="en-US" altLang="en-US" sz="2800" dirty="0">
                <a:solidFill>
                  <a:schemeClr val="tx1"/>
                </a:solidFill>
              </a:rPr>
              <a:t>False</a:t>
            </a:r>
            <a:r>
              <a:rPr lang="en-US" altLang="en-US" sz="2800" dirty="0">
                <a:solidFill>
                  <a:srgbClr val="FFC000"/>
                </a:solidFill>
              </a:rPr>
              <a:t> </a:t>
            </a:r>
            <a:r>
              <a:rPr lang="en-US" altLang="en-US" sz="2800" dirty="0"/>
              <a:t>(</a:t>
            </a:r>
            <a:r>
              <a:rPr lang="en-US" altLang="en-US" dirty="0"/>
              <a:t>just like in C++, </a:t>
            </a:r>
            <a:r>
              <a:rPr lang="en-US" altLang="en-US" dirty="0" err="1"/>
              <a:t>eg</a:t>
            </a:r>
            <a:r>
              <a:rPr lang="en-US" altLang="en-US" dirty="0"/>
              <a:t>:  </a:t>
            </a:r>
            <a:r>
              <a:rPr lang="en-US" altLang="en-US" i="1" dirty="0" err="1"/>
              <a:t>cin</a:t>
            </a:r>
            <a:r>
              <a:rPr lang="en-US" altLang="en-US" i="1" dirty="0"/>
              <a:t>&gt;&gt;x; if (</a:t>
            </a:r>
            <a:r>
              <a:rPr lang="en-US" altLang="en-US" b="1" i="1" dirty="0">
                <a:solidFill>
                  <a:srgbClr val="7030A0"/>
                </a:solidFill>
              </a:rPr>
              <a:t>!</a:t>
            </a:r>
            <a:r>
              <a:rPr lang="en-US" altLang="en-US" i="1" dirty="0">
                <a:solidFill>
                  <a:srgbClr val="FF0000"/>
                </a:solidFill>
              </a:rPr>
              <a:t>x</a:t>
            </a:r>
            <a:r>
              <a:rPr lang="en-US" altLang="en-US" i="1" dirty="0"/>
              <a:t>)</a:t>
            </a:r>
            <a:r>
              <a:rPr lang="en-US" altLang="en-US" i="1" dirty="0" err="1"/>
              <a:t>cout</a:t>
            </a:r>
            <a:r>
              <a:rPr lang="en-US" altLang="en-US" i="1" dirty="0"/>
              <a:t>&lt;&lt; "</a:t>
            </a:r>
            <a:r>
              <a:rPr lang="en-US" altLang="en-US" i="1" dirty="0">
                <a:solidFill>
                  <a:srgbClr val="FFC000"/>
                </a:solidFill>
              </a:rPr>
              <a:t>It was 0.</a:t>
            </a:r>
            <a:r>
              <a:rPr lang="en-US" altLang="en-US" i="1" dirty="0"/>
              <a:t>";</a:t>
            </a:r>
            <a:r>
              <a:rPr lang="en-US" altLang="en-US" sz="2800" dirty="0"/>
              <a:t>)</a:t>
            </a:r>
          </a:p>
          <a:p>
            <a:pPr lvl="1">
              <a:lnSpc>
                <a:spcPct val="7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 </a:t>
            </a:r>
            <a:r>
              <a:rPr lang="en-US" altLang="en-US" sz="2200" b="1" dirty="0" err="1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00B05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True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 </a:t>
            </a:r>
            <a:r>
              <a:rPr lang="en-US" altLang="en-US" sz="2200" b="1" dirty="0" err="1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0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FFC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False</a:t>
            </a:r>
          </a:p>
          <a:p>
            <a:pPr marL="285750" indent="-285750">
              <a:spcBef>
                <a:spcPts val="900"/>
              </a:spcBef>
            </a:pPr>
            <a:r>
              <a:rPr lang="en-US" altLang="en-US" sz="2800" spc="-50" dirty="0"/>
              <a:t>G</a:t>
            </a:r>
            <a:r>
              <a:rPr lang="en-US" altLang="en-US" sz="2800" spc="-70" dirty="0"/>
              <a:t>oin</a:t>
            </a:r>
            <a:r>
              <a:rPr lang="en-US" altLang="en-US" sz="2800" spc="-50" dirty="0"/>
              <a:t>g</a:t>
            </a:r>
            <a:r>
              <a:rPr lang="en-US" altLang="en-US" spc="-50" dirty="0"/>
              <a:t> </a:t>
            </a:r>
            <a:r>
              <a:rPr lang="en-US" altLang="en-US" sz="2800" spc="-50" dirty="0"/>
              <a:t>b</a:t>
            </a:r>
            <a:r>
              <a:rPr lang="en-US" altLang="en-US" sz="2800" spc="-110" dirty="0"/>
              <a:t>ey</a:t>
            </a:r>
            <a:r>
              <a:rPr lang="en-US" altLang="en-US" sz="2800" spc="-70" dirty="0"/>
              <a:t>on</a:t>
            </a:r>
            <a:r>
              <a:rPr lang="en-US" altLang="en-US" sz="2800" spc="-50" dirty="0"/>
              <a:t>d</a:t>
            </a:r>
            <a:r>
              <a:rPr lang="en-US" altLang="en-US" sz="2400" spc="-50" dirty="0"/>
              <a:t> </a:t>
            </a:r>
            <a:r>
              <a:rPr lang="en-US" altLang="en-US" sz="2800" spc="-160" dirty="0">
                <a:solidFill>
                  <a:srgbClr val="000000"/>
                </a:solidFill>
              </a:rPr>
              <a:t>C</a:t>
            </a:r>
            <a:r>
              <a:rPr lang="en-US" altLang="en-US" spc="-50" dirty="0">
                <a:solidFill>
                  <a:srgbClr val="000000"/>
                </a:solidFill>
              </a:rPr>
              <a:t>+</a:t>
            </a:r>
            <a:r>
              <a:rPr lang="en-US" altLang="en-US" spc="-460" dirty="0">
                <a:solidFill>
                  <a:srgbClr val="000000"/>
                </a:solidFill>
              </a:rPr>
              <a:t>+</a:t>
            </a:r>
            <a:r>
              <a:rPr lang="en-US" altLang="en-US" sz="2800" spc="-50" dirty="0">
                <a:solidFill>
                  <a:srgbClr val="000000"/>
                </a:solidFill>
              </a:rPr>
              <a:t>,</a:t>
            </a:r>
            <a:r>
              <a:rPr lang="en-US" altLang="en-US" sz="2400" spc="-50" dirty="0">
                <a:solidFill>
                  <a:srgbClr val="000000"/>
                </a:solidFill>
              </a:rPr>
              <a:t> </a:t>
            </a:r>
            <a:r>
              <a:rPr lang="en-US" altLang="en-US" sz="2800" spc="-50" dirty="0">
                <a:solidFill>
                  <a:srgbClr val="000000"/>
                </a:solidFill>
              </a:rPr>
              <a:t>Pyt</a:t>
            </a:r>
            <a:r>
              <a:rPr lang="en-US" altLang="en-US" sz="2800" spc="-70" dirty="0">
                <a:solidFill>
                  <a:srgbClr val="000000"/>
                </a:solidFill>
              </a:rPr>
              <a:t>hon</a:t>
            </a:r>
            <a:r>
              <a:rPr lang="en-US" altLang="en-US" sz="2400" spc="-70" dirty="0">
                <a:solidFill>
                  <a:srgbClr val="000000"/>
                </a:solidFill>
              </a:rPr>
              <a:t> </a:t>
            </a:r>
            <a:r>
              <a:rPr lang="en-US" altLang="en-US" sz="2800" spc="-70" dirty="0">
                <a:solidFill>
                  <a:srgbClr val="000000"/>
                </a:solidFill>
              </a:rPr>
              <a:t>als</a:t>
            </a:r>
            <a:r>
              <a:rPr lang="en-US" altLang="en-US" sz="2800" spc="-50" dirty="0">
                <a:solidFill>
                  <a:srgbClr val="000000"/>
                </a:solidFill>
              </a:rPr>
              <a:t>o</a:t>
            </a:r>
            <a:r>
              <a:rPr lang="en-US" altLang="en-US" sz="2400" spc="-50" dirty="0">
                <a:solidFill>
                  <a:srgbClr val="000000"/>
                </a:solidFill>
              </a:rPr>
              <a:t> </a:t>
            </a:r>
            <a:r>
              <a:rPr lang="en-US" altLang="en-US" sz="2800" spc="-50" dirty="0">
                <a:solidFill>
                  <a:srgbClr val="000000"/>
                </a:solidFill>
              </a:rPr>
              <a:t>treats</a:t>
            </a:r>
            <a:r>
              <a:rPr lang="en-US" altLang="en-US" sz="2400" spc="-50" dirty="0">
                <a:solidFill>
                  <a:srgbClr val="000000"/>
                </a:solidFill>
              </a:rPr>
              <a:t> </a:t>
            </a:r>
            <a:r>
              <a:rPr lang="en-US" altLang="en-US" sz="2800" spc="-50" dirty="0">
                <a:solidFill>
                  <a:srgbClr val="FF0000"/>
                </a:solidFill>
              </a:rPr>
              <a:t>empty</a:t>
            </a:r>
            <a:r>
              <a:rPr lang="en-US" altLang="en-US" sz="2000" spc="-50" dirty="0">
                <a:solidFill>
                  <a:srgbClr val="FF0000"/>
                </a:solidFill>
              </a:rPr>
              <a:t> </a:t>
            </a:r>
            <a:r>
              <a:rPr lang="en-US" altLang="en-US" sz="2800" spc="-50" dirty="0">
                <a:solidFill>
                  <a:srgbClr val="FF0000"/>
                </a:solidFill>
              </a:rPr>
              <a:t>things</a:t>
            </a:r>
            <a:r>
              <a:rPr lang="en-US" altLang="en-US" sz="2400" spc="-50" dirty="0">
                <a:solidFill>
                  <a:srgbClr val="FF0000"/>
                </a:solidFill>
              </a:rPr>
              <a:t> </a:t>
            </a:r>
            <a:r>
              <a:rPr lang="en-US" altLang="en-US" sz="2800" spc="-50" dirty="0">
                <a:solidFill>
                  <a:srgbClr val="000000"/>
                </a:solidFill>
              </a:rPr>
              <a:t>as </a:t>
            </a:r>
            <a:r>
              <a:rPr lang="en-US" altLang="en-US" sz="2800" spc="-210" dirty="0">
                <a:solidFill>
                  <a:srgbClr val="FFC000"/>
                </a:solidFill>
              </a:rPr>
              <a:t>F</a:t>
            </a:r>
            <a:r>
              <a:rPr lang="en-US" altLang="en-US" sz="2800" spc="-50" dirty="0">
                <a:solidFill>
                  <a:srgbClr val="FFC000"/>
                </a:solidFill>
              </a:rPr>
              <a:t>als</a:t>
            </a:r>
            <a:r>
              <a:rPr lang="en-US" altLang="en-US" sz="2800" spc="-100" dirty="0">
                <a:solidFill>
                  <a:srgbClr val="FFC000"/>
                </a:solidFill>
              </a:rPr>
              <a:t>e</a:t>
            </a:r>
            <a:r>
              <a:rPr lang="en-US" altLang="en-US" sz="2800" spc="-50" dirty="0"/>
              <a:t>: </a:t>
            </a:r>
          </a:p>
          <a:p>
            <a:pPr lvl="1">
              <a:lnSpc>
                <a:spcPct val="70000"/>
              </a:lnSpc>
              <a:spcBef>
                <a:spcPts val="30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 </a:t>
            </a:r>
            <a:r>
              <a:rPr lang="en-US" altLang="en-US" sz="2200" b="1" dirty="0" err="1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""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[]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()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{}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set()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FFC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False</a:t>
            </a:r>
          </a:p>
          <a:p>
            <a:pPr marL="285750" indent="-285750">
              <a:spcBef>
                <a:spcPts val="900"/>
              </a:spcBef>
            </a:pPr>
            <a:r>
              <a:rPr lang="en-US" altLang="en-US" sz="2800" spc="-100" dirty="0"/>
              <a:t>No</a:t>
            </a:r>
            <a:r>
              <a:rPr lang="en-US" altLang="en-US" sz="2800" spc="-80" dirty="0"/>
              <a:t>n-</a:t>
            </a:r>
            <a:r>
              <a:rPr lang="en-US" altLang="en-US" sz="2800" spc="-80" dirty="0" err="1"/>
              <a:t>boolean</a:t>
            </a:r>
            <a:r>
              <a:rPr lang="en-US" altLang="en-US" sz="2800" spc="-50" dirty="0" err="1"/>
              <a:t>s</a:t>
            </a:r>
            <a:r>
              <a:rPr lang="en-US" altLang="en-US" sz="1800" dirty="0"/>
              <a:t> </a:t>
            </a:r>
            <a:r>
              <a:rPr lang="en-US" altLang="en-US" sz="2800" b="1" i="1" spc="-100" dirty="0"/>
              <a:t>keep their original value</a:t>
            </a:r>
            <a:r>
              <a:rPr lang="en-US" altLang="en-US" sz="2800" b="1" i="1" spc="-300" dirty="0"/>
              <a:t>s</a:t>
            </a:r>
            <a:r>
              <a:rPr lang="en-US" altLang="en-US" sz="2800" dirty="0"/>
              <a:t>,</a:t>
            </a:r>
            <a:r>
              <a:rPr lang="en-US" altLang="en-US" sz="1800" dirty="0"/>
              <a:t> </a:t>
            </a:r>
            <a:r>
              <a:rPr lang="en-US" altLang="en-US" sz="2800" spc="-50" dirty="0"/>
              <a:t>w</a:t>
            </a:r>
            <a:r>
              <a:rPr lang="en-US" altLang="en-US" sz="2800" spc="-80" dirty="0"/>
              <a:t>he</a:t>
            </a:r>
            <a:r>
              <a:rPr lang="en-US" altLang="en-US" sz="2800" spc="-50" dirty="0"/>
              <a:t>n</a:t>
            </a:r>
            <a:r>
              <a:rPr lang="en-US" altLang="en-US" sz="2400" spc="-50" dirty="0"/>
              <a:t> </a:t>
            </a:r>
            <a:r>
              <a:rPr lang="en-US" altLang="en-US" sz="2800" spc="-50" dirty="0"/>
              <a:t>used</a:t>
            </a:r>
            <a:r>
              <a:rPr lang="en-US" altLang="en-US" sz="2400" spc="-50" dirty="0"/>
              <a:t> </a:t>
            </a:r>
            <a:r>
              <a:rPr lang="en-US" altLang="en-US" sz="2800" spc="-50" dirty="0"/>
              <a:t>in</a:t>
            </a:r>
            <a:r>
              <a:rPr lang="en-US" altLang="en-US" sz="2400" spc="-50" dirty="0"/>
              <a:t> </a:t>
            </a:r>
            <a:r>
              <a:rPr lang="en-US" altLang="en-US" sz="2800" spc="-80" dirty="0" smtClean="0"/>
              <a:t>logi</a:t>
            </a:r>
            <a:r>
              <a:rPr lang="en-US" altLang="en-US" sz="2800" spc="-100" dirty="0" smtClean="0"/>
              <a:t>c</a:t>
            </a:r>
            <a:r>
              <a:rPr lang="en-US" altLang="en-US" sz="2800" dirty="0" smtClean="0"/>
              <a:t>:</a:t>
            </a:r>
            <a:endParaRPr lang="en-US" altLang="en-US" sz="2800" dirty="0"/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</a:p>
          <a:p>
            <a:pPr marL="457200" lvl="1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&gt;&gt;&gt;</a:t>
            </a:r>
            <a:r>
              <a:rPr lang="en-US" altLang="en-US" sz="2200" spc="-100" dirty="0">
                <a:solidFill>
                  <a:srgbClr val="FFFFFF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5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and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6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and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7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\</a:t>
            </a:r>
            <a:r>
              <a:rPr lang="en-US" altLang="en-US" sz="2200" spc="-100" dirty="0">
                <a:solidFill>
                  <a:srgbClr val="FF9393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#</a:t>
            </a:r>
            <a:r>
              <a:rPr lang="en-US" altLang="en-US" sz="2200" spc="-10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If you have</a:t>
            </a:r>
            <a:r>
              <a:rPr lang="en-US" altLang="en-US" sz="1200" dirty="0">
                <a:solidFill>
                  <a:srgbClr val="FF9393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00B05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True</a:t>
            </a:r>
            <a:r>
              <a:rPr lang="en-US" altLang="en-US" sz="2000" dirty="0">
                <a:solidFill>
                  <a:srgbClr val="FF9393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and</a:t>
            </a:r>
            <a:r>
              <a:rPr lang="en-US" altLang="en-US" sz="20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00B05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True</a:t>
            </a:r>
            <a:r>
              <a:rPr lang="en-US" altLang="en-US" sz="2000" dirty="0">
                <a:solidFill>
                  <a:srgbClr val="FF9393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and</a:t>
            </a:r>
            <a:r>
              <a:rPr lang="en-US" altLang="en-US" sz="20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0C77C3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Somethin</a:t>
            </a:r>
            <a:r>
              <a:rPr lang="en-US" altLang="en-US" sz="2200" spc="-100" dirty="0">
                <a:solidFill>
                  <a:srgbClr val="0C77C3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g</a:t>
            </a:r>
            <a:r>
              <a:rPr lang="en-US" altLang="en-US" sz="220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, </a:t>
            </a:r>
          </a:p>
          <a:p>
            <a:pPr marL="457200" lvl="1" indent="0" eaLnBrk="1" fontAlgn="auto" hangingPunct="1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... </a:t>
            </a:r>
            <a:r>
              <a:rPr lang="en-US" altLang="en-US" sz="220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#</a:t>
            </a:r>
            <a:r>
              <a:rPr lang="en-US" altLang="en-US" sz="2200" spc="-4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yo</a:t>
            </a:r>
            <a:r>
              <a:rPr lang="en-US" altLang="en-US" sz="220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u still </a:t>
            </a:r>
            <a:r>
              <a:rPr lang="en-US" altLang="en-US" sz="2200" spc="-4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need</a:t>
            </a:r>
            <a:r>
              <a:rPr lang="en-US" altLang="en-US" sz="220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 to </a:t>
            </a:r>
            <a:r>
              <a:rPr lang="en-US" altLang="en-US" sz="2200" spc="-5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evaluate </a:t>
            </a:r>
            <a:r>
              <a:rPr lang="en-US" altLang="en-US" sz="220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t</a:t>
            </a:r>
            <a:r>
              <a:rPr lang="en-US" altLang="en-US" sz="2200" spc="-5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h</a:t>
            </a:r>
            <a:r>
              <a:rPr lang="en-US" altLang="en-US" sz="220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e </a:t>
            </a: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something</a:t>
            </a:r>
            <a:r>
              <a:rPr lang="en-US" altLang="en-US" sz="2200" dirty="0">
                <a:solidFill>
                  <a:srgbClr val="FF9393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lang="en-US" altLang="en-US" sz="2200" spc="-40" dirty="0" smtClean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so </a:t>
            </a:r>
            <a:r>
              <a:rPr lang="en-US" altLang="en-US" sz="2200" spc="-4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we get an answer o</a:t>
            </a:r>
            <a:r>
              <a:rPr lang="en-US" altLang="en-US" sz="220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f:</a:t>
            </a:r>
          </a:p>
          <a:p>
            <a:pPr marL="457200" lvl="1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7</a:t>
            </a:r>
          </a:p>
          <a:p>
            <a:pPr marL="457200" lvl="1" indent="0" eaLnBrk="1" fontAlgn="auto" hangingPunct="1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&gt;&gt;&gt;</a:t>
            </a:r>
            <a:r>
              <a:rPr lang="en-US" altLang="en-US" sz="2200" spc="-100" dirty="0">
                <a:solidFill>
                  <a:srgbClr val="FFFFFF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(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5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spc="-100" dirty="0" smtClean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or</a:t>
            </a:r>
            <a:r>
              <a:rPr lang="en-US" altLang="en-US" sz="2000" spc="-100" dirty="0" smtClean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6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)</a:t>
            </a:r>
            <a:r>
              <a:rPr lang="en-US" altLang="en-US" sz="1800" spc="-1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spc="-100" dirty="0" smtClean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and</a:t>
            </a:r>
            <a:r>
              <a:rPr lang="en-US" altLang="en-US" sz="2000" spc="-100" dirty="0" smtClean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7</a:t>
            </a:r>
          </a:p>
          <a:p>
            <a:pPr marL="457200" lvl="1" indent="0" eaLnBrk="1" fontAlgn="auto" hangingPunct="1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7</a:t>
            </a:r>
          </a:p>
          <a:p>
            <a:pPr marL="457200" lvl="1" indent="0" eaLnBrk="1" fontAlgn="auto" hangingPunct="1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spc="-100" dirty="0" smtClean="0">
                <a:solidFill>
                  <a:srgbClr val="BFBFBF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&gt;&gt;&gt;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5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6</a:t>
            </a:r>
            <a:r>
              <a:rPr lang="en-US" altLang="en-US" sz="16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and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7 </a:t>
            </a: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# </a:t>
            </a:r>
            <a:r>
              <a:rPr lang="en-US" altLang="en-US" sz="2200" spc="-30" dirty="0">
                <a:solidFill>
                  <a:srgbClr val="FF9393"/>
                </a:solidFill>
                <a:cs typeface="Arial" panose="020B0604020202020204" pitchFamily="34" charset="0"/>
              </a:rPr>
              <a:t>What</a:t>
            </a:r>
            <a:r>
              <a:rPr lang="en-US" altLang="en-US" sz="2000" spc="-30" dirty="0">
                <a:solidFill>
                  <a:srgbClr val="FF9393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spc="-30" dirty="0">
                <a:solidFill>
                  <a:srgbClr val="FF9393"/>
                </a:solidFill>
                <a:cs typeface="Arial" panose="020B0604020202020204" pitchFamily="34" charset="0"/>
              </a:rPr>
              <a:t>is the and/or precedence rule?</a:t>
            </a:r>
            <a:endParaRPr lang="en-US" altLang="en-US" sz="2200" spc="-30" dirty="0">
              <a:solidFill>
                <a:srgbClr val="7030A0"/>
              </a:solidFill>
              <a:latin typeface="Lucida Console" panose="020B0609040504020204" pitchFamily="49" charset="0"/>
              <a:ea typeface="+mn-ea"/>
              <a:cs typeface="Arial" panose="020B0604020202020204" pitchFamily="34" charset="0"/>
            </a:endParaRPr>
          </a:p>
          <a:p>
            <a:pPr marL="457200" lvl="1" indent="0" eaLnBrk="1" fontAlgn="auto" hangingPunct="1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5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 smtClean="0">
                <a:solidFill>
                  <a:srgbClr val="FFFFFF">
                    <a:lumMod val="75000"/>
                  </a:srgbClr>
                </a:solidFill>
                <a:latin typeface="Lucida Console" pitchFamily="49" charset="0"/>
              </a:rPr>
              <a:t>&gt;&gt;&gt;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a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spc="-100" dirty="0">
                <a:solidFill>
                  <a:srgbClr val="FF0000"/>
                </a:solidFill>
                <a:latin typeface="Lucida Console" pitchFamily="49" charset="0"/>
              </a:rPr>
              <a:t>0+0j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spc="-100" dirty="0">
                <a:solidFill>
                  <a:srgbClr val="FF0000"/>
                </a:solidFill>
                <a:latin typeface="Lucida Console" pitchFamily="49" charset="0"/>
              </a:rPr>
              <a:t>{}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spc="-100" dirty="0">
                <a:solidFill>
                  <a:srgbClr val="FF0000"/>
                </a:solidFill>
                <a:latin typeface="Lucida Console" pitchFamily="49" charset="0"/>
              </a:rPr>
              <a:t>''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d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'string!'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 smtClean="0">
                <a:solidFill>
                  <a:srgbClr val="0070C0"/>
                </a:solidFill>
                <a:latin typeface="Lucida Console" pitchFamily="49" charset="0"/>
              </a:rPr>
              <a:t>e</a:t>
            </a:r>
            <a:r>
              <a:rPr lang="en-US" altLang="en-US" sz="2200" spc="-100" dirty="0" smtClean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b="1" spc="-100" dirty="0" smtClean="0">
                <a:solidFill>
                  <a:srgbClr val="0070C0"/>
                </a:solidFill>
                <a:latin typeface="Lucida Console" pitchFamily="49" charset="0"/>
              </a:rPr>
              <a:t>2.718</a:t>
            </a:r>
            <a:endParaRPr lang="en-US" altLang="en-US" sz="2200" b="1" spc="-100" dirty="0">
              <a:solidFill>
                <a:srgbClr val="0070C0"/>
              </a:solidFill>
              <a:latin typeface="Lucida Console" pitchFamily="49" charset="0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itchFamily="49" charset="0"/>
              </a:rPr>
              <a:t>&gt;&gt;&gt;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print("First non-null:",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a 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or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 or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c 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or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d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 or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e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)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First non-null: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string!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Non-Booleans in Comparisons</a:t>
            </a:r>
          </a:p>
        </p:txBody>
      </p:sp>
    </p:spTree>
    <p:extLst>
      <p:ext uri="{BB962C8B-B14F-4D97-AF65-F5344CB8AC3E}">
        <p14:creationId xmlns:p14="http://schemas.microsoft.com/office/powerpoint/2010/main" val="1107508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"/>
    </mc:Choice>
    <mc:Fallback xmlns="">
      <p:transition spd="slow" advClick="0" advTm="200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8256" y="609600"/>
            <a:ext cx="10333038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285750" indent="-285750">
              <a:lnSpc>
                <a:spcPct val="90000"/>
              </a:lnSpc>
              <a:spcBef>
                <a:spcPts val="1200"/>
              </a:spcBef>
            </a:pPr>
            <a:r>
              <a:rPr lang="en-US" altLang="en-US" sz="2800" dirty="0"/>
              <a:t>When</a:t>
            </a:r>
            <a:r>
              <a:rPr lang="en-US" altLang="en-US" sz="2400" dirty="0"/>
              <a:t> </a:t>
            </a:r>
            <a:r>
              <a:rPr lang="en-US" altLang="en-US" sz="2800" b="1" spc="-100" dirty="0">
                <a:solidFill>
                  <a:srgbClr val="0070C0"/>
                </a:solidFill>
              </a:rPr>
              <a:t>non-</a:t>
            </a:r>
            <a:r>
              <a:rPr lang="en-US" altLang="en-US" sz="2800" b="1" spc="-100" dirty="0" err="1">
                <a:solidFill>
                  <a:srgbClr val="0070C0"/>
                </a:solidFill>
              </a:rPr>
              <a:t>booleans</a:t>
            </a:r>
            <a:r>
              <a:rPr lang="en-US" altLang="en-US" sz="2400" dirty="0"/>
              <a:t> </a:t>
            </a:r>
            <a:r>
              <a:rPr lang="en-US" altLang="en-US" sz="2800" dirty="0"/>
              <a:t>are</a:t>
            </a:r>
            <a:r>
              <a:rPr lang="en-US" altLang="en-US" sz="2400" dirty="0"/>
              <a:t> </a:t>
            </a:r>
            <a:r>
              <a:rPr lang="en-US" altLang="en-US" sz="2800" b="1" spc="-100" dirty="0">
                <a:solidFill>
                  <a:srgbClr val="7030A0"/>
                </a:solidFill>
              </a:rPr>
              <a:t>used</a:t>
            </a:r>
            <a:r>
              <a:rPr lang="en-US" altLang="en-US" sz="2400" b="1" spc="-100" dirty="0">
                <a:solidFill>
                  <a:srgbClr val="7030A0"/>
                </a:solidFill>
              </a:rPr>
              <a:t> </a:t>
            </a:r>
            <a:r>
              <a:rPr lang="en-US" altLang="en-US" sz="2800" b="1" spc="-100" dirty="0">
                <a:solidFill>
                  <a:srgbClr val="7030A0"/>
                </a:solidFill>
              </a:rPr>
              <a:t>as </a:t>
            </a:r>
            <a:r>
              <a:rPr lang="en-US" altLang="en-US" sz="2800" b="1" spc="-100" dirty="0" err="1">
                <a:solidFill>
                  <a:srgbClr val="7030A0"/>
                </a:solidFill>
              </a:rPr>
              <a:t>booleans</a:t>
            </a:r>
            <a:r>
              <a:rPr lang="en-US" altLang="en-US" sz="2800" dirty="0"/>
              <a:t>,</a:t>
            </a:r>
            <a:r>
              <a:rPr lang="en-US" altLang="en-US" sz="2400" dirty="0"/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400" dirty="0"/>
              <a:t> </a:t>
            </a:r>
            <a:r>
              <a:rPr lang="en-US" altLang="en-US" sz="2800" dirty="0"/>
              <a:t>is</a:t>
            </a:r>
            <a:r>
              <a:rPr lang="en-US" altLang="en-US" sz="2400" dirty="0"/>
              <a:t> </a:t>
            </a:r>
            <a:r>
              <a:rPr lang="en-US" altLang="en-US" sz="2800" dirty="0"/>
              <a:t>treated</a:t>
            </a:r>
            <a:r>
              <a:rPr lang="en-US" altLang="en-US" sz="2400" dirty="0"/>
              <a:t> </a:t>
            </a:r>
            <a:r>
              <a:rPr lang="en-US" altLang="en-US" sz="2800" dirty="0" smtClean="0"/>
              <a:t>as </a:t>
            </a:r>
            <a:r>
              <a:rPr lang="en-US" altLang="en-US" sz="2800" dirty="0">
                <a:solidFill>
                  <a:schemeClr val="tx1"/>
                </a:solidFill>
              </a:rPr>
              <a:t>False</a:t>
            </a:r>
            <a:r>
              <a:rPr lang="en-US" altLang="en-US" sz="2800" dirty="0">
                <a:solidFill>
                  <a:srgbClr val="FFC000"/>
                </a:solidFill>
              </a:rPr>
              <a:t> </a:t>
            </a:r>
            <a:r>
              <a:rPr lang="en-US" altLang="en-US" sz="2800" dirty="0"/>
              <a:t>(</a:t>
            </a:r>
            <a:r>
              <a:rPr lang="en-US" altLang="en-US" dirty="0"/>
              <a:t>just like in C++, </a:t>
            </a:r>
            <a:r>
              <a:rPr lang="en-US" altLang="en-US" dirty="0" err="1"/>
              <a:t>eg</a:t>
            </a:r>
            <a:r>
              <a:rPr lang="en-US" altLang="en-US" dirty="0"/>
              <a:t>:  </a:t>
            </a:r>
            <a:r>
              <a:rPr lang="en-US" altLang="en-US" i="1" dirty="0" err="1"/>
              <a:t>cin</a:t>
            </a:r>
            <a:r>
              <a:rPr lang="en-US" altLang="en-US" i="1" dirty="0"/>
              <a:t>&gt;&gt;x; if (</a:t>
            </a:r>
            <a:r>
              <a:rPr lang="en-US" altLang="en-US" b="1" i="1" dirty="0">
                <a:solidFill>
                  <a:srgbClr val="7030A0"/>
                </a:solidFill>
              </a:rPr>
              <a:t>!</a:t>
            </a:r>
            <a:r>
              <a:rPr lang="en-US" altLang="en-US" i="1" dirty="0">
                <a:solidFill>
                  <a:srgbClr val="FF0000"/>
                </a:solidFill>
              </a:rPr>
              <a:t>x</a:t>
            </a:r>
            <a:r>
              <a:rPr lang="en-US" altLang="en-US" i="1" dirty="0"/>
              <a:t>)</a:t>
            </a:r>
            <a:r>
              <a:rPr lang="en-US" altLang="en-US" i="1" dirty="0" err="1"/>
              <a:t>cout</a:t>
            </a:r>
            <a:r>
              <a:rPr lang="en-US" altLang="en-US" i="1" dirty="0"/>
              <a:t>&lt;&lt; "</a:t>
            </a:r>
            <a:r>
              <a:rPr lang="en-US" altLang="en-US" i="1" dirty="0">
                <a:solidFill>
                  <a:srgbClr val="FFC000"/>
                </a:solidFill>
              </a:rPr>
              <a:t>It was 0.</a:t>
            </a:r>
            <a:r>
              <a:rPr lang="en-US" altLang="en-US" i="1" dirty="0"/>
              <a:t>";</a:t>
            </a:r>
            <a:r>
              <a:rPr lang="en-US" altLang="en-US" sz="2800" dirty="0"/>
              <a:t>)</a:t>
            </a:r>
          </a:p>
          <a:p>
            <a:pPr lvl="1">
              <a:lnSpc>
                <a:spcPct val="7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 </a:t>
            </a:r>
            <a:r>
              <a:rPr lang="en-US" altLang="en-US" sz="2200" b="1" dirty="0" err="1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00B05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True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 </a:t>
            </a:r>
            <a:r>
              <a:rPr lang="en-US" altLang="en-US" sz="2200" b="1" dirty="0" err="1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0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FFC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False</a:t>
            </a:r>
          </a:p>
          <a:p>
            <a:pPr marL="285750" indent="-285750">
              <a:spcBef>
                <a:spcPts val="900"/>
              </a:spcBef>
            </a:pPr>
            <a:r>
              <a:rPr lang="en-US" altLang="en-US" sz="2800" spc="-50" dirty="0" smtClean="0"/>
              <a:t>G</a:t>
            </a:r>
            <a:r>
              <a:rPr lang="en-US" altLang="en-US" sz="2800" spc="-70" dirty="0" smtClean="0"/>
              <a:t>oin</a:t>
            </a:r>
            <a:r>
              <a:rPr lang="en-US" altLang="en-US" sz="2800" spc="-50" dirty="0" smtClean="0"/>
              <a:t>g</a:t>
            </a:r>
            <a:r>
              <a:rPr lang="en-US" altLang="en-US" spc="-50" dirty="0" smtClean="0"/>
              <a:t> </a:t>
            </a:r>
            <a:r>
              <a:rPr lang="en-US" altLang="en-US" sz="2800" spc="-50" dirty="0"/>
              <a:t>b</a:t>
            </a:r>
            <a:r>
              <a:rPr lang="en-US" altLang="en-US" sz="2800" spc="-110" dirty="0"/>
              <a:t>ey</a:t>
            </a:r>
            <a:r>
              <a:rPr lang="en-US" altLang="en-US" sz="2800" spc="-70" dirty="0"/>
              <a:t>on</a:t>
            </a:r>
            <a:r>
              <a:rPr lang="en-US" altLang="en-US" sz="2800" spc="-50" dirty="0"/>
              <a:t>d</a:t>
            </a:r>
            <a:r>
              <a:rPr lang="en-US" altLang="en-US" sz="2400" spc="-50" dirty="0"/>
              <a:t> </a:t>
            </a:r>
            <a:r>
              <a:rPr lang="en-US" altLang="en-US" sz="2800" spc="-160" dirty="0">
                <a:solidFill>
                  <a:srgbClr val="000000"/>
                </a:solidFill>
              </a:rPr>
              <a:t>C</a:t>
            </a:r>
            <a:r>
              <a:rPr lang="en-US" altLang="en-US" spc="-50" dirty="0">
                <a:solidFill>
                  <a:srgbClr val="000000"/>
                </a:solidFill>
              </a:rPr>
              <a:t>+</a:t>
            </a:r>
            <a:r>
              <a:rPr lang="en-US" altLang="en-US" spc="-460" dirty="0">
                <a:solidFill>
                  <a:srgbClr val="000000"/>
                </a:solidFill>
              </a:rPr>
              <a:t>+</a:t>
            </a:r>
            <a:r>
              <a:rPr lang="en-US" altLang="en-US" sz="2800" spc="-50" dirty="0">
                <a:solidFill>
                  <a:srgbClr val="000000"/>
                </a:solidFill>
              </a:rPr>
              <a:t>,</a:t>
            </a:r>
            <a:r>
              <a:rPr lang="en-US" altLang="en-US" sz="2400" spc="-50" dirty="0">
                <a:solidFill>
                  <a:srgbClr val="000000"/>
                </a:solidFill>
              </a:rPr>
              <a:t> </a:t>
            </a:r>
            <a:r>
              <a:rPr lang="en-US" altLang="en-US" sz="2800" spc="-50" dirty="0">
                <a:solidFill>
                  <a:srgbClr val="000000"/>
                </a:solidFill>
              </a:rPr>
              <a:t>Pyt</a:t>
            </a:r>
            <a:r>
              <a:rPr lang="en-US" altLang="en-US" sz="2800" spc="-70" dirty="0">
                <a:solidFill>
                  <a:srgbClr val="000000"/>
                </a:solidFill>
              </a:rPr>
              <a:t>hon</a:t>
            </a:r>
            <a:r>
              <a:rPr lang="en-US" altLang="en-US" sz="2400" spc="-70" dirty="0">
                <a:solidFill>
                  <a:srgbClr val="000000"/>
                </a:solidFill>
              </a:rPr>
              <a:t> </a:t>
            </a:r>
            <a:r>
              <a:rPr lang="en-US" altLang="en-US" sz="2800" spc="-70" dirty="0">
                <a:solidFill>
                  <a:srgbClr val="000000"/>
                </a:solidFill>
              </a:rPr>
              <a:t>als</a:t>
            </a:r>
            <a:r>
              <a:rPr lang="en-US" altLang="en-US" sz="2800" spc="-50" dirty="0">
                <a:solidFill>
                  <a:srgbClr val="000000"/>
                </a:solidFill>
              </a:rPr>
              <a:t>o</a:t>
            </a:r>
            <a:r>
              <a:rPr lang="en-US" altLang="en-US" sz="2400" spc="-50" dirty="0">
                <a:solidFill>
                  <a:srgbClr val="000000"/>
                </a:solidFill>
              </a:rPr>
              <a:t> </a:t>
            </a:r>
            <a:r>
              <a:rPr lang="en-US" altLang="en-US" sz="2800" spc="-50" dirty="0">
                <a:solidFill>
                  <a:srgbClr val="000000"/>
                </a:solidFill>
              </a:rPr>
              <a:t>treats</a:t>
            </a:r>
            <a:r>
              <a:rPr lang="en-US" altLang="en-US" sz="2400" spc="-50" dirty="0">
                <a:solidFill>
                  <a:srgbClr val="000000"/>
                </a:solidFill>
              </a:rPr>
              <a:t> </a:t>
            </a:r>
            <a:r>
              <a:rPr lang="en-US" altLang="en-US" sz="2800" spc="-50" dirty="0">
                <a:solidFill>
                  <a:srgbClr val="FF0000"/>
                </a:solidFill>
              </a:rPr>
              <a:t>empty</a:t>
            </a:r>
            <a:r>
              <a:rPr lang="en-US" altLang="en-US" sz="2000" spc="-50" dirty="0">
                <a:solidFill>
                  <a:srgbClr val="FF0000"/>
                </a:solidFill>
              </a:rPr>
              <a:t> </a:t>
            </a:r>
            <a:r>
              <a:rPr lang="en-US" altLang="en-US" sz="2800" spc="-50" dirty="0">
                <a:solidFill>
                  <a:srgbClr val="FF0000"/>
                </a:solidFill>
              </a:rPr>
              <a:t>things</a:t>
            </a:r>
            <a:r>
              <a:rPr lang="en-US" altLang="en-US" sz="2400" spc="-50" dirty="0">
                <a:solidFill>
                  <a:srgbClr val="FF0000"/>
                </a:solidFill>
              </a:rPr>
              <a:t> </a:t>
            </a:r>
            <a:r>
              <a:rPr lang="en-US" altLang="en-US" sz="2800" spc="-50" dirty="0">
                <a:solidFill>
                  <a:srgbClr val="000000"/>
                </a:solidFill>
              </a:rPr>
              <a:t>as </a:t>
            </a:r>
            <a:r>
              <a:rPr lang="en-US" altLang="en-US" sz="2800" spc="-210" dirty="0">
                <a:solidFill>
                  <a:srgbClr val="FFC000"/>
                </a:solidFill>
              </a:rPr>
              <a:t>F</a:t>
            </a:r>
            <a:r>
              <a:rPr lang="en-US" altLang="en-US" sz="2800" spc="-50" dirty="0">
                <a:solidFill>
                  <a:srgbClr val="FFC000"/>
                </a:solidFill>
              </a:rPr>
              <a:t>als</a:t>
            </a:r>
            <a:r>
              <a:rPr lang="en-US" altLang="en-US" sz="2800" spc="-100" dirty="0">
                <a:solidFill>
                  <a:srgbClr val="FFC000"/>
                </a:solidFill>
              </a:rPr>
              <a:t>e</a:t>
            </a:r>
            <a:r>
              <a:rPr lang="en-US" altLang="en-US" sz="2800" spc="-50" dirty="0"/>
              <a:t>: </a:t>
            </a:r>
          </a:p>
          <a:p>
            <a:pPr lvl="1">
              <a:lnSpc>
                <a:spcPct val="70000"/>
              </a:lnSpc>
              <a:spcBef>
                <a:spcPts val="30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 </a:t>
            </a:r>
            <a:r>
              <a:rPr lang="en-US" altLang="en-US" sz="2200" b="1" dirty="0" err="1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""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[]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()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{}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set()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FFC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False</a:t>
            </a:r>
          </a:p>
          <a:p>
            <a:pPr marL="285750" indent="-285750">
              <a:spcBef>
                <a:spcPts val="900"/>
              </a:spcBef>
            </a:pPr>
            <a:r>
              <a:rPr lang="en-US" altLang="en-US" sz="2800" spc="-100" dirty="0"/>
              <a:t>No</a:t>
            </a:r>
            <a:r>
              <a:rPr lang="en-US" altLang="en-US" sz="2800" spc="-80" dirty="0"/>
              <a:t>n-</a:t>
            </a:r>
            <a:r>
              <a:rPr lang="en-US" altLang="en-US" sz="2800" spc="-80" dirty="0" err="1"/>
              <a:t>boolean</a:t>
            </a:r>
            <a:r>
              <a:rPr lang="en-US" altLang="en-US" sz="2800" spc="-50" dirty="0" err="1"/>
              <a:t>s</a:t>
            </a:r>
            <a:r>
              <a:rPr lang="en-US" altLang="en-US" sz="1800" dirty="0"/>
              <a:t> </a:t>
            </a:r>
            <a:r>
              <a:rPr lang="en-US" altLang="en-US" sz="2800" b="1" i="1" spc="-100" dirty="0"/>
              <a:t>keep their original value</a:t>
            </a:r>
            <a:r>
              <a:rPr lang="en-US" altLang="en-US" sz="2800" b="1" i="1" spc="-300" dirty="0"/>
              <a:t>s</a:t>
            </a:r>
            <a:r>
              <a:rPr lang="en-US" altLang="en-US" sz="2800" dirty="0"/>
              <a:t>,</a:t>
            </a:r>
            <a:r>
              <a:rPr lang="en-US" altLang="en-US" sz="1800" dirty="0"/>
              <a:t> </a:t>
            </a:r>
            <a:r>
              <a:rPr lang="en-US" altLang="en-US" sz="2800" spc="-50" dirty="0"/>
              <a:t>w</a:t>
            </a:r>
            <a:r>
              <a:rPr lang="en-US" altLang="en-US" sz="2800" spc="-80" dirty="0"/>
              <a:t>he</a:t>
            </a:r>
            <a:r>
              <a:rPr lang="en-US" altLang="en-US" sz="2800" spc="-50" dirty="0"/>
              <a:t>n</a:t>
            </a:r>
            <a:r>
              <a:rPr lang="en-US" altLang="en-US" sz="2400" spc="-50" dirty="0"/>
              <a:t> </a:t>
            </a:r>
            <a:r>
              <a:rPr lang="en-US" altLang="en-US" sz="2800" spc="-50" dirty="0"/>
              <a:t>used</a:t>
            </a:r>
            <a:r>
              <a:rPr lang="en-US" altLang="en-US" sz="2400" spc="-50" dirty="0"/>
              <a:t> </a:t>
            </a:r>
            <a:r>
              <a:rPr lang="en-US" altLang="en-US" sz="2800" spc="-50" dirty="0"/>
              <a:t>in</a:t>
            </a:r>
            <a:r>
              <a:rPr lang="en-US" altLang="en-US" sz="2400" spc="-50" dirty="0"/>
              <a:t> </a:t>
            </a:r>
            <a:r>
              <a:rPr lang="en-US" altLang="en-US" sz="2800" spc="-80" dirty="0" smtClean="0"/>
              <a:t>logi</a:t>
            </a:r>
            <a:r>
              <a:rPr lang="en-US" altLang="en-US" sz="2800" spc="-100" dirty="0" smtClean="0"/>
              <a:t>c</a:t>
            </a:r>
            <a:r>
              <a:rPr lang="en-US" altLang="en-US" sz="2800" dirty="0" smtClean="0"/>
              <a:t>:</a:t>
            </a:r>
            <a:endParaRPr lang="en-US" altLang="en-US" sz="2800" dirty="0"/>
          </a:p>
          <a:p>
            <a:pPr marL="457200" lvl="1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&gt;&gt;&gt;</a:t>
            </a:r>
            <a:r>
              <a:rPr lang="en-US" altLang="en-US" sz="2200" spc="-100" dirty="0">
                <a:solidFill>
                  <a:srgbClr val="FFFFFF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5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and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6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and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7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\</a:t>
            </a:r>
            <a:r>
              <a:rPr lang="en-US" altLang="en-US" sz="2200" spc="-100" dirty="0">
                <a:solidFill>
                  <a:srgbClr val="FF9393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#</a:t>
            </a:r>
            <a:r>
              <a:rPr lang="en-US" altLang="en-US" sz="2200" spc="-10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If you have</a:t>
            </a:r>
            <a:r>
              <a:rPr lang="en-US" altLang="en-US" sz="1200" dirty="0">
                <a:solidFill>
                  <a:srgbClr val="FF9393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00B05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True</a:t>
            </a:r>
            <a:r>
              <a:rPr lang="en-US" altLang="en-US" sz="2000" dirty="0">
                <a:solidFill>
                  <a:srgbClr val="FF9393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and</a:t>
            </a:r>
            <a:r>
              <a:rPr lang="en-US" altLang="en-US" sz="20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00B05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True</a:t>
            </a:r>
            <a:r>
              <a:rPr lang="en-US" altLang="en-US" sz="2000" dirty="0">
                <a:solidFill>
                  <a:srgbClr val="FF9393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and</a:t>
            </a:r>
            <a:r>
              <a:rPr lang="en-US" altLang="en-US" sz="20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0C77C3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Somethin</a:t>
            </a:r>
            <a:r>
              <a:rPr lang="en-US" altLang="en-US" sz="2200" spc="-100" dirty="0">
                <a:solidFill>
                  <a:srgbClr val="0C77C3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g</a:t>
            </a:r>
            <a:r>
              <a:rPr lang="en-US" altLang="en-US" sz="220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, </a:t>
            </a:r>
          </a:p>
          <a:p>
            <a:pPr marL="457200" lvl="1" indent="0" eaLnBrk="1" fontAlgn="auto" hangingPunct="1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... </a:t>
            </a:r>
            <a:r>
              <a:rPr lang="en-US" altLang="en-US" sz="220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#</a:t>
            </a:r>
            <a:r>
              <a:rPr lang="en-US" altLang="en-US" sz="2200" spc="-4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yo</a:t>
            </a:r>
            <a:r>
              <a:rPr lang="en-US" altLang="en-US" sz="220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u still </a:t>
            </a:r>
            <a:r>
              <a:rPr lang="en-US" altLang="en-US" sz="2200" spc="-4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need</a:t>
            </a:r>
            <a:r>
              <a:rPr lang="en-US" altLang="en-US" sz="220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 to </a:t>
            </a:r>
            <a:r>
              <a:rPr lang="en-US" altLang="en-US" sz="2200" spc="-5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evaluate </a:t>
            </a:r>
            <a:r>
              <a:rPr lang="en-US" altLang="en-US" sz="220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t</a:t>
            </a:r>
            <a:r>
              <a:rPr lang="en-US" altLang="en-US" sz="2200" spc="-5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h</a:t>
            </a:r>
            <a:r>
              <a:rPr lang="en-US" altLang="en-US" sz="220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e </a:t>
            </a: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something</a:t>
            </a:r>
            <a:r>
              <a:rPr lang="en-US" altLang="en-US" sz="2200" dirty="0">
                <a:solidFill>
                  <a:srgbClr val="FF9393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lang="en-US" altLang="en-US" sz="2200" spc="-40" dirty="0" smtClean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so </a:t>
            </a:r>
            <a:r>
              <a:rPr lang="en-US" altLang="en-US" sz="2200" spc="-4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we get an answer o</a:t>
            </a:r>
            <a:r>
              <a:rPr lang="en-US" altLang="en-US" sz="2200" dirty="0">
                <a:solidFill>
                  <a:srgbClr val="FF9393"/>
                </a:solidFill>
                <a:ea typeface="+mn-ea"/>
                <a:cs typeface="Arial" panose="020B0604020202020204" pitchFamily="34" charset="0"/>
              </a:rPr>
              <a:t>f:</a:t>
            </a:r>
          </a:p>
          <a:p>
            <a:pPr marL="457200" lvl="1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7</a:t>
            </a:r>
          </a:p>
          <a:p>
            <a:pPr marL="457200" lvl="1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&gt;&gt;&gt;</a:t>
            </a:r>
            <a:r>
              <a:rPr lang="en-US" altLang="en-US" sz="2200" spc="-100" dirty="0">
                <a:solidFill>
                  <a:srgbClr val="FFFFFF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(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5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spc="-100" dirty="0" smtClean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or</a:t>
            </a:r>
            <a:r>
              <a:rPr lang="en-US" altLang="en-US" sz="2000" spc="-100" dirty="0" smtClean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6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)</a:t>
            </a:r>
            <a:r>
              <a:rPr lang="en-US" altLang="en-US" sz="1800" spc="-1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spc="-100" dirty="0" smtClean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and</a:t>
            </a:r>
            <a:r>
              <a:rPr lang="en-US" altLang="en-US" sz="2000" spc="-100" dirty="0" smtClean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7</a:t>
            </a:r>
          </a:p>
          <a:p>
            <a:pPr marL="457200" lvl="1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7</a:t>
            </a:r>
          </a:p>
          <a:p>
            <a:pPr marL="457200" lvl="1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spc="-100" dirty="0">
                <a:solidFill>
                  <a:srgbClr val="BFBFBF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&gt;&gt;&gt;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6</a:t>
            </a:r>
            <a:r>
              <a:rPr lang="en-US" altLang="en-US" sz="16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and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7 </a:t>
            </a: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# </a:t>
            </a:r>
            <a:r>
              <a:rPr lang="en-US" altLang="en-US" sz="2200" spc="-30" dirty="0">
                <a:solidFill>
                  <a:srgbClr val="FF9393"/>
                </a:solidFill>
                <a:cs typeface="Arial" panose="020B0604020202020204" pitchFamily="34" charset="0"/>
              </a:rPr>
              <a:t>What</a:t>
            </a:r>
            <a:r>
              <a:rPr lang="en-US" altLang="en-US" sz="2000" spc="-30" dirty="0">
                <a:solidFill>
                  <a:srgbClr val="FF9393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spc="-30" dirty="0">
                <a:solidFill>
                  <a:srgbClr val="FF9393"/>
                </a:solidFill>
                <a:cs typeface="Arial" panose="020B0604020202020204" pitchFamily="34" charset="0"/>
              </a:rPr>
              <a:t>is the and/or precedence rule?</a:t>
            </a:r>
            <a:endParaRPr lang="en-US" altLang="en-US" sz="2200" spc="-30" dirty="0">
              <a:solidFill>
                <a:srgbClr val="7030A0"/>
              </a:solidFill>
              <a:latin typeface="Lucida Console" panose="020B0609040504020204" pitchFamily="49" charset="0"/>
              <a:ea typeface="+mn-ea"/>
              <a:cs typeface="Arial" panose="020B0604020202020204" pitchFamily="34" charset="0"/>
            </a:endParaRPr>
          </a:p>
          <a:p>
            <a:pPr marL="457200" lvl="1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5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 smtClean="0">
                <a:solidFill>
                  <a:srgbClr val="FFFFFF">
                    <a:lumMod val="75000"/>
                  </a:srgbClr>
                </a:solidFill>
                <a:latin typeface="Lucida Console" pitchFamily="49" charset="0"/>
              </a:rPr>
              <a:t>&gt;&gt;&gt;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a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spc="-100" dirty="0">
                <a:solidFill>
                  <a:srgbClr val="FF0000"/>
                </a:solidFill>
                <a:latin typeface="Lucida Console" pitchFamily="49" charset="0"/>
              </a:rPr>
              <a:t>0+0j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spc="-100" dirty="0">
                <a:solidFill>
                  <a:srgbClr val="FF0000"/>
                </a:solidFill>
                <a:latin typeface="Lucida Console" pitchFamily="49" charset="0"/>
              </a:rPr>
              <a:t>{}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spc="-100" dirty="0">
                <a:solidFill>
                  <a:srgbClr val="FF0000"/>
                </a:solidFill>
                <a:latin typeface="Lucida Console" pitchFamily="49" charset="0"/>
              </a:rPr>
              <a:t>''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d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'string!'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 smtClean="0">
                <a:solidFill>
                  <a:srgbClr val="0070C0"/>
                </a:solidFill>
                <a:latin typeface="Lucida Console" pitchFamily="49" charset="0"/>
              </a:rPr>
              <a:t>e</a:t>
            </a:r>
            <a:r>
              <a:rPr lang="en-US" altLang="en-US" sz="2200" spc="-100" dirty="0" smtClean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2</a:t>
            </a:r>
            <a:r>
              <a:rPr lang="en-US" altLang="en-US" sz="2200" b="1" spc="-100" dirty="0" smtClean="0">
                <a:solidFill>
                  <a:srgbClr val="0070C0"/>
                </a:solidFill>
                <a:latin typeface="Lucida Console" pitchFamily="49" charset="0"/>
              </a:rPr>
              <a:t>.718</a:t>
            </a:r>
            <a:endParaRPr lang="en-US" altLang="en-US" sz="2200" b="1" spc="-100" dirty="0">
              <a:solidFill>
                <a:srgbClr val="0070C0"/>
              </a:solidFill>
              <a:latin typeface="Lucida Console" pitchFamily="49" charset="0"/>
            </a:endParaRP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itchFamily="49" charset="0"/>
              </a:rPr>
              <a:t>&gt;&gt;&gt;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print("First non-null:",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a 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or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 or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c 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or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d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 or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e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) 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First non-null: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string!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0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 smtClean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</a:t>
            </a:r>
            <a:r>
              <a:rPr lang="en-US" altLang="en-US" sz="400" b="1" dirty="0" smtClean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 smtClean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  <a:r>
              <a:rPr lang="en-US" altLang="en-US" sz="2200" b="1" dirty="0" smtClean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{}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"a"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3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 * 5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Non-Booleans in Comparisons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5944" y="6521016"/>
            <a:ext cx="568325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endParaRPr lang="en-US" sz="2200" spc="-1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168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8256" y="609600"/>
            <a:ext cx="10333038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285750" indent="-285750">
              <a:lnSpc>
                <a:spcPct val="90000"/>
              </a:lnSpc>
              <a:spcBef>
                <a:spcPts val="1200"/>
              </a:spcBef>
            </a:pPr>
            <a:r>
              <a:rPr lang="en-US" altLang="en-US" sz="2800" dirty="0"/>
              <a:t>When</a:t>
            </a:r>
            <a:r>
              <a:rPr lang="en-US" altLang="en-US" sz="2400" dirty="0"/>
              <a:t> </a:t>
            </a:r>
            <a:r>
              <a:rPr lang="en-US" altLang="en-US" sz="2800" b="1" spc="-100" dirty="0">
                <a:solidFill>
                  <a:srgbClr val="0070C0"/>
                </a:solidFill>
              </a:rPr>
              <a:t>non-</a:t>
            </a:r>
            <a:r>
              <a:rPr lang="en-US" altLang="en-US" sz="2800" b="1" spc="-100" dirty="0" err="1">
                <a:solidFill>
                  <a:srgbClr val="0070C0"/>
                </a:solidFill>
              </a:rPr>
              <a:t>booleans</a:t>
            </a:r>
            <a:r>
              <a:rPr lang="en-US" altLang="en-US" sz="2400" dirty="0"/>
              <a:t> </a:t>
            </a:r>
            <a:r>
              <a:rPr lang="en-US" altLang="en-US" sz="2800" dirty="0"/>
              <a:t>are</a:t>
            </a:r>
            <a:r>
              <a:rPr lang="en-US" altLang="en-US" sz="2400" dirty="0"/>
              <a:t> </a:t>
            </a:r>
            <a:r>
              <a:rPr lang="en-US" altLang="en-US" sz="2800" b="1" spc="-100" dirty="0">
                <a:solidFill>
                  <a:srgbClr val="7030A0"/>
                </a:solidFill>
              </a:rPr>
              <a:t>used</a:t>
            </a:r>
            <a:r>
              <a:rPr lang="en-US" altLang="en-US" sz="2400" b="1" spc="-100" dirty="0">
                <a:solidFill>
                  <a:srgbClr val="7030A0"/>
                </a:solidFill>
              </a:rPr>
              <a:t> </a:t>
            </a:r>
            <a:r>
              <a:rPr lang="en-US" altLang="en-US" sz="2800" b="1" spc="-100" dirty="0">
                <a:solidFill>
                  <a:srgbClr val="7030A0"/>
                </a:solidFill>
              </a:rPr>
              <a:t>as </a:t>
            </a:r>
            <a:r>
              <a:rPr lang="en-US" altLang="en-US" sz="2800" b="1" spc="-100" dirty="0" err="1">
                <a:solidFill>
                  <a:srgbClr val="7030A0"/>
                </a:solidFill>
              </a:rPr>
              <a:t>booleans</a:t>
            </a:r>
            <a:r>
              <a:rPr lang="en-US" altLang="en-US" sz="2800" dirty="0"/>
              <a:t>,</a:t>
            </a:r>
            <a:r>
              <a:rPr lang="en-US" altLang="en-US" sz="2400" dirty="0"/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400" dirty="0"/>
              <a:t> </a:t>
            </a:r>
            <a:r>
              <a:rPr lang="en-US" altLang="en-US" sz="2800" dirty="0"/>
              <a:t>is</a:t>
            </a:r>
            <a:r>
              <a:rPr lang="en-US" altLang="en-US" sz="2400" dirty="0"/>
              <a:t> </a:t>
            </a:r>
            <a:r>
              <a:rPr lang="en-US" altLang="en-US" sz="2800" dirty="0"/>
              <a:t>treated</a:t>
            </a:r>
            <a:r>
              <a:rPr lang="en-US" altLang="en-US" sz="2400" dirty="0"/>
              <a:t> </a:t>
            </a:r>
            <a:r>
              <a:rPr lang="en-US" altLang="en-US" sz="2800" dirty="0" smtClean="0"/>
              <a:t>as </a:t>
            </a:r>
            <a:r>
              <a:rPr lang="en-US" altLang="en-US" sz="2800" dirty="0">
                <a:solidFill>
                  <a:schemeClr val="tx1"/>
                </a:solidFill>
              </a:rPr>
              <a:t>False</a:t>
            </a:r>
            <a:r>
              <a:rPr lang="en-US" altLang="en-US" sz="2800" dirty="0">
                <a:solidFill>
                  <a:srgbClr val="FFC000"/>
                </a:solidFill>
              </a:rPr>
              <a:t> </a:t>
            </a:r>
            <a:r>
              <a:rPr lang="en-US" altLang="en-US" sz="2800" dirty="0"/>
              <a:t>(</a:t>
            </a:r>
            <a:r>
              <a:rPr lang="en-US" altLang="en-US" dirty="0"/>
              <a:t>just like in C++, </a:t>
            </a:r>
            <a:r>
              <a:rPr lang="en-US" altLang="en-US" dirty="0" err="1"/>
              <a:t>eg</a:t>
            </a:r>
            <a:r>
              <a:rPr lang="en-US" altLang="en-US" dirty="0"/>
              <a:t>:  </a:t>
            </a:r>
            <a:r>
              <a:rPr lang="en-US" altLang="en-US" i="1" dirty="0" err="1"/>
              <a:t>cin</a:t>
            </a:r>
            <a:r>
              <a:rPr lang="en-US" altLang="en-US" i="1" dirty="0"/>
              <a:t>&gt;&gt;x; if (</a:t>
            </a:r>
            <a:r>
              <a:rPr lang="en-US" altLang="en-US" b="1" i="1" dirty="0">
                <a:solidFill>
                  <a:srgbClr val="7030A0"/>
                </a:solidFill>
              </a:rPr>
              <a:t>!</a:t>
            </a:r>
            <a:r>
              <a:rPr lang="en-US" altLang="en-US" i="1" dirty="0">
                <a:solidFill>
                  <a:srgbClr val="FF0000"/>
                </a:solidFill>
              </a:rPr>
              <a:t>x</a:t>
            </a:r>
            <a:r>
              <a:rPr lang="en-US" altLang="en-US" i="1" dirty="0"/>
              <a:t>)</a:t>
            </a:r>
            <a:r>
              <a:rPr lang="en-US" altLang="en-US" i="1" dirty="0" err="1"/>
              <a:t>cout</a:t>
            </a:r>
            <a:r>
              <a:rPr lang="en-US" altLang="en-US" i="1" dirty="0"/>
              <a:t>&lt;&lt; "</a:t>
            </a:r>
            <a:r>
              <a:rPr lang="en-US" altLang="en-US" i="1" dirty="0">
                <a:solidFill>
                  <a:srgbClr val="FFC000"/>
                </a:solidFill>
              </a:rPr>
              <a:t>It was 0.</a:t>
            </a:r>
            <a:r>
              <a:rPr lang="en-US" altLang="en-US" i="1" dirty="0"/>
              <a:t>";</a:t>
            </a:r>
            <a:r>
              <a:rPr lang="en-US" altLang="en-US" sz="2800" dirty="0"/>
              <a:t>)</a:t>
            </a:r>
          </a:p>
          <a:p>
            <a:pPr lvl="1">
              <a:lnSpc>
                <a:spcPct val="7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 </a:t>
            </a:r>
            <a:r>
              <a:rPr lang="en-US" altLang="en-US" sz="2200" b="1" dirty="0" err="1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00B05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True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 </a:t>
            </a:r>
            <a:r>
              <a:rPr lang="en-US" altLang="en-US" sz="2200" b="1" dirty="0" err="1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0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FFC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False</a:t>
            </a:r>
          </a:p>
          <a:p>
            <a:pPr marL="285750" indent="-285750">
              <a:spcBef>
                <a:spcPts val="900"/>
              </a:spcBef>
            </a:pPr>
            <a:r>
              <a:rPr lang="en-US" altLang="en-US" sz="2800" spc="-50" dirty="0"/>
              <a:t>G</a:t>
            </a:r>
            <a:r>
              <a:rPr lang="en-US" altLang="en-US" sz="2800" spc="-70" dirty="0"/>
              <a:t>oin</a:t>
            </a:r>
            <a:r>
              <a:rPr lang="en-US" altLang="en-US" sz="2800" spc="-50" dirty="0"/>
              <a:t>g</a:t>
            </a:r>
            <a:r>
              <a:rPr lang="en-US" altLang="en-US" spc="-50" dirty="0"/>
              <a:t> </a:t>
            </a:r>
            <a:r>
              <a:rPr lang="en-US" altLang="en-US" sz="2800" spc="-50" dirty="0"/>
              <a:t>b</a:t>
            </a:r>
            <a:r>
              <a:rPr lang="en-US" altLang="en-US" sz="2800" spc="-110" dirty="0"/>
              <a:t>ey</a:t>
            </a:r>
            <a:r>
              <a:rPr lang="en-US" altLang="en-US" sz="2800" spc="-70" dirty="0"/>
              <a:t>on</a:t>
            </a:r>
            <a:r>
              <a:rPr lang="en-US" altLang="en-US" sz="2800" spc="-50" dirty="0"/>
              <a:t>d</a:t>
            </a:r>
            <a:r>
              <a:rPr lang="en-US" altLang="en-US" sz="2400" spc="-50" dirty="0"/>
              <a:t> </a:t>
            </a:r>
            <a:r>
              <a:rPr lang="en-US" altLang="en-US" sz="2800" spc="-160" dirty="0">
                <a:solidFill>
                  <a:srgbClr val="000000"/>
                </a:solidFill>
                <a:ea typeface="+mn-ea"/>
                <a:cs typeface="+mn-cs"/>
              </a:rPr>
              <a:t>C</a:t>
            </a:r>
            <a:r>
              <a:rPr lang="en-US" altLang="en-US" spc="-50" dirty="0">
                <a:solidFill>
                  <a:srgbClr val="000000"/>
                </a:solidFill>
                <a:ea typeface="+mn-ea"/>
                <a:cs typeface="+mn-cs"/>
              </a:rPr>
              <a:t>+</a:t>
            </a:r>
            <a:r>
              <a:rPr lang="en-US" altLang="en-US" spc="-460" dirty="0">
                <a:solidFill>
                  <a:srgbClr val="000000"/>
                </a:solidFill>
                <a:ea typeface="+mn-ea"/>
                <a:cs typeface="+mn-cs"/>
              </a:rPr>
              <a:t>+</a:t>
            </a:r>
            <a:r>
              <a:rPr lang="en-US" altLang="en-US" sz="2800" spc="-50" dirty="0">
                <a:solidFill>
                  <a:srgbClr val="000000"/>
                </a:solidFill>
                <a:ea typeface="+mn-ea"/>
                <a:cs typeface="+mn-cs"/>
              </a:rPr>
              <a:t>,</a:t>
            </a:r>
            <a:r>
              <a:rPr lang="en-US" altLang="en-US" sz="2400" spc="-50" dirty="0">
                <a:solidFill>
                  <a:srgbClr val="000000"/>
                </a:solidFill>
                <a:ea typeface="+mn-ea"/>
                <a:cs typeface="+mn-cs"/>
              </a:rPr>
              <a:t> </a:t>
            </a:r>
            <a:r>
              <a:rPr lang="en-US" altLang="en-US" sz="2800" spc="-50" dirty="0" smtClean="0">
                <a:solidFill>
                  <a:srgbClr val="000000"/>
                </a:solidFill>
                <a:ea typeface="+mn-ea"/>
                <a:cs typeface="+mn-cs"/>
              </a:rPr>
              <a:t>Pyt</a:t>
            </a:r>
            <a:r>
              <a:rPr lang="en-US" altLang="en-US" sz="2800" spc="-70" dirty="0" smtClean="0">
                <a:solidFill>
                  <a:srgbClr val="000000"/>
                </a:solidFill>
                <a:ea typeface="+mn-ea"/>
                <a:cs typeface="+mn-cs"/>
              </a:rPr>
              <a:t>hon</a:t>
            </a:r>
            <a:r>
              <a:rPr lang="en-US" altLang="en-US" sz="2400" spc="-70" dirty="0" smtClean="0">
                <a:solidFill>
                  <a:srgbClr val="000000"/>
                </a:solidFill>
                <a:ea typeface="+mn-ea"/>
                <a:cs typeface="+mn-cs"/>
              </a:rPr>
              <a:t> </a:t>
            </a:r>
            <a:r>
              <a:rPr lang="en-US" altLang="en-US" sz="2800" spc="-70" dirty="0">
                <a:solidFill>
                  <a:srgbClr val="000000"/>
                </a:solidFill>
                <a:ea typeface="+mn-ea"/>
                <a:cs typeface="+mn-cs"/>
              </a:rPr>
              <a:t>als</a:t>
            </a:r>
            <a:r>
              <a:rPr lang="en-US" altLang="en-US" sz="2800" spc="-50" dirty="0">
                <a:solidFill>
                  <a:srgbClr val="000000"/>
                </a:solidFill>
                <a:ea typeface="+mn-ea"/>
                <a:cs typeface="+mn-cs"/>
              </a:rPr>
              <a:t>o</a:t>
            </a:r>
            <a:r>
              <a:rPr lang="en-US" altLang="en-US" sz="2400" spc="-50" dirty="0">
                <a:solidFill>
                  <a:srgbClr val="000000"/>
                </a:solidFill>
                <a:ea typeface="+mn-ea"/>
                <a:cs typeface="+mn-cs"/>
              </a:rPr>
              <a:t> </a:t>
            </a:r>
            <a:r>
              <a:rPr lang="en-US" altLang="en-US" sz="2800" spc="-50" dirty="0">
                <a:solidFill>
                  <a:srgbClr val="000000"/>
                </a:solidFill>
                <a:ea typeface="+mn-ea"/>
                <a:cs typeface="+mn-cs"/>
              </a:rPr>
              <a:t>treats</a:t>
            </a:r>
            <a:r>
              <a:rPr lang="en-US" altLang="en-US" sz="2400" spc="-50" dirty="0">
                <a:solidFill>
                  <a:srgbClr val="000000"/>
                </a:solidFill>
                <a:ea typeface="+mn-ea"/>
                <a:cs typeface="+mn-cs"/>
              </a:rPr>
              <a:t> </a:t>
            </a:r>
            <a:r>
              <a:rPr lang="en-US" altLang="en-US" sz="2800" spc="-50" dirty="0">
                <a:solidFill>
                  <a:srgbClr val="FF0000"/>
                </a:solidFill>
                <a:ea typeface="+mn-ea"/>
                <a:cs typeface="+mn-cs"/>
              </a:rPr>
              <a:t>empty</a:t>
            </a:r>
            <a:r>
              <a:rPr lang="en-US" altLang="en-US" sz="2000" spc="-50" dirty="0">
                <a:solidFill>
                  <a:srgbClr val="FF0000"/>
                </a:solidFill>
                <a:ea typeface="+mn-ea"/>
                <a:cs typeface="+mn-cs"/>
              </a:rPr>
              <a:t> </a:t>
            </a:r>
            <a:r>
              <a:rPr lang="en-US" altLang="en-US" sz="2800" spc="-50" dirty="0">
                <a:solidFill>
                  <a:srgbClr val="FF0000"/>
                </a:solidFill>
                <a:ea typeface="+mn-ea"/>
                <a:cs typeface="+mn-cs"/>
              </a:rPr>
              <a:t>things</a:t>
            </a:r>
            <a:r>
              <a:rPr lang="en-US" altLang="en-US" sz="2400" spc="-50" dirty="0">
                <a:solidFill>
                  <a:srgbClr val="FF0000"/>
                </a:solidFill>
                <a:ea typeface="+mn-ea"/>
                <a:cs typeface="+mn-cs"/>
              </a:rPr>
              <a:t> </a:t>
            </a:r>
            <a:r>
              <a:rPr lang="en-US" altLang="en-US" sz="2800" spc="-50" dirty="0">
                <a:solidFill>
                  <a:srgbClr val="000000"/>
                </a:solidFill>
                <a:ea typeface="+mn-ea"/>
                <a:cs typeface="+mn-cs"/>
              </a:rPr>
              <a:t>as </a:t>
            </a:r>
            <a:r>
              <a:rPr lang="en-US" altLang="en-US" sz="2800" spc="-210" dirty="0" smtClean="0">
                <a:solidFill>
                  <a:srgbClr val="FFC000"/>
                </a:solidFill>
                <a:ea typeface="+mn-ea"/>
                <a:cs typeface="+mn-cs"/>
              </a:rPr>
              <a:t>F</a:t>
            </a:r>
            <a:r>
              <a:rPr lang="en-US" altLang="en-US" sz="2800" spc="-50" dirty="0" smtClean="0">
                <a:solidFill>
                  <a:srgbClr val="FFC000"/>
                </a:solidFill>
                <a:ea typeface="+mn-ea"/>
                <a:cs typeface="+mn-cs"/>
              </a:rPr>
              <a:t>als</a:t>
            </a:r>
            <a:r>
              <a:rPr lang="en-US" altLang="en-US" sz="2800" spc="-100" dirty="0" smtClean="0">
                <a:solidFill>
                  <a:srgbClr val="FFC000"/>
                </a:solidFill>
                <a:ea typeface="+mn-ea"/>
                <a:cs typeface="+mn-cs"/>
              </a:rPr>
              <a:t>e</a:t>
            </a:r>
            <a:r>
              <a:rPr lang="en-US" altLang="en-US" sz="2800" spc="-50" dirty="0" smtClean="0"/>
              <a:t>: </a:t>
            </a:r>
          </a:p>
          <a:p>
            <a:pPr lvl="1">
              <a:lnSpc>
                <a:spcPct val="70000"/>
              </a:lnSpc>
              <a:spcBef>
                <a:spcPts val="300"/>
              </a:spcBef>
              <a:buFontTx/>
              <a:buNone/>
            </a:pPr>
            <a:r>
              <a:rPr lang="en-US" altLang="en-US" sz="22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 </a:t>
            </a:r>
            <a:r>
              <a:rPr lang="en-US" altLang="en-US" sz="2200" b="1" dirty="0" err="1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""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[]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()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{}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set()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FFC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False</a:t>
            </a:r>
          </a:p>
          <a:p>
            <a:pPr marL="285750" indent="-285750">
              <a:spcBef>
                <a:spcPts val="900"/>
              </a:spcBef>
            </a:pPr>
            <a:r>
              <a:rPr lang="en-US" altLang="en-US" sz="2800" spc="-100" dirty="0"/>
              <a:t>No</a:t>
            </a:r>
            <a:r>
              <a:rPr lang="en-US" altLang="en-US" sz="2800" spc="-80" dirty="0"/>
              <a:t>n-</a:t>
            </a:r>
            <a:r>
              <a:rPr lang="en-US" altLang="en-US" sz="2800" spc="-80" dirty="0" err="1"/>
              <a:t>boolean</a:t>
            </a:r>
            <a:r>
              <a:rPr lang="en-US" altLang="en-US" sz="2800" spc="-50" dirty="0" err="1"/>
              <a:t>s</a:t>
            </a:r>
            <a:r>
              <a:rPr lang="en-US" altLang="en-US" sz="1800" dirty="0"/>
              <a:t> </a:t>
            </a:r>
            <a:r>
              <a:rPr lang="en-US" altLang="en-US" sz="2800" b="1" i="1" spc="-100" dirty="0"/>
              <a:t>keep their original value</a:t>
            </a:r>
            <a:r>
              <a:rPr lang="en-US" altLang="en-US" sz="2800" b="1" i="1" spc="-300" dirty="0"/>
              <a:t>s</a:t>
            </a:r>
            <a:r>
              <a:rPr lang="en-US" altLang="en-US" sz="2800" dirty="0"/>
              <a:t>,</a:t>
            </a:r>
            <a:r>
              <a:rPr lang="en-US" altLang="en-US" sz="1800" dirty="0"/>
              <a:t> </a:t>
            </a:r>
            <a:r>
              <a:rPr lang="en-US" altLang="en-US" sz="2800" spc="-50" dirty="0"/>
              <a:t>w</a:t>
            </a:r>
            <a:r>
              <a:rPr lang="en-US" altLang="en-US" sz="2800" spc="-80" dirty="0"/>
              <a:t>he</a:t>
            </a:r>
            <a:r>
              <a:rPr lang="en-US" altLang="en-US" sz="2800" spc="-50" dirty="0"/>
              <a:t>n</a:t>
            </a:r>
            <a:r>
              <a:rPr lang="en-US" altLang="en-US" sz="2400" spc="-50" dirty="0"/>
              <a:t> </a:t>
            </a:r>
            <a:r>
              <a:rPr lang="en-US" altLang="en-US" sz="2800" spc="-50" dirty="0"/>
              <a:t>used</a:t>
            </a:r>
            <a:r>
              <a:rPr lang="en-US" altLang="en-US" sz="2400" spc="-50" dirty="0"/>
              <a:t> </a:t>
            </a:r>
            <a:r>
              <a:rPr lang="en-US" altLang="en-US" sz="2800" spc="-50" dirty="0"/>
              <a:t>in</a:t>
            </a:r>
            <a:r>
              <a:rPr lang="en-US" altLang="en-US" sz="2400" spc="-50" dirty="0"/>
              <a:t> </a:t>
            </a:r>
            <a:r>
              <a:rPr lang="en-US" altLang="en-US" sz="2800" spc="-80" dirty="0" smtClean="0"/>
              <a:t>logi</a:t>
            </a:r>
            <a:r>
              <a:rPr lang="en-US" altLang="en-US" sz="2800" spc="-100" dirty="0" smtClean="0"/>
              <a:t>c</a:t>
            </a:r>
            <a:r>
              <a:rPr lang="en-US" altLang="en-US" sz="2800" dirty="0" smtClean="0"/>
              <a:t>:</a:t>
            </a:r>
            <a:endParaRPr lang="en-US" altLang="en-US" sz="2800" dirty="0"/>
          </a:p>
          <a:p>
            <a:pPr lvl="1">
              <a:lnSpc>
                <a:spcPct val="75000"/>
              </a:lnSpc>
              <a:spcBef>
                <a:spcPts val="300"/>
              </a:spcBef>
              <a:buFontTx/>
              <a:buNone/>
            </a:pP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 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#</a:t>
            </a:r>
            <a:r>
              <a:rPr lang="en-US" altLang="en-US" sz="2200" spc="-40" dirty="0">
                <a:solidFill>
                  <a:srgbClr val="FF9393"/>
                </a:solidFill>
                <a:cs typeface="Arial" panose="020B0604020202020204" pitchFamily="34" charset="0"/>
              </a:rPr>
              <a:t>yo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u still </a:t>
            </a:r>
            <a:r>
              <a:rPr lang="en-US" altLang="en-US" sz="2200" spc="-40" dirty="0">
                <a:solidFill>
                  <a:srgbClr val="FF9393"/>
                </a:solidFill>
                <a:cs typeface="Arial" panose="020B0604020202020204" pitchFamily="34" charset="0"/>
              </a:rPr>
              <a:t>need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 to </a:t>
            </a:r>
            <a:r>
              <a:rPr lang="en-US" altLang="en-US" sz="2200" spc="-50" dirty="0">
                <a:solidFill>
                  <a:srgbClr val="FF9393"/>
                </a:solidFill>
                <a:cs typeface="Arial" panose="020B0604020202020204" pitchFamily="34" charset="0"/>
              </a:rPr>
              <a:t>evaluate 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t</a:t>
            </a:r>
            <a:r>
              <a:rPr lang="en-US" altLang="en-US" sz="2200" spc="-50" dirty="0">
                <a:solidFill>
                  <a:srgbClr val="FF9393"/>
                </a:solidFill>
                <a:cs typeface="Arial" panose="020B0604020202020204" pitchFamily="34" charset="0"/>
              </a:rPr>
              <a:t>h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e </a:t>
            </a: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something</a:t>
            </a:r>
            <a:r>
              <a:rPr lang="en-US" altLang="en-US" sz="2200" dirty="0">
                <a:solidFill>
                  <a:srgbClr val="FF9393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200" spc="-40" dirty="0" smtClean="0">
                <a:solidFill>
                  <a:srgbClr val="FF9393"/>
                </a:solidFill>
                <a:cs typeface="Arial" panose="020B0604020202020204" pitchFamily="34" charset="0"/>
              </a:rPr>
              <a:t>so </a:t>
            </a:r>
            <a:r>
              <a:rPr lang="en-US" altLang="en-US" sz="2200" spc="-40" dirty="0">
                <a:solidFill>
                  <a:srgbClr val="FF9393"/>
                </a:solidFill>
                <a:cs typeface="Arial" panose="020B0604020202020204" pitchFamily="34" charset="0"/>
              </a:rPr>
              <a:t>we get an answer o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f: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7</a:t>
            </a:r>
          </a:p>
          <a:p>
            <a:pPr marL="457200" lvl="1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&gt;&gt;&gt;</a:t>
            </a:r>
            <a:r>
              <a:rPr lang="en-US" altLang="en-US" sz="2200" spc="-100" dirty="0">
                <a:solidFill>
                  <a:srgbClr val="FFFFFF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(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5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spc="-100" dirty="0" smtClean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or</a:t>
            </a:r>
            <a:r>
              <a:rPr lang="en-US" altLang="en-US" sz="2000" spc="-100" dirty="0" smtClean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6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)</a:t>
            </a:r>
            <a:r>
              <a:rPr lang="en-US" altLang="en-US" sz="1800" spc="-1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spc="-100" dirty="0" smtClean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and</a:t>
            </a:r>
            <a:r>
              <a:rPr lang="en-US" altLang="en-US" sz="2000" spc="-100" dirty="0" smtClean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7</a:t>
            </a:r>
          </a:p>
          <a:p>
            <a:pPr marL="457200" lvl="1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7</a:t>
            </a:r>
          </a:p>
          <a:p>
            <a:pPr marL="457200" lvl="1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spc="-100" dirty="0" smtClean="0">
                <a:solidFill>
                  <a:srgbClr val="BFBFBF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&gt;&gt;&gt;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5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6</a:t>
            </a:r>
            <a:r>
              <a:rPr lang="en-US" altLang="en-US" sz="16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and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7 </a:t>
            </a: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# </a:t>
            </a:r>
            <a:r>
              <a:rPr lang="en-US" altLang="en-US" sz="2200" spc="-30" dirty="0">
                <a:solidFill>
                  <a:srgbClr val="FF9393"/>
                </a:solidFill>
                <a:cs typeface="Arial" panose="020B0604020202020204" pitchFamily="34" charset="0"/>
              </a:rPr>
              <a:t>What</a:t>
            </a:r>
            <a:r>
              <a:rPr lang="en-US" altLang="en-US" sz="2000" spc="-30" dirty="0">
                <a:solidFill>
                  <a:srgbClr val="FF9393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spc="-30" dirty="0">
                <a:solidFill>
                  <a:srgbClr val="FF9393"/>
                </a:solidFill>
                <a:cs typeface="Arial" panose="020B0604020202020204" pitchFamily="34" charset="0"/>
              </a:rPr>
              <a:t>is the and/or precedence rule?</a:t>
            </a:r>
            <a:endParaRPr lang="en-US" altLang="en-US" sz="2200" spc="-30" dirty="0">
              <a:solidFill>
                <a:srgbClr val="7030A0"/>
              </a:solidFill>
              <a:latin typeface="Lucida Console" panose="020B0609040504020204" pitchFamily="49" charset="0"/>
              <a:ea typeface="+mn-ea"/>
              <a:cs typeface="Arial" panose="020B0604020202020204" pitchFamily="34" charset="0"/>
            </a:endParaRPr>
          </a:p>
          <a:p>
            <a:pPr marL="457200" lvl="1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5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 smtClean="0">
                <a:solidFill>
                  <a:srgbClr val="FFFFFF">
                    <a:lumMod val="75000"/>
                  </a:srgbClr>
                </a:solidFill>
                <a:latin typeface="Lucida Console" pitchFamily="49" charset="0"/>
              </a:rPr>
              <a:t>&gt;&gt;&gt;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a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spc="-100" dirty="0">
                <a:solidFill>
                  <a:srgbClr val="FF0000"/>
                </a:solidFill>
                <a:latin typeface="Lucida Console" pitchFamily="49" charset="0"/>
              </a:rPr>
              <a:t>0+0j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spc="-100" dirty="0">
                <a:solidFill>
                  <a:srgbClr val="FF0000"/>
                </a:solidFill>
                <a:latin typeface="Lucida Console" pitchFamily="49" charset="0"/>
              </a:rPr>
              <a:t>{}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spc="-100" dirty="0">
                <a:solidFill>
                  <a:srgbClr val="FF0000"/>
                </a:solidFill>
                <a:latin typeface="Lucida Console" pitchFamily="49" charset="0"/>
              </a:rPr>
              <a:t>''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d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'string!'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 smtClean="0">
                <a:solidFill>
                  <a:srgbClr val="0070C0"/>
                </a:solidFill>
                <a:latin typeface="Lucida Console" pitchFamily="49" charset="0"/>
              </a:rPr>
              <a:t>e</a:t>
            </a:r>
            <a:r>
              <a:rPr lang="en-US" altLang="en-US" sz="2200" spc="-100" dirty="0" smtClean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b="1" spc="-100" dirty="0" smtClean="0">
                <a:solidFill>
                  <a:srgbClr val="0070C0"/>
                </a:solidFill>
                <a:latin typeface="Lucida Console" pitchFamily="49" charset="0"/>
              </a:rPr>
              <a:t>2.718</a:t>
            </a:r>
            <a:endParaRPr lang="en-US" altLang="en-US" sz="2200" b="1" spc="-100" dirty="0">
              <a:solidFill>
                <a:srgbClr val="0070C0"/>
              </a:solidFill>
              <a:latin typeface="Lucida Console" pitchFamily="49" charset="0"/>
            </a:endParaRP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itchFamily="49" charset="0"/>
              </a:rPr>
              <a:t>&gt;&gt;&gt;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print("First non-null:",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a 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or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 or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c 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or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d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 or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e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) 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First non-null: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string!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(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0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 smtClean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</a:t>
            </a:r>
            <a:r>
              <a:rPr lang="en-US" altLang="en-US" sz="400" b="1" dirty="0" smtClean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 smtClean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  <a:r>
              <a:rPr lang="en-US" altLang="en-US" sz="2200" b="1" dirty="0" smtClean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{}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"a"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3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 * 5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'</a:t>
            </a:r>
            <a:r>
              <a:rPr lang="en-US" altLang="en-US" sz="2200" dirty="0" err="1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aaaaa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'</a:t>
            </a:r>
            <a:endParaRPr lang="en-US" altLang="en-US" sz="2200" b="1" spc="-100" dirty="0">
              <a:solidFill>
                <a:srgbClr val="0070C0"/>
              </a:solidFill>
              <a:latin typeface="Lucida Console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Non-Booleans in Comparisons</a:t>
            </a:r>
          </a:p>
        </p:txBody>
      </p:sp>
    </p:spTree>
    <p:extLst>
      <p:ext uri="{BB962C8B-B14F-4D97-AF65-F5344CB8AC3E}">
        <p14:creationId xmlns:p14="http://schemas.microsoft.com/office/powerpoint/2010/main" val="66379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8256" y="609600"/>
            <a:ext cx="10333038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285750" indent="-285750">
              <a:lnSpc>
                <a:spcPct val="90000"/>
              </a:lnSpc>
              <a:spcBef>
                <a:spcPts val="1200"/>
              </a:spcBef>
            </a:pPr>
            <a:r>
              <a:rPr lang="en-US" altLang="en-US" sz="2800" dirty="0"/>
              <a:t>When</a:t>
            </a:r>
            <a:r>
              <a:rPr lang="en-US" altLang="en-US" sz="2400" dirty="0"/>
              <a:t> </a:t>
            </a:r>
            <a:r>
              <a:rPr lang="en-US" altLang="en-US" sz="2800" b="1" spc="-100" dirty="0">
                <a:solidFill>
                  <a:srgbClr val="0070C0"/>
                </a:solidFill>
              </a:rPr>
              <a:t>non-</a:t>
            </a:r>
            <a:r>
              <a:rPr lang="en-US" altLang="en-US" sz="2800" b="1" spc="-100" dirty="0" err="1">
                <a:solidFill>
                  <a:srgbClr val="0070C0"/>
                </a:solidFill>
              </a:rPr>
              <a:t>booleans</a:t>
            </a:r>
            <a:r>
              <a:rPr lang="en-US" altLang="en-US" sz="2400" dirty="0"/>
              <a:t> </a:t>
            </a:r>
            <a:r>
              <a:rPr lang="en-US" altLang="en-US" sz="2800" dirty="0"/>
              <a:t>are</a:t>
            </a:r>
            <a:r>
              <a:rPr lang="en-US" altLang="en-US" sz="2400" dirty="0"/>
              <a:t> </a:t>
            </a:r>
            <a:r>
              <a:rPr lang="en-US" altLang="en-US" sz="2800" b="1" spc="-100" dirty="0">
                <a:solidFill>
                  <a:srgbClr val="7030A0"/>
                </a:solidFill>
              </a:rPr>
              <a:t>used</a:t>
            </a:r>
            <a:r>
              <a:rPr lang="en-US" altLang="en-US" sz="2400" b="1" spc="-100" dirty="0">
                <a:solidFill>
                  <a:srgbClr val="7030A0"/>
                </a:solidFill>
              </a:rPr>
              <a:t> </a:t>
            </a:r>
            <a:r>
              <a:rPr lang="en-US" altLang="en-US" sz="2800" b="1" spc="-100" dirty="0">
                <a:solidFill>
                  <a:srgbClr val="7030A0"/>
                </a:solidFill>
              </a:rPr>
              <a:t>as </a:t>
            </a:r>
            <a:r>
              <a:rPr lang="en-US" altLang="en-US" sz="2800" b="1" spc="-100" dirty="0" err="1">
                <a:solidFill>
                  <a:srgbClr val="7030A0"/>
                </a:solidFill>
              </a:rPr>
              <a:t>booleans</a:t>
            </a:r>
            <a:r>
              <a:rPr lang="en-US" altLang="en-US" sz="2800" dirty="0"/>
              <a:t>,</a:t>
            </a:r>
            <a:r>
              <a:rPr lang="en-US" altLang="en-US" sz="2400" dirty="0"/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400" dirty="0"/>
              <a:t> </a:t>
            </a:r>
            <a:r>
              <a:rPr lang="en-US" altLang="en-US" sz="2800" dirty="0"/>
              <a:t>is</a:t>
            </a:r>
            <a:r>
              <a:rPr lang="en-US" altLang="en-US" sz="2400" dirty="0"/>
              <a:t> </a:t>
            </a:r>
            <a:r>
              <a:rPr lang="en-US" altLang="en-US" sz="2800" dirty="0"/>
              <a:t>treated</a:t>
            </a:r>
            <a:r>
              <a:rPr lang="en-US" altLang="en-US" sz="2400" dirty="0"/>
              <a:t> </a:t>
            </a:r>
            <a:r>
              <a:rPr lang="en-US" altLang="en-US" sz="2800" dirty="0" smtClean="0"/>
              <a:t>as </a:t>
            </a:r>
            <a:r>
              <a:rPr lang="en-US" altLang="en-US" sz="2800" dirty="0">
                <a:solidFill>
                  <a:schemeClr val="tx1"/>
                </a:solidFill>
              </a:rPr>
              <a:t>False</a:t>
            </a:r>
            <a:r>
              <a:rPr lang="en-US" altLang="en-US" sz="2800" dirty="0">
                <a:solidFill>
                  <a:srgbClr val="FFC000"/>
                </a:solidFill>
              </a:rPr>
              <a:t> </a:t>
            </a:r>
            <a:r>
              <a:rPr lang="en-US" altLang="en-US" sz="2800" dirty="0"/>
              <a:t>(</a:t>
            </a:r>
            <a:r>
              <a:rPr lang="en-US" altLang="en-US" dirty="0"/>
              <a:t>just like in C++, </a:t>
            </a:r>
            <a:r>
              <a:rPr lang="en-US" altLang="en-US" dirty="0" err="1"/>
              <a:t>eg</a:t>
            </a:r>
            <a:r>
              <a:rPr lang="en-US" altLang="en-US" dirty="0"/>
              <a:t>:  </a:t>
            </a:r>
            <a:r>
              <a:rPr lang="en-US" altLang="en-US" i="1" dirty="0" err="1"/>
              <a:t>cin</a:t>
            </a:r>
            <a:r>
              <a:rPr lang="en-US" altLang="en-US" i="1" dirty="0"/>
              <a:t>&gt;&gt;x; if (</a:t>
            </a:r>
            <a:r>
              <a:rPr lang="en-US" altLang="en-US" b="1" i="1" dirty="0">
                <a:solidFill>
                  <a:srgbClr val="7030A0"/>
                </a:solidFill>
              </a:rPr>
              <a:t>!</a:t>
            </a:r>
            <a:r>
              <a:rPr lang="en-US" altLang="en-US" i="1" dirty="0">
                <a:solidFill>
                  <a:srgbClr val="FF0000"/>
                </a:solidFill>
              </a:rPr>
              <a:t>x</a:t>
            </a:r>
            <a:r>
              <a:rPr lang="en-US" altLang="en-US" i="1" dirty="0"/>
              <a:t>)</a:t>
            </a:r>
            <a:r>
              <a:rPr lang="en-US" altLang="en-US" i="1" dirty="0" err="1"/>
              <a:t>cout</a:t>
            </a:r>
            <a:r>
              <a:rPr lang="en-US" altLang="en-US" i="1" dirty="0"/>
              <a:t>&lt;&lt; "</a:t>
            </a:r>
            <a:r>
              <a:rPr lang="en-US" altLang="en-US" i="1" dirty="0">
                <a:solidFill>
                  <a:srgbClr val="FFC000"/>
                </a:solidFill>
              </a:rPr>
              <a:t>It was 0.</a:t>
            </a:r>
            <a:r>
              <a:rPr lang="en-US" altLang="en-US" i="1" dirty="0"/>
              <a:t>";</a:t>
            </a:r>
            <a:r>
              <a:rPr lang="en-US" altLang="en-US" sz="2800" dirty="0"/>
              <a:t>)</a:t>
            </a:r>
          </a:p>
          <a:p>
            <a:pPr lvl="1">
              <a:lnSpc>
                <a:spcPct val="7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 </a:t>
            </a:r>
            <a:r>
              <a:rPr lang="en-US" altLang="en-US" sz="2200" b="1" dirty="0" err="1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00B05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True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 </a:t>
            </a:r>
            <a:r>
              <a:rPr lang="en-US" altLang="en-US" sz="2200" b="1" dirty="0" err="1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0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FFC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False</a:t>
            </a:r>
          </a:p>
          <a:p>
            <a:pPr marL="285750" indent="-285750">
              <a:spcBef>
                <a:spcPts val="900"/>
              </a:spcBef>
            </a:pPr>
            <a:r>
              <a:rPr lang="en-US" altLang="en-US" sz="2800" spc="-50" dirty="0"/>
              <a:t>G</a:t>
            </a:r>
            <a:r>
              <a:rPr lang="en-US" altLang="en-US" sz="2800" spc="-70" dirty="0"/>
              <a:t>oin</a:t>
            </a:r>
            <a:r>
              <a:rPr lang="en-US" altLang="en-US" sz="2800" spc="-50" dirty="0"/>
              <a:t>g</a:t>
            </a:r>
            <a:r>
              <a:rPr lang="en-US" altLang="en-US" spc="-50" dirty="0"/>
              <a:t> </a:t>
            </a:r>
            <a:r>
              <a:rPr lang="en-US" altLang="en-US" sz="2800" spc="-50" dirty="0"/>
              <a:t>b</a:t>
            </a:r>
            <a:r>
              <a:rPr lang="en-US" altLang="en-US" sz="2800" spc="-110" dirty="0"/>
              <a:t>ey</a:t>
            </a:r>
            <a:r>
              <a:rPr lang="en-US" altLang="en-US" sz="2800" spc="-70" dirty="0"/>
              <a:t>on</a:t>
            </a:r>
            <a:r>
              <a:rPr lang="en-US" altLang="en-US" sz="2800" spc="-50" dirty="0"/>
              <a:t>d</a:t>
            </a:r>
            <a:r>
              <a:rPr lang="en-US" altLang="en-US" sz="2400" spc="-50" dirty="0"/>
              <a:t> </a:t>
            </a:r>
            <a:r>
              <a:rPr lang="en-US" altLang="en-US" sz="2800" spc="-160" dirty="0"/>
              <a:t>C</a:t>
            </a:r>
            <a:r>
              <a:rPr lang="en-US" altLang="en-US" spc="-50" dirty="0"/>
              <a:t>+</a:t>
            </a:r>
            <a:r>
              <a:rPr lang="en-US" altLang="en-US" spc="-460" dirty="0"/>
              <a:t>+</a:t>
            </a:r>
            <a:r>
              <a:rPr lang="en-US" altLang="en-US" sz="2800" spc="-50" dirty="0"/>
              <a:t>,</a:t>
            </a:r>
            <a:r>
              <a:rPr lang="en-US" altLang="en-US" sz="2400" spc="-50" dirty="0"/>
              <a:t> </a:t>
            </a:r>
            <a:r>
              <a:rPr lang="en-US" altLang="en-US" sz="2800" spc="-50" dirty="0"/>
              <a:t>Pyt</a:t>
            </a:r>
            <a:r>
              <a:rPr lang="en-US" altLang="en-US" sz="2800" spc="-70" dirty="0"/>
              <a:t>hon</a:t>
            </a:r>
            <a:r>
              <a:rPr lang="en-US" altLang="en-US" sz="2400" spc="-70" dirty="0"/>
              <a:t> </a:t>
            </a:r>
            <a:r>
              <a:rPr lang="en-US" altLang="en-US" sz="2800" spc="-70" dirty="0"/>
              <a:t>als</a:t>
            </a:r>
            <a:r>
              <a:rPr lang="en-US" altLang="en-US" sz="2800" spc="-50" dirty="0"/>
              <a:t>o</a:t>
            </a:r>
            <a:r>
              <a:rPr lang="en-US" altLang="en-US" sz="2400" spc="-50" dirty="0"/>
              <a:t> </a:t>
            </a:r>
            <a:r>
              <a:rPr lang="en-US" altLang="en-US" sz="2800" spc="-50" dirty="0"/>
              <a:t>treats</a:t>
            </a:r>
            <a:r>
              <a:rPr lang="en-US" altLang="en-US" sz="2400" spc="-50" dirty="0"/>
              <a:t> </a:t>
            </a:r>
            <a:r>
              <a:rPr lang="en-US" altLang="en-US" sz="2800" spc="-50" dirty="0">
                <a:solidFill>
                  <a:srgbClr val="FF0000"/>
                </a:solidFill>
              </a:rPr>
              <a:t>empty</a:t>
            </a:r>
            <a:r>
              <a:rPr lang="en-US" altLang="en-US" sz="2000" spc="-50" dirty="0">
                <a:solidFill>
                  <a:srgbClr val="FF0000"/>
                </a:solidFill>
              </a:rPr>
              <a:t> </a:t>
            </a:r>
            <a:r>
              <a:rPr lang="en-US" altLang="en-US" sz="2800" spc="-50" dirty="0">
                <a:solidFill>
                  <a:srgbClr val="FF0000"/>
                </a:solidFill>
              </a:rPr>
              <a:t>things</a:t>
            </a:r>
            <a:r>
              <a:rPr lang="en-US" altLang="en-US" sz="2400" spc="-50" dirty="0">
                <a:solidFill>
                  <a:srgbClr val="FF0000"/>
                </a:solidFill>
              </a:rPr>
              <a:t> </a:t>
            </a:r>
            <a:r>
              <a:rPr lang="en-US" altLang="en-US" sz="2800" spc="-50" dirty="0"/>
              <a:t>as </a:t>
            </a:r>
            <a:r>
              <a:rPr lang="en-US" altLang="en-US" sz="2800" spc="-210" dirty="0">
                <a:solidFill>
                  <a:srgbClr val="FFC000"/>
                </a:solidFill>
              </a:rPr>
              <a:t>F</a:t>
            </a:r>
            <a:r>
              <a:rPr lang="en-US" altLang="en-US" sz="2800" spc="-50" dirty="0">
                <a:solidFill>
                  <a:srgbClr val="FFC000"/>
                </a:solidFill>
              </a:rPr>
              <a:t>als</a:t>
            </a:r>
            <a:r>
              <a:rPr lang="en-US" altLang="en-US" sz="2800" spc="-100" dirty="0">
                <a:solidFill>
                  <a:srgbClr val="FFC000"/>
                </a:solidFill>
              </a:rPr>
              <a:t>e</a:t>
            </a:r>
            <a:r>
              <a:rPr lang="en-US" altLang="en-US" sz="2800" spc="-50" dirty="0"/>
              <a:t>: </a:t>
            </a:r>
          </a:p>
          <a:p>
            <a:pPr lvl="1">
              <a:lnSpc>
                <a:spcPct val="70000"/>
              </a:lnSpc>
              <a:spcBef>
                <a:spcPts val="30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 </a:t>
            </a:r>
            <a:r>
              <a:rPr lang="en-US" altLang="en-US" sz="2200" b="1" dirty="0" err="1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""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[]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()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{}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set()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FFC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False</a:t>
            </a:r>
          </a:p>
          <a:p>
            <a:pPr marL="285750" indent="-285750">
              <a:spcBef>
                <a:spcPts val="900"/>
              </a:spcBef>
            </a:pPr>
            <a:r>
              <a:rPr lang="en-US" altLang="en-US" sz="2800" spc="-100" dirty="0"/>
              <a:t>No</a:t>
            </a:r>
            <a:r>
              <a:rPr lang="en-US" altLang="en-US" sz="2800" spc="-80" dirty="0"/>
              <a:t>n-</a:t>
            </a:r>
            <a:r>
              <a:rPr lang="en-US" altLang="en-US" sz="2800" spc="-80" dirty="0" err="1"/>
              <a:t>boolean</a:t>
            </a:r>
            <a:r>
              <a:rPr lang="en-US" altLang="en-US" sz="2800" spc="-50" dirty="0" err="1"/>
              <a:t>s</a:t>
            </a:r>
            <a:r>
              <a:rPr lang="en-US" altLang="en-US" sz="1800" dirty="0"/>
              <a:t> </a:t>
            </a:r>
            <a:r>
              <a:rPr lang="en-US" altLang="en-US" sz="2800" b="1" i="1" spc="-100" dirty="0"/>
              <a:t>keep their original value</a:t>
            </a:r>
            <a:r>
              <a:rPr lang="en-US" altLang="en-US" sz="2800" b="1" i="1" spc="-300" dirty="0"/>
              <a:t>s</a:t>
            </a:r>
            <a:r>
              <a:rPr lang="en-US" altLang="en-US" sz="2800" dirty="0"/>
              <a:t>,</a:t>
            </a:r>
            <a:r>
              <a:rPr lang="en-US" altLang="en-US" sz="1800" dirty="0"/>
              <a:t> </a:t>
            </a:r>
            <a:r>
              <a:rPr lang="en-US" altLang="en-US" sz="2800" spc="-50" dirty="0"/>
              <a:t>w</a:t>
            </a:r>
            <a:r>
              <a:rPr lang="en-US" altLang="en-US" sz="2800" spc="-80" dirty="0"/>
              <a:t>he</a:t>
            </a:r>
            <a:r>
              <a:rPr lang="en-US" altLang="en-US" sz="2800" spc="-50" dirty="0"/>
              <a:t>n</a:t>
            </a:r>
            <a:r>
              <a:rPr lang="en-US" altLang="en-US" sz="2400" spc="-50" dirty="0"/>
              <a:t> </a:t>
            </a:r>
            <a:r>
              <a:rPr lang="en-US" altLang="en-US" sz="2800" spc="-50" dirty="0"/>
              <a:t>used</a:t>
            </a:r>
            <a:r>
              <a:rPr lang="en-US" altLang="en-US" sz="2400" spc="-50" dirty="0"/>
              <a:t> </a:t>
            </a:r>
            <a:r>
              <a:rPr lang="en-US" altLang="en-US" sz="2800" spc="-50" dirty="0"/>
              <a:t>in</a:t>
            </a:r>
            <a:r>
              <a:rPr lang="en-US" altLang="en-US" sz="2400" spc="-50" dirty="0"/>
              <a:t> </a:t>
            </a:r>
            <a:r>
              <a:rPr lang="en-US" altLang="en-US" sz="2800" spc="-80" dirty="0" smtClean="0"/>
              <a:t>logi</a:t>
            </a:r>
            <a:r>
              <a:rPr lang="en-US" altLang="en-US" sz="2800" spc="-100" dirty="0" smtClean="0"/>
              <a:t>c</a:t>
            </a:r>
            <a:r>
              <a:rPr lang="en-US" altLang="en-US" sz="2800" dirty="0" smtClean="0"/>
              <a:t>:</a:t>
            </a:r>
            <a:endParaRPr lang="en-US" altLang="en-US" sz="2800" dirty="0"/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7</a:t>
            </a:r>
          </a:p>
          <a:p>
            <a:pPr marL="457200" lvl="1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&gt;&gt;&gt;</a:t>
            </a:r>
            <a:r>
              <a:rPr lang="en-US" altLang="en-US" sz="2200" spc="-100" dirty="0">
                <a:solidFill>
                  <a:srgbClr val="FFFFFF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(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5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spc="-100" dirty="0" smtClean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or</a:t>
            </a:r>
            <a:r>
              <a:rPr lang="en-US" altLang="en-US" sz="2000" spc="-100" dirty="0" smtClean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6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)</a:t>
            </a:r>
            <a:r>
              <a:rPr lang="en-US" altLang="en-US" sz="1800" spc="-10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spc="-100" dirty="0" smtClean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and</a:t>
            </a:r>
            <a:r>
              <a:rPr lang="en-US" altLang="en-US" sz="2000" spc="-100" dirty="0" smtClean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7</a:t>
            </a:r>
          </a:p>
          <a:p>
            <a:pPr marL="457200" lvl="1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7</a:t>
            </a:r>
          </a:p>
          <a:p>
            <a:pPr marL="457200" lvl="1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spc="-100" dirty="0" smtClean="0">
                <a:solidFill>
                  <a:srgbClr val="BFBFBF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&gt;&gt;&gt;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5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6</a:t>
            </a:r>
            <a:r>
              <a:rPr lang="en-US" altLang="en-US" sz="16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and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7 </a:t>
            </a: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# </a:t>
            </a:r>
            <a:r>
              <a:rPr lang="en-US" altLang="en-US" sz="2200" spc="-30" dirty="0">
                <a:solidFill>
                  <a:srgbClr val="FF9393"/>
                </a:solidFill>
                <a:cs typeface="Arial" panose="020B0604020202020204" pitchFamily="34" charset="0"/>
              </a:rPr>
              <a:t>What</a:t>
            </a:r>
            <a:r>
              <a:rPr lang="en-US" altLang="en-US" sz="2000" spc="-30" dirty="0">
                <a:solidFill>
                  <a:srgbClr val="FF9393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spc="-30" dirty="0">
                <a:solidFill>
                  <a:srgbClr val="FF9393"/>
                </a:solidFill>
                <a:cs typeface="Arial" panose="020B0604020202020204" pitchFamily="34" charset="0"/>
              </a:rPr>
              <a:t>is the and/or precedence rule?</a:t>
            </a:r>
            <a:endParaRPr lang="en-US" altLang="en-US" sz="2200" spc="-30" dirty="0">
              <a:solidFill>
                <a:srgbClr val="7030A0"/>
              </a:solidFill>
              <a:latin typeface="Lucida Console" panose="020B0609040504020204" pitchFamily="49" charset="0"/>
              <a:ea typeface="+mn-ea"/>
              <a:cs typeface="Arial" panose="020B0604020202020204" pitchFamily="34" charset="0"/>
            </a:endParaRPr>
          </a:p>
          <a:p>
            <a:pPr marL="457200" lvl="1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b="1" spc="-100" dirty="0" smtClean="0">
                <a:solidFill>
                  <a:srgbClr val="0070C0"/>
                </a:solidFill>
                <a:latin typeface="Lucida Console" panose="020B0609040504020204" pitchFamily="49" charset="0"/>
                <a:ea typeface="+mn-ea"/>
                <a:cs typeface="Arial" panose="020B0604020202020204" pitchFamily="34" charset="0"/>
              </a:rPr>
              <a:t>5</a:t>
            </a:r>
            <a:endParaRPr lang="en-US" altLang="en-US" sz="2200" b="1" spc="-100" dirty="0">
              <a:solidFill>
                <a:srgbClr val="0070C0"/>
              </a:solidFill>
              <a:latin typeface="Lucida Console" panose="020B0609040504020204" pitchFamily="49" charset="0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 smtClean="0">
                <a:solidFill>
                  <a:srgbClr val="FFFFFF">
                    <a:lumMod val="75000"/>
                  </a:srgbClr>
                </a:solidFill>
                <a:latin typeface="Lucida Console" pitchFamily="49" charset="0"/>
              </a:rPr>
              <a:t>&gt;&gt;&gt;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a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spc="-100" dirty="0">
                <a:solidFill>
                  <a:srgbClr val="FF0000"/>
                </a:solidFill>
                <a:latin typeface="Lucida Console" pitchFamily="49" charset="0"/>
              </a:rPr>
              <a:t>0+0j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spc="-100" dirty="0">
                <a:solidFill>
                  <a:srgbClr val="FF0000"/>
                </a:solidFill>
                <a:latin typeface="Lucida Console" pitchFamily="49" charset="0"/>
              </a:rPr>
              <a:t>{}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spc="-100" dirty="0">
                <a:solidFill>
                  <a:srgbClr val="FF0000"/>
                </a:solidFill>
                <a:latin typeface="Lucida Console" pitchFamily="49" charset="0"/>
              </a:rPr>
              <a:t>''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d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'string!'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 smtClean="0">
                <a:solidFill>
                  <a:srgbClr val="0070C0"/>
                </a:solidFill>
                <a:latin typeface="Lucida Console" pitchFamily="49" charset="0"/>
              </a:rPr>
              <a:t>e</a:t>
            </a:r>
            <a:r>
              <a:rPr lang="en-US" altLang="en-US" sz="2200" spc="-100" dirty="0" smtClean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b="1" spc="-100" dirty="0" smtClean="0">
                <a:solidFill>
                  <a:srgbClr val="0070C0"/>
                </a:solidFill>
                <a:latin typeface="Lucida Console" pitchFamily="49" charset="0"/>
              </a:rPr>
              <a:t>2.718</a:t>
            </a:r>
            <a:endParaRPr lang="en-US" altLang="en-US" sz="2200" b="1" spc="-100" dirty="0">
              <a:solidFill>
                <a:srgbClr val="0070C0"/>
              </a:solidFill>
              <a:latin typeface="Lucida Console" pitchFamily="49" charset="0"/>
            </a:endParaRPr>
          </a:p>
          <a:p>
            <a:pPr lvl="1">
              <a:lnSpc>
                <a:spcPct val="82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itchFamily="49" charset="0"/>
              </a:rPr>
              <a:t>&gt;&gt;&gt;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print("First non-null:",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a 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or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 or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c 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or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d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 or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e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) </a:t>
            </a:r>
          </a:p>
          <a:p>
            <a:pPr lvl="1">
              <a:lnSpc>
                <a:spcPct val="82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First non-null: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string!</a:t>
            </a:r>
          </a:p>
          <a:p>
            <a:pPr lvl="1">
              <a:lnSpc>
                <a:spcPct val="82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(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0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 smtClean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</a:t>
            </a:r>
            <a:r>
              <a:rPr lang="en-US" altLang="en-US" sz="400" b="1" dirty="0" smtClean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 smtClean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  <a:r>
              <a:rPr lang="en-US" altLang="en-US" sz="2200" b="1" dirty="0" smtClean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{}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"a"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3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 * 5</a:t>
            </a:r>
          </a:p>
          <a:p>
            <a:pPr lvl="1">
              <a:lnSpc>
                <a:spcPct val="82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'</a:t>
            </a:r>
            <a:r>
              <a:rPr lang="en-US" altLang="en-US" sz="2200" dirty="0" err="1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aaaaa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'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Non-Booleans in Comparisons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5944" y="6521016"/>
            <a:ext cx="568325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endParaRPr lang="en-US" sz="2200" spc="-1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13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140494" y="914400"/>
          <a:ext cx="9448800" cy="5766816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629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**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Exponentiation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~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-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NOT, Positive (unary +), Negative (unary -) 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/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%  //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Multiply and divide-based operations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Addition and subtraction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&gt;&gt;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&lt;&lt;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Shifts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&amp;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^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XOR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|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4937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&lt;=  &lt;  &gt;  &gt;=  ==  !=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/>
                      </a:r>
                      <a:b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in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 not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Comparison tests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 including tests for </a:t>
                      </a:r>
                      <a:b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 and identity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NOT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AND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729742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</a:rPr>
              <a:t>Operator Precedence (</a:t>
            </a:r>
            <a:r>
              <a:rPr lang="zh-TW" altLang="en-US" sz="4800" dirty="0">
                <a:solidFill>
                  <a:srgbClr val="0070C0"/>
                </a:solidFill>
                <a:latin typeface="Elephant" panose="02020904090505020303" pitchFamily="18" charset="0"/>
                <a:ea typeface="新細明體" panose="02020500000000000000" pitchFamily="18" charset="-120"/>
              </a:rPr>
              <a:t>优先权</a:t>
            </a:r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4751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140494" y="914400"/>
          <a:ext cx="9448800" cy="5766816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629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**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Exponentiation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~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-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NOT, Positive (unary +), Negative (unary -) 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/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%  //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Multiply and divide-based operations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Addition and subtraction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&gt;&gt;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&lt;&lt;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Shifts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&amp;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^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XOR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|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4937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&lt;=  &lt;  &gt;  &gt;=  ==  !=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/>
                      </a:r>
                      <a:b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in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 not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Comparison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tests, including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tests for </a:t>
                      </a:r>
                      <a:b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 and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identity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NOT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AND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729742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</a:rPr>
              <a:t>Operator Precedence (</a:t>
            </a:r>
            <a:r>
              <a:rPr lang="zh-TW" altLang="en-US" sz="4800" dirty="0">
                <a:solidFill>
                  <a:srgbClr val="0070C0"/>
                </a:solidFill>
                <a:latin typeface="Elephant" panose="02020904090505020303" pitchFamily="18" charset="0"/>
                <a:ea typeface="新細明體" panose="02020500000000000000" pitchFamily="18" charset="-120"/>
              </a:rPr>
              <a:t>优先权</a:t>
            </a:r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</a:rPr>
              <a:t>)</a:t>
            </a:r>
          </a:p>
        </p:txBody>
      </p:sp>
      <p:sp>
        <p:nvSpPr>
          <p:cNvPr id="4" name="Rounded Rectangular Callout 3"/>
          <p:cNvSpPr/>
          <p:nvPr/>
        </p:nvSpPr>
        <p:spPr>
          <a:xfrm>
            <a:off x="3036095" y="2084136"/>
            <a:ext cx="3590303" cy="2259265"/>
          </a:xfrm>
          <a:prstGeom prst="wedgeRoundRectCallout">
            <a:avLst>
              <a:gd name="adj1" fmla="val -70268"/>
              <a:gd name="adj2" fmla="val 86570"/>
              <a:gd name="adj3" fmla="val 16667"/>
            </a:avLst>
          </a:prstGeom>
          <a:solidFill>
            <a:srgbClr val="FFE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altLang="zh-TW" sz="4999" dirty="0">
                <a:solidFill>
                  <a:srgbClr val="000000"/>
                </a:solidFill>
              </a:rPr>
              <a:t>We never </a:t>
            </a:r>
            <a:br>
              <a:rPr lang="en-US" altLang="zh-TW" sz="4999" dirty="0">
                <a:solidFill>
                  <a:srgbClr val="000000"/>
                </a:solidFill>
              </a:rPr>
            </a:br>
            <a:r>
              <a:rPr lang="en-US" altLang="zh-TW" sz="4999" dirty="0">
                <a:solidFill>
                  <a:srgbClr val="000000"/>
                </a:solidFill>
              </a:rPr>
              <a:t>explained these…</a:t>
            </a:r>
            <a:endParaRPr lang="zh-TW" altLang="en-US" sz="4999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942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9095" y="932481"/>
            <a:ext cx="8991600" cy="5925520"/>
          </a:xfrm>
        </p:spPr>
        <p:txBody>
          <a:bodyPr/>
          <a:lstStyle/>
          <a:p>
            <a:pPr marL="288913" indent="-288913"/>
            <a:r>
              <a:rPr lang="en-US" altLang="zh-TW" sz="4000" dirty="0"/>
              <a:t>The</a:t>
            </a:r>
            <a:r>
              <a:rPr lang="en-US" altLang="zh-TW" sz="3200" dirty="0"/>
              <a:t> </a:t>
            </a:r>
            <a:r>
              <a:rPr lang="en-US" altLang="zh-TW" sz="4000" dirty="0"/>
              <a:t>“</a:t>
            </a:r>
            <a:r>
              <a:rPr lang="en-US" altLang="zh-TW" sz="4000" dirty="0">
                <a:latin typeface="Lucida Console" panose="020B0609040504020204" pitchFamily="49" charset="0"/>
              </a:rPr>
              <a:t>is</a:t>
            </a:r>
            <a:r>
              <a:rPr lang="en-US" altLang="zh-TW" sz="4000" dirty="0"/>
              <a:t>”</a:t>
            </a:r>
            <a:r>
              <a:rPr lang="en-US" altLang="zh-TW" sz="3200" dirty="0"/>
              <a:t> </a:t>
            </a:r>
            <a:r>
              <a:rPr lang="en-US" altLang="zh-TW" sz="4000" dirty="0"/>
              <a:t>operator</a:t>
            </a:r>
            <a:r>
              <a:rPr lang="en-US" altLang="zh-TW" sz="3600" dirty="0"/>
              <a:t> </a:t>
            </a:r>
            <a:r>
              <a:rPr lang="en-US" altLang="zh-TW" sz="4000" dirty="0"/>
              <a:t>is</a:t>
            </a:r>
            <a:r>
              <a:rPr lang="en-US" altLang="zh-TW" sz="3600" dirty="0"/>
              <a:t> </a:t>
            </a:r>
            <a:r>
              <a:rPr lang="en-US" altLang="zh-TW" sz="4000" dirty="0"/>
              <a:t>similar</a:t>
            </a:r>
            <a:r>
              <a:rPr lang="en-US" altLang="zh-TW" sz="3600" dirty="0"/>
              <a:t> </a:t>
            </a:r>
            <a:r>
              <a:rPr lang="en-US" altLang="zh-TW" sz="4000" dirty="0"/>
              <a:t>to</a:t>
            </a:r>
            <a:r>
              <a:rPr lang="en-US" altLang="zh-TW" sz="3600" dirty="0"/>
              <a:t> </a:t>
            </a:r>
            <a:r>
              <a:rPr lang="en-US" altLang="zh-TW" sz="4000" dirty="0"/>
              <a:t>the</a:t>
            </a:r>
            <a:r>
              <a:rPr lang="en-US" altLang="zh-TW" sz="3600" dirty="0"/>
              <a:t> </a:t>
            </a:r>
            <a:br>
              <a:rPr lang="en-US" altLang="zh-TW" sz="3600" dirty="0"/>
            </a:br>
            <a:r>
              <a:rPr lang="en-US" altLang="zh-TW" sz="4000" dirty="0"/>
              <a:t>“==”</a:t>
            </a:r>
            <a:r>
              <a:rPr lang="en-US" altLang="zh-TW" sz="3600" dirty="0"/>
              <a:t> </a:t>
            </a:r>
            <a:r>
              <a:rPr lang="en-US" altLang="zh-TW" sz="4000" dirty="0"/>
              <a:t>operator: </a:t>
            </a:r>
          </a:p>
          <a:p>
            <a:pPr marL="625448" lvl="1" indent="-276213">
              <a:spcBef>
                <a:spcPts val="600"/>
              </a:spcBef>
            </a:pPr>
            <a:r>
              <a:rPr lang="en-US" altLang="zh-TW" sz="3703" dirty="0"/>
              <a:t>But “</a:t>
            </a:r>
            <a:r>
              <a:rPr lang="en-US" altLang="zh-TW" sz="3703" dirty="0">
                <a:latin typeface="Lucida Console" panose="020B0609040504020204" pitchFamily="49" charset="0"/>
              </a:rPr>
              <a:t>is</a:t>
            </a:r>
            <a:r>
              <a:rPr lang="en-US" altLang="zh-TW" sz="3703" dirty="0"/>
              <a:t>” tests for whether the two objects </a:t>
            </a:r>
            <a:r>
              <a:rPr lang="en-US" altLang="zh-TW" sz="3703" i="1" dirty="0"/>
              <a:t>are</a:t>
            </a:r>
            <a:r>
              <a:rPr lang="en-US" altLang="zh-TW" sz="3703" dirty="0"/>
              <a:t> the same object. </a:t>
            </a:r>
          </a:p>
          <a:p>
            <a:pPr marL="625448" lvl="1" indent="-276213">
              <a:spcBef>
                <a:spcPts val="600"/>
              </a:spcBef>
            </a:pPr>
            <a:r>
              <a:rPr lang="en-US" altLang="zh-TW" sz="3703" dirty="0"/>
              <a:t>Rather than testing whether they have the same </a:t>
            </a:r>
            <a:r>
              <a:rPr lang="en-US" altLang="zh-TW" sz="3703" i="1" dirty="0"/>
              <a:t>value</a:t>
            </a:r>
            <a:r>
              <a:rPr lang="en-US" altLang="zh-TW" sz="3703" dirty="0"/>
              <a:t>.</a:t>
            </a:r>
          </a:p>
          <a:p>
            <a:pPr marL="288913" indent="-288913"/>
            <a:r>
              <a:rPr lang="en-US" altLang="zh-TW" sz="3703" dirty="0"/>
              <a:t>The</a:t>
            </a:r>
            <a:r>
              <a:rPr lang="en-US" altLang="zh-TW" sz="2963" dirty="0"/>
              <a:t> </a:t>
            </a:r>
            <a:r>
              <a:rPr lang="en-US" altLang="zh-TW" sz="3703" dirty="0"/>
              <a:t>“</a:t>
            </a:r>
            <a:r>
              <a:rPr lang="en-US" altLang="zh-TW" sz="3703" dirty="0">
                <a:latin typeface="Lucida Console" panose="020B0609040504020204" pitchFamily="49" charset="0"/>
              </a:rPr>
              <a:t>is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3703" dirty="0">
                <a:latin typeface="Lucida Console" panose="020B0609040504020204" pitchFamily="49" charset="0"/>
              </a:rPr>
              <a:t>not</a:t>
            </a:r>
            <a:r>
              <a:rPr lang="en-US" altLang="zh-TW" sz="3703" dirty="0"/>
              <a:t>”</a:t>
            </a:r>
            <a:r>
              <a:rPr lang="en-US" altLang="zh-TW" sz="2963" dirty="0"/>
              <a:t> </a:t>
            </a:r>
            <a:r>
              <a:rPr lang="en-US" altLang="zh-TW" sz="3703" dirty="0"/>
              <a:t>operator</a:t>
            </a:r>
            <a:r>
              <a:rPr lang="en-US" altLang="zh-TW" sz="3333" dirty="0"/>
              <a:t> </a:t>
            </a:r>
            <a:r>
              <a:rPr lang="en-US" altLang="zh-TW" sz="3703" dirty="0"/>
              <a:t>gives the opposite answer, of course.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826294" y="0"/>
            <a:ext cx="8077200" cy="762000"/>
          </a:xfrm>
        </p:spPr>
        <p:txBody>
          <a:bodyPr/>
          <a:lstStyle/>
          <a:p>
            <a:r>
              <a:rPr lang="en-US" altLang="zh-TW" sz="4444" dirty="0">
                <a:solidFill>
                  <a:srgbClr val="0070C0"/>
                </a:solidFill>
                <a:latin typeface="Elephant" panose="02020904090505020303" pitchFamily="18" charset="0"/>
              </a:rPr>
              <a:t>The </a:t>
            </a:r>
            <a:r>
              <a:rPr lang="en-US" altLang="zh-TW" sz="4444" b="1" spc="-463" dirty="0">
                <a:solidFill>
                  <a:srgbClr val="0070C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333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&amp; </a:t>
            </a:r>
            <a:r>
              <a:rPr lang="en-US" altLang="zh-TW" sz="4444" b="1" spc="-463" dirty="0">
                <a:solidFill>
                  <a:srgbClr val="0070C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2963" b="1" spc="-463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4444" b="1" spc="-93" dirty="0">
                <a:solidFill>
                  <a:srgbClr val="0070C0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4444" b="1" spc="-463" dirty="0">
                <a:solidFill>
                  <a:srgbClr val="0070C0"/>
                </a:solidFill>
                <a:latin typeface="Lucida Console" panose="020B0609040504020204" pitchFamily="49" charset="0"/>
              </a:rPr>
              <a:t>ot</a:t>
            </a:r>
            <a:r>
              <a:rPr lang="en-US" altLang="zh-TW" sz="370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 Operators</a:t>
            </a:r>
            <a:endParaRPr lang="zh-TW" altLang="en-US" sz="4074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47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26294" y="0"/>
            <a:ext cx="8077200" cy="762000"/>
          </a:xfrm>
        </p:spPr>
        <p:txBody>
          <a:bodyPr/>
          <a:lstStyle/>
          <a:p>
            <a:r>
              <a:rPr lang="en-US" altLang="zh-TW" sz="4444" dirty="0">
                <a:solidFill>
                  <a:srgbClr val="0070C0"/>
                </a:solidFill>
                <a:latin typeface="Elephant" panose="02020904090505020303" pitchFamily="18" charset="0"/>
              </a:rPr>
              <a:t>Using </a:t>
            </a:r>
            <a:r>
              <a:rPr lang="en-US" altLang="zh-TW" sz="4444" b="1" spc="-463" dirty="0">
                <a:solidFill>
                  <a:srgbClr val="0070C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333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with</a:t>
            </a:r>
            <a:r>
              <a:rPr lang="en-US" altLang="zh-TW" sz="370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Tuples</a:t>
            </a:r>
            <a:endParaRPr lang="zh-TW" altLang="en-US" sz="4074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9094" y="914400"/>
            <a:ext cx="8839200" cy="5486400"/>
          </a:xfrm>
        </p:spPr>
        <p:txBody>
          <a:bodyPr/>
          <a:lstStyle/>
          <a:p>
            <a:r>
              <a:rPr lang="en-US" altLang="zh-TW" sz="3200" dirty="0"/>
              <a:t>Let’s use tuples to compare “is” vs “==”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a=(4,5,6)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b=(4,5,6)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5322097" y="1447800"/>
            <a:ext cx="4094479" cy="863600"/>
            <a:chOff x="5029201" y="1447800"/>
            <a:chExt cx="4094479" cy="863600"/>
          </a:xfrm>
        </p:grpSpPr>
        <p:sp>
          <p:nvSpPr>
            <p:cNvPr id="13" name="Rounded Rectangular Callout 6"/>
            <p:cNvSpPr/>
            <p:nvPr/>
          </p:nvSpPr>
          <p:spPr bwMode="auto">
            <a:xfrm>
              <a:off x="5410200" y="1447800"/>
              <a:ext cx="3713480" cy="863600"/>
            </a:xfrm>
            <a:prstGeom prst="wedgeRoundRectCallout">
              <a:avLst>
                <a:gd name="adj1" fmla="val -104489"/>
                <a:gd name="adj2" fmla="val -19712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200" dirty="0">
                  <a:solidFill>
                    <a:srgbClr val="C00000"/>
                  </a:solidFill>
                  <a:latin typeface="Times New Roman" charset="0"/>
                </a:rPr>
                <a:t>See that these are two different objects.</a:t>
              </a:r>
              <a:endParaRPr lang="zh-TW" altLang="en-US" sz="3200" dirty="0">
                <a:solidFill>
                  <a:srgbClr val="C00000"/>
                </a:solidFill>
                <a:latin typeface="Times New Roman" charset="0"/>
              </a:endParaRPr>
            </a:p>
          </p:txBody>
        </p:sp>
        <p:sp>
          <p:nvSpPr>
            <p:cNvPr id="14" name="Rounded Rectangular Callout 6"/>
            <p:cNvSpPr/>
            <p:nvPr/>
          </p:nvSpPr>
          <p:spPr bwMode="auto">
            <a:xfrm>
              <a:off x="5410200" y="1447800"/>
              <a:ext cx="3713480" cy="863600"/>
            </a:xfrm>
            <a:prstGeom prst="wedgeRoundRectCallout">
              <a:avLst>
                <a:gd name="adj1" fmla="val -104215"/>
                <a:gd name="adj2" fmla="val 22641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>See that these are two different objects.</a:t>
              </a:r>
              <a:endParaRPr lang="zh-TW" altLang="en-US" sz="3200" dirty="0">
                <a:solidFill>
                  <a:srgbClr val="860000"/>
                </a:solidFill>
                <a:latin typeface="Times New Roman" charset="0"/>
              </a:endParaRPr>
            </a:p>
          </p:txBody>
        </p:sp>
        <p:sp>
          <p:nvSpPr>
            <p:cNvPr id="15" name="Isosceles Triangle 14"/>
            <p:cNvSpPr/>
            <p:nvPr/>
          </p:nvSpPr>
          <p:spPr bwMode="auto">
            <a:xfrm rot="16200000">
              <a:off x="5165036" y="1385514"/>
              <a:ext cx="326003" cy="597673"/>
            </a:xfrm>
            <a:prstGeom prst="triangle">
              <a:avLst>
                <a:gd name="adj" fmla="val 37826"/>
              </a:avLst>
            </a:prstGeom>
            <a:solidFill>
              <a:srgbClr val="FFC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360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  <p:sp>
        <p:nvSpPr>
          <p:cNvPr id="17" name="Rectangle 16"/>
          <p:cNvSpPr/>
          <p:nvPr/>
        </p:nvSpPr>
        <p:spPr>
          <a:xfrm>
            <a:off x="798106" y="2254792"/>
            <a:ext cx="83388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67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9094" y="914400"/>
            <a:ext cx="8839200" cy="5486400"/>
          </a:xfrm>
        </p:spPr>
        <p:txBody>
          <a:bodyPr/>
          <a:lstStyle/>
          <a:p>
            <a:r>
              <a:rPr lang="en-US" altLang="zh-TW" sz="3200" dirty="0"/>
              <a:t>Let’s use tuples to compare “is” vs “==”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a=(4,5,6)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b=(4,5,6)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5322097" y="1447800"/>
            <a:ext cx="4094479" cy="863600"/>
            <a:chOff x="5029201" y="1447800"/>
            <a:chExt cx="4094479" cy="863600"/>
          </a:xfrm>
        </p:grpSpPr>
        <p:sp>
          <p:nvSpPr>
            <p:cNvPr id="13" name="Rounded Rectangular Callout 6"/>
            <p:cNvSpPr/>
            <p:nvPr/>
          </p:nvSpPr>
          <p:spPr bwMode="auto">
            <a:xfrm>
              <a:off x="5410200" y="1447800"/>
              <a:ext cx="3713480" cy="863600"/>
            </a:xfrm>
            <a:prstGeom prst="wedgeRoundRectCallout">
              <a:avLst>
                <a:gd name="adj1" fmla="val -104489"/>
                <a:gd name="adj2" fmla="val -19712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200" dirty="0">
                  <a:solidFill>
                    <a:srgbClr val="C00000"/>
                  </a:solidFill>
                  <a:latin typeface="Times New Roman" charset="0"/>
                </a:rPr>
                <a:t>See that these are two different objects.</a:t>
              </a:r>
              <a:endParaRPr lang="zh-TW" altLang="en-US" sz="3200" dirty="0">
                <a:solidFill>
                  <a:srgbClr val="C00000"/>
                </a:solidFill>
                <a:latin typeface="Times New Roman" charset="0"/>
              </a:endParaRPr>
            </a:p>
          </p:txBody>
        </p:sp>
        <p:sp>
          <p:nvSpPr>
            <p:cNvPr id="14" name="Rounded Rectangular Callout 6"/>
            <p:cNvSpPr/>
            <p:nvPr/>
          </p:nvSpPr>
          <p:spPr bwMode="auto">
            <a:xfrm>
              <a:off x="5410200" y="1447800"/>
              <a:ext cx="3713480" cy="863600"/>
            </a:xfrm>
            <a:prstGeom prst="wedgeRoundRectCallout">
              <a:avLst>
                <a:gd name="adj1" fmla="val -104215"/>
                <a:gd name="adj2" fmla="val 22641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>See that these are two</a:t>
              </a:r>
              <a:r>
                <a:rPr lang="en-US" altLang="zh-TW" sz="3200" dirty="0">
                  <a:solidFill>
                    <a:srgbClr val="C00000"/>
                  </a:solidFill>
                  <a:latin typeface="Times New Roman" charset="0"/>
                </a:rPr>
                <a:t> </a:t>
              </a:r>
              <a:r>
                <a:rPr lang="en-US" altLang="zh-TW" sz="3200" dirty="0">
                  <a:solidFill>
                    <a:srgbClr val="0033CC"/>
                  </a:solidFill>
                  <a:latin typeface="Times New Roman" charset="0"/>
                </a:rPr>
                <a:t>different objects</a:t>
              </a: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>.</a:t>
              </a:r>
              <a:endParaRPr lang="zh-TW" altLang="en-US" sz="3200" dirty="0">
                <a:solidFill>
                  <a:srgbClr val="860000"/>
                </a:solidFill>
                <a:latin typeface="Times New Roman" charset="0"/>
              </a:endParaRPr>
            </a:p>
          </p:txBody>
        </p:sp>
        <p:sp>
          <p:nvSpPr>
            <p:cNvPr id="15" name="Isosceles Triangle 14"/>
            <p:cNvSpPr/>
            <p:nvPr/>
          </p:nvSpPr>
          <p:spPr bwMode="auto">
            <a:xfrm rot="16200000">
              <a:off x="5165036" y="1385514"/>
              <a:ext cx="326003" cy="597673"/>
            </a:xfrm>
            <a:prstGeom prst="triangle">
              <a:avLst>
                <a:gd name="adj" fmla="val 37826"/>
              </a:avLst>
            </a:prstGeom>
            <a:solidFill>
              <a:srgbClr val="FFC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360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  <p:sp>
        <p:nvSpPr>
          <p:cNvPr id="16" name="Rounded Rectangular Callout 6"/>
          <p:cNvSpPr/>
          <p:nvPr/>
        </p:nvSpPr>
        <p:spPr bwMode="auto">
          <a:xfrm>
            <a:off x="3950494" y="2895601"/>
            <a:ext cx="5466080" cy="939800"/>
          </a:xfrm>
          <a:prstGeom prst="wedgeRoundRectCallout">
            <a:avLst>
              <a:gd name="adj1" fmla="val 19205"/>
              <a:gd name="adj2" fmla="val -122224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5000"/>
              </a:lnSpc>
            </a:pP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And</a:t>
            </a:r>
            <a:r>
              <a:rPr lang="en-US" altLang="zh-TW" sz="3200" dirty="0">
                <a:solidFill>
                  <a:srgbClr val="0033CC"/>
                </a:solidFill>
                <a:latin typeface="Times New Roman" charset="0"/>
              </a:rPr>
              <a:t> different objects 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are obviously </a:t>
            </a:r>
            <a:r>
              <a:rPr lang="en-US" altLang="zh-TW" sz="3200" b="1" dirty="0">
                <a:solidFill>
                  <a:srgbClr val="860000"/>
                </a:solidFill>
                <a:latin typeface="Times New Roman" charset="0"/>
              </a:rPr>
              <a:t>not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 the same object.</a:t>
            </a:r>
            <a:endParaRPr lang="zh-TW" altLang="en-US" sz="3200" dirty="0">
              <a:solidFill>
                <a:srgbClr val="860000"/>
              </a:solidFill>
              <a:latin typeface="Times New Roman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98106" y="2254792"/>
            <a:ext cx="83388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1" name="標題 1"/>
          <p:cNvSpPr>
            <a:spLocks noGrp="1"/>
          </p:cNvSpPr>
          <p:nvPr>
            <p:ph type="title"/>
          </p:nvPr>
        </p:nvSpPr>
        <p:spPr>
          <a:xfrm>
            <a:off x="826294" y="0"/>
            <a:ext cx="8077200" cy="762000"/>
          </a:xfrm>
        </p:spPr>
        <p:txBody>
          <a:bodyPr/>
          <a:lstStyle/>
          <a:p>
            <a:r>
              <a:rPr lang="en-US" altLang="zh-TW" sz="4444" dirty="0">
                <a:solidFill>
                  <a:srgbClr val="0070C0"/>
                </a:solidFill>
                <a:latin typeface="Elephant" panose="02020904090505020303" pitchFamily="18" charset="0"/>
              </a:rPr>
              <a:t>Using </a:t>
            </a:r>
            <a:r>
              <a:rPr lang="en-US" altLang="zh-TW" sz="4444" b="1" spc="-463" dirty="0">
                <a:solidFill>
                  <a:srgbClr val="0070C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333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with</a:t>
            </a:r>
            <a:r>
              <a:rPr lang="en-US" altLang="zh-TW" sz="370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Tuples</a:t>
            </a:r>
            <a:endParaRPr lang="zh-TW" altLang="en-US" sz="4074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9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9094" y="914400"/>
            <a:ext cx="8839200" cy="5486400"/>
          </a:xfrm>
        </p:spPr>
        <p:txBody>
          <a:bodyPr/>
          <a:lstStyle/>
          <a:p>
            <a:r>
              <a:rPr lang="en-US" altLang="zh-TW" sz="3200" dirty="0"/>
              <a:t>Let’s use tuples to compare “is” vs “==”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a=(4,5,6)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b=(4,5,6)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322097" y="1447800"/>
            <a:ext cx="4094479" cy="863600"/>
            <a:chOff x="5029201" y="1447800"/>
            <a:chExt cx="4094479" cy="863600"/>
          </a:xfrm>
        </p:grpSpPr>
        <p:sp>
          <p:nvSpPr>
            <p:cNvPr id="17" name="Rounded Rectangular Callout 6"/>
            <p:cNvSpPr/>
            <p:nvPr/>
          </p:nvSpPr>
          <p:spPr bwMode="auto">
            <a:xfrm>
              <a:off x="5410200" y="1447800"/>
              <a:ext cx="3713480" cy="863600"/>
            </a:xfrm>
            <a:prstGeom prst="wedgeRoundRectCallout">
              <a:avLst>
                <a:gd name="adj1" fmla="val -104489"/>
                <a:gd name="adj2" fmla="val -19712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200" dirty="0">
                  <a:solidFill>
                    <a:srgbClr val="C00000"/>
                  </a:solidFill>
                  <a:latin typeface="Times New Roman" charset="0"/>
                </a:rPr>
                <a:t>See that these are two different objects.</a:t>
              </a:r>
              <a:endParaRPr lang="zh-TW" altLang="en-US" sz="3200" dirty="0">
                <a:solidFill>
                  <a:srgbClr val="C00000"/>
                </a:solidFill>
                <a:latin typeface="Times New Roman" charset="0"/>
              </a:endParaRPr>
            </a:p>
          </p:txBody>
        </p:sp>
        <p:sp>
          <p:nvSpPr>
            <p:cNvPr id="18" name="Rounded Rectangular Callout 6"/>
            <p:cNvSpPr/>
            <p:nvPr/>
          </p:nvSpPr>
          <p:spPr bwMode="auto">
            <a:xfrm>
              <a:off x="5410200" y="1447800"/>
              <a:ext cx="3713480" cy="863600"/>
            </a:xfrm>
            <a:prstGeom prst="wedgeRoundRectCallout">
              <a:avLst>
                <a:gd name="adj1" fmla="val -104215"/>
                <a:gd name="adj2" fmla="val 22641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>See that these are two</a:t>
              </a:r>
              <a:r>
                <a:rPr lang="en-US" altLang="zh-TW" sz="3200" dirty="0">
                  <a:solidFill>
                    <a:srgbClr val="C00000"/>
                  </a:solidFill>
                  <a:latin typeface="Times New Roman" charset="0"/>
                </a:rPr>
                <a:t> </a:t>
              </a:r>
              <a:r>
                <a:rPr lang="en-US" altLang="zh-TW" sz="3200" dirty="0">
                  <a:solidFill>
                    <a:srgbClr val="0033CC"/>
                  </a:solidFill>
                  <a:latin typeface="Times New Roman" charset="0"/>
                </a:rPr>
                <a:t>different objects</a:t>
              </a: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>.</a:t>
              </a:r>
              <a:endParaRPr lang="zh-TW" altLang="en-US" sz="3200" dirty="0">
                <a:solidFill>
                  <a:srgbClr val="860000"/>
                </a:solidFill>
                <a:latin typeface="Times New Roman" charset="0"/>
              </a:endParaRPr>
            </a:p>
          </p:txBody>
        </p:sp>
        <p:sp>
          <p:nvSpPr>
            <p:cNvPr id="19" name="Isosceles Triangle 18"/>
            <p:cNvSpPr/>
            <p:nvPr/>
          </p:nvSpPr>
          <p:spPr bwMode="auto">
            <a:xfrm rot="16200000">
              <a:off x="5165036" y="1385514"/>
              <a:ext cx="326003" cy="597673"/>
            </a:xfrm>
            <a:prstGeom prst="triangle">
              <a:avLst>
                <a:gd name="adj" fmla="val 37826"/>
              </a:avLst>
            </a:prstGeom>
            <a:solidFill>
              <a:srgbClr val="FFC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360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  <p:sp>
        <p:nvSpPr>
          <p:cNvPr id="20" name="Rounded Rectangular Callout 6"/>
          <p:cNvSpPr/>
          <p:nvPr/>
        </p:nvSpPr>
        <p:spPr bwMode="auto">
          <a:xfrm>
            <a:off x="3950494" y="2895601"/>
            <a:ext cx="5466080" cy="939800"/>
          </a:xfrm>
          <a:prstGeom prst="wedgeRoundRectCallout">
            <a:avLst>
              <a:gd name="adj1" fmla="val 19205"/>
              <a:gd name="adj2" fmla="val -122224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5000"/>
              </a:lnSpc>
            </a:pP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And</a:t>
            </a:r>
            <a:r>
              <a:rPr lang="en-US" altLang="zh-TW" sz="3200" dirty="0">
                <a:solidFill>
                  <a:srgbClr val="0033CC"/>
                </a:solidFill>
                <a:latin typeface="Times New Roman" charset="0"/>
              </a:rPr>
              <a:t> different objects 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are obviously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 </a:t>
            </a:r>
            <a:r>
              <a:rPr lang="en-US" altLang="zh-TW" sz="3200" b="1" dirty="0">
                <a:solidFill>
                  <a:srgbClr val="FF0000"/>
                </a:solidFill>
                <a:latin typeface="Times New Roman" charset="0"/>
              </a:rPr>
              <a:t>not</a:t>
            </a:r>
            <a:r>
              <a:rPr lang="en-US" altLang="zh-TW" sz="3200" dirty="0">
                <a:solidFill>
                  <a:srgbClr val="00B050"/>
                </a:solidFill>
                <a:latin typeface="Times New Roman" charset="0"/>
              </a:rPr>
              <a:t> the same object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.</a:t>
            </a:r>
            <a:endParaRPr lang="zh-TW" altLang="en-US" sz="3200" dirty="0">
              <a:solidFill>
                <a:srgbClr val="860000"/>
              </a:solidFill>
              <a:latin typeface="Times New Roman" charset="0"/>
            </a:endParaRPr>
          </a:p>
        </p:txBody>
      </p:sp>
      <p:sp>
        <p:nvSpPr>
          <p:cNvPr id="12" name="Rounded Rectangular Callout 6"/>
          <p:cNvSpPr/>
          <p:nvPr/>
        </p:nvSpPr>
        <p:spPr bwMode="auto">
          <a:xfrm>
            <a:off x="3950494" y="4318000"/>
            <a:ext cx="5466080" cy="565648"/>
          </a:xfrm>
          <a:prstGeom prst="wedgeRoundRectCallout">
            <a:avLst>
              <a:gd name="adj1" fmla="val 17659"/>
              <a:gd name="adj2" fmla="val -153468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5000"/>
              </a:lnSpc>
            </a:pP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And so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 </a:t>
            </a:r>
            <a:r>
              <a:rPr lang="en-US" altLang="zh-TW" sz="3200" dirty="0">
                <a:solidFill>
                  <a:srgbClr val="00B050"/>
                </a:solidFill>
                <a:latin typeface="Times New Roman" charset="0"/>
              </a:rPr>
              <a:t>a </a:t>
            </a:r>
            <a:r>
              <a:rPr lang="en-US" altLang="zh-TW" sz="3200" b="1" dirty="0">
                <a:solidFill>
                  <a:srgbClr val="00B050"/>
                </a:solidFill>
                <a:latin typeface="Times New Roman" charset="0"/>
              </a:rPr>
              <a:t>is </a:t>
            </a:r>
            <a:r>
              <a:rPr lang="en-US" altLang="zh-TW" sz="3200" b="1" dirty="0">
                <a:solidFill>
                  <a:srgbClr val="FF0000"/>
                </a:solidFill>
                <a:latin typeface="Times New Roman" charset="0"/>
              </a:rPr>
              <a:t>not</a:t>
            </a:r>
            <a:r>
              <a:rPr lang="en-US" altLang="zh-TW" sz="3200" dirty="0">
                <a:solidFill>
                  <a:srgbClr val="00B050"/>
                </a:solidFill>
                <a:latin typeface="Times New Roman" charset="0"/>
              </a:rPr>
              <a:t> b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, right?</a:t>
            </a:r>
            <a:endParaRPr lang="zh-TW" altLang="en-US" sz="3200" dirty="0">
              <a:solidFill>
                <a:srgbClr val="860000"/>
              </a:solidFill>
              <a:latin typeface="Times New Roman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98106" y="2254792"/>
            <a:ext cx="83388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3" name="標題 1"/>
          <p:cNvSpPr>
            <a:spLocks noGrp="1"/>
          </p:cNvSpPr>
          <p:nvPr>
            <p:ph type="title"/>
          </p:nvPr>
        </p:nvSpPr>
        <p:spPr>
          <a:xfrm>
            <a:off x="826294" y="0"/>
            <a:ext cx="8077200" cy="762000"/>
          </a:xfrm>
        </p:spPr>
        <p:txBody>
          <a:bodyPr/>
          <a:lstStyle/>
          <a:p>
            <a:r>
              <a:rPr lang="en-US" altLang="zh-TW" sz="4444" dirty="0">
                <a:solidFill>
                  <a:srgbClr val="0070C0"/>
                </a:solidFill>
                <a:latin typeface="Elephant" panose="02020904090505020303" pitchFamily="18" charset="0"/>
              </a:rPr>
              <a:t>Using </a:t>
            </a:r>
            <a:r>
              <a:rPr lang="en-US" altLang="zh-TW" sz="4444" b="1" spc="-463" dirty="0">
                <a:solidFill>
                  <a:srgbClr val="0070C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333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with</a:t>
            </a:r>
            <a:r>
              <a:rPr lang="en-US" altLang="zh-TW" sz="370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Tuples</a:t>
            </a:r>
            <a:endParaRPr lang="zh-TW" altLang="en-US" sz="4074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3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9094" y="914400"/>
            <a:ext cx="8839200" cy="5486400"/>
          </a:xfrm>
        </p:spPr>
        <p:txBody>
          <a:bodyPr/>
          <a:lstStyle/>
          <a:p>
            <a:r>
              <a:rPr lang="en-US" altLang="zh-TW" sz="3200" dirty="0"/>
              <a:t>Let’s use tuples to compare “is” vs “==”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a=(4,5,6)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b=(4,5,6)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a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is </a:t>
            </a:r>
            <a:r>
              <a:rPr lang="en-US" altLang="zh-TW" sz="2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5322097" y="1447800"/>
            <a:ext cx="4094479" cy="863600"/>
            <a:chOff x="5029201" y="1447800"/>
            <a:chExt cx="4094479" cy="863600"/>
          </a:xfrm>
        </p:grpSpPr>
        <p:sp>
          <p:nvSpPr>
            <p:cNvPr id="15" name="Rounded Rectangular Callout 6"/>
            <p:cNvSpPr/>
            <p:nvPr/>
          </p:nvSpPr>
          <p:spPr bwMode="auto">
            <a:xfrm>
              <a:off x="5410200" y="1447800"/>
              <a:ext cx="3713480" cy="863600"/>
            </a:xfrm>
            <a:prstGeom prst="wedgeRoundRectCallout">
              <a:avLst>
                <a:gd name="adj1" fmla="val -104489"/>
                <a:gd name="adj2" fmla="val -19712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200" dirty="0">
                  <a:solidFill>
                    <a:srgbClr val="C00000"/>
                  </a:solidFill>
                  <a:latin typeface="Times New Roman" charset="0"/>
                </a:rPr>
                <a:t>See that these are two different objects.</a:t>
              </a:r>
              <a:endParaRPr lang="zh-TW" altLang="en-US" sz="3200" dirty="0">
                <a:solidFill>
                  <a:srgbClr val="C00000"/>
                </a:solidFill>
                <a:latin typeface="Times New Roman" charset="0"/>
              </a:endParaRPr>
            </a:p>
          </p:txBody>
        </p:sp>
        <p:sp>
          <p:nvSpPr>
            <p:cNvPr id="16" name="Rounded Rectangular Callout 6"/>
            <p:cNvSpPr/>
            <p:nvPr/>
          </p:nvSpPr>
          <p:spPr bwMode="auto">
            <a:xfrm>
              <a:off x="5410200" y="1447800"/>
              <a:ext cx="3713480" cy="863600"/>
            </a:xfrm>
            <a:prstGeom prst="wedgeRoundRectCallout">
              <a:avLst>
                <a:gd name="adj1" fmla="val -104215"/>
                <a:gd name="adj2" fmla="val 22641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>See that these are two</a:t>
              </a:r>
              <a:r>
                <a:rPr lang="en-US" altLang="zh-TW" sz="3200" dirty="0">
                  <a:solidFill>
                    <a:srgbClr val="C00000"/>
                  </a:solidFill>
                  <a:latin typeface="Times New Roman" charset="0"/>
                </a:rPr>
                <a:t> </a:t>
              </a:r>
              <a:r>
                <a:rPr lang="en-US" altLang="zh-TW" sz="3200" dirty="0">
                  <a:solidFill>
                    <a:srgbClr val="0033CC"/>
                  </a:solidFill>
                  <a:latin typeface="Times New Roman" charset="0"/>
                </a:rPr>
                <a:t>different objects</a:t>
              </a: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>.</a:t>
              </a:r>
              <a:endParaRPr lang="zh-TW" altLang="en-US" sz="3200" dirty="0">
                <a:solidFill>
                  <a:srgbClr val="860000"/>
                </a:solidFill>
                <a:latin typeface="Times New Roman" charset="0"/>
              </a:endParaRPr>
            </a:p>
          </p:txBody>
        </p:sp>
        <p:sp>
          <p:nvSpPr>
            <p:cNvPr id="17" name="Isosceles Triangle 16"/>
            <p:cNvSpPr/>
            <p:nvPr/>
          </p:nvSpPr>
          <p:spPr bwMode="auto">
            <a:xfrm rot="16200000">
              <a:off x="5165036" y="1385514"/>
              <a:ext cx="326003" cy="597673"/>
            </a:xfrm>
            <a:prstGeom prst="triangle">
              <a:avLst>
                <a:gd name="adj" fmla="val 37826"/>
              </a:avLst>
            </a:prstGeom>
            <a:solidFill>
              <a:srgbClr val="FFC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360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  <p:sp>
        <p:nvSpPr>
          <p:cNvPr id="18" name="Rounded Rectangular Callout 6"/>
          <p:cNvSpPr/>
          <p:nvPr/>
        </p:nvSpPr>
        <p:spPr bwMode="auto">
          <a:xfrm>
            <a:off x="3950494" y="2895601"/>
            <a:ext cx="5466080" cy="939800"/>
          </a:xfrm>
          <a:prstGeom prst="wedgeRoundRectCallout">
            <a:avLst>
              <a:gd name="adj1" fmla="val 19205"/>
              <a:gd name="adj2" fmla="val -122224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5000"/>
              </a:lnSpc>
            </a:pP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And </a:t>
            </a:r>
            <a:r>
              <a:rPr lang="en-US" altLang="zh-TW" sz="3200" dirty="0">
                <a:solidFill>
                  <a:srgbClr val="0033CC"/>
                </a:solidFill>
                <a:latin typeface="Times New Roman" charset="0"/>
              </a:rPr>
              <a:t>different objects 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are obviously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 </a:t>
            </a:r>
            <a:r>
              <a:rPr lang="en-US" altLang="zh-TW" sz="3200" b="1" dirty="0">
                <a:solidFill>
                  <a:srgbClr val="FF0000"/>
                </a:solidFill>
                <a:latin typeface="Times New Roman" charset="0"/>
              </a:rPr>
              <a:t>not</a:t>
            </a:r>
            <a:r>
              <a:rPr lang="en-US" altLang="zh-TW" sz="3200" dirty="0">
                <a:solidFill>
                  <a:srgbClr val="00B050"/>
                </a:solidFill>
                <a:latin typeface="Times New Roman" charset="0"/>
              </a:rPr>
              <a:t> the same object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.</a:t>
            </a:r>
            <a:endParaRPr lang="zh-TW" altLang="en-US" sz="3200" dirty="0">
              <a:solidFill>
                <a:srgbClr val="860000"/>
              </a:solidFill>
              <a:latin typeface="Times New Roman" charset="0"/>
            </a:endParaRPr>
          </a:p>
        </p:txBody>
      </p:sp>
      <p:sp>
        <p:nvSpPr>
          <p:cNvPr id="12" name="Rounded Rectangular Callout 6"/>
          <p:cNvSpPr/>
          <p:nvPr/>
        </p:nvSpPr>
        <p:spPr bwMode="auto">
          <a:xfrm>
            <a:off x="3950494" y="4318000"/>
            <a:ext cx="5466080" cy="565648"/>
          </a:xfrm>
          <a:prstGeom prst="wedgeRoundRectCallout">
            <a:avLst>
              <a:gd name="adj1" fmla="val 17659"/>
              <a:gd name="adj2" fmla="val -153468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5000"/>
              </a:lnSpc>
            </a:pP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And so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 </a:t>
            </a:r>
            <a:r>
              <a:rPr lang="en-US" altLang="zh-TW" sz="3200" dirty="0">
                <a:solidFill>
                  <a:srgbClr val="00B050"/>
                </a:solidFill>
                <a:latin typeface="Times New Roman" charset="0"/>
              </a:rPr>
              <a:t>a </a:t>
            </a:r>
            <a:r>
              <a:rPr lang="en-US" altLang="zh-TW" sz="3200" b="1" dirty="0">
                <a:solidFill>
                  <a:srgbClr val="00B050"/>
                </a:solidFill>
                <a:latin typeface="Times New Roman" charset="0"/>
              </a:rPr>
              <a:t>is </a:t>
            </a:r>
            <a:r>
              <a:rPr lang="en-US" altLang="zh-TW" sz="3200" b="1" dirty="0">
                <a:solidFill>
                  <a:srgbClr val="FF0000"/>
                </a:solidFill>
                <a:latin typeface="Times New Roman" charset="0"/>
              </a:rPr>
              <a:t>not</a:t>
            </a:r>
            <a:r>
              <a:rPr lang="en-US" altLang="zh-TW" sz="3200" dirty="0">
                <a:solidFill>
                  <a:srgbClr val="00B050"/>
                </a:solidFill>
                <a:latin typeface="Times New Roman" charset="0"/>
              </a:rPr>
              <a:t> b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,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 </a:t>
            </a:r>
            <a:r>
              <a:rPr lang="en-US" altLang="zh-TW" sz="3200" dirty="0">
                <a:solidFill>
                  <a:srgbClr val="FFFF00"/>
                </a:solidFill>
                <a:latin typeface="Times New Roman" charset="0"/>
              </a:rPr>
              <a:t>right?</a:t>
            </a:r>
            <a:endParaRPr lang="zh-TW" altLang="en-US" sz="3200" dirty="0">
              <a:solidFill>
                <a:srgbClr val="FFFF00"/>
              </a:solidFill>
              <a:latin typeface="Times New Roman" charset="0"/>
            </a:endParaRPr>
          </a:p>
        </p:txBody>
      </p:sp>
      <p:sp>
        <p:nvSpPr>
          <p:cNvPr id="14" name="Rounded Rectangular Callout 6"/>
          <p:cNvSpPr/>
          <p:nvPr/>
        </p:nvSpPr>
        <p:spPr bwMode="auto">
          <a:xfrm>
            <a:off x="902494" y="5943601"/>
            <a:ext cx="2514600" cy="892424"/>
          </a:xfrm>
          <a:prstGeom prst="wedgeRoundRectCallout">
            <a:avLst>
              <a:gd name="adj1" fmla="val 220398"/>
              <a:gd name="adj2" fmla="val -181434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5000"/>
              </a:lnSpc>
            </a:pPr>
            <a:r>
              <a:rPr lang="en-US" altLang="zh-TW" sz="3200" dirty="0">
                <a:solidFill>
                  <a:srgbClr val="FFFF00"/>
                </a:solidFill>
                <a:latin typeface="Times New Roman" charset="0"/>
              </a:rPr>
              <a:t>Right?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 </a:t>
            </a:r>
            <a:r>
              <a:rPr lang="en-US" altLang="zh-TW" sz="3200" dirty="0">
                <a:solidFill>
                  <a:srgbClr val="FFC000"/>
                </a:solidFill>
                <a:latin typeface="Times New Roman" charset="0"/>
              </a:rPr>
              <a:t>Yes, that is right.</a:t>
            </a:r>
            <a:endParaRPr lang="zh-TW" altLang="en-US" sz="3200" dirty="0">
              <a:solidFill>
                <a:srgbClr val="FFC000"/>
              </a:solidFill>
              <a:latin typeface="Times New Roman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98106" y="2254792"/>
            <a:ext cx="83388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9" name="標題 1"/>
          <p:cNvSpPr>
            <a:spLocks noGrp="1"/>
          </p:cNvSpPr>
          <p:nvPr>
            <p:ph type="title"/>
          </p:nvPr>
        </p:nvSpPr>
        <p:spPr>
          <a:xfrm>
            <a:off x="826294" y="0"/>
            <a:ext cx="8077200" cy="762000"/>
          </a:xfrm>
        </p:spPr>
        <p:txBody>
          <a:bodyPr/>
          <a:lstStyle/>
          <a:p>
            <a:r>
              <a:rPr lang="en-US" altLang="zh-TW" sz="4444" dirty="0">
                <a:solidFill>
                  <a:srgbClr val="0070C0"/>
                </a:solidFill>
                <a:latin typeface="Elephant" panose="02020904090505020303" pitchFamily="18" charset="0"/>
              </a:rPr>
              <a:t>Using </a:t>
            </a:r>
            <a:r>
              <a:rPr lang="en-US" altLang="zh-TW" sz="4444" b="1" spc="-463" dirty="0">
                <a:solidFill>
                  <a:srgbClr val="0070C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333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with</a:t>
            </a:r>
            <a:r>
              <a:rPr lang="en-US" altLang="zh-TW" sz="370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Tuples</a:t>
            </a:r>
            <a:endParaRPr lang="zh-TW" altLang="en-US" sz="4074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18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5142607" y="2323253"/>
            <a:ext cx="4273968" cy="863600"/>
            <a:chOff x="4849712" y="2323253"/>
            <a:chExt cx="4273968" cy="863600"/>
          </a:xfrm>
        </p:grpSpPr>
        <p:sp>
          <p:nvSpPr>
            <p:cNvPr id="23" name="Rounded Rectangular Callout 6"/>
            <p:cNvSpPr/>
            <p:nvPr/>
          </p:nvSpPr>
          <p:spPr bwMode="auto">
            <a:xfrm>
              <a:off x="5410200" y="2323253"/>
              <a:ext cx="3713480" cy="863600"/>
            </a:xfrm>
            <a:prstGeom prst="wedgeRoundRectCallout">
              <a:avLst>
                <a:gd name="adj1" fmla="val -98446"/>
                <a:gd name="adj2" fmla="val -21904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200" dirty="0">
                  <a:solidFill>
                    <a:srgbClr val="C00000"/>
                  </a:solidFill>
                  <a:latin typeface="Times New Roman" charset="0"/>
                </a:rPr>
                <a:t>See that these are two different objects.</a:t>
              </a:r>
              <a:endParaRPr lang="zh-TW" altLang="en-US" sz="3200" dirty="0">
                <a:solidFill>
                  <a:srgbClr val="C00000"/>
                </a:solidFill>
                <a:latin typeface="Times New Roman" charset="0"/>
              </a:endParaRPr>
            </a:p>
          </p:txBody>
        </p:sp>
        <p:sp>
          <p:nvSpPr>
            <p:cNvPr id="24" name="Rounded Rectangular Callout 6"/>
            <p:cNvSpPr/>
            <p:nvPr/>
          </p:nvSpPr>
          <p:spPr bwMode="auto">
            <a:xfrm>
              <a:off x="5410200" y="2323253"/>
              <a:ext cx="3713480" cy="863600"/>
            </a:xfrm>
            <a:prstGeom prst="wedgeRoundRectCallout">
              <a:avLst>
                <a:gd name="adj1" fmla="val -155247"/>
                <a:gd name="adj2" fmla="val 23505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> </a:t>
              </a:r>
              <a:r>
                <a:rPr lang="en-US" altLang="zh-TW" sz="3200" spc="-46" dirty="0">
                  <a:solidFill>
                    <a:srgbClr val="860000"/>
                  </a:solidFill>
                  <a:latin typeface="Times New Roman" charset="0"/>
                </a:rPr>
                <a:t>So they have different</a:t>
              </a: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/>
              </a:r>
              <a:b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</a:b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>memory locations.</a:t>
              </a:r>
              <a:endParaRPr lang="zh-TW" altLang="en-US" sz="3200" dirty="0">
                <a:solidFill>
                  <a:srgbClr val="860000"/>
                </a:solidFill>
                <a:latin typeface="Times New Roman" charset="0"/>
              </a:endParaRPr>
            </a:p>
          </p:txBody>
        </p:sp>
        <p:sp>
          <p:nvSpPr>
            <p:cNvPr id="25" name="Isosceles Triangle 24"/>
            <p:cNvSpPr/>
            <p:nvPr/>
          </p:nvSpPr>
          <p:spPr bwMode="auto">
            <a:xfrm rot="16200000">
              <a:off x="5089877" y="2220722"/>
              <a:ext cx="236972" cy="717301"/>
            </a:xfrm>
            <a:prstGeom prst="triangle">
              <a:avLst>
                <a:gd name="adj" fmla="val 60645"/>
              </a:avLst>
            </a:prstGeom>
            <a:solidFill>
              <a:srgbClr val="FFC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360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9094" y="914400"/>
            <a:ext cx="8839200" cy="5486400"/>
          </a:xfrm>
        </p:spPr>
        <p:txBody>
          <a:bodyPr/>
          <a:lstStyle/>
          <a:p>
            <a:r>
              <a:rPr lang="en-US" altLang="zh-TW" sz="3200" dirty="0"/>
              <a:t>Let’s use tuples to compare “is” vs “==”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a=(4,5,6)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b=(4,5,6)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a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is </a:t>
            </a:r>
            <a:r>
              <a:rPr lang="en-US" altLang="zh-TW" sz="2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322097" y="1447800"/>
            <a:ext cx="4094479" cy="863600"/>
            <a:chOff x="5029201" y="1447800"/>
            <a:chExt cx="4094479" cy="863600"/>
          </a:xfrm>
        </p:grpSpPr>
        <p:sp>
          <p:nvSpPr>
            <p:cNvPr id="9" name="Rounded Rectangular Callout 6"/>
            <p:cNvSpPr/>
            <p:nvPr/>
          </p:nvSpPr>
          <p:spPr bwMode="auto">
            <a:xfrm>
              <a:off x="5410200" y="1447800"/>
              <a:ext cx="3713480" cy="863600"/>
            </a:xfrm>
            <a:prstGeom prst="wedgeRoundRectCallout">
              <a:avLst>
                <a:gd name="adj1" fmla="val -104489"/>
                <a:gd name="adj2" fmla="val -19712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200" dirty="0">
                  <a:solidFill>
                    <a:srgbClr val="C00000"/>
                  </a:solidFill>
                  <a:latin typeface="Times New Roman" charset="0"/>
                </a:rPr>
                <a:t>See that these are two different objects.</a:t>
              </a:r>
              <a:endParaRPr lang="zh-TW" altLang="en-US" sz="3200" dirty="0">
                <a:solidFill>
                  <a:srgbClr val="C00000"/>
                </a:solidFill>
                <a:latin typeface="Times New Roman" charset="0"/>
              </a:endParaRPr>
            </a:p>
          </p:txBody>
        </p:sp>
        <p:sp>
          <p:nvSpPr>
            <p:cNvPr id="10" name="Rounded Rectangular Callout 6"/>
            <p:cNvSpPr/>
            <p:nvPr/>
          </p:nvSpPr>
          <p:spPr bwMode="auto">
            <a:xfrm>
              <a:off x="5410200" y="1447800"/>
              <a:ext cx="3713480" cy="863600"/>
            </a:xfrm>
            <a:prstGeom prst="wedgeRoundRectCallout">
              <a:avLst>
                <a:gd name="adj1" fmla="val -104215"/>
                <a:gd name="adj2" fmla="val 22641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>See that these are two</a:t>
              </a:r>
              <a:r>
                <a:rPr lang="en-US" altLang="zh-TW" sz="3200" dirty="0">
                  <a:solidFill>
                    <a:srgbClr val="C00000"/>
                  </a:solidFill>
                  <a:latin typeface="Times New Roman" charset="0"/>
                </a:rPr>
                <a:t> </a:t>
              </a:r>
              <a:r>
                <a:rPr lang="en-US" altLang="zh-TW" sz="3200" dirty="0">
                  <a:solidFill>
                    <a:srgbClr val="0033CC"/>
                  </a:solidFill>
                  <a:latin typeface="Times New Roman" charset="0"/>
                </a:rPr>
                <a:t>different objects</a:t>
              </a: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>.</a:t>
              </a:r>
              <a:endParaRPr lang="zh-TW" altLang="en-US" sz="3200" dirty="0">
                <a:solidFill>
                  <a:srgbClr val="860000"/>
                </a:solidFill>
                <a:latin typeface="Times New Roman" charset="0"/>
              </a:endParaRPr>
            </a:p>
          </p:txBody>
        </p:sp>
        <p:sp>
          <p:nvSpPr>
            <p:cNvPr id="11" name="Isosceles Triangle 10"/>
            <p:cNvSpPr/>
            <p:nvPr/>
          </p:nvSpPr>
          <p:spPr bwMode="auto">
            <a:xfrm rot="16200000">
              <a:off x="5165036" y="1385514"/>
              <a:ext cx="326003" cy="597673"/>
            </a:xfrm>
            <a:prstGeom prst="triangle">
              <a:avLst>
                <a:gd name="adj" fmla="val 37826"/>
              </a:avLst>
            </a:prstGeom>
            <a:solidFill>
              <a:srgbClr val="FFC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360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  <p:sp>
        <p:nvSpPr>
          <p:cNvPr id="8" name="Rounded Rectangular Callout 6"/>
          <p:cNvSpPr/>
          <p:nvPr/>
        </p:nvSpPr>
        <p:spPr bwMode="auto">
          <a:xfrm>
            <a:off x="3950494" y="2895601"/>
            <a:ext cx="5466080" cy="939800"/>
          </a:xfrm>
          <a:prstGeom prst="wedgeRoundRectCallout">
            <a:avLst>
              <a:gd name="adj1" fmla="val 19205"/>
              <a:gd name="adj2" fmla="val -122224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5000"/>
              </a:lnSpc>
            </a:pP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And</a:t>
            </a:r>
            <a:r>
              <a:rPr lang="en-US" altLang="zh-TW" sz="3200" dirty="0">
                <a:solidFill>
                  <a:srgbClr val="0033CC"/>
                </a:solidFill>
                <a:latin typeface="Times New Roman" charset="0"/>
              </a:rPr>
              <a:t> different objects 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are obviously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 </a:t>
            </a:r>
            <a:r>
              <a:rPr lang="en-US" altLang="zh-TW" sz="3200" b="1" dirty="0">
                <a:solidFill>
                  <a:srgbClr val="FF0000"/>
                </a:solidFill>
                <a:latin typeface="Times New Roman" charset="0"/>
              </a:rPr>
              <a:t>not</a:t>
            </a:r>
            <a:r>
              <a:rPr lang="en-US" altLang="zh-TW" sz="3200" dirty="0">
                <a:solidFill>
                  <a:srgbClr val="00B050"/>
                </a:solidFill>
                <a:latin typeface="Times New Roman" charset="0"/>
              </a:rPr>
              <a:t> the same object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.</a:t>
            </a:r>
            <a:endParaRPr lang="zh-TW" altLang="en-US" sz="3200" dirty="0">
              <a:solidFill>
                <a:srgbClr val="860000"/>
              </a:solidFill>
              <a:latin typeface="Times New Roman" charset="0"/>
            </a:endParaRPr>
          </a:p>
        </p:txBody>
      </p:sp>
      <p:sp>
        <p:nvSpPr>
          <p:cNvPr id="12" name="Rounded Rectangular Callout 6"/>
          <p:cNvSpPr/>
          <p:nvPr/>
        </p:nvSpPr>
        <p:spPr bwMode="auto">
          <a:xfrm>
            <a:off x="3950494" y="4318000"/>
            <a:ext cx="5466080" cy="565648"/>
          </a:xfrm>
          <a:prstGeom prst="wedgeRoundRectCallout">
            <a:avLst>
              <a:gd name="adj1" fmla="val 17659"/>
              <a:gd name="adj2" fmla="val -153468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5000"/>
              </a:lnSpc>
            </a:pP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And so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 </a:t>
            </a:r>
            <a:r>
              <a:rPr lang="en-US" altLang="zh-TW" sz="3200" dirty="0">
                <a:solidFill>
                  <a:srgbClr val="00B050"/>
                </a:solidFill>
                <a:latin typeface="Times New Roman" charset="0"/>
              </a:rPr>
              <a:t>a </a:t>
            </a:r>
            <a:r>
              <a:rPr lang="en-US" altLang="zh-TW" sz="3200" b="1" dirty="0">
                <a:solidFill>
                  <a:srgbClr val="00B050"/>
                </a:solidFill>
                <a:latin typeface="Times New Roman" charset="0"/>
              </a:rPr>
              <a:t>is </a:t>
            </a:r>
            <a:r>
              <a:rPr lang="en-US" altLang="zh-TW" sz="3200" b="1" dirty="0">
                <a:solidFill>
                  <a:srgbClr val="FF0000"/>
                </a:solidFill>
                <a:latin typeface="Times New Roman" charset="0"/>
              </a:rPr>
              <a:t>not</a:t>
            </a:r>
            <a:r>
              <a:rPr lang="en-US" altLang="zh-TW" sz="3200" dirty="0">
                <a:solidFill>
                  <a:srgbClr val="00B050"/>
                </a:solidFill>
                <a:latin typeface="Times New Roman" charset="0"/>
              </a:rPr>
              <a:t> b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,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 </a:t>
            </a:r>
            <a:r>
              <a:rPr lang="en-US" altLang="zh-TW" sz="3200" dirty="0">
                <a:solidFill>
                  <a:srgbClr val="FFFF00"/>
                </a:solidFill>
                <a:latin typeface="Times New Roman" charset="0"/>
              </a:rPr>
              <a:t>right?</a:t>
            </a:r>
            <a:endParaRPr lang="zh-TW" altLang="en-US" sz="3200" dirty="0">
              <a:solidFill>
                <a:srgbClr val="FFFF00"/>
              </a:solidFill>
              <a:latin typeface="Times New Roman" charset="0"/>
            </a:endParaRPr>
          </a:p>
        </p:txBody>
      </p:sp>
      <p:sp>
        <p:nvSpPr>
          <p:cNvPr id="15" name="Rounded Rectangular Callout 6"/>
          <p:cNvSpPr/>
          <p:nvPr/>
        </p:nvSpPr>
        <p:spPr bwMode="auto">
          <a:xfrm>
            <a:off x="1131094" y="6346576"/>
            <a:ext cx="1828800" cy="435224"/>
          </a:xfrm>
          <a:prstGeom prst="wedgeRoundRectCallout">
            <a:avLst>
              <a:gd name="adj1" fmla="val -37332"/>
              <a:gd name="adj2" fmla="val -794199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5000"/>
              </a:lnSpc>
            </a:pPr>
            <a:endParaRPr lang="zh-TW" altLang="en-US" sz="3200" dirty="0">
              <a:solidFill>
                <a:srgbClr val="C00000"/>
              </a:solidFill>
              <a:latin typeface="Times New Roman" charset="0"/>
            </a:endParaRPr>
          </a:p>
        </p:txBody>
      </p:sp>
      <p:sp>
        <p:nvSpPr>
          <p:cNvPr id="13" name="Rounded Rectangular Callout 6"/>
          <p:cNvSpPr/>
          <p:nvPr/>
        </p:nvSpPr>
        <p:spPr bwMode="auto">
          <a:xfrm>
            <a:off x="902494" y="5943601"/>
            <a:ext cx="2514600" cy="892424"/>
          </a:xfrm>
          <a:prstGeom prst="wedgeRoundRectCallout">
            <a:avLst>
              <a:gd name="adj1" fmla="val 220398"/>
              <a:gd name="adj2" fmla="val -181434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5000"/>
              </a:lnSpc>
            </a:pPr>
            <a:r>
              <a:rPr lang="en-US" altLang="zh-TW" sz="3200" dirty="0">
                <a:solidFill>
                  <a:srgbClr val="FFFF00"/>
                </a:solidFill>
                <a:latin typeface="Times New Roman" charset="0"/>
              </a:rPr>
              <a:t>Right?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 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Yes, that is </a:t>
            </a:r>
            <a:r>
              <a:rPr lang="en-US" altLang="zh-TW" sz="3200" dirty="0">
                <a:solidFill>
                  <a:srgbClr val="7030A0"/>
                </a:solidFill>
                <a:latin typeface="Times New Roman" charset="0"/>
              </a:rPr>
              <a:t>True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.</a:t>
            </a:r>
            <a:endParaRPr lang="zh-TW" altLang="en-US" sz="3200" dirty="0">
              <a:solidFill>
                <a:srgbClr val="C00000"/>
              </a:solidFill>
              <a:latin typeface="Times New Roman" charset="0"/>
            </a:endParaRPr>
          </a:p>
        </p:txBody>
      </p:sp>
      <p:sp>
        <p:nvSpPr>
          <p:cNvPr id="4" name="Isosceles Triangle 3"/>
          <p:cNvSpPr/>
          <p:nvPr/>
        </p:nvSpPr>
        <p:spPr bwMode="auto">
          <a:xfrm>
            <a:off x="1440916" y="4724403"/>
            <a:ext cx="381455" cy="1278517"/>
          </a:xfrm>
          <a:prstGeom prst="triangle">
            <a:avLst>
              <a:gd name="adj" fmla="val 21148"/>
            </a:avLst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6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21" name="標題 1"/>
          <p:cNvSpPr>
            <a:spLocks noGrp="1"/>
          </p:cNvSpPr>
          <p:nvPr>
            <p:ph type="title"/>
          </p:nvPr>
        </p:nvSpPr>
        <p:spPr>
          <a:xfrm>
            <a:off x="826294" y="0"/>
            <a:ext cx="8077200" cy="762000"/>
          </a:xfrm>
        </p:spPr>
        <p:txBody>
          <a:bodyPr/>
          <a:lstStyle/>
          <a:p>
            <a:r>
              <a:rPr lang="en-US" altLang="zh-TW" sz="4444" dirty="0">
                <a:solidFill>
                  <a:srgbClr val="0070C0"/>
                </a:solidFill>
                <a:latin typeface="Elephant" panose="02020904090505020303" pitchFamily="18" charset="0"/>
              </a:rPr>
              <a:t>Using </a:t>
            </a:r>
            <a:r>
              <a:rPr lang="en-US" altLang="zh-TW" sz="4444" b="1" spc="-463" dirty="0">
                <a:solidFill>
                  <a:srgbClr val="0070C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333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with</a:t>
            </a:r>
            <a:r>
              <a:rPr lang="en-US" altLang="zh-TW" sz="370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Tuples</a:t>
            </a:r>
            <a:endParaRPr lang="zh-TW" altLang="en-US" sz="4074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8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5" grpId="0" animBg="1"/>
      <p:bldP spid="15" grpId="1" animBg="1"/>
      <p:bldP spid="13" grpId="0" animBg="1"/>
      <p:bldP spid="4" grpId="0" animBg="1"/>
      <p:bldP spid="4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9094" y="914400"/>
            <a:ext cx="8839200" cy="5486400"/>
          </a:xfrm>
        </p:spPr>
        <p:txBody>
          <a:bodyPr/>
          <a:lstStyle/>
          <a:p>
            <a:r>
              <a:rPr lang="en-US" altLang="zh-TW" sz="3200" dirty="0"/>
              <a:t>Let’s use tuples to compare “is” vs “==”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a=(4,5,6)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b=(4,5,6)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a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is </a:t>
            </a:r>
            <a:r>
              <a:rPr lang="en-US" altLang="zh-TW" sz="2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a==b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142607" y="3200400"/>
            <a:ext cx="4273968" cy="863600"/>
            <a:chOff x="4849712" y="2323253"/>
            <a:chExt cx="4273968" cy="863600"/>
          </a:xfrm>
        </p:grpSpPr>
        <p:sp>
          <p:nvSpPr>
            <p:cNvPr id="14" name="Rounded Rectangular Callout 6"/>
            <p:cNvSpPr/>
            <p:nvPr/>
          </p:nvSpPr>
          <p:spPr bwMode="auto">
            <a:xfrm>
              <a:off x="5410200" y="2323253"/>
              <a:ext cx="3713480" cy="863600"/>
            </a:xfrm>
            <a:prstGeom prst="wedgeRoundRectCallout">
              <a:avLst>
                <a:gd name="adj1" fmla="val -132817"/>
                <a:gd name="adj2" fmla="val -26316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200" dirty="0">
                  <a:solidFill>
                    <a:srgbClr val="C00000"/>
                  </a:solidFill>
                  <a:latin typeface="Times New Roman" charset="0"/>
                </a:rPr>
                <a:t>.</a:t>
              </a:r>
              <a:endParaRPr lang="zh-TW" altLang="en-US" sz="3200" dirty="0">
                <a:solidFill>
                  <a:srgbClr val="C00000"/>
                </a:solidFill>
                <a:latin typeface="Times New Roman" charset="0"/>
              </a:endParaRPr>
            </a:p>
          </p:txBody>
        </p:sp>
        <p:sp>
          <p:nvSpPr>
            <p:cNvPr id="15" name="Rounded Rectangular Callout 6"/>
            <p:cNvSpPr/>
            <p:nvPr/>
          </p:nvSpPr>
          <p:spPr bwMode="auto">
            <a:xfrm>
              <a:off x="5410200" y="2323253"/>
              <a:ext cx="3713480" cy="863600"/>
            </a:xfrm>
            <a:prstGeom prst="wedgeRoundRectCallout">
              <a:avLst>
                <a:gd name="adj1" fmla="val -155247"/>
                <a:gd name="adj2" fmla="val 23505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> But those locations hold the same data.</a:t>
              </a:r>
              <a:endParaRPr lang="zh-TW" altLang="en-US" sz="3200" dirty="0">
                <a:solidFill>
                  <a:srgbClr val="860000"/>
                </a:solidFill>
                <a:latin typeface="Times New Roman" charset="0"/>
              </a:endParaRPr>
            </a:p>
          </p:txBody>
        </p:sp>
        <p:sp>
          <p:nvSpPr>
            <p:cNvPr id="16" name="Isosceles Triangle 15"/>
            <p:cNvSpPr/>
            <p:nvPr/>
          </p:nvSpPr>
          <p:spPr bwMode="auto">
            <a:xfrm rot="16200000">
              <a:off x="5138901" y="2154814"/>
              <a:ext cx="286911" cy="865290"/>
            </a:xfrm>
            <a:prstGeom prst="triangle">
              <a:avLst>
                <a:gd name="adj" fmla="val 60645"/>
              </a:avLst>
            </a:prstGeom>
            <a:solidFill>
              <a:srgbClr val="FFC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360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142607" y="2323253"/>
            <a:ext cx="4273968" cy="863600"/>
            <a:chOff x="4849712" y="2323253"/>
            <a:chExt cx="4273968" cy="863600"/>
          </a:xfrm>
        </p:grpSpPr>
        <p:sp>
          <p:nvSpPr>
            <p:cNvPr id="18" name="Rounded Rectangular Callout 6"/>
            <p:cNvSpPr/>
            <p:nvPr/>
          </p:nvSpPr>
          <p:spPr bwMode="auto">
            <a:xfrm>
              <a:off x="5410200" y="2323253"/>
              <a:ext cx="3713480" cy="863600"/>
            </a:xfrm>
            <a:prstGeom prst="wedgeRoundRectCallout">
              <a:avLst>
                <a:gd name="adj1" fmla="val -98446"/>
                <a:gd name="adj2" fmla="val -21904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200" dirty="0">
                  <a:solidFill>
                    <a:srgbClr val="C00000"/>
                  </a:solidFill>
                  <a:latin typeface="Times New Roman" charset="0"/>
                </a:rPr>
                <a:t>See that these are two different objects.</a:t>
              </a:r>
              <a:endParaRPr lang="zh-TW" altLang="en-US" sz="3200" dirty="0">
                <a:solidFill>
                  <a:srgbClr val="C00000"/>
                </a:solidFill>
                <a:latin typeface="Times New Roman" charset="0"/>
              </a:endParaRPr>
            </a:p>
          </p:txBody>
        </p:sp>
        <p:sp>
          <p:nvSpPr>
            <p:cNvPr id="19" name="Rounded Rectangular Callout 6"/>
            <p:cNvSpPr/>
            <p:nvPr/>
          </p:nvSpPr>
          <p:spPr bwMode="auto">
            <a:xfrm>
              <a:off x="5410200" y="2323253"/>
              <a:ext cx="3713480" cy="863600"/>
            </a:xfrm>
            <a:prstGeom prst="wedgeRoundRectCallout">
              <a:avLst>
                <a:gd name="adj1" fmla="val -155247"/>
                <a:gd name="adj2" fmla="val 23505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> </a:t>
              </a:r>
              <a:r>
                <a:rPr lang="en-US" altLang="zh-TW" sz="3200" spc="-46" dirty="0">
                  <a:solidFill>
                    <a:srgbClr val="860000"/>
                  </a:solidFill>
                  <a:latin typeface="Times New Roman" charset="0"/>
                </a:rPr>
                <a:t>So they have different</a:t>
              </a: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/>
              </a:r>
              <a:b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</a:b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>memory locations.</a:t>
              </a:r>
              <a:endParaRPr lang="zh-TW" altLang="en-US" sz="3200" dirty="0">
                <a:solidFill>
                  <a:srgbClr val="860000"/>
                </a:solidFill>
                <a:latin typeface="Times New Roman" charset="0"/>
              </a:endParaRPr>
            </a:p>
          </p:txBody>
        </p:sp>
        <p:sp>
          <p:nvSpPr>
            <p:cNvPr id="20" name="Isosceles Triangle 19"/>
            <p:cNvSpPr/>
            <p:nvPr/>
          </p:nvSpPr>
          <p:spPr bwMode="auto">
            <a:xfrm rot="16200000">
              <a:off x="5089877" y="2220722"/>
              <a:ext cx="236972" cy="717301"/>
            </a:xfrm>
            <a:prstGeom prst="triangle">
              <a:avLst>
                <a:gd name="adj" fmla="val 60645"/>
              </a:avLst>
            </a:prstGeom>
            <a:solidFill>
              <a:srgbClr val="FFC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360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  <p:sp>
        <p:nvSpPr>
          <p:cNvPr id="13" name="標題 1"/>
          <p:cNvSpPr>
            <a:spLocks noGrp="1"/>
          </p:cNvSpPr>
          <p:nvPr>
            <p:ph type="title"/>
          </p:nvPr>
        </p:nvSpPr>
        <p:spPr>
          <a:xfrm>
            <a:off x="826294" y="0"/>
            <a:ext cx="8077200" cy="762000"/>
          </a:xfrm>
        </p:spPr>
        <p:txBody>
          <a:bodyPr/>
          <a:lstStyle/>
          <a:p>
            <a:r>
              <a:rPr lang="en-US" altLang="zh-TW" sz="4444" dirty="0">
                <a:solidFill>
                  <a:srgbClr val="0070C0"/>
                </a:solidFill>
                <a:latin typeface="Elephant" panose="02020904090505020303" pitchFamily="18" charset="0"/>
              </a:rPr>
              <a:t>Using </a:t>
            </a:r>
            <a:r>
              <a:rPr lang="en-US" altLang="zh-TW" sz="4444" b="1" spc="-463" dirty="0">
                <a:solidFill>
                  <a:srgbClr val="0070C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333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with</a:t>
            </a:r>
            <a:r>
              <a:rPr lang="en-US" altLang="zh-TW" sz="370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Tuples</a:t>
            </a:r>
            <a:endParaRPr lang="zh-TW" altLang="en-US" sz="4074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88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9094" y="914400"/>
            <a:ext cx="8839200" cy="5486400"/>
          </a:xfrm>
        </p:spPr>
        <p:txBody>
          <a:bodyPr/>
          <a:lstStyle/>
          <a:p>
            <a:r>
              <a:rPr lang="en-US" altLang="zh-TW" sz="3200" dirty="0"/>
              <a:t>Let’s use tuples to compare “is” vs “==”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a=(4,5,6)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b=(4,5,6)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a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is </a:t>
            </a:r>
            <a:r>
              <a:rPr lang="en-US" altLang="zh-TW" sz="2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a==b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c=a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19" name="Rounded Rectangular Callout 6"/>
          <p:cNvSpPr/>
          <p:nvPr/>
        </p:nvSpPr>
        <p:spPr bwMode="auto">
          <a:xfrm>
            <a:off x="5703094" y="3593253"/>
            <a:ext cx="3713480" cy="863600"/>
          </a:xfrm>
          <a:prstGeom prst="wedgeRoundRectCallout">
            <a:avLst>
              <a:gd name="adj1" fmla="val -139287"/>
              <a:gd name="adj2" fmla="val 24289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5000"/>
              </a:lnSpc>
            </a:pP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Will this get the same memory location?</a:t>
            </a:r>
            <a:endParaRPr lang="zh-TW" altLang="en-US" sz="3200" dirty="0">
              <a:solidFill>
                <a:srgbClr val="860000"/>
              </a:solidFill>
              <a:latin typeface="Times New Roman" charset="0"/>
            </a:endParaRPr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826294" y="0"/>
            <a:ext cx="8077200" cy="762000"/>
          </a:xfrm>
        </p:spPr>
        <p:txBody>
          <a:bodyPr/>
          <a:lstStyle/>
          <a:p>
            <a:r>
              <a:rPr lang="en-US" altLang="zh-TW" sz="4444" dirty="0">
                <a:solidFill>
                  <a:srgbClr val="0070C0"/>
                </a:solidFill>
                <a:latin typeface="Elephant" panose="02020904090505020303" pitchFamily="18" charset="0"/>
              </a:rPr>
              <a:t>Using </a:t>
            </a:r>
            <a:r>
              <a:rPr lang="en-US" altLang="zh-TW" sz="4444" b="1" spc="-463" dirty="0">
                <a:solidFill>
                  <a:srgbClr val="0070C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333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with</a:t>
            </a:r>
            <a:r>
              <a:rPr lang="en-US" altLang="zh-TW" sz="370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Tuples</a:t>
            </a:r>
            <a:endParaRPr lang="zh-TW" altLang="en-US" sz="4074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04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9094" y="914400"/>
            <a:ext cx="9677400" cy="5486400"/>
          </a:xfrm>
        </p:spPr>
        <p:txBody>
          <a:bodyPr/>
          <a:lstStyle/>
          <a:p>
            <a:r>
              <a:rPr lang="en-US" altLang="zh-TW" sz="3200" dirty="0"/>
              <a:t>Let’s use tuples to compare “is” vs “==”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a=(4,5,6)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b=(4,5,6)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a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is </a:t>
            </a:r>
            <a:r>
              <a:rPr lang="en-US" altLang="zh-TW" sz="2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a==b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c=a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c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800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1400" spc="-1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60" dirty="0">
                <a:solidFill>
                  <a:schemeClr val="bg1"/>
                </a:solidFill>
                <a:latin typeface="Lucida Console" panose="020B0609040504020204" pitchFamily="49" charset="0"/>
              </a:rPr>
              <a:t>prin</a:t>
            </a:r>
            <a:r>
              <a:rPr lang="en-US" altLang="zh-TW" sz="2800" spc="-110" dirty="0">
                <a:solidFill>
                  <a:schemeClr val="bg1"/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800" spc="-60" dirty="0">
                <a:solidFill>
                  <a:schemeClr val="bg1"/>
                </a:solidFill>
                <a:latin typeface="Lucida Console" panose="020B0609040504020204" pitchFamily="49" charset="0"/>
              </a:rPr>
              <a:t>he</a:t>
            </a:r>
            <a:r>
              <a:rPr lang="en-US" altLang="zh-TW" sz="2800" spc="-110" dirty="0">
                <a:solidFill>
                  <a:schemeClr val="bg1"/>
                </a:solidFill>
                <a:latin typeface="Lucida Console" panose="020B0609040504020204" pitchFamily="49" charset="0"/>
              </a:rPr>
              <a:t>x(</a:t>
            </a:r>
            <a:r>
              <a:rPr lang="en-US" altLang="zh-TW" sz="2800" spc="-60" dirty="0">
                <a:solidFill>
                  <a:schemeClr val="bg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800" spc="-110" dirty="0">
                <a:solidFill>
                  <a:schemeClr val="bg1"/>
                </a:solidFill>
                <a:latin typeface="Lucida Console" panose="020B0609040504020204" pitchFamily="49" charset="0"/>
              </a:rPr>
              <a:t>d(</a:t>
            </a:r>
            <a:r>
              <a:rPr lang="en-US" altLang="zh-TW" sz="2800" spc="-160" dirty="0">
                <a:solidFill>
                  <a:schemeClr val="bg1"/>
                </a:solidFill>
                <a:latin typeface="Lucida Console" panose="020B0609040504020204" pitchFamily="49" charset="0"/>
              </a:rPr>
              <a:t>a)</a:t>
            </a:r>
            <a:r>
              <a:rPr lang="en-US" altLang="zh-TW" sz="2800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800" spc="-60" dirty="0">
                <a:solidFill>
                  <a:schemeClr val="bg1"/>
                </a:solidFill>
                <a:latin typeface="Lucida Console" panose="020B0609040504020204" pitchFamily="49" charset="0"/>
              </a:rPr>
              <a:t>,he</a:t>
            </a:r>
            <a:r>
              <a:rPr lang="en-US" altLang="zh-TW" sz="2800" spc="-110" dirty="0">
                <a:solidFill>
                  <a:schemeClr val="bg1"/>
                </a:solidFill>
                <a:latin typeface="Lucida Console" panose="020B0609040504020204" pitchFamily="49" charset="0"/>
              </a:rPr>
              <a:t>x(</a:t>
            </a:r>
            <a:r>
              <a:rPr lang="en-US" altLang="zh-TW" sz="2800" spc="-60" dirty="0">
                <a:solidFill>
                  <a:schemeClr val="bg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800" spc="-110" dirty="0">
                <a:solidFill>
                  <a:schemeClr val="bg1"/>
                </a:solidFill>
                <a:latin typeface="Lucida Console" panose="020B0609040504020204" pitchFamily="49" charset="0"/>
              </a:rPr>
              <a:t>d(</a:t>
            </a:r>
            <a:r>
              <a:rPr lang="en-US" altLang="zh-TW" sz="2800" spc="-160" dirty="0">
                <a:solidFill>
                  <a:schemeClr val="bg1"/>
                </a:solidFill>
                <a:latin typeface="Lucida Console" panose="020B0609040504020204" pitchFamily="49" charset="0"/>
              </a:rPr>
              <a:t>b)</a:t>
            </a:r>
            <a:r>
              <a:rPr lang="en-US" altLang="zh-TW" sz="2800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800" spc="-60" dirty="0">
                <a:solidFill>
                  <a:schemeClr val="bg1"/>
                </a:solidFill>
                <a:latin typeface="Lucida Console" panose="020B0609040504020204" pitchFamily="49" charset="0"/>
              </a:rPr>
              <a:t>,he</a:t>
            </a:r>
            <a:r>
              <a:rPr lang="en-US" altLang="zh-TW" sz="2800" spc="-110" dirty="0">
                <a:solidFill>
                  <a:schemeClr val="bg1"/>
                </a:solidFill>
                <a:latin typeface="Lucida Console" panose="020B0609040504020204" pitchFamily="49" charset="0"/>
              </a:rPr>
              <a:t>x(</a:t>
            </a:r>
            <a:r>
              <a:rPr lang="en-US" altLang="zh-TW" sz="2800" spc="-60" dirty="0">
                <a:solidFill>
                  <a:schemeClr val="bg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800" spc="-110" dirty="0">
                <a:solidFill>
                  <a:schemeClr val="bg1"/>
                </a:solidFill>
                <a:latin typeface="Lucida Console" panose="020B0609040504020204" pitchFamily="49" charset="0"/>
              </a:rPr>
              <a:t>d(</a:t>
            </a:r>
            <a:r>
              <a:rPr lang="en-US" altLang="zh-TW" sz="2800" spc="-160" dirty="0">
                <a:solidFill>
                  <a:schemeClr val="bg1"/>
                </a:solidFill>
                <a:latin typeface="Lucida Console" panose="020B0609040504020204" pitchFamily="49" charset="0"/>
              </a:rPr>
              <a:t>c)))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0x6ffffdaedc8 0x6ffffda28b8 0x6ffffdaedc8</a:t>
            </a:r>
            <a:endParaRPr lang="en-US" altLang="zh-TW" sz="28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TW" sz="28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255298" y="4470400"/>
            <a:ext cx="5161279" cy="863600"/>
            <a:chOff x="3962401" y="2323253"/>
            <a:chExt cx="5161279" cy="863600"/>
          </a:xfrm>
        </p:grpSpPr>
        <p:sp>
          <p:nvSpPr>
            <p:cNvPr id="14" name="Rounded Rectangular Callout 6"/>
            <p:cNvSpPr/>
            <p:nvPr/>
          </p:nvSpPr>
          <p:spPr bwMode="auto">
            <a:xfrm>
              <a:off x="5410200" y="2323253"/>
              <a:ext cx="3713480" cy="863600"/>
            </a:xfrm>
            <a:prstGeom prst="wedgeRoundRectCallout">
              <a:avLst>
                <a:gd name="adj1" fmla="val -122511"/>
                <a:gd name="adj2" fmla="val -25924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200" dirty="0">
                  <a:solidFill>
                    <a:srgbClr val="C00000"/>
                  </a:solidFill>
                  <a:latin typeface="Times New Roman" charset="0"/>
                </a:rPr>
                <a:t>.</a:t>
              </a:r>
              <a:endParaRPr lang="zh-TW" altLang="en-US" sz="3200" dirty="0">
                <a:solidFill>
                  <a:srgbClr val="C00000"/>
                </a:solidFill>
                <a:latin typeface="Times New Roman" charset="0"/>
              </a:endParaRPr>
            </a:p>
          </p:txBody>
        </p:sp>
        <p:sp>
          <p:nvSpPr>
            <p:cNvPr id="15" name="Rounded Rectangular Callout 6"/>
            <p:cNvSpPr/>
            <p:nvPr/>
          </p:nvSpPr>
          <p:spPr bwMode="auto">
            <a:xfrm>
              <a:off x="5410200" y="2323253"/>
              <a:ext cx="3713480" cy="863600"/>
            </a:xfrm>
            <a:prstGeom prst="wedgeRoundRectCallout">
              <a:avLst>
                <a:gd name="adj1" fmla="val -155247"/>
                <a:gd name="adj2" fmla="val 23505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> Yes.</a:t>
              </a:r>
              <a:endParaRPr lang="zh-TW" altLang="en-US" sz="3200" dirty="0">
                <a:solidFill>
                  <a:srgbClr val="860000"/>
                </a:solidFill>
                <a:latin typeface="Times New Roman" charset="0"/>
              </a:endParaRPr>
            </a:p>
          </p:txBody>
        </p:sp>
        <p:sp>
          <p:nvSpPr>
            <p:cNvPr id="16" name="Isosceles Triangle 15"/>
            <p:cNvSpPr/>
            <p:nvPr/>
          </p:nvSpPr>
          <p:spPr bwMode="auto">
            <a:xfrm rot="16200000">
              <a:off x="4961945" y="1444458"/>
              <a:ext cx="286911" cy="2286000"/>
            </a:xfrm>
            <a:prstGeom prst="triangle">
              <a:avLst>
                <a:gd name="adj" fmla="val 60645"/>
              </a:avLst>
            </a:prstGeom>
            <a:solidFill>
              <a:srgbClr val="FFC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360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  <p:sp>
        <p:nvSpPr>
          <p:cNvPr id="19" name="Rounded Rectangular Callout 6"/>
          <p:cNvSpPr/>
          <p:nvPr/>
        </p:nvSpPr>
        <p:spPr bwMode="auto">
          <a:xfrm>
            <a:off x="5703094" y="3593253"/>
            <a:ext cx="3713480" cy="863600"/>
          </a:xfrm>
          <a:prstGeom prst="wedgeRoundRectCallout">
            <a:avLst>
              <a:gd name="adj1" fmla="val -139287"/>
              <a:gd name="adj2" fmla="val 24289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5000"/>
              </a:lnSpc>
            </a:pP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Will this get the same memory location?</a:t>
            </a:r>
            <a:endParaRPr lang="zh-TW" altLang="en-US" sz="3200" dirty="0">
              <a:solidFill>
                <a:srgbClr val="860000"/>
              </a:solidFill>
              <a:latin typeface="Times New Roman" charset="0"/>
            </a:endParaRPr>
          </a:p>
        </p:txBody>
      </p:sp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826294" y="0"/>
            <a:ext cx="8077200" cy="762000"/>
          </a:xfrm>
        </p:spPr>
        <p:txBody>
          <a:bodyPr/>
          <a:lstStyle/>
          <a:p>
            <a:r>
              <a:rPr lang="en-US" altLang="zh-TW" sz="4444" dirty="0">
                <a:solidFill>
                  <a:srgbClr val="0070C0"/>
                </a:solidFill>
                <a:latin typeface="Elephant" panose="02020904090505020303" pitchFamily="18" charset="0"/>
              </a:rPr>
              <a:t>Using </a:t>
            </a:r>
            <a:r>
              <a:rPr lang="en-US" altLang="zh-TW" sz="4444" b="1" spc="-463" dirty="0">
                <a:solidFill>
                  <a:srgbClr val="0070C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333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with</a:t>
            </a:r>
            <a:r>
              <a:rPr lang="en-US" altLang="zh-TW" sz="370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Tuples</a:t>
            </a:r>
            <a:endParaRPr lang="zh-TW" altLang="en-US" sz="4074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67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826294" y="0"/>
            <a:ext cx="8077200" cy="762000"/>
          </a:xfrm>
        </p:spPr>
        <p:txBody>
          <a:bodyPr/>
          <a:lstStyle/>
          <a:p>
            <a:r>
              <a:rPr lang="en-US" altLang="zh-TW" sz="4444" dirty="0">
                <a:solidFill>
                  <a:srgbClr val="0070C0"/>
                </a:solidFill>
                <a:latin typeface="Elephant" panose="02020904090505020303" pitchFamily="18" charset="0"/>
              </a:rPr>
              <a:t>Using </a:t>
            </a:r>
            <a:r>
              <a:rPr lang="en-US" altLang="zh-TW" sz="4444" b="1" spc="-463" dirty="0">
                <a:solidFill>
                  <a:srgbClr val="0070C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333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with</a:t>
            </a:r>
            <a:r>
              <a:rPr lang="en-US" altLang="zh-TW" sz="370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Tuples</a:t>
            </a:r>
            <a:endParaRPr lang="zh-TW" altLang="en-US" sz="4074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9094" y="914400"/>
            <a:ext cx="9677400" cy="5791200"/>
          </a:xfrm>
        </p:spPr>
        <p:txBody>
          <a:bodyPr/>
          <a:lstStyle/>
          <a:p>
            <a:r>
              <a:rPr lang="en-US" altLang="zh-TW" sz="3200" dirty="0"/>
              <a:t>Let’s use tuples to compare “is” vs “==”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a=(4,5,6)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b=(4,5,6)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a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is </a:t>
            </a:r>
            <a:r>
              <a:rPr lang="en-US" altLang="zh-TW" sz="2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a==b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c=a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c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800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1400" spc="-1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prin</a:t>
            </a:r>
            <a:r>
              <a:rPr lang="en-US" altLang="zh-TW" sz="2800" spc="-110" dirty="0">
                <a:solidFill>
                  <a:schemeClr val="tx1"/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80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he</a:t>
            </a:r>
            <a:r>
              <a:rPr lang="en-US" altLang="zh-TW" sz="2800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x(</a:t>
            </a:r>
            <a:r>
              <a:rPr lang="en-US" altLang="zh-TW" sz="280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800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d(</a:t>
            </a:r>
            <a:r>
              <a:rPr lang="en-US" altLang="zh-TW" sz="2800" spc="-160" dirty="0">
                <a:solidFill>
                  <a:srgbClr val="FF0000"/>
                </a:solidFill>
                <a:latin typeface="Lucida Console" panose="020B0609040504020204" pitchFamily="49" charset="0"/>
              </a:rPr>
              <a:t>a)</a:t>
            </a:r>
            <a:r>
              <a:rPr lang="en-US" altLang="zh-TW" sz="2800" spc="-200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80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spc="-60" dirty="0">
                <a:solidFill>
                  <a:srgbClr val="00B0F0"/>
                </a:solidFill>
                <a:latin typeface="Lucida Console" panose="020B0609040504020204" pitchFamily="49" charset="0"/>
              </a:rPr>
              <a:t>he</a:t>
            </a:r>
            <a:r>
              <a:rPr lang="en-US" altLang="zh-TW" sz="2800" spc="-110" dirty="0">
                <a:solidFill>
                  <a:srgbClr val="00B0F0"/>
                </a:solidFill>
                <a:latin typeface="Lucida Console" panose="020B0609040504020204" pitchFamily="49" charset="0"/>
              </a:rPr>
              <a:t>x(</a:t>
            </a:r>
            <a:r>
              <a:rPr lang="en-US" altLang="zh-TW" sz="2800" spc="-60" dirty="0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800" spc="-110" dirty="0">
                <a:solidFill>
                  <a:srgbClr val="00B0F0"/>
                </a:solidFill>
                <a:latin typeface="Lucida Console" panose="020B0609040504020204" pitchFamily="49" charset="0"/>
              </a:rPr>
              <a:t>d(</a:t>
            </a:r>
            <a:r>
              <a:rPr lang="en-US" altLang="zh-TW" sz="2800" spc="-160" dirty="0">
                <a:solidFill>
                  <a:srgbClr val="00B0F0"/>
                </a:solidFill>
                <a:latin typeface="Lucida Console" panose="020B0609040504020204" pitchFamily="49" charset="0"/>
              </a:rPr>
              <a:t>b)</a:t>
            </a:r>
            <a:r>
              <a:rPr lang="en-US" altLang="zh-TW" sz="2800" spc="-200" dirty="0">
                <a:solidFill>
                  <a:srgbClr val="00B0F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80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he</a:t>
            </a:r>
            <a:r>
              <a:rPr lang="en-US" altLang="zh-TW" sz="2800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x(</a:t>
            </a:r>
            <a:r>
              <a:rPr lang="en-US" altLang="zh-TW" sz="280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800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d(</a:t>
            </a:r>
            <a:r>
              <a:rPr lang="en-US" altLang="zh-TW" sz="2800" spc="-160" dirty="0">
                <a:solidFill>
                  <a:srgbClr val="FF0000"/>
                </a:solidFill>
                <a:latin typeface="Lucida Console" panose="020B0609040504020204" pitchFamily="49" charset="0"/>
              </a:rPr>
              <a:t>c))</a:t>
            </a:r>
            <a:r>
              <a:rPr lang="en-US" altLang="zh-TW" sz="2800" spc="-16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80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0x6ffffda</a:t>
            </a:r>
            <a:r>
              <a:rPr lang="en-US" altLang="zh-TW" sz="2800" b="1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edc8</a:t>
            </a:r>
            <a:r>
              <a:rPr lang="en-US" altLang="zh-TW" sz="280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60" dirty="0">
                <a:solidFill>
                  <a:srgbClr val="00B0F0"/>
                </a:solidFill>
                <a:latin typeface="Lucida Console" panose="020B0609040504020204" pitchFamily="49" charset="0"/>
              </a:rPr>
              <a:t>0x6ffffda</a:t>
            </a:r>
            <a:r>
              <a:rPr lang="en-US" altLang="zh-TW" sz="2800" b="1" spc="-60" dirty="0">
                <a:solidFill>
                  <a:srgbClr val="00B0F0"/>
                </a:solidFill>
                <a:latin typeface="Lucida Console" panose="020B0609040504020204" pitchFamily="49" charset="0"/>
              </a:rPr>
              <a:t>28b8</a:t>
            </a:r>
            <a:r>
              <a:rPr lang="en-US" altLang="zh-TW" sz="280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0x6ffffda</a:t>
            </a:r>
            <a:r>
              <a:rPr lang="en-US" altLang="zh-TW" sz="2800" b="1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edc8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&gt;&gt;&gt;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28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418631" y="2878650"/>
            <a:ext cx="6055499" cy="2036301"/>
          </a:xfrm>
          <a:prstGeom prst="rect">
            <a:avLst/>
          </a:prstGeom>
          <a:solidFill>
            <a:srgbClr val="FFE08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4659" tIns="42330" rIns="84659" bIns="4233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4074" dirty="0">
                <a:solidFill>
                  <a:srgbClr val="3333CC"/>
                </a:solidFill>
                <a:latin typeface="Times New Roman" charset="0"/>
              </a:rPr>
              <a:t>Everything we see here for tuples makes sens</a:t>
            </a:r>
            <a:r>
              <a:rPr lang="en-US" altLang="zh-TW" sz="4074" spc="-200" dirty="0">
                <a:solidFill>
                  <a:srgbClr val="3333CC"/>
                </a:solidFill>
                <a:latin typeface="Times New Roman" charset="0"/>
              </a:rPr>
              <a:t>e</a:t>
            </a:r>
            <a:r>
              <a:rPr lang="en-US" altLang="zh-TW" sz="4074" dirty="0">
                <a:solidFill>
                  <a:srgbClr val="3333CC"/>
                </a:solidFill>
                <a:latin typeface="Times New Roman" charset="0"/>
              </a:rPr>
              <a:t>,</a:t>
            </a:r>
            <a:r>
              <a:rPr lang="en-US" altLang="zh-TW" sz="3600" dirty="0">
                <a:solidFill>
                  <a:srgbClr val="3333CC"/>
                </a:solidFill>
                <a:latin typeface="Times New Roman" charset="0"/>
              </a:rPr>
              <a:t> </a:t>
            </a:r>
            <a:r>
              <a:rPr lang="en-US" altLang="zh-TW" sz="4074" dirty="0">
                <a:solidFill>
                  <a:srgbClr val="3333CC"/>
                </a:solidFill>
                <a:latin typeface="Times New Roman" charset="0"/>
              </a:rPr>
              <a:t>in terms of how “is” should work…</a:t>
            </a:r>
            <a:endParaRPr lang="zh-TW" altLang="en-US" sz="4074" dirty="0">
              <a:solidFill>
                <a:srgbClr val="3333CC"/>
              </a:solidFill>
              <a:latin typeface="Times New Roman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4255294" y="1676400"/>
            <a:ext cx="4953000" cy="1905000"/>
            <a:chOff x="3886200" y="1676400"/>
            <a:chExt cx="4953000" cy="1905000"/>
          </a:xfrm>
        </p:grpSpPr>
        <p:sp>
          <p:nvSpPr>
            <p:cNvPr id="19" name="Rounded Rectangular Callout 6"/>
            <p:cNvSpPr/>
            <p:nvPr/>
          </p:nvSpPr>
          <p:spPr bwMode="auto">
            <a:xfrm>
              <a:off x="3886200" y="1676400"/>
              <a:ext cx="4953000" cy="838200"/>
            </a:xfrm>
            <a:prstGeom prst="wedgeRoundRectCallout">
              <a:avLst>
                <a:gd name="adj1" fmla="val -58870"/>
                <a:gd name="adj2" fmla="val 385787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>id() gives the address.</a:t>
              </a:r>
              <a:b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</a:b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>a &amp; c have the same address.</a:t>
              </a:r>
              <a:endParaRPr lang="zh-TW" altLang="en-US" sz="3200" dirty="0">
                <a:solidFill>
                  <a:srgbClr val="860000"/>
                </a:solidFill>
                <a:latin typeface="Times New Roman" charset="0"/>
              </a:endParaRPr>
            </a:p>
          </p:txBody>
        </p:sp>
        <p:sp>
          <p:nvSpPr>
            <p:cNvPr id="9" name="Rounded Rectangular Callout 6"/>
            <p:cNvSpPr/>
            <p:nvPr/>
          </p:nvSpPr>
          <p:spPr bwMode="auto">
            <a:xfrm>
              <a:off x="3886200" y="1676400"/>
              <a:ext cx="4953000" cy="838200"/>
            </a:xfrm>
            <a:prstGeom prst="wedgeRoundRectCallout">
              <a:avLst>
                <a:gd name="adj1" fmla="val 32842"/>
                <a:gd name="adj2" fmla="val 384614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200" b="1" dirty="0">
                  <a:solidFill>
                    <a:srgbClr val="008000"/>
                  </a:solidFill>
                  <a:latin typeface="Times New Roman" charset="0"/>
                </a:rPr>
                <a:t>id()</a:t>
              </a: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> gives the address.</a:t>
              </a:r>
              <a:b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</a:br>
              <a:r>
                <a:rPr lang="en-US" altLang="zh-TW" sz="3200" b="1" dirty="0">
                  <a:solidFill>
                    <a:srgbClr val="FF0000"/>
                  </a:solidFill>
                  <a:latin typeface="Times New Roman" charset="0"/>
                </a:rPr>
                <a:t>a</a:t>
              </a: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> &amp; </a:t>
              </a:r>
              <a:r>
                <a:rPr lang="en-US" altLang="zh-TW" sz="3200" b="1" dirty="0">
                  <a:solidFill>
                    <a:srgbClr val="FF0000"/>
                  </a:solidFill>
                  <a:latin typeface="Times New Roman" charset="0"/>
                </a:rPr>
                <a:t>c</a:t>
              </a:r>
              <a:r>
                <a:rPr lang="en-US" altLang="zh-TW" sz="3200" dirty="0">
                  <a:solidFill>
                    <a:srgbClr val="860000"/>
                  </a:solidFill>
                  <a:latin typeface="Times New Roman" charset="0"/>
                </a:rPr>
                <a:t> have the same address.</a:t>
              </a:r>
              <a:endParaRPr lang="zh-TW" altLang="en-US" sz="3200" dirty="0">
                <a:solidFill>
                  <a:srgbClr val="860000"/>
                </a:solidFill>
                <a:latin typeface="Times New Roman" charset="0"/>
              </a:endParaRPr>
            </a:p>
          </p:txBody>
        </p:sp>
        <p:sp>
          <p:nvSpPr>
            <p:cNvPr id="5" name="Isosceles Triangle 4"/>
            <p:cNvSpPr/>
            <p:nvPr/>
          </p:nvSpPr>
          <p:spPr bwMode="auto">
            <a:xfrm flipV="1">
              <a:off x="4724400" y="2438400"/>
              <a:ext cx="1269380" cy="1143000"/>
            </a:xfrm>
            <a:prstGeom prst="triangle">
              <a:avLst>
                <a:gd name="adj" fmla="val 15947"/>
              </a:avLst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360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  <p:sp>
          <p:nvSpPr>
            <p:cNvPr id="11" name="Isosceles Triangle 10"/>
            <p:cNvSpPr/>
            <p:nvPr/>
          </p:nvSpPr>
          <p:spPr bwMode="auto">
            <a:xfrm>
              <a:off x="4556203" y="2411451"/>
              <a:ext cx="381000" cy="533400"/>
            </a:xfrm>
            <a:prstGeom prst="triangle">
              <a:avLst>
                <a:gd name="adj" fmla="val 55698"/>
              </a:avLst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360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  <p:sp>
        <p:nvSpPr>
          <p:cNvPr id="12" name="Rounded Rectangular Callout 11"/>
          <p:cNvSpPr/>
          <p:nvPr/>
        </p:nvSpPr>
        <p:spPr bwMode="auto">
          <a:xfrm>
            <a:off x="156106" y="546"/>
            <a:ext cx="6537589" cy="1304205"/>
          </a:xfrm>
          <a:prstGeom prst="wedgeRoundRectCallout">
            <a:avLst>
              <a:gd name="adj1" fmla="val 26497"/>
              <a:gd name="adj2" fmla="val 82112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buClr>
                <a:srgbClr val="2D2DB9"/>
              </a:buClr>
            </a:pPr>
            <a:r>
              <a:rPr lang="en-US" altLang="zh-TW" sz="2963" kern="0" dirty="0">
                <a:solidFill>
                  <a:srgbClr val="222222"/>
                </a:solidFill>
                <a:ea typeface="MS PGothic" pitchFamily="34" charset="-128"/>
              </a:rPr>
              <a:t>The answer of </a:t>
            </a:r>
            <a:r>
              <a:rPr lang="en-US" altLang="zh-TW" sz="2963" b="1" kern="0" dirty="0">
                <a:solidFill>
                  <a:srgbClr val="008000"/>
                </a:solidFill>
                <a:ea typeface="MS PGothic" pitchFamily="34" charset="-128"/>
              </a:rPr>
              <a:t>id()</a:t>
            </a:r>
            <a:r>
              <a:rPr lang="en-US" altLang="zh-TW" sz="2963" kern="0" dirty="0">
                <a:solidFill>
                  <a:srgbClr val="222222"/>
                </a:solidFill>
                <a:ea typeface="MS PGothic" pitchFamily="34" charset="-128"/>
              </a:rPr>
              <a:t> is not a pointer: it</a:t>
            </a:r>
            <a:br>
              <a:rPr lang="en-US" altLang="zh-TW" sz="2963" kern="0" dirty="0">
                <a:solidFill>
                  <a:srgbClr val="222222"/>
                </a:solidFill>
                <a:ea typeface="MS PGothic" pitchFamily="34" charset="-128"/>
              </a:rPr>
            </a:br>
            <a:r>
              <a:rPr lang="en-US" altLang="zh-TW" sz="2963" kern="0" dirty="0">
                <a:solidFill>
                  <a:srgbClr val="222222"/>
                </a:solidFill>
                <a:ea typeface="MS PGothic" pitchFamily="34" charset="-128"/>
              </a:rPr>
              <a:t>can’t be used to modify the memory.</a:t>
            </a:r>
            <a:br>
              <a:rPr lang="en-US" altLang="zh-TW" sz="2963" kern="0" dirty="0">
                <a:solidFill>
                  <a:srgbClr val="222222"/>
                </a:solidFill>
                <a:ea typeface="MS PGothic" pitchFamily="34" charset="-128"/>
              </a:rPr>
            </a:br>
            <a:r>
              <a:rPr lang="en-US" altLang="zh-TW" sz="2963" kern="0" dirty="0">
                <a:solidFill>
                  <a:srgbClr val="222222"/>
                </a:solidFill>
                <a:ea typeface="MS PGothic" pitchFamily="34" charset="-128"/>
              </a:rPr>
              <a:t>It’s only purpose is to give a unique #.</a:t>
            </a:r>
            <a:endParaRPr lang="pt-BR" altLang="zh-TW" sz="2592" b="1" kern="0" spc="-93" dirty="0">
              <a:solidFill>
                <a:srgbClr val="FF0000"/>
              </a:solidFill>
              <a:latin typeface="Lucida Console" panose="020B0609040504020204" pitchFamily="49" charset="0"/>
              <a:ea typeface="MS PGothic" pitchFamily="34" charset="-128"/>
            </a:endParaRPr>
          </a:p>
        </p:txBody>
      </p:sp>
      <p:sp>
        <p:nvSpPr>
          <p:cNvPr id="13" name="Rounded Rectangular Callout 6"/>
          <p:cNvSpPr/>
          <p:nvPr/>
        </p:nvSpPr>
        <p:spPr bwMode="auto">
          <a:xfrm>
            <a:off x="5855495" y="3733800"/>
            <a:ext cx="1676400" cy="1219200"/>
          </a:xfrm>
          <a:prstGeom prst="wedgeRoundRectCallout">
            <a:avLst>
              <a:gd name="adj1" fmla="val -32919"/>
              <a:gd name="adj2" fmla="val 83721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endParaRPr lang="en-US" altLang="zh-TW" sz="300" b="1" dirty="0">
              <a:solidFill>
                <a:srgbClr val="00B0F0"/>
              </a:solidFill>
              <a:latin typeface="Times New Roman" charset="0"/>
            </a:endParaRPr>
          </a:p>
          <a:p>
            <a:pPr algn="ctr">
              <a:lnSpc>
                <a:spcPct val="80000"/>
              </a:lnSpc>
            </a:pPr>
            <a:r>
              <a:rPr lang="en-US" altLang="zh-TW" sz="3200" b="1" dirty="0">
                <a:solidFill>
                  <a:srgbClr val="00B0F0"/>
                </a:solidFill>
                <a:latin typeface="Times New Roman" charset="0"/>
              </a:rPr>
              <a:t>b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 has a different address.</a:t>
            </a:r>
            <a:endParaRPr lang="zh-TW" altLang="en-US" sz="3200" dirty="0">
              <a:solidFill>
                <a:srgbClr val="86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74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2" grpId="1" animBg="1"/>
      <p:bldP spid="13" grpId="0" animBg="1"/>
      <p:bldP spid="13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auto">
          <a:xfrm>
            <a:off x="3537448" y="3445953"/>
            <a:ext cx="5879126" cy="2036301"/>
          </a:xfrm>
          <a:prstGeom prst="rect">
            <a:avLst/>
          </a:prstGeom>
          <a:solidFill>
            <a:srgbClr val="FFE08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4659" tIns="42330" rIns="84659" bIns="4233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4074" dirty="0">
                <a:solidFill>
                  <a:srgbClr val="3333CC"/>
                </a:solidFill>
                <a:latin typeface="Times New Roman" charset="0"/>
              </a:rPr>
              <a:t>Everything we see here for lists makes sense, in terms of how “is” should work…</a:t>
            </a:r>
            <a:endParaRPr lang="zh-TW" altLang="en-US" sz="4074" dirty="0">
              <a:solidFill>
                <a:srgbClr val="3333CC"/>
              </a:solidFill>
              <a:latin typeface="Times New Roman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9094" y="702751"/>
            <a:ext cx="8839200" cy="5486400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800" dirty="0">
                <a:latin typeface="Lucida Console" panose="020B0609040504020204" pitchFamily="49" charset="0"/>
              </a:rPr>
              <a:t>=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sz="2800" dirty="0">
                <a:latin typeface="Lucida Console" panose="020B0609040504020204" pitchFamily="49" charset="0"/>
              </a:rPr>
              <a:t>=[4,5,6]; </a:t>
            </a: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c</a:t>
            </a:r>
            <a:r>
              <a:rPr lang="en-US" altLang="zh-TW" sz="2800" dirty="0">
                <a:latin typeface="Lucida Console" panose="020B0609040504020204" pitchFamily="49" charset="0"/>
              </a:rPr>
              <a:t>=[4,5,6];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800" dirty="0">
                <a:latin typeface="Lucida Console" panose="020B0609040504020204" pitchFamily="49" charset="0"/>
              </a:rPr>
              <a:t>=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endParaRPr lang="en-US" altLang="zh-TW" sz="28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800" dirty="0">
                <a:latin typeface="Lucida Console" panose="020B0609040504020204" pitchFamily="49" charset="0"/>
              </a:rPr>
              <a:t> == </a:t>
            </a: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c</a:t>
            </a:r>
            <a:endParaRPr lang="en-US" altLang="zh-TW" sz="28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800" dirty="0">
                <a:latin typeface="Lucida Console" panose="020B0609040504020204" pitchFamily="49" charset="0"/>
              </a:rPr>
              <a:t> is </a:t>
            </a: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800" dirty="0">
                <a:latin typeface="Lucida Console" panose="020B0609040504020204" pitchFamily="49" charset="0"/>
              </a:rPr>
              <a:t> is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sz="2800" dirty="0">
                <a:latin typeface="Lucida Console" panose="020B0609040504020204" pitchFamily="49" charset="0"/>
              </a:rPr>
              <a:t> is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d 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is not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&gt;&gt;&gt;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a[</a:t>
            </a:r>
            <a:r>
              <a:rPr lang="en-US" altLang="zh-TW" sz="2800" b="1" dirty="0">
                <a:solidFill>
                  <a:srgbClr val="00206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]</a:t>
            </a:r>
            <a:r>
              <a:rPr lang="en-US" altLang="zh-TW" sz="2800" b="1" dirty="0">
                <a:solidFill>
                  <a:srgbClr val="002060"/>
                </a:solidFill>
                <a:latin typeface="Lucida Console" panose="020B0609040504020204" pitchFamily="49" charset="0"/>
              </a:rPr>
              <a:t>=0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a;b;</a:t>
            </a:r>
            <a:r>
              <a:rPr lang="en-US" altLang="zh-TW" sz="28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c</a:t>
            </a:r>
            <a:r>
              <a:rPr lang="en-US" altLang="zh-TW" sz="2800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;d</a:t>
            </a:r>
            <a:endParaRPr lang="en-US" altLang="zh-TW" sz="2800" b="1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[4,</a:t>
            </a:r>
            <a:r>
              <a:rPr lang="en-US" altLang="zh-TW" sz="2800" b="1" dirty="0">
                <a:solidFill>
                  <a:srgbClr val="002060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,6]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  [4,</a:t>
            </a:r>
            <a:r>
              <a:rPr lang="en-US" altLang="zh-TW" sz="2800" b="1" dirty="0">
                <a:solidFill>
                  <a:srgbClr val="002060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,6]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[4,5,6]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  [4,</a:t>
            </a:r>
            <a:r>
              <a:rPr lang="en-US" altLang="zh-TW" sz="2800" b="1" dirty="0">
                <a:solidFill>
                  <a:srgbClr val="002060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,6]</a:t>
            </a: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endParaRPr lang="en-US" altLang="zh-TW" sz="28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28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93994" y="4157154"/>
            <a:ext cx="833883" cy="430887"/>
          </a:xfrm>
          <a:prstGeom prst="rect">
            <a:avLst/>
          </a:prstGeom>
          <a:solidFill>
            <a:schemeClr val="bg1"/>
          </a:solidFill>
        </p:spPr>
        <p:txBody>
          <a:bodyPr wrap="none" tIns="0" bIns="0">
            <a:spAutoFit/>
          </a:bodyPr>
          <a:lstStyle/>
          <a:p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6" name="Rounded Rectangular Callout 6"/>
          <p:cNvSpPr/>
          <p:nvPr/>
        </p:nvSpPr>
        <p:spPr bwMode="auto">
          <a:xfrm>
            <a:off x="5237730" y="4258712"/>
            <a:ext cx="4170680" cy="438912"/>
          </a:xfrm>
          <a:prstGeom prst="wedgeRoundRectCallout">
            <a:avLst>
              <a:gd name="adj1" fmla="val -97175"/>
              <a:gd name="adj2" fmla="val -17237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5000"/>
              </a:lnSpc>
            </a:pP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Do you think </a:t>
            </a:r>
            <a:r>
              <a:rPr lang="en-US" altLang="zh-TW" sz="3200" dirty="0" err="1">
                <a:solidFill>
                  <a:srgbClr val="860000"/>
                </a:solidFill>
                <a:latin typeface="Times New Roman" charset="0"/>
              </a:rPr>
              <a:t>b,d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 update?</a:t>
            </a:r>
            <a:endParaRPr lang="zh-TW" altLang="en-US" sz="3200" dirty="0">
              <a:solidFill>
                <a:srgbClr val="860000"/>
              </a:solidFill>
              <a:latin typeface="Times New Roman" charset="0"/>
            </a:endParaRPr>
          </a:p>
        </p:txBody>
      </p:sp>
      <p:sp>
        <p:nvSpPr>
          <p:cNvPr id="8" name="Rounded Rectangular Callout 6"/>
          <p:cNvSpPr/>
          <p:nvPr/>
        </p:nvSpPr>
        <p:spPr bwMode="auto">
          <a:xfrm>
            <a:off x="5237730" y="5470115"/>
            <a:ext cx="4170680" cy="437985"/>
          </a:xfrm>
          <a:prstGeom prst="wedgeRoundRectCallout">
            <a:avLst>
              <a:gd name="adj1" fmla="val -119257"/>
              <a:gd name="adj2" fmla="val 91610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5000"/>
              </a:lnSpc>
            </a:pP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Yes, they did update.</a:t>
            </a:r>
            <a:endParaRPr lang="zh-TW" altLang="en-US" sz="3200" dirty="0">
              <a:solidFill>
                <a:srgbClr val="860000"/>
              </a:solidFill>
              <a:latin typeface="Times New Roman" charset="0"/>
            </a:endParaRPr>
          </a:p>
        </p:txBody>
      </p:sp>
      <p:sp>
        <p:nvSpPr>
          <p:cNvPr id="11" name="標題 1"/>
          <p:cNvSpPr>
            <a:spLocks noGrp="1"/>
          </p:cNvSpPr>
          <p:nvPr>
            <p:ph type="title"/>
          </p:nvPr>
        </p:nvSpPr>
        <p:spPr>
          <a:xfrm>
            <a:off x="826294" y="0"/>
            <a:ext cx="8077200" cy="762000"/>
          </a:xfrm>
        </p:spPr>
        <p:txBody>
          <a:bodyPr/>
          <a:lstStyle/>
          <a:p>
            <a:r>
              <a:rPr lang="en-US" altLang="zh-TW" sz="4444" dirty="0">
                <a:solidFill>
                  <a:srgbClr val="0070C0"/>
                </a:solidFill>
                <a:latin typeface="Elephant" panose="02020904090505020303" pitchFamily="18" charset="0"/>
              </a:rPr>
              <a:t>Using </a:t>
            </a:r>
            <a:r>
              <a:rPr lang="en-US" altLang="zh-TW" sz="4444" b="1" spc="-463" dirty="0">
                <a:solidFill>
                  <a:srgbClr val="0070C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333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with</a:t>
            </a:r>
            <a:r>
              <a:rPr lang="en-US" altLang="zh-TW" sz="370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Lists</a:t>
            </a:r>
            <a:endParaRPr lang="zh-TW" altLang="en-US" sz="4074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3994" y="2024756"/>
            <a:ext cx="833883" cy="430887"/>
          </a:xfrm>
          <a:prstGeom prst="rect">
            <a:avLst/>
          </a:prstGeom>
          <a:solidFill>
            <a:schemeClr val="bg1"/>
          </a:solidFill>
        </p:spPr>
        <p:txBody>
          <a:bodyPr wrap="none" tIns="0" bIns="0">
            <a:spAutoFit/>
          </a:bodyPr>
          <a:lstStyle/>
          <a:p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93994" y="2877714"/>
            <a:ext cx="833883" cy="430887"/>
          </a:xfrm>
          <a:prstGeom prst="rect">
            <a:avLst/>
          </a:prstGeom>
          <a:solidFill>
            <a:schemeClr val="bg1"/>
          </a:solidFill>
        </p:spPr>
        <p:txBody>
          <a:bodyPr wrap="none" tIns="0" bIns="0">
            <a:spAutoFit/>
          </a:bodyPr>
          <a:lstStyle/>
          <a:p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3994" y="3730674"/>
            <a:ext cx="833883" cy="430887"/>
          </a:xfrm>
          <a:prstGeom prst="rect">
            <a:avLst/>
          </a:prstGeom>
          <a:solidFill>
            <a:schemeClr val="bg1"/>
          </a:solidFill>
        </p:spPr>
        <p:txBody>
          <a:bodyPr wrap="none" tIns="0" bIns="0">
            <a:spAutoFit/>
          </a:bodyPr>
          <a:lstStyle/>
          <a:p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5" name="Rounded Rectangular Callout 14"/>
          <p:cNvSpPr/>
          <p:nvPr/>
        </p:nvSpPr>
        <p:spPr bwMode="auto">
          <a:xfrm>
            <a:off x="5245894" y="3300283"/>
            <a:ext cx="4170680" cy="863600"/>
          </a:xfrm>
          <a:prstGeom prst="wedgeRoundRectCallout">
            <a:avLst>
              <a:gd name="adj1" fmla="val -102027"/>
              <a:gd name="adj2" fmla="val 23399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5000"/>
              </a:lnSpc>
            </a:pP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We’re using a </a:t>
            </a:r>
            <a:r>
              <a:rPr lang="en-US" altLang="zh-TW" sz="3200" i="1" dirty="0">
                <a:solidFill>
                  <a:srgbClr val="860000"/>
                </a:solidFill>
                <a:latin typeface="Times New Roman" charset="0"/>
              </a:rPr>
              <a:t>list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 now </a:t>
            </a:r>
            <a:r>
              <a:rPr lang="en-US" altLang="zh-TW" sz="3200" i="1" dirty="0">
                <a:solidFill>
                  <a:srgbClr val="860000"/>
                </a:solidFill>
                <a:latin typeface="Times New Roman" charset="0"/>
              </a:rPr>
              <a:t>so that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 we can </a:t>
            </a:r>
            <a:r>
              <a:rPr lang="en-US" altLang="zh-TW" sz="3200" i="1" dirty="0">
                <a:solidFill>
                  <a:srgbClr val="860000"/>
                </a:solidFill>
                <a:latin typeface="Times New Roman" charset="0"/>
              </a:rPr>
              <a:t>update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 a.</a:t>
            </a:r>
            <a:endParaRPr lang="zh-TW" altLang="en-US" sz="3200" dirty="0">
              <a:solidFill>
                <a:srgbClr val="860000"/>
              </a:solidFill>
              <a:latin typeface="Times New Roman" charset="0"/>
            </a:endParaRPr>
          </a:p>
        </p:txBody>
      </p:sp>
      <p:sp>
        <p:nvSpPr>
          <p:cNvPr id="16" name="Rounded Rectangular Callout 6"/>
          <p:cNvSpPr/>
          <p:nvPr/>
        </p:nvSpPr>
        <p:spPr bwMode="auto">
          <a:xfrm>
            <a:off x="5237730" y="5470112"/>
            <a:ext cx="4170680" cy="437985"/>
          </a:xfrm>
          <a:prstGeom prst="wedgeRoundRectCallout">
            <a:avLst>
              <a:gd name="adj1" fmla="val -119257"/>
              <a:gd name="adj2" fmla="val -105135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5000"/>
              </a:lnSpc>
            </a:pP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Yes, they did update.</a:t>
            </a:r>
            <a:endParaRPr lang="zh-TW" altLang="en-US" sz="3200" dirty="0">
              <a:solidFill>
                <a:srgbClr val="86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186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" grpId="0" animBg="1"/>
      <p:bldP spid="6" grpId="0" animBg="1"/>
      <p:bldP spid="6" grpId="1" animBg="1"/>
      <p:bldP spid="8" grpId="0" animBg="1"/>
      <p:bldP spid="8" grpId="1" animBg="1"/>
      <p:bldP spid="12" grpId="0" animBg="1"/>
      <p:bldP spid="13" grpId="0" animBg="1"/>
      <p:bldP spid="14" grpId="0" animBg="1"/>
      <p:bldP spid="15" grpId="0" animBg="1"/>
      <p:bldP spid="15" grpId="1" animBg="1"/>
      <p:bldP spid="16" grpId="0" animBg="1"/>
      <p:bldP spid="16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9094" y="685800"/>
            <a:ext cx="9105034" cy="6172200"/>
          </a:xfrm>
        </p:spPr>
        <p:txBody>
          <a:bodyPr/>
          <a:lstStyle/>
          <a:p>
            <a:pPr marL="288913" indent="-288913">
              <a:spcBef>
                <a:spcPts val="1800"/>
              </a:spcBef>
              <a:buClrTx/>
            </a:pPr>
            <a:r>
              <a:rPr lang="en-US" altLang="zh-TW" sz="4074" dirty="0" smtClean="0">
                <a:solidFill>
                  <a:srgbClr val="FF0000"/>
                </a:solidFill>
              </a:rPr>
              <a:t>But sometimes </a:t>
            </a:r>
            <a:r>
              <a:rPr lang="en-US" altLang="zh-TW" sz="4074" dirty="0">
                <a:solidFill>
                  <a:srgbClr val="FF0000"/>
                </a:solidFill>
              </a:rPr>
              <a:t>“</a:t>
            </a:r>
            <a:r>
              <a:rPr lang="en-US" altLang="zh-TW" sz="4074" dirty="0">
                <a:solidFill>
                  <a:srgbClr val="FF000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4074" dirty="0">
                <a:solidFill>
                  <a:srgbClr val="FF0000"/>
                </a:solidFill>
              </a:rPr>
              <a:t>” may give an answer you didn’t expected.</a:t>
            </a:r>
            <a:endParaRPr lang="en-US" altLang="zh-TW" sz="3703" dirty="0">
              <a:solidFill>
                <a:srgbClr val="FF0000"/>
              </a:solidFill>
            </a:endParaRPr>
          </a:p>
          <a:p>
            <a:pPr marL="625448" lvl="1" indent="-276213">
              <a:spcBef>
                <a:spcPts val="600"/>
              </a:spcBef>
            </a:pPr>
            <a:r>
              <a:rPr lang="en-US" altLang="zh-TW" sz="3703" dirty="0">
                <a:solidFill>
                  <a:srgbClr val="FF0000"/>
                </a:solidFill>
              </a:rPr>
              <a:t>This is because Python might optimize to </a:t>
            </a:r>
            <a:r>
              <a:rPr lang="en-US" altLang="zh-TW" sz="3703" spc="-30" dirty="0">
                <a:solidFill>
                  <a:srgbClr val="FF0000"/>
                </a:solidFill>
              </a:rPr>
              <a:t>not allocate memory for an immutable object</a:t>
            </a:r>
            <a:r>
              <a:rPr lang="en-US" altLang="zh-TW" sz="3703" dirty="0">
                <a:solidFill>
                  <a:srgbClr val="FF0000"/>
                </a:solidFill>
              </a:rPr>
              <a:t> that equals an existing object.</a:t>
            </a:r>
          </a:p>
          <a:p>
            <a:pPr marL="974682" lvl="2" indent="-288913">
              <a:spcBef>
                <a:spcPts val="600"/>
              </a:spcBef>
            </a:pPr>
            <a:r>
              <a:rPr lang="en-US" altLang="zh-TW" sz="3703" dirty="0">
                <a:solidFill>
                  <a:srgbClr val="FF0000"/>
                </a:solidFill>
              </a:rPr>
              <a:t>But we already tried an immutable (the tuple) and Python didn’t do such an optimization.</a:t>
            </a:r>
          </a:p>
          <a:p>
            <a:pPr marL="1371540" lvl="3" indent="-336536">
              <a:spcBef>
                <a:spcPts val="600"/>
              </a:spcBef>
            </a:pPr>
            <a:r>
              <a:rPr lang="en-US" altLang="zh-TW" sz="3703" dirty="0">
                <a:solidFill>
                  <a:srgbClr val="FF0000"/>
                </a:solidFill>
              </a:rPr>
              <a:t>True. But we didn’t try a </a:t>
            </a:r>
            <a:r>
              <a:rPr lang="en-US" altLang="zh-TW" sz="3703" i="1" dirty="0">
                <a:solidFill>
                  <a:srgbClr val="FF0000"/>
                </a:solidFill>
              </a:rPr>
              <a:t>string</a:t>
            </a:r>
            <a:r>
              <a:rPr lang="en-US" altLang="zh-TW" sz="3703" dirty="0">
                <a:solidFill>
                  <a:srgbClr val="FF0000"/>
                </a:solidFill>
              </a:rPr>
              <a:t> did we?...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826294" y="0"/>
            <a:ext cx="8077200" cy="762000"/>
          </a:xfrm>
        </p:spPr>
        <p:txBody>
          <a:bodyPr/>
          <a:lstStyle/>
          <a:p>
            <a:r>
              <a:rPr lang="en-US" altLang="zh-TW" sz="4444" b="1" spc="-463" dirty="0">
                <a:solidFill>
                  <a:srgbClr val="0070C0"/>
                </a:solidFill>
                <a:latin typeface="Lucida Console" panose="020B0609040504020204" pitchFamily="49" charset="0"/>
              </a:rPr>
              <a:t>is</a:t>
            </a:r>
            <a:endParaRPr lang="zh-TW" altLang="en-US" sz="4074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87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9586" y="838200"/>
            <a:ext cx="8839200" cy="6007768"/>
          </a:xfrm>
        </p:spPr>
        <p:txBody>
          <a:bodyPr/>
          <a:lstStyle/>
          <a:p>
            <a:r>
              <a:rPr lang="en-US" altLang="zh-TW" sz="3200" dirty="0"/>
              <a:t>Let’s see if strings behave the same: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a=(4,5,6)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b=(4,5,6)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a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b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x="hello"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y="hello"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x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y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826294" y="0"/>
            <a:ext cx="8077200" cy="762000"/>
          </a:xfrm>
        </p:spPr>
        <p:txBody>
          <a:bodyPr/>
          <a:lstStyle/>
          <a:p>
            <a:r>
              <a:rPr lang="en-US" altLang="zh-TW" sz="4444" dirty="0">
                <a:solidFill>
                  <a:srgbClr val="0070C0"/>
                </a:solidFill>
                <a:latin typeface="Elephant" panose="02020904090505020303" pitchFamily="18" charset="0"/>
              </a:rPr>
              <a:t>Using </a:t>
            </a:r>
            <a:r>
              <a:rPr lang="en-US" altLang="zh-TW" sz="4444" b="1" spc="-463" dirty="0">
                <a:solidFill>
                  <a:srgbClr val="0070C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333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with</a:t>
            </a:r>
            <a:r>
              <a:rPr lang="en-US" altLang="zh-TW" sz="370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Strings</a:t>
            </a:r>
            <a:endParaRPr lang="zh-TW" altLang="en-US" sz="4074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5257927" y="3657600"/>
            <a:ext cx="4170680" cy="863600"/>
          </a:xfrm>
          <a:prstGeom prst="wedgeRoundRectCallout">
            <a:avLst>
              <a:gd name="adj1" fmla="val -131954"/>
              <a:gd name="adj2" fmla="val 27067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5000"/>
              </a:lnSpc>
            </a:pP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So it did not allocate a new memory space.</a:t>
            </a:r>
            <a:endParaRPr lang="zh-TW" altLang="en-US" sz="3200" dirty="0">
              <a:solidFill>
                <a:srgbClr val="860000"/>
              </a:solidFill>
              <a:latin typeface="Times New Roman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1170" y="2934776"/>
            <a:ext cx="833883" cy="430887"/>
          </a:xfrm>
          <a:prstGeom prst="rect">
            <a:avLst/>
          </a:prstGeom>
          <a:solidFill>
            <a:schemeClr val="bg1"/>
          </a:solidFill>
        </p:spPr>
        <p:txBody>
          <a:bodyPr wrap="none" tIns="0" bIns="0">
            <a:spAutoFit/>
          </a:bodyPr>
          <a:lstStyle/>
          <a:p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01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9586" y="838200"/>
            <a:ext cx="8839200" cy="6007768"/>
          </a:xfrm>
        </p:spPr>
        <p:txBody>
          <a:bodyPr/>
          <a:lstStyle/>
          <a:p>
            <a:r>
              <a:rPr lang="en-US" altLang="zh-TW" sz="3200" dirty="0"/>
              <a:t>Let’s see if strings behave the same: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a=(4,5,6)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b=(4,5,6)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a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b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x="hello"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y="hello"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x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y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x="</a:t>
            </a:r>
            <a:r>
              <a:rPr lang="en-US" altLang="zh-TW" sz="2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bye"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&gt;&gt;&gt;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x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y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&gt;&gt;&gt; </a:t>
            </a:r>
            <a:r>
              <a:rPr lang="en-US" altLang="zh-TW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28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y,x</a:t>
            </a:r>
            <a:r>
              <a:rPr lang="en-US" altLang="zh-TW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endParaRPr lang="en-US" altLang="zh-TW" sz="2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8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hello bye</a:t>
            </a:r>
            <a:endParaRPr lang="en-US" altLang="zh-TW" sz="2800" b="1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&gt;&gt;&gt;</a:t>
            </a:r>
          </a:p>
        </p:txBody>
      </p:sp>
      <p:sp>
        <p:nvSpPr>
          <p:cNvPr id="19" name="Rounded Rectangular Callout 18"/>
          <p:cNvSpPr/>
          <p:nvPr/>
        </p:nvSpPr>
        <p:spPr bwMode="auto">
          <a:xfrm>
            <a:off x="4255294" y="4736432"/>
            <a:ext cx="5173312" cy="2121568"/>
          </a:xfrm>
          <a:prstGeom prst="wedgeRoundRectCallout">
            <a:avLst>
              <a:gd name="adj1" fmla="val -72593"/>
              <a:gd name="adj2" fmla="val -45612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5000"/>
              </a:lnSpc>
            </a:pP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Reassigning</a:t>
            </a:r>
            <a:r>
              <a:rPr lang="en-US" altLang="zh-TW" sz="2592" dirty="0">
                <a:solidFill>
                  <a:srgbClr val="860000"/>
                </a:solidFill>
                <a:latin typeface="Times New Roman" charset="0"/>
              </a:rPr>
              <a:t> 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x</a:t>
            </a:r>
            <a:r>
              <a:rPr lang="en-US" altLang="zh-TW" sz="2592" dirty="0">
                <a:solidFill>
                  <a:srgbClr val="860000"/>
                </a:solidFill>
                <a:latin typeface="Times New Roman" charset="0"/>
              </a:rPr>
              <a:t> </a:t>
            </a:r>
            <a:r>
              <a:rPr lang="en-US" altLang="zh-TW" sz="3200" spc="-46" dirty="0">
                <a:solidFill>
                  <a:srgbClr val="860000"/>
                </a:solidFill>
                <a:latin typeface="Times New Roman" charset="0"/>
              </a:rPr>
              <a:t>wo</a:t>
            </a:r>
            <a:r>
              <a:rPr lang="en-US" altLang="zh-TW" sz="3200" spc="-185" dirty="0">
                <a:solidFill>
                  <a:srgbClr val="860000"/>
                </a:solidFill>
                <a:latin typeface="Times New Roman" charset="0"/>
              </a:rPr>
              <a:t>n</a:t>
            </a:r>
            <a:r>
              <a:rPr lang="en-US" altLang="zh-TW" sz="3200" spc="-93" dirty="0">
                <a:solidFill>
                  <a:srgbClr val="860000"/>
                </a:solidFill>
                <a:latin typeface="Times New Roman" charset="0"/>
              </a:rPr>
              <a:t>’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t</a:t>
            </a:r>
            <a:r>
              <a:rPr lang="en-US" altLang="zh-TW" sz="2963" dirty="0">
                <a:solidFill>
                  <a:srgbClr val="860000"/>
                </a:solidFill>
                <a:latin typeface="Times New Roman" charset="0"/>
              </a:rPr>
              <a:t> 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change</a:t>
            </a:r>
            <a:r>
              <a:rPr lang="en-US" altLang="zh-TW" sz="2592" dirty="0">
                <a:solidFill>
                  <a:srgbClr val="860000"/>
                </a:solidFill>
                <a:latin typeface="Times New Roman" charset="0"/>
              </a:rPr>
              <a:t> </a:t>
            </a:r>
            <a:r>
              <a:rPr lang="en-US" altLang="zh-TW" sz="3200" spc="-93" dirty="0">
                <a:solidFill>
                  <a:srgbClr val="860000"/>
                </a:solidFill>
                <a:latin typeface="Times New Roman" charset="0"/>
              </a:rPr>
              <a:t>y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. </a:t>
            </a:r>
            <a:r>
              <a:rPr lang="en-US" altLang="zh-TW" sz="3200" i="1" dirty="0">
                <a:solidFill>
                  <a:srgbClr val="860000"/>
                </a:solidFill>
                <a:latin typeface="Times New Roman" charset="0"/>
              </a:rPr>
              <a:t>Updating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 x </a:t>
            </a:r>
            <a:r>
              <a:rPr lang="en-US" altLang="zh-TW" sz="3200" i="1" dirty="0">
                <a:solidFill>
                  <a:srgbClr val="860000"/>
                </a:solidFill>
                <a:latin typeface="Times New Roman" charset="0"/>
              </a:rPr>
              <a:t>would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 change y. But that’s the point: strings are </a:t>
            </a:r>
            <a:r>
              <a:rPr lang="en-US" altLang="zh-TW" sz="3200" i="1" dirty="0">
                <a:solidFill>
                  <a:srgbClr val="860000"/>
                </a:solidFill>
                <a:latin typeface="Times New Roman" charset="0"/>
              </a:rPr>
              <a:t>immutable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 and that’s why the optimization was enabled.</a:t>
            </a:r>
            <a:endParaRPr lang="zh-TW" altLang="en-US" sz="3200" dirty="0">
              <a:solidFill>
                <a:srgbClr val="860000"/>
              </a:solidFill>
              <a:latin typeface="Times New Roman" charset="0"/>
            </a:endParaRPr>
          </a:p>
        </p:txBody>
      </p:sp>
      <p:sp>
        <p:nvSpPr>
          <p:cNvPr id="20" name="Rounded Rectangular Callout 19"/>
          <p:cNvSpPr/>
          <p:nvPr/>
        </p:nvSpPr>
        <p:spPr bwMode="auto">
          <a:xfrm>
            <a:off x="5257927" y="3657600"/>
            <a:ext cx="4170680" cy="863600"/>
          </a:xfrm>
          <a:prstGeom prst="wedgeRoundRectCallout">
            <a:avLst>
              <a:gd name="adj1" fmla="val -131954"/>
              <a:gd name="adj2" fmla="val 27067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5000"/>
              </a:lnSpc>
            </a:pP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So it did not allocate a new memory space.</a:t>
            </a:r>
            <a:endParaRPr lang="zh-TW" altLang="en-US" sz="3200" dirty="0">
              <a:solidFill>
                <a:srgbClr val="860000"/>
              </a:solidFill>
              <a:latin typeface="Times New Roman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5525" y="4903115"/>
            <a:ext cx="833883" cy="430887"/>
          </a:xfrm>
          <a:prstGeom prst="rect">
            <a:avLst/>
          </a:prstGeom>
          <a:solidFill>
            <a:schemeClr val="bg1"/>
          </a:solidFill>
        </p:spPr>
        <p:txBody>
          <a:bodyPr wrap="none" tIns="0" bIns="0">
            <a:spAutoFit/>
          </a:bodyPr>
          <a:lstStyle/>
          <a:p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826294" y="0"/>
            <a:ext cx="8077200" cy="762000"/>
          </a:xfrm>
        </p:spPr>
        <p:txBody>
          <a:bodyPr/>
          <a:lstStyle/>
          <a:p>
            <a:r>
              <a:rPr lang="en-US" altLang="zh-TW" sz="4444" dirty="0">
                <a:solidFill>
                  <a:srgbClr val="0070C0"/>
                </a:solidFill>
                <a:latin typeface="Elephant" panose="02020904090505020303" pitchFamily="18" charset="0"/>
              </a:rPr>
              <a:t>Using </a:t>
            </a:r>
            <a:r>
              <a:rPr lang="en-US" altLang="zh-TW" sz="4444" b="1" spc="-463" dirty="0">
                <a:solidFill>
                  <a:srgbClr val="0070C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333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with</a:t>
            </a:r>
            <a:r>
              <a:rPr lang="en-US" altLang="zh-TW" sz="3703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dirty="0">
                <a:solidFill>
                  <a:srgbClr val="0070C0"/>
                </a:solidFill>
                <a:latin typeface="Elephant" panose="02020904090505020303" pitchFamily="18" charset="0"/>
              </a:rPr>
              <a:t>Strings</a:t>
            </a:r>
            <a:endParaRPr lang="zh-TW" altLang="en-US" sz="4074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255294" y="1455389"/>
            <a:ext cx="5218834" cy="2036301"/>
          </a:xfrm>
          <a:prstGeom prst="rect">
            <a:avLst/>
          </a:prstGeom>
          <a:solidFill>
            <a:srgbClr val="FFE08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4659" tIns="42330" rIns="84659" bIns="4233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4074" dirty="0">
                <a:solidFill>
                  <a:srgbClr val="3333CC"/>
                </a:solidFill>
                <a:latin typeface="Times New Roman" charset="0"/>
              </a:rPr>
              <a:t>What we see here for strings </a:t>
            </a:r>
            <a:r>
              <a:rPr lang="en-US" altLang="zh-TW" sz="4074" b="1" dirty="0">
                <a:solidFill>
                  <a:srgbClr val="3333CC"/>
                </a:solidFill>
                <a:latin typeface="Times New Roman" charset="0"/>
              </a:rPr>
              <a:t>doesn’t</a:t>
            </a:r>
            <a:r>
              <a:rPr lang="en-US" altLang="zh-TW" sz="4074" dirty="0">
                <a:solidFill>
                  <a:srgbClr val="3333CC"/>
                </a:solidFill>
                <a:latin typeface="Times New Roman" charset="0"/>
              </a:rPr>
              <a:t> work as we think “is” should…</a:t>
            </a:r>
            <a:endParaRPr lang="zh-TW" altLang="en-US" sz="4074" dirty="0">
              <a:solidFill>
                <a:srgbClr val="3333CC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297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標題 1"/>
          <p:cNvSpPr txBox="1">
            <a:spLocks/>
          </p:cNvSpPr>
          <p:nvPr/>
        </p:nvSpPr>
        <p:spPr bwMode="auto">
          <a:xfrm>
            <a:off x="826294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18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36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54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721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44" kern="0" smtClean="0">
                <a:solidFill>
                  <a:srgbClr val="0070C0"/>
                </a:solidFill>
                <a:latin typeface="Elephant" panose="02020904090505020303" pitchFamily="18" charset="0"/>
              </a:rPr>
              <a:t>Using </a:t>
            </a:r>
            <a:r>
              <a:rPr lang="en-US" altLang="zh-TW" sz="4444" b="1" kern="0" spc="-463" smtClean="0">
                <a:solidFill>
                  <a:srgbClr val="0070C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4074" kern="0" smtClean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3333" kern="0" smtClean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kern="0" smtClean="0">
                <a:solidFill>
                  <a:srgbClr val="0070C0"/>
                </a:solidFill>
                <a:latin typeface="Elephant" panose="02020904090505020303" pitchFamily="18" charset="0"/>
              </a:rPr>
              <a:t>with</a:t>
            </a:r>
            <a:r>
              <a:rPr lang="en-US" altLang="zh-TW" sz="3703" kern="0" smtClean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4" kern="0" smtClean="0">
                <a:solidFill>
                  <a:srgbClr val="0070C0"/>
                </a:solidFill>
                <a:latin typeface="Elephant" panose="02020904090505020303" pitchFamily="18" charset="0"/>
              </a:rPr>
              <a:t>Strings</a:t>
            </a:r>
            <a:endParaRPr lang="zh-TW" altLang="en-US" sz="4074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9218" y="393032"/>
            <a:ext cx="9620570" cy="6007768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3200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0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 smtClean="0">
                <a:latin typeface="Lucida Console" panose="020B0609040504020204" pitchFamily="49" charset="0"/>
              </a:rPr>
              <a:t>Door=door="</a:t>
            </a:r>
            <a:r>
              <a:rPr lang="en-US" altLang="zh-TW" sz="2800" dirty="0">
                <a:latin typeface="Lucida Console" panose="020B0609040504020204" pitchFamily="49" charset="0"/>
              </a:rPr>
              <a:t>door"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1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800" spc="-5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800" spc="-9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800" spc="-5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000" spc="-5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b="1" spc="-200" dirty="0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800" b="1" spc="-50" dirty="0">
                <a:solidFill>
                  <a:srgbClr val="00B05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000" b="1" spc="-5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b="1" spc="-50" dirty="0">
                <a:solidFill>
                  <a:srgbClr val="00B050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000" spc="-5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5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do</a:t>
            </a:r>
            <a:r>
              <a:rPr lang="en-US" altLang="zh-TW" sz="2800" spc="-15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800" spc="-1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800" dirty="0" err="1" smtClean="0">
                <a:solidFill>
                  <a:srgbClr val="FF0000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#W</a:t>
            </a:r>
            <a:r>
              <a:rPr lang="en-US" altLang="zh-TW" sz="2800" spc="-60" dirty="0" err="1" smtClean="0">
                <a:solidFill>
                  <a:srgbClr val="FF0000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hen</a:t>
            </a:r>
            <a:r>
              <a:rPr lang="en-US" altLang="zh-TW" sz="2400" spc="-60" dirty="0" smtClean="0">
                <a:solidFill>
                  <a:srgbClr val="FF0000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spc="-60" dirty="0">
                <a:solidFill>
                  <a:srgbClr val="FF0000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is a</a:t>
            </a:r>
            <a:r>
              <a:rPr lang="en-US" altLang="zh-TW" sz="2000" spc="-60" dirty="0">
                <a:solidFill>
                  <a:srgbClr val="FF0000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spc="-250" dirty="0">
                <a:solidFill>
                  <a:srgbClr val="FF0000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TW" sz="2800" spc="-160" dirty="0">
                <a:solidFill>
                  <a:srgbClr val="FF0000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800" spc="-110" dirty="0">
                <a:solidFill>
                  <a:srgbClr val="FF0000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oo</a:t>
            </a:r>
            <a:r>
              <a:rPr lang="en-US" altLang="zh-TW" sz="2800" spc="-60" dirty="0">
                <a:solidFill>
                  <a:srgbClr val="FF0000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r"</a:t>
            </a:r>
            <a:r>
              <a:rPr lang="en-US" altLang="zh-TW" sz="2400" spc="-110" dirty="0">
                <a:solidFill>
                  <a:srgbClr val="FF0000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spc="-110" dirty="0">
                <a:solidFill>
                  <a:srgbClr val="FF0000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800" spc="-150" dirty="0">
                <a:solidFill>
                  <a:srgbClr val="FF0000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800" spc="-110" dirty="0">
                <a:solidFill>
                  <a:srgbClr val="FF0000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800" spc="-60" dirty="0">
                <a:solidFill>
                  <a:srgbClr val="FF0000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1800" spc="-60" dirty="0">
                <a:solidFill>
                  <a:srgbClr val="FF0000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spc="-330" dirty="0">
                <a:solidFill>
                  <a:srgbClr val="FF0000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TW" sz="2800" spc="-160" dirty="0">
                <a:solidFill>
                  <a:srgbClr val="FF0000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800" spc="-110" dirty="0">
                <a:solidFill>
                  <a:srgbClr val="FF0000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oo</a:t>
            </a:r>
            <a:r>
              <a:rPr lang="en-US" altLang="zh-TW" sz="2800" spc="-60" dirty="0">
                <a:solidFill>
                  <a:srgbClr val="FF0000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800" spc="-60" dirty="0" smtClean="0">
                <a:solidFill>
                  <a:srgbClr val="FF0000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TW" sz="2800" dirty="0" smtClean="0">
                <a:solidFill>
                  <a:srgbClr val="FF0000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?</a:t>
            </a:r>
            <a:endParaRPr lang="en-US" altLang="zh-TW" sz="2800" dirty="0">
              <a:solidFill>
                <a:srgbClr val="FF0000"/>
              </a:solidFill>
              <a:latin typeface="Lucida Bright" panose="020406020505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False</a:t>
            </a:r>
            <a:endParaRPr lang="en-US" altLang="zh-TW" sz="2800" b="1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&gt;&gt;&gt;</a:t>
            </a:r>
            <a:r>
              <a:rPr lang="en-US" altLang="zh-TW" sz="2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Lucida Bright" panose="02040602050505020304" pitchFamily="18" charset="0"/>
              </a:rPr>
              <a:t># "False" to the "</a:t>
            </a:r>
            <a:r>
              <a:rPr lang="en-US" altLang="zh-TW" sz="2800" dirty="0">
                <a:solidFill>
                  <a:srgbClr val="00B050"/>
                </a:solidFill>
                <a:latin typeface="Lucida Bright" panose="02040602050505020304" pitchFamily="18" charset="0"/>
              </a:rPr>
              <a:t>is not</a:t>
            </a:r>
            <a:r>
              <a:rPr lang="en-US" altLang="zh-TW" sz="2800" dirty="0">
                <a:solidFill>
                  <a:srgbClr val="FF0000"/>
                </a:solidFill>
                <a:latin typeface="Lucida Bright" panose="02040602050505020304" pitchFamily="18" charset="0"/>
              </a:rPr>
              <a:t>" question means it </a:t>
            </a:r>
            <a:r>
              <a:rPr lang="en-US" altLang="zh-TW" sz="2800" b="1" dirty="0">
                <a:solidFill>
                  <a:srgbClr val="00B050"/>
                </a:solidFill>
                <a:latin typeface="Lucida Bright" panose="02040602050505020304" pitchFamily="18" charset="0"/>
              </a:rPr>
              <a:t>is</a:t>
            </a:r>
            <a:r>
              <a:rPr lang="en-US" altLang="zh-TW" sz="2800" dirty="0">
                <a:solidFill>
                  <a:srgbClr val="FF0000"/>
                </a:solidFill>
                <a:latin typeface="Lucida Bright" panose="02040602050505020304" pitchFamily="18" charset="0"/>
              </a:rPr>
              <a:t>.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&gt;&gt;&gt;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&gt;&gt;&gt;</a:t>
            </a:r>
            <a:r>
              <a:rPr lang="en-US" altLang="zh-TW" sz="2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{Door}</a:t>
            </a:r>
            <a:r>
              <a:rPr lang="en-US" altLang="zh-TW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20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00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{door}\</a:t>
            </a:r>
            <a:r>
              <a:rPr lang="en-US" altLang="zh-TW" sz="2800" dirty="0" smtClean="0">
                <a:solidFill>
                  <a:srgbClr val="FF0000"/>
                </a:solidFill>
                <a:latin typeface="Lucida Bright" panose="02040602050505020304" pitchFamily="18" charset="0"/>
              </a:rPr>
              <a:t>#</a:t>
            </a:r>
            <a:r>
              <a:rPr lang="en-US" altLang="zh-TW" sz="2800" spc="-90" dirty="0">
                <a:solidFill>
                  <a:srgbClr val="FF0000"/>
                </a:solidFill>
                <a:latin typeface="Lucida Bright" panose="02040602050505020304" pitchFamily="18" charset="0"/>
              </a:rPr>
              <a:t>An</a:t>
            </a:r>
            <a:r>
              <a:rPr lang="en-US" altLang="zh-TW" sz="2800" spc="-190" dirty="0">
                <a:solidFill>
                  <a:srgbClr val="FF0000"/>
                </a:solidFill>
                <a:latin typeface="Lucida Bright" panose="02040602050505020304" pitchFamily="18" charset="0"/>
              </a:rPr>
              <a:t>sw</a:t>
            </a:r>
            <a:r>
              <a:rPr lang="en-US" altLang="zh-TW" sz="2800" spc="-90" dirty="0">
                <a:solidFill>
                  <a:srgbClr val="FF0000"/>
                </a:solidFill>
                <a:latin typeface="Lucida Bright" panose="02040602050505020304" pitchFamily="18" charset="0"/>
              </a:rPr>
              <a:t>er</a:t>
            </a:r>
            <a:r>
              <a:rPr lang="en-US" altLang="zh-TW" sz="2400" spc="-90" dirty="0">
                <a:solidFill>
                  <a:srgbClr val="FF0000"/>
                </a:solidFill>
                <a:latin typeface="Lucida Bright" panose="02040602050505020304" pitchFamily="18" charset="0"/>
              </a:rPr>
              <a:t> </a:t>
            </a:r>
            <a:r>
              <a:rPr lang="en-US" altLang="zh-TW" sz="2800" spc="-90" dirty="0">
                <a:solidFill>
                  <a:srgbClr val="FF0000"/>
                </a:solidFill>
                <a:latin typeface="Lucida Bright" panose="02040602050505020304" pitchFamily="18" charset="0"/>
              </a:rPr>
              <a:t>will be</a:t>
            </a:r>
            <a:r>
              <a:rPr lang="en-US" altLang="zh-TW" sz="2400" spc="-90" dirty="0">
                <a:solidFill>
                  <a:srgbClr val="FF0000"/>
                </a:solidFill>
                <a:latin typeface="Lucida Bright" panose="02040602050505020304" pitchFamily="18" charset="0"/>
              </a:rPr>
              <a:t> </a:t>
            </a:r>
            <a:r>
              <a:rPr lang="en-US" altLang="zh-TW" sz="2800" spc="-90" dirty="0">
                <a:solidFill>
                  <a:srgbClr val="FF0000"/>
                </a:solidFill>
                <a:latin typeface="Lucida Bright" panose="02040602050505020304" pitchFamily="18" charset="0"/>
              </a:rPr>
              <a:t>Tr</a:t>
            </a:r>
            <a:r>
              <a:rPr lang="en-US" altLang="zh-TW" sz="2800" spc="-200" dirty="0">
                <a:solidFill>
                  <a:srgbClr val="FF0000"/>
                </a:solidFill>
                <a:latin typeface="Lucida Bright" panose="02040602050505020304" pitchFamily="18" charset="0"/>
              </a:rPr>
              <a:t>u</a:t>
            </a:r>
            <a:r>
              <a:rPr lang="en-US" altLang="zh-TW" sz="2800" spc="-90" dirty="0">
                <a:solidFill>
                  <a:srgbClr val="FF0000"/>
                </a:solidFill>
                <a:latin typeface="Lucida Bright" panose="02040602050505020304" pitchFamily="18" charset="0"/>
              </a:rPr>
              <a:t>e</a:t>
            </a:r>
            <a:r>
              <a:rPr lang="en-US" altLang="zh-TW" sz="2400" spc="-90" dirty="0">
                <a:solidFill>
                  <a:srgbClr val="FF0000"/>
                </a:solidFill>
                <a:latin typeface="Lucida Bright" panose="02040602050505020304" pitchFamily="18" charset="0"/>
              </a:rPr>
              <a:t> </a:t>
            </a:r>
            <a:r>
              <a:rPr lang="en-US" altLang="zh-TW" sz="2800" spc="-90" dirty="0">
                <a:solidFill>
                  <a:srgbClr val="FF0000"/>
                </a:solidFill>
                <a:latin typeface="Lucida Bright" panose="02040602050505020304" pitchFamily="18" charset="0"/>
              </a:rPr>
              <a:t>if</a:t>
            </a:r>
            <a:r>
              <a:rPr lang="en-US" altLang="zh-TW" sz="2400" spc="-90" dirty="0">
                <a:solidFill>
                  <a:srgbClr val="FF0000"/>
                </a:solidFill>
                <a:latin typeface="Lucida Bright" panose="02040602050505020304" pitchFamily="18" charset="0"/>
              </a:rPr>
              <a:t> </a:t>
            </a:r>
            <a:r>
              <a:rPr lang="en-US" altLang="zh-TW" sz="2400" spc="-90" dirty="0" smtClean="0">
                <a:solidFill>
                  <a:srgbClr val="FF0000"/>
                </a:solidFill>
                <a:latin typeface="Lucida Bright" panose="02040602050505020304" pitchFamily="18" charset="0"/>
              </a:rPr>
              <a:t>  </a:t>
            </a:r>
            <a:br>
              <a:rPr lang="en-US" altLang="zh-TW" sz="2400" spc="-90" dirty="0" smtClean="0">
                <a:solidFill>
                  <a:srgbClr val="FF0000"/>
                </a:solidFill>
                <a:latin typeface="Lucida Bright" panose="02040602050505020304" pitchFamily="18" charset="0"/>
              </a:rPr>
            </a:br>
            <a:r>
              <a:rPr lang="en-US" altLang="zh-TW" sz="2400" spc="-90" dirty="0" smtClean="0">
                <a:solidFill>
                  <a:srgbClr val="FF0000"/>
                </a:solidFill>
                <a:latin typeface="Lucida Bright" panose="02040602050505020304" pitchFamily="18" charset="0"/>
              </a:rPr>
              <a:t>     </a:t>
            </a:r>
            <a:r>
              <a:rPr lang="en-US" altLang="zh-TW" sz="28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zh-TW" sz="28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               </a:t>
            </a:r>
            <a:r>
              <a:rPr lang="en-US" altLang="zh-TW" sz="2800" dirty="0" smtClean="0">
                <a:solidFill>
                  <a:srgbClr val="FF0000"/>
                </a:solidFill>
                <a:latin typeface="Lucida Bright" panose="02040602050505020304" pitchFamily="18" charset="0"/>
              </a:rPr>
              <a:t>#</a:t>
            </a:r>
            <a:r>
              <a:rPr lang="en-US" altLang="zh-TW" sz="2800" spc="-90" dirty="0" smtClean="0">
                <a:solidFill>
                  <a:srgbClr val="FF0000"/>
                </a:solidFill>
                <a:latin typeface="Lucida Bright" panose="02040602050505020304" pitchFamily="18" charset="0"/>
              </a:rPr>
              <a:t>t</a:t>
            </a:r>
            <a:r>
              <a:rPr lang="en-US" altLang="zh-TW" sz="2800" spc="-150" dirty="0" smtClean="0">
                <a:solidFill>
                  <a:srgbClr val="FF0000"/>
                </a:solidFill>
                <a:latin typeface="Lucida Bright" panose="02040602050505020304" pitchFamily="18" charset="0"/>
              </a:rPr>
              <a:t>hes</a:t>
            </a:r>
            <a:r>
              <a:rPr lang="en-US" altLang="zh-TW" sz="2800" spc="-90" dirty="0" smtClean="0">
                <a:solidFill>
                  <a:srgbClr val="FF0000"/>
                </a:solidFill>
                <a:latin typeface="Lucida Bright" panose="02040602050505020304" pitchFamily="18" charset="0"/>
              </a:rPr>
              <a:t>e </a:t>
            </a:r>
            <a:r>
              <a:rPr lang="en-US" altLang="zh-TW" sz="2800" dirty="0" smtClean="0">
                <a:solidFill>
                  <a:srgbClr val="FF0000"/>
                </a:solidFill>
                <a:latin typeface="Lucida Bright" panose="02040602050505020304" pitchFamily="18" charset="0"/>
              </a:rPr>
              <a:t>are </a:t>
            </a:r>
            <a:r>
              <a:rPr lang="en-US" altLang="zh-TW" sz="2800" dirty="0">
                <a:solidFill>
                  <a:srgbClr val="FF0000"/>
                </a:solidFill>
                <a:latin typeface="Lucida Bright" panose="02040602050505020304" pitchFamily="18" charset="0"/>
              </a:rPr>
              <a:t>different objects:</a:t>
            </a:r>
            <a:endParaRPr lang="en-US" altLang="zh-TW" sz="28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1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6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{Doo</a:t>
            </a:r>
            <a:r>
              <a:rPr lang="en-US" altLang="zh-TW" sz="2800" spc="-5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800" spc="-45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800" b="1" spc="-16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!</a:t>
            </a:r>
            <a:r>
              <a:rPr lang="en-US" altLang="zh-TW" sz="2800" b="1" spc="-1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800" spc="-260" dirty="0">
                <a:solidFill>
                  <a:srgbClr val="00B05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800" spc="-6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doo</a:t>
            </a:r>
            <a:r>
              <a:rPr lang="en-US" altLang="zh-TW" sz="2800" spc="-5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800" spc="-45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}</a:t>
            </a:r>
            <a:r>
              <a:rPr lang="zh-TW" altLang="en-US" sz="2800" spc="-45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60" dirty="0" smtClean="0">
                <a:solidFill>
                  <a:srgbClr val="FF0000"/>
                </a:solidFill>
                <a:latin typeface="Lucida Bright" panose="02040602050505020304" pitchFamily="18" charset="0"/>
              </a:rPr>
              <a:t>#</a:t>
            </a:r>
            <a:r>
              <a:rPr lang="en-US" altLang="zh-TW" sz="2800" spc="-120" dirty="0" smtClean="0">
                <a:solidFill>
                  <a:srgbClr val="FF0000"/>
                </a:solidFill>
                <a:latin typeface="Lucida Bright" panose="02040602050505020304" pitchFamily="18" charset="0"/>
              </a:rPr>
              <a:t>Of</a:t>
            </a:r>
            <a:r>
              <a:rPr lang="en-US" altLang="zh-TW" sz="2400" spc="-120" dirty="0" smtClean="0">
                <a:solidFill>
                  <a:srgbClr val="FF0000"/>
                </a:solidFill>
                <a:latin typeface="Lucida Bright" panose="02040602050505020304" pitchFamily="18" charset="0"/>
              </a:rPr>
              <a:t> </a:t>
            </a:r>
            <a:r>
              <a:rPr lang="en-US" altLang="zh-TW" sz="2800" spc="-120" dirty="0">
                <a:solidFill>
                  <a:srgbClr val="FF0000"/>
                </a:solidFill>
                <a:latin typeface="Lucida Bright" panose="02040602050505020304" pitchFamily="18" charset="0"/>
              </a:rPr>
              <a:t>course </a:t>
            </a:r>
            <a:r>
              <a:rPr lang="en-US" altLang="zh-TW" sz="2800" spc="-120" dirty="0" smtClean="0">
                <a:solidFill>
                  <a:srgbClr val="FF0000"/>
                </a:solidFill>
                <a:latin typeface="Lucida Bright" panose="02040602050505020304" pitchFamily="18" charset="0"/>
              </a:rPr>
              <a:t>the</a:t>
            </a:r>
            <a:r>
              <a:rPr lang="en-US" altLang="zh-TW" sz="2400" spc="-120" dirty="0" smtClean="0">
                <a:solidFill>
                  <a:srgbClr val="FF0000"/>
                </a:solidFill>
                <a:latin typeface="Lucida Bright" panose="02040602050505020304" pitchFamily="18" charset="0"/>
              </a:rPr>
              <a:t> </a:t>
            </a:r>
            <a:r>
              <a:rPr lang="en-US" altLang="zh-TW" sz="2800" spc="-120" dirty="0">
                <a:solidFill>
                  <a:srgbClr val="FF0000"/>
                </a:solidFill>
                <a:latin typeface="Lucida Bright" panose="02040602050505020304" pitchFamily="18" charset="0"/>
              </a:rPr>
              <a:t>objects</a:t>
            </a:r>
            <a:r>
              <a:rPr lang="en-US" altLang="zh-TW" sz="2400" spc="-120" dirty="0">
                <a:solidFill>
                  <a:srgbClr val="FF0000"/>
                </a:solidFill>
                <a:latin typeface="Lucida Bright" panose="02040602050505020304" pitchFamily="18" charset="0"/>
              </a:rPr>
              <a:t> </a:t>
            </a:r>
            <a:r>
              <a:rPr lang="en-US" altLang="zh-TW" sz="2800" spc="-120" dirty="0">
                <a:solidFill>
                  <a:srgbClr val="FF0000"/>
                </a:solidFill>
                <a:latin typeface="Lucida Bright" panose="02040602050505020304" pitchFamily="18" charset="0"/>
              </a:rPr>
              <a:t>are</a:t>
            </a:r>
            <a:r>
              <a:rPr lang="en-US" altLang="zh-TW" sz="2400" spc="-120" dirty="0">
                <a:solidFill>
                  <a:srgbClr val="FF0000"/>
                </a:solidFill>
                <a:latin typeface="Lucida Bright" panose="02040602050505020304" pitchFamily="18" charset="0"/>
              </a:rPr>
              <a:t> </a:t>
            </a:r>
            <a:r>
              <a:rPr lang="en-US" altLang="zh-TW" sz="2800" i="1" spc="-120" dirty="0">
                <a:solidFill>
                  <a:srgbClr val="FF0000"/>
                </a:solidFill>
                <a:latin typeface="Lucida Bright" panose="02040602050505020304" pitchFamily="18" charset="0"/>
              </a:rPr>
              <a:t>equal:</a:t>
            </a:r>
            <a:r>
              <a:rPr lang="en-US" altLang="zh-TW" sz="2800" i="1" spc="-120" dirty="0">
                <a:solidFill>
                  <a:srgbClr val="00B050"/>
                </a:solidFill>
                <a:latin typeface="Lucida Bright" panose="02040602050505020304" pitchFamily="18" charset="0"/>
              </a:rPr>
              <a:t> 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&gt;&gt;&gt;</a:t>
            </a:r>
            <a:r>
              <a:rPr lang="en-US" altLang="zh-TW" sz="2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door="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ajar</a:t>
            </a:r>
            <a:r>
              <a:rPr lang="en-US" altLang="zh-TW" sz="28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800" dirty="0" err="1" smtClean="0">
                <a:solidFill>
                  <a:srgbClr val="FF0000"/>
                </a:solidFill>
                <a:latin typeface="Lucida Bright" panose="02040602050505020304" pitchFamily="18" charset="0"/>
              </a:rPr>
              <a:t>#What</a:t>
            </a:r>
            <a:r>
              <a:rPr lang="en-US" altLang="zh-TW" sz="2400" dirty="0" smtClean="0">
                <a:solidFill>
                  <a:srgbClr val="FF0000"/>
                </a:solidFill>
                <a:latin typeface="Lucida Bright" panose="02040602050505020304" pitchFamily="18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Lucida Bright" panose="02040602050505020304" pitchFamily="18" charset="0"/>
              </a:rPr>
              <a:t>if</a:t>
            </a:r>
            <a:r>
              <a:rPr lang="en-US" altLang="zh-TW" sz="2400" dirty="0">
                <a:solidFill>
                  <a:srgbClr val="FF0000"/>
                </a:solidFill>
                <a:latin typeface="Lucida Bright" panose="02040602050505020304" pitchFamily="18" charset="0"/>
              </a:rPr>
              <a:t> </a:t>
            </a:r>
            <a:r>
              <a:rPr lang="en-US" altLang="zh-TW" sz="2800" spc="-30" dirty="0">
                <a:solidFill>
                  <a:srgbClr val="FF0000"/>
                </a:solidFill>
                <a:latin typeface="Lucida Bright" panose="02040602050505020304" pitchFamily="18" charset="0"/>
              </a:rPr>
              <a:t>a "door" becomes "ajar</a:t>
            </a:r>
            <a:r>
              <a:rPr lang="en-US" altLang="zh-TW" sz="2800" dirty="0">
                <a:solidFill>
                  <a:srgbClr val="FF0000"/>
                </a:solidFill>
                <a:latin typeface="Lucida Bright" panose="02040602050505020304" pitchFamily="18" charset="0"/>
              </a:rPr>
              <a:t>"?</a:t>
            </a: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Door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is not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door</a:t>
            </a:r>
            <a:endParaRPr lang="en-US" altLang="zh-TW" sz="28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  <a:endParaRPr lang="en-US" altLang="zh-TW" sz="2800" b="1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2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&gt;&gt;&gt;</a:t>
            </a:r>
            <a:endParaRPr lang="en-US" altLang="zh-TW" sz="2800" dirty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4119" y="4904755"/>
            <a:ext cx="833883" cy="327547"/>
          </a:xfrm>
          <a:prstGeom prst="rect">
            <a:avLst/>
          </a:prstGeom>
          <a:solidFill>
            <a:schemeClr val="bg1"/>
          </a:solidFill>
        </p:spPr>
        <p:txBody>
          <a:bodyPr wrap="none" tIns="0" bIns="0" anchor="ctr" anchorCtr="0">
            <a:noAutofit/>
          </a:bodyPr>
          <a:lstStyle/>
          <a:p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5605145" y="3771900"/>
            <a:ext cx="3800475" cy="1600200"/>
          </a:xfrm>
          <a:prstGeom prst="wedgeRoundRectCallout">
            <a:avLst>
              <a:gd name="adj1" fmla="val -57717"/>
              <a:gd name="adj2" fmla="val -181212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75000"/>
              </a:lnSpc>
            </a:pP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A novel answer to</a:t>
            </a:r>
            <a:b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</a:b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the riddle: When it </a:t>
            </a:r>
            <a:b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</a:b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is </a:t>
            </a:r>
            <a:r>
              <a:rPr lang="en-US" altLang="zh-TW" sz="3200" i="1" dirty="0">
                <a:solidFill>
                  <a:srgbClr val="7030A0"/>
                </a:solidFill>
                <a:latin typeface="Times New Roman" charset="0"/>
              </a:rPr>
              <a:t>wrapped inside another type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.</a:t>
            </a:r>
            <a:endParaRPr lang="zh-TW" altLang="en-US" sz="3200" dirty="0">
              <a:solidFill>
                <a:srgbClr val="860000"/>
              </a:solidFill>
              <a:latin typeface="Times New Roman" charset="0"/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 flipH="1" flipV="1">
            <a:off x="2628900" y="3187700"/>
            <a:ext cx="3804919" cy="14986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10" name="Rounded Rectangular Callout 9"/>
          <p:cNvSpPr/>
          <p:nvPr/>
        </p:nvSpPr>
        <p:spPr bwMode="auto">
          <a:xfrm>
            <a:off x="6548119" y="0"/>
            <a:ext cx="2857500" cy="1143000"/>
          </a:xfrm>
          <a:prstGeom prst="wedgeRoundRectCallout">
            <a:avLst>
              <a:gd name="adj1" fmla="val -37748"/>
              <a:gd name="adj2" fmla="val 74482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75000"/>
              </a:lnSpc>
            </a:pP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(</a:t>
            </a:r>
            <a:r>
              <a:rPr lang="zh-TW" altLang="en-US" sz="3200" dirty="0">
                <a:solidFill>
                  <a:srgbClr val="860000"/>
                </a:solidFill>
                <a:latin typeface="Times New Roman" charset="0"/>
              </a:rPr>
              <a:t>這是對小孩來說知名的謎語</a:t>
            </a:r>
            <a:r>
              <a:rPr lang="en-US" altLang="zh-TW" sz="3200" dirty="0">
                <a:solidFill>
                  <a:srgbClr val="860000"/>
                </a:solidFill>
                <a:latin typeface="Times New Roman" charset="0"/>
              </a:rPr>
              <a:t>)</a:t>
            </a:r>
            <a:endParaRPr lang="zh-TW" altLang="en-US" sz="3200" dirty="0">
              <a:solidFill>
                <a:srgbClr val="860000"/>
              </a:solidFill>
              <a:latin typeface="Times New Roman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4119" y="4067693"/>
            <a:ext cx="833883" cy="402040"/>
          </a:xfrm>
          <a:prstGeom prst="rect">
            <a:avLst/>
          </a:prstGeom>
          <a:solidFill>
            <a:schemeClr val="bg1"/>
          </a:solidFill>
        </p:spPr>
        <p:txBody>
          <a:bodyPr wrap="none" tIns="0" bIns="0">
            <a:noAutofit/>
          </a:bodyPr>
          <a:lstStyle/>
          <a:p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95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9" grpId="1" animBg="1"/>
      <p:bldP spid="10" grpId="0" animBg="1"/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26294" y="0"/>
            <a:ext cx="8077200" cy="762000"/>
          </a:xfrm>
        </p:spPr>
        <p:txBody>
          <a:bodyPr/>
          <a:lstStyle/>
          <a:p>
            <a:r>
              <a:rPr lang="en-US" altLang="zh-TW" sz="4444" b="1" spc="-463" dirty="0">
                <a:solidFill>
                  <a:srgbClr val="0070C0"/>
                </a:solidFill>
                <a:latin typeface="Lucida Console" panose="020B0609040504020204" pitchFamily="49" charset="0"/>
              </a:rPr>
              <a:t>is</a:t>
            </a:r>
            <a:endParaRPr lang="zh-TW" altLang="en-US" sz="4074" dirty="0">
              <a:latin typeface="Lucida Console" panose="020B0609040504020204" pitchFamily="49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9094" y="685800"/>
            <a:ext cx="9067800" cy="6172200"/>
          </a:xfrm>
        </p:spPr>
        <p:txBody>
          <a:bodyPr/>
          <a:lstStyle/>
          <a:p>
            <a:pPr marL="288913" indent="-288913">
              <a:spcBef>
                <a:spcPts val="1800"/>
              </a:spcBef>
              <a:buClrTx/>
            </a:pPr>
            <a:r>
              <a:rPr lang="en-US" altLang="zh-TW" sz="3200" dirty="0">
                <a:solidFill>
                  <a:srgbClr val="FF0000"/>
                </a:solidFill>
              </a:rPr>
              <a:t>Sometimes “</a:t>
            </a:r>
            <a:r>
              <a:rPr lang="en-US" altLang="zh-TW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3200" dirty="0">
                <a:solidFill>
                  <a:srgbClr val="FF0000"/>
                </a:solidFill>
              </a:rPr>
              <a:t>” gives an unexpected answer.</a:t>
            </a:r>
          </a:p>
          <a:p>
            <a:pPr marL="625448" lvl="1" indent="-276213">
              <a:spcBef>
                <a:spcPts val="600"/>
              </a:spcBef>
            </a:pPr>
            <a:r>
              <a:rPr lang="en-US" altLang="zh-TW" sz="3200" dirty="0">
                <a:solidFill>
                  <a:srgbClr val="FF0000"/>
                </a:solidFill>
              </a:rPr>
              <a:t>That is because Python might optimize to </a:t>
            </a:r>
            <a:r>
              <a:rPr lang="en-US" altLang="zh-TW" sz="3200" spc="-30" dirty="0">
                <a:solidFill>
                  <a:srgbClr val="FF0000"/>
                </a:solidFill>
              </a:rPr>
              <a:t>avoid allocating memory for immutable objects</a:t>
            </a:r>
            <a:r>
              <a:rPr lang="en-US" altLang="zh-TW" sz="3200" dirty="0">
                <a:solidFill>
                  <a:srgbClr val="FF0000"/>
                </a:solidFill>
              </a:rPr>
              <a:t> that are the same as an existing object.</a:t>
            </a:r>
          </a:p>
          <a:p>
            <a:pPr marL="288913" indent="-288913">
              <a:buClrTx/>
            </a:pPr>
            <a:r>
              <a:rPr lang="en-US" altLang="zh-TW" sz="3200" dirty="0">
                <a:solidFill>
                  <a:srgbClr val="FF0000"/>
                </a:solidFill>
              </a:rPr>
              <a:t>So:</a:t>
            </a:r>
            <a:r>
              <a:rPr lang="en-US" altLang="zh-TW" sz="2400" dirty="0">
                <a:solidFill>
                  <a:srgbClr val="FF0000"/>
                </a:solidFill>
              </a:rPr>
              <a:t>  </a:t>
            </a:r>
            <a:r>
              <a:rPr lang="en-US" altLang="zh-TW" sz="3200" dirty="0">
                <a:solidFill>
                  <a:srgbClr val="FF0000"/>
                </a:solidFill>
              </a:rPr>
              <a:t>-</a:t>
            </a: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TW" sz="3200" dirty="0">
                <a:solidFill>
                  <a:srgbClr val="FF0000"/>
                </a:solidFill>
              </a:rPr>
              <a:t>Things that are the same are the same.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/>
              <a:t>         </a:t>
            </a:r>
            <a:r>
              <a:rPr lang="en-US" altLang="zh-TW" sz="2000" dirty="0"/>
              <a:t> </a:t>
            </a:r>
            <a:r>
              <a:rPr lang="en-US" altLang="zh-TW" sz="3200" dirty="0">
                <a:solidFill>
                  <a:srgbClr val="FF0000"/>
                </a:solidFill>
              </a:rPr>
              <a:t>-</a:t>
            </a: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TW" sz="3200" dirty="0">
                <a:solidFill>
                  <a:srgbClr val="FF0000"/>
                </a:solidFill>
              </a:rPr>
              <a:t>But things you don’t think are the same </a:t>
            </a:r>
            <a:br>
              <a:rPr lang="en-US" altLang="zh-TW" sz="3200" dirty="0">
                <a:solidFill>
                  <a:srgbClr val="FF0000"/>
                </a:solidFill>
              </a:rPr>
            </a:br>
            <a:r>
              <a:rPr lang="en-US" altLang="zh-TW" sz="3200" dirty="0">
                <a:solidFill>
                  <a:srgbClr val="FF0000"/>
                </a:solidFill>
              </a:rPr>
              <a:t>       </a:t>
            </a:r>
            <a:r>
              <a:rPr lang="en-US" altLang="zh-TW" sz="2400" dirty="0">
                <a:solidFill>
                  <a:srgbClr val="FF0000"/>
                </a:solidFill>
              </a:rPr>
              <a:t>     </a:t>
            </a:r>
            <a:r>
              <a:rPr lang="en-US" altLang="zh-TW" sz="1800" dirty="0">
                <a:solidFill>
                  <a:srgbClr val="FF0000"/>
                </a:solidFill>
              </a:rPr>
              <a:t>   </a:t>
            </a:r>
            <a:r>
              <a:rPr lang="en-US" altLang="zh-TW" sz="3200" i="1" dirty="0">
                <a:solidFill>
                  <a:srgbClr val="00B050"/>
                </a:solidFill>
              </a:rPr>
              <a:t>can be</a:t>
            </a:r>
            <a:r>
              <a:rPr lang="en-US" altLang="zh-TW" sz="3200" dirty="0">
                <a:solidFill>
                  <a:srgbClr val="FF0000"/>
                </a:solidFill>
              </a:rPr>
              <a:t>, if they’re equivalent &amp;</a:t>
            </a: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TW" sz="3200" dirty="0">
                <a:solidFill>
                  <a:srgbClr val="FF0000"/>
                </a:solidFill>
              </a:rPr>
              <a:t>immutable.</a:t>
            </a:r>
          </a:p>
        </p:txBody>
      </p:sp>
    </p:spTree>
    <p:extLst>
      <p:ext uri="{BB962C8B-B14F-4D97-AF65-F5344CB8AC3E}">
        <p14:creationId xmlns:p14="http://schemas.microsoft.com/office/powerpoint/2010/main" val="211697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D4D4D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D4D4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26294" y="0"/>
            <a:ext cx="8077200" cy="762000"/>
          </a:xfrm>
        </p:spPr>
        <p:txBody>
          <a:bodyPr/>
          <a:lstStyle/>
          <a:p>
            <a:r>
              <a:rPr lang="en-US" altLang="zh-TW" sz="4444" b="1" spc="-463" dirty="0">
                <a:solidFill>
                  <a:srgbClr val="0070C0"/>
                </a:solidFill>
                <a:latin typeface="Lucida Console" panose="020B0609040504020204" pitchFamily="49" charset="0"/>
              </a:rPr>
              <a:t>is</a:t>
            </a:r>
            <a:endParaRPr lang="zh-TW" altLang="en-US" sz="4074" dirty="0">
              <a:latin typeface="Lucida Console" panose="020B0609040504020204" pitchFamily="49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9094" y="685800"/>
            <a:ext cx="9067800" cy="6172200"/>
          </a:xfrm>
        </p:spPr>
        <p:txBody>
          <a:bodyPr/>
          <a:lstStyle/>
          <a:p>
            <a:pPr marL="288913" indent="-288913">
              <a:spcBef>
                <a:spcPts val="1800"/>
              </a:spcBef>
              <a:buClrTx/>
            </a:pPr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Sometimes “</a:t>
            </a:r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” gives an unexpected answer.</a:t>
            </a:r>
          </a:p>
          <a:p>
            <a:pPr marL="625448" lvl="1" indent="-276213">
              <a:spcBef>
                <a:spcPts val="600"/>
              </a:spcBef>
            </a:pPr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That is because Python might optimize to </a:t>
            </a:r>
            <a:r>
              <a:rPr lang="en-US" altLang="zh-TW" sz="3200" spc="-3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avoid allocating memory for immutable objects</a:t>
            </a:r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that are the same as an existing object.</a:t>
            </a:r>
          </a:p>
          <a:p>
            <a:pPr marL="288913" indent="-288913">
              <a:buClr>
                <a:schemeClr val="tx1"/>
              </a:buClr>
            </a:pPr>
            <a:r>
              <a:rPr lang="en-US" altLang="zh-TW" sz="3200" dirty="0">
                <a:solidFill>
                  <a:schemeClr val="tx1"/>
                </a:solidFill>
              </a:rPr>
              <a:t>So:</a:t>
            </a:r>
            <a:r>
              <a:rPr lang="en-US" altLang="zh-TW" sz="2400" dirty="0">
                <a:solidFill>
                  <a:schemeClr val="tx1"/>
                </a:solidFill>
              </a:rPr>
              <a:t>  </a:t>
            </a:r>
            <a:r>
              <a:rPr lang="en-US" altLang="zh-TW" sz="3200" dirty="0">
                <a:solidFill>
                  <a:schemeClr val="tx1"/>
                </a:solidFill>
              </a:rPr>
              <a:t>-</a:t>
            </a:r>
            <a:r>
              <a:rPr lang="en-US" altLang="zh-TW" sz="2400" dirty="0">
                <a:solidFill>
                  <a:schemeClr val="tx1"/>
                </a:solidFill>
              </a:rPr>
              <a:t> </a:t>
            </a:r>
            <a:r>
              <a:rPr lang="en-US" altLang="zh-TW" sz="3200" dirty="0">
                <a:solidFill>
                  <a:schemeClr val="tx1"/>
                </a:solidFill>
              </a:rPr>
              <a:t>Things that are the same are the same.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/>
              <a:t>         </a:t>
            </a:r>
            <a:r>
              <a:rPr lang="en-US" altLang="zh-TW" sz="2000" dirty="0"/>
              <a:t> </a:t>
            </a:r>
            <a:r>
              <a:rPr lang="en-US" altLang="zh-TW" sz="3200" dirty="0"/>
              <a:t>-</a:t>
            </a:r>
            <a:r>
              <a:rPr lang="en-US" altLang="zh-TW" sz="2400" dirty="0"/>
              <a:t> </a:t>
            </a:r>
            <a:r>
              <a:rPr lang="en-US" altLang="zh-TW" sz="3200" dirty="0"/>
              <a:t>But things you don’t think are the same </a:t>
            </a:r>
            <a:br>
              <a:rPr lang="en-US" altLang="zh-TW" sz="3200" dirty="0"/>
            </a:br>
            <a:r>
              <a:rPr lang="en-US" altLang="zh-TW" sz="3200" dirty="0"/>
              <a:t>       </a:t>
            </a:r>
            <a:r>
              <a:rPr lang="en-US" altLang="zh-TW" sz="2400" dirty="0"/>
              <a:t>     </a:t>
            </a:r>
            <a:r>
              <a:rPr lang="en-US" altLang="zh-TW" sz="1800" dirty="0"/>
              <a:t>   </a:t>
            </a:r>
            <a:r>
              <a:rPr lang="en-US" altLang="zh-TW" sz="3200" i="1" dirty="0">
                <a:solidFill>
                  <a:srgbClr val="00B050"/>
                </a:solidFill>
              </a:rPr>
              <a:t>can be</a:t>
            </a:r>
            <a:r>
              <a:rPr lang="en-US" altLang="zh-TW" sz="3200" dirty="0"/>
              <a:t>, if they’re equivalent &amp;</a:t>
            </a:r>
            <a:r>
              <a:rPr lang="en-US" altLang="zh-TW" sz="2400" dirty="0"/>
              <a:t> </a:t>
            </a:r>
            <a:r>
              <a:rPr lang="en-US" altLang="zh-TW" sz="3200" dirty="0"/>
              <a:t>immutable.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/>
              <a:t>              </a:t>
            </a:r>
            <a:r>
              <a:rPr lang="en-US" altLang="zh-TW" sz="2800" dirty="0">
                <a:solidFill>
                  <a:srgbClr val="FF0000"/>
                </a:solidFill>
                <a:sym typeface="Wingdings" panose="05000000000000000000" pitchFamily="2" charset="2"/>
              </a:rPr>
              <a:t></a:t>
            </a:r>
            <a:r>
              <a:rPr lang="en-US" altLang="zh-TW" sz="2000" dirty="0">
                <a:solidFill>
                  <a:srgbClr val="FF0000"/>
                </a:solidFill>
                <a:sym typeface="Wingdings" panose="05000000000000000000" pitchFamily="2" charset="2"/>
              </a:rPr>
              <a:t>  </a:t>
            </a:r>
            <a:r>
              <a:rPr lang="en-US" altLang="zh-TW" sz="3200" dirty="0">
                <a:solidFill>
                  <a:srgbClr val="FF0000"/>
                </a:solidFill>
                <a:sym typeface="Wingdings" panose="05000000000000000000" pitchFamily="2" charset="2"/>
              </a:rPr>
              <a:t>But</a:t>
            </a:r>
            <a:r>
              <a:rPr lang="en-US" altLang="zh-TW" sz="32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3200" i="1" dirty="0">
                <a:solidFill>
                  <a:srgbClr val="00B050"/>
                </a:solidFill>
                <a:sym typeface="Wingdings" panose="05000000000000000000" pitchFamily="2" charset="2"/>
              </a:rPr>
              <a:t>can be</a:t>
            </a:r>
            <a:r>
              <a:rPr lang="en-US" altLang="zh-TW" sz="3200" dirty="0">
                <a:solidFill>
                  <a:srgbClr val="FF0000"/>
                </a:solidFill>
                <a:sym typeface="Wingdings" panose="05000000000000000000" pitchFamily="2" charset="2"/>
              </a:rPr>
              <a:t> doesn’t mean </a:t>
            </a:r>
            <a:r>
              <a:rPr lang="en-US" altLang="zh-TW" sz="3200" i="1" dirty="0">
                <a:solidFill>
                  <a:srgbClr val="00B050"/>
                </a:solidFill>
                <a:sym typeface="Wingdings" panose="05000000000000000000" pitchFamily="2" charset="2"/>
              </a:rPr>
              <a:t>must be</a:t>
            </a:r>
            <a:r>
              <a:rPr lang="en-US" altLang="zh-TW" sz="3200" dirty="0">
                <a:solidFill>
                  <a:srgbClr val="FF0000"/>
                </a:solidFill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5467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26294" y="0"/>
            <a:ext cx="8077200" cy="762000"/>
          </a:xfrm>
        </p:spPr>
        <p:txBody>
          <a:bodyPr/>
          <a:lstStyle/>
          <a:p>
            <a:r>
              <a:rPr lang="en-US" altLang="zh-TW" sz="4444" b="1" spc="-463" dirty="0">
                <a:solidFill>
                  <a:srgbClr val="0070C0"/>
                </a:solidFill>
                <a:latin typeface="Lucida Console" panose="020B0609040504020204" pitchFamily="49" charset="0"/>
              </a:rPr>
              <a:t>is</a:t>
            </a:r>
            <a:endParaRPr lang="zh-TW" altLang="en-US" sz="4074" dirty="0">
              <a:latin typeface="Lucida Console" panose="020B0609040504020204" pitchFamily="49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9094" y="685800"/>
            <a:ext cx="9067800" cy="6172200"/>
          </a:xfrm>
        </p:spPr>
        <p:txBody>
          <a:bodyPr/>
          <a:lstStyle/>
          <a:p>
            <a:pPr marL="288913" indent="-288913">
              <a:spcBef>
                <a:spcPts val="1800"/>
              </a:spcBef>
              <a:buClrTx/>
            </a:pPr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Sometimes “</a:t>
            </a:r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” gives an unexpected answer.</a:t>
            </a:r>
          </a:p>
          <a:p>
            <a:pPr marL="625448" lvl="1" indent="-276213">
              <a:spcBef>
                <a:spcPts val="600"/>
              </a:spcBef>
            </a:pPr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That is because Python might optimize to </a:t>
            </a:r>
            <a:r>
              <a:rPr lang="en-US" altLang="zh-TW" sz="3200" spc="-3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avoid allocating memory for immutable objects</a:t>
            </a:r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that are the same as an existing object.</a:t>
            </a:r>
          </a:p>
          <a:p>
            <a:pPr marL="288913" indent="-288913">
              <a:buClr>
                <a:schemeClr val="tx1"/>
              </a:buClr>
            </a:pPr>
            <a:r>
              <a:rPr lang="en-US" altLang="zh-TW" sz="3200" dirty="0">
                <a:solidFill>
                  <a:schemeClr val="tx1"/>
                </a:solidFill>
              </a:rPr>
              <a:t>So:</a:t>
            </a:r>
            <a:r>
              <a:rPr lang="en-US" altLang="zh-TW" sz="2400" dirty="0">
                <a:solidFill>
                  <a:schemeClr val="tx1"/>
                </a:solidFill>
              </a:rPr>
              <a:t>  </a:t>
            </a:r>
            <a:r>
              <a:rPr lang="en-US" altLang="zh-TW" sz="3200" dirty="0">
                <a:solidFill>
                  <a:schemeClr val="tx1"/>
                </a:solidFill>
              </a:rPr>
              <a:t>-</a:t>
            </a:r>
            <a:r>
              <a:rPr lang="en-US" altLang="zh-TW" sz="2400" dirty="0">
                <a:solidFill>
                  <a:schemeClr val="tx1"/>
                </a:solidFill>
              </a:rPr>
              <a:t> </a:t>
            </a:r>
            <a:r>
              <a:rPr lang="en-US" altLang="zh-TW" sz="3200" dirty="0">
                <a:solidFill>
                  <a:schemeClr val="tx1"/>
                </a:solidFill>
              </a:rPr>
              <a:t>Things that are the same are the same.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/>
              <a:t>         </a:t>
            </a:r>
            <a:r>
              <a:rPr lang="en-US" altLang="zh-TW" sz="2000" dirty="0"/>
              <a:t> </a:t>
            </a:r>
            <a:r>
              <a:rPr lang="en-US" altLang="zh-TW" sz="3200" dirty="0"/>
              <a:t>-</a:t>
            </a:r>
            <a:r>
              <a:rPr lang="en-US" altLang="zh-TW" sz="2400" dirty="0"/>
              <a:t> </a:t>
            </a:r>
            <a:r>
              <a:rPr lang="en-US" altLang="zh-TW" sz="3200" dirty="0"/>
              <a:t>But things you don’t think are the same </a:t>
            </a:r>
            <a:br>
              <a:rPr lang="en-US" altLang="zh-TW" sz="3200" dirty="0"/>
            </a:br>
            <a:r>
              <a:rPr lang="en-US" altLang="zh-TW" sz="3200" dirty="0"/>
              <a:t>       </a:t>
            </a:r>
            <a:r>
              <a:rPr lang="en-US" altLang="zh-TW" sz="2400" dirty="0"/>
              <a:t>     </a:t>
            </a:r>
            <a:r>
              <a:rPr lang="en-US" altLang="zh-TW" sz="1800" dirty="0"/>
              <a:t>   </a:t>
            </a:r>
            <a:r>
              <a:rPr lang="en-US" altLang="zh-TW" sz="3200" i="1" dirty="0">
                <a:solidFill>
                  <a:srgbClr val="00B050"/>
                </a:solidFill>
              </a:rPr>
              <a:t>can be</a:t>
            </a:r>
            <a:r>
              <a:rPr lang="en-US" altLang="zh-TW" sz="3200" dirty="0"/>
              <a:t>, if they’re equivalent &amp;</a:t>
            </a:r>
            <a:r>
              <a:rPr lang="en-US" altLang="zh-TW" sz="2400" dirty="0"/>
              <a:t> </a:t>
            </a:r>
            <a:r>
              <a:rPr lang="en-US" altLang="zh-TW" sz="3200" dirty="0"/>
              <a:t>immutable.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/>
              <a:t>              </a:t>
            </a:r>
            <a:r>
              <a:rPr lang="en-US" altLang="zh-TW" sz="2800" dirty="0">
                <a:sym typeface="Wingdings" panose="05000000000000000000" pitchFamily="2" charset="2"/>
              </a:rPr>
              <a:t></a:t>
            </a:r>
            <a:r>
              <a:rPr lang="en-US" altLang="zh-TW" sz="2000" dirty="0">
                <a:sym typeface="Wingdings" panose="05000000000000000000" pitchFamily="2" charset="2"/>
              </a:rPr>
              <a:t>  </a:t>
            </a:r>
            <a:r>
              <a:rPr lang="en-US" altLang="zh-TW" sz="3200" dirty="0">
                <a:sym typeface="Wingdings" panose="05000000000000000000" pitchFamily="2" charset="2"/>
              </a:rPr>
              <a:t>But</a:t>
            </a:r>
            <a:r>
              <a:rPr lang="en-US" altLang="zh-TW" sz="3200" i="1" dirty="0">
                <a:sym typeface="Wingdings" panose="05000000000000000000" pitchFamily="2" charset="2"/>
              </a:rPr>
              <a:t> </a:t>
            </a:r>
            <a:r>
              <a:rPr lang="en-US" altLang="zh-TW" sz="3200" i="1" dirty="0">
                <a:solidFill>
                  <a:srgbClr val="00B050"/>
                </a:solidFill>
                <a:sym typeface="Wingdings" panose="05000000000000000000" pitchFamily="2" charset="2"/>
              </a:rPr>
              <a:t>can be</a:t>
            </a:r>
            <a:r>
              <a:rPr lang="en-US" altLang="zh-TW" sz="3200" dirty="0">
                <a:sym typeface="Wingdings" panose="05000000000000000000" pitchFamily="2" charset="2"/>
              </a:rPr>
              <a:t> doesn’t mean </a:t>
            </a:r>
            <a:r>
              <a:rPr lang="en-US" altLang="zh-TW" sz="3200" i="1" dirty="0">
                <a:solidFill>
                  <a:srgbClr val="00B050"/>
                </a:solidFill>
                <a:sym typeface="Wingdings" panose="05000000000000000000" pitchFamily="2" charset="2"/>
              </a:rPr>
              <a:t>must be</a:t>
            </a:r>
            <a:r>
              <a:rPr lang="en-US" altLang="zh-TW" sz="3200" dirty="0">
                <a:sym typeface="Wingdings" panose="05000000000000000000" pitchFamily="2" charset="2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>
                <a:sym typeface="Wingdings" panose="05000000000000000000" pitchFamily="2" charset="2"/>
              </a:rPr>
              <a:t>               </a:t>
            </a:r>
            <a:r>
              <a:rPr lang="en-US" altLang="zh-TW" sz="1400" dirty="0">
                <a:sym typeface="Wingdings" panose="05000000000000000000" pitchFamily="2" charset="2"/>
              </a:rPr>
              <a:t> </a:t>
            </a:r>
            <a:r>
              <a:rPr lang="en-US" altLang="zh-TW" sz="3200" dirty="0">
                <a:solidFill>
                  <a:srgbClr val="FF0000"/>
                </a:solidFill>
                <a:sym typeface="Wingdings" panose="05000000000000000000" pitchFamily="2" charset="2"/>
              </a:rPr>
              <a:t>-</a:t>
            </a:r>
            <a:r>
              <a:rPr lang="en-US" altLang="zh-TW" sz="28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3000" dirty="0" smtClean="0">
                <a:solidFill>
                  <a:srgbClr val="FF0000"/>
                </a:solidFill>
                <a:sym typeface="Wingdings" panose="05000000000000000000" pitchFamily="2" charset="2"/>
              </a:rPr>
              <a:t>In my Python, string '/a' </a:t>
            </a:r>
            <a:r>
              <a:rPr lang="en-US" altLang="zh-TW" sz="3000" i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doesn’t</a:t>
            </a:r>
            <a:r>
              <a:rPr lang="en-US" altLang="zh-TW" sz="3000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3000" dirty="0">
                <a:solidFill>
                  <a:srgbClr val="FF0000"/>
                </a:solidFill>
                <a:sym typeface="Wingdings" panose="05000000000000000000" pitchFamily="2" charset="2"/>
              </a:rPr>
              <a:t>optimize.</a:t>
            </a:r>
          </a:p>
        </p:txBody>
      </p:sp>
    </p:spTree>
    <p:extLst>
      <p:ext uri="{BB962C8B-B14F-4D97-AF65-F5344CB8AC3E}">
        <p14:creationId xmlns:p14="http://schemas.microsoft.com/office/powerpoint/2010/main" val="18241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26294" y="0"/>
            <a:ext cx="8077200" cy="762000"/>
          </a:xfrm>
        </p:spPr>
        <p:txBody>
          <a:bodyPr/>
          <a:lstStyle/>
          <a:p>
            <a:r>
              <a:rPr lang="en-US" altLang="zh-TW" sz="4444" b="1" spc="-463" dirty="0">
                <a:solidFill>
                  <a:srgbClr val="0070C0"/>
                </a:solidFill>
                <a:latin typeface="Lucida Console" panose="020B0609040504020204" pitchFamily="49" charset="0"/>
              </a:rPr>
              <a:t>is</a:t>
            </a:r>
            <a:endParaRPr lang="zh-TW" altLang="en-US" sz="4074" dirty="0">
              <a:latin typeface="Lucida Console" panose="020B0609040504020204" pitchFamily="49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9094" y="685800"/>
            <a:ext cx="9067800" cy="6172200"/>
          </a:xfrm>
        </p:spPr>
        <p:txBody>
          <a:bodyPr/>
          <a:lstStyle/>
          <a:p>
            <a:pPr marL="288913" indent="-288913">
              <a:spcBef>
                <a:spcPts val="1800"/>
              </a:spcBef>
              <a:buClrTx/>
            </a:pPr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Sometimes “</a:t>
            </a:r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” gives an unexpected answer.</a:t>
            </a:r>
          </a:p>
          <a:p>
            <a:pPr marL="625448" lvl="1" indent="-276213">
              <a:spcBef>
                <a:spcPts val="600"/>
              </a:spcBef>
            </a:pPr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That is because Python might optimize to </a:t>
            </a:r>
            <a:r>
              <a:rPr lang="en-US" altLang="zh-TW" sz="3200" spc="-3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avoid allocating memory for immutable objects</a:t>
            </a:r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that are the same as an existing object.</a:t>
            </a:r>
          </a:p>
          <a:p>
            <a:pPr marL="288913" indent="-288913">
              <a:buClr>
                <a:schemeClr val="tx1"/>
              </a:buClr>
            </a:pPr>
            <a:r>
              <a:rPr lang="en-US" altLang="zh-TW" sz="3200" dirty="0">
                <a:solidFill>
                  <a:schemeClr val="tx1"/>
                </a:solidFill>
              </a:rPr>
              <a:t>So:</a:t>
            </a:r>
            <a:r>
              <a:rPr lang="en-US" altLang="zh-TW" sz="2400" dirty="0">
                <a:solidFill>
                  <a:schemeClr val="tx1"/>
                </a:solidFill>
              </a:rPr>
              <a:t>  </a:t>
            </a:r>
            <a:r>
              <a:rPr lang="en-US" altLang="zh-TW" sz="3200" dirty="0">
                <a:solidFill>
                  <a:schemeClr val="tx1"/>
                </a:solidFill>
              </a:rPr>
              <a:t>-</a:t>
            </a:r>
            <a:r>
              <a:rPr lang="en-US" altLang="zh-TW" sz="2400" dirty="0">
                <a:solidFill>
                  <a:schemeClr val="tx1"/>
                </a:solidFill>
              </a:rPr>
              <a:t> </a:t>
            </a:r>
            <a:r>
              <a:rPr lang="en-US" altLang="zh-TW" sz="3200" dirty="0">
                <a:solidFill>
                  <a:schemeClr val="tx1"/>
                </a:solidFill>
              </a:rPr>
              <a:t>Things that are the same are the same.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/>
              <a:t>         </a:t>
            </a:r>
            <a:r>
              <a:rPr lang="en-US" altLang="zh-TW" sz="2000" dirty="0"/>
              <a:t> </a:t>
            </a:r>
            <a:r>
              <a:rPr lang="en-US" altLang="zh-TW" sz="3200" dirty="0"/>
              <a:t>-</a:t>
            </a:r>
            <a:r>
              <a:rPr lang="en-US" altLang="zh-TW" sz="2400" dirty="0"/>
              <a:t> </a:t>
            </a:r>
            <a:r>
              <a:rPr lang="en-US" altLang="zh-TW" sz="3200" dirty="0"/>
              <a:t>But things you don’t think are the same </a:t>
            </a:r>
            <a:br>
              <a:rPr lang="en-US" altLang="zh-TW" sz="3200" dirty="0"/>
            </a:br>
            <a:r>
              <a:rPr lang="en-US" altLang="zh-TW" sz="3200" dirty="0"/>
              <a:t>       </a:t>
            </a:r>
            <a:r>
              <a:rPr lang="en-US" altLang="zh-TW" sz="2400" dirty="0"/>
              <a:t>     </a:t>
            </a:r>
            <a:r>
              <a:rPr lang="en-US" altLang="zh-TW" sz="1800" dirty="0"/>
              <a:t>   </a:t>
            </a:r>
            <a:r>
              <a:rPr lang="en-US" altLang="zh-TW" sz="3200" i="1" dirty="0">
                <a:solidFill>
                  <a:srgbClr val="00B050"/>
                </a:solidFill>
              </a:rPr>
              <a:t>can be</a:t>
            </a:r>
            <a:r>
              <a:rPr lang="en-US" altLang="zh-TW" sz="3200" dirty="0"/>
              <a:t>, if they’re equivalent &amp;</a:t>
            </a:r>
            <a:r>
              <a:rPr lang="en-US" altLang="zh-TW" sz="2400" dirty="0"/>
              <a:t> </a:t>
            </a:r>
            <a:r>
              <a:rPr lang="en-US" altLang="zh-TW" sz="3200" dirty="0"/>
              <a:t>immutable.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/>
              <a:t>              </a:t>
            </a:r>
            <a:r>
              <a:rPr lang="en-US" altLang="zh-TW" sz="2800" dirty="0">
                <a:sym typeface="Wingdings" panose="05000000000000000000" pitchFamily="2" charset="2"/>
              </a:rPr>
              <a:t></a:t>
            </a:r>
            <a:r>
              <a:rPr lang="en-US" altLang="zh-TW" sz="2000" dirty="0">
                <a:sym typeface="Wingdings" panose="05000000000000000000" pitchFamily="2" charset="2"/>
              </a:rPr>
              <a:t>  </a:t>
            </a:r>
            <a:r>
              <a:rPr lang="en-US" altLang="zh-TW" sz="3200" dirty="0">
                <a:sym typeface="Wingdings" panose="05000000000000000000" pitchFamily="2" charset="2"/>
              </a:rPr>
              <a:t>But</a:t>
            </a:r>
            <a:r>
              <a:rPr lang="en-US" altLang="zh-TW" sz="3200" i="1" dirty="0">
                <a:sym typeface="Wingdings" panose="05000000000000000000" pitchFamily="2" charset="2"/>
              </a:rPr>
              <a:t> </a:t>
            </a:r>
            <a:r>
              <a:rPr lang="en-US" altLang="zh-TW" sz="3200" i="1" dirty="0">
                <a:solidFill>
                  <a:srgbClr val="00B050"/>
                </a:solidFill>
                <a:sym typeface="Wingdings" panose="05000000000000000000" pitchFamily="2" charset="2"/>
              </a:rPr>
              <a:t>can be</a:t>
            </a:r>
            <a:r>
              <a:rPr lang="en-US" altLang="zh-TW" sz="3200" dirty="0">
                <a:sym typeface="Wingdings" panose="05000000000000000000" pitchFamily="2" charset="2"/>
              </a:rPr>
              <a:t> doesn’t mean </a:t>
            </a:r>
            <a:r>
              <a:rPr lang="en-US" altLang="zh-TW" sz="3200" i="1" dirty="0">
                <a:solidFill>
                  <a:srgbClr val="00B050"/>
                </a:solidFill>
                <a:sym typeface="Wingdings" panose="05000000000000000000" pitchFamily="2" charset="2"/>
              </a:rPr>
              <a:t>must be</a:t>
            </a:r>
            <a:r>
              <a:rPr lang="en-US" altLang="zh-TW" sz="3200" dirty="0">
                <a:sym typeface="Wingdings" panose="05000000000000000000" pitchFamily="2" charset="2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>
                <a:sym typeface="Wingdings" panose="05000000000000000000" pitchFamily="2" charset="2"/>
              </a:rPr>
              <a:t>               </a:t>
            </a:r>
            <a:r>
              <a:rPr lang="en-US" altLang="zh-TW" sz="1400" dirty="0">
                <a:sym typeface="Wingdings" panose="05000000000000000000" pitchFamily="2" charset="2"/>
              </a:rPr>
              <a:t> </a:t>
            </a:r>
            <a:r>
              <a:rPr lang="en-US" altLang="zh-TW" sz="3200" dirty="0">
                <a:sym typeface="Wingdings" panose="05000000000000000000" pitchFamily="2" charset="2"/>
              </a:rPr>
              <a:t>-</a:t>
            </a:r>
            <a:r>
              <a:rPr lang="en-US" altLang="zh-TW" sz="2800" dirty="0">
                <a:sym typeface="Wingdings" panose="05000000000000000000" pitchFamily="2" charset="2"/>
              </a:rPr>
              <a:t> </a:t>
            </a:r>
            <a:r>
              <a:rPr lang="en-US" altLang="zh-TW" sz="3000" dirty="0">
                <a:solidFill>
                  <a:srgbClr val="FF0000"/>
                </a:solidFill>
                <a:sym typeface="Wingdings" panose="05000000000000000000" pitchFamily="2" charset="2"/>
              </a:rPr>
              <a:t>In my Python, string '/a' </a:t>
            </a:r>
            <a:r>
              <a:rPr lang="en-US" altLang="zh-TW" sz="3000" i="1" dirty="0">
                <a:solidFill>
                  <a:srgbClr val="0033CC"/>
                </a:solidFill>
                <a:sym typeface="Wingdings" panose="05000000000000000000" pitchFamily="2" charset="2"/>
              </a:rPr>
              <a:t>doesn’t</a:t>
            </a:r>
            <a:r>
              <a:rPr lang="en-US" altLang="zh-TW" sz="3000" dirty="0">
                <a:solidFill>
                  <a:srgbClr val="FF0000"/>
                </a:solidFill>
                <a:sym typeface="Wingdings" panose="05000000000000000000" pitchFamily="2" charset="2"/>
              </a:rPr>
              <a:t> optimize.</a:t>
            </a:r>
            <a:endParaRPr lang="en-US" altLang="zh-TW" sz="3200" dirty="0">
              <a:sym typeface="Wingdings" panose="05000000000000000000" pitchFamily="2" charset="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>
                <a:sym typeface="Wingdings" panose="05000000000000000000" pitchFamily="2" charset="2"/>
              </a:rPr>
              <a:t>               </a:t>
            </a:r>
            <a:r>
              <a:rPr lang="en-US" altLang="zh-TW" sz="1400" dirty="0">
                <a:sym typeface="Wingdings" panose="05000000000000000000" pitchFamily="2" charset="2"/>
              </a:rPr>
              <a:t> </a:t>
            </a:r>
            <a:r>
              <a:rPr lang="en-US" altLang="zh-TW" sz="3200" dirty="0">
                <a:solidFill>
                  <a:srgbClr val="FF0000"/>
                </a:solidFill>
                <a:sym typeface="Wingdings" panose="05000000000000000000" pitchFamily="2" charset="2"/>
              </a:rPr>
              <a:t>-</a:t>
            </a:r>
            <a:r>
              <a:rPr lang="en-US" altLang="zh-TW" sz="28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3200" dirty="0">
                <a:solidFill>
                  <a:srgbClr val="FF0000"/>
                </a:solidFill>
                <a:sym typeface="Wingdings" panose="05000000000000000000" pitchFamily="2" charset="2"/>
              </a:rPr>
              <a:t>Some tuples </a:t>
            </a:r>
            <a:r>
              <a:rPr lang="en-US" altLang="zh-TW" sz="3200" dirty="0" smtClean="0">
                <a:solidFill>
                  <a:srgbClr val="FF0000"/>
                </a:solidFill>
                <a:sym typeface="Wingdings" panose="05000000000000000000" pitchFamily="2" charset="2"/>
              </a:rPr>
              <a:t>could get optimized too.</a:t>
            </a:r>
            <a:endParaRPr lang="en-US" altLang="zh-TW" sz="32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zh-TW" sz="3200" b="1" dirty="0">
                <a:sym typeface="Wingdings" panose="05000000000000000000" pitchFamily="2" charset="2"/>
              </a:rPr>
              <a:t>The point</a:t>
            </a:r>
            <a:r>
              <a:rPr lang="en-US" altLang="zh-TW" sz="3200" dirty="0">
                <a:sym typeface="Wingdings" panose="05000000000000000000" pitchFamily="2" charset="2"/>
              </a:rPr>
              <a:t>: </a:t>
            </a:r>
            <a:r>
              <a:rPr lang="en-US" altLang="zh-TW" sz="3200" dirty="0">
                <a:solidFill>
                  <a:srgbClr val="FF0000"/>
                </a:solidFill>
                <a:sym typeface="Wingdings" panose="05000000000000000000" pitchFamily="2" charset="2"/>
              </a:rPr>
              <a:t>Things for which you think</a:t>
            </a:r>
            <a:r>
              <a:rPr lang="en-US" altLang="zh-TW" sz="3200" dirty="0">
                <a:sym typeface="Wingdings" panose="05000000000000000000" pitchFamily="2" charset="2"/>
              </a:rPr>
              <a:t> </a:t>
            </a:r>
            <a:r>
              <a:rPr lang="en-US" altLang="zh-TW" sz="3200" dirty="0">
                <a:solidFill>
                  <a:srgbClr val="0033CC"/>
                </a:solidFill>
                <a:latin typeface="Lucida Console" panose="020B0609040504020204" pitchFamily="49" charset="0"/>
                <a:sym typeface="Wingdings" panose="05000000000000000000" pitchFamily="2" charset="2"/>
              </a:rPr>
              <a:t>is</a:t>
            </a:r>
            <a:r>
              <a:rPr lang="en-US" altLang="zh-TW" sz="3200" dirty="0">
                <a:sym typeface="Wingdings" panose="05000000000000000000" pitchFamily="2" charset="2"/>
              </a:rPr>
              <a:t> </a:t>
            </a:r>
            <a:r>
              <a:rPr lang="en-US" altLang="zh-TW" sz="3200" dirty="0">
                <a:solidFill>
                  <a:srgbClr val="FF0000"/>
                </a:solidFill>
                <a:sym typeface="Wingdings" panose="05000000000000000000" pitchFamily="2" charset="2"/>
              </a:rPr>
              <a:t>should</a:t>
            </a:r>
            <a:br>
              <a:rPr lang="en-US" altLang="zh-TW" sz="3200" dirty="0">
                <a:solidFill>
                  <a:srgbClr val="FF0000"/>
                </a:solidFill>
                <a:sym typeface="Wingdings" panose="05000000000000000000" pitchFamily="2" charset="2"/>
              </a:rPr>
            </a:br>
            <a:r>
              <a:rPr lang="en-US" altLang="zh-TW" sz="3200" dirty="0">
                <a:solidFill>
                  <a:srgbClr val="FF0000"/>
                </a:solidFill>
                <a:sym typeface="Wingdings" panose="05000000000000000000" pitchFamily="2" charset="2"/>
              </a:rPr>
              <a:t>                </a:t>
            </a:r>
            <a:r>
              <a:rPr lang="en-US" altLang="zh-TW" sz="2400" dirty="0">
                <a:solidFill>
                  <a:srgbClr val="FF0000"/>
                </a:solidFill>
                <a:sym typeface="Wingdings" panose="05000000000000000000" pitchFamily="2" charset="2"/>
              </a:rPr>
              <a:t>   </a:t>
            </a:r>
            <a:r>
              <a:rPr lang="en-US" altLang="zh-TW" sz="3200" dirty="0">
                <a:solidFill>
                  <a:srgbClr val="FF0000"/>
                </a:solidFill>
                <a:sym typeface="Wingdings" panose="05000000000000000000" pitchFamily="2" charset="2"/>
              </a:rPr>
              <a:t>return</a:t>
            </a:r>
            <a:r>
              <a:rPr lang="en-US" altLang="zh-TW" sz="3200" dirty="0">
                <a:sym typeface="Wingdings" panose="05000000000000000000" pitchFamily="2" charset="2"/>
              </a:rPr>
              <a:t> </a:t>
            </a:r>
            <a:r>
              <a:rPr lang="en-US" altLang="zh-TW" sz="3200" dirty="0">
                <a:solidFill>
                  <a:srgbClr val="0033CC"/>
                </a:solidFill>
                <a:latin typeface="Lucida Console" panose="020B0609040504020204" pitchFamily="49" charset="0"/>
                <a:sym typeface="Wingdings" panose="05000000000000000000" pitchFamily="2" charset="2"/>
              </a:rPr>
              <a:t>True</a:t>
            </a:r>
            <a:r>
              <a:rPr lang="en-US" altLang="zh-TW" sz="3200" dirty="0">
                <a:sym typeface="Wingdings" panose="05000000000000000000" pitchFamily="2" charset="2"/>
              </a:rPr>
              <a:t> </a:t>
            </a:r>
            <a:r>
              <a:rPr lang="en-US" altLang="zh-TW" sz="3200" dirty="0">
                <a:solidFill>
                  <a:srgbClr val="FF0000"/>
                </a:solidFill>
                <a:sym typeface="Wingdings" panose="05000000000000000000" pitchFamily="2" charset="2"/>
              </a:rPr>
              <a:t>will </a:t>
            </a:r>
            <a:r>
              <a:rPr lang="en-US" altLang="zh-TW" sz="3200" dirty="0">
                <a:solidFill>
                  <a:srgbClr val="00B050"/>
                </a:solidFill>
                <a:sym typeface="Wingdings" panose="05000000000000000000" pitchFamily="2" charset="2"/>
              </a:rPr>
              <a:t>always</a:t>
            </a:r>
            <a:r>
              <a:rPr lang="en-US" altLang="zh-TW" sz="3200" dirty="0">
                <a:solidFill>
                  <a:srgbClr val="FF0000"/>
                </a:solidFill>
                <a:sym typeface="Wingdings" panose="05000000000000000000" pitchFamily="2" charset="2"/>
              </a:rPr>
              <a:t> do so.</a:t>
            </a:r>
            <a:endParaRPr lang="en-US" altLang="zh-TW" sz="3200" dirty="0">
              <a:solidFill>
                <a:srgbClr val="FF0000"/>
              </a:solidFill>
            </a:endParaRP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2883695" y="2514600"/>
            <a:ext cx="4914900" cy="2209800"/>
          </a:xfrm>
          <a:prstGeom prst="wedgeRoundRectCallout">
            <a:avLst>
              <a:gd name="adj1" fmla="val 19355"/>
              <a:gd name="adj2" fmla="val 129440"/>
              <a:gd name="adj3" fmla="val 16667"/>
            </a:avLst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6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I’m just trying to save you from confusion if the 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 operator ever returns True but you’d expected False…</a:t>
            </a:r>
            <a:endParaRPr lang="zh-TW" altLang="en-US" sz="3200" dirty="0">
              <a:solidFill>
                <a:srgbClr val="00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77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701327"/>
              </p:ext>
            </p:extLst>
          </p:nvPr>
        </p:nvGraphicFramePr>
        <p:xfrm>
          <a:off x="140494" y="914400"/>
          <a:ext cx="9448800" cy="5766816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629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**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Exponentiation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~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-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NOT, Positive (unary +), Negative (unary -) 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/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%  //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Multiply and divide-based operations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Addition and subtraction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&gt;&gt;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&lt;&lt;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Shifts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&amp;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^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XOR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|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4937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&lt;=  &lt;  &gt;  &gt;=  ==  !=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/>
                      </a:r>
                      <a:b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in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 not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Comparison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tests, including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tests for </a:t>
                      </a:r>
                      <a:b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 and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identity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NOT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and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AND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or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729742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</a:rPr>
              <a:t>Operator Precedence (</a:t>
            </a:r>
            <a:r>
              <a:rPr lang="zh-TW" altLang="en-US" sz="4800" dirty="0">
                <a:solidFill>
                  <a:srgbClr val="0070C0"/>
                </a:solidFill>
                <a:latin typeface="Elephant" panose="02020904090505020303" pitchFamily="18" charset="0"/>
                <a:ea typeface="新細明體" panose="02020500000000000000" pitchFamily="18" charset="-120"/>
              </a:rPr>
              <a:t>优先权</a:t>
            </a:r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0944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8355154"/>
              </p:ext>
            </p:extLst>
          </p:nvPr>
        </p:nvGraphicFramePr>
        <p:xfrm>
          <a:off x="140494" y="914400"/>
          <a:ext cx="9448800" cy="5766816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629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**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Exponentiation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~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-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NOT, Positive (unary +), Negative (unary -) 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/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%  //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Multiply and divide-based operations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Addition and subtraction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&gt;&gt;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&lt;&lt;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Shifts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&amp;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^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XOR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|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4937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&lt;=  &lt;  &gt;  &gt;=  ==  !=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/>
                      </a:r>
                      <a:b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in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 not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Comparison tests, including tests for </a:t>
                      </a:r>
                      <a:b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 and identity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NOT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and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AND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or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729742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</a:rPr>
              <a:t>Operator Precedence (</a:t>
            </a:r>
            <a:r>
              <a:rPr lang="zh-TW" altLang="en-US" sz="4800" dirty="0">
                <a:solidFill>
                  <a:srgbClr val="0070C0"/>
                </a:solidFill>
                <a:latin typeface="Elephant" panose="02020904090505020303" pitchFamily="18" charset="0"/>
                <a:ea typeface="新細明體" panose="02020500000000000000" pitchFamily="18" charset="-120"/>
              </a:rPr>
              <a:t>优先权</a:t>
            </a:r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9905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69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"/>
    </mc:Choice>
    <mc:Fallback xmlns="">
      <p:transition spd="slow" advTm="100"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sz="2600" spc="-7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7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_)[-72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:]</a:t>
            </a:r>
            <a:r>
              <a:rPr lang="en-US" sz="2600" spc="-1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#Shows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all </a:t>
            </a:r>
            <a:r>
              <a:rPr lang="en-US" sz="2600" spc="-1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Python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functions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'abs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'all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'any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'bin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'bool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'bytes'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'callable'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'compile'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'complex'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'copyright'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'credits'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'enumerate'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'exec'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'filter'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'float'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'format'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'hash'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'help'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'input'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'round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</a:b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81000" y="762000"/>
            <a:ext cx="521494" cy="30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E266"/>
                </a:solidFill>
              </a:rPr>
              <a:t>Ty</a:t>
            </a:r>
            <a:r>
              <a:rPr lang="en-US" altLang="en-US" sz="4200" spc="-100" dirty="0" smtClean="0">
                <a:solidFill>
                  <a:srgbClr val="00E266"/>
                </a:solidFill>
              </a:rPr>
              <a:t>p</a:t>
            </a:r>
            <a:r>
              <a:rPr lang="en-US" altLang="en-US" sz="4200" spc="-200" dirty="0" smtClean="0">
                <a:solidFill>
                  <a:srgbClr val="00E266"/>
                </a:solidFill>
              </a:rPr>
              <a:t>e Conv</a:t>
            </a:r>
            <a:r>
              <a:rPr lang="en-US" altLang="en-US" sz="4200" spc="-50" dirty="0" smtClean="0">
                <a:solidFill>
                  <a:srgbClr val="00E266"/>
                </a:solidFill>
              </a:rPr>
              <a:t>ers</a:t>
            </a:r>
            <a:r>
              <a:rPr lang="en-US" altLang="en-US" sz="4200" spc="-200" dirty="0" smtClean="0">
                <a:solidFill>
                  <a:srgbClr val="00E266"/>
                </a:solidFill>
              </a:rPr>
              <a:t>ion 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&amp;</a:t>
            </a:r>
            <a:r>
              <a:rPr lang="en-US" altLang="en-US" sz="4200" spc="-200" dirty="0" smtClean="0">
                <a:solidFill>
                  <a:srgbClr val="FFC000"/>
                </a:solidFill>
              </a:rPr>
              <a:t> </a:t>
            </a:r>
            <a:r>
              <a:rPr lang="en-US" altLang="en-US" sz="4200" spc="-120" dirty="0" smtClean="0">
                <a:solidFill>
                  <a:srgbClr val="FFC000"/>
                </a:solidFill>
              </a:rPr>
              <a:t>O</a:t>
            </a:r>
            <a:r>
              <a:rPr lang="en-US" altLang="en-US" sz="4200" spc="-80" dirty="0" smtClean="0">
                <a:solidFill>
                  <a:srgbClr val="FFC000"/>
                </a:solidFill>
              </a:rPr>
              <a:t>t</a:t>
            </a:r>
            <a:r>
              <a:rPr lang="en-US" altLang="en-US" sz="4200" spc="-200" dirty="0" smtClean="0">
                <a:solidFill>
                  <a:srgbClr val="FFC000"/>
                </a:solidFill>
              </a:rPr>
              <a:t>h</a:t>
            </a:r>
            <a:r>
              <a:rPr lang="en-US" altLang="en-US" sz="4200" spc="-110" dirty="0" smtClean="0">
                <a:solidFill>
                  <a:srgbClr val="FFC000"/>
                </a:solidFill>
              </a:rPr>
              <a:t>e</a:t>
            </a:r>
            <a:r>
              <a:rPr lang="en-US" altLang="en-US" sz="4200" spc="-200" dirty="0" smtClean="0">
                <a:solidFill>
                  <a:srgbClr val="FFC000"/>
                </a:solidFill>
              </a:rPr>
              <a:t>r </a:t>
            </a:r>
            <a:r>
              <a:rPr lang="en-US" altLang="en-US" sz="4200" spc="-100" dirty="0" smtClean="0">
                <a:solidFill>
                  <a:srgbClr val="FFC00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FFC00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FFC00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FFC000"/>
                </a:solidFill>
              </a:rPr>
              <a:t>ions</a:t>
            </a:r>
            <a:endParaRPr lang="en-US" altLang="en-US" sz="4200" spc="-200" dirty="0">
              <a:solidFill>
                <a:srgbClr val="FFC000"/>
              </a:solidFill>
            </a:endParaRPr>
          </a:p>
        </p:txBody>
      </p:sp>
      <p:sp>
        <p:nvSpPr>
          <p:cNvPr id="12" name="Trapezoid 11"/>
          <p:cNvSpPr/>
          <p:nvPr/>
        </p:nvSpPr>
        <p:spPr bwMode="auto">
          <a:xfrm rot="2700000" flipH="1">
            <a:off x="7351365" y="435836"/>
            <a:ext cx="3125129" cy="783857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70000"/>
              </a:lnSpc>
              <a:spcBef>
                <a:spcPts val="600"/>
              </a:spcBef>
              <a:spcAft>
                <a:spcPct val="0"/>
              </a:spcAft>
            </a:pPr>
            <a:endParaRPr kumimoji="1" lang="en-US" sz="300" spc="-200" dirty="0" smtClean="0">
              <a:solidFill>
                <a:prstClr val="black"/>
              </a:solidFill>
              <a:latin typeface="Arial" charset="0"/>
              <a:ea typeface="新細明體" charset="-120"/>
            </a:endParaRPr>
          </a:p>
          <a:p>
            <a:pPr algn="ctr" fontAlgn="base">
              <a:lnSpc>
                <a:spcPct val="70000"/>
              </a:lnSpc>
              <a:spcAft>
                <a:spcPct val="0"/>
              </a:spcAft>
            </a:pPr>
            <a:r>
              <a:rPr kumimoji="1" lang="en-US" sz="2800" spc="-20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L</a:t>
            </a:r>
            <a:r>
              <a:rPr kumimoji="1" lang="en-US" sz="2800" spc="-7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e</a:t>
            </a:r>
            <a:r>
              <a:rPr kumimoji="1" lang="en-US" sz="2800" spc="-6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ct</a:t>
            </a:r>
            <a:r>
              <a:rPr kumimoji="1" lang="en-US" sz="2800" spc="-7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u</a:t>
            </a:r>
            <a:r>
              <a:rPr kumimoji="1" lang="en-US" sz="2800" spc="-6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re</a:t>
            </a:r>
            <a:r>
              <a:rPr kumimoji="1" lang="en-US" sz="1200" spc="-6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 </a:t>
            </a:r>
            <a:r>
              <a:rPr kumimoji="1" lang="en-US" sz="2800" spc="-6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3</a:t>
            </a:r>
            <a:r>
              <a:rPr kumimoji="1" lang="en-US" sz="280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/>
            </a:r>
            <a:br>
              <a:rPr kumimoji="1" lang="en-US" sz="280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</a:br>
            <a:r>
              <a:rPr kumimoji="1" lang="en-US" sz="280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Slide 73</a:t>
            </a:r>
            <a:endParaRPr kumimoji="1" lang="en-US" sz="2800" dirty="0">
              <a:solidFill>
                <a:prstClr val="black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1893094" y="1676400"/>
            <a:ext cx="6934200" cy="609600"/>
          </a:xfrm>
          <a:prstGeom prst="wedgeRoundRectCallout">
            <a:avLst>
              <a:gd name="adj1" fmla="val -37355"/>
              <a:gd name="adj2" fmla="val -151632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it says right here, these are "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built-ins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".</a:t>
            </a: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4865688" y="3124200"/>
            <a:ext cx="3733800" cy="914400"/>
          </a:xfrm>
          <a:prstGeom prst="wedgeRoundRectCallout">
            <a:avLst>
              <a:gd name="adj1" fmla="val -57858"/>
              <a:gd name="adj2" fmla="val -124655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are all of the built-in functions.</a:t>
            </a:r>
          </a:p>
        </p:txBody>
      </p:sp>
      <p:sp>
        <p:nvSpPr>
          <p:cNvPr id="15" name="Rounded Rectangular Callout 14"/>
          <p:cNvSpPr/>
          <p:nvPr/>
        </p:nvSpPr>
        <p:spPr bwMode="auto">
          <a:xfrm>
            <a:off x="369094" y="2895600"/>
            <a:ext cx="4343400" cy="1143000"/>
          </a:xfrm>
          <a:prstGeom prst="wedgeRoundRectCallout">
            <a:avLst>
              <a:gd name="adj1" fmla="val 70906"/>
              <a:gd name="adj2" fmla="val 24880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But languages can also have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standard functions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that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aren't built-in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6" name="Rounded Rectangular Callout 15"/>
          <p:cNvSpPr/>
          <p:nvPr/>
        </p:nvSpPr>
        <p:spPr bwMode="auto">
          <a:xfrm>
            <a:off x="545824" y="4267200"/>
            <a:ext cx="4343400" cy="1616149"/>
          </a:xfrm>
          <a:prstGeom prst="wedgeRoundRectCallout">
            <a:avLst>
              <a:gd name="adj1" fmla="val -4491"/>
              <a:gd name="adj2" fmla="val -77135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Isn't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printf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 a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standard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 function? But it isn't 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solidFill>
                  <a:srgbClr val="FFC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built-in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you have to #include &lt;</a:t>
            </a:r>
            <a:r>
              <a:rPr kumimoji="0" lang="en-US" sz="2800" b="0" i="0" u="none" strike="noStrike" cap="none" normalizeH="0" dirty="0" err="1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stdio.h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&gt;</a:t>
            </a:r>
            <a:endParaRPr kumimoji="0" lang="en-US" sz="2800" b="0" i="0" u="none" strike="noStrike" cap="none" normalizeH="0" baseline="0" dirty="0" smtClean="0">
              <a:ln>
                <a:noFill/>
              </a:ln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ounded Rectangular Callout 18"/>
          <p:cNvSpPr/>
          <p:nvPr/>
        </p:nvSpPr>
        <p:spPr bwMode="auto">
          <a:xfrm>
            <a:off x="5093494" y="4267200"/>
            <a:ext cx="4343400" cy="1219200"/>
          </a:xfrm>
          <a:prstGeom prst="wedgeRoundRectCallout">
            <a:avLst>
              <a:gd name="adj1" fmla="val -88212"/>
              <a:gd name="adj2" fmla="val -73546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 what about C's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functions, which require</a:t>
            </a:r>
            <a:b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#include &lt;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math.h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&gt;</a:t>
            </a:r>
          </a:p>
        </p:txBody>
      </p:sp>
      <p:sp>
        <p:nvSpPr>
          <p:cNvPr id="20" name="Rounded Rectangular Callout 19"/>
          <p:cNvSpPr/>
          <p:nvPr/>
        </p:nvSpPr>
        <p:spPr bwMode="auto">
          <a:xfrm>
            <a:off x="5093494" y="5715000"/>
            <a:ext cx="4343400" cy="1143000"/>
          </a:xfrm>
          <a:prstGeom prst="wedgeRoundRectCallout">
            <a:avLst>
              <a:gd name="adj1" fmla="val 14359"/>
              <a:gd name="adj2" fmla="val -82383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E266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Python also has math functions.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But instead of</a:t>
            </a:r>
            <a:b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#include, it uses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6133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14" grpId="0" animBg="1"/>
      <p:bldP spid="15" grpId="0" animBg="1"/>
      <p:bldP spid="16" grpId="0" animBg="1"/>
      <p:bldP spid="19" grpId="0" animBg="1"/>
      <p:bldP spid="2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sz="2600" spc="-7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7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_)[-72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:]</a:t>
            </a:r>
            <a:r>
              <a:rPr lang="en-US" sz="2600" spc="-1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#Shows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all </a:t>
            </a:r>
            <a:r>
              <a:rPr lang="en-US" sz="2600" spc="-1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Python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functions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'abs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'all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'any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'bin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'bool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'bytes'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'callable'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'compile'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'complex'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'copyright'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'credits'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'enumerate'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'exec'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'filter'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'float'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'format'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'hash'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'help'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'input'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'round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import(math)</a:t>
            </a: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 smtClean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81000" y="762000"/>
            <a:ext cx="521494" cy="30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4865688" y="3124200"/>
            <a:ext cx="3733800" cy="914400"/>
          </a:xfrm>
          <a:prstGeom prst="wedgeRoundRectCallout">
            <a:avLst>
              <a:gd name="adj1" fmla="val -57858"/>
              <a:gd name="adj2" fmla="val -124655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are all of the built-in functions.</a:t>
            </a:r>
          </a:p>
        </p:txBody>
      </p:sp>
      <p:sp>
        <p:nvSpPr>
          <p:cNvPr id="15" name="Rounded Rectangular Callout 14"/>
          <p:cNvSpPr/>
          <p:nvPr/>
        </p:nvSpPr>
        <p:spPr bwMode="auto">
          <a:xfrm>
            <a:off x="369094" y="2895600"/>
            <a:ext cx="4343400" cy="1143000"/>
          </a:xfrm>
          <a:prstGeom prst="wedgeRoundRectCallout">
            <a:avLst>
              <a:gd name="adj1" fmla="val 70906"/>
              <a:gd name="adj2" fmla="val 24880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But languages can also have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standard functions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that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aren't built-in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6" name="Rounded Rectangular Callout 15"/>
          <p:cNvSpPr/>
          <p:nvPr/>
        </p:nvSpPr>
        <p:spPr bwMode="auto">
          <a:xfrm>
            <a:off x="545824" y="4267200"/>
            <a:ext cx="4343400" cy="1616149"/>
          </a:xfrm>
          <a:prstGeom prst="wedgeRoundRectCallout">
            <a:avLst>
              <a:gd name="adj1" fmla="val -4491"/>
              <a:gd name="adj2" fmla="val -77135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Isn't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printf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 a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standard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 function? But it isn't 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solidFill>
                  <a:srgbClr val="FFC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built-in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you have to #include &lt;</a:t>
            </a:r>
            <a:r>
              <a:rPr kumimoji="0" lang="en-US" sz="2800" b="0" i="0" u="none" strike="noStrike" cap="none" normalizeH="0" dirty="0" err="1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stdio.h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&gt;</a:t>
            </a:r>
            <a:endParaRPr kumimoji="0" lang="en-US" sz="2800" b="0" i="0" u="none" strike="noStrike" cap="none" normalizeH="0" baseline="0" dirty="0" smtClean="0">
              <a:ln>
                <a:noFill/>
              </a:ln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ounded Rectangular Callout 18"/>
          <p:cNvSpPr/>
          <p:nvPr/>
        </p:nvSpPr>
        <p:spPr bwMode="auto">
          <a:xfrm>
            <a:off x="5093494" y="4267200"/>
            <a:ext cx="4343400" cy="1219200"/>
          </a:xfrm>
          <a:prstGeom prst="wedgeRoundRectCallout">
            <a:avLst>
              <a:gd name="adj1" fmla="val -88212"/>
              <a:gd name="adj2" fmla="val -73546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 what about C's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functions, which require</a:t>
            </a:r>
            <a:b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#include &lt;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math.h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&gt;</a:t>
            </a:r>
          </a:p>
        </p:txBody>
      </p:sp>
      <p:sp>
        <p:nvSpPr>
          <p:cNvPr id="20" name="Rounded Rectangular Callout 19"/>
          <p:cNvSpPr/>
          <p:nvPr/>
        </p:nvSpPr>
        <p:spPr bwMode="auto">
          <a:xfrm>
            <a:off x="5093494" y="5715000"/>
            <a:ext cx="4343400" cy="1143000"/>
          </a:xfrm>
          <a:prstGeom prst="wedgeRoundRectCallout">
            <a:avLst>
              <a:gd name="adj1" fmla="val -99227"/>
              <a:gd name="adj2" fmla="val -4244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E266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Python also has math functions.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But instead of</a:t>
            </a:r>
            <a:b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#include, it uses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112294" y="610819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E266"/>
                </a:solidFill>
              </a:rPr>
              <a:t>Ty</a:t>
            </a:r>
            <a:r>
              <a:rPr lang="en-US" altLang="en-US" sz="4200" spc="-100" dirty="0" smtClean="0">
                <a:solidFill>
                  <a:srgbClr val="00E266"/>
                </a:solidFill>
              </a:rPr>
              <a:t>p</a:t>
            </a:r>
            <a:r>
              <a:rPr lang="en-US" altLang="en-US" sz="4200" spc="-200" dirty="0" smtClean="0">
                <a:solidFill>
                  <a:srgbClr val="00E266"/>
                </a:solidFill>
              </a:rPr>
              <a:t>e Conv</a:t>
            </a:r>
            <a:r>
              <a:rPr lang="en-US" altLang="en-US" sz="4200" spc="-50" dirty="0" smtClean="0">
                <a:solidFill>
                  <a:srgbClr val="00E266"/>
                </a:solidFill>
              </a:rPr>
              <a:t>ers</a:t>
            </a:r>
            <a:r>
              <a:rPr lang="en-US" altLang="en-US" sz="4200" spc="-200" dirty="0" smtClean="0">
                <a:solidFill>
                  <a:srgbClr val="00E266"/>
                </a:solidFill>
              </a:rPr>
              <a:t>ion 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&amp;</a:t>
            </a:r>
            <a:r>
              <a:rPr lang="en-US" altLang="en-US" sz="4200" spc="-200" dirty="0" smtClean="0">
                <a:solidFill>
                  <a:srgbClr val="FFC000"/>
                </a:solidFill>
              </a:rPr>
              <a:t> </a:t>
            </a:r>
            <a:r>
              <a:rPr lang="en-US" altLang="en-US" sz="4200" spc="-120" dirty="0" smtClean="0">
                <a:solidFill>
                  <a:srgbClr val="FFC000"/>
                </a:solidFill>
              </a:rPr>
              <a:t>O</a:t>
            </a:r>
            <a:r>
              <a:rPr lang="en-US" altLang="en-US" sz="4200" spc="-80" dirty="0" smtClean="0">
                <a:solidFill>
                  <a:srgbClr val="FFC000"/>
                </a:solidFill>
              </a:rPr>
              <a:t>t</a:t>
            </a:r>
            <a:r>
              <a:rPr lang="en-US" altLang="en-US" sz="4200" spc="-200" dirty="0" smtClean="0">
                <a:solidFill>
                  <a:srgbClr val="FFC000"/>
                </a:solidFill>
              </a:rPr>
              <a:t>h</a:t>
            </a:r>
            <a:r>
              <a:rPr lang="en-US" altLang="en-US" sz="4200" spc="-110" dirty="0" smtClean="0">
                <a:solidFill>
                  <a:srgbClr val="FFC000"/>
                </a:solidFill>
              </a:rPr>
              <a:t>e</a:t>
            </a:r>
            <a:r>
              <a:rPr lang="en-US" altLang="en-US" sz="4200" spc="-200" dirty="0" smtClean="0">
                <a:solidFill>
                  <a:srgbClr val="FFC000"/>
                </a:solidFill>
              </a:rPr>
              <a:t>r </a:t>
            </a:r>
            <a:r>
              <a:rPr lang="en-US" altLang="en-US" sz="4200" spc="-100" dirty="0" smtClean="0">
                <a:solidFill>
                  <a:srgbClr val="FFC00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FFC00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FFC00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FFC000"/>
                </a:solidFill>
              </a:rPr>
              <a:t>ions</a:t>
            </a:r>
            <a:endParaRPr lang="en-US" altLang="en-US" sz="4200" spc="-200" dirty="0">
              <a:solidFill>
                <a:srgbClr val="FFC000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1906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Importing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  <p:sp>
        <p:nvSpPr>
          <p:cNvPr id="12" name="Trapezoid 11"/>
          <p:cNvSpPr/>
          <p:nvPr/>
        </p:nvSpPr>
        <p:spPr bwMode="auto">
          <a:xfrm rot="2700000" flipH="1">
            <a:off x="7351365" y="435836"/>
            <a:ext cx="3125129" cy="783857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70000"/>
              </a:lnSpc>
              <a:spcBef>
                <a:spcPts val="600"/>
              </a:spcBef>
              <a:spcAft>
                <a:spcPct val="0"/>
              </a:spcAft>
            </a:pPr>
            <a:endParaRPr kumimoji="1" lang="en-US" sz="300" spc="-200" dirty="0" smtClean="0">
              <a:solidFill>
                <a:prstClr val="black"/>
              </a:solidFill>
              <a:latin typeface="Arial" charset="0"/>
              <a:ea typeface="新細明體" charset="-120"/>
            </a:endParaRPr>
          </a:p>
          <a:p>
            <a:pPr algn="ctr" fontAlgn="base">
              <a:lnSpc>
                <a:spcPct val="70000"/>
              </a:lnSpc>
              <a:spcAft>
                <a:spcPct val="0"/>
              </a:spcAft>
            </a:pPr>
            <a:r>
              <a:rPr kumimoji="1" lang="en-US" sz="2800" spc="-20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L</a:t>
            </a:r>
            <a:r>
              <a:rPr kumimoji="1" lang="en-US" sz="2800" spc="-7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e</a:t>
            </a:r>
            <a:r>
              <a:rPr kumimoji="1" lang="en-US" sz="2800" spc="-6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ct</a:t>
            </a:r>
            <a:r>
              <a:rPr kumimoji="1" lang="en-US" sz="2800" spc="-7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u</a:t>
            </a:r>
            <a:r>
              <a:rPr kumimoji="1" lang="en-US" sz="2800" spc="-6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re</a:t>
            </a:r>
            <a:r>
              <a:rPr kumimoji="1" lang="en-US" sz="1200" spc="-6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 </a:t>
            </a:r>
            <a:r>
              <a:rPr kumimoji="1" lang="en-US" sz="2800" spc="-6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3</a:t>
            </a:r>
            <a:r>
              <a:rPr kumimoji="1" lang="en-US" sz="280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/>
            </a:r>
            <a:br>
              <a:rPr kumimoji="1" lang="en-US" sz="280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</a:br>
            <a:r>
              <a:rPr kumimoji="1" lang="en-US" sz="280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Slide 73</a:t>
            </a:r>
            <a:endParaRPr kumimoji="1" lang="en-US" sz="2800" dirty="0">
              <a:solidFill>
                <a:prstClr val="black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15504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9" grpId="0" animBg="1"/>
      <p:bldP spid="13" grpId="0" animBg="1"/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sz="2600" spc="-7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7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_)[-72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:]</a:t>
            </a:r>
            <a:r>
              <a:rPr lang="en-US" sz="2600" spc="-1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#Shows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all </a:t>
            </a:r>
            <a:r>
              <a:rPr lang="en-US" sz="2600" spc="-1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Python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functions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'abs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'all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'any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'bin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'bool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'bytes'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'callable'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'compile'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'complex'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'copyright'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'credits'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'enumerate'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'exec'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'filter'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'float'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'format'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'hash'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'help'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'input'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'round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import(math)</a:t>
            </a:r>
            <a:r>
              <a:rPr lang="en-US" sz="2600" dirty="0">
                <a:solidFill>
                  <a:srgbClr val="C18E8E"/>
                </a:solidFill>
                <a:latin typeface="Consolas" panose="020B0609020204030204" pitchFamily="49" charset="0"/>
              </a:rPr>
              <a:t> # "math" is now an object</a:t>
            </a: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(math)[-55:]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1000" y="762000"/>
            <a:ext cx="521494" cy="30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92894" y="6038002"/>
            <a:ext cx="838200" cy="819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1054894" y="645631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/>
          <p:cNvSpPr txBox="1">
            <a:spLocks/>
          </p:cNvSpPr>
          <p:nvPr/>
        </p:nvSpPr>
        <p:spPr>
          <a:xfrm>
            <a:off x="11906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Importing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7873138" y="606843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645694" y="645631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89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'abs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'all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'any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'bin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'bool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'bytes'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'callable'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'compile'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'complex'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'copyright'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'credits'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'enumerate'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'exec'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'filter'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'float'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'format'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'hash'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'help'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'input'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'round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import(math) </a:t>
            </a:r>
            <a:r>
              <a:rPr lang="en-US" sz="2600" dirty="0">
                <a:solidFill>
                  <a:srgbClr val="C18E8E"/>
                </a:solidFill>
                <a:latin typeface="Consolas" panose="020B0609020204030204" pitchFamily="49" charset="0"/>
              </a:rPr>
              <a:t># "math" is now an object</a:t>
            </a: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(math)[-55:]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aco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acos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asi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asin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ata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atan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2'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endParaRPr lang="en-US" sz="2600" spc="-100" dirty="0" smtClean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11906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Importing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524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50"/>
    </mc:Choice>
    <mc:Fallback xmlns="">
      <p:transition advTm="250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'bytes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'callable'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'compile'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'complex'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'copyright'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'credits'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'enumerate'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'exec'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'filter'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'float'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'format'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'hash'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'help'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'input'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'round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import(math) </a:t>
            </a:r>
            <a:r>
              <a:rPr lang="en-US" sz="2600" dirty="0">
                <a:solidFill>
                  <a:srgbClr val="C18E8E"/>
                </a:solidFill>
                <a:latin typeface="Consolas" panose="020B0609020204030204" pitchFamily="49" charset="0"/>
              </a:rPr>
              <a:t># "math" is now an object</a:t>
            </a: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(math)[-55:]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aco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acos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asi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asin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ata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atan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2'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atan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cei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l'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copysig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co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s'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cos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degree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s'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endParaRPr lang="en-US" sz="2600" spc="-100" dirty="0" smtClean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906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Importing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329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50"/>
    </mc:Choice>
    <mc:Fallback xmlns="">
      <p:transition advTm="250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'complex'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'copyright'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'credits'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'enumerate'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'exec'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'filter'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'float'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'format'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'hash'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'help'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'input'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'round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import(math) </a:t>
            </a:r>
            <a:r>
              <a:rPr lang="en-US" sz="2600" dirty="0">
                <a:solidFill>
                  <a:srgbClr val="C18E8E"/>
                </a:solidFill>
                <a:latin typeface="Consolas" panose="020B0609020204030204" pitchFamily="49" charset="0"/>
              </a:rPr>
              <a:t># "math" is now an object</a:t>
            </a: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(math)[-55:]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aco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acos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asi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asin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ata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atan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2'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atan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cei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l'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copysig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co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s'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cos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degree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s'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e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erf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erf</a:t>
            </a:r>
            <a:r>
              <a:rPr lang="en-US" sz="2600" spc="-260" dirty="0" err="1">
                <a:solidFill>
                  <a:srgbClr val="0086EA"/>
                </a:solidFill>
                <a:latin typeface="Consolas" panose="020B0609020204030204" pitchFamily="49" charset="0"/>
              </a:rPr>
              <a:t>c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ex</a:t>
            </a:r>
            <a:r>
              <a:rPr lang="en-US" sz="2600" spc="-260" dirty="0" err="1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expm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1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fab</a:t>
            </a:r>
            <a:r>
              <a:rPr lang="en-US" sz="2600" spc="-260" dirty="0" err="1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factoria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l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endParaRPr lang="en-US" sz="2600" spc="-100" dirty="0" smtClean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906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Importing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62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50"/>
    </mc:Choice>
    <mc:Fallback xmlns="">
      <p:transition advTm="250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'enumerate'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'exec'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'filter'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'float'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'format'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'hash'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'help'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'input'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'round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import(math) </a:t>
            </a:r>
            <a:r>
              <a:rPr lang="en-US" sz="2600" dirty="0">
                <a:solidFill>
                  <a:srgbClr val="C18E8E"/>
                </a:solidFill>
                <a:latin typeface="Consolas" panose="020B0609020204030204" pitchFamily="49" charset="0"/>
              </a:rPr>
              <a:t># "math" is now an object</a:t>
            </a: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(math)[-55:]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aco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acos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asi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asin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ata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atan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2'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atan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cei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l'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copysig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co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s'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cos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degree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s'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e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erf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erf</a:t>
            </a:r>
            <a:r>
              <a:rPr lang="en-US" sz="2600" spc="-260" dirty="0" err="1">
                <a:solidFill>
                  <a:srgbClr val="0086EA"/>
                </a:solidFill>
                <a:latin typeface="Consolas" panose="020B0609020204030204" pitchFamily="49" charset="0"/>
              </a:rPr>
              <a:t>c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ex</a:t>
            </a:r>
            <a:r>
              <a:rPr lang="en-US" sz="2600" spc="-260" dirty="0" err="1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expm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1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fab</a:t>
            </a:r>
            <a:r>
              <a:rPr lang="en-US" sz="2600" spc="-260" dirty="0" err="1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factoria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l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floo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r'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fmo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d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frex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fsu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m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gamm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a'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hypo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t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endParaRPr lang="en-US" sz="2600" spc="-100" dirty="0" smtClean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906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Importing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78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50"/>
    </mc:Choice>
    <mc:Fallback xmlns="">
      <p:transition advTm="250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'filter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'float'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'format'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'hash'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'help'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'input'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'round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import(math) </a:t>
            </a:r>
            <a:r>
              <a:rPr lang="en-US" sz="2600" dirty="0">
                <a:solidFill>
                  <a:srgbClr val="C18E8E"/>
                </a:solidFill>
                <a:latin typeface="Consolas" panose="020B0609020204030204" pitchFamily="49" charset="0"/>
              </a:rPr>
              <a:t># "math" is now an object</a:t>
            </a: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(math)[-55:]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aco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acos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asi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asin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ata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atan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2'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atan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cei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l'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copysig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co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s'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cos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degree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s'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e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erf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erf</a:t>
            </a:r>
            <a:r>
              <a:rPr lang="en-US" sz="2600" spc="-260" dirty="0" err="1">
                <a:solidFill>
                  <a:srgbClr val="0086EA"/>
                </a:solidFill>
                <a:latin typeface="Consolas" panose="020B0609020204030204" pitchFamily="49" charset="0"/>
              </a:rPr>
              <a:t>c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ex</a:t>
            </a:r>
            <a:r>
              <a:rPr lang="en-US" sz="2600" spc="-260" dirty="0" err="1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expm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1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fab</a:t>
            </a:r>
            <a:r>
              <a:rPr lang="en-US" sz="2600" spc="-260" dirty="0" err="1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factoria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l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floo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r'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fmo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d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frex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fsu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m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gamm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a'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hypo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t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isfinit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e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isin</a:t>
            </a:r>
            <a:r>
              <a:rPr lang="en-US" sz="2600" spc="-100" dirty="0" err="1">
                <a:solidFill>
                  <a:srgbClr val="0086EA"/>
                </a:solidFill>
                <a:latin typeface="Consolas" panose="020B0609020204030204" pitchFamily="49" charset="0"/>
              </a:rPr>
              <a:t>f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isna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ldex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lgamm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a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lo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g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endParaRPr lang="en-US" sz="2600" spc="-100" dirty="0" smtClean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906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Importing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08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50"/>
    </mc:Choice>
    <mc:Fallback xmlns="">
      <p:transition advTm="250"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'hash'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'help'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'input'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'round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import(math) </a:t>
            </a:r>
            <a:r>
              <a:rPr lang="en-US" sz="2600" dirty="0">
                <a:solidFill>
                  <a:srgbClr val="C18E8E"/>
                </a:solidFill>
                <a:latin typeface="Consolas" panose="020B0609020204030204" pitchFamily="49" charset="0"/>
              </a:rPr>
              <a:t># "math" is now an object</a:t>
            </a: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(math)[-55:]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aco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acos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asi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asin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ata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atan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2'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atan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cei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l'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copysig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co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s'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cos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degree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s'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e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erf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erf</a:t>
            </a:r>
            <a:r>
              <a:rPr lang="en-US" sz="2600" spc="-260" dirty="0" err="1">
                <a:solidFill>
                  <a:srgbClr val="0086EA"/>
                </a:solidFill>
                <a:latin typeface="Consolas" panose="020B0609020204030204" pitchFamily="49" charset="0"/>
              </a:rPr>
              <a:t>c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ex</a:t>
            </a:r>
            <a:r>
              <a:rPr lang="en-US" sz="2600" spc="-260" dirty="0" err="1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expm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1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fab</a:t>
            </a:r>
            <a:r>
              <a:rPr lang="en-US" sz="2600" spc="-260" dirty="0" err="1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factoria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l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floo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r'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fmo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d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frex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fsu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m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gamm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a'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hypo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t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isfinit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e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isin</a:t>
            </a:r>
            <a:r>
              <a:rPr lang="en-US" sz="2600" spc="-100" dirty="0" err="1">
                <a:solidFill>
                  <a:srgbClr val="0086EA"/>
                </a:solidFill>
                <a:latin typeface="Consolas" panose="020B0609020204030204" pitchFamily="49" charset="0"/>
              </a:rPr>
              <a:t>f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isna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ldex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lgamm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a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lo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g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log1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0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log1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400" dirty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log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2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mod</a:t>
            </a:r>
            <a:r>
              <a:rPr lang="en-US" sz="2600" spc="-260" dirty="0" err="1">
                <a:solidFill>
                  <a:srgbClr val="0086EA"/>
                </a:solidFill>
                <a:latin typeface="Consolas" panose="020B0609020204030204" pitchFamily="49" charset="0"/>
              </a:rPr>
              <a:t>f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i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po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w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radian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endParaRPr lang="en-US" sz="26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906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Importing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399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50"/>
    </mc:Choice>
    <mc:Fallback xmlns="">
      <p:transition advTm="250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'round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import(math) </a:t>
            </a:r>
            <a:r>
              <a:rPr lang="en-US" sz="2600" dirty="0">
                <a:solidFill>
                  <a:srgbClr val="C18E8E"/>
                </a:solidFill>
                <a:latin typeface="Consolas" panose="020B0609020204030204" pitchFamily="49" charset="0"/>
              </a:rPr>
              <a:t># "math" is now an object</a:t>
            </a: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(math)[-55:]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aco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acos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asi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asin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ata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atan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2'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atan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cei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l'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copysig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co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s'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cos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degree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s'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e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erf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erf</a:t>
            </a:r>
            <a:r>
              <a:rPr lang="en-US" sz="2600" spc="-260" dirty="0" err="1">
                <a:solidFill>
                  <a:srgbClr val="0086EA"/>
                </a:solidFill>
                <a:latin typeface="Consolas" panose="020B0609020204030204" pitchFamily="49" charset="0"/>
              </a:rPr>
              <a:t>c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ex</a:t>
            </a:r>
            <a:r>
              <a:rPr lang="en-US" sz="2600" spc="-260" dirty="0" err="1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expm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1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fab</a:t>
            </a:r>
            <a:r>
              <a:rPr lang="en-US" sz="2600" spc="-260" dirty="0" err="1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factoria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l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floo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r'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fmo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d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frex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fsu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m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gamm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a'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hypo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t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isfinit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e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isin</a:t>
            </a:r>
            <a:r>
              <a:rPr lang="en-US" sz="2600" spc="-100" dirty="0" err="1">
                <a:solidFill>
                  <a:srgbClr val="0086EA"/>
                </a:solidFill>
                <a:latin typeface="Consolas" panose="020B0609020204030204" pitchFamily="49" charset="0"/>
              </a:rPr>
              <a:t>f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isna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ldex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lgamm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a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lo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g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log1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0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log1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400" dirty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log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2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mod</a:t>
            </a:r>
            <a:r>
              <a:rPr lang="en-US" sz="2600" spc="-260" dirty="0" err="1">
                <a:solidFill>
                  <a:srgbClr val="0086EA"/>
                </a:solidFill>
                <a:latin typeface="Consolas" panose="020B0609020204030204" pitchFamily="49" charset="0"/>
              </a:rPr>
              <a:t>f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i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po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w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radian</a:t>
            </a:r>
            <a:r>
              <a:rPr lang="en-US" sz="2600" spc="-260" dirty="0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si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sin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sqr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t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ta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tan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>
                <a:solidFill>
                  <a:srgbClr val="0086EA"/>
                </a:solidFill>
                <a:latin typeface="Consolas" panose="020B0609020204030204" pitchFamily="49" charset="0"/>
              </a:rPr>
              <a:t>trun</a:t>
            </a:r>
            <a:r>
              <a:rPr lang="en-US" sz="2600" spc="-200" dirty="0" err="1">
                <a:solidFill>
                  <a:srgbClr val="0086EA"/>
                </a:solidFill>
                <a:latin typeface="Consolas" panose="020B0609020204030204" pitchFamily="49" charset="0"/>
              </a:rPr>
              <a:t>c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906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Importing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86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50"/>
    </mc:Choice>
    <mc:Fallback xmlns="">
      <p:transition advTm="250"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'round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import(math) </a:t>
            </a:r>
            <a:r>
              <a:rPr lang="en-US" sz="2600" dirty="0">
                <a:solidFill>
                  <a:srgbClr val="C18E8E"/>
                </a:solidFill>
                <a:latin typeface="Consolas" panose="020B0609020204030204" pitchFamily="49" charset="0"/>
              </a:rPr>
              <a:t># "math" is now an object</a:t>
            </a: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(math)[-55:]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aco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acos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asi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asin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ata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atan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2'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atan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cei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copysig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co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s'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cos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degree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s'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e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erf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erf</a:t>
            </a:r>
            <a:r>
              <a:rPr lang="en-US" sz="2600" spc="-26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c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ex</a:t>
            </a:r>
            <a:r>
              <a:rPr lang="en-US" sz="2600" spc="-26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expm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1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fab</a:t>
            </a:r>
            <a:r>
              <a:rPr lang="en-US" sz="2600" spc="-26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factoria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floo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r'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fmo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d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frex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fsu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m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gamm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a'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hypo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t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isfinit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e</a:t>
            </a:r>
            <a:r>
              <a:rPr lang="en-US" sz="2600" spc="-3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isin</a:t>
            </a:r>
            <a:r>
              <a:rPr lang="en-US" sz="2600" spc="-1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isna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ldex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lgamm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lo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g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log1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0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log1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4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log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2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mod</a:t>
            </a:r>
            <a:r>
              <a:rPr lang="en-US" sz="2600" spc="-26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i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po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w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radian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si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sin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sqr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t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ta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tan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trun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c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  <a:endParaRPr lang="en-US" sz="26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help(math)</a:t>
            </a:r>
            <a:endParaRPr lang="en-US" sz="2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2894" y="6038002"/>
            <a:ext cx="838200" cy="819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913190" y="646221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054894" y="645631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 txBox="1">
            <a:spLocks/>
          </p:cNvSpPr>
          <p:nvPr/>
        </p:nvSpPr>
        <p:spPr>
          <a:xfrm>
            <a:off x="11906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Importing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937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316706" y="-76200"/>
            <a:ext cx="10287000" cy="7086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252" y="0"/>
            <a:ext cx="9716536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 anchorCtr="0"/>
          <a:lstStyle/>
          <a:p>
            <a:pPr>
              <a:lnSpc>
                <a:spcPct val="75000"/>
              </a:lnSpc>
            </a:pPr>
            <a:r>
              <a:rPr lang="en-US" sz="2600" spc="-30" dirty="0">
                <a:solidFill>
                  <a:prstClr val="white">
                    <a:lumMod val="75000"/>
                  </a:prstClr>
                </a:solidFill>
              </a:rPr>
              <a:t>Help </a:t>
            </a:r>
            <a:r>
              <a:rPr lang="en-US" sz="2600" spc="-30" dirty="0" smtClean="0">
                <a:solidFill>
                  <a:prstClr val="white">
                    <a:lumMod val="75000"/>
                  </a:prstClr>
                </a:solidFill>
              </a:rPr>
              <a:t>on </a:t>
            </a:r>
            <a:r>
              <a:rPr lang="en-US" sz="2600" spc="-30" dirty="0">
                <a:solidFill>
                  <a:prstClr val="white">
                    <a:lumMod val="75000"/>
                  </a:prstClr>
                </a:solidFill>
              </a:rPr>
              <a:t>module </a:t>
            </a:r>
            <a:r>
              <a:rPr lang="en-US" sz="2600" spc="-30" dirty="0" smtClean="0">
                <a:solidFill>
                  <a:prstClr val="white">
                    <a:lumMod val="75000"/>
                  </a:prstClr>
                </a:solidFill>
              </a:rPr>
              <a:t>math:</a:t>
            </a:r>
            <a:endParaRPr lang="en-US" sz="2600" spc="-30" dirty="0">
              <a:solidFill>
                <a:prstClr val="white">
                  <a:lumMod val="75000"/>
                </a:prstClr>
              </a:solidFill>
            </a:endParaRPr>
          </a:p>
          <a:p>
            <a:pPr>
              <a:lnSpc>
                <a:spcPct val="75000"/>
              </a:lnSpc>
            </a:pPr>
            <a:endParaRPr lang="en-US" sz="2000" spc="-30" dirty="0">
              <a:solidFill>
                <a:prstClr val="white"/>
              </a:solidFill>
            </a:endParaRPr>
          </a:p>
          <a:p>
            <a:pPr>
              <a:lnSpc>
                <a:spcPct val="75000"/>
              </a:lnSpc>
            </a:pPr>
            <a:r>
              <a:rPr lang="en-US" sz="2600" spc="-30" dirty="0" smtClean="0">
                <a:solidFill>
                  <a:prstClr val="white"/>
                </a:solidFill>
              </a:rPr>
              <a:t>NAME</a:t>
            </a:r>
            <a:endParaRPr lang="en-US" sz="2600" spc="-30" dirty="0">
              <a:solidFill>
                <a:prstClr val="white"/>
              </a:solidFill>
            </a:endParaRPr>
          </a:p>
          <a:p>
            <a:pPr>
              <a:lnSpc>
                <a:spcPct val="75000"/>
              </a:lnSpc>
            </a:pPr>
            <a:r>
              <a:rPr lang="en-US" sz="2600" spc="-30" dirty="0">
                <a:solidFill>
                  <a:prstClr val="white"/>
                </a:solidFill>
              </a:rPr>
              <a:t> </a:t>
            </a:r>
            <a:r>
              <a:rPr lang="en-US" sz="2600" spc="-30" dirty="0">
                <a:solidFill>
                  <a:prstClr val="white">
                    <a:lumMod val="75000"/>
                  </a:prstClr>
                </a:solidFill>
              </a:rPr>
              <a:t>   </a:t>
            </a:r>
            <a:r>
              <a:rPr lang="en-US" sz="2600" spc="-30" dirty="0" smtClean="0">
                <a:solidFill>
                  <a:prstClr val="white">
                    <a:lumMod val="75000"/>
                  </a:prstClr>
                </a:solidFill>
              </a:rPr>
              <a:t> math</a:t>
            </a:r>
            <a:endParaRPr lang="en-US" sz="2600" spc="-30" dirty="0">
              <a:solidFill>
                <a:prstClr val="white">
                  <a:lumMod val="75000"/>
                </a:prstClr>
              </a:solidFill>
            </a:endParaRPr>
          </a:p>
          <a:p>
            <a:pPr>
              <a:lnSpc>
                <a:spcPct val="75000"/>
              </a:lnSpc>
            </a:pPr>
            <a:endParaRPr lang="en-US" sz="2000" spc="-30" dirty="0">
              <a:solidFill>
                <a:prstClr val="white"/>
              </a:solidFill>
            </a:endParaRPr>
          </a:p>
          <a:p>
            <a:pPr>
              <a:lnSpc>
                <a:spcPct val="75000"/>
              </a:lnSpc>
            </a:pPr>
            <a:r>
              <a:rPr lang="en-US" sz="2600" spc="-30" dirty="0">
                <a:solidFill>
                  <a:prstClr val="white"/>
                </a:solidFill>
              </a:rPr>
              <a:t>MODULE REFERENCE</a:t>
            </a:r>
          </a:p>
          <a:p>
            <a:pPr>
              <a:lnSpc>
                <a:spcPct val="75000"/>
              </a:lnSpc>
            </a:pPr>
            <a:r>
              <a:rPr lang="en-US" sz="2600" spc="-30" dirty="0">
                <a:solidFill>
                  <a:prstClr val="white">
                    <a:lumMod val="75000"/>
                  </a:prstClr>
                </a:solidFill>
              </a:rPr>
              <a:t>    https://docs.python.org/3.6/library/math</a:t>
            </a:r>
          </a:p>
          <a:p>
            <a:pPr>
              <a:lnSpc>
                <a:spcPct val="75000"/>
              </a:lnSpc>
            </a:pPr>
            <a:endParaRPr lang="en-US" sz="2400" spc="-30" dirty="0">
              <a:solidFill>
                <a:prstClr val="white">
                  <a:lumMod val="75000"/>
                </a:prstClr>
              </a:solidFill>
            </a:endParaRPr>
          </a:p>
          <a:p>
            <a:pPr>
              <a:lnSpc>
                <a:spcPct val="75000"/>
              </a:lnSpc>
            </a:pPr>
            <a:r>
              <a:rPr lang="en-US" sz="2600" spc="-70" dirty="0">
                <a:solidFill>
                  <a:prstClr val="white">
                    <a:lumMod val="75000"/>
                  </a:prstClr>
                </a:solidFill>
              </a:rPr>
              <a:t>    The following documentation is automatically generated </a:t>
            </a:r>
            <a:r>
              <a:rPr lang="en-US" sz="2600" spc="-70" dirty="0" smtClean="0">
                <a:solidFill>
                  <a:prstClr val="white">
                    <a:lumMod val="75000"/>
                  </a:prstClr>
                </a:solidFill>
              </a:rPr>
              <a:t>from the </a:t>
            </a:r>
            <a:r>
              <a:rPr lang="en-US" sz="2600" spc="-70" dirty="0">
                <a:solidFill>
                  <a:prstClr val="white">
                    <a:lumMod val="75000"/>
                  </a:prstClr>
                </a:solidFill>
              </a:rPr>
              <a:t>Python</a:t>
            </a:r>
          </a:p>
          <a:p>
            <a:pPr>
              <a:lnSpc>
                <a:spcPct val="75000"/>
              </a:lnSpc>
            </a:pPr>
            <a:r>
              <a:rPr lang="en-US" sz="2600" spc="-30" dirty="0">
                <a:solidFill>
                  <a:prstClr val="white">
                    <a:lumMod val="75000"/>
                  </a:prstClr>
                </a:solidFill>
              </a:rPr>
              <a:t>    source files.  It may be incomplete, incorrect or include features that</a:t>
            </a:r>
          </a:p>
          <a:p>
            <a:pPr>
              <a:lnSpc>
                <a:spcPct val="75000"/>
              </a:lnSpc>
            </a:pPr>
            <a:r>
              <a:rPr lang="en-US" sz="2600" spc="-30" dirty="0">
                <a:solidFill>
                  <a:prstClr val="white">
                    <a:lumMod val="75000"/>
                  </a:prstClr>
                </a:solidFill>
              </a:rPr>
              <a:t>    </a:t>
            </a:r>
            <a:r>
              <a:rPr lang="en-US" sz="2600" spc="-30" dirty="0">
                <a:solidFill>
                  <a:srgbClr val="BFBFBF"/>
                </a:solidFill>
              </a:rPr>
              <a:t>are</a:t>
            </a:r>
            <a:r>
              <a:rPr lang="en-US" sz="2600" spc="-30" dirty="0">
                <a:solidFill>
                  <a:prstClr val="white">
                    <a:lumMod val="75000"/>
                  </a:prstClr>
                </a:solidFill>
              </a:rPr>
              <a:t> considered implementation detail and may vary between Python</a:t>
            </a:r>
          </a:p>
          <a:p>
            <a:pPr>
              <a:lnSpc>
                <a:spcPct val="75000"/>
              </a:lnSpc>
            </a:pPr>
            <a:r>
              <a:rPr lang="en-US" sz="2600" spc="-30" dirty="0">
                <a:solidFill>
                  <a:prstClr val="white">
                    <a:lumMod val="75000"/>
                  </a:prstClr>
                </a:solidFill>
              </a:rPr>
              <a:t>    </a:t>
            </a:r>
            <a:r>
              <a:rPr lang="en-US" sz="2600" spc="-40" dirty="0">
                <a:solidFill>
                  <a:prstClr val="white">
                    <a:lumMod val="75000"/>
                  </a:prstClr>
                </a:solidFill>
              </a:rPr>
              <a:t>implementations.  When in doubt, consult the module reference at the</a:t>
            </a:r>
          </a:p>
          <a:p>
            <a:pPr>
              <a:lnSpc>
                <a:spcPct val="75000"/>
              </a:lnSpc>
            </a:pPr>
            <a:r>
              <a:rPr lang="en-US" sz="2600" spc="-30" dirty="0">
                <a:solidFill>
                  <a:prstClr val="white">
                    <a:lumMod val="75000"/>
                  </a:prstClr>
                </a:solidFill>
              </a:rPr>
              <a:t>    location listed above.</a:t>
            </a:r>
          </a:p>
          <a:p>
            <a:pPr>
              <a:lnSpc>
                <a:spcPct val="75000"/>
              </a:lnSpc>
            </a:pPr>
            <a:endParaRPr lang="en-US" sz="2400" spc="-30" dirty="0">
              <a:solidFill>
                <a:prstClr val="white">
                  <a:lumMod val="75000"/>
                </a:prstClr>
              </a:solidFill>
            </a:endParaRPr>
          </a:p>
          <a:p>
            <a:pPr>
              <a:lnSpc>
                <a:spcPct val="75000"/>
              </a:lnSpc>
            </a:pPr>
            <a:r>
              <a:rPr lang="en-US" sz="2600" spc="-30" dirty="0">
                <a:solidFill>
                  <a:prstClr val="white"/>
                </a:solidFill>
              </a:rPr>
              <a:t>DESCRIPTION</a:t>
            </a:r>
          </a:p>
          <a:p>
            <a:pPr>
              <a:lnSpc>
                <a:spcPct val="75000"/>
              </a:lnSpc>
            </a:pPr>
            <a:r>
              <a:rPr lang="en-US" sz="2600" dirty="0">
                <a:solidFill>
                  <a:srgbClr val="BFBFBF"/>
                </a:solidFill>
              </a:rPr>
              <a:t>    This module is always available.  It provides access to the</a:t>
            </a:r>
          </a:p>
          <a:p>
            <a:pPr>
              <a:lnSpc>
                <a:spcPct val="75000"/>
              </a:lnSpc>
            </a:pPr>
            <a:r>
              <a:rPr lang="en-US" sz="2600" dirty="0">
                <a:solidFill>
                  <a:srgbClr val="BFBFBF"/>
                </a:solidFill>
              </a:rPr>
              <a:t>    mathematical functions defined by the C standard.</a:t>
            </a:r>
          </a:p>
          <a:p>
            <a:pPr>
              <a:lnSpc>
                <a:spcPct val="75000"/>
              </a:lnSpc>
            </a:pPr>
            <a:endParaRPr lang="en-US" sz="2400" spc="-30" dirty="0">
              <a:solidFill>
                <a:prstClr val="white"/>
              </a:solidFill>
            </a:endParaRPr>
          </a:p>
          <a:p>
            <a:pPr>
              <a:lnSpc>
                <a:spcPct val="75000"/>
              </a:lnSpc>
            </a:pPr>
            <a:r>
              <a:rPr lang="en-US" sz="2600" spc="-30" dirty="0">
                <a:solidFill>
                  <a:prstClr val="white"/>
                </a:solidFill>
              </a:rPr>
              <a:t>FUNCTIONS</a:t>
            </a:r>
          </a:p>
          <a:p>
            <a:pPr>
              <a:lnSpc>
                <a:spcPct val="75000"/>
              </a:lnSpc>
            </a:pPr>
            <a:r>
              <a:rPr lang="en-US" sz="2600" spc="-30" dirty="0" smtClean="0">
                <a:solidFill>
                  <a:prstClr val="white">
                    <a:lumMod val="75000"/>
                  </a:prstClr>
                </a:solidFill>
              </a:rPr>
              <a:t>    </a:t>
            </a:r>
            <a:r>
              <a:rPr lang="en-US" sz="2600" b="1" spc="-30" dirty="0" err="1" smtClean="0">
                <a:solidFill>
                  <a:schemeClr val="bg1"/>
                </a:solidFill>
              </a:rPr>
              <a:t>acos</a:t>
            </a:r>
            <a:r>
              <a:rPr lang="en-US" sz="2600" spc="-30" dirty="0" smtClean="0">
                <a:solidFill>
                  <a:prstClr val="white">
                    <a:lumMod val="75000"/>
                  </a:prstClr>
                </a:solidFill>
              </a:rPr>
              <a:t>(x</a:t>
            </a:r>
            <a:r>
              <a:rPr lang="en-US" sz="2600" spc="-30" dirty="0">
                <a:solidFill>
                  <a:prstClr val="white">
                    <a:lumMod val="75000"/>
                  </a:prstClr>
                </a:solidFill>
              </a:rPr>
              <a:t>, /)</a:t>
            </a:r>
          </a:p>
          <a:p>
            <a:pPr>
              <a:lnSpc>
                <a:spcPct val="75000"/>
              </a:lnSpc>
            </a:pPr>
            <a:r>
              <a:rPr lang="en-US" sz="2600" spc="-30" dirty="0">
                <a:solidFill>
                  <a:prstClr val="white">
                    <a:lumMod val="75000"/>
                  </a:prstClr>
                </a:solidFill>
              </a:rPr>
              <a:t>        Return the arc cosine (measured in radians) of x.</a:t>
            </a:r>
          </a:p>
          <a:p>
            <a:pPr>
              <a:lnSpc>
                <a:spcPct val="75000"/>
              </a:lnSpc>
            </a:pPr>
            <a:endParaRPr lang="en-US" sz="2000" spc="-30" dirty="0" smtClean="0">
              <a:solidFill>
                <a:prstClr val="white">
                  <a:lumMod val="75000"/>
                </a:prstClr>
              </a:solidFill>
            </a:endParaRPr>
          </a:p>
          <a:p>
            <a:pPr>
              <a:lnSpc>
                <a:spcPct val="75000"/>
              </a:lnSpc>
            </a:pPr>
            <a:r>
              <a:rPr lang="en-US" sz="2600" spc="-30" dirty="0" smtClean="0">
                <a:solidFill>
                  <a:prstClr val="white">
                    <a:lumMod val="75000"/>
                  </a:prstClr>
                </a:solidFill>
              </a:rPr>
              <a:t>    </a:t>
            </a:r>
            <a:r>
              <a:rPr lang="en-US" sz="2600" b="1" spc="-30" dirty="0" err="1" smtClean="0">
                <a:solidFill>
                  <a:schemeClr val="bg1"/>
                </a:solidFill>
              </a:rPr>
              <a:t>acosh</a:t>
            </a:r>
            <a:r>
              <a:rPr lang="en-US" sz="2600" spc="-30" dirty="0" smtClean="0">
                <a:solidFill>
                  <a:prstClr val="white">
                    <a:lumMod val="75000"/>
                  </a:prstClr>
                </a:solidFill>
              </a:rPr>
              <a:t>(x</a:t>
            </a:r>
            <a:r>
              <a:rPr lang="en-US" sz="2600" spc="-30" dirty="0">
                <a:solidFill>
                  <a:prstClr val="white">
                    <a:lumMod val="75000"/>
                  </a:prstClr>
                </a:solidFill>
              </a:rPr>
              <a:t>, </a:t>
            </a:r>
            <a:r>
              <a:rPr lang="en-US" sz="2600" spc="-30" dirty="0" smtClean="0">
                <a:solidFill>
                  <a:prstClr val="white">
                    <a:lumMod val="75000"/>
                  </a:prstClr>
                </a:solidFill>
              </a:rPr>
              <a:t>/)</a:t>
            </a:r>
          </a:p>
          <a:p>
            <a:pPr>
              <a:lnSpc>
                <a:spcPct val="75000"/>
              </a:lnSpc>
            </a:pPr>
            <a:r>
              <a:rPr lang="en-US" sz="2600" spc="-3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:</a:t>
            </a: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3151188" y="1143000"/>
            <a:ext cx="3428999" cy="1676400"/>
          </a:xfrm>
          <a:prstGeom prst="wedgeRoundRectCallout">
            <a:avLst>
              <a:gd name="adj1" fmla="val -56493"/>
              <a:gd name="adj2" fmla="val -97840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36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600" dirty="0" smtClean="0">
                <a:solidFill>
                  <a:srgbClr val="000000"/>
                </a:solidFill>
                <a:latin typeface="Times New Roman" charset="0"/>
              </a:rPr>
              <a:t>Anything you </a:t>
            </a:r>
            <a:r>
              <a:rPr lang="en-US" altLang="zh-TW" sz="3600" b="1" i="1" dirty="0" smtClean="0">
                <a:solidFill>
                  <a:srgbClr val="000000"/>
                </a:solidFill>
                <a:latin typeface="Times New Roman" charset="0"/>
              </a:rPr>
              <a:t>import</a:t>
            </a:r>
            <a:r>
              <a:rPr lang="en-US" altLang="zh-TW" sz="3600" dirty="0" smtClean="0">
                <a:solidFill>
                  <a:srgbClr val="000000"/>
                </a:solidFill>
                <a:latin typeface="Times New Roman" charset="0"/>
              </a:rPr>
              <a:t> becomes a </a:t>
            </a:r>
            <a:r>
              <a:rPr lang="en-US" altLang="zh-TW" sz="3600" b="1" i="1" dirty="0" smtClean="0">
                <a:solidFill>
                  <a:srgbClr val="000000"/>
                </a:solidFill>
                <a:latin typeface="Times New Roman" charset="0"/>
              </a:rPr>
              <a:t>module</a:t>
            </a:r>
            <a:r>
              <a:rPr lang="en-US" altLang="zh-TW" sz="3600" dirty="0" smtClean="0">
                <a:solidFill>
                  <a:srgbClr val="000000"/>
                </a:solidFill>
                <a:latin typeface="Times New Roman" charset="0"/>
              </a:rPr>
              <a:t>.</a:t>
            </a:r>
            <a:endParaRPr lang="zh-TW" altLang="en-US" sz="36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79578" y="15807"/>
            <a:ext cx="2032716" cy="310896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bIns="0" rtlCol="0" anchor="ctr"/>
          <a:lstStyle/>
          <a:p>
            <a:pPr lvl="0">
              <a:lnSpc>
                <a:spcPct val="75000"/>
              </a:lnSpc>
            </a:pPr>
            <a:r>
              <a:rPr lang="en-US" sz="2600" spc="-30" dirty="0" smtClean="0">
                <a:solidFill>
                  <a:srgbClr val="FFFF00"/>
                </a:solidFill>
              </a:rPr>
              <a:t>module </a:t>
            </a:r>
            <a:r>
              <a:rPr lang="en-US" sz="2600" spc="-30" dirty="0">
                <a:solidFill>
                  <a:srgbClr val="FFFF00"/>
                </a:solidFill>
              </a:rPr>
              <a:t>math</a:t>
            </a:r>
            <a:r>
              <a:rPr lang="en-US" sz="2600" spc="-30" dirty="0" smtClean="0">
                <a:solidFill>
                  <a:srgbClr val="FFFF00"/>
                </a:solidFill>
              </a:rPr>
              <a:t>:</a:t>
            </a:r>
            <a:endParaRPr lang="en-US" sz="2600" spc="-3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061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-316706" y="-76200"/>
            <a:ext cx="10287000" cy="7086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92894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'round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import(math) </a:t>
            </a:r>
            <a:r>
              <a:rPr lang="en-US" sz="2600" dirty="0" smtClean="0">
                <a:solidFill>
                  <a:srgbClr val="C18E8E"/>
                </a:solidFill>
                <a:latin typeface="Consolas" panose="020B0609020204030204" pitchFamily="49" charset="0"/>
              </a:rPr>
              <a:t># "math" is now an object</a:t>
            </a:r>
            <a:endParaRPr lang="en-US" sz="2600" spc="-100" dirty="0" smtClean="0">
              <a:solidFill>
                <a:srgbClr val="C18E8E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(math)[-55:]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aco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acos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asi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asin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ata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atan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2'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atan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cei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copysig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co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s'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cos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degree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s'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e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erf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erf</a:t>
            </a:r>
            <a:r>
              <a:rPr lang="en-US" sz="2600" spc="-26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c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ex</a:t>
            </a:r>
            <a:r>
              <a:rPr lang="en-US" sz="2600" spc="-26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expm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1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fab</a:t>
            </a:r>
            <a:r>
              <a:rPr lang="en-US" sz="2600" spc="-26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factoria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floo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r'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fmo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d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frex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fsu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m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gamm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a'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hypo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t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isfinit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e</a:t>
            </a:r>
            <a:r>
              <a:rPr lang="en-US" sz="2600" spc="-3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isin</a:t>
            </a:r>
            <a:r>
              <a:rPr lang="en-US" sz="2600" spc="-1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isna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ldex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lgamm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lo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g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log1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0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log1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4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log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2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mod</a:t>
            </a:r>
            <a:r>
              <a:rPr lang="en-US" sz="2600" spc="-26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i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po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w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radian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si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sin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sqr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t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ta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tan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trun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c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  <a:endParaRPr lang="en-US" sz="26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help(math)</a:t>
            </a:r>
          </a:p>
          <a:p>
            <a:pPr>
              <a:lnSpc>
                <a:spcPct val="90000"/>
              </a:lnSpc>
            </a:pP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sz="26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math.cos</a:t>
            </a:r>
            <a:r>
              <a:rPr lang="en-US" sz="26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(0))</a:t>
            </a:r>
            <a:endParaRPr lang="en-US" sz="2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2894" y="6038002"/>
            <a:ext cx="838200" cy="819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054894" y="645631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550694" y="2895600"/>
            <a:ext cx="1371600" cy="3581400"/>
          </a:xfrm>
          <a:prstGeom prst="straightConnector1">
            <a:avLst/>
          </a:prstGeom>
          <a:ln w="28575">
            <a:solidFill>
              <a:srgbClr val="C18E8E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5703094" y="3962400"/>
            <a:ext cx="1828800" cy="2514600"/>
          </a:xfrm>
          <a:prstGeom prst="straightConnector1">
            <a:avLst/>
          </a:prstGeom>
          <a:ln w="28575">
            <a:solidFill>
              <a:srgbClr val="0086EA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416712" y="6363161"/>
            <a:ext cx="1829347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sz="2600" dirty="0">
                <a:solidFill>
                  <a:srgbClr val="C18E8E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smtClean="0">
                <a:solidFill>
                  <a:srgbClr val="C18E8E"/>
                </a:solidFill>
                <a:latin typeface="Consolas" panose="020B0609020204030204" pitchFamily="49" charset="0"/>
              </a:rPr>
              <a:t>Objects</a:t>
            </a:r>
            <a:endParaRPr lang="en-US" sz="2600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407694" y="643737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226484" y="6363161"/>
            <a:ext cx="244655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smtClean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have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86EA"/>
                </a:solidFill>
                <a:latin typeface="Consolas" panose="020B0609020204030204" pitchFamily="49" charset="0"/>
              </a:rPr>
              <a:t>methods</a:t>
            </a:r>
            <a:endParaRPr lang="en-US" sz="2600" dirty="0">
              <a:solidFill>
                <a:srgbClr val="0086EA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8548998" y="6429087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160294" y="643737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842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3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316706" y="-76200"/>
            <a:ext cx="10287000" cy="7086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92894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'round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import(math) </a:t>
            </a:r>
            <a:r>
              <a:rPr lang="en-US" sz="2600" dirty="0" smtClean="0">
                <a:solidFill>
                  <a:srgbClr val="C18E8E"/>
                </a:solidFill>
                <a:latin typeface="Consolas" panose="020B0609020204030204" pitchFamily="49" charset="0"/>
              </a:rPr>
              <a:t># "math" is now an object</a:t>
            </a:r>
            <a:endParaRPr lang="en-US" sz="2600" spc="-100" dirty="0" smtClean="0">
              <a:solidFill>
                <a:srgbClr val="C18E8E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(math)[-55:]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aco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acos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asi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asin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ata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atan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2'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atan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cei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copysig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co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s'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cos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degree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s'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e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erf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erf</a:t>
            </a:r>
            <a:r>
              <a:rPr lang="en-US" sz="2600" spc="-26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c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ex</a:t>
            </a:r>
            <a:r>
              <a:rPr lang="en-US" sz="2600" spc="-26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expm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1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fab</a:t>
            </a:r>
            <a:r>
              <a:rPr lang="en-US" sz="2600" spc="-26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factoria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floo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r'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fmo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d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frex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fsu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m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gamm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a'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hypo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t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isfinit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e</a:t>
            </a:r>
            <a:r>
              <a:rPr lang="en-US" sz="2600" spc="-3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isin</a:t>
            </a:r>
            <a:r>
              <a:rPr lang="en-US" sz="2600" spc="-1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isna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ldex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lgamm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lo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g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log1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0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log1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4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log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2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mod</a:t>
            </a:r>
            <a:r>
              <a:rPr lang="en-US" sz="2600" spc="-26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i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po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w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radian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si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sin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sqr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t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ta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tan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trun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c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  <a:endParaRPr lang="en-US" sz="26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help(math)</a:t>
            </a:r>
          </a:p>
          <a:p>
            <a:pPr>
              <a:lnSpc>
                <a:spcPct val="90000"/>
              </a:lnSpc>
            </a:pPr>
            <a:endParaRPr lang="en-US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sz="26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math.cos</a:t>
            </a:r>
            <a:r>
              <a:rPr lang="en-US" sz="26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(0))</a:t>
            </a:r>
            <a:r>
              <a:rPr lang="en-US" sz="2600" dirty="0">
                <a:solidFill>
                  <a:srgbClr val="C18E8E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sz="2600" dirty="0">
                <a:solidFill>
                  <a:srgbClr val="C18E8E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smtClean="0">
                <a:solidFill>
                  <a:srgbClr val="C18E8E"/>
                </a:solidFill>
                <a:latin typeface="Consolas" panose="020B0609020204030204" pitchFamily="49" charset="0"/>
              </a:rPr>
              <a:t>Objects </a:t>
            </a:r>
            <a:r>
              <a:rPr lang="en-US" sz="2600" dirty="0" smtClean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have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 methods</a:t>
            </a:r>
            <a:endParaRPr lang="en-US" sz="2600" dirty="0">
              <a:solidFill>
                <a:srgbClr val="0086EA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1.0</a:t>
            </a:r>
            <a:endParaRPr lang="en-US" sz="2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013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50"/>
    </mc:Choice>
    <mc:Fallback xmlns="">
      <p:transition advTm="250"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316706" y="-76200"/>
            <a:ext cx="10287000" cy="7086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92894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'round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import(math) </a:t>
            </a:r>
            <a:r>
              <a:rPr lang="en-US" sz="2600" dirty="0" smtClean="0">
                <a:solidFill>
                  <a:srgbClr val="C18E8E"/>
                </a:solidFill>
                <a:latin typeface="Consolas" panose="020B0609020204030204" pitchFamily="49" charset="0"/>
              </a:rPr>
              <a:t># "math" is now an object</a:t>
            </a:r>
            <a:endParaRPr lang="en-US" sz="2600" spc="-100" dirty="0" smtClean="0">
              <a:solidFill>
                <a:srgbClr val="C18E8E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(math)[-55:]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aco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2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acos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asi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asin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ata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atan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2'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atan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cei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copysig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co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s'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cos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2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degree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s'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e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erf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erf</a:t>
            </a:r>
            <a:r>
              <a:rPr lang="en-US" sz="2600" spc="-26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c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ex</a:t>
            </a:r>
            <a:r>
              <a:rPr lang="en-US" sz="2600" spc="-26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expm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1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fab</a:t>
            </a:r>
            <a:r>
              <a:rPr lang="en-US" sz="2600" spc="-26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factoria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floo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r'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fmo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d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frex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fsu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m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gamm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a'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hypo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t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isfinit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e</a:t>
            </a:r>
            <a:r>
              <a:rPr lang="en-US" sz="2600" spc="-3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isin</a:t>
            </a:r>
            <a:r>
              <a:rPr lang="en-US" sz="2600" spc="-1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isna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ldex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lgamm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a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lo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g</a:t>
            </a:r>
            <a:r>
              <a:rPr lang="en-US" sz="2600" spc="-3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log1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0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log1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4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log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2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2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mod</a:t>
            </a:r>
            <a:r>
              <a:rPr lang="en-US" sz="2600" spc="-26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f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p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i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po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w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radian</a:t>
            </a:r>
            <a:r>
              <a:rPr lang="en-US" sz="2600" spc="-26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s</a:t>
            </a:r>
            <a:r>
              <a:rPr lang="en-US" sz="2600" spc="-4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25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si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sin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sqr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t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ta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n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tan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h</a:t>
            </a:r>
            <a:r>
              <a:rPr lang="en-US" sz="2600" spc="-4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spc="-2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25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trun</a:t>
            </a:r>
            <a:r>
              <a:rPr lang="en-US" sz="2600" spc="-200" dirty="0" err="1" smtClean="0">
                <a:solidFill>
                  <a:srgbClr val="0086EA"/>
                </a:solidFill>
                <a:latin typeface="Consolas" panose="020B0609020204030204" pitchFamily="49" charset="0"/>
              </a:rPr>
              <a:t>c</a:t>
            </a:r>
            <a:r>
              <a:rPr lang="en-US" sz="2600" spc="-2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'</a:t>
            </a:r>
            <a:r>
              <a:rPr lang="en-US" sz="26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  <a:endParaRPr lang="en-US" sz="26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help(math)</a:t>
            </a:r>
          </a:p>
          <a:p>
            <a:pPr>
              <a:lnSpc>
                <a:spcPct val="90000"/>
              </a:lnSpc>
            </a:pPr>
            <a:endParaRPr lang="en-US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sz="26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math.cos</a:t>
            </a:r>
            <a:r>
              <a:rPr lang="en-US" sz="26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(0))</a:t>
            </a:r>
            <a:r>
              <a:rPr lang="en-US" sz="2600" dirty="0">
                <a:solidFill>
                  <a:srgbClr val="C18E8E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sz="2600" dirty="0">
                <a:solidFill>
                  <a:srgbClr val="C18E8E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smtClean="0">
                <a:solidFill>
                  <a:srgbClr val="C18E8E"/>
                </a:solidFill>
                <a:latin typeface="Consolas" panose="020B0609020204030204" pitchFamily="49" charset="0"/>
              </a:rPr>
              <a:t>Objects </a:t>
            </a:r>
            <a:r>
              <a:rPr lang="en-US" sz="2600" dirty="0" smtClean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have</a:t>
            </a:r>
            <a:r>
              <a:rPr lang="en-US" sz="2600" dirty="0" smtClean="0">
                <a:solidFill>
                  <a:srgbClr val="0086EA"/>
                </a:solidFill>
                <a:latin typeface="Consolas" panose="020B0609020204030204" pitchFamily="49" charset="0"/>
              </a:rPr>
              <a:t> methods</a:t>
            </a:r>
            <a:endParaRPr lang="en-US" sz="2600" dirty="0">
              <a:solidFill>
                <a:srgbClr val="0086EA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dirty="0">
                <a:solidFill>
                  <a:schemeClr val="bg1"/>
                </a:solidFill>
                <a:latin typeface="Consolas" panose="020B0609020204030204" pitchFamily="49" charset="0"/>
              </a:rPr>
              <a:t>1.0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&gt;&gt;&gt;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054894" y="645631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91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264414" y="1122947"/>
            <a:ext cx="9458510" cy="5735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 smtClean="0"/>
              <a:t>You can import specific names from a module:</a:t>
            </a:r>
          </a:p>
          <a:p>
            <a:pPr>
              <a:buFontTx/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3200" dirty="0" smtClean="0">
                <a:latin typeface="Lucida Console" panose="020B0609040504020204" pitchFamily="49" charset="0"/>
                <a:cs typeface="Courier New" pitchFamily="49" charset="0"/>
              </a:rPr>
              <a:t>from </a:t>
            </a:r>
            <a:r>
              <a:rPr lang="en-US" sz="3200" dirty="0" err="1" smtClean="0">
                <a:latin typeface="Lucida Console" panose="020B0609040504020204" pitchFamily="49" charset="0"/>
                <a:cs typeface="Courier New" pitchFamily="49" charset="0"/>
              </a:rPr>
              <a:t>modname</a:t>
            </a:r>
            <a:r>
              <a:rPr lang="en-US" sz="320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3200" dirty="0" smtClean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itchFamily="49" charset="0"/>
              </a:rPr>
              <a:t>import </a:t>
            </a:r>
            <a:r>
              <a:rPr 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itchFamily="49" charset="0"/>
              </a:rPr>
              <a:t>f1, f2, </a:t>
            </a:r>
            <a:r>
              <a:rPr lang="en-US" sz="3200" dirty="0" smtClean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itchFamily="49" charset="0"/>
              </a:rPr>
              <a:t>s1</a:t>
            </a:r>
            <a:r>
              <a:rPr lang="en-US" sz="320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br>
              <a:rPr lang="en-US" sz="3200" dirty="0" smtClean="0">
                <a:latin typeface="Lucida Console" panose="020B0609040504020204" pitchFamily="49" charset="0"/>
                <a:cs typeface="Courier New" pitchFamily="49" charset="0"/>
              </a:rPr>
            </a:br>
            <a:endParaRPr lang="en-US" sz="700" dirty="0" smtClean="0">
              <a:latin typeface="Lucida Console" panose="020B0609040504020204" pitchFamily="49" charset="0"/>
              <a:cs typeface="Courier New" pitchFamily="49" charset="0"/>
            </a:endParaRPr>
          </a:p>
          <a:p>
            <a:pPr marL="509588" lvl="1" indent="-220663">
              <a:defRPr/>
            </a:pPr>
            <a:r>
              <a:rPr lang="en-US" spc="-50" dirty="0" smtClean="0">
                <a:solidFill>
                  <a:sysClr val="windowText" lastClr="000000"/>
                </a:solidFill>
              </a:rPr>
              <a:t>The specified objects are </a:t>
            </a:r>
            <a:r>
              <a:rPr lang="en-US" spc="-50" dirty="0">
                <a:solidFill>
                  <a:sysClr val="windowText" lastClr="000000"/>
                </a:solidFill>
              </a:rPr>
              <a:t>defined in </a:t>
            </a:r>
            <a:r>
              <a:rPr lang="en-US" spc="-50" dirty="0" err="1">
                <a:solidFill>
                  <a:sysClr val="windowText" lastClr="000000"/>
                </a:solidFill>
              </a:rPr>
              <a:t>modname</a:t>
            </a:r>
            <a:r>
              <a:rPr lang="en-US" spc="-50" dirty="0">
                <a:solidFill>
                  <a:sysClr val="windowText" lastClr="000000"/>
                </a:solidFill>
              </a:rPr>
              <a:t>.</a:t>
            </a:r>
          </a:p>
          <a:p>
            <a:pPr marL="798513" lvl="1" indent="-230188">
              <a:defRPr/>
            </a:pPr>
            <a:r>
              <a:rPr lang="en-US" sz="3400" dirty="0">
                <a:solidFill>
                  <a:sysClr val="windowText" lastClr="000000"/>
                </a:solidFill>
              </a:rPr>
              <a:t>Remember: in Python, everything is an </a:t>
            </a:r>
            <a:r>
              <a:rPr lang="en-US" sz="3400" dirty="0" smtClean="0">
                <a:solidFill>
                  <a:sysClr val="windowText" lastClr="000000"/>
                </a:solidFill>
              </a:rPr>
              <a:t>object </a:t>
            </a:r>
            <a:r>
              <a:rPr lang="en-US" sz="3400" dirty="0">
                <a:solidFill>
                  <a:sysClr val="windowText" lastClr="000000"/>
                </a:solidFill>
              </a:rPr>
              <a:t>(including functions).</a:t>
            </a:r>
          </a:p>
          <a:p>
            <a:pPr marL="798513" lvl="2" indent="-230188">
              <a:defRPr/>
            </a:pPr>
            <a:r>
              <a:rPr lang="en-US" sz="3400" spc="-30" dirty="0">
                <a:solidFill>
                  <a:sysClr val="windowText" lastClr="000000"/>
                </a:solidFill>
              </a:rPr>
              <a:t>Perhaps, f1 &amp; f2 are functions and s1 is a string.</a:t>
            </a:r>
          </a:p>
          <a:p>
            <a:pPr lvl="0">
              <a:defRPr/>
            </a:pPr>
            <a:endParaRPr lang="en-US" sz="1300" dirty="0">
              <a:solidFill>
                <a:sysClr val="windowText" lastClr="000000"/>
              </a:solidFill>
            </a:endParaRPr>
          </a:p>
          <a:p>
            <a:pPr lvl="0">
              <a:defRPr/>
            </a:pPr>
            <a:r>
              <a:rPr lang="en-US" sz="3900" dirty="0">
                <a:solidFill>
                  <a:sysClr val="windowText" lastClr="000000"/>
                </a:solidFill>
              </a:rPr>
              <a:t>The effect of a</a:t>
            </a:r>
            <a:r>
              <a:rPr lang="en-US" sz="3900" dirty="0" smtClean="0">
                <a:solidFill>
                  <a:sysClr val="windowText" lastClr="000000"/>
                </a:solidFill>
              </a:rPr>
              <a:t> </a:t>
            </a:r>
            <a:r>
              <a:rPr lang="en-US" sz="3900" dirty="0">
                <a:solidFill>
                  <a:sysClr val="windowText" lastClr="000000"/>
                </a:solidFill>
              </a:rPr>
              <a:t>from… import command is:</a:t>
            </a:r>
          </a:p>
          <a:p>
            <a:pPr marL="509588" lvl="1" indent="-220663">
              <a:defRPr/>
            </a:pPr>
            <a:r>
              <a:rPr lang="en-US" spc="-80" dirty="0">
                <a:solidFill>
                  <a:sysClr val="windowText" lastClr="000000"/>
                </a:solidFill>
              </a:rPr>
              <a:t>You’ll access these objects directly, </a:t>
            </a:r>
            <a:r>
              <a:rPr lang="en-US" i="1" spc="-80" dirty="0">
                <a:solidFill>
                  <a:sysClr val="windowText" lastClr="000000"/>
                </a:solidFill>
              </a:rPr>
              <a:t>not indirectly through the module</a:t>
            </a:r>
            <a:r>
              <a:rPr lang="en-US" spc="-80" dirty="0">
                <a:solidFill>
                  <a:sysClr val="windowText" lastClr="000000"/>
                </a:solidFill>
              </a:rPr>
              <a:t>. (</a:t>
            </a:r>
            <a:r>
              <a:rPr lang="en-US" spc="-80" dirty="0" err="1" smtClean="0">
                <a:solidFill>
                  <a:sysClr val="windowText" lastClr="000000"/>
                </a:solidFill>
              </a:rPr>
              <a:t>ie</a:t>
            </a:r>
            <a:r>
              <a:rPr lang="en-US" spc="-80" dirty="0" smtClean="0">
                <a:solidFill>
                  <a:sysClr val="windowText" lastClr="000000"/>
                </a:solidFill>
              </a:rPr>
              <a:t>:</a:t>
            </a:r>
            <a:r>
              <a:rPr lang="en-US" sz="1200" spc="-80" dirty="0" smtClean="0">
                <a:solidFill>
                  <a:sysClr val="windowText" lastClr="000000"/>
                </a:solidFill>
              </a:rPr>
              <a:t> </a:t>
            </a:r>
            <a:r>
              <a:rPr lang="en-US" spc="-80" dirty="0">
                <a:solidFill>
                  <a:sysClr val="windowText" lastClr="000000"/>
                </a:solidFill>
              </a:rPr>
              <a:t>“s1”</a:t>
            </a:r>
            <a:r>
              <a:rPr lang="en-US" sz="2000" spc="-80" dirty="0">
                <a:solidFill>
                  <a:sysClr val="windowText" lastClr="000000"/>
                </a:solidFill>
              </a:rPr>
              <a:t> </a:t>
            </a:r>
            <a:r>
              <a:rPr lang="en-US" i="1" spc="-80" dirty="0">
                <a:solidFill>
                  <a:sysClr val="windowText" lastClr="000000"/>
                </a:solidFill>
              </a:rPr>
              <a:t>not </a:t>
            </a:r>
            <a:r>
              <a:rPr lang="en-US" spc="-80" dirty="0">
                <a:solidFill>
                  <a:sysClr val="windowText" lastClr="000000"/>
                </a:solidFill>
              </a:rPr>
              <a:t>“</a:t>
            </a:r>
            <a:r>
              <a:rPr lang="en-US" i="1" spc="-80" dirty="0">
                <a:solidFill>
                  <a:sysClr val="windowText" lastClr="000000"/>
                </a:solidFill>
              </a:rPr>
              <a:t>modname.s1</a:t>
            </a:r>
            <a:r>
              <a:rPr lang="en-US" spc="-80" dirty="0">
                <a:solidFill>
                  <a:sysClr val="windowText" lastClr="000000"/>
                </a:solidFill>
              </a:rPr>
              <a:t>”)</a:t>
            </a: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05781"/>
            <a:ext cx="9729788" cy="105268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US" altLang="en-US" dirty="0">
                <a:solidFill>
                  <a:srgbClr val="0070C0"/>
                </a:solidFill>
              </a:rPr>
              <a:t>The </a:t>
            </a:r>
            <a:r>
              <a:rPr lang="en-US" altLang="en-US" dirty="0" smtClean="0">
                <a:solidFill>
                  <a:srgbClr val="0070C0"/>
                </a:solidFill>
              </a:rPr>
              <a:t>from … import … Statement</a:t>
            </a:r>
            <a:r>
              <a:rPr lang="en-US" altLang="en-US" dirty="0">
                <a:solidFill>
                  <a:srgbClr val="0070C0"/>
                </a:solidFill>
              </a:rPr>
              <a:t>:</a:t>
            </a:r>
            <a:endParaRPr lang="en-GB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415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0" y="105781"/>
            <a:ext cx="9729788" cy="104616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US" altLang="en-US" dirty="0">
                <a:solidFill>
                  <a:srgbClr val="0070C0"/>
                </a:solidFill>
              </a:rPr>
              <a:t>The </a:t>
            </a:r>
            <a:r>
              <a:rPr lang="en-US" altLang="en-US" dirty="0" smtClean="0">
                <a:solidFill>
                  <a:srgbClr val="0070C0"/>
                </a:solidFill>
              </a:rPr>
              <a:t>from … import </a:t>
            </a:r>
            <a:r>
              <a:rPr lang="en-US" altLang="zh-TW" sz="2800" b="1" dirty="0" smtClean="0">
                <a:solidFill>
                  <a:srgbClr val="FF0000"/>
                </a:solidFill>
                <a:latin typeface="Franklin Gothic Heavy" panose="020B0903020102020204" pitchFamily="34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Franklin Gothic Heavy" panose="020B0903020102020204" pitchFamily="34" charset="0"/>
              </a:rPr>
              <a:t>* </a:t>
            </a:r>
            <a:r>
              <a:rPr lang="en-US" altLang="en-US" dirty="0" smtClean="0">
                <a:solidFill>
                  <a:srgbClr val="0070C0"/>
                </a:solidFill>
              </a:rPr>
              <a:t> </a:t>
            </a:r>
            <a:r>
              <a:rPr lang="en-US" altLang="en-US" dirty="0">
                <a:solidFill>
                  <a:srgbClr val="0070C0"/>
                </a:solidFill>
              </a:rPr>
              <a:t>Statement:</a:t>
            </a:r>
            <a:endParaRPr lang="en-GB" altLang="en-US" dirty="0">
              <a:solidFill>
                <a:srgbClr val="0070C0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64414" y="1122947"/>
            <a:ext cx="9458510" cy="5735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3600" dirty="0"/>
              <a:t>You can also import </a:t>
            </a:r>
            <a:r>
              <a:rPr lang="en-US" sz="3600" u="sng" dirty="0"/>
              <a:t>all names</a:t>
            </a:r>
            <a:r>
              <a:rPr lang="en-US" sz="3600" dirty="0"/>
              <a:t> from a module:</a:t>
            </a:r>
          </a:p>
          <a:p>
            <a:pPr>
              <a:buFontTx/>
              <a:buNone/>
            </a:pPr>
            <a:r>
              <a:rPr lang="en-US" sz="3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3200" dirty="0">
                <a:latin typeface="Lucida Console" panose="020B0609040504020204" pitchFamily="49" charset="0"/>
                <a:cs typeface="Courier New" pitchFamily="49" charset="0"/>
              </a:rPr>
              <a:t>from </a:t>
            </a:r>
            <a:r>
              <a:rPr lang="en-US" sz="3200" dirty="0" err="1">
                <a:latin typeface="Lucida Console" panose="020B0609040504020204" pitchFamily="49" charset="0"/>
                <a:cs typeface="Courier New" pitchFamily="49" charset="0"/>
              </a:rPr>
              <a:t>modname</a:t>
            </a:r>
            <a:r>
              <a:rPr lang="en-US" sz="3200" dirty="0">
                <a:latin typeface="Lucida Console" panose="020B0609040504020204" pitchFamily="49" charset="0"/>
                <a:cs typeface="Courier New" pitchFamily="49" charset="0"/>
              </a:rPr>
              <a:t> import </a:t>
            </a:r>
            <a:r>
              <a:rPr lang="en-US" sz="3200" b="1" dirty="0">
                <a:solidFill>
                  <a:srgbClr val="FF0000"/>
                </a:solidFill>
                <a:latin typeface="Franklin Gothic Heavy" panose="020B0903020102020204" pitchFamily="34" charset="0"/>
                <a:cs typeface="Courier New" pitchFamily="49" charset="0"/>
              </a:rPr>
              <a:t>*</a:t>
            </a:r>
            <a:r>
              <a:rPr lang="en-US" sz="32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br>
              <a:rPr lang="en-US" sz="3200" dirty="0">
                <a:latin typeface="Lucida Console" panose="020B0609040504020204" pitchFamily="49" charset="0"/>
                <a:cs typeface="Courier New" pitchFamily="49" charset="0"/>
              </a:rPr>
            </a:br>
            <a:endParaRPr lang="en-US" sz="700" dirty="0">
              <a:latin typeface="Lucida Console" panose="020B0609040504020204" pitchFamily="49" charset="0"/>
              <a:cs typeface="Courier New" pitchFamily="49" charset="0"/>
            </a:endParaRPr>
          </a:p>
          <a:p>
            <a:pPr marL="288925" indent="-288925">
              <a:lnSpc>
                <a:spcPct val="85000"/>
              </a:lnSpc>
            </a:pPr>
            <a:r>
              <a:rPr lang="en-US" sz="3600" dirty="0"/>
              <a:t>It’s an easy way to access everything without </a:t>
            </a:r>
            <a:r>
              <a:rPr lang="en-US" sz="3600" dirty="0" smtClean="0"/>
              <a:t>  all </a:t>
            </a:r>
            <a:r>
              <a:rPr lang="en-US" sz="3600" dirty="0"/>
              <a:t>of the typing of </a:t>
            </a:r>
            <a:r>
              <a:rPr lang="en-US" sz="3600" dirty="0" smtClean="0"/>
              <a:t>method </a:t>
            </a:r>
            <a:r>
              <a:rPr lang="en-US" sz="3600" dirty="0"/>
              <a:t>names.</a:t>
            </a:r>
          </a:p>
          <a:p>
            <a:pPr lvl="1">
              <a:lnSpc>
                <a:spcPct val="85000"/>
              </a:lnSpc>
              <a:spcBef>
                <a:spcPts val="800"/>
              </a:spcBef>
            </a:pPr>
            <a:r>
              <a:rPr lang="en-US" dirty="0"/>
              <a:t>But don’t overuse it, because it makes your program unnecessarily large, etc.</a:t>
            </a:r>
          </a:p>
          <a:p>
            <a:pPr lvl="1">
              <a:lnSpc>
                <a:spcPct val="85000"/>
              </a:lnSpc>
              <a:spcBef>
                <a:spcPts val="800"/>
              </a:spcBef>
            </a:pPr>
            <a:r>
              <a:rPr lang="en-US" dirty="0"/>
              <a:t>Also, Windows computers may, in rare cases, have problems if two methods are the same except for upper and lower case. </a:t>
            </a:r>
          </a:p>
          <a:p>
            <a:pPr lvl="2">
              <a:spcBef>
                <a:spcPts val="800"/>
              </a:spcBef>
            </a:pPr>
            <a:r>
              <a:rPr lang="en-US" dirty="0"/>
              <a:t>It’s unlikely, but still something to be aware of...</a:t>
            </a:r>
          </a:p>
        </p:txBody>
      </p:sp>
    </p:spTree>
    <p:extLst>
      <p:ext uri="{BB962C8B-B14F-4D97-AF65-F5344CB8AC3E}">
        <p14:creationId xmlns:p14="http://schemas.microsoft.com/office/powerpoint/2010/main" val="53232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1381" y="981776"/>
            <a:ext cx="9269128" cy="58762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5000"/>
              </a:lnSpc>
            </a:pPr>
            <a:r>
              <a:rPr lang="en-US" sz="32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3200" dirty="0">
                <a:solidFill>
                  <a:prstClr val="white"/>
                </a:solidFill>
                <a:latin typeface="Lucida Console" panose="020B0609040504020204" pitchFamily="49" charset="0"/>
              </a:rPr>
              <a:t>cos(0)</a:t>
            </a:r>
          </a:p>
          <a:p>
            <a:pPr>
              <a:lnSpc>
                <a:spcPct val="75000"/>
              </a:lnSpc>
            </a:pPr>
            <a:r>
              <a:rPr lang="en-US" sz="3200" dirty="0" err="1">
                <a:solidFill>
                  <a:srgbClr val="5C0000"/>
                </a:solidFill>
                <a:latin typeface="Lucida Console" panose="020B0609040504020204" pitchFamily="49" charset="0"/>
              </a:rPr>
              <a:t>Traceback</a:t>
            </a: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sz="3200" dirty="0" err="1">
                <a:solidFill>
                  <a:srgbClr val="5C0000"/>
                </a:solidFill>
                <a:latin typeface="Lucida Console" panose="020B0609040504020204" pitchFamily="49" charset="0"/>
              </a:rPr>
              <a:t>stdin</a:t>
            </a: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>
              <a:lnSpc>
                <a:spcPct val="75000"/>
              </a:lnSpc>
            </a:pPr>
            <a:r>
              <a:rPr lang="en-US" sz="3200" dirty="0" err="1">
                <a:solidFill>
                  <a:srgbClr val="5C0000"/>
                </a:solidFill>
                <a:latin typeface="Lucida Console" panose="020B0609040504020204" pitchFamily="49" charset="0"/>
              </a:rPr>
              <a:t>NameError</a:t>
            </a: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: name</a:t>
            </a:r>
            <a:r>
              <a:rPr lang="en-US" sz="32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 </a:t>
            </a:r>
            <a:r>
              <a:rPr lang="en-US" sz="3200" dirty="0">
                <a:solidFill>
                  <a:srgbClr val="FF2929"/>
                </a:solidFill>
                <a:latin typeface="Lucida Console" panose="020B0609040504020204" pitchFamily="49" charset="0"/>
              </a:rPr>
              <a:t>'cos' is not defined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32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math.cos</a:t>
            </a:r>
            <a:r>
              <a:rPr lang="en-US" sz="3200" dirty="0">
                <a:solidFill>
                  <a:prstClr val="white"/>
                </a:solidFill>
                <a:latin typeface="Lucida Console" panose="020B0609040504020204" pitchFamily="49" charset="0"/>
              </a:rPr>
              <a:t>(0)</a:t>
            </a:r>
          </a:p>
          <a:p>
            <a:pPr>
              <a:lnSpc>
                <a:spcPct val="75000"/>
              </a:lnSpc>
            </a:pPr>
            <a:r>
              <a:rPr lang="en-US" sz="3200" dirty="0" err="1">
                <a:solidFill>
                  <a:srgbClr val="5C0000"/>
                </a:solidFill>
                <a:latin typeface="Lucida Console" panose="020B0609040504020204" pitchFamily="49" charset="0"/>
              </a:rPr>
              <a:t>Traceback</a:t>
            </a: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sz="3200" dirty="0" err="1">
                <a:solidFill>
                  <a:srgbClr val="5C0000"/>
                </a:solidFill>
                <a:latin typeface="Lucida Console" panose="020B0609040504020204" pitchFamily="49" charset="0"/>
              </a:rPr>
              <a:t>stdin</a:t>
            </a: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>
              <a:lnSpc>
                <a:spcPct val="75000"/>
              </a:lnSpc>
            </a:pPr>
            <a:r>
              <a:rPr lang="en-US" sz="3200" dirty="0" err="1">
                <a:solidFill>
                  <a:srgbClr val="5C0000"/>
                </a:solidFill>
                <a:latin typeface="Lucida Console" panose="020B0609040504020204" pitchFamily="49" charset="0"/>
              </a:rPr>
              <a:t>NameError</a:t>
            </a: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: name</a:t>
            </a:r>
            <a:r>
              <a:rPr lang="en-US" sz="32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 </a:t>
            </a:r>
            <a:r>
              <a:rPr lang="en-US" sz="3200" dirty="0">
                <a:solidFill>
                  <a:srgbClr val="FF2929"/>
                </a:solidFill>
                <a:latin typeface="Lucida Console" panose="020B0609040504020204" pitchFamily="49" charset="0"/>
              </a:rPr>
              <a:t>'math' is not defined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3200" dirty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3200" dirty="0">
                <a:solidFill>
                  <a:srgbClr val="FFFF00"/>
                </a:solidFill>
                <a:latin typeface="Lucida Console" panose="020B0609040504020204" pitchFamily="49" charset="0"/>
              </a:rPr>
              <a:t>import math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3200" dirty="0">
                <a:solidFill>
                  <a:prstClr val="white"/>
                </a:solidFill>
                <a:latin typeface="Lucida Console" panose="020B0609040504020204" pitchFamily="49" charset="0"/>
              </a:rPr>
              <a:t> cos(0)</a:t>
            </a:r>
          </a:p>
          <a:p>
            <a:pPr>
              <a:lnSpc>
                <a:spcPct val="75000"/>
              </a:lnSpc>
            </a:pPr>
            <a:r>
              <a:rPr lang="en-US" sz="3200" dirty="0" err="1">
                <a:solidFill>
                  <a:srgbClr val="5C0000"/>
                </a:solidFill>
                <a:latin typeface="Lucida Console" panose="020B0609040504020204" pitchFamily="49" charset="0"/>
              </a:rPr>
              <a:t>Traceback</a:t>
            </a: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sz="3200" dirty="0" err="1">
                <a:solidFill>
                  <a:srgbClr val="5C0000"/>
                </a:solidFill>
                <a:latin typeface="Lucida Console" panose="020B0609040504020204" pitchFamily="49" charset="0"/>
              </a:rPr>
              <a:t>stdin</a:t>
            </a: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>
              <a:lnSpc>
                <a:spcPct val="75000"/>
              </a:lnSpc>
            </a:pPr>
            <a:r>
              <a:rPr lang="en-US" sz="3200" dirty="0" err="1">
                <a:solidFill>
                  <a:srgbClr val="5C0000"/>
                </a:solidFill>
                <a:latin typeface="Lucida Console" panose="020B0609040504020204" pitchFamily="49" charset="0"/>
              </a:rPr>
              <a:t>NameError</a:t>
            </a: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: name</a:t>
            </a:r>
            <a:r>
              <a:rPr lang="en-US" sz="32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z="3200" dirty="0">
                <a:solidFill>
                  <a:srgbClr val="FF2929"/>
                </a:solidFill>
                <a:latin typeface="Lucida Console" panose="020B0609040504020204" pitchFamily="49" charset="0"/>
              </a:rPr>
              <a:t>'cos' is not defined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3200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math.cos</a:t>
            </a:r>
            <a:r>
              <a:rPr lang="en-US" sz="3200" dirty="0">
                <a:solidFill>
                  <a:srgbClr val="FF99FF"/>
                </a:solidFill>
                <a:latin typeface="Lucida Console" panose="020B0609040504020204" pitchFamily="49" charset="0"/>
              </a:rPr>
              <a:t>(0)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solidFill>
                  <a:srgbClr val="FF99FF"/>
                </a:solidFill>
                <a:latin typeface="Lucida Console" panose="020B0609040504020204" pitchFamily="49" charset="0"/>
              </a:rPr>
              <a:t>1.0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05781"/>
            <a:ext cx="9729788" cy="104616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US" altLang="en-US" dirty="0" smtClean="0">
                <a:solidFill>
                  <a:srgbClr val="0070C0"/>
                </a:solidFill>
              </a:rPr>
              <a:t>The imported object has methods</a:t>
            </a:r>
            <a:endParaRPr lang="en-GB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007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1381" y="981776"/>
            <a:ext cx="9269128" cy="58762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5000"/>
              </a:lnSpc>
            </a:pPr>
            <a:r>
              <a:rPr lang="en-US" sz="32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3200" dirty="0">
                <a:solidFill>
                  <a:prstClr val="white"/>
                </a:solidFill>
                <a:latin typeface="Lucida Console" panose="020B0609040504020204" pitchFamily="49" charset="0"/>
              </a:rPr>
              <a:t>cos(0)</a:t>
            </a:r>
          </a:p>
          <a:p>
            <a:pPr>
              <a:lnSpc>
                <a:spcPct val="75000"/>
              </a:lnSpc>
            </a:pPr>
            <a:r>
              <a:rPr lang="en-US" sz="3200" dirty="0" err="1">
                <a:solidFill>
                  <a:srgbClr val="5C0000"/>
                </a:solidFill>
                <a:latin typeface="Lucida Console" panose="020B0609040504020204" pitchFamily="49" charset="0"/>
              </a:rPr>
              <a:t>Traceback</a:t>
            </a: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sz="3200" dirty="0" err="1">
                <a:solidFill>
                  <a:srgbClr val="5C0000"/>
                </a:solidFill>
                <a:latin typeface="Lucida Console" panose="020B0609040504020204" pitchFamily="49" charset="0"/>
              </a:rPr>
              <a:t>stdin</a:t>
            </a: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>
              <a:lnSpc>
                <a:spcPct val="75000"/>
              </a:lnSpc>
            </a:pPr>
            <a:r>
              <a:rPr lang="en-US" sz="3200" dirty="0" err="1">
                <a:solidFill>
                  <a:srgbClr val="5C0000"/>
                </a:solidFill>
                <a:latin typeface="Lucida Console" panose="020B0609040504020204" pitchFamily="49" charset="0"/>
              </a:rPr>
              <a:t>NameError</a:t>
            </a: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: name</a:t>
            </a:r>
            <a:r>
              <a:rPr lang="en-US" sz="32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 </a:t>
            </a:r>
            <a:r>
              <a:rPr lang="en-US" sz="3200" dirty="0">
                <a:solidFill>
                  <a:srgbClr val="FF2929"/>
                </a:solidFill>
                <a:latin typeface="Lucida Console" panose="020B0609040504020204" pitchFamily="49" charset="0"/>
              </a:rPr>
              <a:t>'cos' is not defined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32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math.cos</a:t>
            </a:r>
            <a:r>
              <a:rPr lang="en-US" sz="3200" dirty="0">
                <a:solidFill>
                  <a:prstClr val="white"/>
                </a:solidFill>
                <a:latin typeface="Lucida Console" panose="020B0609040504020204" pitchFamily="49" charset="0"/>
              </a:rPr>
              <a:t>(0)</a:t>
            </a:r>
          </a:p>
          <a:p>
            <a:pPr>
              <a:lnSpc>
                <a:spcPct val="75000"/>
              </a:lnSpc>
            </a:pPr>
            <a:r>
              <a:rPr lang="en-US" sz="3200" dirty="0" err="1">
                <a:solidFill>
                  <a:srgbClr val="5C0000"/>
                </a:solidFill>
                <a:latin typeface="Lucida Console" panose="020B0609040504020204" pitchFamily="49" charset="0"/>
              </a:rPr>
              <a:t>Traceback</a:t>
            </a: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sz="3200" dirty="0" err="1">
                <a:solidFill>
                  <a:srgbClr val="5C0000"/>
                </a:solidFill>
                <a:latin typeface="Lucida Console" panose="020B0609040504020204" pitchFamily="49" charset="0"/>
              </a:rPr>
              <a:t>stdin</a:t>
            </a: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>
              <a:lnSpc>
                <a:spcPct val="75000"/>
              </a:lnSpc>
            </a:pPr>
            <a:r>
              <a:rPr lang="en-US" sz="3200" dirty="0" err="1">
                <a:solidFill>
                  <a:srgbClr val="5C0000"/>
                </a:solidFill>
                <a:latin typeface="Lucida Console" panose="020B0609040504020204" pitchFamily="49" charset="0"/>
              </a:rPr>
              <a:t>NameError</a:t>
            </a: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: name</a:t>
            </a:r>
            <a:r>
              <a:rPr lang="en-US" sz="32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 </a:t>
            </a:r>
            <a:r>
              <a:rPr lang="en-US" sz="3200" dirty="0">
                <a:solidFill>
                  <a:srgbClr val="FF2929"/>
                </a:solidFill>
                <a:latin typeface="Lucida Console" panose="020B0609040504020204" pitchFamily="49" charset="0"/>
              </a:rPr>
              <a:t>'math' is not defined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3200" dirty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3200" dirty="0">
                <a:solidFill>
                  <a:srgbClr val="FFFF00"/>
                </a:solidFill>
                <a:latin typeface="Lucida Console" panose="020B0609040504020204" pitchFamily="49" charset="0"/>
              </a:rPr>
              <a:t>from math import </a:t>
            </a:r>
            <a:r>
              <a:rPr lang="en-US" sz="3200" dirty="0" smtClean="0">
                <a:solidFill>
                  <a:srgbClr val="FFFF00"/>
                </a:solidFill>
                <a:latin typeface="Lucida Console" panose="020B0609040504020204" pitchFamily="49" charset="0"/>
              </a:rPr>
              <a:t>cos</a:t>
            </a:r>
            <a:endParaRPr lang="en-US" sz="3200" dirty="0">
              <a:solidFill>
                <a:srgbClr val="FFFF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75000"/>
              </a:lnSpc>
            </a:pPr>
            <a:r>
              <a:rPr lang="en-US" sz="32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3200" dirty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math.cos</a:t>
            </a:r>
            <a:r>
              <a:rPr 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(0)</a:t>
            </a:r>
          </a:p>
          <a:p>
            <a:pPr>
              <a:lnSpc>
                <a:spcPct val="75000"/>
              </a:lnSpc>
            </a:pPr>
            <a:r>
              <a:rPr lang="en-US" sz="3200" dirty="0" err="1" smtClean="0">
                <a:solidFill>
                  <a:srgbClr val="5C0000"/>
                </a:solidFill>
                <a:latin typeface="Lucida Console" panose="020B0609040504020204" pitchFamily="49" charset="0"/>
              </a:rPr>
              <a:t>Traceback</a:t>
            </a:r>
            <a:r>
              <a:rPr lang="en-US" sz="3200" dirty="0" smtClean="0">
                <a:solidFill>
                  <a:srgbClr val="5C0000"/>
                </a:solidFill>
                <a:latin typeface="Lucida Console" panose="020B0609040504020204" pitchFamily="49" charset="0"/>
              </a:rPr>
              <a:t> </a:t>
            </a: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(most recent call last):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sz="3200" dirty="0" err="1">
                <a:solidFill>
                  <a:srgbClr val="5C0000"/>
                </a:solidFill>
                <a:latin typeface="Lucida Console" panose="020B0609040504020204" pitchFamily="49" charset="0"/>
              </a:rPr>
              <a:t>stdin</a:t>
            </a: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>
              <a:lnSpc>
                <a:spcPct val="75000"/>
              </a:lnSpc>
            </a:pPr>
            <a:r>
              <a:rPr lang="en-US" sz="3200" dirty="0" err="1">
                <a:solidFill>
                  <a:srgbClr val="5C0000"/>
                </a:solidFill>
                <a:latin typeface="Lucida Console" panose="020B0609040504020204" pitchFamily="49" charset="0"/>
              </a:rPr>
              <a:t>NameError</a:t>
            </a:r>
            <a:r>
              <a:rPr lang="en-US" sz="3200" dirty="0">
                <a:solidFill>
                  <a:srgbClr val="5C0000"/>
                </a:solidFill>
                <a:latin typeface="Lucida Console" panose="020B0609040504020204" pitchFamily="49" charset="0"/>
              </a:rPr>
              <a:t>: name</a:t>
            </a:r>
            <a:r>
              <a:rPr lang="en-US" sz="3200" dirty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r>
              <a:rPr lang="en-US" sz="3200" dirty="0" smtClean="0">
                <a:solidFill>
                  <a:srgbClr val="FF2929"/>
                </a:solidFill>
                <a:latin typeface="Lucida Console" panose="020B0609040504020204" pitchFamily="49" charset="0"/>
              </a:rPr>
              <a:t>'math' </a:t>
            </a:r>
            <a:r>
              <a:rPr lang="en-US" sz="3200" dirty="0">
                <a:solidFill>
                  <a:srgbClr val="FF2929"/>
                </a:solidFill>
                <a:latin typeface="Lucida Console" panose="020B0609040504020204" pitchFamily="49" charset="0"/>
              </a:rPr>
              <a:t>is not defined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3200" dirty="0" smtClean="0">
                <a:solidFill>
                  <a:srgbClr val="FF99FF"/>
                </a:solidFill>
                <a:latin typeface="Lucida Console" panose="020B0609040504020204" pitchFamily="49" charset="0"/>
              </a:rPr>
              <a:t>cos(0</a:t>
            </a:r>
            <a:r>
              <a:rPr lang="en-US" sz="3200" dirty="0">
                <a:solidFill>
                  <a:srgbClr val="FF99FF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solidFill>
                  <a:srgbClr val="FF99FF"/>
                </a:solidFill>
                <a:latin typeface="Lucida Console" panose="020B0609040504020204" pitchFamily="49" charset="0"/>
              </a:rPr>
              <a:t>1.0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05781"/>
            <a:ext cx="9729788" cy="104616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US" altLang="en-US" spc="-50" dirty="0">
                <a:solidFill>
                  <a:srgbClr val="0070C0"/>
                </a:solidFill>
              </a:rPr>
              <a:t>But</a:t>
            </a:r>
            <a:r>
              <a:rPr lang="en-US" altLang="en-US" sz="3600" spc="-50" dirty="0">
                <a:solidFill>
                  <a:srgbClr val="0070C0"/>
                </a:solidFill>
              </a:rPr>
              <a:t> </a:t>
            </a:r>
            <a:r>
              <a:rPr lang="en-US" altLang="en-US" spc="-50" dirty="0">
                <a:solidFill>
                  <a:srgbClr val="0070C0"/>
                </a:solidFill>
              </a:rPr>
              <a:t>fr</a:t>
            </a:r>
            <a:r>
              <a:rPr lang="en-US" altLang="en-US" spc="-200" dirty="0">
                <a:solidFill>
                  <a:srgbClr val="0070C0"/>
                </a:solidFill>
              </a:rPr>
              <a:t>o</a:t>
            </a:r>
            <a:r>
              <a:rPr lang="en-US" altLang="en-US" spc="-50" dirty="0">
                <a:solidFill>
                  <a:srgbClr val="0070C0"/>
                </a:solidFill>
              </a:rPr>
              <a:t>m</a:t>
            </a:r>
            <a:r>
              <a:rPr lang="en-US" altLang="en-US" sz="3600" b="1" spc="-50" dirty="0">
                <a:solidFill>
                  <a:srgbClr val="0070C0"/>
                </a:solidFill>
              </a:rPr>
              <a:t>...</a:t>
            </a:r>
            <a:r>
              <a:rPr lang="en-US" altLang="en-US" spc="-50" dirty="0" smtClean="0">
                <a:solidFill>
                  <a:srgbClr val="0070C0"/>
                </a:solidFill>
              </a:rPr>
              <a:t>i</a:t>
            </a:r>
            <a:r>
              <a:rPr lang="en-US" altLang="en-US" spc="-200" dirty="0" smtClean="0">
                <a:solidFill>
                  <a:srgbClr val="0070C0"/>
                </a:solidFill>
              </a:rPr>
              <a:t>m</a:t>
            </a:r>
            <a:r>
              <a:rPr lang="en-US" altLang="en-US" spc="-50" dirty="0" smtClean="0">
                <a:solidFill>
                  <a:srgbClr val="0070C0"/>
                </a:solidFill>
              </a:rPr>
              <a:t>p</a:t>
            </a:r>
            <a:r>
              <a:rPr lang="en-US" altLang="en-US" spc="-200" dirty="0" smtClean="0">
                <a:solidFill>
                  <a:srgbClr val="0070C0"/>
                </a:solidFill>
              </a:rPr>
              <a:t>o</a:t>
            </a:r>
            <a:r>
              <a:rPr lang="en-US" altLang="en-US" spc="-50" dirty="0" smtClean="0">
                <a:solidFill>
                  <a:srgbClr val="0070C0"/>
                </a:solidFill>
              </a:rPr>
              <a:t>rt</a:t>
            </a:r>
            <a:r>
              <a:rPr lang="en-US" altLang="en-US" sz="4000" spc="-50" dirty="0" smtClean="0">
                <a:solidFill>
                  <a:srgbClr val="0070C0"/>
                </a:solidFill>
              </a:rPr>
              <a:t> </a:t>
            </a:r>
            <a:r>
              <a:rPr lang="en-US" altLang="en-US" spc="-200" dirty="0" smtClean="0">
                <a:solidFill>
                  <a:srgbClr val="0070C0"/>
                </a:solidFill>
              </a:rPr>
              <a:t>h</a:t>
            </a:r>
            <a:r>
              <a:rPr lang="en-US" altLang="en-US" spc="-50" dirty="0" smtClean="0">
                <a:solidFill>
                  <a:srgbClr val="0070C0"/>
                </a:solidFill>
              </a:rPr>
              <a:t>as</a:t>
            </a:r>
            <a:r>
              <a:rPr lang="en-US" altLang="en-US" sz="4000" spc="-50" dirty="0" smtClean="0">
                <a:solidFill>
                  <a:srgbClr val="0070C0"/>
                </a:solidFill>
              </a:rPr>
              <a:t> </a:t>
            </a:r>
            <a:r>
              <a:rPr lang="en-US" altLang="en-US" spc="-50" dirty="0" smtClean="0">
                <a:solidFill>
                  <a:srgbClr val="0070C0"/>
                </a:solidFill>
              </a:rPr>
              <a:t>direct</a:t>
            </a:r>
            <a:r>
              <a:rPr lang="en-US" altLang="en-US" sz="4000" spc="-50" dirty="0" smtClean="0">
                <a:solidFill>
                  <a:srgbClr val="0070C0"/>
                </a:solidFill>
              </a:rPr>
              <a:t> </a:t>
            </a:r>
            <a:r>
              <a:rPr lang="en-US" altLang="en-US" spc="-50" dirty="0">
                <a:solidFill>
                  <a:srgbClr val="0070C0"/>
                </a:solidFill>
              </a:rPr>
              <a:t>access:</a:t>
            </a:r>
            <a:endParaRPr lang="en-GB" altLang="en-US" spc="-5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654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1483" y="2316635"/>
            <a:ext cx="8978061" cy="453758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80000"/>
              </a:lnSpc>
            </a:pPr>
            <a:endParaRPr lang="en-US" sz="2800" dirty="0">
              <a:solidFill>
                <a:prstClr val="white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5" y="1477520"/>
            <a:ext cx="9844903" cy="5562600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1800"/>
              </a:spcAft>
              <a:buNone/>
              <a:defRPr/>
            </a:pPr>
            <a:r>
              <a:rPr lang="en-US" sz="3200" dirty="0">
                <a:solidFill>
                  <a:schemeClr val="bg1"/>
                </a:solidFill>
              </a:rPr>
              <a:t>When importing, you can use as to rename the module (or a </a:t>
            </a:r>
            <a:r>
              <a:rPr lang="en-US" sz="2600" dirty="0">
                <a:solidFill>
                  <a:schemeClr val="bg1"/>
                </a:solidFill>
              </a:rPr>
              <a:t>single attribute/method from it):</a:t>
            </a: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3000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30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import random </a:t>
            </a:r>
            <a:r>
              <a:rPr lang="en-US" sz="3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as</a:t>
            </a:r>
            <a:r>
              <a:rPr lang="en-US" sz="30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sz="3000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myname</a:t>
            </a:r>
            <a:endParaRPr lang="en-US" sz="3000" b="1" dirty="0">
              <a:solidFill>
                <a:srgbClr val="FFFF00"/>
              </a:solidFill>
              <a:latin typeface="Lucida Console" panose="020B0609040504020204" pitchFamily="49" charset="0"/>
            </a:endParaRP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30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sz="3000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myname.randrange</a:t>
            </a:r>
            <a:r>
              <a:rPr lang="en-US" sz="30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(10)</a:t>
            </a:r>
            <a:r>
              <a:rPr lang="en-US" sz="3000" b="1" dirty="0">
                <a:solidFill>
                  <a:srgbClr val="FF99CC"/>
                </a:solidFill>
                <a:latin typeface="Lucida Console" panose="020B0609040504020204" pitchFamily="49" charset="0"/>
              </a:rPr>
              <a:t> </a:t>
            </a:r>
            <a:endParaRPr lang="en-US" sz="3000" b="1" dirty="0">
              <a:solidFill>
                <a:srgbClr val="FFFF00"/>
              </a:solidFill>
              <a:latin typeface="Lucida Console" panose="020B0609040504020204" pitchFamily="49" charset="0"/>
            </a:endParaRP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b="1" dirty="0">
                <a:solidFill>
                  <a:schemeClr val="bg1"/>
                </a:solidFill>
                <a:latin typeface="Lucida Console" panose="020B0609040504020204" pitchFamily="49" charset="0"/>
              </a:rPr>
              <a:t>7</a:t>
            </a: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3000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random.randrange</a:t>
            </a:r>
            <a:r>
              <a:rPr lang="en-US" sz="30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(10)</a:t>
            </a: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b="1" dirty="0" err="1">
                <a:solidFill>
                  <a:srgbClr val="5C0000"/>
                </a:solidFill>
                <a:latin typeface="Lucida Console" panose="020B0609040504020204" pitchFamily="49" charset="0"/>
              </a:rPr>
              <a:t>Traceback</a:t>
            </a:r>
            <a:r>
              <a:rPr lang="en-US" sz="3000" b="1" dirty="0">
                <a:solidFill>
                  <a:srgbClr val="5C0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b="1" dirty="0">
                <a:solidFill>
                  <a:srgbClr val="5C0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sz="3000" b="1" dirty="0" err="1">
                <a:solidFill>
                  <a:srgbClr val="5C0000"/>
                </a:solidFill>
                <a:latin typeface="Lucida Console" panose="020B0609040504020204" pitchFamily="49" charset="0"/>
              </a:rPr>
              <a:t>stdin</a:t>
            </a:r>
            <a:r>
              <a:rPr lang="en-US" sz="3000" b="1" dirty="0">
                <a:solidFill>
                  <a:srgbClr val="5C0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b="1" dirty="0" err="1">
                <a:solidFill>
                  <a:srgbClr val="5C0000"/>
                </a:solidFill>
                <a:latin typeface="Lucida Console" panose="020B0609040504020204" pitchFamily="49" charset="0"/>
              </a:rPr>
              <a:t>NameError</a:t>
            </a:r>
            <a:r>
              <a:rPr lang="en-US" sz="3000" b="1" dirty="0">
                <a:solidFill>
                  <a:srgbClr val="5C0000"/>
                </a:solidFill>
                <a:latin typeface="Lucida Console" panose="020B0609040504020204" pitchFamily="49" charset="0"/>
              </a:rPr>
              <a:t>: </a:t>
            </a:r>
            <a:r>
              <a:rPr lang="en-US" sz="3000" b="1" dirty="0">
                <a:solidFill>
                  <a:srgbClr val="FF2929"/>
                </a:solidFill>
                <a:latin typeface="Lucida Console" panose="020B0609040504020204" pitchFamily="49" charset="0"/>
              </a:rPr>
              <a:t>name 'random' is not defined</a:t>
            </a: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3000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3000" b="1" dirty="0">
                <a:latin typeface="Lucida Console" panose="020B0609040504020204" pitchFamily="49" charset="0"/>
              </a:rPr>
              <a:t>from sys import </a:t>
            </a:r>
            <a:r>
              <a:rPr lang="en-US" sz="3000" b="1" dirty="0" err="1">
                <a:latin typeface="Lucida Console" panose="020B0609040504020204" pitchFamily="49" charset="0"/>
              </a:rPr>
              <a:t>maxunicode</a:t>
            </a:r>
            <a:r>
              <a:rPr lang="en-US" sz="3000" b="1" dirty="0">
                <a:latin typeface="Lucida Console" panose="020B0609040504020204" pitchFamily="49" charset="0"/>
              </a:rPr>
              <a:t> as X</a:t>
            </a: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dirty="0">
                <a:latin typeface="Lucida Console" panose="020B0609040504020204" pitchFamily="49" charset="0"/>
              </a:rPr>
              <a:t>&gt;&gt;&gt;</a:t>
            </a:r>
            <a:r>
              <a:rPr lang="en-US" sz="3000" b="1" dirty="0">
                <a:latin typeface="Lucida Console" panose="020B0609040504020204" pitchFamily="49" charset="0"/>
              </a:rPr>
              <a:t> print (X)#'X' versus '</a:t>
            </a:r>
            <a:r>
              <a:rPr lang="en-US" sz="3000" b="1" dirty="0" err="1">
                <a:latin typeface="Lucida Console" panose="020B0609040504020204" pitchFamily="49" charset="0"/>
              </a:rPr>
              <a:t>sys.maxunicode</a:t>
            </a:r>
            <a:r>
              <a:rPr lang="en-US" sz="3000" b="1" dirty="0">
                <a:latin typeface="Lucida Console" panose="020B0609040504020204" pitchFamily="49" charset="0"/>
              </a:rPr>
              <a:t>'</a:t>
            </a: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b="1" dirty="0">
                <a:latin typeface="Lucida Console" panose="020B0609040504020204" pitchFamily="49" charset="0"/>
              </a:rPr>
              <a:t>1114111</a:t>
            </a: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dirty="0">
                <a:latin typeface="Lucida Console" panose="020B0609040504020204" pitchFamily="49" charset="0"/>
              </a:rPr>
              <a:t>&gt;&gt;&gt;</a:t>
            </a:r>
            <a:r>
              <a:rPr lang="en-US" sz="3000" b="1" dirty="0">
                <a:latin typeface="Lucida Console" panose="020B0609040504020204" pitchFamily="49" charset="0"/>
              </a:rPr>
              <a:t> print (</a:t>
            </a:r>
            <a:r>
              <a:rPr lang="en-US" sz="3000" b="1" dirty="0" err="1">
                <a:latin typeface="Lucida Console" panose="020B0609040504020204" pitchFamily="49" charset="0"/>
              </a:rPr>
              <a:t>maxunicode</a:t>
            </a:r>
            <a:r>
              <a:rPr lang="en-US" sz="3000" b="1" dirty="0">
                <a:latin typeface="Lucida Console" panose="020B0609040504020204" pitchFamily="49" charset="0"/>
              </a:rPr>
              <a:t>) </a:t>
            </a: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altLang="zh-TW" sz="3000" b="1" dirty="0" err="1">
                <a:latin typeface="Lucida Console" panose="020B0609040504020204" pitchFamily="49" charset="0"/>
              </a:rPr>
              <a:t>Traceback</a:t>
            </a:r>
            <a:r>
              <a:rPr lang="en-US" altLang="zh-TW" sz="3000" b="1" dirty="0">
                <a:latin typeface="Lucida Console" panose="020B0609040504020204" pitchFamily="49" charset="0"/>
              </a:rPr>
              <a:t> (most recent call last):</a:t>
            </a: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altLang="zh-TW" sz="3000" b="1" dirty="0">
                <a:latin typeface="Lucida Console" panose="020B0609040504020204" pitchFamily="49" charset="0"/>
              </a:rPr>
              <a:t>  File "&lt;</a:t>
            </a:r>
            <a:r>
              <a:rPr lang="en-US" altLang="zh-TW" sz="3000" b="1" dirty="0" err="1">
                <a:latin typeface="Lucida Console" panose="020B0609040504020204" pitchFamily="49" charset="0"/>
              </a:rPr>
              <a:t>stdin</a:t>
            </a:r>
            <a:r>
              <a:rPr lang="en-US" altLang="zh-TW" sz="3000" b="1" dirty="0">
                <a:latin typeface="Lucida Console" panose="020B0609040504020204" pitchFamily="49" charset="0"/>
              </a:rPr>
              <a:t>&gt;", line 1, in &lt;module&gt;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88757" y="1247321"/>
            <a:ext cx="9115125" cy="13218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800"/>
              </a:spcAft>
              <a:buNone/>
              <a:defRPr/>
            </a:pPr>
            <a:r>
              <a:rPr lang="en-US" altLang="zh-TW" sz="3600" dirty="0">
                <a:solidFill>
                  <a:prstClr val="black"/>
                </a:solidFill>
              </a:rPr>
              <a:t>When importing, you can use </a:t>
            </a:r>
            <a:r>
              <a:rPr lang="en-US" altLang="zh-TW" sz="3600" dirty="0">
                <a:solidFill>
                  <a:srgbClr val="FF0000"/>
                </a:solidFill>
              </a:rPr>
              <a:t>as</a:t>
            </a:r>
            <a:r>
              <a:rPr lang="en-US" altLang="zh-TW" sz="3600" dirty="0">
                <a:solidFill>
                  <a:prstClr val="black"/>
                </a:solidFill>
              </a:rPr>
              <a:t> to rename the module: </a:t>
            </a:r>
            <a:r>
              <a:rPr lang="en-US" altLang="zh-TW" sz="3600" dirty="0">
                <a:solidFill>
                  <a:prstClr val="white"/>
                </a:solidFill>
              </a:rPr>
              <a:t>(or a single attribute/method from it):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-438943" y="1"/>
            <a:ext cx="10607675" cy="13973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900" dirty="0">
                <a:solidFill>
                  <a:srgbClr val="0070C0"/>
                </a:solidFill>
              </a:rPr>
              <a:t>You Can Rename a Module</a:t>
            </a:r>
            <a:br>
              <a:rPr lang="en-US" altLang="en-US" sz="4900" dirty="0">
                <a:solidFill>
                  <a:srgbClr val="0070C0"/>
                </a:solidFill>
              </a:rPr>
            </a:br>
            <a:r>
              <a:rPr lang="en-US" altLang="en-US" sz="4900" dirty="0">
                <a:solidFill>
                  <a:srgbClr val="0070C0"/>
                </a:solidFill>
              </a:rPr>
              <a:t>with “import </a:t>
            </a:r>
            <a:r>
              <a:rPr lang="en-US" altLang="en-US" sz="4900" b="1" dirty="0">
                <a:solidFill>
                  <a:srgbClr val="FF0000"/>
                </a:solidFill>
              </a:rPr>
              <a:t>as</a:t>
            </a:r>
            <a:r>
              <a:rPr lang="en-US" altLang="en-US" sz="4900" dirty="0">
                <a:solidFill>
                  <a:srgbClr val="0070C0"/>
                </a:solidFill>
              </a:rPr>
              <a:t>”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233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1483" y="2316635"/>
            <a:ext cx="8978061" cy="453758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80000"/>
              </a:lnSpc>
            </a:pPr>
            <a:endParaRPr lang="en-US" sz="2800" dirty="0">
              <a:solidFill>
                <a:prstClr val="white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5" y="1477520"/>
            <a:ext cx="9844903" cy="5562600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1800"/>
              </a:spcAft>
              <a:buNone/>
              <a:defRPr/>
            </a:pPr>
            <a:r>
              <a:rPr lang="en-US" sz="3200" dirty="0">
                <a:solidFill>
                  <a:schemeClr val="bg1"/>
                </a:solidFill>
              </a:rPr>
              <a:t>When importing, you can use as to rename the module (or a </a:t>
            </a:r>
            <a:r>
              <a:rPr lang="en-US" sz="2600" dirty="0">
                <a:solidFill>
                  <a:schemeClr val="bg1"/>
                </a:solidFill>
              </a:rPr>
              <a:t>single attribute/method from it):</a:t>
            </a: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3000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30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import random </a:t>
            </a:r>
            <a:r>
              <a:rPr lang="en-US" sz="3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as</a:t>
            </a:r>
            <a:r>
              <a:rPr lang="en-US" sz="30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sz="3000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myname</a:t>
            </a:r>
            <a:endParaRPr lang="en-US" sz="3000" b="1" dirty="0">
              <a:solidFill>
                <a:srgbClr val="FFFF00"/>
              </a:solidFill>
              <a:latin typeface="Lucida Console" panose="020B0609040504020204" pitchFamily="49" charset="0"/>
            </a:endParaRP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30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sz="3000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myname.randrange</a:t>
            </a:r>
            <a:r>
              <a:rPr lang="en-US" sz="30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(10)</a:t>
            </a:r>
            <a:r>
              <a:rPr lang="en-US" sz="3000" b="1" dirty="0">
                <a:solidFill>
                  <a:srgbClr val="FF99CC"/>
                </a:solidFill>
                <a:latin typeface="Lucida Console" panose="020B0609040504020204" pitchFamily="49" charset="0"/>
              </a:rPr>
              <a:t> </a:t>
            </a:r>
            <a:endParaRPr lang="en-US" sz="3000" b="1" dirty="0">
              <a:solidFill>
                <a:srgbClr val="FFFF00"/>
              </a:solidFill>
              <a:latin typeface="Lucida Console" panose="020B0609040504020204" pitchFamily="49" charset="0"/>
            </a:endParaRP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b="1" dirty="0">
                <a:solidFill>
                  <a:schemeClr val="bg1"/>
                </a:solidFill>
                <a:latin typeface="Lucida Console" panose="020B0609040504020204" pitchFamily="49" charset="0"/>
              </a:rPr>
              <a:t>7</a:t>
            </a: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3000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random.randrange</a:t>
            </a:r>
            <a:r>
              <a:rPr lang="en-US" sz="30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(10)</a:t>
            </a: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b="1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Traceback</a:t>
            </a:r>
            <a:r>
              <a:rPr lang="en-US" sz="3000" b="1" dirty="0">
                <a:solidFill>
                  <a:srgbClr val="860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b="1" dirty="0">
                <a:solidFill>
                  <a:srgbClr val="860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sz="3000" b="1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stdin</a:t>
            </a:r>
            <a:r>
              <a:rPr lang="en-US" sz="3000" b="1" dirty="0">
                <a:solidFill>
                  <a:srgbClr val="860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b="1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NameError</a:t>
            </a:r>
            <a:r>
              <a:rPr lang="en-US" sz="3000" b="1" dirty="0">
                <a:solidFill>
                  <a:srgbClr val="860000"/>
                </a:solidFill>
                <a:latin typeface="Lucida Console" panose="020B0609040504020204" pitchFamily="49" charset="0"/>
              </a:rPr>
              <a:t>:</a:t>
            </a:r>
            <a:r>
              <a:rPr lang="en-US" sz="3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3000" b="1" dirty="0">
                <a:solidFill>
                  <a:srgbClr val="FF2929"/>
                </a:solidFill>
                <a:latin typeface="Lucida Console" panose="020B0609040504020204" pitchFamily="49" charset="0"/>
              </a:rPr>
              <a:t>name 'random' is not defined</a:t>
            </a: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3000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30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from sys import </a:t>
            </a:r>
            <a:r>
              <a:rPr lang="en-US" sz="3000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maxunicode</a:t>
            </a:r>
            <a:r>
              <a:rPr lang="en-US" sz="30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as</a:t>
            </a:r>
            <a:r>
              <a:rPr lang="en-US" sz="30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 X</a:t>
            </a: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30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 print (X)</a:t>
            </a:r>
            <a:r>
              <a:rPr lang="en-US" sz="3000" b="1" dirty="0">
                <a:solidFill>
                  <a:srgbClr val="FF99CC"/>
                </a:solidFill>
                <a:latin typeface="Lucida Console" panose="020B0609040504020204" pitchFamily="49" charset="0"/>
              </a:rPr>
              <a:t>#'X' versus '</a:t>
            </a:r>
            <a:r>
              <a:rPr lang="en-US" sz="3000" b="1" dirty="0" err="1">
                <a:solidFill>
                  <a:srgbClr val="FF99CC"/>
                </a:solidFill>
                <a:latin typeface="Lucida Console" panose="020B0609040504020204" pitchFamily="49" charset="0"/>
              </a:rPr>
              <a:t>sys.maxunicode</a:t>
            </a:r>
            <a:r>
              <a:rPr lang="en-US" sz="3000" b="1" dirty="0">
                <a:solidFill>
                  <a:srgbClr val="FF99CC"/>
                </a:solidFill>
                <a:latin typeface="Lucida Console" panose="020B0609040504020204" pitchFamily="49" charset="0"/>
              </a:rPr>
              <a:t>'</a:t>
            </a:r>
            <a:endParaRPr lang="en-US" sz="3000" b="1" dirty="0">
              <a:solidFill>
                <a:srgbClr val="FFFF00"/>
              </a:solidFill>
              <a:latin typeface="Lucida Console" panose="020B0609040504020204" pitchFamily="49" charset="0"/>
            </a:endParaRP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b="1" dirty="0">
                <a:solidFill>
                  <a:schemeClr val="bg1"/>
                </a:solidFill>
                <a:latin typeface="Lucida Console" panose="020B0609040504020204" pitchFamily="49" charset="0"/>
              </a:rPr>
              <a:t>1114111</a:t>
            </a: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sz="30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30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 print (</a:t>
            </a:r>
            <a:r>
              <a:rPr lang="en-US" sz="3000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maxunicode</a:t>
            </a:r>
            <a:r>
              <a:rPr lang="en-US" sz="30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)</a:t>
            </a:r>
            <a:r>
              <a:rPr lang="en-US" sz="3000" b="1" dirty="0">
                <a:solidFill>
                  <a:srgbClr val="FF99CC"/>
                </a:solidFill>
                <a:latin typeface="Lucida Console" panose="020B0609040504020204" pitchFamily="49" charset="0"/>
              </a:rPr>
              <a:t> </a:t>
            </a:r>
            <a:endParaRPr lang="en-US" sz="3000" b="1" dirty="0">
              <a:solidFill>
                <a:srgbClr val="FFFF00"/>
              </a:solidFill>
              <a:latin typeface="Lucida Console" panose="020B0609040504020204" pitchFamily="49" charset="0"/>
            </a:endParaRP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altLang="zh-TW" sz="3000" b="1" dirty="0" err="1">
                <a:solidFill>
                  <a:srgbClr val="9A0000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3000" b="1" dirty="0">
                <a:solidFill>
                  <a:srgbClr val="9A0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344488">
              <a:spcBef>
                <a:spcPts val="0"/>
              </a:spcBef>
              <a:buNone/>
              <a:defRPr/>
            </a:pPr>
            <a:r>
              <a:rPr lang="en-US" altLang="zh-TW" sz="3000" b="1" dirty="0">
                <a:solidFill>
                  <a:srgbClr val="9A0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3000" b="1" dirty="0" err="1">
                <a:solidFill>
                  <a:srgbClr val="9A0000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3000" b="1" dirty="0">
                <a:solidFill>
                  <a:srgbClr val="9A0000"/>
                </a:solidFill>
                <a:latin typeface="Lucida Console" panose="020B0609040504020204" pitchFamily="49" charset="0"/>
              </a:rPr>
              <a:t>&gt;", line 1, in &lt;module&gt;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382502" y="2348164"/>
            <a:ext cx="8690416" cy="2388128"/>
          </a:xfrm>
          <a:prstGeom prst="rect">
            <a:avLst/>
          </a:prstGeom>
          <a:solidFill>
            <a:srgbClr val="0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88757" y="1247321"/>
            <a:ext cx="9115125" cy="13218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800"/>
              </a:spcAft>
              <a:buNone/>
              <a:defRPr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</a:rPr>
              <a:t>When importing, you can use as to rename the </a:t>
            </a:r>
            <a:r>
              <a:rPr lang="en-US" altLang="zh-TW" sz="3600" dirty="0" smtClean="0">
                <a:solidFill>
                  <a:schemeClr val="bg1">
                    <a:lumMod val="65000"/>
                  </a:schemeClr>
                </a:solidFill>
              </a:rPr>
              <a:t>module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3600" dirty="0">
                <a:solidFill>
                  <a:srgbClr val="FF0000"/>
                </a:solidFill>
              </a:rPr>
              <a:t>(or a single attribute/method from it</a:t>
            </a:r>
            <a:r>
              <a:rPr lang="en-US" altLang="zh-TW" sz="3600" dirty="0" smtClean="0">
                <a:solidFill>
                  <a:srgbClr val="FF0000"/>
                </a:solidFill>
              </a:rPr>
              <a:t>):</a:t>
            </a:r>
            <a:endParaRPr lang="en-US" altLang="zh-TW" sz="3600" dirty="0">
              <a:solidFill>
                <a:srgbClr val="FF0000"/>
              </a:solidFill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-438943" y="1"/>
            <a:ext cx="10607675" cy="13973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900" dirty="0">
                <a:solidFill>
                  <a:srgbClr val="0070C0"/>
                </a:solidFill>
              </a:rPr>
              <a:t>You Can Rename a Module</a:t>
            </a:r>
            <a:br>
              <a:rPr lang="en-US" altLang="en-US" sz="4900" dirty="0">
                <a:solidFill>
                  <a:srgbClr val="0070C0"/>
                </a:solidFill>
              </a:rPr>
            </a:br>
            <a:r>
              <a:rPr lang="en-US" altLang="en-US" sz="4900" dirty="0">
                <a:solidFill>
                  <a:srgbClr val="0070C0"/>
                </a:solidFill>
              </a:rPr>
              <a:t>with “import </a:t>
            </a:r>
            <a:r>
              <a:rPr lang="en-US" altLang="en-US" sz="4900" b="1" dirty="0">
                <a:solidFill>
                  <a:srgbClr val="FF0000"/>
                </a:solidFill>
              </a:rPr>
              <a:t>as</a:t>
            </a:r>
            <a:r>
              <a:rPr lang="en-US" altLang="en-US" sz="4900" dirty="0">
                <a:solidFill>
                  <a:srgbClr val="0070C0"/>
                </a:solidFill>
              </a:rPr>
              <a:t>”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10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le 3"/>
          <p:cNvSpPr>
            <a:spLocks noGrp="1"/>
          </p:cNvSpPr>
          <p:nvPr>
            <p:ph type="title"/>
          </p:nvPr>
        </p:nvSpPr>
        <p:spPr>
          <a:xfrm>
            <a:off x="0" y="195024"/>
            <a:ext cx="9726745" cy="68580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rgbClr val="0C77C3"/>
                </a:solidFill>
                <a:latin typeface="Elephant" panose="02020904090505020303" pitchFamily="18" charset="0"/>
              </a:rPr>
              <a:t>Import control with _...</a:t>
            </a:r>
            <a:endParaRPr lang="en-US" sz="4800" dirty="0">
              <a:solidFill>
                <a:srgbClr val="0C77C3"/>
              </a:solidFill>
              <a:latin typeface="Elephant" panose="02020904090505020303" pitchFamily="18" charset="0"/>
            </a:endParaRPr>
          </a:p>
        </p:txBody>
      </p:sp>
      <p:sp>
        <p:nvSpPr>
          <p:cNvPr id="5122" name="Content Placeholder 2"/>
          <p:cNvSpPr>
            <a:spLocks noGrp="1"/>
          </p:cNvSpPr>
          <p:nvPr>
            <p:ph idx="1"/>
          </p:nvPr>
        </p:nvSpPr>
        <p:spPr>
          <a:xfrm>
            <a:off x="292893" y="880825"/>
            <a:ext cx="9144001" cy="5977175"/>
          </a:xfrm>
        </p:spPr>
        <p:txBody>
          <a:bodyPr>
            <a:normAutofit fontScale="92500"/>
          </a:bodyPr>
          <a:lstStyle/>
          <a:p>
            <a:r>
              <a:rPr lang="en-US" sz="3900" dirty="0">
                <a:solidFill>
                  <a:srgbClr val="FF0000"/>
                </a:solidFill>
              </a:rPr>
              <a:t>Names that start with </a:t>
            </a:r>
            <a:r>
              <a:rPr lang="en-US" sz="3900" dirty="0" err="1" smtClean="0">
                <a:solidFill>
                  <a:srgbClr val="FF0000"/>
                </a:solidFill>
              </a:rPr>
              <a:t>atleast</a:t>
            </a:r>
            <a:r>
              <a:rPr lang="en-US" sz="3900" dirty="0" smtClean="0">
                <a:solidFill>
                  <a:srgbClr val="FF0000"/>
                </a:solidFill>
              </a:rPr>
              <a:t> one </a:t>
            </a:r>
            <a:r>
              <a:rPr lang="en-US" sz="3900" dirty="0">
                <a:solidFill>
                  <a:srgbClr val="FF0000"/>
                </a:solidFill>
              </a:rPr>
              <a:t>underscore (_V) are not imported </a:t>
            </a:r>
            <a:r>
              <a:rPr lang="en-US" sz="3900" dirty="0" smtClean="0">
                <a:solidFill>
                  <a:srgbClr val="FF0000"/>
                </a:solidFill>
              </a:rPr>
              <a:t>by </a:t>
            </a:r>
            <a:r>
              <a:rPr lang="en-US" sz="3900" dirty="0">
                <a:solidFill>
                  <a:srgbClr val="FF0000"/>
                </a:solidFill>
              </a:rPr>
              <a:t>“from … import </a:t>
            </a:r>
            <a:r>
              <a:rPr lang="en-US" sz="3900" dirty="0" smtClean="0">
                <a:solidFill>
                  <a:srgbClr val="FF0000"/>
                </a:solidFill>
              </a:rPr>
              <a:t>*”</a:t>
            </a:r>
            <a:endParaRPr lang="en-US" sz="3900" dirty="0">
              <a:solidFill>
                <a:srgbClr val="FF0000"/>
              </a:solidFill>
            </a:endParaRPr>
          </a:p>
          <a:p>
            <a:pPr lvl="1"/>
            <a:r>
              <a:rPr lang="en-US" altLang="zh-TW" sz="3700" dirty="0">
                <a:solidFill>
                  <a:srgbClr val="FF0000"/>
                </a:solidFill>
              </a:rPr>
              <a:t>So these data and methods are </a:t>
            </a:r>
            <a:r>
              <a:rPr lang="en-US" altLang="zh-TW" sz="3700" b="1" i="1" dirty="0">
                <a:solidFill>
                  <a:srgbClr val="FF0000"/>
                </a:solidFill>
              </a:rPr>
              <a:t>private</a:t>
            </a:r>
            <a:r>
              <a:rPr lang="en-US" altLang="zh-TW" sz="3700" i="1" dirty="0">
                <a:solidFill>
                  <a:srgbClr val="FF0000"/>
                </a:solidFill>
              </a:rPr>
              <a:t>.</a:t>
            </a:r>
          </a:p>
          <a:p>
            <a:pPr lvl="1"/>
            <a:r>
              <a:rPr lang="en-US" altLang="zh-TW" sz="3700" dirty="0">
                <a:solidFill>
                  <a:srgbClr val="FF0000"/>
                </a:solidFill>
              </a:rPr>
              <a:t>Alternatively, you can directly specify what is to be private by creating a list named “__all__”:</a:t>
            </a:r>
            <a:r>
              <a:rPr lang="en-US" altLang="zh-TW" sz="3500" dirty="0">
                <a:solidFill>
                  <a:srgbClr val="FF0000"/>
                </a:solidFill>
              </a:rPr>
              <a:t/>
            </a:r>
            <a:br>
              <a:rPr lang="en-US" altLang="zh-TW" sz="3500" dirty="0">
                <a:solidFill>
                  <a:srgbClr val="FF0000"/>
                </a:solidFill>
              </a:rPr>
            </a:br>
            <a:r>
              <a:rPr lang="en-US" altLang="zh-TW" sz="3500" dirty="0">
                <a:solidFill>
                  <a:srgbClr val="002060"/>
                </a:solidFill>
              </a:rPr>
              <a:t>__all__ = [“x1”,“y1”,“z1”] #only </a:t>
            </a:r>
            <a:r>
              <a:rPr lang="en-US" altLang="zh-TW" sz="3500" dirty="0" smtClean="0">
                <a:solidFill>
                  <a:srgbClr val="002060"/>
                </a:solidFill>
              </a:rPr>
              <a:t>these 3 import</a:t>
            </a:r>
            <a:endParaRPr lang="en-US" altLang="zh-TW" sz="3500" dirty="0">
              <a:solidFill>
                <a:srgbClr val="002060"/>
              </a:solidFill>
            </a:endParaRPr>
          </a:p>
          <a:p>
            <a:pPr lvl="2"/>
            <a:r>
              <a:rPr lang="en-US" altLang="zh-TW" sz="3100" dirty="0">
                <a:solidFill>
                  <a:srgbClr val="FF0000"/>
                </a:solidFill>
              </a:rPr>
              <a:t>This list is only read </a:t>
            </a:r>
            <a:r>
              <a:rPr lang="en-US" altLang="zh-TW" sz="3100" dirty="0" smtClean="0">
                <a:solidFill>
                  <a:srgbClr val="FF0000"/>
                </a:solidFill>
              </a:rPr>
              <a:t>if a “from…import </a:t>
            </a:r>
            <a:r>
              <a:rPr lang="en-US" altLang="zh-TW" sz="3100" dirty="0">
                <a:solidFill>
                  <a:srgbClr val="FF0000"/>
                </a:solidFill>
              </a:rPr>
              <a:t>*” </a:t>
            </a:r>
            <a:r>
              <a:rPr lang="en-US" altLang="zh-TW" sz="3100" dirty="0" smtClean="0">
                <a:solidFill>
                  <a:srgbClr val="FF0000"/>
                </a:solidFill>
              </a:rPr>
              <a:t>is used.</a:t>
            </a:r>
            <a:endParaRPr lang="en-US" sz="3900" dirty="0">
              <a:solidFill>
                <a:srgbClr val="FF0000"/>
              </a:solidFill>
            </a:endParaRPr>
          </a:p>
          <a:p>
            <a:pPr>
              <a:spcBef>
                <a:spcPts val="1800"/>
              </a:spcBef>
            </a:pPr>
            <a:r>
              <a:rPr lang="en-US" sz="3900" dirty="0" smtClean="0">
                <a:solidFill>
                  <a:srgbClr val="FF0000"/>
                </a:solidFill>
              </a:rPr>
              <a:t>Such names with double underscores on both sides </a:t>
            </a:r>
            <a:r>
              <a:rPr lang="en-US" altLang="zh-TW" sz="3900" dirty="0" smtClean="0">
                <a:solidFill>
                  <a:srgbClr val="FF0000"/>
                </a:solidFill>
              </a:rPr>
              <a:t>(__</a:t>
            </a:r>
            <a:r>
              <a:rPr lang="en-US" altLang="zh-TW" sz="3900" dirty="0">
                <a:solidFill>
                  <a:srgbClr val="FF0000"/>
                </a:solidFill>
              </a:rPr>
              <a:t>V__)‏ </a:t>
            </a:r>
            <a:r>
              <a:rPr lang="en-US" sz="3900" dirty="0">
                <a:solidFill>
                  <a:srgbClr val="FF0000"/>
                </a:solidFill>
              </a:rPr>
              <a:t>are </a:t>
            </a:r>
            <a:r>
              <a:rPr lang="en-US" sz="3900" dirty="0" smtClean="0">
                <a:solidFill>
                  <a:srgbClr val="FF0000"/>
                </a:solidFill>
              </a:rPr>
              <a:t>system-defined </a:t>
            </a:r>
            <a:r>
              <a:rPr lang="en-US" sz="3900" dirty="0">
                <a:solidFill>
                  <a:srgbClr val="FF0000"/>
                </a:solidFill>
              </a:rPr>
              <a:t>names.</a:t>
            </a:r>
          </a:p>
          <a:p>
            <a:pPr>
              <a:spcBef>
                <a:spcPts val="1800"/>
              </a:spcBef>
            </a:pPr>
            <a:r>
              <a:rPr lang="en-US" sz="3900" dirty="0">
                <a:solidFill>
                  <a:srgbClr val="FF0000"/>
                </a:solidFill>
              </a:rPr>
              <a:t>(Names that only start with 2 underscores (__V) are local to a class; we’ll learn this later.)</a:t>
            </a:r>
          </a:p>
        </p:txBody>
      </p:sp>
    </p:spTree>
    <p:extLst>
      <p:ext uri="{BB962C8B-B14F-4D97-AF65-F5344CB8AC3E}">
        <p14:creationId xmlns:p14="http://schemas.microsoft.com/office/powerpoint/2010/main" val="69451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4"/>
          <p:cNvSpPr>
            <a:spLocks noGrp="1"/>
          </p:cNvSpPr>
          <p:nvPr>
            <p:ph idx="1"/>
          </p:nvPr>
        </p:nvSpPr>
        <p:spPr>
          <a:xfrm>
            <a:off x="292894" y="956405"/>
            <a:ext cx="9144000" cy="989602"/>
          </a:xfrm>
        </p:spPr>
        <p:txBody>
          <a:bodyPr>
            <a:normAutofit/>
          </a:bodyPr>
          <a:lstStyle/>
          <a:p>
            <a:pPr marL="0" indent="0">
              <a:lnSpc>
                <a:spcPct val="85000"/>
              </a:lnSpc>
              <a:buNone/>
            </a:pPr>
            <a:r>
              <a:rPr lang="en-US" sz="3000" dirty="0" smtClean="0"/>
              <a:t>What are these </a:t>
            </a:r>
            <a:r>
              <a:rPr lang="en-US" sz="3000" b="1" dirty="0" smtClean="0">
                <a:solidFill>
                  <a:srgbClr val="FF0000"/>
                </a:solidFill>
              </a:rPr>
              <a:t>__V__</a:t>
            </a:r>
            <a:r>
              <a:rPr lang="en-US" sz="3000" dirty="0" smtClean="0"/>
              <a:t>? 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292894" y="1810141"/>
            <a:ext cx="9144000" cy="504786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0" rtlCol="0" anchor="t" anchorCtr="0"/>
          <a:lstStyle/>
          <a:p>
            <a:pPr>
              <a:lnSpc>
                <a:spcPct val="95000"/>
              </a:lnSpc>
            </a:pPr>
            <a:r>
              <a:rPr lang="en-US" sz="26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600" dirty="0">
                <a:solidFill>
                  <a:srgbClr val="FFFF00"/>
                </a:solidFill>
                <a:latin typeface="Lucida Console" panose="020B0609040504020204" pitchFamily="49" charset="0"/>
              </a:rPr>
              <a:t> import math as </a:t>
            </a:r>
            <a:r>
              <a:rPr lang="en-US" sz="2600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myMath</a:t>
            </a:r>
            <a:endParaRPr lang="en-US" sz="2600" dirty="0">
              <a:solidFill>
                <a:srgbClr val="FFFF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7000"/>
              </a:lnSpc>
            </a:pP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6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dir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 (</a:t>
            </a:r>
            <a:r>
              <a:rPr lang="en-US" sz="26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myMath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7000"/>
              </a:lnSpc>
            </a:pP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['</a:t>
            </a:r>
            <a:r>
              <a:rPr lang="en-US" sz="2600" spc="-3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doc</a:t>
            </a:r>
            <a:r>
              <a:rPr lang="en-US" sz="260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2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,</a:t>
            </a:r>
            <a:r>
              <a:rPr lang="en-US" sz="2000" dirty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file</a:t>
            </a:r>
            <a:r>
              <a:rPr lang="en-US" sz="260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200" dirty="0">
                <a:solidFill>
                  <a:srgbClr val="FFFFFF"/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rgbClr val="FFFFFF"/>
                </a:solidFill>
                <a:latin typeface="Lucida Console" panose="020B0609040504020204" pitchFamily="49" charset="0"/>
              </a:rPr>
              <a:t>,</a:t>
            </a:r>
            <a:r>
              <a:rPr lang="en-US" sz="2000" dirty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loader</a:t>
            </a:r>
            <a:r>
              <a:rPr lang="en-US" sz="260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4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,</a:t>
            </a:r>
            <a:r>
              <a:rPr lang="en-US" sz="20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name</a:t>
            </a:r>
            <a:r>
              <a:rPr lang="en-US" sz="260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4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sz="2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package__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sz="2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spec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sz="2600" dirty="0">
                <a:solidFill>
                  <a:srgbClr val="FFFFFF"/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acos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acosh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asin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asinh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atan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'atan2',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atanh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'ceil',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copysign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'cos',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cosh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'degrees', 'e', 'erf',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erfc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exp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'expm1',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fabs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'factorial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'floor',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fmo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d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frex</a:t>
            </a:r>
            <a:r>
              <a:rPr lang="en-US" sz="2600" spc="-2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</a:t>
            </a:r>
            <a:r>
              <a:rPr lang="en-US" sz="26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4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fsum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'gamma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hypot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isfinit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0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isin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0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isnan</a:t>
            </a:r>
            <a:r>
              <a:rPr lang="en-US" sz="26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ldexp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lgamma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'log', 'log10', 'log1p',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'log2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modf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'pi', 'pow', 'radians',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'si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n</a:t>
            </a:r>
            <a:r>
              <a:rPr lang="en-US" sz="26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sinh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sqrt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'tan',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tanh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trunc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]</a:t>
            </a:r>
          </a:p>
          <a:p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&gt;&gt;&gt;</a:t>
            </a:r>
            <a:endParaRPr lang="en-US" sz="2600" spc="-20" dirty="0" smtClean="0">
              <a:solidFill>
                <a:srgbClr val="FF9B9B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0" y="195024"/>
            <a:ext cx="9726745" cy="68580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rgbClr val="0C77C3"/>
                </a:solidFill>
                <a:latin typeface="Elephant" panose="02020904090505020303" pitchFamily="18" charset="0"/>
              </a:rPr>
              <a:t>The system variables in math</a:t>
            </a:r>
            <a:endParaRPr lang="en-US" sz="4800" dirty="0">
              <a:solidFill>
                <a:srgbClr val="0C77C3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77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4"/>
          <p:cNvSpPr>
            <a:spLocks noGrp="1"/>
          </p:cNvSpPr>
          <p:nvPr>
            <p:ph idx="1"/>
          </p:nvPr>
        </p:nvSpPr>
        <p:spPr>
          <a:xfrm>
            <a:off x="292894" y="956405"/>
            <a:ext cx="9144000" cy="989602"/>
          </a:xfrm>
        </p:spPr>
        <p:txBody>
          <a:bodyPr>
            <a:normAutofit/>
          </a:bodyPr>
          <a:lstStyle/>
          <a:p>
            <a:pPr marL="0" indent="0">
              <a:lnSpc>
                <a:spcPct val="85000"/>
              </a:lnSpc>
              <a:buNone/>
            </a:pPr>
            <a:r>
              <a:rPr lang="en-US" sz="3000" dirty="0" smtClean="0"/>
              <a:t>What are these </a:t>
            </a:r>
            <a:r>
              <a:rPr lang="en-US" sz="3000" b="1" dirty="0" smtClean="0">
                <a:solidFill>
                  <a:srgbClr val="FF0000"/>
                </a:solidFill>
              </a:rPr>
              <a:t>__V__</a:t>
            </a:r>
            <a:r>
              <a:rPr lang="en-US" sz="3000" dirty="0" smtClean="0"/>
              <a:t>? </a:t>
            </a:r>
            <a:r>
              <a:rPr lang="en-US" sz="3000" dirty="0">
                <a:solidFill>
                  <a:srgbClr val="00B050"/>
                </a:solidFill>
              </a:rPr>
              <a:t>Four aren't worth </a:t>
            </a:r>
            <a:r>
              <a:rPr lang="en-US" sz="3000" dirty="0" smtClean="0">
                <a:solidFill>
                  <a:srgbClr val="00B050"/>
                </a:solidFill>
              </a:rPr>
              <a:t>mentioning</a:t>
            </a:r>
            <a:r>
              <a:rPr lang="en-US" sz="3000" dirty="0" smtClean="0"/>
              <a:t>…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292894" y="1810141"/>
            <a:ext cx="9144000" cy="504786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0" rtlCol="0" anchor="t" anchorCtr="0"/>
          <a:lstStyle/>
          <a:p>
            <a:pPr>
              <a:lnSpc>
                <a:spcPct val="95000"/>
              </a:lnSpc>
            </a:pPr>
            <a:r>
              <a:rPr lang="en-US" sz="26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600" dirty="0">
                <a:solidFill>
                  <a:srgbClr val="FFFF00"/>
                </a:solidFill>
                <a:latin typeface="Lucida Console" panose="020B0609040504020204" pitchFamily="49" charset="0"/>
              </a:rPr>
              <a:t> import math as </a:t>
            </a:r>
            <a:r>
              <a:rPr lang="en-US" sz="2600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myMath</a:t>
            </a:r>
            <a:endParaRPr lang="en-US" sz="2600" dirty="0">
              <a:solidFill>
                <a:srgbClr val="FFFF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7000"/>
              </a:lnSpc>
            </a:pP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6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dir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 (</a:t>
            </a:r>
            <a:r>
              <a:rPr lang="en-US" sz="26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myMath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7000"/>
              </a:lnSpc>
            </a:pP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['</a:t>
            </a:r>
            <a:r>
              <a:rPr lang="en-US" sz="2600" spc="-3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doc</a:t>
            </a:r>
            <a:r>
              <a:rPr lang="en-US" sz="260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2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,</a:t>
            </a:r>
            <a:r>
              <a:rPr lang="en-US" sz="2000" dirty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b="1" spc="-300" dirty="0">
                <a:solidFill>
                  <a:srgbClr val="00B050"/>
                </a:solidFill>
                <a:latin typeface="Lucida Console" panose="020B0609040504020204" pitchFamily="49" charset="0"/>
              </a:rPr>
              <a:t>_</a:t>
            </a:r>
            <a:r>
              <a:rPr lang="en-US" sz="26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_file</a:t>
            </a:r>
            <a:r>
              <a:rPr lang="en-US" sz="2600" b="1" spc="-300" dirty="0">
                <a:solidFill>
                  <a:srgbClr val="00B050"/>
                </a:solidFill>
                <a:latin typeface="Lucida Console" panose="020B0609040504020204" pitchFamily="49" charset="0"/>
              </a:rPr>
              <a:t>_</a:t>
            </a:r>
            <a:r>
              <a:rPr lang="en-US" sz="26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200" dirty="0">
                <a:solidFill>
                  <a:srgbClr val="FFFFFF"/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rgbClr val="FFFFFF"/>
                </a:solidFill>
                <a:latin typeface="Lucida Console" panose="020B0609040504020204" pitchFamily="49" charset="0"/>
              </a:rPr>
              <a:t>,</a:t>
            </a:r>
            <a:r>
              <a:rPr lang="en-US" sz="2000" dirty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300" dirty="0">
                <a:solidFill>
                  <a:srgbClr val="00B050"/>
                </a:solidFill>
                <a:latin typeface="Lucida Console" panose="020B0609040504020204" pitchFamily="49" charset="0"/>
              </a:rPr>
              <a:t>_</a:t>
            </a:r>
            <a:r>
              <a:rPr lang="en-US" sz="26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loader</a:t>
            </a:r>
            <a:r>
              <a:rPr lang="en-US" sz="2600" spc="-300" dirty="0">
                <a:solidFill>
                  <a:srgbClr val="00B05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4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,</a:t>
            </a:r>
            <a:r>
              <a:rPr lang="en-US" sz="20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name</a:t>
            </a:r>
            <a:r>
              <a:rPr lang="en-US" sz="260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4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__</a:t>
            </a:r>
            <a:r>
              <a:rPr lang="en-US" sz="26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package__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', </a:t>
            </a:r>
            <a:r>
              <a:rPr lang="en-US" sz="26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sz="2600" b="1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__spec__</a:t>
            </a:r>
            <a:r>
              <a:rPr lang="en-US" sz="26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acos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acosh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asin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asinh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atan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'atan2',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atanh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'ceil',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copysign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'cos',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cosh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'degrees', 'e', 'erf',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erfc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exp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'expm1',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fabs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'factorial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'floor',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fmo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d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frex</a:t>
            </a:r>
            <a:r>
              <a:rPr lang="en-US" sz="2600" spc="-2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</a:t>
            </a:r>
            <a:r>
              <a:rPr lang="en-US" sz="26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4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fsum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'gamma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hypot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isfinit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0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isin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0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isnan</a:t>
            </a:r>
            <a:r>
              <a:rPr lang="en-US" sz="26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ldexp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lgamma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'log', 'log10', 'log1p',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'log2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modf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'pi', 'pow', 'radians',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'si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n</a:t>
            </a:r>
            <a:r>
              <a:rPr lang="en-US" sz="26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sinh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sqrt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'tan',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tanh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trunc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]</a:t>
            </a:r>
          </a:p>
          <a:p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&gt;&gt;&gt;</a:t>
            </a:r>
            <a:endParaRPr lang="en-US" sz="2600" spc="-20" dirty="0" smtClean="0">
              <a:solidFill>
                <a:srgbClr val="FF9B9B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0" y="195024"/>
            <a:ext cx="9726745" cy="68580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rgbClr val="0C77C3"/>
                </a:solidFill>
                <a:latin typeface="Elephant" panose="02020904090505020303" pitchFamily="18" charset="0"/>
              </a:rPr>
              <a:t>The system variables in math</a:t>
            </a:r>
            <a:endParaRPr lang="en-US" sz="4800" dirty="0">
              <a:solidFill>
                <a:srgbClr val="0C77C3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021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4"/>
          <p:cNvSpPr>
            <a:spLocks noGrp="1"/>
          </p:cNvSpPr>
          <p:nvPr>
            <p:ph idx="1"/>
          </p:nvPr>
        </p:nvSpPr>
        <p:spPr>
          <a:xfrm>
            <a:off x="292894" y="956405"/>
            <a:ext cx="9144000" cy="989602"/>
          </a:xfrm>
        </p:spPr>
        <p:txBody>
          <a:bodyPr>
            <a:normAutofit/>
          </a:bodyPr>
          <a:lstStyle/>
          <a:p>
            <a:pPr marL="0" indent="0">
              <a:lnSpc>
                <a:spcPct val="85000"/>
              </a:lnSpc>
              <a:buNone/>
            </a:pPr>
            <a:r>
              <a:rPr lang="en-US" sz="3000" dirty="0" smtClean="0"/>
              <a:t>What are these </a:t>
            </a:r>
            <a:r>
              <a:rPr lang="en-US" sz="3000" b="1" dirty="0" smtClean="0">
                <a:solidFill>
                  <a:srgbClr val="FF0000"/>
                </a:solidFill>
              </a:rPr>
              <a:t>__V__</a:t>
            </a:r>
            <a:r>
              <a:rPr lang="en-US" sz="3000" dirty="0" smtClean="0"/>
              <a:t>? Four aren't worth mentioning… </a:t>
            </a:r>
            <a:endParaRPr lang="en-US" sz="3000" dirty="0"/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3000" dirty="0" smtClean="0"/>
              <a:t>But we'll look at </a:t>
            </a:r>
            <a:r>
              <a:rPr lang="en-US" sz="3000" b="1" dirty="0" smtClean="0">
                <a:solidFill>
                  <a:srgbClr val="FF0000"/>
                </a:solidFill>
              </a:rPr>
              <a:t>__doc__ </a:t>
            </a:r>
            <a:r>
              <a:rPr lang="en-US" sz="3000" dirty="0" smtClean="0"/>
              <a:t>and</a:t>
            </a:r>
            <a:r>
              <a:rPr lang="en-US" sz="3000" b="1" dirty="0" smtClean="0">
                <a:solidFill>
                  <a:srgbClr val="FF0000"/>
                </a:solidFill>
              </a:rPr>
              <a:t> __name__</a:t>
            </a:r>
            <a:r>
              <a:rPr lang="en-US" sz="3000" dirty="0" smtClean="0"/>
              <a:t>.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292894" y="1810141"/>
            <a:ext cx="9144000" cy="504786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0" rtlCol="0" anchor="t" anchorCtr="0"/>
          <a:lstStyle/>
          <a:p>
            <a:pPr>
              <a:lnSpc>
                <a:spcPct val="95000"/>
              </a:lnSpc>
            </a:pPr>
            <a:r>
              <a:rPr lang="en-US" sz="26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600" dirty="0">
                <a:solidFill>
                  <a:srgbClr val="FFFF00"/>
                </a:solidFill>
                <a:latin typeface="Lucida Console" panose="020B0609040504020204" pitchFamily="49" charset="0"/>
              </a:rPr>
              <a:t> import math as </a:t>
            </a:r>
            <a:r>
              <a:rPr lang="en-US" sz="2600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myMath</a:t>
            </a:r>
            <a:endParaRPr lang="en-US" sz="2600" dirty="0">
              <a:solidFill>
                <a:srgbClr val="FFFF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7000"/>
              </a:lnSpc>
            </a:pP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6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dir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 (</a:t>
            </a:r>
            <a:r>
              <a:rPr lang="en-US" sz="26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myMath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7000"/>
              </a:lnSpc>
            </a:pP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['</a:t>
            </a:r>
            <a:r>
              <a:rPr lang="en-US" sz="2600" spc="-3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doc</a:t>
            </a:r>
            <a:r>
              <a:rPr lang="en-US" sz="260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2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,</a:t>
            </a:r>
            <a:r>
              <a:rPr lang="en-US" sz="2000" dirty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sz="26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file</a:t>
            </a:r>
            <a:r>
              <a:rPr lang="en-US" sz="26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000" dirty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'_</a:t>
            </a:r>
            <a:r>
              <a:rPr lang="en-US" sz="26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sz="26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loader</a:t>
            </a:r>
            <a:r>
              <a:rPr lang="en-US" sz="26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000" dirty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name</a:t>
            </a:r>
            <a:r>
              <a:rPr lang="en-US" sz="260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4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'__</a:t>
            </a:r>
            <a:r>
              <a:rPr lang="en-US" sz="2600" b="1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package__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'__</a:t>
            </a:r>
            <a:r>
              <a:rPr lang="en-US" sz="2600" b="1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spec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__', 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acos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acosh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asin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asinh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atan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'atan2',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atanh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'ceil',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copysign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'cos',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cosh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'degrees', 'e', 'erf',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erfc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exp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'expm1',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fabs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'factorial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'floor',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fmo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d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frex</a:t>
            </a:r>
            <a:r>
              <a:rPr lang="en-US" sz="2600" spc="-2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</a:t>
            </a:r>
            <a:r>
              <a:rPr lang="en-US" sz="26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4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fsum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'gamma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hypot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isfinit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0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isin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0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isnan</a:t>
            </a:r>
            <a:r>
              <a:rPr lang="en-US" sz="26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ldexp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lgamma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'log', 'log10', 'log1p',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'log2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modf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'pi', 'pow', 'radians',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'si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n</a:t>
            </a:r>
            <a:r>
              <a:rPr lang="en-US" sz="26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sinh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sqrt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'tan',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tanh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trunc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]</a:t>
            </a:r>
          </a:p>
          <a:p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&gt;&gt;&gt;</a:t>
            </a:r>
            <a:endParaRPr lang="en-US" sz="2600" spc="-20" dirty="0" smtClean="0">
              <a:solidFill>
                <a:srgbClr val="FF9B9B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0" y="195024"/>
            <a:ext cx="9726745" cy="68580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rgbClr val="0C77C3"/>
                </a:solidFill>
                <a:latin typeface="Elephant" panose="02020904090505020303" pitchFamily="18" charset="0"/>
              </a:rPr>
              <a:t>The system variables in math</a:t>
            </a:r>
            <a:endParaRPr lang="en-US" sz="4800" dirty="0">
              <a:solidFill>
                <a:srgbClr val="0C77C3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2894" y="6400800"/>
            <a:ext cx="9144000" cy="4470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0" rtlCol="0" anchor="t" anchorCtr="0"/>
          <a:lstStyle/>
          <a:p>
            <a:pPr lvl="0"/>
            <a:r>
              <a:rPr lang="en-US" sz="2600" dirty="0">
                <a:solidFill>
                  <a:srgbClr val="FF9B9B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  </a:t>
            </a: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print(</a:t>
            </a:r>
            <a:r>
              <a:rPr lang="en-US" sz="26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myMath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.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__doc__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20" dirty="0">
                <a:solidFill>
                  <a:srgbClr val="FF9B9B"/>
                </a:solidFill>
                <a:latin typeface="Lucida Console" panose="020B0609040504020204" pitchFamily="49" charset="0"/>
              </a:rPr>
              <a:t>#Prints a description</a:t>
            </a:r>
          </a:p>
        </p:txBody>
      </p:sp>
    </p:spTree>
    <p:extLst>
      <p:ext uri="{BB962C8B-B14F-4D97-AF65-F5344CB8AC3E}">
        <p14:creationId xmlns:p14="http://schemas.microsoft.com/office/powerpoint/2010/main" val="1739291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4"/>
          <p:cNvSpPr>
            <a:spLocks noGrp="1"/>
          </p:cNvSpPr>
          <p:nvPr>
            <p:ph idx="1"/>
          </p:nvPr>
        </p:nvSpPr>
        <p:spPr>
          <a:xfrm>
            <a:off x="292894" y="956405"/>
            <a:ext cx="9144000" cy="989602"/>
          </a:xfrm>
        </p:spPr>
        <p:txBody>
          <a:bodyPr>
            <a:normAutofit/>
          </a:bodyPr>
          <a:lstStyle/>
          <a:p>
            <a:pPr marL="0" indent="0">
              <a:lnSpc>
                <a:spcPct val="85000"/>
              </a:lnSpc>
              <a:buNone/>
            </a:pPr>
            <a:r>
              <a:rPr lang="en-US" sz="3000" dirty="0" smtClean="0"/>
              <a:t>What are these </a:t>
            </a:r>
            <a:r>
              <a:rPr lang="en-US" sz="3000" b="1" dirty="0" smtClean="0">
                <a:solidFill>
                  <a:srgbClr val="FF0000"/>
                </a:solidFill>
              </a:rPr>
              <a:t>__V__</a:t>
            </a:r>
            <a:r>
              <a:rPr lang="en-US" sz="3000" dirty="0" smtClean="0"/>
              <a:t>? Four aren't worth mentioning… </a:t>
            </a:r>
            <a:br>
              <a:rPr lang="en-US" sz="3000" dirty="0" smtClean="0"/>
            </a:br>
            <a:r>
              <a:rPr lang="en-US" sz="3000" dirty="0" smtClean="0"/>
              <a:t>But we'll look at </a:t>
            </a:r>
            <a:r>
              <a:rPr lang="en-US" sz="3000" b="1" dirty="0" smtClean="0">
                <a:solidFill>
                  <a:srgbClr val="FF0000"/>
                </a:solidFill>
              </a:rPr>
              <a:t>__doc__ </a:t>
            </a:r>
            <a:r>
              <a:rPr lang="en-US" sz="3000" dirty="0" smtClean="0"/>
              <a:t>and</a:t>
            </a:r>
            <a:r>
              <a:rPr lang="en-US" sz="3000" b="1" dirty="0" smtClean="0">
                <a:solidFill>
                  <a:srgbClr val="FF0000"/>
                </a:solidFill>
              </a:rPr>
              <a:t> __name__</a:t>
            </a:r>
            <a:r>
              <a:rPr lang="en-US" sz="3000" dirty="0" smtClean="0"/>
              <a:t>.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292894" y="1810141"/>
            <a:ext cx="9144000" cy="504786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0" rtlCol="0" anchor="t" anchorCtr="0"/>
          <a:lstStyle/>
          <a:p>
            <a:pPr>
              <a:lnSpc>
                <a:spcPct val="95000"/>
              </a:lnSpc>
            </a:pP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6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dir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 (</a:t>
            </a:r>
            <a:r>
              <a:rPr lang="en-US" sz="26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myMath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5000"/>
              </a:lnSpc>
            </a:pP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['</a:t>
            </a:r>
            <a:r>
              <a:rPr lang="en-US" sz="2600" spc="-3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doc</a:t>
            </a:r>
            <a:r>
              <a:rPr lang="en-US" sz="260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2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,</a:t>
            </a:r>
            <a:r>
              <a:rPr lang="en-US" sz="2000" dirty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sz="26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file</a:t>
            </a:r>
            <a:r>
              <a:rPr lang="en-US" sz="26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000" dirty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'_</a:t>
            </a:r>
            <a:r>
              <a:rPr lang="en-US" sz="26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sz="26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loader</a:t>
            </a:r>
            <a:r>
              <a:rPr lang="en-US" sz="26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000" dirty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name</a:t>
            </a:r>
            <a:r>
              <a:rPr lang="en-US" sz="260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4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'__</a:t>
            </a:r>
            <a:r>
              <a:rPr lang="en-US" sz="2600" b="1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package__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'__</a:t>
            </a:r>
            <a:r>
              <a:rPr lang="en-US" sz="2600" b="1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spec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__', 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acos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acosh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asin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asinh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atan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'atan2',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atanh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'ceil',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copysign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'cos',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cosh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'degrees', 'e', 'erf',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erfc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exp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'expm1',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fabs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'factorial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'floor',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fmo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d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frex</a:t>
            </a:r>
            <a:r>
              <a:rPr lang="en-US" sz="2600" spc="-2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</a:t>
            </a:r>
            <a:r>
              <a:rPr lang="en-US" sz="26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4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fsum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'gamma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hypot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isfinit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0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isin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0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isnan</a:t>
            </a:r>
            <a:r>
              <a:rPr lang="en-US" sz="26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ldexp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lgamma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'log', 'log10', 'log1p',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'log2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modf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'pi', 'pow', 'radians',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'si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n</a:t>
            </a:r>
            <a:r>
              <a:rPr lang="en-US" sz="26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sinh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sqrt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'tan',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tanh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trunc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]</a:t>
            </a:r>
          </a:p>
          <a:p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&gt;&gt;&gt; print(</a:t>
            </a:r>
            <a:r>
              <a:rPr lang="en-US" sz="2600" dirty="0" err="1" smtClean="0">
                <a:solidFill>
                  <a:prstClr val="white"/>
                </a:solidFill>
                <a:latin typeface="Lucida Console" panose="020B0609040504020204" pitchFamily="49" charset="0"/>
              </a:rPr>
              <a:t>myMath</a:t>
            </a: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.</a:t>
            </a:r>
            <a:r>
              <a:rPr lang="en-US" sz="2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__doc__</a:t>
            </a: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2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#Prints a description</a:t>
            </a:r>
          </a:p>
          <a:p>
            <a:pPr>
              <a:lnSpc>
                <a:spcPct val="90000"/>
              </a:lnSpc>
            </a:pPr>
            <a:r>
              <a:rPr lang="en-US" sz="3200" spc="-20" dirty="0" smtClean="0">
                <a:solidFill>
                  <a:srgbClr val="FFFF00"/>
                </a:solidFill>
              </a:rPr>
              <a:t>This module is always available. It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provides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access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to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the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0" y="195024"/>
            <a:ext cx="9726745" cy="68580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rgbClr val="0C77C3"/>
                </a:solidFill>
                <a:latin typeface="Elephant" panose="02020904090505020303" pitchFamily="18" charset="0"/>
              </a:rPr>
              <a:t>The system variables in math</a:t>
            </a:r>
            <a:endParaRPr lang="en-US" sz="4800" dirty="0">
              <a:solidFill>
                <a:srgbClr val="0C77C3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09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"/>
    </mc:Choice>
    <mc:Fallback xmlns="">
      <p:transition spd="slow" advClick="0" advTm="300"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4"/>
          <p:cNvSpPr>
            <a:spLocks noGrp="1"/>
          </p:cNvSpPr>
          <p:nvPr>
            <p:ph idx="1"/>
          </p:nvPr>
        </p:nvSpPr>
        <p:spPr>
          <a:xfrm>
            <a:off x="292894" y="956405"/>
            <a:ext cx="9144000" cy="989602"/>
          </a:xfrm>
        </p:spPr>
        <p:txBody>
          <a:bodyPr>
            <a:normAutofit/>
          </a:bodyPr>
          <a:lstStyle/>
          <a:p>
            <a:pPr marL="0" indent="0">
              <a:lnSpc>
                <a:spcPct val="85000"/>
              </a:lnSpc>
              <a:buNone/>
            </a:pPr>
            <a:r>
              <a:rPr lang="en-US" sz="3000" dirty="0" smtClean="0"/>
              <a:t>What are these </a:t>
            </a:r>
            <a:r>
              <a:rPr lang="en-US" sz="3000" b="1" dirty="0" smtClean="0">
                <a:solidFill>
                  <a:srgbClr val="FF0000"/>
                </a:solidFill>
              </a:rPr>
              <a:t>__V__</a:t>
            </a:r>
            <a:r>
              <a:rPr lang="en-US" sz="3000" dirty="0" smtClean="0"/>
              <a:t>? Four aren't worth mentioning… </a:t>
            </a:r>
            <a:br>
              <a:rPr lang="en-US" sz="3000" dirty="0" smtClean="0"/>
            </a:br>
            <a:r>
              <a:rPr lang="en-US" sz="3000" dirty="0" smtClean="0"/>
              <a:t>But we'll look at </a:t>
            </a:r>
            <a:r>
              <a:rPr lang="en-US" sz="3000" b="1" dirty="0">
                <a:solidFill>
                  <a:srgbClr val="FF0000"/>
                </a:solidFill>
              </a:rPr>
              <a:t>__doc__ </a:t>
            </a:r>
            <a:r>
              <a:rPr lang="en-US" sz="3000" dirty="0"/>
              <a:t>and</a:t>
            </a:r>
            <a:r>
              <a:rPr lang="en-US" sz="3000" b="1" dirty="0">
                <a:solidFill>
                  <a:srgbClr val="FF0000"/>
                </a:solidFill>
              </a:rPr>
              <a:t> __name__</a:t>
            </a:r>
            <a:r>
              <a:rPr lang="en-US" sz="3000" dirty="0" smtClean="0"/>
              <a:t>.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292894" y="1810141"/>
            <a:ext cx="9144000" cy="504786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0" rtlCol="0" anchor="t" anchorCtr="0"/>
          <a:lstStyle/>
          <a:p>
            <a:pPr>
              <a:lnSpc>
                <a:spcPct val="95000"/>
              </a:lnSpc>
            </a:pP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['</a:t>
            </a:r>
            <a:r>
              <a:rPr lang="en-US" sz="260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doc</a:t>
            </a:r>
            <a:r>
              <a:rPr lang="en-US" sz="260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2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,</a:t>
            </a:r>
            <a:r>
              <a:rPr lang="en-US" sz="2000" dirty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sz="26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file</a:t>
            </a:r>
            <a:r>
              <a:rPr lang="en-US" sz="26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000" dirty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'_</a:t>
            </a:r>
            <a:r>
              <a:rPr lang="en-US" sz="26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sz="26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loader</a:t>
            </a:r>
            <a:r>
              <a:rPr lang="en-US" sz="26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000" dirty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name</a:t>
            </a:r>
            <a:r>
              <a:rPr lang="en-US" sz="260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</a:t>
            </a:r>
            <a:r>
              <a:rPr lang="en-US" sz="2600" spc="-400" dirty="0">
                <a:solidFill>
                  <a:prstClr val="white"/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'__</a:t>
            </a:r>
            <a:r>
              <a:rPr lang="en-US" sz="2600" b="1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package__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'__</a:t>
            </a:r>
            <a:r>
              <a:rPr lang="en-US" sz="2600" b="1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spec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__', 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acos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acosh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asin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asinh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atan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'atan2',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atanh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'ceil',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copysign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'cos',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cosh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'degrees', 'e', 'erf',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erfc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exp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'expm1',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fabs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'factorial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'floor',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fmo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d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frex</a:t>
            </a:r>
            <a:r>
              <a:rPr lang="en-US" sz="2600" spc="-2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</a:t>
            </a:r>
            <a:r>
              <a:rPr lang="en-US" sz="26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4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fsum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'gamma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hypot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isfinit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0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isin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0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isnan</a:t>
            </a:r>
            <a:r>
              <a:rPr lang="en-US" sz="26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ldexp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lgamma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'log', 'log10', 'log1p',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'log2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modf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'pi', 'pow', 'radians',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'si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n</a:t>
            </a:r>
            <a:r>
              <a:rPr lang="en-US" sz="26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sinh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sqrt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'tan',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tanh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trunc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]</a:t>
            </a:r>
          </a:p>
          <a:p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&gt;&gt;&gt; print(</a:t>
            </a:r>
            <a:r>
              <a:rPr lang="en-US" sz="2600" dirty="0" err="1" smtClean="0">
                <a:solidFill>
                  <a:prstClr val="white"/>
                </a:solidFill>
                <a:latin typeface="Lucida Console" panose="020B0609040504020204" pitchFamily="49" charset="0"/>
              </a:rPr>
              <a:t>myMath</a:t>
            </a: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.</a:t>
            </a:r>
            <a:r>
              <a:rPr lang="en-US" sz="2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__doc__</a:t>
            </a: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2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#Prints a description</a:t>
            </a:r>
          </a:p>
          <a:p>
            <a:pPr>
              <a:lnSpc>
                <a:spcPct val="90000"/>
              </a:lnSpc>
            </a:pPr>
            <a:r>
              <a:rPr lang="en-US" sz="3200" spc="-20" dirty="0" smtClean="0">
                <a:solidFill>
                  <a:srgbClr val="FFFF00"/>
                </a:solidFill>
              </a:rPr>
              <a:t>This module is always available. It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provides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access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to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the</a:t>
            </a:r>
          </a:p>
          <a:p>
            <a:pPr>
              <a:lnSpc>
                <a:spcPct val="85000"/>
              </a:lnSpc>
            </a:pPr>
            <a:r>
              <a:rPr lang="en-US" sz="3200" spc="-20" dirty="0" smtClean="0">
                <a:solidFill>
                  <a:srgbClr val="FFFF00"/>
                </a:solidFill>
              </a:rPr>
              <a:t>mathematical functions defined by the C standard.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0" y="195024"/>
            <a:ext cx="9726745" cy="68580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rgbClr val="0C77C3"/>
                </a:solidFill>
                <a:latin typeface="Elephant" panose="02020904090505020303" pitchFamily="18" charset="0"/>
              </a:rPr>
              <a:t>The system variables in math</a:t>
            </a:r>
            <a:endParaRPr lang="en-US" sz="4800" dirty="0">
              <a:solidFill>
                <a:srgbClr val="0C77C3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830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"/>
    </mc:Choice>
    <mc:Fallback xmlns="">
      <p:transition spd="slow" advClick="0" advTm="300"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4"/>
          <p:cNvSpPr>
            <a:spLocks noGrp="1"/>
          </p:cNvSpPr>
          <p:nvPr>
            <p:ph idx="1"/>
          </p:nvPr>
        </p:nvSpPr>
        <p:spPr>
          <a:xfrm>
            <a:off x="292894" y="956405"/>
            <a:ext cx="9144000" cy="989602"/>
          </a:xfrm>
        </p:spPr>
        <p:txBody>
          <a:bodyPr>
            <a:normAutofit/>
          </a:bodyPr>
          <a:lstStyle/>
          <a:p>
            <a:pPr marL="0" indent="0">
              <a:lnSpc>
                <a:spcPct val="85000"/>
              </a:lnSpc>
              <a:buNone/>
            </a:pPr>
            <a:r>
              <a:rPr lang="en-US" sz="3000" dirty="0" smtClean="0"/>
              <a:t>What are these </a:t>
            </a:r>
            <a:r>
              <a:rPr lang="en-US" sz="3000" b="1" dirty="0" smtClean="0">
                <a:solidFill>
                  <a:srgbClr val="FF0000"/>
                </a:solidFill>
              </a:rPr>
              <a:t>__V__</a:t>
            </a:r>
            <a:r>
              <a:rPr lang="en-US" sz="3000" dirty="0" smtClean="0"/>
              <a:t>? Four aren't worth mentioning… </a:t>
            </a:r>
            <a:br>
              <a:rPr lang="en-US" sz="3000" dirty="0" smtClean="0"/>
            </a:br>
            <a:r>
              <a:rPr lang="en-US" sz="3000" dirty="0" smtClean="0"/>
              <a:t>But we'll look at </a:t>
            </a:r>
            <a:r>
              <a:rPr lang="en-US" sz="3000" b="1" dirty="0">
                <a:solidFill>
                  <a:srgbClr val="FF0000"/>
                </a:solidFill>
              </a:rPr>
              <a:t>__doc__ </a:t>
            </a:r>
            <a:r>
              <a:rPr lang="en-US" sz="3000" dirty="0"/>
              <a:t>and</a:t>
            </a:r>
            <a:r>
              <a:rPr lang="en-US" sz="3000" b="1" dirty="0">
                <a:solidFill>
                  <a:srgbClr val="FF0000"/>
                </a:solidFill>
              </a:rPr>
              <a:t> __name__</a:t>
            </a:r>
            <a:r>
              <a:rPr lang="en-US" sz="3000" dirty="0" smtClean="0"/>
              <a:t>.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292894" y="1810141"/>
            <a:ext cx="9144000" cy="5047861"/>
          </a:xfrm>
          <a:prstGeom prst="rect">
            <a:avLst/>
          </a:prstGeom>
          <a:solidFill>
            <a:schemeClr val="tx1"/>
          </a:solidFill>
          <a:ln>
            <a:solidFill>
              <a:srgbClr val="417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0" rtlCol="0" anchor="t" anchorCtr="0"/>
          <a:lstStyle/>
          <a:p>
            <a:pPr>
              <a:lnSpc>
                <a:spcPct val="95000"/>
              </a:lnSpc>
            </a:pP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'__</a:t>
            </a:r>
            <a:r>
              <a:rPr lang="en-US" sz="2600" b="1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package__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'__</a:t>
            </a:r>
            <a:r>
              <a:rPr lang="en-US" sz="2600" b="1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spec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__', 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acos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acosh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asin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asinh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atan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'atan2',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atanh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'ceil',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copysign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'cos',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cosh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'degrees', 'e', 'erf',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erfc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exp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'expm1',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fabs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'factorial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'floor',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fmo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d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frex</a:t>
            </a:r>
            <a:r>
              <a:rPr lang="en-US" sz="2600" spc="-2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</a:t>
            </a:r>
            <a:r>
              <a:rPr lang="en-US" sz="26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4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fsum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'gamma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hypot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isfinit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0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isin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0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isnan</a:t>
            </a:r>
            <a:r>
              <a:rPr lang="en-US" sz="26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ldexp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lgamma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'log', 'log10', 'log1p',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'log2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modf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'pi', 'pow', 'radians',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'si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n</a:t>
            </a:r>
            <a:r>
              <a:rPr lang="en-US" sz="26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sinh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sqrt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'tan',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tanh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trunc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]</a:t>
            </a:r>
          </a:p>
          <a:p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&gt;&gt;&gt; print(</a:t>
            </a:r>
            <a:r>
              <a:rPr lang="en-US" sz="2600" dirty="0" err="1" smtClean="0">
                <a:solidFill>
                  <a:prstClr val="white"/>
                </a:solidFill>
                <a:latin typeface="Lucida Console" panose="020B0609040504020204" pitchFamily="49" charset="0"/>
              </a:rPr>
              <a:t>myMath</a:t>
            </a: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.</a:t>
            </a:r>
            <a:r>
              <a:rPr lang="en-US" sz="2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__doc__</a:t>
            </a: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2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#Prints a description</a:t>
            </a:r>
          </a:p>
          <a:p>
            <a:pPr>
              <a:lnSpc>
                <a:spcPct val="90000"/>
              </a:lnSpc>
            </a:pPr>
            <a:r>
              <a:rPr lang="en-US" sz="3200" spc="-20" dirty="0" smtClean="0">
                <a:solidFill>
                  <a:srgbClr val="FFFF00"/>
                </a:solidFill>
              </a:rPr>
              <a:t>This module is always available. It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provides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access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to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the</a:t>
            </a:r>
          </a:p>
          <a:p>
            <a:pPr>
              <a:lnSpc>
                <a:spcPct val="85000"/>
              </a:lnSpc>
            </a:pPr>
            <a:r>
              <a:rPr lang="en-US" sz="3200" spc="-20" dirty="0" smtClean="0">
                <a:solidFill>
                  <a:srgbClr val="FFFF00"/>
                </a:solidFill>
              </a:rPr>
              <a:t>mathematical functions defined by the C standard.</a:t>
            </a:r>
          </a:p>
          <a:p>
            <a:pPr>
              <a:lnSpc>
                <a:spcPct val="88000"/>
              </a:lnSpc>
            </a:pPr>
            <a:r>
              <a:rPr lang="en-US" sz="26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endParaRPr lang="en-US" sz="2600" spc="-60" dirty="0" smtClean="0">
              <a:solidFill>
                <a:srgbClr val="FF9B9B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0" y="195024"/>
            <a:ext cx="9726745" cy="68580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rgbClr val="0C77C3"/>
                </a:solidFill>
                <a:latin typeface="Elephant" panose="02020904090505020303" pitchFamily="18" charset="0"/>
              </a:rPr>
              <a:t>The system variables in math</a:t>
            </a:r>
            <a:endParaRPr lang="en-US" sz="4800" dirty="0">
              <a:solidFill>
                <a:srgbClr val="0C77C3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2894" y="6443420"/>
            <a:ext cx="9144000" cy="404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0" rtlCol="0" anchor="t" anchorCtr="0"/>
          <a:lstStyle/>
          <a:p>
            <a:pPr lvl="0">
              <a:lnSpc>
                <a:spcPct val="90000"/>
              </a:lnSpc>
            </a:pPr>
            <a:r>
              <a:rPr lang="en-US" sz="260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   </a:t>
            </a: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help(</a:t>
            </a:r>
            <a:r>
              <a:rPr lang="en-US" sz="26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myMath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60" dirty="0">
                <a:solidFill>
                  <a:srgbClr val="FF9B9B"/>
                </a:solidFill>
                <a:latin typeface="Lucida Console" panose="020B0609040504020204" pitchFamily="49" charset="0"/>
              </a:rPr>
              <a:t>#</a:t>
            </a:r>
            <a:r>
              <a:rPr lang="en-US" sz="2600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That</a:t>
            </a:r>
            <a:r>
              <a:rPr lang="en-US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60" dirty="0">
                <a:solidFill>
                  <a:srgbClr val="FF9B9B"/>
                </a:solidFill>
                <a:latin typeface="Lucida Console" panose="020B0609040504020204" pitchFamily="49" charset="0"/>
              </a:rPr>
              <a:t>same</a:t>
            </a:r>
            <a:r>
              <a:rPr lang="en-US" spc="-60" dirty="0">
                <a:solidFill>
                  <a:srgbClr val="FF9B9B"/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60" dirty="0">
                <a:solidFill>
                  <a:srgbClr val="FF9B9B"/>
                </a:solidFill>
                <a:latin typeface="Lucida Console" panose="020B0609040504020204" pitchFamily="49" charset="0"/>
              </a:rPr>
              <a:t>descr</a:t>
            </a:r>
            <a:r>
              <a:rPr lang="en-US" sz="2600" spc="-110" dirty="0">
                <a:solidFill>
                  <a:srgbClr val="FF9B9B"/>
                </a:solidFill>
                <a:latin typeface="Lucida Console" panose="020B0609040504020204" pitchFamily="49" charset="0"/>
              </a:rPr>
              <a:t>i</a:t>
            </a:r>
            <a:r>
              <a:rPr lang="en-US" sz="2600" spc="-60" dirty="0">
                <a:solidFill>
                  <a:srgbClr val="FF9B9B"/>
                </a:solidFill>
                <a:latin typeface="Lucida Console" panose="020B0609040504020204" pitchFamily="49" charset="0"/>
              </a:rPr>
              <a:t>pt</a:t>
            </a:r>
            <a:r>
              <a:rPr lang="en-US" sz="2600" spc="-110" dirty="0">
                <a:solidFill>
                  <a:srgbClr val="FF9B9B"/>
                </a:solidFill>
                <a:latin typeface="Lucida Console" panose="020B0609040504020204" pitchFamily="49" charset="0"/>
              </a:rPr>
              <a:t>i</a:t>
            </a:r>
            <a:r>
              <a:rPr lang="en-US" sz="2600" spc="-60" dirty="0">
                <a:solidFill>
                  <a:srgbClr val="FF9B9B"/>
                </a:solidFill>
                <a:latin typeface="Lucida Console" panose="020B0609040504020204" pitchFamily="49" charset="0"/>
              </a:rPr>
              <a:t>on</a:t>
            </a:r>
            <a:r>
              <a:rPr lang="en-US" spc="-60" dirty="0">
                <a:solidFill>
                  <a:srgbClr val="FF9B9B"/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20" dirty="0">
                <a:solidFill>
                  <a:srgbClr val="FF9B9B"/>
                </a:solidFill>
                <a:latin typeface="Lucida Console" panose="020B0609040504020204" pitchFamily="49" charset="0"/>
              </a:rPr>
              <a:t>i</a:t>
            </a:r>
            <a:r>
              <a:rPr lang="en-US" sz="2600" spc="-110" dirty="0">
                <a:solidFill>
                  <a:srgbClr val="FF9B9B"/>
                </a:solidFill>
                <a:latin typeface="Lucida Console" panose="020B0609040504020204" pitchFamily="49" charset="0"/>
              </a:rPr>
              <a:t>s</a:t>
            </a:r>
            <a:r>
              <a:rPr lang="en-US" sz="1600" spc="-110" dirty="0">
                <a:solidFill>
                  <a:srgbClr val="FF9B9B"/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30" dirty="0">
                <a:solidFill>
                  <a:srgbClr val="FF9B9B"/>
                </a:solidFill>
                <a:latin typeface="Lucida Console" panose="020B0609040504020204" pitchFamily="49" charset="0"/>
              </a:rPr>
              <a:t>i</a:t>
            </a:r>
            <a:r>
              <a:rPr lang="en-US" sz="2600" spc="-110" dirty="0">
                <a:solidFill>
                  <a:srgbClr val="FF9B9B"/>
                </a:solidFill>
                <a:latin typeface="Lucida Console" panose="020B0609040504020204" pitchFamily="49" charset="0"/>
              </a:rPr>
              <a:t>n</a:t>
            </a:r>
            <a:r>
              <a:rPr lang="en-US" spc="-110" dirty="0">
                <a:solidFill>
                  <a:srgbClr val="FF9B9B"/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10" dirty="0">
                <a:solidFill>
                  <a:srgbClr val="FF9B9B"/>
                </a:solidFill>
                <a:latin typeface="Lucida Console" panose="020B0609040504020204" pitchFamily="49" charset="0"/>
              </a:rPr>
              <a:t>her</a:t>
            </a:r>
            <a:r>
              <a:rPr lang="en-US" sz="2600" spc="-60" dirty="0">
                <a:solidFill>
                  <a:srgbClr val="FF9B9B"/>
                </a:solidFill>
                <a:latin typeface="Lucida Console" panose="020B0609040504020204" pitchFamily="49" charset="0"/>
              </a:rPr>
              <a:t>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1810512"/>
            <a:ext cx="9144000" cy="50474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 anchorCtr="0"/>
          <a:lstStyle/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schemeClr val="bg1">
                    <a:lumMod val="75000"/>
                  </a:schemeClr>
                </a:solidFill>
              </a:rPr>
              <a:t>Help </a:t>
            </a:r>
            <a:r>
              <a:rPr lang="en-US" sz="2400" spc="-30" dirty="0" smtClean="0">
                <a:solidFill>
                  <a:schemeClr val="bg1">
                    <a:lumMod val="75000"/>
                  </a:schemeClr>
                </a:solidFill>
              </a:rPr>
              <a:t>on </a:t>
            </a:r>
            <a:r>
              <a:rPr lang="en-US" sz="2400" spc="-30" dirty="0">
                <a:solidFill>
                  <a:schemeClr val="bg1">
                    <a:lumMod val="75000"/>
                  </a:schemeClr>
                </a:solidFill>
              </a:rPr>
              <a:t>module </a:t>
            </a:r>
            <a:r>
              <a:rPr lang="en-US" sz="2400" spc="-30" dirty="0" smtClean="0">
                <a:solidFill>
                  <a:schemeClr val="bg1">
                    <a:lumMod val="75000"/>
                  </a:schemeClr>
                </a:solidFill>
              </a:rPr>
              <a:t>math:</a:t>
            </a:r>
            <a:endParaRPr lang="en-US" sz="2400" spc="-3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70000"/>
              </a:lnSpc>
            </a:pPr>
            <a:endParaRPr lang="en-US" spc="-30" dirty="0">
              <a:solidFill>
                <a:prstClr val="white"/>
              </a:solidFill>
            </a:endParaRPr>
          </a:p>
          <a:p>
            <a:pPr>
              <a:lnSpc>
                <a:spcPct val="70000"/>
              </a:lnSpc>
            </a:pPr>
            <a:r>
              <a:rPr lang="en-US" sz="2400" spc="-30" dirty="0" smtClean="0">
                <a:solidFill>
                  <a:prstClr val="white"/>
                </a:solidFill>
              </a:rPr>
              <a:t>NAME</a:t>
            </a:r>
            <a:endParaRPr lang="en-US" sz="2400" spc="-30" dirty="0">
              <a:solidFill>
                <a:prstClr val="white"/>
              </a:solidFill>
            </a:endParaRP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prstClr val="white"/>
                </a:solidFill>
              </a:rPr>
              <a:t> </a:t>
            </a:r>
            <a:r>
              <a:rPr lang="en-US" sz="2400" spc="-30" dirty="0">
                <a:solidFill>
                  <a:schemeClr val="bg1">
                    <a:lumMod val="75000"/>
                  </a:schemeClr>
                </a:solidFill>
              </a:rPr>
              <a:t>   </a:t>
            </a:r>
            <a:r>
              <a:rPr lang="en-US" sz="2400" spc="-30" dirty="0" smtClean="0">
                <a:solidFill>
                  <a:schemeClr val="bg1">
                    <a:lumMod val="75000"/>
                  </a:schemeClr>
                </a:solidFill>
              </a:rPr>
              <a:t> math</a:t>
            </a:r>
            <a:endParaRPr lang="en-US" sz="2400" spc="-3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70000"/>
              </a:lnSpc>
            </a:pPr>
            <a:endParaRPr lang="en-US" spc="-30" dirty="0">
              <a:solidFill>
                <a:prstClr val="white"/>
              </a:solidFill>
            </a:endParaRP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prstClr val="white"/>
                </a:solidFill>
              </a:rPr>
              <a:t>MODULE REFERENCE</a:t>
            </a: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schemeClr val="bg1">
                    <a:lumMod val="75000"/>
                  </a:schemeClr>
                </a:solidFill>
              </a:rPr>
              <a:t>    https://docs.python.org/3.6/library/math</a:t>
            </a:r>
          </a:p>
          <a:p>
            <a:pPr>
              <a:lnSpc>
                <a:spcPct val="70000"/>
              </a:lnSpc>
            </a:pPr>
            <a:endParaRPr lang="en-US" spc="-3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70000"/>
              </a:lnSpc>
            </a:pPr>
            <a:r>
              <a:rPr lang="en-US" sz="2400" spc="-70" dirty="0">
                <a:solidFill>
                  <a:schemeClr val="bg1">
                    <a:lumMod val="75000"/>
                  </a:schemeClr>
                </a:solidFill>
              </a:rPr>
              <a:t>    The following documentation is automatically generated </a:t>
            </a:r>
            <a:r>
              <a:rPr lang="en-US" sz="2400" spc="-70" dirty="0" smtClean="0">
                <a:solidFill>
                  <a:schemeClr val="bg1">
                    <a:lumMod val="75000"/>
                  </a:schemeClr>
                </a:solidFill>
              </a:rPr>
              <a:t>from the </a:t>
            </a:r>
            <a:r>
              <a:rPr lang="en-US" sz="2400" spc="-70" dirty="0">
                <a:solidFill>
                  <a:schemeClr val="bg1">
                    <a:lumMod val="75000"/>
                  </a:schemeClr>
                </a:solidFill>
              </a:rPr>
              <a:t>Python</a:t>
            </a: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schemeClr val="bg1">
                    <a:lumMod val="75000"/>
                  </a:schemeClr>
                </a:solidFill>
              </a:rPr>
              <a:t>    source files.  It may be incomplete, incorrect or include features that</a:t>
            </a: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schemeClr val="bg1">
                    <a:lumMod val="75000"/>
                  </a:schemeClr>
                </a:solidFill>
              </a:rPr>
              <a:t>    are considered implementation detail and may vary between Python</a:t>
            </a: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schemeClr val="bg1">
                    <a:lumMod val="75000"/>
                  </a:schemeClr>
                </a:solidFill>
              </a:rPr>
              <a:t>    </a:t>
            </a:r>
            <a:r>
              <a:rPr lang="en-US" sz="2400" spc="-40" dirty="0">
                <a:solidFill>
                  <a:schemeClr val="bg1">
                    <a:lumMod val="75000"/>
                  </a:schemeClr>
                </a:solidFill>
              </a:rPr>
              <a:t>implementations.  When in doubt, consult the module reference at the</a:t>
            </a: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schemeClr val="bg1">
                    <a:lumMod val="75000"/>
                  </a:schemeClr>
                </a:solidFill>
              </a:rPr>
              <a:t>    location listed above.</a:t>
            </a:r>
          </a:p>
          <a:p>
            <a:pPr>
              <a:lnSpc>
                <a:spcPct val="70000"/>
              </a:lnSpc>
            </a:pPr>
            <a:endParaRPr lang="en-US" spc="-3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prstClr val="white"/>
                </a:solidFill>
              </a:rPr>
              <a:t>DESCRIPTION</a:t>
            </a:r>
          </a:p>
          <a:p>
            <a:pPr>
              <a:lnSpc>
                <a:spcPct val="70000"/>
              </a:lnSpc>
            </a:pPr>
            <a:r>
              <a:rPr lang="en-US" sz="2400" dirty="0">
                <a:solidFill>
                  <a:srgbClr val="FFFF00"/>
                </a:solidFill>
              </a:rPr>
              <a:t>    This module is always available.  It provides access to the</a:t>
            </a:r>
          </a:p>
          <a:p>
            <a:pPr>
              <a:lnSpc>
                <a:spcPct val="70000"/>
              </a:lnSpc>
            </a:pPr>
            <a:r>
              <a:rPr lang="en-US" sz="2400" dirty="0">
                <a:solidFill>
                  <a:srgbClr val="FFFF00"/>
                </a:solidFill>
              </a:rPr>
              <a:t>    mathematical functions defined by the C standard.</a:t>
            </a:r>
          </a:p>
          <a:p>
            <a:pPr>
              <a:lnSpc>
                <a:spcPct val="70000"/>
              </a:lnSpc>
            </a:pPr>
            <a:endParaRPr lang="en-US" spc="-30" dirty="0">
              <a:solidFill>
                <a:prstClr val="white"/>
              </a:solidFill>
            </a:endParaRP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prstClr val="white"/>
                </a:solidFill>
              </a:rPr>
              <a:t>FUNCTIONS</a:t>
            </a: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schemeClr val="bg1">
                    <a:lumMod val="75000"/>
                  </a:schemeClr>
                </a:solidFill>
              </a:rPr>
              <a:t>    </a:t>
            </a:r>
            <a:r>
              <a:rPr lang="en-US" sz="2400" spc="-30" dirty="0" err="1">
                <a:solidFill>
                  <a:schemeClr val="bg1">
                    <a:lumMod val="75000"/>
                  </a:schemeClr>
                </a:solidFill>
              </a:rPr>
              <a:t>acos</a:t>
            </a:r>
            <a:r>
              <a:rPr lang="en-US" sz="2400" spc="-30" dirty="0" smtClean="0">
                <a:solidFill>
                  <a:schemeClr val="bg1">
                    <a:lumMod val="75000"/>
                  </a:schemeClr>
                </a:solidFill>
              </a:rPr>
              <a:t>(...)</a:t>
            </a: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274147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92608" y="1810512"/>
            <a:ext cx="9144000" cy="5047488"/>
          </a:xfrm>
          <a:prstGeom prst="rect">
            <a:avLst/>
          </a:prstGeom>
          <a:solidFill>
            <a:schemeClr val="tx1"/>
          </a:solidFill>
          <a:ln>
            <a:solidFill>
              <a:srgbClr val="417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 anchorCtr="0"/>
          <a:lstStyle/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schemeClr val="bg1">
                    <a:lumMod val="75000"/>
                  </a:schemeClr>
                </a:solidFill>
              </a:rPr>
              <a:t>Help </a:t>
            </a:r>
            <a:r>
              <a:rPr lang="en-US" sz="2400" spc="-30" dirty="0" smtClean="0">
                <a:solidFill>
                  <a:schemeClr val="bg1">
                    <a:lumMod val="75000"/>
                  </a:schemeClr>
                </a:solidFill>
              </a:rPr>
              <a:t>on </a:t>
            </a:r>
            <a:r>
              <a:rPr lang="en-US" sz="2400" spc="-30" dirty="0">
                <a:solidFill>
                  <a:schemeClr val="bg1">
                    <a:lumMod val="75000"/>
                  </a:schemeClr>
                </a:solidFill>
              </a:rPr>
              <a:t>module </a:t>
            </a:r>
            <a:r>
              <a:rPr lang="en-US" sz="2400" spc="-30" dirty="0" smtClean="0">
                <a:solidFill>
                  <a:schemeClr val="bg1">
                    <a:lumMod val="75000"/>
                  </a:schemeClr>
                </a:solidFill>
              </a:rPr>
              <a:t>math:</a:t>
            </a:r>
            <a:endParaRPr lang="en-US" sz="2400" spc="-3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70000"/>
              </a:lnSpc>
            </a:pPr>
            <a:endParaRPr lang="en-US" spc="-30" dirty="0">
              <a:solidFill>
                <a:prstClr val="white"/>
              </a:solidFill>
            </a:endParaRPr>
          </a:p>
          <a:p>
            <a:pPr>
              <a:lnSpc>
                <a:spcPct val="70000"/>
              </a:lnSpc>
            </a:pPr>
            <a:r>
              <a:rPr lang="en-US" sz="2400" spc="-30" dirty="0" smtClean="0">
                <a:solidFill>
                  <a:prstClr val="white"/>
                </a:solidFill>
              </a:rPr>
              <a:t>NAME</a:t>
            </a:r>
            <a:endParaRPr lang="en-US" sz="2400" spc="-30" dirty="0">
              <a:solidFill>
                <a:prstClr val="white"/>
              </a:solidFill>
            </a:endParaRP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prstClr val="white"/>
                </a:solidFill>
              </a:rPr>
              <a:t> </a:t>
            </a:r>
            <a:r>
              <a:rPr lang="en-US" sz="2400" spc="-30" dirty="0">
                <a:solidFill>
                  <a:schemeClr val="bg1">
                    <a:lumMod val="75000"/>
                  </a:schemeClr>
                </a:solidFill>
              </a:rPr>
              <a:t>   </a:t>
            </a:r>
            <a:r>
              <a:rPr lang="en-US" sz="2400" spc="-30" dirty="0" smtClean="0">
                <a:solidFill>
                  <a:schemeClr val="bg1">
                    <a:lumMod val="75000"/>
                  </a:schemeClr>
                </a:solidFill>
              </a:rPr>
              <a:t> math</a:t>
            </a:r>
            <a:endParaRPr lang="en-US" sz="2400" spc="-3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70000"/>
              </a:lnSpc>
            </a:pPr>
            <a:endParaRPr lang="en-US" spc="-30" dirty="0">
              <a:solidFill>
                <a:prstClr val="white"/>
              </a:solidFill>
            </a:endParaRP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prstClr val="white"/>
                </a:solidFill>
              </a:rPr>
              <a:t>MODULE REFERENCE</a:t>
            </a: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schemeClr val="bg1">
                    <a:lumMod val="75000"/>
                  </a:schemeClr>
                </a:solidFill>
              </a:rPr>
              <a:t>    https://docs.python.org/3.6/library/math</a:t>
            </a:r>
          </a:p>
          <a:p>
            <a:pPr>
              <a:lnSpc>
                <a:spcPct val="70000"/>
              </a:lnSpc>
            </a:pPr>
            <a:endParaRPr lang="en-US" spc="-3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70000"/>
              </a:lnSpc>
            </a:pPr>
            <a:r>
              <a:rPr lang="en-US" sz="2400" spc="-70" dirty="0">
                <a:solidFill>
                  <a:schemeClr val="bg1">
                    <a:lumMod val="75000"/>
                  </a:schemeClr>
                </a:solidFill>
              </a:rPr>
              <a:t>    The following documentation is automatically generated </a:t>
            </a:r>
            <a:r>
              <a:rPr lang="en-US" sz="2400" spc="-70" dirty="0" smtClean="0">
                <a:solidFill>
                  <a:schemeClr val="bg1">
                    <a:lumMod val="75000"/>
                  </a:schemeClr>
                </a:solidFill>
              </a:rPr>
              <a:t>from the </a:t>
            </a:r>
            <a:r>
              <a:rPr lang="en-US" sz="2400" spc="-70" dirty="0">
                <a:solidFill>
                  <a:schemeClr val="bg1">
                    <a:lumMod val="75000"/>
                  </a:schemeClr>
                </a:solidFill>
              </a:rPr>
              <a:t>Python</a:t>
            </a: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schemeClr val="bg1">
                    <a:lumMod val="75000"/>
                  </a:schemeClr>
                </a:solidFill>
              </a:rPr>
              <a:t>    source files.  It may be incomplete, incorrect or include features that</a:t>
            </a: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schemeClr val="bg1">
                    <a:lumMod val="75000"/>
                  </a:schemeClr>
                </a:solidFill>
              </a:rPr>
              <a:t>    are considered implementation detail and may vary between Python</a:t>
            </a: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schemeClr val="bg1">
                    <a:lumMod val="75000"/>
                  </a:schemeClr>
                </a:solidFill>
              </a:rPr>
              <a:t>    </a:t>
            </a:r>
            <a:r>
              <a:rPr lang="en-US" sz="2400" spc="-40" dirty="0">
                <a:solidFill>
                  <a:schemeClr val="bg1">
                    <a:lumMod val="75000"/>
                  </a:schemeClr>
                </a:solidFill>
              </a:rPr>
              <a:t>implementations.  When in doubt, consult the module reference at the</a:t>
            </a: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schemeClr val="bg1">
                    <a:lumMod val="75000"/>
                  </a:schemeClr>
                </a:solidFill>
              </a:rPr>
              <a:t>    location listed above.</a:t>
            </a:r>
          </a:p>
          <a:p>
            <a:pPr>
              <a:lnSpc>
                <a:spcPct val="70000"/>
              </a:lnSpc>
            </a:pPr>
            <a:endParaRPr lang="en-US" spc="-3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prstClr val="white"/>
                </a:solidFill>
              </a:rPr>
              <a:t>DESCRIPTION</a:t>
            </a:r>
          </a:p>
          <a:p>
            <a:pPr>
              <a:lnSpc>
                <a:spcPct val="70000"/>
              </a:lnSpc>
            </a:pPr>
            <a:r>
              <a:rPr lang="en-US" sz="2400" dirty="0">
                <a:solidFill>
                  <a:srgbClr val="FFFF00"/>
                </a:solidFill>
              </a:rPr>
              <a:t>    This module is always available.  It provides access to the</a:t>
            </a:r>
          </a:p>
          <a:p>
            <a:pPr>
              <a:lnSpc>
                <a:spcPct val="70000"/>
              </a:lnSpc>
            </a:pPr>
            <a:r>
              <a:rPr lang="en-US" sz="2400" dirty="0">
                <a:solidFill>
                  <a:srgbClr val="FFFF00"/>
                </a:solidFill>
              </a:rPr>
              <a:t>    mathematical functions defined by the C standard.</a:t>
            </a:r>
          </a:p>
          <a:p>
            <a:pPr>
              <a:lnSpc>
                <a:spcPct val="70000"/>
              </a:lnSpc>
            </a:pPr>
            <a:endParaRPr lang="en-US" spc="-30" dirty="0">
              <a:solidFill>
                <a:prstClr val="white"/>
              </a:solidFill>
            </a:endParaRP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prstClr val="white"/>
                </a:solidFill>
              </a:rPr>
              <a:t>FUNCTIONS</a:t>
            </a: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schemeClr val="bg1">
                    <a:lumMod val="75000"/>
                  </a:schemeClr>
                </a:solidFill>
              </a:rPr>
              <a:t>    </a:t>
            </a:r>
            <a:r>
              <a:rPr lang="en-US" sz="2400" spc="-30" dirty="0" err="1">
                <a:solidFill>
                  <a:schemeClr val="bg1">
                    <a:lumMod val="75000"/>
                  </a:schemeClr>
                </a:solidFill>
              </a:rPr>
              <a:t>acos</a:t>
            </a:r>
            <a:r>
              <a:rPr lang="en-US" sz="2400" spc="-30" dirty="0" smtClean="0">
                <a:solidFill>
                  <a:schemeClr val="bg1">
                    <a:lumMod val="75000"/>
                  </a:schemeClr>
                </a:solidFill>
              </a:rPr>
              <a:t>(...)</a:t>
            </a:r>
          </a:p>
          <a:p>
            <a:pPr>
              <a:lnSpc>
                <a:spcPct val="70000"/>
              </a:lnSpc>
            </a:pPr>
            <a:r>
              <a:rPr lang="en-US" sz="2400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:</a:t>
            </a:r>
          </a:p>
        </p:txBody>
      </p:sp>
      <p:sp>
        <p:nvSpPr>
          <p:cNvPr id="9219" name="Content Placeholder 4"/>
          <p:cNvSpPr>
            <a:spLocks noGrp="1"/>
          </p:cNvSpPr>
          <p:nvPr>
            <p:ph idx="1"/>
          </p:nvPr>
        </p:nvSpPr>
        <p:spPr>
          <a:xfrm>
            <a:off x="292894" y="956405"/>
            <a:ext cx="9144000" cy="989602"/>
          </a:xfrm>
        </p:spPr>
        <p:txBody>
          <a:bodyPr>
            <a:normAutofit/>
          </a:bodyPr>
          <a:lstStyle/>
          <a:p>
            <a:pPr marL="0" indent="0">
              <a:lnSpc>
                <a:spcPct val="85000"/>
              </a:lnSpc>
              <a:buNone/>
            </a:pPr>
            <a:r>
              <a:rPr lang="en-US" sz="3000" dirty="0" smtClean="0"/>
              <a:t>What are these </a:t>
            </a:r>
            <a:r>
              <a:rPr lang="en-US" sz="3000" b="1" dirty="0" smtClean="0">
                <a:solidFill>
                  <a:srgbClr val="FF0000"/>
                </a:solidFill>
              </a:rPr>
              <a:t>__V__</a:t>
            </a:r>
            <a:r>
              <a:rPr lang="en-US" sz="3000" dirty="0" smtClean="0"/>
              <a:t>? Four aren't worth mentioning… </a:t>
            </a:r>
            <a:br>
              <a:rPr lang="en-US" sz="3000" dirty="0" smtClean="0"/>
            </a:br>
            <a:r>
              <a:rPr lang="en-US" sz="3000" dirty="0" smtClean="0"/>
              <a:t>But we'll look at </a:t>
            </a:r>
            <a:r>
              <a:rPr lang="en-US" sz="3000" b="1" dirty="0">
                <a:solidFill>
                  <a:srgbClr val="FF0000"/>
                </a:solidFill>
              </a:rPr>
              <a:t>__doc__ </a:t>
            </a:r>
            <a:r>
              <a:rPr lang="en-US" sz="3000" dirty="0"/>
              <a:t>and</a:t>
            </a:r>
            <a:r>
              <a:rPr lang="en-US" sz="3000" b="1" dirty="0">
                <a:solidFill>
                  <a:srgbClr val="FF0000"/>
                </a:solidFill>
              </a:rPr>
              <a:t> __name__</a:t>
            </a:r>
            <a:r>
              <a:rPr lang="en-US" sz="3000" dirty="0" smtClean="0"/>
              <a:t>.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292894" y="1810141"/>
            <a:ext cx="9144000" cy="504786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0" rtlCol="0" anchor="t" anchorCtr="0"/>
          <a:lstStyle/>
          <a:p>
            <a:pPr>
              <a:lnSpc>
                <a:spcPct val="97000"/>
              </a:lnSpc>
            </a:pP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'ceil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copysign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'cos',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cosh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'degrees', 'e', 'erf',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erfc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exp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'expm1',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fabs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'factorial', 'floor',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fmo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d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frex</a:t>
            </a:r>
            <a:r>
              <a:rPr lang="en-US" sz="2600" spc="-2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</a:t>
            </a:r>
            <a:r>
              <a:rPr lang="en-US" sz="26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4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fsum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 'gamma',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hypot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isfinit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0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isin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0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isnan</a:t>
            </a:r>
            <a:r>
              <a:rPr lang="en-US" sz="26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ldexp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lgamma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'log', 'log10', 'log1p',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'log2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modf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'pi', 'pow', 'radians',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'si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n</a:t>
            </a:r>
            <a:r>
              <a:rPr lang="en-US" sz="26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sinh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sqrt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'tan',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tanh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trunc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]</a:t>
            </a:r>
          </a:p>
          <a:p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&gt;&gt;&gt; print(</a:t>
            </a:r>
            <a:r>
              <a:rPr lang="en-US" sz="2600" dirty="0" err="1" smtClean="0">
                <a:solidFill>
                  <a:prstClr val="white"/>
                </a:solidFill>
                <a:latin typeface="Lucida Console" panose="020B0609040504020204" pitchFamily="49" charset="0"/>
              </a:rPr>
              <a:t>myMath</a:t>
            </a: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.</a:t>
            </a:r>
            <a:r>
              <a:rPr lang="en-US" sz="2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__doc__</a:t>
            </a: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2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#Prints a description</a:t>
            </a:r>
          </a:p>
          <a:p>
            <a:pPr>
              <a:lnSpc>
                <a:spcPct val="90000"/>
              </a:lnSpc>
            </a:pPr>
            <a:r>
              <a:rPr lang="en-US" sz="3200" spc="-20" dirty="0" smtClean="0">
                <a:solidFill>
                  <a:srgbClr val="FFFF00"/>
                </a:solidFill>
              </a:rPr>
              <a:t>This module is always available. It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provides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access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to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the</a:t>
            </a:r>
          </a:p>
          <a:p>
            <a:pPr>
              <a:lnSpc>
                <a:spcPct val="85000"/>
              </a:lnSpc>
            </a:pPr>
            <a:r>
              <a:rPr lang="en-US" sz="3200" spc="-20" dirty="0" smtClean="0">
                <a:solidFill>
                  <a:srgbClr val="FFFF00"/>
                </a:solidFill>
              </a:rPr>
              <a:t>mathematical functions defined by the C standard.</a:t>
            </a:r>
          </a:p>
          <a:p>
            <a:pPr>
              <a:lnSpc>
                <a:spcPct val="90000"/>
              </a:lnSpc>
            </a:pPr>
            <a:r>
              <a:rPr lang="en-US" sz="26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 help(</a:t>
            </a:r>
            <a:r>
              <a:rPr lang="en-US" sz="2600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myMath</a:t>
            </a:r>
            <a:r>
              <a:rPr lang="en-US" sz="26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#That</a:t>
            </a:r>
            <a:r>
              <a:rPr lang="en-US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same</a:t>
            </a:r>
            <a:r>
              <a:rPr lang="en-US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descr</a:t>
            </a:r>
            <a:r>
              <a:rPr lang="en-US" sz="2600" spc="-11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i</a:t>
            </a:r>
            <a:r>
              <a:rPr lang="en-US" sz="2600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pt</a:t>
            </a:r>
            <a:r>
              <a:rPr lang="en-US" sz="2600" spc="-11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i</a:t>
            </a:r>
            <a:r>
              <a:rPr lang="en-US" sz="2600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on</a:t>
            </a:r>
            <a:r>
              <a:rPr lang="en-US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2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i</a:t>
            </a:r>
            <a:r>
              <a:rPr lang="en-US" sz="2600" spc="-11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s</a:t>
            </a:r>
            <a:r>
              <a:rPr lang="en-US" sz="1600" spc="-11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3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i</a:t>
            </a:r>
            <a:r>
              <a:rPr lang="en-US" sz="2600" spc="-11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n</a:t>
            </a:r>
            <a:r>
              <a:rPr lang="en-US" spc="-11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1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her</a:t>
            </a:r>
            <a:r>
              <a:rPr lang="en-US" sz="2600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e</a:t>
            </a:r>
          </a:p>
          <a:p>
            <a:pPr>
              <a:lnSpc>
                <a:spcPct val="90000"/>
              </a:lnSpc>
            </a:pPr>
            <a:r>
              <a:rPr lang="en-US" sz="22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endParaRPr lang="en-US" sz="2200" spc="-20" dirty="0" smtClean="0">
              <a:solidFill>
                <a:srgbClr val="FF9B9B"/>
              </a:solidFill>
              <a:latin typeface="Lucida Console" panose="020B0609040504020204" pitchFamily="49" charset="0"/>
            </a:endParaRPr>
          </a:p>
          <a:p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&gt;&gt;&gt;</a:t>
            </a:r>
            <a:endParaRPr lang="en-US" sz="2600" spc="-20" dirty="0">
              <a:solidFill>
                <a:srgbClr val="FF9B9B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0" y="195024"/>
            <a:ext cx="9726745" cy="68580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rgbClr val="0C77C3"/>
                </a:solidFill>
                <a:latin typeface="Elephant" panose="02020904090505020303" pitchFamily="18" charset="0"/>
              </a:rPr>
              <a:t>The system variables in math</a:t>
            </a:r>
            <a:endParaRPr lang="en-US" sz="4800" dirty="0">
              <a:solidFill>
                <a:srgbClr val="0C77C3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2894" y="6415430"/>
            <a:ext cx="9144000" cy="432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0" rtlCol="0" anchor="t" anchorCtr="0"/>
          <a:lstStyle/>
          <a:p>
            <a:r>
              <a:rPr lang="en-US" sz="260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   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 p</a:t>
            </a:r>
            <a:r>
              <a:rPr lang="en-US" sz="2600" dirty="0">
                <a:solidFill>
                  <a:schemeClr val="bg1"/>
                </a:solidFill>
                <a:latin typeface="Lucida Console" panose="020B0609040504020204" pitchFamily="49" charset="0"/>
              </a:rPr>
              <a:t>rin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t(</a:t>
            </a:r>
            <a:r>
              <a:rPr lang="en-US" sz="26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myMath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.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__name__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20" dirty="0">
                <a:solidFill>
                  <a:srgbClr val="FF9B9B"/>
                </a:solidFill>
                <a:latin typeface="Lucida Console" panose="020B0609040504020204" pitchFamily="49" charset="0"/>
              </a:rPr>
              <a:t>#Holds original name</a:t>
            </a:r>
          </a:p>
        </p:txBody>
      </p:sp>
    </p:spTree>
    <p:extLst>
      <p:ext uri="{BB962C8B-B14F-4D97-AF65-F5344CB8AC3E}">
        <p14:creationId xmlns:p14="http://schemas.microsoft.com/office/powerpoint/2010/main" val="3513061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4"/>
          <p:cNvSpPr>
            <a:spLocks noGrp="1"/>
          </p:cNvSpPr>
          <p:nvPr>
            <p:ph idx="1"/>
          </p:nvPr>
        </p:nvSpPr>
        <p:spPr>
          <a:xfrm>
            <a:off x="292894" y="956405"/>
            <a:ext cx="9144000" cy="989602"/>
          </a:xfrm>
        </p:spPr>
        <p:txBody>
          <a:bodyPr>
            <a:normAutofit/>
          </a:bodyPr>
          <a:lstStyle/>
          <a:p>
            <a:pPr marL="0" indent="0">
              <a:lnSpc>
                <a:spcPct val="85000"/>
              </a:lnSpc>
              <a:buNone/>
            </a:pPr>
            <a:r>
              <a:rPr lang="en-US" sz="3000" dirty="0" smtClean="0"/>
              <a:t>What are these </a:t>
            </a:r>
            <a:r>
              <a:rPr lang="en-US" sz="3000" b="1" dirty="0" smtClean="0">
                <a:solidFill>
                  <a:srgbClr val="FF0000"/>
                </a:solidFill>
              </a:rPr>
              <a:t>__V__</a:t>
            </a:r>
            <a:r>
              <a:rPr lang="en-US" sz="3000" dirty="0" smtClean="0"/>
              <a:t>? Four aren't worth mentioning… </a:t>
            </a:r>
            <a:br>
              <a:rPr lang="en-US" sz="3000" dirty="0" smtClean="0"/>
            </a:br>
            <a:r>
              <a:rPr lang="en-US" sz="3000" dirty="0" smtClean="0"/>
              <a:t>But we'll look at </a:t>
            </a:r>
            <a:r>
              <a:rPr lang="en-US" sz="3000" b="1" dirty="0">
                <a:solidFill>
                  <a:srgbClr val="FF0000"/>
                </a:solidFill>
              </a:rPr>
              <a:t>__doc__ </a:t>
            </a:r>
            <a:r>
              <a:rPr lang="en-US" sz="3000" dirty="0"/>
              <a:t>and</a:t>
            </a:r>
            <a:r>
              <a:rPr lang="en-US" sz="3000" b="1" dirty="0">
                <a:solidFill>
                  <a:srgbClr val="FF0000"/>
                </a:solidFill>
              </a:rPr>
              <a:t> __name__</a:t>
            </a:r>
            <a:r>
              <a:rPr lang="en-US" sz="3000" dirty="0" smtClean="0"/>
              <a:t>.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292894" y="1810141"/>
            <a:ext cx="9144000" cy="504786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0" rtlCol="0" anchor="t" anchorCtr="0"/>
          <a:lstStyle/>
          <a:p>
            <a:pPr>
              <a:lnSpc>
                <a:spcPct val="97000"/>
              </a:lnSpc>
            </a:pP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'e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'erf',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erfc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exp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'expm1',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fabs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'factorial', 'floor',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fmo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d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frex</a:t>
            </a:r>
            <a:r>
              <a:rPr lang="en-US" sz="2600" spc="-2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</a:t>
            </a:r>
            <a:r>
              <a:rPr lang="en-US" sz="26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4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fsum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 'gamma',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hypot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isfinit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0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isin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0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isnan</a:t>
            </a:r>
            <a:r>
              <a:rPr lang="en-US" sz="26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ldexp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lgamma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'log', 'log10', 'log1p',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'log2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modf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'pi', 'pow', 'radians',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'si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n</a:t>
            </a:r>
            <a:r>
              <a:rPr lang="en-US" sz="26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sinh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sqrt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'tan',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tanh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trunc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]</a:t>
            </a:r>
          </a:p>
          <a:p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&gt;&gt;&gt; print(</a:t>
            </a:r>
            <a:r>
              <a:rPr lang="en-US" sz="2600" dirty="0" err="1" smtClean="0">
                <a:solidFill>
                  <a:prstClr val="white"/>
                </a:solidFill>
                <a:latin typeface="Lucida Console" panose="020B0609040504020204" pitchFamily="49" charset="0"/>
              </a:rPr>
              <a:t>myMath</a:t>
            </a: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.</a:t>
            </a:r>
            <a:r>
              <a:rPr lang="en-US" sz="2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__doc__</a:t>
            </a: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2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#Prints a description</a:t>
            </a:r>
          </a:p>
          <a:p>
            <a:pPr>
              <a:lnSpc>
                <a:spcPct val="90000"/>
              </a:lnSpc>
            </a:pPr>
            <a:r>
              <a:rPr lang="en-US" sz="3200" spc="-20" dirty="0" smtClean="0">
                <a:solidFill>
                  <a:srgbClr val="FFFF00"/>
                </a:solidFill>
              </a:rPr>
              <a:t>This module is always available. It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provides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access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to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the</a:t>
            </a:r>
          </a:p>
          <a:p>
            <a:pPr>
              <a:lnSpc>
                <a:spcPct val="85000"/>
              </a:lnSpc>
            </a:pPr>
            <a:r>
              <a:rPr lang="en-US" sz="3200" spc="-20" dirty="0" smtClean="0">
                <a:solidFill>
                  <a:srgbClr val="FFFF00"/>
                </a:solidFill>
              </a:rPr>
              <a:t>mathematical functions defined by the C standard.</a:t>
            </a:r>
          </a:p>
          <a:p>
            <a:pPr>
              <a:lnSpc>
                <a:spcPct val="90000"/>
              </a:lnSpc>
            </a:pPr>
            <a:r>
              <a:rPr lang="en-US" sz="26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 help(</a:t>
            </a:r>
            <a:r>
              <a:rPr lang="en-US" sz="2600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myMath</a:t>
            </a:r>
            <a:r>
              <a:rPr lang="en-US" sz="26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#That</a:t>
            </a:r>
            <a:r>
              <a:rPr lang="en-US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same</a:t>
            </a:r>
            <a:r>
              <a:rPr lang="en-US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descr</a:t>
            </a:r>
            <a:r>
              <a:rPr lang="en-US" sz="2600" spc="-11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i</a:t>
            </a:r>
            <a:r>
              <a:rPr lang="en-US" sz="2600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pt</a:t>
            </a:r>
            <a:r>
              <a:rPr lang="en-US" sz="2600" spc="-11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i</a:t>
            </a:r>
            <a:r>
              <a:rPr lang="en-US" sz="2600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on</a:t>
            </a:r>
            <a:r>
              <a:rPr lang="en-US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2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i</a:t>
            </a:r>
            <a:r>
              <a:rPr lang="en-US" sz="2600" spc="-11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s</a:t>
            </a:r>
            <a:r>
              <a:rPr lang="en-US" sz="1600" spc="-11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3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i</a:t>
            </a:r>
            <a:r>
              <a:rPr lang="en-US" sz="2600" spc="-11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n</a:t>
            </a:r>
            <a:r>
              <a:rPr lang="en-US" spc="-11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1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her</a:t>
            </a:r>
            <a:r>
              <a:rPr lang="en-US" sz="2600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e</a:t>
            </a:r>
          </a:p>
          <a:p>
            <a:pPr>
              <a:lnSpc>
                <a:spcPct val="90000"/>
              </a:lnSpc>
            </a:pPr>
            <a:r>
              <a:rPr lang="en-US" sz="22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endParaRPr lang="en-US" sz="2200" spc="-20" dirty="0" smtClean="0">
              <a:solidFill>
                <a:srgbClr val="FF9B9B"/>
              </a:solidFill>
              <a:latin typeface="Lucida Console" panose="020B0609040504020204" pitchFamily="49" charset="0"/>
            </a:endParaRPr>
          </a:p>
          <a:p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print(</a:t>
            </a:r>
            <a:r>
              <a:rPr lang="en-US" sz="26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myMath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.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__name__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20" dirty="0">
                <a:solidFill>
                  <a:srgbClr val="FF9B9B"/>
                </a:solidFill>
                <a:latin typeface="Lucida Console" panose="020B0609040504020204" pitchFamily="49" charset="0"/>
              </a:rPr>
              <a:t>#Holds original name</a:t>
            </a:r>
          </a:p>
          <a:p>
            <a:pPr>
              <a:lnSpc>
                <a:spcPct val="95000"/>
              </a:lnSpc>
            </a:pPr>
            <a:r>
              <a:rPr lang="en-US" sz="2600" dirty="0" smtClean="0">
                <a:solidFill>
                  <a:srgbClr val="FFFF00"/>
                </a:solidFill>
                <a:latin typeface="Lucida Console" panose="020B0609040504020204" pitchFamily="49" charset="0"/>
              </a:rPr>
              <a:t>math</a:t>
            </a:r>
            <a:endParaRPr lang="en-US" sz="2600" dirty="0">
              <a:solidFill>
                <a:srgbClr val="FFFF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0" y="195024"/>
            <a:ext cx="9726745" cy="68580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rgbClr val="0C77C3"/>
                </a:solidFill>
                <a:latin typeface="Elephant" panose="02020904090505020303" pitchFamily="18" charset="0"/>
              </a:rPr>
              <a:t>The system variables in math</a:t>
            </a:r>
            <a:endParaRPr lang="en-US" sz="4800" dirty="0">
              <a:solidFill>
                <a:srgbClr val="0C77C3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85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4"/>
          <p:cNvSpPr>
            <a:spLocks noGrp="1"/>
          </p:cNvSpPr>
          <p:nvPr>
            <p:ph idx="1"/>
          </p:nvPr>
        </p:nvSpPr>
        <p:spPr>
          <a:xfrm>
            <a:off x="292894" y="956405"/>
            <a:ext cx="9144000" cy="989602"/>
          </a:xfrm>
        </p:spPr>
        <p:txBody>
          <a:bodyPr>
            <a:normAutofit/>
          </a:bodyPr>
          <a:lstStyle/>
          <a:p>
            <a:pPr marL="0" indent="0">
              <a:lnSpc>
                <a:spcPct val="85000"/>
              </a:lnSpc>
              <a:buNone/>
            </a:pPr>
            <a:r>
              <a:rPr lang="en-US" sz="3000" dirty="0" smtClean="0"/>
              <a:t>What are these </a:t>
            </a:r>
            <a:r>
              <a:rPr lang="en-US" sz="3000" b="1" dirty="0" smtClean="0">
                <a:solidFill>
                  <a:srgbClr val="FF0000"/>
                </a:solidFill>
              </a:rPr>
              <a:t>__V__</a:t>
            </a:r>
            <a:r>
              <a:rPr lang="en-US" sz="3000" dirty="0" smtClean="0"/>
              <a:t>? Four aren't worth mentioning… </a:t>
            </a:r>
            <a:br>
              <a:rPr lang="en-US" sz="3000" dirty="0" smtClean="0"/>
            </a:br>
            <a:r>
              <a:rPr lang="en-US" sz="3000" dirty="0" smtClean="0"/>
              <a:t>But we'll look at </a:t>
            </a:r>
            <a:r>
              <a:rPr lang="en-US" sz="3000" b="1" dirty="0">
                <a:solidFill>
                  <a:srgbClr val="FF0000"/>
                </a:solidFill>
              </a:rPr>
              <a:t>__doc__ </a:t>
            </a:r>
            <a:r>
              <a:rPr lang="en-US" sz="3000" dirty="0"/>
              <a:t>and</a:t>
            </a:r>
            <a:r>
              <a:rPr lang="en-US" sz="3000" b="1" dirty="0">
                <a:solidFill>
                  <a:srgbClr val="FF0000"/>
                </a:solidFill>
              </a:rPr>
              <a:t> __name__</a:t>
            </a:r>
            <a:r>
              <a:rPr lang="en-US" sz="3000" dirty="0" smtClean="0"/>
              <a:t>.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292894" y="1810141"/>
            <a:ext cx="9144000" cy="504786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0" rtlCol="0" anchor="t" anchorCtr="0"/>
          <a:lstStyle/>
          <a:p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'factorial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'floor',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fmo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d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frex</a:t>
            </a:r>
            <a:r>
              <a:rPr lang="en-US" sz="2600" spc="-2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</a:t>
            </a:r>
            <a:r>
              <a:rPr lang="en-US" sz="26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4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fsum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'gamma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hypot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isfinit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0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isin</a:t>
            </a:r>
            <a:r>
              <a:rPr lang="en-US" sz="2600" spc="-1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f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sz="20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isnan</a:t>
            </a:r>
            <a:r>
              <a:rPr lang="en-US" sz="26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ldexp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lgamma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'log', 'log10', 'log1p',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'log2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modf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'pi', 'pow', 'radians', 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'si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n</a:t>
            </a:r>
            <a:r>
              <a:rPr lang="en-US" sz="26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6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sinh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sqrt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'tan',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tanh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sz="2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trunc</a:t>
            </a:r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]</a:t>
            </a:r>
          </a:p>
          <a:p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&gt;&gt;&gt; print(</a:t>
            </a:r>
            <a:r>
              <a:rPr lang="en-US" sz="2600" dirty="0" err="1" smtClean="0">
                <a:solidFill>
                  <a:prstClr val="white"/>
                </a:solidFill>
                <a:latin typeface="Lucida Console" panose="020B0609040504020204" pitchFamily="49" charset="0"/>
              </a:rPr>
              <a:t>myMath</a:t>
            </a: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.</a:t>
            </a:r>
            <a:r>
              <a:rPr lang="en-US" sz="2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__doc__</a:t>
            </a: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2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#Prints a description</a:t>
            </a:r>
          </a:p>
          <a:p>
            <a:pPr>
              <a:lnSpc>
                <a:spcPct val="90000"/>
              </a:lnSpc>
            </a:pPr>
            <a:r>
              <a:rPr lang="en-US" sz="3200" spc="-20" dirty="0" smtClean="0">
                <a:solidFill>
                  <a:srgbClr val="FFFF00"/>
                </a:solidFill>
              </a:rPr>
              <a:t>This module is always available. It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provides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access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to</a:t>
            </a:r>
            <a:r>
              <a:rPr lang="en-US" sz="2800" spc="-20" dirty="0" smtClean="0">
                <a:solidFill>
                  <a:srgbClr val="FFFF00"/>
                </a:solidFill>
              </a:rPr>
              <a:t> </a:t>
            </a:r>
            <a:r>
              <a:rPr lang="en-US" sz="3200" spc="-20" dirty="0" smtClean="0">
                <a:solidFill>
                  <a:srgbClr val="FFFF00"/>
                </a:solidFill>
              </a:rPr>
              <a:t>the</a:t>
            </a:r>
          </a:p>
          <a:p>
            <a:pPr>
              <a:lnSpc>
                <a:spcPct val="85000"/>
              </a:lnSpc>
            </a:pPr>
            <a:r>
              <a:rPr lang="en-US" sz="3200" spc="-20" dirty="0" smtClean="0">
                <a:solidFill>
                  <a:srgbClr val="FFFF00"/>
                </a:solidFill>
              </a:rPr>
              <a:t>mathematical functions defined by the C standard.</a:t>
            </a:r>
          </a:p>
          <a:p>
            <a:pPr>
              <a:lnSpc>
                <a:spcPct val="90000"/>
              </a:lnSpc>
            </a:pPr>
            <a:r>
              <a:rPr lang="en-US" sz="26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 help(</a:t>
            </a:r>
            <a:r>
              <a:rPr lang="en-US" sz="2600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myMath</a:t>
            </a:r>
            <a:r>
              <a:rPr lang="en-US" sz="26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#That</a:t>
            </a:r>
            <a:r>
              <a:rPr lang="en-US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same</a:t>
            </a:r>
            <a:r>
              <a:rPr lang="en-US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descr</a:t>
            </a:r>
            <a:r>
              <a:rPr lang="en-US" sz="2600" spc="-11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i</a:t>
            </a:r>
            <a:r>
              <a:rPr lang="en-US" sz="2600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pt</a:t>
            </a:r>
            <a:r>
              <a:rPr lang="en-US" sz="2600" spc="-11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i</a:t>
            </a:r>
            <a:r>
              <a:rPr lang="en-US" sz="2600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on</a:t>
            </a:r>
            <a:r>
              <a:rPr lang="en-US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2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i</a:t>
            </a:r>
            <a:r>
              <a:rPr lang="en-US" sz="2600" spc="-11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s</a:t>
            </a:r>
            <a:r>
              <a:rPr lang="en-US" sz="1600" spc="-11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3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i</a:t>
            </a:r>
            <a:r>
              <a:rPr lang="en-US" sz="2600" spc="-11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n</a:t>
            </a:r>
            <a:r>
              <a:rPr lang="en-US" spc="-11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 </a:t>
            </a:r>
            <a:r>
              <a:rPr lang="en-US" sz="2600" spc="-11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her</a:t>
            </a:r>
            <a:r>
              <a:rPr lang="en-US" sz="2600" spc="-60" dirty="0" smtClean="0">
                <a:solidFill>
                  <a:srgbClr val="FF9B9B"/>
                </a:solidFill>
                <a:latin typeface="Lucida Console" panose="020B0609040504020204" pitchFamily="49" charset="0"/>
              </a:rPr>
              <a:t>e</a:t>
            </a:r>
          </a:p>
          <a:p>
            <a:pPr>
              <a:lnSpc>
                <a:spcPct val="90000"/>
              </a:lnSpc>
            </a:pPr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endParaRPr lang="en-US" sz="2600" spc="-20" dirty="0" smtClean="0">
              <a:solidFill>
                <a:srgbClr val="FF9B9B"/>
              </a:solidFill>
              <a:latin typeface="Lucida Console" panose="020B0609040504020204" pitchFamily="49" charset="0"/>
            </a:endParaRPr>
          </a:p>
          <a:p>
            <a:r>
              <a:rPr lang="en-US" sz="2600" dirty="0" smtClean="0">
                <a:solidFill>
                  <a:prstClr val="white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print(</a:t>
            </a:r>
            <a:r>
              <a:rPr lang="en-US" sz="26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myMath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.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__name__</a:t>
            </a: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20" dirty="0">
                <a:solidFill>
                  <a:srgbClr val="FF9B9B"/>
                </a:solidFill>
                <a:latin typeface="Lucida Console" panose="020B0609040504020204" pitchFamily="49" charset="0"/>
              </a:rPr>
              <a:t>#Holds original name</a:t>
            </a:r>
          </a:p>
          <a:p>
            <a:pPr>
              <a:lnSpc>
                <a:spcPct val="95000"/>
              </a:lnSpc>
            </a:pPr>
            <a:r>
              <a:rPr lang="en-US" sz="2600" dirty="0">
                <a:solidFill>
                  <a:srgbClr val="FFFF00"/>
                </a:solidFill>
                <a:latin typeface="Lucida Console" panose="020B0609040504020204" pitchFamily="49" charset="0"/>
              </a:rPr>
              <a:t>math</a:t>
            </a:r>
          </a:p>
          <a:p>
            <a:pPr>
              <a:lnSpc>
                <a:spcPct val="80000"/>
              </a:lnSpc>
            </a:pPr>
            <a:r>
              <a:rPr lang="en-US" sz="2600" dirty="0">
                <a:solidFill>
                  <a:prstClr val="white"/>
                </a:solidFill>
                <a:latin typeface="Lucida Console" panose="020B0609040504020204" pitchFamily="49" charset="0"/>
              </a:rPr>
              <a:t>&gt;&gt;&gt;</a:t>
            </a:r>
            <a:endParaRPr lang="en-US" sz="2600" spc="-20" dirty="0">
              <a:solidFill>
                <a:srgbClr val="FF9B9B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0" y="195024"/>
            <a:ext cx="9726745" cy="68580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rgbClr val="0C77C3"/>
                </a:solidFill>
                <a:latin typeface="Elephant" panose="02020904090505020303" pitchFamily="18" charset="0"/>
              </a:rPr>
              <a:t>The system variables in math</a:t>
            </a:r>
            <a:endParaRPr lang="en-US" sz="4800" dirty="0">
              <a:solidFill>
                <a:srgbClr val="0C77C3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548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1483" y="2388621"/>
            <a:ext cx="8978061" cy="438538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80000"/>
              </a:lnSpc>
            </a:pPr>
            <a:endParaRPr lang="en-US" sz="2800" dirty="0">
              <a:solidFill>
                <a:prstClr val="white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5413" y="2388621"/>
            <a:ext cx="7957751" cy="43853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%</a:t>
            </a: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cat </a:t>
            </a:r>
            <a:r>
              <a:rPr lang="en-US" sz="2800" dirty="0">
                <a:solidFill>
                  <a:srgbClr val="A365D1"/>
                </a:solidFill>
                <a:latin typeface="Lucida Console" panose="020B0609040504020204" pitchFamily="49" charset="0"/>
              </a:rPr>
              <a:t>prog.py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import module1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print ("imported:",module1.x)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print ("local value of x:",x)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% 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cat </a:t>
            </a:r>
            <a:r>
              <a:rPr 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module1.py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x = 5</a:t>
            </a:r>
          </a:p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%</a:t>
            </a: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python3 </a:t>
            </a:r>
            <a:r>
              <a:rPr lang="en-US" sz="2800" dirty="0" smtClean="0">
                <a:solidFill>
                  <a:srgbClr val="A365D1"/>
                </a:solidFill>
                <a:latin typeface="Lucida Console" panose="020B0609040504020204" pitchFamily="49" charset="0"/>
              </a:rPr>
              <a:t>prog.py</a:t>
            </a:r>
            <a:endParaRPr lang="en-US" sz="2800" dirty="0">
              <a:solidFill>
                <a:srgbClr val="A365D1"/>
              </a:solidFill>
              <a:latin typeface="Lucida Console" panose="020B060904050402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5413" y="2388621"/>
            <a:ext cx="693223" cy="4385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%  </a:t>
            </a:r>
            <a:endParaRPr lang="en-US" sz="28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endParaRPr lang="en-US" sz="28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endParaRPr lang="en-US" sz="28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endParaRPr lang="en-US" sz="28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% </a:t>
            </a:r>
          </a:p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endParaRPr lang="en-US" sz="28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sz="28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lephant" panose="02020904090505020303" pitchFamily="18" charset="0"/>
                <a:ea typeface="+mj-ea"/>
                <a:cs typeface="+mj-cs"/>
              </a:rPr>
              <a:t>User-Defined Modules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Elephant" panose="02020904090505020303" pitchFamily="18" charset="0"/>
              <a:ea typeface="+mj-ea"/>
              <a:cs typeface="+mj-cs"/>
            </a:endParaRPr>
          </a:p>
        </p:txBody>
      </p:sp>
      <p:sp>
        <p:nvSpPr>
          <p:cNvPr id="2" name="Left Arrow 1"/>
          <p:cNvSpPr/>
          <p:nvPr/>
        </p:nvSpPr>
        <p:spPr>
          <a:xfrm>
            <a:off x="3295737" y="2390660"/>
            <a:ext cx="6434051" cy="41864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Arrow 14"/>
          <p:cNvSpPr/>
          <p:nvPr/>
        </p:nvSpPr>
        <p:spPr>
          <a:xfrm>
            <a:off x="3461657" y="2753517"/>
            <a:ext cx="6268131" cy="41864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Arrow 15"/>
          <p:cNvSpPr/>
          <p:nvPr/>
        </p:nvSpPr>
        <p:spPr>
          <a:xfrm>
            <a:off x="3875314" y="3856600"/>
            <a:ext cx="5854474" cy="41864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Arrow 16"/>
          <p:cNvSpPr/>
          <p:nvPr/>
        </p:nvSpPr>
        <p:spPr>
          <a:xfrm>
            <a:off x="4093029" y="4596828"/>
            <a:ext cx="5636758" cy="41864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88758" y="1022733"/>
            <a:ext cx="9437986" cy="13218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3000" spc="-20" dirty="0" smtClean="0"/>
              <a:t>Python comes with libraries of standard modules.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000" spc="-20" dirty="0" smtClean="0"/>
              <a:t>But you can also make your own modules.</a:t>
            </a:r>
            <a:endParaRPr lang="en-US" sz="3000" spc="-20" dirty="0"/>
          </a:p>
        </p:txBody>
      </p:sp>
    </p:spTree>
    <p:extLst>
      <p:ext uri="{BB962C8B-B14F-4D97-AF65-F5344CB8AC3E}">
        <p14:creationId xmlns:p14="http://schemas.microsoft.com/office/powerpoint/2010/main" val="212821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4" presetClass="entr" presetSubtype="1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15" grpId="0" animBg="1"/>
      <p:bldP spid="15" grpId="1" animBg="1"/>
      <p:bldP spid="16" grpId="0" animBg="1"/>
      <p:bldP spid="16" grpId="1" animBg="1"/>
      <p:bldP spid="17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1483" y="2388621"/>
            <a:ext cx="8978061" cy="438538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80000"/>
              </a:lnSpc>
            </a:pPr>
            <a:endParaRPr lang="en-US" sz="2800" dirty="0">
              <a:solidFill>
                <a:prstClr val="white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5413" y="2388621"/>
            <a:ext cx="7957751" cy="43853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%</a:t>
            </a: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cat </a:t>
            </a:r>
            <a:r>
              <a:rPr lang="en-US" sz="2800" dirty="0">
                <a:solidFill>
                  <a:srgbClr val="A365D1"/>
                </a:solidFill>
                <a:latin typeface="Lucida Console" panose="020B0609040504020204" pitchFamily="49" charset="0"/>
              </a:rPr>
              <a:t>prog.py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import module1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print ("imported:",module1.x)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print ("local value of x:",x)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% 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cat </a:t>
            </a:r>
            <a:r>
              <a:rPr 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module1.py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x = 5</a:t>
            </a:r>
          </a:p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%</a:t>
            </a: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python3 </a:t>
            </a:r>
            <a:r>
              <a:rPr lang="en-US" sz="2800" dirty="0" smtClean="0">
                <a:solidFill>
                  <a:srgbClr val="A365D1"/>
                </a:solidFill>
                <a:latin typeface="Lucida Console" panose="020B0609040504020204" pitchFamily="49" charset="0"/>
              </a:rPr>
              <a:t>prog.py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imported: </a:t>
            </a:r>
            <a:r>
              <a:rPr lang="en-US" sz="2800" dirty="0">
                <a:solidFill>
                  <a:srgbClr val="FFFF00"/>
                </a:solidFill>
                <a:latin typeface="Lucida Console" panose="020B0609040504020204" pitchFamily="49" charset="0"/>
              </a:rPr>
              <a:t>5</a:t>
            </a:r>
          </a:p>
          <a:p>
            <a:pPr>
              <a:lnSpc>
                <a:spcPct val="85000"/>
              </a:lnSpc>
            </a:pPr>
            <a:r>
              <a:rPr lang="en-US" sz="2800" dirty="0" err="1">
                <a:solidFill>
                  <a:srgbClr val="FFA3CC"/>
                </a:solidFill>
                <a:latin typeface="Lucida Console" panose="020B0609040504020204" pitchFamily="49" charset="0"/>
              </a:rPr>
              <a:t>Traceback</a:t>
            </a:r>
            <a:r>
              <a:rPr lang="en-US" sz="2800" dirty="0">
                <a:solidFill>
                  <a:srgbClr val="FFA3CC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srgbClr val="FFA3CC"/>
                </a:solidFill>
                <a:latin typeface="Lucida Console" panose="020B0609040504020204" pitchFamily="49" charset="0"/>
              </a:rPr>
              <a:t>  File "sw.py", line 3, in &lt;module&gt;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srgbClr val="FFA3CC"/>
                </a:solidFill>
                <a:latin typeface="Lucida Console" panose="020B0609040504020204" pitchFamily="49" charset="0"/>
              </a:rPr>
              <a:t>    print ("</a:t>
            </a:r>
            <a:r>
              <a:rPr lang="en-US" sz="2800" dirty="0" err="1">
                <a:solidFill>
                  <a:srgbClr val="FFA3CC"/>
                </a:solidFill>
                <a:latin typeface="Lucida Console" panose="020B0609040504020204" pitchFamily="49" charset="0"/>
              </a:rPr>
              <a:t>locally:",</a:t>
            </a:r>
            <a:r>
              <a:rPr 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sz="2800" dirty="0">
                <a:solidFill>
                  <a:srgbClr val="FFA3CC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%</a:t>
            </a:r>
          </a:p>
          <a:p>
            <a:pPr>
              <a:lnSpc>
                <a:spcPct val="85000"/>
              </a:lnSpc>
            </a:pPr>
            <a:endParaRPr lang="en-US" sz="2800" dirty="0">
              <a:solidFill>
                <a:srgbClr val="A365D1"/>
              </a:solidFill>
              <a:latin typeface="Lucida Console" panose="020B060904050402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5413" y="2388621"/>
            <a:ext cx="693223" cy="4385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%  </a:t>
            </a:r>
            <a:endParaRPr lang="en-US" sz="28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endParaRPr lang="en-US" sz="28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endParaRPr lang="en-US" sz="28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endParaRPr lang="en-US" sz="28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% </a:t>
            </a:r>
          </a:p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endParaRPr lang="en-US" sz="28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sz="28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Left Arrow 1"/>
          <p:cNvSpPr/>
          <p:nvPr/>
        </p:nvSpPr>
        <p:spPr>
          <a:xfrm>
            <a:off x="3295737" y="2390660"/>
            <a:ext cx="6434051" cy="41864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Arrow 11"/>
          <p:cNvSpPr/>
          <p:nvPr/>
        </p:nvSpPr>
        <p:spPr>
          <a:xfrm>
            <a:off x="1545771" y="4226713"/>
            <a:ext cx="8184017" cy="41864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Arrow 12"/>
          <p:cNvSpPr/>
          <p:nvPr/>
        </p:nvSpPr>
        <p:spPr>
          <a:xfrm>
            <a:off x="6683829" y="3116375"/>
            <a:ext cx="3045960" cy="41864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Arrow 13"/>
          <p:cNvSpPr/>
          <p:nvPr/>
        </p:nvSpPr>
        <p:spPr>
          <a:xfrm>
            <a:off x="6683828" y="3486490"/>
            <a:ext cx="3045960" cy="41864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Arrow 14"/>
          <p:cNvSpPr/>
          <p:nvPr/>
        </p:nvSpPr>
        <p:spPr>
          <a:xfrm>
            <a:off x="3461657" y="2753517"/>
            <a:ext cx="6268131" cy="41864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Arrow 15"/>
          <p:cNvSpPr/>
          <p:nvPr/>
        </p:nvSpPr>
        <p:spPr>
          <a:xfrm>
            <a:off x="3875314" y="3856600"/>
            <a:ext cx="5854474" cy="41864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Arrow 16"/>
          <p:cNvSpPr/>
          <p:nvPr/>
        </p:nvSpPr>
        <p:spPr>
          <a:xfrm>
            <a:off x="4093029" y="4596828"/>
            <a:ext cx="5636758" cy="41864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Arrow 17"/>
          <p:cNvSpPr/>
          <p:nvPr/>
        </p:nvSpPr>
        <p:spPr>
          <a:xfrm>
            <a:off x="3461657" y="2753517"/>
            <a:ext cx="6268131" cy="418641"/>
          </a:xfrm>
          <a:prstGeom prst="leftArrow">
            <a:avLst/>
          </a:prstGeom>
          <a:solidFill>
            <a:srgbClr val="1B456B"/>
          </a:solidFill>
          <a:ln>
            <a:solidFill>
              <a:srgbClr val="1B45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lephant" panose="02020904090505020303" pitchFamily="18" charset="0"/>
                <a:ea typeface="+mj-ea"/>
                <a:cs typeface="+mj-cs"/>
              </a:rPr>
              <a:t>User-Defined Modules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Elephant" panose="02020904090505020303" pitchFamily="18" charset="0"/>
              <a:ea typeface="+mj-ea"/>
              <a:cs typeface="+mj-cs"/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288758" y="1022733"/>
            <a:ext cx="9437986" cy="13218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3000" spc="-20" dirty="0" smtClean="0"/>
              <a:t>Python comes with libraries of standard modules.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000" spc="-20" dirty="0" smtClean="0"/>
              <a:t>But you can also make your own modules.</a:t>
            </a:r>
            <a:endParaRPr lang="en-US" sz="3000" spc="-20" dirty="0"/>
          </a:p>
        </p:txBody>
      </p:sp>
    </p:spTree>
    <p:extLst>
      <p:ext uri="{BB962C8B-B14F-4D97-AF65-F5344CB8AC3E}">
        <p14:creationId xmlns:p14="http://schemas.microsoft.com/office/powerpoint/2010/main" val="1365908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5" grpId="0" animBg="1"/>
      <p:bldP spid="15" grpId="1" animBg="1"/>
      <p:bldP spid="16" grpId="0" animBg="1"/>
      <p:bldP spid="16" grpId="1" animBg="1"/>
      <p:bldP spid="18" grpId="0" animBg="1"/>
      <p:bldP spid="18" grpId="1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1483" y="951723"/>
            <a:ext cx="8978061" cy="582228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% cat module1.py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x = 5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% cat module2.py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srgbClr val="FFFF00"/>
                </a:solidFill>
                <a:latin typeface="Lucida Console" panose="020B0609040504020204" pitchFamily="49" charset="0"/>
              </a:rPr>
              <a:t>import module1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x = 6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% cat test.py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import module2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print ("imported:",</a:t>
            </a:r>
            <a:r>
              <a:rPr lang="en-US" sz="2800" dirty="0">
                <a:solidFill>
                  <a:srgbClr val="FFFF00"/>
                </a:solidFill>
                <a:latin typeface="Lucida Console" panose="020B0609040504020204" pitchFamily="49" charset="0"/>
              </a:rPr>
              <a:t>module2.x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print ("imp 2x:",</a:t>
            </a:r>
            <a:r>
              <a:rPr lang="en-US" sz="2800" dirty="0">
                <a:solidFill>
                  <a:srgbClr val="FF99FF"/>
                </a:solidFill>
                <a:latin typeface="Lucida Console" panose="020B0609040504020204" pitchFamily="49" charset="0"/>
              </a:rPr>
              <a:t>module2.module1.x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print ("unreachable:",module1.x)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% python3 test.py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imported: </a:t>
            </a:r>
            <a:r>
              <a:rPr lang="en-US" sz="2800" dirty="0">
                <a:solidFill>
                  <a:srgbClr val="FFFF00"/>
                </a:solidFill>
                <a:latin typeface="Lucida Console" panose="020B0609040504020204" pitchFamily="49" charset="0"/>
              </a:rPr>
              <a:t>6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imp 2x: </a:t>
            </a:r>
            <a:r>
              <a:rPr lang="en-US" sz="2800" dirty="0">
                <a:solidFill>
                  <a:srgbClr val="FF99FF"/>
                </a:solidFill>
                <a:latin typeface="Lucida Console" panose="020B0609040504020204" pitchFamily="49" charset="0"/>
              </a:rPr>
              <a:t>5</a:t>
            </a:r>
          </a:p>
          <a:p>
            <a:pPr>
              <a:lnSpc>
                <a:spcPct val="80000"/>
              </a:lnSpc>
            </a:pPr>
            <a:r>
              <a:rPr lang="en-US" sz="2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Traceback</a:t>
            </a: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 File “test.py", line 4, in &lt;module&gt;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   print ("unreachable:",module1.x)</a:t>
            </a:r>
          </a:p>
          <a:p>
            <a:pPr>
              <a:lnSpc>
                <a:spcPct val="80000"/>
              </a:lnSpc>
            </a:pPr>
            <a:r>
              <a:rPr lang="en-US" sz="2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NameError</a:t>
            </a: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: name 'module1' is not defined</a:t>
            </a: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0" y="105781"/>
            <a:ext cx="9729788" cy="104616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US" altLang="en-US" spc="-120" dirty="0">
                <a:solidFill>
                  <a:srgbClr val="0070C0"/>
                </a:solidFill>
              </a:rPr>
              <a:t>On</a:t>
            </a:r>
            <a:r>
              <a:rPr lang="en-US" altLang="en-US" spc="-40" dirty="0">
                <a:solidFill>
                  <a:srgbClr val="0070C0"/>
                </a:solidFill>
              </a:rPr>
              <a:t>e</a:t>
            </a:r>
            <a:r>
              <a:rPr lang="en-US" altLang="en-US" sz="3600" spc="-40" dirty="0">
                <a:solidFill>
                  <a:srgbClr val="0070C0"/>
                </a:solidFill>
              </a:rPr>
              <a:t> </a:t>
            </a:r>
            <a:r>
              <a:rPr lang="en-US" altLang="en-US" spc="-400" dirty="0">
                <a:solidFill>
                  <a:srgbClr val="0070C0"/>
                </a:solidFill>
              </a:rPr>
              <a:t>M</a:t>
            </a:r>
            <a:r>
              <a:rPr lang="en-US" altLang="en-US" spc="-40" dirty="0">
                <a:solidFill>
                  <a:srgbClr val="0070C0"/>
                </a:solidFill>
              </a:rPr>
              <a:t>odule Can Import</a:t>
            </a:r>
            <a:r>
              <a:rPr lang="en-US" altLang="en-US" sz="4000" spc="-40" dirty="0">
                <a:solidFill>
                  <a:srgbClr val="0070C0"/>
                </a:solidFill>
              </a:rPr>
              <a:t> </a:t>
            </a:r>
            <a:r>
              <a:rPr lang="en-US" altLang="en-US" spc="-40" dirty="0">
                <a:solidFill>
                  <a:srgbClr val="0070C0"/>
                </a:solidFill>
              </a:rPr>
              <a:t>Another</a:t>
            </a:r>
            <a:endParaRPr lang="en-GB" altLang="en-US" spc="-4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796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1483" y="951723"/>
            <a:ext cx="8978061" cy="582228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% cat module1.py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x = 5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% cat module2.py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import module1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x = 6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% cat test.py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import module2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print ("imported:",module2.x)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print ("imp 2x:",module2.module1.x)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print ("unreachable:",</a:t>
            </a:r>
            <a:r>
              <a:rPr lang="en-US" sz="2800" dirty="0">
                <a:solidFill>
                  <a:srgbClr val="FFFF00"/>
                </a:solidFill>
                <a:latin typeface="Lucida Console" panose="020B0609040504020204" pitchFamily="49" charset="0"/>
              </a:rPr>
              <a:t>module1.x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% python3 test.py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imported: 6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imp 2x: 5</a:t>
            </a:r>
          </a:p>
          <a:p>
            <a:pPr>
              <a:lnSpc>
                <a:spcPct val="80000"/>
              </a:lnSpc>
            </a:pPr>
            <a:r>
              <a:rPr lang="en-US" sz="2800" dirty="0" err="1">
                <a:solidFill>
                  <a:srgbClr val="5C0000"/>
                </a:solidFill>
                <a:latin typeface="Lucida Console" panose="020B0609040504020204" pitchFamily="49" charset="0"/>
              </a:rPr>
              <a:t>Traceback</a:t>
            </a:r>
            <a:r>
              <a:rPr lang="en-US" sz="2800" dirty="0">
                <a:solidFill>
                  <a:srgbClr val="5C0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srgbClr val="5C0000"/>
                </a:solidFill>
                <a:latin typeface="Lucida Console" panose="020B0609040504020204" pitchFamily="49" charset="0"/>
              </a:rPr>
              <a:t>  File “test.py", line 4, in &lt;module&gt;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srgbClr val="5C0000"/>
                </a:solidFill>
                <a:latin typeface="Lucida Console" panose="020B0609040504020204" pitchFamily="49" charset="0"/>
              </a:rPr>
              <a:t>    print ("unreachable:",module1.x)</a:t>
            </a:r>
          </a:p>
          <a:p>
            <a:pPr>
              <a:lnSpc>
                <a:spcPct val="80000"/>
              </a:lnSpc>
            </a:pPr>
            <a:r>
              <a:rPr lang="en-US" sz="2800" dirty="0" err="1">
                <a:solidFill>
                  <a:srgbClr val="FF2929"/>
                </a:solidFill>
                <a:latin typeface="Lucida Console" panose="020B0609040504020204" pitchFamily="49" charset="0"/>
              </a:rPr>
              <a:t>NameError</a:t>
            </a:r>
            <a:r>
              <a:rPr lang="en-US" sz="2800" dirty="0">
                <a:solidFill>
                  <a:srgbClr val="FF2929"/>
                </a:solidFill>
                <a:latin typeface="Lucida Console" panose="020B0609040504020204" pitchFamily="49" charset="0"/>
              </a:rPr>
              <a:t>: name 'module1' is not defined</a:t>
            </a: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0" y="105781"/>
            <a:ext cx="9729788" cy="104616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US" altLang="en-US" spc="-120" dirty="0">
                <a:solidFill>
                  <a:srgbClr val="0070C0"/>
                </a:solidFill>
              </a:rPr>
              <a:t>On</a:t>
            </a:r>
            <a:r>
              <a:rPr lang="en-US" altLang="en-US" spc="-40" dirty="0">
                <a:solidFill>
                  <a:srgbClr val="0070C0"/>
                </a:solidFill>
              </a:rPr>
              <a:t>e</a:t>
            </a:r>
            <a:r>
              <a:rPr lang="en-US" altLang="en-US" sz="3600" spc="-40" dirty="0">
                <a:solidFill>
                  <a:srgbClr val="0070C0"/>
                </a:solidFill>
              </a:rPr>
              <a:t> </a:t>
            </a:r>
            <a:r>
              <a:rPr lang="en-US" altLang="en-US" spc="-400" dirty="0">
                <a:solidFill>
                  <a:srgbClr val="0070C0"/>
                </a:solidFill>
              </a:rPr>
              <a:t>M</a:t>
            </a:r>
            <a:r>
              <a:rPr lang="en-US" altLang="en-US" spc="-40" dirty="0">
                <a:solidFill>
                  <a:srgbClr val="0070C0"/>
                </a:solidFill>
              </a:rPr>
              <a:t>odule Can Import</a:t>
            </a:r>
            <a:r>
              <a:rPr lang="en-US" altLang="en-US" sz="4000" spc="-40" dirty="0">
                <a:solidFill>
                  <a:srgbClr val="0070C0"/>
                </a:solidFill>
              </a:rPr>
              <a:t> </a:t>
            </a:r>
            <a:r>
              <a:rPr lang="en-US" altLang="en-US" spc="-40" dirty="0">
                <a:solidFill>
                  <a:srgbClr val="0070C0"/>
                </a:solidFill>
              </a:rPr>
              <a:t>Another</a:t>
            </a:r>
            <a:endParaRPr lang="en-GB" altLang="en-US" spc="-4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77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1483" y="951723"/>
            <a:ext cx="8978061" cy="582228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% cat module1.py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x = 5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% cat module2.py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import module1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x = 6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% cat test.py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srgbClr val="FFFF00"/>
                </a:solidFill>
                <a:latin typeface="Lucida Console" panose="020B0609040504020204" pitchFamily="49" charset="0"/>
              </a:rPr>
              <a:t>import module2, module1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print ("imported:",</a:t>
            </a:r>
            <a:r>
              <a:rPr lang="en-US" sz="2800" dirty="0">
                <a:solidFill>
                  <a:srgbClr val="FFFF00"/>
                </a:solidFill>
                <a:latin typeface="Lucida Console" panose="020B0609040504020204" pitchFamily="49" charset="0"/>
              </a:rPr>
              <a:t>module2.x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print ("imp 2x:",</a:t>
            </a:r>
            <a:r>
              <a:rPr lang="en-US" sz="2800" dirty="0">
                <a:solidFill>
                  <a:srgbClr val="FF99FF"/>
                </a:solidFill>
                <a:latin typeface="Lucida Console" panose="020B0609040504020204" pitchFamily="49" charset="0"/>
              </a:rPr>
              <a:t>module2.module1.x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print ("reachable:",</a:t>
            </a:r>
            <a:r>
              <a:rPr lang="en-US" sz="2800" dirty="0">
                <a:solidFill>
                  <a:srgbClr val="00B0F0"/>
                </a:solidFill>
                <a:latin typeface="Lucida Console" panose="020B0609040504020204" pitchFamily="49" charset="0"/>
              </a:rPr>
              <a:t>module1.x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% python3 test.py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imported: </a:t>
            </a:r>
            <a:r>
              <a:rPr lang="en-US" sz="2800" dirty="0">
                <a:solidFill>
                  <a:srgbClr val="FFFF00"/>
                </a:solidFill>
                <a:latin typeface="Lucida Console" panose="020B0609040504020204" pitchFamily="49" charset="0"/>
              </a:rPr>
              <a:t>6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imp 2x: </a:t>
            </a:r>
            <a:r>
              <a:rPr lang="en-US" sz="2800" dirty="0">
                <a:solidFill>
                  <a:srgbClr val="FF99FF"/>
                </a:solidFill>
                <a:latin typeface="Lucida Console" panose="020B0609040504020204" pitchFamily="49" charset="0"/>
              </a:rPr>
              <a:t>5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Reachable: </a:t>
            </a:r>
            <a:r>
              <a:rPr lang="en-US" sz="2800" dirty="0">
                <a:solidFill>
                  <a:srgbClr val="00B0F0"/>
                </a:solidFill>
                <a:latin typeface="Lucida Console" panose="020B0609040504020204" pitchFamily="49" charset="0"/>
              </a:rPr>
              <a:t>5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%</a:t>
            </a: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0" y="105781"/>
            <a:ext cx="9729788" cy="104616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US" altLang="en-US" spc="-400" dirty="0">
                <a:solidFill>
                  <a:srgbClr val="0070C0"/>
                </a:solidFill>
              </a:rPr>
              <a:t>Y</a:t>
            </a:r>
            <a:r>
              <a:rPr lang="en-US" altLang="en-US" spc="-120" dirty="0">
                <a:solidFill>
                  <a:srgbClr val="0070C0"/>
                </a:solidFill>
              </a:rPr>
              <a:t>ou Can Impo</a:t>
            </a:r>
            <a:r>
              <a:rPr lang="en-US" altLang="en-US" spc="-20" dirty="0">
                <a:solidFill>
                  <a:srgbClr val="0070C0"/>
                </a:solidFill>
              </a:rPr>
              <a:t>r</a:t>
            </a:r>
            <a:r>
              <a:rPr lang="en-US" altLang="en-US" spc="-120" dirty="0">
                <a:solidFill>
                  <a:srgbClr val="0070C0"/>
                </a:solidFill>
              </a:rPr>
              <a:t>t </a:t>
            </a:r>
            <a:r>
              <a:rPr lang="en-US" altLang="en-US" spc="-400" dirty="0">
                <a:solidFill>
                  <a:srgbClr val="0070C0"/>
                </a:solidFill>
              </a:rPr>
              <a:t>M</a:t>
            </a:r>
            <a:r>
              <a:rPr lang="en-US" altLang="en-US" spc="-120" dirty="0">
                <a:solidFill>
                  <a:srgbClr val="0070C0"/>
                </a:solidFill>
              </a:rPr>
              <a:t>ultiple </a:t>
            </a:r>
            <a:r>
              <a:rPr lang="en-US" altLang="en-US" spc="-400" dirty="0">
                <a:solidFill>
                  <a:srgbClr val="0070C0"/>
                </a:solidFill>
              </a:rPr>
              <a:t>M</a:t>
            </a:r>
            <a:r>
              <a:rPr lang="en-US" altLang="en-US" spc="-50" dirty="0">
                <a:solidFill>
                  <a:srgbClr val="0070C0"/>
                </a:solidFill>
              </a:rPr>
              <a:t>o</a:t>
            </a:r>
            <a:r>
              <a:rPr lang="en-US" altLang="en-US" spc="-120" dirty="0">
                <a:solidFill>
                  <a:srgbClr val="0070C0"/>
                </a:solidFill>
              </a:rPr>
              <a:t>dules</a:t>
            </a:r>
            <a:endParaRPr lang="en-GB" altLang="en-US" spc="-4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251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893" y="1524000"/>
            <a:ext cx="9296401" cy="5334000"/>
          </a:xfrm>
        </p:spPr>
        <p:txBody>
          <a:bodyPr>
            <a:noAutofit/>
          </a:bodyPr>
          <a:lstStyle/>
          <a:p>
            <a:pPr>
              <a:spcBef>
                <a:spcPts val="3000"/>
              </a:spcBef>
            </a:pPr>
            <a:r>
              <a:rPr lang="en-AU" altLang="en-US" sz="3800" dirty="0" smtClean="0">
                <a:solidFill>
                  <a:srgbClr val="FF0000"/>
                </a:solidFill>
              </a:rPr>
              <a:t>The </a:t>
            </a:r>
            <a:r>
              <a:rPr lang="en-AU" altLang="en-US" sz="3800" b="1" dirty="0">
                <a:solidFill>
                  <a:srgbClr val="FF0000"/>
                </a:solidFill>
              </a:rPr>
              <a:t>same</a:t>
            </a:r>
            <a:r>
              <a:rPr lang="en-AU" altLang="en-US" sz="3800" dirty="0">
                <a:solidFill>
                  <a:srgbClr val="FF0000"/>
                </a:solidFill>
              </a:rPr>
              <a:t> </a:t>
            </a:r>
            <a:r>
              <a:rPr lang="en-AU" altLang="en-US" sz="3800" dirty="0" smtClean="0">
                <a:solidFill>
                  <a:srgbClr val="FF0000"/>
                </a:solidFill>
              </a:rPr>
              <a:t>file </a:t>
            </a:r>
            <a:r>
              <a:rPr lang="en-AU" altLang="en-US" sz="3800" dirty="0">
                <a:solidFill>
                  <a:srgbClr val="FF0000"/>
                </a:solidFill>
              </a:rPr>
              <a:t>can be </a:t>
            </a:r>
            <a:r>
              <a:rPr lang="en-AU" altLang="en-US" sz="3800" dirty="0" smtClean="0">
                <a:solidFill>
                  <a:srgbClr val="FF0000"/>
                </a:solidFill>
              </a:rPr>
              <a:t>executed as </a:t>
            </a:r>
            <a:r>
              <a:rPr lang="en-AU" altLang="en-US" sz="3800" b="1" dirty="0" smtClean="0">
                <a:solidFill>
                  <a:srgbClr val="FF0000"/>
                </a:solidFill>
              </a:rPr>
              <a:t>either</a:t>
            </a:r>
            <a:r>
              <a:rPr lang="en-AU" altLang="en-US" sz="3800" dirty="0" smtClean="0">
                <a:solidFill>
                  <a:srgbClr val="FF0000"/>
                </a:solidFill>
              </a:rPr>
              <a:t> a </a:t>
            </a:r>
            <a:r>
              <a:rPr lang="en-AU" altLang="en-US" sz="3800" dirty="0">
                <a:solidFill>
                  <a:srgbClr val="FF0000"/>
                </a:solidFill>
              </a:rPr>
              <a:t>program or </a:t>
            </a:r>
            <a:r>
              <a:rPr lang="en-AU" altLang="en-US" sz="3800" dirty="0" smtClean="0">
                <a:solidFill>
                  <a:srgbClr val="FF0000"/>
                </a:solidFill>
              </a:rPr>
              <a:t>module.</a:t>
            </a:r>
          </a:p>
          <a:p>
            <a:pPr>
              <a:spcBef>
                <a:spcPts val="3000"/>
              </a:spcBef>
            </a:pPr>
            <a:r>
              <a:rPr lang="en-AU" altLang="en-US" sz="3800" dirty="0" smtClean="0">
                <a:solidFill>
                  <a:srgbClr val="FF0000"/>
                </a:solidFill>
              </a:rPr>
              <a:t>The variable “__name__” can tell you (from inside the file, as it is being run) </a:t>
            </a:r>
            <a:r>
              <a:rPr lang="en-AU" altLang="en-US" sz="3800" i="1" dirty="0" smtClean="0">
                <a:solidFill>
                  <a:srgbClr val="FF0000"/>
                </a:solidFill>
              </a:rPr>
              <a:t>which of these ways</a:t>
            </a:r>
            <a:r>
              <a:rPr lang="en-AU" altLang="en-US" sz="3800" dirty="0" smtClean="0">
                <a:solidFill>
                  <a:srgbClr val="FF0000"/>
                </a:solidFill>
              </a:rPr>
              <a:t> it is being run. </a:t>
            </a:r>
          </a:p>
          <a:p>
            <a:pPr lvl="1">
              <a:spcBef>
                <a:spcPts val="1200"/>
              </a:spcBef>
            </a:pPr>
            <a:r>
              <a:rPr lang="en-AU" altLang="en-US" sz="3600" dirty="0" smtClean="0">
                <a:solidFill>
                  <a:srgbClr val="FF0000"/>
                </a:solidFill>
              </a:rPr>
              <a:t>This </a:t>
            </a:r>
            <a:r>
              <a:rPr lang="en-AU" altLang="en-US" sz="3600" dirty="0">
                <a:solidFill>
                  <a:srgbClr val="FF0000"/>
                </a:solidFill>
              </a:rPr>
              <a:t>feature is </a:t>
            </a:r>
            <a:r>
              <a:rPr lang="en-AU" altLang="en-US" sz="3600" dirty="0" smtClean="0">
                <a:solidFill>
                  <a:srgbClr val="FF0000"/>
                </a:solidFill>
              </a:rPr>
              <a:t>useful for </a:t>
            </a:r>
            <a:r>
              <a:rPr lang="en-AU" altLang="en-US" sz="3600" i="1" dirty="0" smtClean="0">
                <a:solidFill>
                  <a:srgbClr val="FF0000"/>
                </a:solidFill>
              </a:rPr>
              <a:t>regression </a:t>
            </a:r>
            <a:r>
              <a:rPr lang="en-AU" altLang="en-US" sz="3600" i="1" spc="-20" dirty="0" smtClean="0">
                <a:solidFill>
                  <a:srgbClr val="FF0000"/>
                </a:solidFill>
              </a:rPr>
              <a:t>testing</a:t>
            </a:r>
            <a:r>
              <a:rPr lang="en-AU" altLang="en-US" sz="3600" spc="-20" dirty="0" smtClean="0">
                <a:solidFill>
                  <a:srgbClr val="FF0000"/>
                </a:solidFill>
              </a:rPr>
              <a:t>.</a:t>
            </a:r>
            <a:endParaRPr lang="en-AU" altLang="en-US" sz="3600" spc="-20" dirty="0">
              <a:solidFill>
                <a:srgbClr val="FF0000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0" y="25400"/>
            <a:ext cx="9729788" cy="1193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44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Modules Are Just Programs that </a:t>
            </a:r>
            <a:br>
              <a:rPr lang="en-US" sz="4400" dirty="0" smtClean="0">
                <a:solidFill>
                  <a:srgbClr val="0C77C3"/>
                </a:solidFill>
                <a:latin typeface="Elephant" panose="02020904090505020303" pitchFamily="18" charset="0"/>
              </a:rPr>
            </a:br>
            <a:r>
              <a:rPr lang="en-US" sz="4400" spc="-16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G</a:t>
            </a:r>
            <a:r>
              <a:rPr lang="en-US" sz="4400" spc="-17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o</a:t>
            </a:r>
            <a:r>
              <a:rPr lang="en-US" sz="4400" spc="-1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t</a:t>
            </a:r>
            <a:r>
              <a:rPr lang="en-US" sz="3600" spc="-1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 </a:t>
            </a:r>
            <a:r>
              <a:rPr lang="en-US" sz="4400" spc="-15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Im</a:t>
            </a:r>
            <a:r>
              <a:rPr lang="en-US" sz="4400" spc="-1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ported</a:t>
            </a:r>
            <a:r>
              <a:rPr lang="en-US" spc="-1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 </a:t>
            </a:r>
            <a:r>
              <a:rPr lang="en-US" sz="4400" spc="-1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i</a:t>
            </a:r>
            <a:r>
              <a:rPr lang="en-US" sz="4400" spc="-15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n</a:t>
            </a:r>
            <a:r>
              <a:rPr lang="en-US" sz="4400" spc="-1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ste</a:t>
            </a:r>
            <a:r>
              <a:rPr lang="en-US" sz="4400" spc="-14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a</a:t>
            </a:r>
            <a:r>
              <a:rPr lang="en-US" sz="4400" spc="-1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d</a:t>
            </a:r>
            <a:r>
              <a:rPr lang="en-US" sz="2800" spc="-1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 </a:t>
            </a:r>
            <a:r>
              <a:rPr lang="en-US" sz="4400" spc="-15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o</a:t>
            </a:r>
            <a:r>
              <a:rPr lang="en-US" sz="4400" spc="-1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f</a:t>
            </a:r>
            <a:r>
              <a:rPr lang="en-US" spc="-1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 </a:t>
            </a:r>
            <a:r>
              <a:rPr lang="en-US" sz="4400" spc="-1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B</a:t>
            </a:r>
            <a:r>
              <a:rPr lang="en-US" sz="4400" spc="-15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e</a:t>
            </a:r>
            <a:r>
              <a:rPr lang="en-US" sz="4400" spc="-1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i</a:t>
            </a:r>
            <a:r>
              <a:rPr lang="en-US" sz="4400" spc="-14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n</a:t>
            </a:r>
            <a:r>
              <a:rPr lang="en-US" sz="4400" spc="-1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g</a:t>
            </a:r>
            <a:r>
              <a:rPr lang="en-US" sz="2800" spc="-1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 </a:t>
            </a:r>
            <a:r>
              <a:rPr lang="en-US" sz="4400" spc="-16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R</a:t>
            </a:r>
            <a:r>
              <a:rPr lang="en-US" sz="4400" spc="-1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un</a:t>
            </a:r>
            <a:endParaRPr lang="en-US" sz="3600" b="1" spc="-100" dirty="0">
              <a:solidFill>
                <a:srgbClr val="0C77C3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637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495" y="1219200"/>
            <a:ext cx="9372600" cy="5638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defRPr/>
            </a:pPr>
            <a:r>
              <a:rPr lang="en-US" sz="4000" dirty="0">
                <a:solidFill>
                  <a:srgbClr val="FF0000"/>
                </a:solidFill>
              </a:rPr>
              <a:t>Regression testing </a:t>
            </a:r>
            <a:r>
              <a:rPr lang="en-US" sz="4000" dirty="0" smtClean="0">
                <a:solidFill>
                  <a:srgbClr val="FF0000"/>
                </a:solidFill>
              </a:rPr>
              <a:t>verifies (</a:t>
            </a:r>
            <a:r>
              <a:rPr lang="zh-TW" altLang="en-US" sz="3600" dirty="0">
                <a:solidFill>
                  <a:srgbClr val="FF0000"/>
                </a:solidFill>
              </a:rPr>
              <a:t>校驗</a:t>
            </a:r>
            <a:r>
              <a:rPr lang="en-US" sz="4000" dirty="0" smtClean="0">
                <a:solidFill>
                  <a:srgbClr val="FF0000"/>
                </a:solidFill>
              </a:rPr>
              <a:t>) individual modules, before using them in a program.</a:t>
            </a:r>
            <a:endParaRPr lang="en-US" sz="4000" dirty="0">
              <a:solidFill>
                <a:srgbClr val="FF0000"/>
              </a:solidFill>
            </a:endParaRPr>
          </a:p>
          <a:p>
            <a:pPr lvl="1">
              <a:spcBef>
                <a:spcPts val="0"/>
              </a:spcBef>
              <a:defRPr/>
            </a:pPr>
            <a:r>
              <a:rPr lang="en-US" sz="4000" dirty="0">
                <a:solidFill>
                  <a:srgbClr val="FF0000"/>
                </a:solidFill>
              </a:rPr>
              <a:t>It is good programing technique.</a:t>
            </a:r>
          </a:p>
          <a:p>
            <a:pPr lvl="1">
              <a:spcBef>
                <a:spcPts val="0"/>
              </a:spcBef>
              <a:defRPr/>
            </a:pPr>
            <a:r>
              <a:rPr lang="en-US" sz="4000" dirty="0">
                <a:solidFill>
                  <a:srgbClr val="FF0000"/>
                </a:solidFill>
              </a:rPr>
              <a:t>And it helps to encourage code reusing.</a:t>
            </a:r>
          </a:p>
          <a:p>
            <a:pPr>
              <a:spcBef>
                <a:spcPts val="1200"/>
              </a:spcBef>
              <a:defRPr/>
            </a:pPr>
            <a:r>
              <a:rPr lang="en-US" sz="4000" spc="-40" dirty="0">
                <a:solidFill>
                  <a:srgbClr val="FF0000"/>
                </a:solidFill>
              </a:rPr>
              <a:t>Pyt</a:t>
            </a:r>
            <a:r>
              <a:rPr lang="en-US" sz="4000" spc="-70" dirty="0">
                <a:solidFill>
                  <a:srgbClr val="FF0000"/>
                </a:solidFill>
              </a:rPr>
              <a:t>hon </a:t>
            </a:r>
            <a:r>
              <a:rPr lang="en-US" sz="4000" spc="-70" dirty="0" smtClean="0">
                <a:solidFill>
                  <a:srgbClr val="FF0000"/>
                </a:solidFill>
              </a:rPr>
              <a:t>suppo</a:t>
            </a:r>
            <a:r>
              <a:rPr lang="en-US" sz="4000" spc="-40" dirty="0" smtClean="0">
                <a:solidFill>
                  <a:srgbClr val="FF0000"/>
                </a:solidFill>
              </a:rPr>
              <a:t>rts </a:t>
            </a:r>
            <a:r>
              <a:rPr lang="en-US" sz="4000" spc="-40" dirty="0">
                <a:solidFill>
                  <a:srgbClr val="FF0000"/>
                </a:solidFill>
              </a:rPr>
              <a:t>regression </a:t>
            </a:r>
            <a:r>
              <a:rPr lang="en-US" sz="4000" spc="-40" dirty="0" smtClean="0">
                <a:solidFill>
                  <a:srgbClr val="FF0000"/>
                </a:solidFill>
              </a:rPr>
              <a:t>testing</a:t>
            </a:r>
            <a:r>
              <a:rPr lang="en-US" sz="3600" spc="-40" dirty="0" smtClean="0">
                <a:solidFill>
                  <a:srgbClr val="FF0000"/>
                </a:solidFill>
              </a:rPr>
              <a:t> </a:t>
            </a:r>
            <a:r>
              <a:rPr lang="en-US" sz="4000" spc="-40" dirty="0" smtClean="0">
                <a:solidFill>
                  <a:srgbClr val="FF0000"/>
                </a:solidFill>
              </a:rPr>
              <a:t>by</a:t>
            </a:r>
            <a:r>
              <a:rPr lang="en-US" sz="3600" spc="-40" dirty="0" smtClean="0">
                <a:solidFill>
                  <a:srgbClr val="FF0000"/>
                </a:solidFill>
              </a:rPr>
              <a:t> </a:t>
            </a:r>
            <a:r>
              <a:rPr lang="en-US" sz="4000" spc="-40" dirty="0" smtClean="0">
                <a:solidFill>
                  <a:srgbClr val="FF0000"/>
                </a:solidFill>
              </a:rPr>
              <a:t>letting</a:t>
            </a:r>
            <a:r>
              <a:rPr lang="en-US" sz="4000" dirty="0" smtClean="0">
                <a:solidFill>
                  <a:srgbClr val="FF0000"/>
                </a:solidFill>
              </a:rPr>
              <a:t> </a:t>
            </a:r>
            <a:r>
              <a:rPr lang="en-US" sz="4000" dirty="0">
                <a:solidFill>
                  <a:srgbClr val="FF0000"/>
                </a:solidFill>
              </a:rPr>
              <a:t>modules </a:t>
            </a:r>
            <a:r>
              <a:rPr lang="en-US" sz="4000" dirty="0" smtClean="0">
                <a:solidFill>
                  <a:srgbClr val="FF0000"/>
                </a:solidFill>
              </a:rPr>
              <a:t>run </a:t>
            </a:r>
            <a:r>
              <a:rPr lang="en-US" sz="4000" dirty="0">
                <a:solidFill>
                  <a:srgbClr val="FF0000"/>
                </a:solidFill>
              </a:rPr>
              <a:t>as stand-alone programs</a:t>
            </a:r>
            <a:r>
              <a:rPr lang="en-US" sz="4000" dirty="0" smtClean="0">
                <a:solidFill>
                  <a:srgbClr val="FF0000"/>
                </a:solidFill>
              </a:rPr>
              <a:t>.</a:t>
            </a:r>
          </a:p>
          <a:p>
            <a:pPr lvl="1">
              <a:spcBef>
                <a:spcPts val="0"/>
              </a:spcBef>
            </a:pPr>
            <a:r>
              <a:rPr lang="en-AU" altLang="en-US" sz="4000" dirty="0">
                <a:solidFill>
                  <a:srgbClr val="FF0000"/>
                </a:solidFill>
              </a:rPr>
              <a:t>The regression </a:t>
            </a:r>
            <a:r>
              <a:rPr lang="en-AU" altLang="en-US" sz="4000" dirty="0" smtClean="0">
                <a:solidFill>
                  <a:srgbClr val="FF0000"/>
                </a:solidFill>
              </a:rPr>
              <a:t>test executes </a:t>
            </a:r>
            <a:r>
              <a:rPr lang="en-AU" altLang="en-US" sz="4000" dirty="0">
                <a:solidFill>
                  <a:srgbClr val="FF0000"/>
                </a:solidFill>
              </a:rPr>
              <a:t>only when the module is executed as a program:</a:t>
            </a:r>
          </a:p>
          <a:p>
            <a:pPr marL="457200" lvl="1" indent="0">
              <a:spcBef>
                <a:spcPts val="900"/>
              </a:spcBef>
              <a:buNone/>
            </a:pPr>
            <a:r>
              <a:rPr lang="en-GB" altLang="en-US" sz="3000" dirty="0">
                <a:solidFill>
                  <a:srgbClr val="00B050"/>
                </a:solidFill>
              </a:rPr>
              <a:t>  </a:t>
            </a:r>
            <a:r>
              <a:rPr lang="en-GB" altLang="en-US" sz="3000" dirty="0">
                <a:solidFill>
                  <a:srgbClr val="00B050"/>
                </a:solidFill>
                <a:latin typeface="Lucida Console" panose="020B0609040504020204" pitchFamily="49" charset="0"/>
              </a:rPr>
              <a:t>if __name</a:t>
            </a:r>
            <a:r>
              <a:rPr lang="en-GB" altLang="en-US" sz="3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__=='__</a:t>
            </a:r>
            <a:r>
              <a:rPr lang="en-GB" altLang="en-US" sz="3000" dirty="0">
                <a:solidFill>
                  <a:srgbClr val="00B050"/>
                </a:solidFill>
                <a:latin typeface="Lucida Console" panose="020B0609040504020204" pitchFamily="49" charset="0"/>
              </a:rPr>
              <a:t>main</a:t>
            </a:r>
            <a:r>
              <a:rPr lang="en-GB" altLang="en-US" sz="3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__':# Put this at</a:t>
            </a:r>
            <a:r>
              <a:rPr lang="en-GB" altLang="en-US" sz="3000" dirty="0">
                <a:solidFill>
                  <a:srgbClr val="00B050"/>
                </a:solidFill>
                <a:latin typeface="Lucida Console" panose="020B0609040504020204" pitchFamily="49" charset="0"/>
              </a:rPr>
              <a:t/>
            </a:r>
            <a:br>
              <a:rPr lang="en-GB" altLang="en-US" sz="3000" dirty="0">
                <a:solidFill>
                  <a:srgbClr val="00B050"/>
                </a:solidFill>
                <a:latin typeface="Lucida Console" panose="020B0609040504020204" pitchFamily="49" charset="0"/>
              </a:rPr>
            </a:br>
            <a:r>
              <a:rPr lang="en-GB" altLang="en-US" sz="3000" dirty="0">
                <a:solidFill>
                  <a:srgbClr val="00B050"/>
                </a:solidFill>
                <a:latin typeface="Lucida Console" panose="020B0609040504020204" pitchFamily="49" charset="0"/>
              </a:rPr>
              <a:t>   </a:t>
            </a:r>
            <a:r>
              <a:rPr lang="en-GB" altLang="en-US" sz="30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doRegressTest</a:t>
            </a:r>
            <a:r>
              <a:rPr lang="en-GB" altLang="en-US" sz="3000" dirty="0">
                <a:solidFill>
                  <a:srgbClr val="00B050"/>
                </a:solidFill>
                <a:latin typeface="Lucida Console" panose="020B0609040504020204" pitchFamily="49" charset="0"/>
              </a:rPr>
              <a:t>()   </a:t>
            </a:r>
            <a:r>
              <a:rPr lang="en-GB" altLang="en-US" sz="3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   </a:t>
            </a:r>
            <a:r>
              <a:rPr lang="en-GB" altLang="en-US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3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  </a:t>
            </a:r>
            <a:r>
              <a:rPr lang="en-GB" altLang="en-US" sz="3000" dirty="0">
                <a:solidFill>
                  <a:srgbClr val="00B050"/>
                </a:solidFill>
                <a:latin typeface="Lucida Console" panose="020B0609040504020204" pitchFamily="49" charset="0"/>
              </a:rPr>
              <a:t>top level</a:t>
            </a:r>
          </a:p>
        </p:txBody>
      </p:sp>
      <p:sp>
        <p:nvSpPr>
          <p:cNvPr id="4" name="Title 3"/>
          <p:cNvSpPr txBox="1">
            <a:spLocks/>
          </p:cNvSpPr>
          <p:nvPr/>
        </p:nvSpPr>
        <p:spPr>
          <a:xfrm>
            <a:off x="0" y="195024"/>
            <a:ext cx="9726745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0C77C3"/>
                </a:solidFill>
                <a:latin typeface="Elephant" panose="02020904090505020303" pitchFamily="18" charset="0"/>
              </a:rPr>
              <a:t>Regression Testing with</a:t>
            </a:r>
            <a:r>
              <a:rPr lang="en-US" sz="4000" dirty="0">
                <a:solidFill>
                  <a:srgbClr val="0C77C3"/>
                </a:solidFill>
                <a:latin typeface="Elephant" panose="02020904090505020303" pitchFamily="18" charset="0"/>
              </a:rPr>
              <a:t> </a:t>
            </a:r>
            <a:r>
              <a:rPr lang="en-US" spc="-8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_</a:t>
            </a:r>
            <a:r>
              <a:rPr lang="en-US" spc="-1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_</a:t>
            </a:r>
            <a:r>
              <a:rPr lang="en-US" dirty="0" smtClean="0">
                <a:solidFill>
                  <a:srgbClr val="0C77C3"/>
                </a:solidFill>
                <a:latin typeface="Elephant" panose="02020904090505020303" pitchFamily="18" charset="0"/>
              </a:rPr>
              <a:t>nam</a:t>
            </a:r>
            <a:r>
              <a:rPr lang="en-US" spc="-1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e</a:t>
            </a:r>
            <a:r>
              <a:rPr lang="en-US" spc="-8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_</a:t>
            </a:r>
            <a:r>
              <a:rPr lang="en-US" dirty="0" smtClean="0">
                <a:solidFill>
                  <a:srgbClr val="0C77C3"/>
                </a:solidFill>
                <a:latin typeface="Elephant" panose="02020904090505020303" pitchFamily="18" charset="0"/>
              </a:rPr>
              <a:t>_</a:t>
            </a:r>
            <a:endParaRPr lang="en-US" dirty="0">
              <a:solidFill>
                <a:srgbClr val="0C77C3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447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216694" y="1143000"/>
            <a:ext cx="9513094" cy="5715003"/>
          </a:xfrm>
        </p:spPr>
        <p:txBody>
          <a:bodyPr>
            <a:no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The Python code for a module named </a:t>
            </a:r>
            <a:r>
              <a:rPr lang="en-US" altLang="zh-TW" sz="3600" i="1" dirty="0" err="1">
                <a:solidFill>
                  <a:srgbClr val="FF0000"/>
                </a:solidFill>
              </a:rPr>
              <a:t>aname</a:t>
            </a:r>
            <a:r>
              <a:rPr lang="en-US" altLang="zh-TW" sz="3600" dirty="0">
                <a:solidFill>
                  <a:srgbClr val="FF0000"/>
                </a:solidFill>
              </a:rPr>
              <a:t> normally resides in a file named </a:t>
            </a:r>
            <a:r>
              <a:rPr lang="en-US" altLang="zh-TW" sz="3600" i="1" dirty="0">
                <a:solidFill>
                  <a:srgbClr val="FF0000"/>
                </a:solidFill>
              </a:rPr>
              <a:t>aname.py</a:t>
            </a:r>
            <a:r>
              <a:rPr lang="en-US" altLang="zh-TW" sz="3600" dirty="0">
                <a:solidFill>
                  <a:srgbClr val="FF0000"/>
                </a:solidFill>
              </a:rPr>
              <a:t>. </a:t>
            </a:r>
            <a:endParaRPr lang="en-US" altLang="zh-TW" sz="44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r>
              <a:rPr lang="en-US" sz="3600" dirty="0" smtClean="0">
                <a:solidFill>
                  <a:srgbClr val="FF0000"/>
                </a:solidFill>
              </a:rPr>
              <a:t>Grouping </a:t>
            </a:r>
            <a:r>
              <a:rPr lang="en-US" sz="3600" dirty="0">
                <a:solidFill>
                  <a:srgbClr val="FF0000"/>
                </a:solidFill>
              </a:rPr>
              <a:t>related </a:t>
            </a:r>
            <a:r>
              <a:rPr lang="en-US" sz="3600" dirty="0" smtClean="0">
                <a:solidFill>
                  <a:srgbClr val="FF0000"/>
                </a:solidFill>
              </a:rPr>
              <a:t>things </a:t>
            </a:r>
            <a:r>
              <a:rPr lang="en-US" sz="3600" dirty="0">
                <a:solidFill>
                  <a:srgbClr val="FF0000"/>
                </a:solidFill>
              </a:rPr>
              <a:t>into a module makes </a:t>
            </a:r>
            <a:r>
              <a:rPr lang="en-US" sz="3600" dirty="0" smtClean="0">
                <a:solidFill>
                  <a:srgbClr val="FF0000"/>
                </a:solidFill>
              </a:rPr>
              <a:t/>
            </a:r>
            <a:br>
              <a:rPr lang="en-US" sz="3600" dirty="0" smtClean="0">
                <a:solidFill>
                  <a:srgbClr val="FF0000"/>
                </a:solidFill>
              </a:rPr>
            </a:br>
            <a:r>
              <a:rPr lang="en-US" sz="3600" dirty="0" smtClean="0">
                <a:solidFill>
                  <a:srgbClr val="FF0000"/>
                </a:solidFill>
              </a:rPr>
              <a:t>the </a:t>
            </a:r>
            <a:r>
              <a:rPr lang="en-US" sz="3600" dirty="0">
                <a:solidFill>
                  <a:srgbClr val="FF0000"/>
                </a:solidFill>
              </a:rPr>
              <a:t>code easier to understand and use.</a:t>
            </a:r>
          </a:p>
          <a:p>
            <a:pPr>
              <a:spcBef>
                <a:spcPts val="1200"/>
              </a:spcBef>
            </a:pPr>
            <a:r>
              <a:rPr lang="en-US" sz="3600" dirty="0">
                <a:solidFill>
                  <a:srgbClr val="FF0000"/>
                </a:solidFill>
              </a:rPr>
              <a:t>A module is </a:t>
            </a:r>
            <a:r>
              <a:rPr lang="en-US" sz="3600" dirty="0" smtClean="0">
                <a:solidFill>
                  <a:srgbClr val="FF0000"/>
                </a:solidFill>
              </a:rPr>
              <a:t>an </a:t>
            </a:r>
            <a:r>
              <a:rPr lang="en-US" sz="3600" dirty="0">
                <a:solidFill>
                  <a:srgbClr val="FF0000"/>
                </a:solidFill>
              </a:rPr>
              <a:t>object </a:t>
            </a:r>
            <a:r>
              <a:rPr lang="en-US" sz="3600" dirty="0" smtClean="0">
                <a:solidFill>
                  <a:srgbClr val="FF0000"/>
                </a:solidFill>
              </a:rPr>
              <a:t>similar to a C++ object, with its own internal variables, methods.</a:t>
            </a:r>
            <a:endParaRPr lang="en-US" sz="3600" dirty="0">
              <a:solidFill>
                <a:srgbClr val="FF0000"/>
              </a:solidFill>
            </a:endParaRPr>
          </a:p>
          <a:p>
            <a:pPr>
              <a:spcBef>
                <a:spcPts val="1200"/>
              </a:spcBef>
            </a:pPr>
            <a:r>
              <a:rPr lang="en-US" sz="3600" dirty="0" smtClean="0">
                <a:solidFill>
                  <a:srgbClr val="FF0000"/>
                </a:solidFill>
              </a:rPr>
              <a:t>A </a:t>
            </a:r>
            <a:r>
              <a:rPr lang="en-US" sz="3600" dirty="0">
                <a:solidFill>
                  <a:srgbClr val="FF0000"/>
                </a:solidFill>
              </a:rPr>
              <a:t>module can also include </a:t>
            </a:r>
            <a:r>
              <a:rPr lang="en-US" sz="3600" dirty="0" smtClean="0">
                <a:solidFill>
                  <a:srgbClr val="FF0000"/>
                </a:solidFill>
              </a:rPr>
              <a:t>top-level, runnable code (loosely analogous to a C++ constructor).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9" name="Title 3"/>
          <p:cNvSpPr txBox="1">
            <a:spLocks/>
          </p:cNvSpPr>
          <p:nvPr/>
        </p:nvSpPr>
        <p:spPr>
          <a:xfrm>
            <a:off x="0" y="195024"/>
            <a:ext cx="9726745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solidFill>
                  <a:srgbClr val="0C77C3"/>
                </a:solidFill>
                <a:latin typeface="Elephant" panose="02020904090505020303" pitchFamily="18" charset="0"/>
              </a:rPr>
              <a:t>Features of Modules</a:t>
            </a:r>
            <a:endParaRPr lang="en-US" dirty="0">
              <a:solidFill>
                <a:srgbClr val="0C77C3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878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216694" y="1143000"/>
            <a:ext cx="9513094" cy="5715003"/>
          </a:xfrm>
        </p:spPr>
        <p:txBody>
          <a:bodyPr>
            <a:no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The Python code for a module named </a:t>
            </a:r>
            <a:r>
              <a:rPr lang="en-US" altLang="zh-TW" sz="3600" i="1" dirty="0" err="1">
                <a:solidFill>
                  <a:srgbClr val="FF0000"/>
                </a:solidFill>
              </a:rPr>
              <a:t>aname</a:t>
            </a:r>
            <a:r>
              <a:rPr lang="en-US" altLang="zh-TW" sz="3600" dirty="0">
                <a:solidFill>
                  <a:srgbClr val="FF0000"/>
                </a:solidFill>
              </a:rPr>
              <a:t> normally resides in a file named </a:t>
            </a:r>
            <a:r>
              <a:rPr lang="en-US" altLang="zh-TW" sz="3600" i="1" dirty="0">
                <a:solidFill>
                  <a:srgbClr val="FF0000"/>
                </a:solidFill>
              </a:rPr>
              <a:t>aname.py</a:t>
            </a:r>
            <a:r>
              <a:rPr lang="en-US" altLang="zh-TW" sz="3600" dirty="0">
                <a:solidFill>
                  <a:srgbClr val="FF0000"/>
                </a:solidFill>
              </a:rPr>
              <a:t>. </a:t>
            </a:r>
            <a:endParaRPr lang="en-US" altLang="zh-TW" sz="44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r>
              <a:rPr lang="en-US" sz="3600" dirty="0" smtClean="0">
                <a:solidFill>
                  <a:srgbClr val="FF0000"/>
                </a:solidFill>
              </a:rPr>
              <a:t>Grouping </a:t>
            </a:r>
            <a:r>
              <a:rPr lang="en-US" sz="3600" dirty="0">
                <a:solidFill>
                  <a:srgbClr val="FF0000"/>
                </a:solidFill>
              </a:rPr>
              <a:t>related </a:t>
            </a:r>
            <a:r>
              <a:rPr lang="en-US" sz="3600" dirty="0" smtClean="0">
                <a:solidFill>
                  <a:srgbClr val="FF0000"/>
                </a:solidFill>
              </a:rPr>
              <a:t>things </a:t>
            </a:r>
            <a:r>
              <a:rPr lang="en-US" sz="3600" dirty="0">
                <a:solidFill>
                  <a:srgbClr val="FF0000"/>
                </a:solidFill>
              </a:rPr>
              <a:t>into a module makes </a:t>
            </a:r>
            <a:r>
              <a:rPr lang="en-US" sz="3600" dirty="0" smtClean="0">
                <a:solidFill>
                  <a:srgbClr val="FF0000"/>
                </a:solidFill>
              </a:rPr>
              <a:t/>
            </a:r>
            <a:br>
              <a:rPr lang="en-US" sz="3600" dirty="0" smtClean="0">
                <a:solidFill>
                  <a:srgbClr val="FF0000"/>
                </a:solidFill>
              </a:rPr>
            </a:br>
            <a:r>
              <a:rPr lang="en-US" sz="3600" dirty="0" smtClean="0">
                <a:solidFill>
                  <a:srgbClr val="FF0000"/>
                </a:solidFill>
              </a:rPr>
              <a:t>the </a:t>
            </a:r>
            <a:r>
              <a:rPr lang="en-US" sz="3600" dirty="0">
                <a:solidFill>
                  <a:srgbClr val="FF0000"/>
                </a:solidFill>
              </a:rPr>
              <a:t>code easier to understand and use.</a:t>
            </a:r>
          </a:p>
          <a:p>
            <a:pPr>
              <a:spcBef>
                <a:spcPts val="1200"/>
              </a:spcBef>
            </a:pPr>
            <a:r>
              <a:rPr lang="en-US" sz="3600" dirty="0">
                <a:solidFill>
                  <a:srgbClr val="FF0000"/>
                </a:solidFill>
              </a:rPr>
              <a:t>A module is </a:t>
            </a:r>
            <a:r>
              <a:rPr lang="en-US" sz="3600" dirty="0" smtClean="0">
                <a:solidFill>
                  <a:srgbClr val="FF0000"/>
                </a:solidFill>
              </a:rPr>
              <a:t>an </a:t>
            </a:r>
            <a:r>
              <a:rPr lang="en-US" sz="3600" dirty="0">
                <a:solidFill>
                  <a:srgbClr val="FF0000"/>
                </a:solidFill>
              </a:rPr>
              <a:t>object </a:t>
            </a:r>
            <a:r>
              <a:rPr lang="en-US" sz="3600" dirty="0" smtClean="0">
                <a:solidFill>
                  <a:srgbClr val="FF0000"/>
                </a:solidFill>
              </a:rPr>
              <a:t>similar to a C++ object, with its own internal variables, methods.</a:t>
            </a:r>
            <a:endParaRPr lang="en-US" sz="3600" dirty="0">
              <a:solidFill>
                <a:srgbClr val="FF0000"/>
              </a:solidFill>
            </a:endParaRPr>
          </a:p>
          <a:p>
            <a:pPr>
              <a:spcBef>
                <a:spcPts val="1200"/>
              </a:spcBef>
            </a:pPr>
            <a:r>
              <a:rPr lang="en-US" sz="3600" dirty="0" smtClean="0">
                <a:solidFill>
                  <a:srgbClr val="FF0000"/>
                </a:solidFill>
              </a:rPr>
              <a:t>A </a:t>
            </a:r>
            <a:r>
              <a:rPr lang="en-US" sz="3600" dirty="0">
                <a:solidFill>
                  <a:srgbClr val="FF0000"/>
                </a:solidFill>
              </a:rPr>
              <a:t>module can also include </a:t>
            </a:r>
            <a:r>
              <a:rPr lang="en-US" sz="3600" dirty="0" smtClean="0">
                <a:solidFill>
                  <a:srgbClr val="FF0000"/>
                </a:solidFill>
              </a:rPr>
              <a:t>top-level, runnable code (loosely analogous to a C++ constructor).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45295" y="4572000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solidFill>
                  <a:srgbClr val="FF0000"/>
                </a:solidFill>
              </a:rPr>
              <a:t>A module can also include top-level, runnable code (loosely analogous to a C++ constructor).</a:t>
            </a:r>
          </a:p>
        </p:txBody>
      </p:sp>
      <p:sp>
        <p:nvSpPr>
          <p:cNvPr id="9" name="Title 3"/>
          <p:cNvSpPr txBox="1">
            <a:spLocks/>
          </p:cNvSpPr>
          <p:nvPr/>
        </p:nvSpPr>
        <p:spPr>
          <a:xfrm>
            <a:off x="0" y="195024"/>
            <a:ext cx="9726745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solidFill>
                  <a:srgbClr val="0C77C3"/>
                </a:solidFill>
                <a:latin typeface="Elephant" panose="02020904090505020303" pitchFamily="18" charset="0"/>
              </a:rPr>
              <a:t>Features of Modules</a:t>
            </a:r>
            <a:endParaRPr lang="en-US" dirty="0">
              <a:solidFill>
                <a:srgbClr val="0C77C3"/>
              </a:solidFill>
              <a:latin typeface="Agency FB" panose="020B0503020202020204" pitchFamily="34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45295" y="0"/>
            <a:ext cx="8915400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solidFill>
                  <a:srgbClr val="0C77C3"/>
                </a:solidFill>
              </a:rPr>
              <a:t>A module can also include top-level, runnable code </a:t>
            </a:r>
            <a:r>
              <a:rPr lang="en-US" sz="3600" dirty="0">
                <a:solidFill>
                  <a:schemeClr val="bg1"/>
                </a:solidFill>
              </a:rPr>
              <a:t>(loosely analogous to a C++ constructor</a:t>
            </a:r>
            <a:r>
              <a:rPr lang="en-US" sz="3600" dirty="0" smtClean="0">
                <a:solidFill>
                  <a:schemeClr val="bg1"/>
                </a:solidFill>
              </a:rPr>
              <a:t>)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71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700"/>
    </mc:Choice>
    <mc:Fallback xmlns="">
      <p:transition spd="slow" advClick="0" advTm="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64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61054E-6 1.11022E-16 L 0.00032 -0.66343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" y="-331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6" grpId="2"/>
      <p:bldP spid="8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45295" y="0"/>
            <a:ext cx="8915400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solidFill>
                  <a:srgbClr val="0C77C3"/>
                </a:solidFill>
              </a:rPr>
              <a:t>A module can also include </a:t>
            </a:r>
            <a:r>
              <a:rPr lang="en-US" sz="3600" dirty="0" smtClean="0">
                <a:solidFill>
                  <a:srgbClr val="0C77C3"/>
                </a:solidFill>
              </a:rPr>
              <a:t/>
            </a:r>
            <a:br>
              <a:rPr lang="en-US" sz="3600" dirty="0" smtClean="0">
                <a:solidFill>
                  <a:srgbClr val="0C77C3"/>
                </a:solidFill>
              </a:rPr>
            </a:br>
            <a:r>
              <a:rPr lang="en-US" sz="3600" dirty="0" smtClean="0">
                <a:solidFill>
                  <a:srgbClr val="0C77C3"/>
                </a:solidFill>
              </a:rPr>
              <a:t>top-level</a:t>
            </a:r>
            <a:r>
              <a:rPr lang="en-US" sz="3600" dirty="0">
                <a:solidFill>
                  <a:srgbClr val="0C77C3"/>
                </a:solidFill>
              </a:rPr>
              <a:t>, runnable code </a:t>
            </a:r>
            <a:r>
              <a:rPr lang="en-US" sz="3600" dirty="0">
                <a:solidFill>
                  <a:schemeClr val="bg1"/>
                </a:solidFill>
              </a:rPr>
              <a:t>(loosely analogous to a C++ constructor</a:t>
            </a:r>
            <a:r>
              <a:rPr lang="en-US" sz="3600" dirty="0" smtClean="0">
                <a:solidFill>
                  <a:schemeClr val="bg1"/>
                </a:solidFill>
              </a:rPr>
              <a:t>)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172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45295" y="0"/>
            <a:ext cx="8915400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solidFill>
                  <a:srgbClr val="0C77C3"/>
                </a:solidFill>
                <a:latin typeface="Elephant" panose="02020904090505020303" pitchFamily="18" charset="0"/>
              </a:rPr>
              <a:t>A module can also include </a:t>
            </a:r>
            <a:r>
              <a:rPr lang="en-US" sz="36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/>
            </a:r>
            <a:br>
              <a:rPr lang="en-US" sz="3600" dirty="0" smtClean="0">
                <a:solidFill>
                  <a:srgbClr val="0C77C3"/>
                </a:solidFill>
                <a:latin typeface="Elephant" panose="02020904090505020303" pitchFamily="18" charset="0"/>
              </a:rPr>
            </a:br>
            <a:r>
              <a:rPr lang="en-US" sz="36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top-level</a:t>
            </a:r>
            <a:r>
              <a:rPr lang="en-US" sz="3600" dirty="0">
                <a:solidFill>
                  <a:srgbClr val="0C77C3"/>
                </a:solidFill>
                <a:latin typeface="Elephant" panose="02020904090505020303" pitchFamily="18" charset="0"/>
              </a:rPr>
              <a:t>, runnable </a:t>
            </a:r>
            <a:r>
              <a:rPr lang="en-US" sz="36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code</a:t>
            </a:r>
            <a:endParaRPr lang="en-US" sz="3600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59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73894" y="0"/>
            <a:ext cx="8915400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0C77C3"/>
                </a:solidFill>
                <a:latin typeface="Elephant" panose="02020904090505020303" pitchFamily="18" charset="0"/>
              </a:rPr>
              <a:t>A module can also include </a:t>
            </a:r>
            <a:r>
              <a:rPr lang="en-US" dirty="0" smtClean="0">
                <a:solidFill>
                  <a:srgbClr val="0C77C3"/>
                </a:solidFill>
                <a:latin typeface="Elephant" panose="02020904090505020303" pitchFamily="18" charset="0"/>
              </a:rPr>
              <a:t/>
            </a:r>
            <a:br>
              <a:rPr lang="en-US" dirty="0" smtClean="0">
                <a:solidFill>
                  <a:srgbClr val="0C77C3"/>
                </a:solidFill>
                <a:latin typeface="Elephant" panose="02020904090505020303" pitchFamily="18" charset="0"/>
              </a:rPr>
            </a:br>
            <a:r>
              <a:rPr lang="en-US" dirty="0" smtClean="0">
                <a:solidFill>
                  <a:srgbClr val="0C77C3"/>
                </a:solidFill>
                <a:latin typeface="Elephant" panose="02020904090505020303" pitchFamily="18" charset="0"/>
              </a:rPr>
              <a:t>top-level</a:t>
            </a:r>
            <a:r>
              <a:rPr lang="en-US" dirty="0">
                <a:solidFill>
                  <a:srgbClr val="0C77C3"/>
                </a:solidFill>
                <a:latin typeface="Elephant" panose="02020904090505020303" pitchFamily="18" charset="0"/>
              </a:rPr>
              <a:t>, runnable </a:t>
            </a:r>
            <a:r>
              <a:rPr lang="en-US" dirty="0" smtClean="0">
                <a:solidFill>
                  <a:srgbClr val="0C77C3"/>
                </a:solidFill>
                <a:latin typeface="Elephant" panose="02020904090505020303" pitchFamily="18" charset="0"/>
              </a:rPr>
              <a:t>code</a:t>
            </a:r>
            <a:endParaRPr lang="en-US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726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902494" y="0"/>
            <a:ext cx="8458200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A </a:t>
            </a:r>
            <a:r>
              <a:rPr lang="en-US" sz="4400" dirty="0">
                <a:solidFill>
                  <a:srgbClr val="0C77C3"/>
                </a:solidFill>
                <a:latin typeface="Elephant" panose="02020904090505020303" pitchFamily="18" charset="0"/>
              </a:rPr>
              <a:t>module can also include </a:t>
            </a:r>
            <a:r>
              <a:rPr lang="en-US" sz="44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/>
            </a:r>
            <a:br>
              <a:rPr lang="en-US" sz="4400" dirty="0" smtClean="0">
                <a:solidFill>
                  <a:srgbClr val="0C77C3"/>
                </a:solidFill>
                <a:latin typeface="Elephant" panose="02020904090505020303" pitchFamily="18" charset="0"/>
              </a:rPr>
            </a:br>
            <a:r>
              <a:rPr lang="en-US" sz="44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top-level</a:t>
            </a:r>
            <a:r>
              <a:rPr lang="en-US" sz="4400" dirty="0">
                <a:solidFill>
                  <a:srgbClr val="0C77C3"/>
                </a:solidFill>
                <a:latin typeface="Elephant" panose="02020904090505020303" pitchFamily="18" charset="0"/>
              </a:rPr>
              <a:t>, runnable </a:t>
            </a:r>
            <a:r>
              <a:rPr lang="en-US" sz="44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code</a:t>
            </a:r>
            <a:endParaRPr lang="en-US" sz="4400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313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0" y="0"/>
            <a:ext cx="9729788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00" dirty="0">
                <a:solidFill>
                  <a:srgbClr val="0C77C3"/>
                </a:solidFill>
                <a:latin typeface="Elephant" panose="02020904090505020303" pitchFamily="18" charset="0"/>
              </a:rPr>
              <a:t>A module can also include </a:t>
            </a:r>
            <a:r>
              <a:rPr lang="en-US" sz="48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/>
            </a:r>
            <a:br>
              <a:rPr lang="en-US" sz="4800" dirty="0" smtClean="0">
                <a:solidFill>
                  <a:srgbClr val="0C77C3"/>
                </a:solidFill>
                <a:latin typeface="Elephant" panose="02020904090505020303" pitchFamily="18" charset="0"/>
              </a:rPr>
            </a:br>
            <a:r>
              <a:rPr lang="en-US" sz="48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top-level</a:t>
            </a:r>
            <a:r>
              <a:rPr lang="en-US" sz="4800" dirty="0">
                <a:solidFill>
                  <a:srgbClr val="0C77C3"/>
                </a:solidFill>
                <a:latin typeface="Elephant" panose="02020904090505020303" pitchFamily="18" charset="0"/>
              </a:rPr>
              <a:t>, runnable </a:t>
            </a:r>
            <a:r>
              <a:rPr lang="en-US" sz="48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code</a:t>
            </a:r>
            <a:endParaRPr lang="en-US" sz="4800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893" y="1491343"/>
            <a:ext cx="9509621" cy="501582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altLang="en-US" sz="3600" dirty="0">
                <a:solidFill>
                  <a:srgbClr val="FF0000"/>
                </a:solidFill>
              </a:rPr>
              <a:t>Top level code</a:t>
            </a:r>
            <a:r>
              <a:rPr lang="en-GB" altLang="en-US" sz="3600" dirty="0"/>
              <a:t> only runs </a:t>
            </a:r>
            <a:r>
              <a:rPr lang="en-GB" altLang="en-US" sz="3600" b="1" dirty="0"/>
              <a:t>once</a:t>
            </a:r>
            <a:r>
              <a:rPr lang="en-GB" altLang="en-US" sz="3600" dirty="0"/>
              <a:t>: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6843" y="2084734"/>
            <a:ext cx="9415674" cy="4773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cat topLevEx.py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print ("</a:t>
            </a:r>
            <a:r>
              <a:rPr lang="en-US" sz="2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Ran top level 1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")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def</a:t>
            </a: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f</a:t>
            </a:r>
            <a:r>
              <a:rPr lang="en-US" sz="28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(): </a:t>
            </a:r>
            <a:r>
              <a:rPr lang="en-US" sz="2700" spc="-5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#&lt;=This defines a function</a:t>
            </a:r>
            <a:endParaRPr lang="en-US" sz="2700" spc="-5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  print ("</a:t>
            </a:r>
            <a:r>
              <a:rPr lang="en-US" altLang="zh-TW" sz="2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Ran inner level</a:t>
            </a: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")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print ("</a:t>
            </a:r>
            <a:r>
              <a:rPr lang="en-US" altLang="zh-TW" sz="2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Ran top level 2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")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800" dirty="0" smtClean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</a:rPr>
              <a:t>%</a:t>
            </a:r>
            <a:endParaRPr lang="en-US" altLang="zh-TW" sz="2800" dirty="0">
              <a:solidFill>
                <a:prstClr val="white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098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0" y="0"/>
            <a:ext cx="9729788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00" dirty="0">
                <a:solidFill>
                  <a:srgbClr val="0C77C3"/>
                </a:solidFill>
                <a:latin typeface="Elephant" panose="02020904090505020303" pitchFamily="18" charset="0"/>
              </a:rPr>
              <a:t>A module can also include </a:t>
            </a:r>
            <a:r>
              <a:rPr lang="en-US" sz="48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/>
            </a:r>
            <a:br>
              <a:rPr lang="en-US" sz="4800" dirty="0" smtClean="0">
                <a:solidFill>
                  <a:srgbClr val="0C77C3"/>
                </a:solidFill>
                <a:latin typeface="Elephant" panose="02020904090505020303" pitchFamily="18" charset="0"/>
              </a:rPr>
            </a:br>
            <a:r>
              <a:rPr lang="en-US" sz="48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top-level</a:t>
            </a:r>
            <a:r>
              <a:rPr lang="en-US" sz="4800" dirty="0">
                <a:solidFill>
                  <a:srgbClr val="0C77C3"/>
                </a:solidFill>
                <a:latin typeface="Elephant" panose="02020904090505020303" pitchFamily="18" charset="0"/>
              </a:rPr>
              <a:t>, runnable </a:t>
            </a:r>
            <a:r>
              <a:rPr lang="en-US" sz="48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code</a:t>
            </a:r>
            <a:endParaRPr lang="en-US" sz="4800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893" y="1491343"/>
            <a:ext cx="9509621" cy="501582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altLang="en-US" sz="3600" dirty="0">
                <a:solidFill>
                  <a:srgbClr val="FF0000"/>
                </a:solidFill>
              </a:rPr>
              <a:t>Top level code</a:t>
            </a:r>
            <a:r>
              <a:rPr lang="en-GB" altLang="en-US" sz="3600" dirty="0"/>
              <a:t> only runs </a:t>
            </a:r>
            <a:r>
              <a:rPr lang="en-GB" altLang="en-US" sz="3600" b="1" dirty="0"/>
              <a:t>once</a:t>
            </a:r>
            <a:r>
              <a:rPr lang="en-GB" altLang="en-US" sz="3600" dirty="0"/>
              <a:t>: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6843" y="2084734"/>
            <a:ext cx="9415674" cy="4773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</a:rPr>
              <a:t>% 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cat topLevEx.py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print ("</a:t>
            </a:r>
            <a:r>
              <a:rPr lang="en-US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Ran top level 1</a:t>
            </a: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")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def</a:t>
            </a: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f(): </a:t>
            </a:r>
            <a:r>
              <a:rPr lang="en-US" sz="2700" spc="-5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#&lt;=This defines a function</a:t>
            </a:r>
            <a:endParaRPr lang="en-US" sz="27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  print ("</a:t>
            </a: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Ran inner level</a:t>
            </a: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")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print ("</a:t>
            </a: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Ran top level 2</a:t>
            </a: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")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</a:rPr>
              <a:t>%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python3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 smtClean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dirty="0">
              <a:solidFill>
                <a:prstClr val="white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335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0" y="0"/>
            <a:ext cx="9729788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00" dirty="0">
                <a:solidFill>
                  <a:srgbClr val="0C77C3"/>
                </a:solidFill>
                <a:latin typeface="Elephant" panose="02020904090505020303" pitchFamily="18" charset="0"/>
              </a:rPr>
              <a:t>A module can also include </a:t>
            </a:r>
            <a:r>
              <a:rPr lang="en-US" sz="48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/>
            </a:r>
            <a:br>
              <a:rPr lang="en-US" sz="4800" dirty="0" smtClean="0">
                <a:solidFill>
                  <a:srgbClr val="0C77C3"/>
                </a:solidFill>
                <a:latin typeface="Elephant" panose="02020904090505020303" pitchFamily="18" charset="0"/>
              </a:rPr>
            </a:br>
            <a:r>
              <a:rPr lang="en-US" sz="48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top-level</a:t>
            </a:r>
            <a:r>
              <a:rPr lang="en-US" sz="4800" dirty="0">
                <a:solidFill>
                  <a:srgbClr val="0C77C3"/>
                </a:solidFill>
                <a:latin typeface="Elephant" panose="02020904090505020303" pitchFamily="18" charset="0"/>
              </a:rPr>
              <a:t>, runnable </a:t>
            </a:r>
            <a:r>
              <a:rPr lang="en-US" sz="48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code</a:t>
            </a:r>
            <a:endParaRPr lang="en-US" sz="4800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893" y="1491343"/>
            <a:ext cx="9509621" cy="501582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altLang="en-US" sz="3600" dirty="0">
                <a:solidFill>
                  <a:srgbClr val="FF0000"/>
                </a:solidFill>
              </a:rPr>
              <a:t>Top level code</a:t>
            </a:r>
            <a:r>
              <a:rPr lang="en-GB" altLang="en-US" sz="3600" dirty="0"/>
              <a:t> only runs </a:t>
            </a:r>
            <a:r>
              <a:rPr lang="en-GB" altLang="en-US" sz="3600" b="1" dirty="0"/>
              <a:t>once</a:t>
            </a:r>
            <a:r>
              <a:rPr lang="en-GB" altLang="en-US" sz="3600" dirty="0"/>
              <a:t>: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6843" y="2084734"/>
            <a:ext cx="9415674" cy="4773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</a:rPr>
              <a:t>% cat topLevEx.py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print ("</a:t>
            </a:r>
            <a:r>
              <a:rPr lang="en-US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Ran top level 1</a:t>
            </a: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")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def</a:t>
            </a: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f(): </a:t>
            </a:r>
            <a:r>
              <a:rPr lang="en-US" sz="2700" spc="-5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#&lt;=This defines a function</a:t>
            </a:r>
            <a:endParaRPr lang="en-US" sz="2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  print ("</a:t>
            </a: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Ran inner level</a:t>
            </a: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")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print ("</a:t>
            </a: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Ran top level 2</a:t>
            </a: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")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</a:rPr>
              <a:t>% python3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import </a:t>
            </a:r>
            <a:r>
              <a:rPr lang="en-US" altLang="zh-TW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topLevEx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 smtClean="0">
                <a:latin typeface="Lucida Fax" panose="02060602050505020204" pitchFamily="18" charset="0"/>
              </a:rPr>
              <a:t># See,</a:t>
            </a:r>
            <a:r>
              <a:rPr lang="en-US" altLang="zh-TW" sz="1800" dirty="0" smtClean="0">
                <a:latin typeface="Lucida Fax" panose="02060602050505020204" pitchFamily="18" charset="0"/>
              </a:rPr>
              <a:t> </a:t>
            </a:r>
            <a:r>
              <a:rPr lang="en-US" altLang="zh-TW" sz="2800" dirty="0">
                <a:latin typeface="Lucida Fax" panose="02060602050505020204" pitchFamily="18" charset="0"/>
              </a:rPr>
              <a:t>the top-level </a:t>
            </a:r>
            <a:r>
              <a:rPr lang="en-US" altLang="zh-TW" sz="2800" dirty="0" smtClean="0">
                <a:latin typeface="Lucida Fax" panose="02060602050505020204" pitchFamily="18" charset="0"/>
              </a:rPr>
              <a:t>ran</a:t>
            </a:r>
            <a:r>
              <a:rPr lang="en-US" altLang="zh-TW" sz="2800" dirty="0">
                <a:latin typeface="Lucida Fax" panose="02060602050505020204" pitchFamily="18" charset="0"/>
              </a:rPr>
              <a:t>: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Ran top level 1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Ran top level 2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 smtClean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dirty="0">
              <a:solidFill>
                <a:prstClr val="white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450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0" y="0"/>
            <a:ext cx="9729788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00" dirty="0">
                <a:solidFill>
                  <a:srgbClr val="0C77C3"/>
                </a:solidFill>
                <a:latin typeface="Elephant" panose="02020904090505020303" pitchFamily="18" charset="0"/>
              </a:rPr>
              <a:t>A module can also include </a:t>
            </a:r>
            <a:r>
              <a:rPr lang="en-US" sz="48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/>
            </a:r>
            <a:br>
              <a:rPr lang="en-US" sz="4800" dirty="0" smtClean="0">
                <a:solidFill>
                  <a:srgbClr val="0C77C3"/>
                </a:solidFill>
                <a:latin typeface="Elephant" panose="02020904090505020303" pitchFamily="18" charset="0"/>
              </a:rPr>
            </a:br>
            <a:r>
              <a:rPr lang="en-US" sz="48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top-level</a:t>
            </a:r>
            <a:r>
              <a:rPr lang="en-US" sz="4800" dirty="0">
                <a:solidFill>
                  <a:srgbClr val="0C77C3"/>
                </a:solidFill>
                <a:latin typeface="Elephant" panose="02020904090505020303" pitchFamily="18" charset="0"/>
              </a:rPr>
              <a:t>, runnable </a:t>
            </a:r>
            <a:r>
              <a:rPr lang="en-US" sz="48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code</a:t>
            </a:r>
            <a:endParaRPr lang="en-US" sz="4800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893" y="1491343"/>
            <a:ext cx="9509621" cy="501582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altLang="en-US" sz="3600" dirty="0">
                <a:solidFill>
                  <a:srgbClr val="FF0000"/>
                </a:solidFill>
              </a:rPr>
              <a:t>Top level code</a:t>
            </a:r>
            <a:r>
              <a:rPr lang="en-GB" altLang="en-US" sz="3600" dirty="0"/>
              <a:t> only runs </a:t>
            </a:r>
            <a:r>
              <a:rPr lang="en-GB" altLang="en-US" sz="3600" b="1" dirty="0"/>
              <a:t>once</a:t>
            </a:r>
            <a:r>
              <a:rPr lang="en-GB" altLang="en-US" sz="3600" dirty="0"/>
              <a:t>: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6843" y="2084734"/>
            <a:ext cx="9415674" cy="4773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</a:rPr>
              <a:t>% cat topLevEx.py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print ("</a:t>
            </a:r>
            <a:r>
              <a:rPr lang="en-US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Ran top level 1</a:t>
            </a: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")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def</a:t>
            </a: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f(): </a:t>
            </a:r>
            <a:r>
              <a:rPr lang="en-US" sz="2700" spc="-5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#&lt;=This defines a function</a:t>
            </a:r>
            <a:endParaRPr lang="en-US" sz="2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  print ("</a:t>
            </a: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Ran inner level</a:t>
            </a: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")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print ("</a:t>
            </a: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Ran top level 2</a:t>
            </a: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")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</a:rPr>
              <a:t>% python3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zh-TW" sz="2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topLevEx</a:t>
            </a: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latin typeface="Lucida Fax" panose="02060602050505020204" pitchFamily="18" charset="0"/>
              </a:rPr>
              <a:t># See,</a:t>
            </a:r>
            <a:r>
              <a:rPr lang="en-US" altLang="zh-TW" sz="1800" dirty="0">
                <a:latin typeface="Lucida Fax" panose="02060602050505020204" pitchFamily="18" charset="0"/>
              </a:rPr>
              <a:t> </a:t>
            </a:r>
            <a:r>
              <a:rPr lang="en-US" altLang="zh-TW" sz="2800" dirty="0">
                <a:latin typeface="Lucida Fax" panose="02060602050505020204" pitchFamily="18" charset="0"/>
              </a:rPr>
              <a:t>the top-level ran:</a:t>
            </a:r>
            <a:endParaRPr lang="en-US" altLang="zh-TW" sz="2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Ran top level 1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Ran top level 2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import </a:t>
            </a:r>
            <a:r>
              <a:rPr lang="en-US" altLang="zh-TW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topLevEx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latin typeface="Lucida Fax" panose="02060602050505020204" pitchFamily="18" charset="0"/>
              </a:rPr>
              <a:t># See,</a:t>
            </a:r>
            <a:r>
              <a:rPr lang="en-US" altLang="zh-TW" sz="1800" dirty="0">
                <a:latin typeface="Lucida Fax" panose="02060602050505020204" pitchFamily="18" charset="0"/>
              </a:rPr>
              <a:t> </a:t>
            </a:r>
            <a:r>
              <a:rPr lang="en-US" altLang="zh-TW" sz="2800" dirty="0">
                <a:latin typeface="Lucida Fax" panose="02060602050505020204" pitchFamily="18" charset="0"/>
              </a:rPr>
              <a:t>top-level didn't run:</a:t>
            </a:r>
            <a:endParaRPr lang="en-US" altLang="zh-TW" sz="28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800" dirty="0" smtClean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dirty="0">
              <a:solidFill>
                <a:prstClr val="white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757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0" y="0"/>
            <a:ext cx="9729788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00" dirty="0">
                <a:solidFill>
                  <a:srgbClr val="0C77C3"/>
                </a:solidFill>
                <a:latin typeface="Elephant" panose="02020904090505020303" pitchFamily="18" charset="0"/>
              </a:rPr>
              <a:t>A module can also include </a:t>
            </a:r>
            <a:r>
              <a:rPr lang="en-US" sz="48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/>
            </a:r>
            <a:br>
              <a:rPr lang="en-US" sz="4800" dirty="0" smtClean="0">
                <a:solidFill>
                  <a:srgbClr val="0C77C3"/>
                </a:solidFill>
                <a:latin typeface="Elephant" panose="02020904090505020303" pitchFamily="18" charset="0"/>
              </a:rPr>
            </a:br>
            <a:r>
              <a:rPr lang="en-US" sz="48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top-level</a:t>
            </a:r>
            <a:r>
              <a:rPr lang="en-US" sz="4800" dirty="0">
                <a:solidFill>
                  <a:srgbClr val="0C77C3"/>
                </a:solidFill>
                <a:latin typeface="Elephant" panose="02020904090505020303" pitchFamily="18" charset="0"/>
              </a:rPr>
              <a:t>, runnable </a:t>
            </a:r>
            <a:r>
              <a:rPr lang="en-US" sz="4800" dirty="0" smtClean="0">
                <a:solidFill>
                  <a:srgbClr val="0C77C3"/>
                </a:solidFill>
                <a:latin typeface="Elephant" panose="02020904090505020303" pitchFamily="18" charset="0"/>
              </a:rPr>
              <a:t>code</a:t>
            </a:r>
            <a:endParaRPr lang="en-US" sz="4800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893" y="1491343"/>
            <a:ext cx="9509621" cy="501582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altLang="en-US" sz="3600" dirty="0">
                <a:solidFill>
                  <a:srgbClr val="FF0000"/>
                </a:solidFill>
              </a:rPr>
              <a:t>Top level code</a:t>
            </a:r>
            <a:r>
              <a:rPr lang="en-GB" altLang="en-US" sz="3600" dirty="0"/>
              <a:t> only runs </a:t>
            </a:r>
            <a:r>
              <a:rPr lang="en-GB" altLang="en-US" sz="3600" b="1" dirty="0"/>
              <a:t>once</a:t>
            </a:r>
            <a:r>
              <a:rPr lang="en-GB" altLang="en-US" sz="3600" dirty="0"/>
              <a:t>: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6843" y="2084734"/>
            <a:ext cx="9415674" cy="4773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</a:rPr>
              <a:t>% cat topLevEx.py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print ("</a:t>
            </a:r>
            <a:r>
              <a:rPr lang="en-US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Ran top level 1</a:t>
            </a: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")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def</a:t>
            </a:r>
            <a:r>
              <a:rPr lang="en-US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f(): </a:t>
            </a:r>
            <a:r>
              <a:rPr lang="en-US" sz="2700" spc="-5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#&lt;=This defines a function</a:t>
            </a:r>
            <a:endParaRPr lang="en-US" sz="2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  print ("</a:t>
            </a: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Ran inner level</a:t>
            </a: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")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print ("</a:t>
            </a: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Ran top level 2</a:t>
            </a: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")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</a:rPr>
              <a:t>% python3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zh-TW" sz="2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topLevEx</a:t>
            </a: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latin typeface="Lucida Fax" panose="02060602050505020204" pitchFamily="18" charset="0"/>
              </a:rPr>
              <a:t># See,</a:t>
            </a:r>
            <a:r>
              <a:rPr lang="en-US" altLang="zh-TW" sz="1800" dirty="0">
                <a:latin typeface="Lucida Fax" panose="02060602050505020204" pitchFamily="18" charset="0"/>
              </a:rPr>
              <a:t> </a:t>
            </a:r>
            <a:r>
              <a:rPr lang="en-US" altLang="zh-TW" sz="2800" dirty="0">
                <a:latin typeface="Lucida Fax" panose="02060602050505020204" pitchFamily="18" charset="0"/>
              </a:rPr>
              <a:t>the top-level </a:t>
            </a:r>
            <a:r>
              <a:rPr lang="en-US" altLang="zh-TW" sz="2800" dirty="0" smtClean="0">
                <a:latin typeface="Lucida Fax" panose="02060602050505020204" pitchFamily="18" charset="0"/>
              </a:rPr>
              <a:t>ran:</a:t>
            </a:r>
            <a:endParaRPr lang="en-US" altLang="zh-TW" sz="2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Ran top level 1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Ran top level 2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zh-TW" sz="2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topLevEx</a:t>
            </a: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latin typeface="Lucida Fax" panose="02060602050505020204" pitchFamily="18" charset="0"/>
              </a:rPr>
              <a:t># See,</a:t>
            </a:r>
            <a:r>
              <a:rPr lang="en-US" altLang="zh-TW" sz="1800" dirty="0">
                <a:latin typeface="Lucida Fax" panose="02060602050505020204" pitchFamily="18" charset="0"/>
              </a:rPr>
              <a:t> </a:t>
            </a:r>
            <a:r>
              <a:rPr lang="en-US" altLang="zh-TW" sz="2800" dirty="0">
                <a:latin typeface="Lucida Fax" panose="02060602050505020204" pitchFamily="18" charset="0"/>
              </a:rPr>
              <a:t>top-level didn't </a:t>
            </a:r>
            <a:r>
              <a:rPr lang="en-US" altLang="zh-TW" sz="2800" dirty="0" smtClean="0">
                <a:latin typeface="Lucida Fax" panose="02060602050505020204" pitchFamily="18" charset="0"/>
              </a:rPr>
              <a:t>run:</a:t>
            </a:r>
            <a:endParaRPr lang="en-US" altLang="zh-TW" sz="2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topLevEx.f</a:t>
            </a:r>
            <a:r>
              <a:rPr lang="en-US" altLang="zh-TW" sz="28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()    </a:t>
            </a:r>
            <a:r>
              <a:rPr lang="en-US" altLang="zh-TW" sz="2800" dirty="0">
                <a:latin typeface="Lucida Fax" panose="02060602050505020204" pitchFamily="18" charset="0"/>
              </a:rPr>
              <a:t># </a:t>
            </a:r>
            <a:r>
              <a:rPr lang="en-US" altLang="zh-TW" sz="2800" spc="-80" dirty="0" smtClean="0">
                <a:latin typeface="Lucida Fax" panose="02060602050505020204" pitchFamily="18" charset="0"/>
              </a:rPr>
              <a:t>O</a:t>
            </a:r>
            <a:r>
              <a:rPr lang="en-US" altLang="zh-TW" sz="2800" spc="-40" dirty="0" smtClean="0">
                <a:latin typeface="Lucida Fax" panose="02060602050505020204" pitchFamily="18" charset="0"/>
              </a:rPr>
              <a:t>f</a:t>
            </a:r>
            <a:r>
              <a:rPr lang="en-US" altLang="zh-TW" sz="2400" spc="-40" dirty="0" smtClean="0">
                <a:latin typeface="Lucida Fax" panose="02060602050505020204" pitchFamily="18" charset="0"/>
              </a:rPr>
              <a:t> </a:t>
            </a:r>
            <a:r>
              <a:rPr lang="en-US" altLang="zh-TW" sz="2800" spc="-40" dirty="0" smtClean="0">
                <a:latin typeface="Lucida Fax" panose="02060602050505020204" pitchFamily="18" charset="0"/>
              </a:rPr>
              <a:t>cours</a:t>
            </a:r>
            <a:r>
              <a:rPr lang="en-US" altLang="zh-TW" sz="2800" spc="-130" dirty="0" smtClean="0">
                <a:latin typeface="Lucida Fax" panose="02060602050505020204" pitchFamily="18" charset="0"/>
              </a:rPr>
              <a:t>e</a:t>
            </a:r>
            <a:r>
              <a:rPr lang="en-US" altLang="zh-TW" sz="2800" spc="-40" dirty="0" smtClean="0">
                <a:latin typeface="Lucida Fax" panose="02060602050505020204" pitchFamily="18" charset="0"/>
              </a:rPr>
              <a:t>,</a:t>
            </a:r>
            <a:r>
              <a:rPr lang="en-US" altLang="zh-TW" sz="2000" spc="-40" dirty="0" smtClean="0">
                <a:latin typeface="Lucida Fax" panose="02060602050505020204" pitchFamily="18" charset="0"/>
              </a:rPr>
              <a:t> </a:t>
            </a:r>
            <a:r>
              <a:rPr lang="en-US" altLang="zh-TW" sz="2800" spc="-40" dirty="0" smtClean="0">
                <a:latin typeface="Lucida Fax" panose="02060602050505020204" pitchFamily="18" charset="0"/>
              </a:rPr>
              <a:t>us</a:t>
            </a:r>
            <a:r>
              <a:rPr lang="en-US" altLang="zh-TW" sz="2800" spc="-90" dirty="0" smtClean="0">
                <a:latin typeface="Lucida Fax" panose="02060602050505020204" pitchFamily="18" charset="0"/>
              </a:rPr>
              <a:t>e</a:t>
            </a:r>
            <a:r>
              <a:rPr lang="en-US" altLang="zh-TW" sz="2400" spc="-90" dirty="0" smtClean="0">
                <a:latin typeface="Lucida Fax" panose="02060602050505020204" pitchFamily="18" charset="0"/>
              </a:rPr>
              <a:t> </a:t>
            </a:r>
            <a:r>
              <a:rPr lang="en-US" altLang="zh-TW" sz="2800" spc="-90" dirty="0" smtClean="0">
                <a:latin typeface="Lucida Fax" panose="02060602050505020204" pitchFamily="18" charset="0"/>
              </a:rPr>
              <a:t>'.'</a:t>
            </a:r>
            <a:r>
              <a:rPr lang="en-US" altLang="zh-TW" sz="2400" spc="-90" dirty="0" smtClean="0">
                <a:latin typeface="Lucida Fax" panose="02060602050505020204" pitchFamily="18" charset="0"/>
              </a:rPr>
              <a:t> </a:t>
            </a:r>
            <a:r>
              <a:rPr lang="en-US" altLang="zh-TW" sz="2800" spc="-40" dirty="0" smtClean="0">
                <a:latin typeface="Lucida Fax" panose="02060602050505020204" pitchFamily="18" charset="0"/>
              </a:rPr>
              <a:t>to</a:t>
            </a:r>
            <a:r>
              <a:rPr lang="en-US" altLang="zh-TW" sz="2400" spc="-40" dirty="0" smtClean="0">
                <a:latin typeface="Lucida Fax" panose="02060602050505020204" pitchFamily="18" charset="0"/>
              </a:rPr>
              <a:t> </a:t>
            </a:r>
            <a:r>
              <a:rPr lang="en-US" altLang="zh-TW" sz="2800" spc="-40" dirty="0" smtClean="0">
                <a:latin typeface="Lucida Fax" panose="02060602050505020204" pitchFamily="18" charset="0"/>
              </a:rPr>
              <a:t>run</a:t>
            </a:r>
            <a:r>
              <a:rPr lang="en-US" altLang="zh-TW" sz="2400" spc="-40" dirty="0" smtClean="0">
                <a:latin typeface="Lucida Fax" panose="02060602050505020204" pitchFamily="18" charset="0"/>
              </a:rPr>
              <a:t> </a:t>
            </a:r>
            <a:r>
              <a:rPr lang="en-US" altLang="zh-TW" sz="2800" spc="-40" dirty="0" smtClean="0">
                <a:latin typeface="Lucida Fax" panose="02060602050505020204" pitchFamily="18" charset="0"/>
              </a:rPr>
              <a:t>f</a:t>
            </a:r>
            <a:r>
              <a:rPr lang="en-US" altLang="zh-TW" sz="2800" dirty="0" smtClean="0">
                <a:latin typeface="Lucida Fax" panose="02060602050505020204" pitchFamily="18" charset="0"/>
              </a:rPr>
              <a:t>()</a:t>
            </a:r>
            <a:endParaRPr lang="en-US" altLang="zh-TW" sz="28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Ran inner level</a:t>
            </a:r>
          </a:p>
          <a:p>
            <a:pPr marL="571500" indent="-5715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2631685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-438942" y="41442"/>
            <a:ext cx="10607674" cy="117775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4800" dirty="0">
                <a:solidFill>
                  <a:srgbClr val="0C77C3"/>
                </a:solidFill>
                <a:latin typeface="Elephant" panose="02020904090505020303" pitchFamily="18" charset="0"/>
              </a:rPr>
              <a:t>Rerunning Top-level Code</a:t>
            </a:r>
            <a:endParaRPr lang="en-US" b="1" dirty="0">
              <a:solidFill>
                <a:srgbClr val="0C77C3"/>
              </a:solidFill>
              <a:latin typeface="Elephant" panose="02020904090505020303" pitchFamily="18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0494" y="882316"/>
            <a:ext cx="9270416" cy="59917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3538" indent="-268288">
              <a:lnSpc>
                <a:spcPct val="93000"/>
              </a:lnSpc>
              <a:buSzPct val="45000"/>
              <a:buFont typeface="Wingdings" pitchFamily="2" charset="2"/>
              <a:buChar char="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>
                <a:solidFill>
                  <a:prstClr val="black"/>
                </a:solidFill>
              </a:rPr>
              <a:t>A module's top-level code is only run the </a:t>
            </a:r>
            <a:r>
              <a:rPr lang="en-GB" altLang="en-US" sz="3600" i="1" dirty="0">
                <a:solidFill>
                  <a:prstClr val="black"/>
                </a:solidFill>
              </a:rPr>
              <a:t>first time </a:t>
            </a:r>
            <a:r>
              <a:rPr lang="en-GB" altLang="en-US" sz="3600" dirty="0">
                <a:solidFill>
                  <a:prstClr val="black"/>
                </a:solidFill>
              </a:rPr>
              <a:t>the module is imported.  </a:t>
            </a:r>
          </a:p>
          <a:p>
            <a:pPr marL="363538" indent="-268288">
              <a:lnSpc>
                <a:spcPct val="93000"/>
              </a:lnSpc>
              <a:buSzPct val="45000"/>
              <a:buFont typeface="Wingdings" pitchFamily="2" charset="2"/>
              <a:buChar char="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>
                <a:solidFill>
                  <a:prstClr val="black"/>
                </a:solidFill>
              </a:rPr>
              <a:t>Use reload() to force it to re-run (such as if a module changes while Pyt</a:t>
            </a:r>
            <a:r>
              <a:rPr lang="en-GB" altLang="en-US" sz="3600" spc="-10" dirty="0">
                <a:solidFill>
                  <a:prstClr val="black"/>
                </a:solidFill>
              </a:rPr>
              <a:t>ho</a:t>
            </a:r>
            <a:r>
              <a:rPr lang="en-GB" altLang="en-US" sz="3600" dirty="0">
                <a:solidFill>
                  <a:prstClr val="black"/>
                </a:solidFill>
              </a:rPr>
              <a:t>n is r</a:t>
            </a:r>
            <a:r>
              <a:rPr lang="en-GB" altLang="en-US" sz="3600" spc="-10" dirty="0">
                <a:solidFill>
                  <a:prstClr val="black"/>
                </a:solidFill>
              </a:rPr>
              <a:t>unnin</a:t>
            </a:r>
            <a:r>
              <a:rPr lang="en-GB" altLang="en-US" sz="3600" spc="-100" dirty="0">
                <a:solidFill>
                  <a:prstClr val="black"/>
                </a:solidFill>
              </a:rPr>
              <a:t>g</a:t>
            </a:r>
            <a:r>
              <a:rPr lang="en-GB" altLang="en-US" sz="3600" spc="-100" dirty="0" smtClean="0">
                <a:solidFill>
                  <a:prstClr val="black"/>
                </a:solidFill>
              </a:rPr>
              <a:t>)</a:t>
            </a:r>
            <a:r>
              <a:rPr lang="en-GB" altLang="en-US" sz="3600" dirty="0" smtClean="0">
                <a:solidFill>
                  <a:prstClr val="black"/>
                </a:solidFill>
              </a:rPr>
              <a:t>. </a:t>
            </a:r>
            <a:r>
              <a:rPr lang="en-GB" altLang="en-US" sz="3600" spc="-100" dirty="0" smtClean="0">
                <a:solidFill>
                  <a:srgbClr val="FF0000"/>
                </a:solidFill>
              </a:rPr>
              <a:t>B</a:t>
            </a:r>
            <a:r>
              <a:rPr lang="en-GB" altLang="en-US" sz="3600" spc="-50" dirty="0" smtClean="0">
                <a:solidFill>
                  <a:srgbClr val="FF0000"/>
                </a:solidFill>
              </a:rPr>
              <a:t>ut</a:t>
            </a:r>
            <a:r>
              <a:rPr lang="en-GB" altLang="en-US" sz="3600" dirty="0" smtClean="0">
                <a:solidFill>
                  <a:srgbClr val="FF0000"/>
                </a:solidFill>
              </a:rPr>
              <a:t>:</a:t>
            </a:r>
            <a:endParaRPr lang="en-GB" altLang="en-US" sz="3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552450" lvl="1" indent="0">
              <a:lnSpc>
                <a:spcPct val="93000"/>
              </a:lnSpc>
              <a:buSzPct val="45000"/>
              <a:buFont typeface="Arial" panose="020B0604020202020204" pitchFamily="34" charset="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200" dirty="0" smtClean="0">
                <a:solidFill>
                  <a:prstClr val="black"/>
                </a:solidFill>
              </a:rPr>
              <a:t>1. </a:t>
            </a:r>
            <a:r>
              <a:rPr lang="en-GB" altLang="en-US" sz="3200" dirty="0" smtClean="0">
                <a:solidFill>
                  <a:srgbClr val="FF0000"/>
                </a:solidFill>
              </a:rPr>
              <a:t>Python </a:t>
            </a:r>
            <a:r>
              <a:rPr lang="en-GB" altLang="en-US" sz="3200" dirty="0">
                <a:solidFill>
                  <a:srgbClr val="FF0000"/>
                </a:solidFill>
              </a:rPr>
              <a:t>3 moved reload to the </a:t>
            </a:r>
            <a:r>
              <a:rPr lang="en-GB" altLang="en-US" sz="3200" dirty="0" err="1">
                <a:solidFill>
                  <a:srgbClr val="FF0000"/>
                </a:solidFill>
              </a:rPr>
              <a:t>importlib</a:t>
            </a:r>
            <a:r>
              <a:rPr lang="en-GB" altLang="en-US" sz="3200" dirty="0">
                <a:solidFill>
                  <a:srgbClr val="FF0000"/>
                </a:solidFill>
              </a:rPr>
              <a:t> </a:t>
            </a:r>
            <a:r>
              <a:rPr lang="en-GB" altLang="en-US" sz="3200" dirty="0" smtClean="0">
                <a:solidFill>
                  <a:srgbClr val="FF0000"/>
                </a:solidFill>
              </a:rPr>
              <a:t>module</a:t>
            </a:r>
          </a:p>
          <a:p>
            <a:pPr marL="1009650" lvl="2" indent="0">
              <a:lnSpc>
                <a:spcPct val="70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rgbClr val="0C77C3"/>
                </a:solidFill>
                <a:cs typeface="Arial" pitchFamily="34" charset="0"/>
              </a:rPr>
              <a:t>	</a:t>
            </a:r>
            <a:r>
              <a:rPr lang="en-US" altLang="en-US" sz="2800" dirty="0">
                <a:solidFill>
                  <a:srgbClr val="0C77C3"/>
                </a:solidFill>
                <a:cs typeface="Arial" pitchFamily="34" charset="0"/>
              </a:rPr>
              <a:t>% from </a:t>
            </a:r>
            <a:r>
              <a:rPr lang="en-US" altLang="en-US" sz="2800" dirty="0" err="1">
                <a:solidFill>
                  <a:srgbClr val="0C77C3"/>
                </a:solidFill>
                <a:cs typeface="Arial" pitchFamily="34" charset="0"/>
              </a:rPr>
              <a:t>moduleX</a:t>
            </a:r>
            <a:r>
              <a:rPr lang="en-US" altLang="en-US" sz="2800" dirty="0">
                <a:solidFill>
                  <a:srgbClr val="0C77C3"/>
                </a:solidFill>
                <a:cs typeface="Arial" pitchFamily="34" charset="0"/>
              </a:rPr>
              <a:t> import </a:t>
            </a:r>
            <a:r>
              <a:rPr lang="en-US" altLang="en-US" sz="2800" dirty="0" err="1" smtClean="0">
                <a:solidFill>
                  <a:srgbClr val="0C77C3"/>
                </a:solidFill>
                <a:cs typeface="Arial" pitchFamily="34" charset="0"/>
              </a:rPr>
              <a:t>VarZ</a:t>
            </a:r>
            <a:r>
              <a:rPr lang="en-US" altLang="en-US" sz="2800" dirty="0" smtClean="0">
                <a:solidFill>
                  <a:srgbClr val="0C77C3"/>
                </a:solidFill>
                <a:cs typeface="Arial" pitchFamily="34" charset="0"/>
              </a:rPr>
              <a:t>; print(</a:t>
            </a:r>
            <a:r>
              <a:rPr lang="en-US" altLang="en-US" sz="2800" dirty="0" err="1" smtClean="0">
                <a:solidFill>
                  <a:srgbClr val="0C77C3"/>
                </a:solidFill>
                <a:cs typeface="Arial" pitchFamily="34" charset="0"/>
              </a:rPr>
              <a:t>VarZ</a:t>
            </a:r>
            <a:r>
              <a:rPr lang="en-US" altLang="en-US" sz="2800" dirty="0" smtClean="0">
                <a:solidFill>
                  <a:srgbClr val="0C77C3"/>
                </a:solidFill>
                <a:cs typeface="Arial" pitchFamily="34" charset="0"/>
              </a:rPr>
              <a:t>)</a:t>
            </a:r>
            <a:endParaRPr lang="en-US" altLang="en-US" sz="2800" dirty="0">
              <a:solidFill>
                <a:srgbClr val="0C77C3"/>
              </a:solidFill>
              <a:cs typeface="Arial" pitchFamily="34" charset="0"/>
            </a:endParaRPr>
          </a:p>
          <a:p>
            <a:pPr marL="1009650" lvl="2" indent="0">
              <a:lnSpc>
                <a:spcPct val="70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dirty="0">
                <a:solidFill>
                  <a:srgbClr val="0C77C3"/>
                </a:solidFill>
                <a:cs typeface="Arial" pitchFamily="34" charset="0"/>
              </a:rPr>
              <a:t>	Hello</a:t>
            </a:r>
          </a:p>
          <a:p>
            <a:pPr marL="1009650" lvl="2" indent="0">
              <a:lnSpc>
                <a:spcPct val="70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dirty="0">
                <a:solidFill>
                  <a:srgbClr val="0C77C3"/>
                </a:solidFill>
                <a:cs typeface="Arial" pitchFamily="34" charset="0"/>
              </a:rPr>
              <a:t>	% </a:t>
            </a:r>
            <a:r>
              <a:rPr lang="en-US" altLang="en-US" sz="2800" dirty="0" err="1" smtClean="0">
                <a:solidFill>
                  <a:srgbClr val="0C77C3"/>
                </a:solidFill>
                <a:cs typeface="Arial" pitchFamily="34" charset="0"/>
              </a:rPr>
              <a:t>callAfunctionThatChangesVarZInsideModuleX</a:t>
            </a:r>
            <a:r>
              <a:rPr lang="en-US" altLang="en-US" sz="2800" dirty="0">
                <a:solidFill>
                  <a:srgbClr val="0C77C3"/>
                </a:solidFill>
                <a:cs typeface="Arial" pitchFamily="34" charset="0"/>
              </a:rPr>
              <a:t>()</a:t>
            </a:r>
          </a:p>
          <a:p>
            <a:pPr marL="1009650" lvl="2" indent="22225">
              <a:lnSpc>
                <a:spcPct val="70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dirty="0">
                <a:solidFill>
                  <a:srgbClr val="0C77C3"/>
                </a:solidFill>
                <a:cs typeface="Arial" pitchFamily="34" charset="0"/>
              </a:rPr>
              <a:t>   </a:t>
            </a:r>
            <a:r>
              <a:rPr lang="en-US" altLang="en-US" sz="800" dirty="0" smtClean="0">
                <a:solidFill>
                  <a:srgbClr val="0C77C3"/>
                </a:solidFill>
                <a:cs typeface="Arial" pitchFamily="34" charset="0"/>
              </a:rPr>
              <a:t> </a:t>
            </a:r>
            <a:r>
              <a:rPr lang="en-US" altLang="en-US" sz="2800" dirty="0" smtClean="0">
                <a:solidFill>
                  <a:srgbClr val="0C77C3"/>
                </a:solidFill>
                <a:cs typeface="Arial" pitchFamily="34" charset="0"/>
              </a:rPr>
              <a:t>% </a:t>
            </a:r>
            <a:r>
              <a:rPr lang="en-US" altLang="en-US" sz="2800" dirty="0">
                <a:solidFill>
                  <a:srgbClr val="FF0000"/>
                </a:solidFill>
                <a:cs typeface="Arial" pitchFamily="34" charset="0"/>
              </a:rPr>
              <a:t>from </a:t>
            </a:r>
            <a:r>
              <a:rPr lang="en-US" altLang="en-US" sz="2800" dirty="0" err="1">
                <a:solidFill>
                  <a:srgbClr val="FF0000"/>
                </a:solidFill>
                <a:cs typeface="Arial" pitchFamily="34" charset="0"/>
              </a:rPr>
              <a:t>importlib</a:t>
            </a:r>
            <a:r>
              <a:rPr lang="en-US" altLang="en-US" sz="2800" dirty="0">
                <a:solidFill>
                  <a:srgbClr val="FF0000"/>
                </a:solidFill>
                <a:cs typeface="Arial" pitchFamily="34" charset="0"/>
              </a:rPr>
              <a:t> import reload</a:t>
            </a:r>
            <a:r>
              <a:rPr lang="en-US" altLang="en-US" sz="2800" dirty="0">
                <a:solidFill>
                  <a:srgbClr val="0C77C3"/>
                </a:solidFill>
                <a:cs typeface="Arial" pitchFamily="34" charset="0"/>
              </a:rPr>
              <a:t>;</a:t>
            </a:r>
            <a:r>
              <a:rPr lang="en-US" altLang="en-US" sz="2800" dirty="0">
                <a:solidFill>
                  <a:srgbClr val="FF0000"/>
                </a:solidFill>
                <a:cs typeface="Arial" pitchFamily="34" charset="0"/>
              </a:rPr>
              <a:t> </a:t>
            </a:r>
            <a:r>
              <a:rPr lang="en-US" altLang="en-US" sz="2800" dirty="0" smtClean="0">
                <a:solidFill>
                  <a:srgbClr val="FF0000"/>
                </a:solidFill>
                <a:cs typeface="Arial" pitchFamily="34" charset="0"/>
              </a:rPr>
              <a:t>reload(</a:t>
            </a:r>
            <a:r>
              <a:rPr lang="en-US" altLang="en-US" sz="2800" dirty="0" err="1" smtClean="0">
                <a:solidFill>
                  <a:srgbClr val="FF0000"/>
                </a:solidFill>
                <a:cs typeface="Arial" pitchFamily="34" charset="0"/>
              </a:rPr>
              <a:t>moduleX</a:t>
            </a:r>
            <a:r>
              <a:rPr lang="en-US" altLang="en-US" sz="2800" dirty="0" smtClean="0">
                <a:solidFill>
                  <a:srgbClr val="FF0000"/>
                </a:solidFill>
                <a:cs typeface="Arial" pitchFamily="34" charset="0"/>
              </a:rPr>
              <a:t>)</a:t>
            </a:r>
            <a:endParaRPr lang="en-GB" altLang="en-US" sz="3200" dirty="0">
              <a:solidFill>
                <a:srgbClr val="FF0000"/>
              </a:solidFill>
            </a:endParaRPr>
          </a:p>
          <a:p>
            <a:pPr marL="966788" lvl="1" indent="-414338">
              <a:lnSpc>
                <a:spcPct val="93000"/>
              </a:lnSpc>
              <a:buSzPct val="45000"/>
              <a:buFont typeface="Arial" panose="020B0604020202020204" pitchFamily="34" charset="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200" dirty="0">
                <a:solidFill>
                  <a:prstClr val="black"/>
                </a:solidFill>
              </a:rPr>
              <a:t>2. </a:t>
            </a:r>
            <a:r>
              <a:rPr lang="en-GB" altLang="en-US" sz="3200" spc="-30" dirty="0" smtClean="0">
                <a:solidFill>
                  <a:srgbClr val="FF0000"/>
                </a:solidFill>
              </a:rPr>
              <a:t>Reload</a:t>
            </a:r>
            <a:r>
              <a:rPr lang="en-GB" altLang="en-US" sz="2800" spc="-30" dirty="0" smtClean="0">
                <a:solidFill>
                  <a:srgbClr val="FF0000"/>
                </a:solidFill>
              </a:rPr>
              <a:t> </a:t>
            </a:r>
            <a:r>
              <a:rPr lang="en-GB" altLang="en-US" sz="3200" spc="-60" dirty="0" smtClean="0">
                <a:solidFill>
                  <a:srgbClr val="FF0000"/>
                </a:solidFill>
              </a:rPr>
              <a:t>wo</a:t>
            </a:r>
            <a:r>
              <a:rPr lang="en-GB" altLang="en-US" sz="3200" spc="-200" dirty="0" smtClean="0">
                <a:solidFill>
                  <a:srgbClr val="FF0000"/>
                </a:solidFill>
              </a:rPr>
              <a:t>n</a:t>
            </a:r>
            <a:r>
              <a:rPr lang="en-GB" altLang="en-US" sz="3200" spc="-30" dirty="0" smtClean="0">
                <a:solidFill>
                  <a:srgbClr val="FF0000"/>
                </a:solidFill>
              </a:rPr>
              <a:t>'t</a:t>
            </a:r>
            <a:r>
              <a:rPr lang="en-GB" altLang="en-US" sz="2800" spc="-30" dirty="0" smtClean="0">
                <a:solidFill>
                  <a:srgbClr val="FF0000"/>
                </a:solidFill>
              </a:rPr>
              <a:t> </a:t>
            </a:r>
            <a:r>
              <a:rPr lang="en-GB" altLang="en-US" sz="3200" spc="-30" dirty="0">
                <a:solidFill>
                  <a:srgbClr val="FF0000"/>
                </a:solidFill>
              </a:rPr>
              <a:t>a</a:t>
            </a:r>
            <a:r>
              <a:rPr lang="en-GB" altLang="en-US" sz="3200" dirty="0">
                <a:solidFill>
                  <a:srgbClr val="FF0000"/>
                </a:solidFill>
              </a:rPr>
              <a:t>ffect </a:t>
            </a:r>
            <a:r>
              <a:rPr lang="en-GB" altLang="en-US" sz="3200" spc="-30" dirty="0">
                <a:solidFill>
                  <a:srgbClr val="FF0000"/>
                </a:solidFill>
              </a:rPr>
              <a:t>prio</a:t>
            </a:r>
            <a:r>
              <a:rPr lang="en-GB" altLang="en-US" sz="3200" dirty="0">
                <a:solidFill>
                  <a:srgbClr val="FF0000"/>
                </a:solidFill>
              </a:rPr>
              <a:t>r fr</a:t>
            </a:r>
            <a:r>
              <a:rPr lang="en-GB" altLang="en-US" sz="3200" spc="-30" dirty="0">
                <a:solidFill>
                  <a:srgbClr val="FF0000"/>
                </a:solidFill>
              </a:rPr>
              <a:t>om…import statements</a:t>
            </a:r>
            <a:r>
              <a:rPr lang="en-GB" altLang="en-US" sz="3200" dirty="0">
                <a:solidFill>
                  <a:srgbClr val="FF0000"/>
                </a:solidFill>
              </a:rPr>
              <a:t> (they </a:t>
            </a:r>
            <a:r>
              <a:rPr lang="en-GB" altLang="en-US" sz="3200" dirty="0" smtClean="0">
                <a:solidFill>
                  <a:srgbClr val="FF0000"/>
                </a:solidFill>
              </a:rPr>
              <a:t>are still the </a:t>
            </a:r>
            <a:r>
              <a:rPr lang="en-GB" altLang="en-US" sz="3200" dirty="0">
                <a:solidFill>
                  <a:srgbClr val="FF0000"/>
                </a:solidFill>
              </a:rPr>
              <a:t>old objects</a:t>
            </a:r>
            <a:r>
              <a:rPr lang="en-GB" altLang="en-US" sz="3200" dirty="0" smtClean="0">
                <a:solidFill>
                  <a:srgbClr val="FF0000"/>
                </a:solidFill>
              </a:rPr>
              <a:t>):</a:t>
            </a:r>
            <a:r>
              <a:rPr lang="ar-SA" altLang="en-US" sz="3200" dirty="0" smtClean="0">
                <a:solidFill>
                  <a:srgbClr val="FF0000"/>
                </a:solidFill>
              </a:rPr>
              <a:t>‏</a:t>
            </a:r>
            <a:endParaRPr lang="en-US" altLang="en-US" sz="3200" dirty="0">
              <a:solidFill>
                <a:srgbClr val="FF0000"/>
              </a:solidFill>
              <a:cs typeface="Arial" pitchFamily="34" charset="0"/>
            </a:endParaRPr>
          </a:p>
          <a:p>
            <a:pPr marL="1009650" lvl="2" indent="0">
              <a:lnSpc>
                <a:spcPct val="70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dirty="0" smtClean="0">
                <a:solidFill>
                  <a:srgbClr val="0C77C3"/>
                </a:solidFill>
                <a:cs typeface="Arial" pitchFamily="34" charset="0"/>
              </a:rPr>
              <a:t>	% print('Is it "',</a:t>
            </a:r>
            <a:r>
              <a:rPr lang="en-US" altLang="en-US" sz="2800" dirty="0" err="1" smtClean="0">
                <a:solidFill>
                  <a:srgbClr val="0C77C3"/>
                </a:solidFill>
                <a:cs typeface="Arial" pitchFamily="34" charset="0"/>
              </a:rPr>
              <a:t>VarZ</a:t>
            </a:r>
            <a:r>
              <a:rPr lang="en-US" altLang="en-US" sz="2800" dirty="0" smtClean="0">
                <a:solidFill>
                  <a:srgbClr val="0C77C3"/>
                </a:solidFill>
                <a:cs typeface="Arial" pitchFamily="34" charset="0"/>
              </a:rPr>
              <a:t>, '" or is it "',</a:t>
            </a:r>
            <a:r>
              <a:rPr lang="en-US" altLang="en-US" sz="2800" dirty="0" err="1" smtClean="0">
                <a:solidFill>
                  <a:srgbClr val="0C77C3"/>
                </a:solidFill>
                <a:cs typeface="Arial" pitchFamily="34" charset="0"/>
              </a:rPr>
              <a:t>moduleX.VarZ</a:t>
            </a:r>
            <a:r>
              <a:rPr lang="en-US" altLang="en-US" sz="2800" dirty="0" smtClean="0">
                <a:solidFill>
                  <a:srgbClr val="0C77C3"/>
                </a:solidFill>
                <a:cs typeface="Arial" pitchFamily="34" charset="0"/>
              </a:rPr>
              <a:t>,'"?')</a:t>
            </a:r>
            <a:endParaRPr lang="en-US" altLang="en-US" sz="2800" dirty="0">
              <a:solidFill>
                <a:srgbClr val="0C77C3"/>
              </a:solidFill>
              <a:cs typeface="Arial" pitchFamily="34" charset="0"/>
            </a:endParaRPr>
          </a:p>
          <a:p>
            <a:pPr marL="1009650" lvl="2" indent="0">
              <a:lnSpc>
                <a:spcPct val="70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dirty="0" smtClean="0">
                <a:solidFill>
                  <a:srgbClr val="0C77C3"/>
                </a:solidFill>
                <a:cs typeface="Arial" pitchFamily="34" charset="0"/>
              </a:rPr>
              <a:t>	Is it "Hello" or is it "Goodbye"?</a:t>
            </a:r>
            <a:endParaRPr lang="en-US" altLang="en-US" sz="2800" dirty="0">
              <a:solidFill>
                <a:srgbClr val="0C77C3"/>
              </a:solidFill>
              <a:cs typeface="Arial" pitchFamily="34" charset="0"/>
            </a:endParaRPr>
          </a:p>
          <a:p>
            <a:pPr marL="1009650" lvl="2" indent="0">
              <a:lnSpc>
                <a:spcPct val="70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dirty="0" smtClean="0">
              <a:solidFill>
                <a:prstClr val="black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64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-438942" y="41442"/>
            <a:ext cx="10607674" cy="117775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00" dirty="0">
                <a:solidFill>
                  <a:srgbClr val="0C77C3"/>
                </a:solidFill>
                <a:latin typeface="Elephant" panose="02020904090505020303" pitchFamily="18" charset="0"/>
              </a:rPr>
              <a:t>Packages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 lvl="0">
              <a:defRPr/>
            </a:pP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74043" y="886968"/>
            <a:ext cx="9458510" cy="5735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TW" sz="39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A directory of Python code is a </a:t>
            </a:r>
            <a:r>
              <a:rPr kumimoji="0" lang="en-US" altLang="zh-TW" sz="39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package</a:t>
            </a:r>
            <a:r>
              <a:rPr kumimoji="0" lang="en-US" altLang="zh-TW" sz="39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.</a:t>
            </a:r>
            <a:endParaRPr kumimoji="0" lang="en-US" altLang="zh-TW" sz="13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9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import a module from a package, you need to give the directory path, like this:</a:t>
            </a:r>
            <a:endParaRPr kumimoji="0" lang="en-US" sz="35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 </a:t>
            </a:r>
            <a:r>
              <a:rPr kumimoji="0" lang="en-US" sz="3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import </a:t>
            </a:r>
            <a:r>
              <a:rPr kumimoji="0" lang="en-US" sz="3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dir1</a:t>
            </a:r>
            <a:r>
              <a:rPr kumimoji="0" lang="en-US" sz="34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.</a:t>
            </a:r>
            <a:r>
              <a:rPr kumimoji="0" lang="en-US" sz="3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dir2</a:t>
            </a:r>
            <a:r>
              <a:rPr kumimoji="0" lang="en-US" sz="34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.</a:t>
            </a:r>
            <a:r>
              <a:rPr kumimoji="0" lang="en-US" sz="3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module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914400" marR="0" lvl="0" indent="-288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dir1</a:t>
            </a:r>
            <a:r>
              <a:rPr kumimoji="0" lang="en-US" sz="3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9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must be a subdirectory of one of the directories in </a:t>
            </a:r>
            <a:r>
              <a:rPr kumimoji="0" lang="en-US" sz="39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sys.path</a:t>
            </a:r>
            <a:endParaRPr kumimoji="0" lang="en-US" sz="39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914400" marR="0" lvl="1" indent="-288925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TW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anose="02020500000000000000" pitchFamily="18" charset="-120"/>
                <a:cs typeface="+mn-cs"/>
              </a:rPr>
              <a:t>dir2</a:t>
            </a:r>
            <a:r>
              <a:rPr kumimoji="0" lang="en-US" altLang="zh-TW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must be a subdirectory of it</a:t>
            </a:r>
          </a:p>
          <a:p>
            <a:pPr marL="971550" marR="0" lvl="2" indent="-346075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TW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anose="02020500000000000000" pitchFamily="18" charset="-120"/>
                <a:cs typeface="+mn-cs"/>
              </a:rPr>
              <a:t>module</a:t>
            </a:r>
            <a:r>
              <a:rPr kumimoji="0" lang="en-US" altLang="zh-TW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3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must be a file within </a:t>
            </a:r>
            <a:r>
              <a:rPr kumimoji="0" lang="en-US" altLang="zh-TW" sz="3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anose="02020500000000000000" pitchFamily="18" charset="-120"/>
                <a:cs typeface="+mn-cs"/>
              </a:rPr>
              <a:t>dir2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261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93291" y="886968"/>
            <a:ext cx="9458510" cy="58088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3900" dirty="0" smtClean="0">
                <a:solidFill>
                  <a:sysClr val="windowText" lastClr="000000"/>
                </a:solidFill>
                <a:latin typeface="Calibri"/>
              </a:rPr>
              <a:t>Consider</a:t>
            </a:r>
            <a:r>
              <a:rPr kumimoji="0" lang="en-US" altLang="en-US" sz="39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 the following directory structure: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4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9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Then we can import one of the modules from the package, like </a:t>
            </a:r>
            <a:r>
              <a:rPr lang="en-US" altLang="en-US" sz="3900" dirty="0" smtClean="0">
                <a:solidFill>
                  <a:sysClr val="windowText" lastClr="000000"/>
                </a:solidFill>
                <a:latin typeface="Calibri"/>
              </a:rPr>
              <a:t>this</a:t>
            </a:r>
            <a:r>
              <a:rPr kumimoji="0" lang="en-US" altLang="en-US" sz="39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endParaRPr kumimoji="0" lang="en-US" sz="39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  import </a:t>
            </a:r>
            <a:r>
              <a:rPr kumimoji="0" lang="en-US" sz="35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sound.effects.echo</a:t>
            </a:r>
            <a:endParaRPr kumimoji="0" lang="en-US" sz="35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70612" y="1415716"/>
            <a:ext cx="8610600" cy="33848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sound/              Top-level package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   __init__.py      Initialize the sound package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   formats/         </a:t>
            </a:r>
            <a:r>
              <a:rPr lang="en-US" altLang="en-US" sz="2200" dirty="0" err="1" smtClean="0">
                <a:latin typeface="Lucida Console" panose="020B0609040504020204" pitchFamily="49" charset="0"/>
                <a:cs typeface="Courier New" pitchFamily="49" charset="0"/>
              </a:rPr>
              <a:t>Subpackage</a:t>
            </a: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 for format convert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        __init__.py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        wavread.py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        wavwrite.py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        ...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   effects/        </a:t>
            </a:r>
            <a:r>
              <a:rPr lang="en-US" altLang="en-US" sz="2200" dirty="0" err="1" smtClean="0">
                <a:latin typeface="Lucida Console" panose="020B0609040504020204" pitchFamily="49" charset="0"/>
                <a:cs typeface="Courier New" pitchFamily="49" charset="0"/>
              </a:rPr>
              <a:t>Subpackage</a:t>
            </a: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 for sound effects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        __init__.py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        echo.py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2000" dirty="0">
              <a:solidFill>
                <a:prstClr val="black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-438942" y="41442"/>
            <a:ext cx="10607674" cy="117775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00" dirty="0">
                <a:solidFill>
                  <a:srgbClr val="0C77C3"/>
                </a:solidFill>
                <a:latin typeface="Elephant" panose="02020904090505020303" pitchFamily="18" charset="0"/>
              </a:rPr>
              <a:t>Packages</a:t>
            </a:r>
          </a:p>
        </p:txBody>
      </p:sp>
    </p:spTree>
    <p:extLst>
      <p:ext uri="{BB962C8B-B14F-4D97-AF65-F5344CB8AC3E}">
        <p14:creationId xmlns:p14="http://schemas.microsoft.com/office/powerpoint/2010/main" val="2835329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93291" y="886968"/>
            <a:ext cx="9458510" cy="58088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3900" dirty="0" smtClean="0">
                <a:solidFill>
                  <a:sysClr val="windowText" lastClr="000000"/>
                </a:solidFill>
                <a:latin typeface="Calibri"/>
              </a:rPr>
              <a:t>Consider</a:t>
            </a:r>
            <a:r>
              <a:rPr kumimoji="0" lang="en-US" altLang="en-US" sz="39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 the following directory structure: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4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9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Then we can import one of the modules from the package, like </a:t>
            </a:r>
            <a:r>
              <a:rPr lang="en-US" altLang="en-US" sz="3900" dirty="0" smtClean="0">
                <a:solidFill>
                  <a:sysClr val="windowText" lastClr="000000"/>
                </a:solidFill>
                <a:latin typeface="Calibri"/>
              </a:rPr>
              <a:t>this</a:t>
            </a:r>
            <a:r>
              <a:rPr kumimoji="0" lang="en-US" altLang="en-US" sz="39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endParaRPr kumimoji="0" lang="en-US" sz="39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  import </a:t>
            </a:r>
            <a:r>
              <a:rPr kumimoji="0" lang="en-US" sz="35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sound.effects.echo</a:t>
            </a:r>
            <a:endParaRPr kumimoji="0" lang="en-US" sz="35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70612" y="1417320"/>
            <a:ext cx="8610600" cy="33848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sound/              Top-level package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20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  __init__.py      </a:t>
            </a: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Initialize the sound package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   formats/         </a:t>
            </a:r>
            <a:r>
              <a:rPr lang="en-US" altLang="en-US" sz="2200" dirty="0" err="1" smtClean="0">
                <a:latin typeface="Lucida Console" panose="020B0609040504020204" pitchFamily="49" charset="0"/>
                <a:cs typeface="Courier New" pitchFamily="49" charset="0"/>
              </a:rPr>
              <a:t>Subpackage</a:t>
            </a: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 for format convert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        </a:t>
            </a:r>
            <a:r>
              <a:rPr lang="en-US" altLang="en-US" sz="220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__init__.py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        wavread.py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        wavwrite.py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        ...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   effects/        </a:t>
            </a:r>
            <a:r>
              <a:rPr lang="en-US" altLang="en-US" sz="2200" dirty="0" err="1" smtClean="0">
                <a:latin typeface="Lucida Console" panose="020B0609040504020204" pitchFamily="49" charset="0"/>
                <a:cs typeface="Courier New" pitchFamily="49" charset="0"/>
              </a:rPr>
              <a:t>Subpackage</a:t>
            </a: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 for sound effects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        </a:t>
            </a:r>
            <a:r>
              <a:rPr lang="en-US" altLang="en-US" sz="220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__init__.py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200" dirty="0" smtClean="0">
                <a:latin typeface="Lucida Console" panose="020B0609040504020204" pitchFamily="49" charset="0"/>
                <a:cs typeface="Courier New" pitchFamily="49" charset="0"/>
              </a:rPr>
              <a:t>        echo.py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2000" dirty="0">
              <a:solidFill>
                <a:prstClr val="black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-438942" y="41442"/>
            <a:ext cx="10607674" cy="117775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00" dirty="0">
                <a:solidFill>
                  <a:srgbClr val="0C77C3"/>
                </a:solidFill>
                <a:latin typeface="Elephant" panose="02020904090505020303" pitchFamily="18" charset="0"/>
              </a:rPr>
              <a:t>Packages</a:t>
            </a:r>
          </a:p>
        </p:txBody>
      </p:sp>
    </p:spTree>
    <p:extLst>
      <p:ext uri="{BB962C8B-B14F-4D97-AF65-F5344CB8AC3E}">
        <p14:creationId xmlns:p14="http://schemas.microsoft.com/office/powerpoint/2010/main" val="317829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idx="1"/>
          </p:nvPr>
        </p:nvSpPr>
        <p:spPr>
          <a:xfrm>
            <a:off x="202131" y="886968"/>
            <a:ext cx="9201751" cy="5751094"/>
          </a:xfrm>
        </p:spPr>
        <p:txBody>
          <a:bodyPr>
            <a:noAutofit/>
          </a:bodyPr>
          <a:lstStyle/>
          <a:p>
            <a:pPr marL="346075" indent="-250825">
              <a:buSzPct val="100000"/>
              <a:tabLst>
                <a:tab pos="115888" algn="l"/>
                <a:tab pos="568325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>
                <a:solidFill>
                  <a:srgbClr val="FF0000"/>
                </a:solidFill>
              </a:rPr>
              <a:t>When using Python packages, each directory in the path needs to have an __init__.py file.</a:t>
            </a:r>
          </a:p>
          <a:p>
            <a:pPr marL="625475" lvl="1" indent="-220663">
              <a:buSzPct val="100000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200" dirty="0"/>
              <a:t>So, if you don’t want one: make it an empty file.</a:t>
            </a:r>
          </a:p>
          <a:p>
            <a:pPr marL="346075" indent="-250825">
              <a:spcBef>
                <a:spcPts val="3000"/>
              </a:spcBef>
              <a:buSzPct val="100000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>
                <a:solidFill>
                  <a:srgbClr val="FF0000"/>
                </a:solidFill>
              </a:rPr>
              <a:t>W</a:t>
            </a:r>
            <a:r>
              <a:rPr lang="en-GB" altLang="en-US" sz="3600" dirty="0" smtClean="0">
                <a:solidFill>
                  <a:srgbClr val="FF0000"/>
                </a:solidFill>
              </a:rPr>
              <a:t>hat </a:t>
            </a:r>
            <a:r>
              <a:rPr lang="en-GB" altLang="en-US" sz="3600" dirty="0">
                <a:solidFill>
                  <a:srgbClr val="FF0000"/>
                </a:solidFill>
              </a:rPr>
              <a:t>is the purpose of the __init__.py file?</a:t>
            </a:r>
          </a:p>
          <a:p>
            <a:pPr marL="625475" lvl="1" indent="-220663">
              <a:buSzPct val="100000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200" dirty="0"/>
              <a:t>When Python first imports </a:t>
            </a:r>
            <a:r>
              <a:rPr lang="en-GB" altLang="en-US" sz="3200" dirty="0" smtClean="0"/>
              <a:t>from </a:t>
            </a:r>
            <a:r>
              <a:rPr lang="en-GB" altLang="en-US" sz="3200" dirty="0"/>
              <a:t>this directory, it:</a:t>
            </a:r>
          </a:p>
          <a:p>
            <a:pPr marL="1087438" lvl="2" indent="-404813">
              <a:buSzPct val="85000"/>
              <a:buFont typeface="+mj-lt"/>
              <a:buAutoNum type="arabicPeriod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200" dirty="0">
                <a:solidFill>
                  <a:srgbClr val="FF0000"/>
                </a:solidFill>
              </a:rPr>
              <a:t>Runs the code in the __init__.py file.</a:t>
            </a:r>
          </a:p>
          <a:p>
            <a:pPr marL="1087438" lvl="2" indent="-404813">
              <a:buSzPct val="85000"/>
              <a:buFont typeface="+mj-lt"/>
              <a:buAutoNum type="arabicPeriod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200" dirty="0">
                <a:solidFill>
                  <a:srgbClr val="FF0000"/>
                </a:solidFill>
              </a:rPr>
              <a:t>Creates a </a:t>
            </a:r>
            <a:r>
              <a:rPr lang="en-GB" altLang="en-US" sz="3200" i="1" dirty="0">
                <a:solidFill>
                  <a:srgbClr val="FF0000"/>
                </a:solidFill>
              </a:rPr>
              <a:t>namespace</a:t>
            </a:r>
            <a:r>
              <a:rPr lang="en-GB" altLang="en-US" sz="3200" dirty="0">
                <a:solidFill>
                  <a:srgbClr val="FF0000"/>
                </a:solidFill>
              </a:rPr>
              <a:t> of everything assigned in __init__.py </a:t>
            </a:r>
            <a:r>
              <a:rPr lang="en-GB" altLang="en-US" sz="2800" dirty="0">
                <a:solidFill>
                  <a:srgbClr val="FF0000"/>
                </a:solidFill>
              </a:rPr>
              <a:t/>
            </a:r>
            <a:br>
              <a:rPr lang="en-GB" altLang="en-US" sz="2800" dirty="0">
                <a:solidFill>
                  <a:srgbClr val="FF0000"/>
                </a:solidFill>
              </a:rPr>
            </a:br>
            <a:endParaRPr lang="en-GB" altLang="en-US" sz="1600" dirty="0">
              <a:solidFill>
                <a:srgbClr val="FF0000"/>
              </a:solidFill>
            </a:endParaRPr>
          </a:p>
          <a:p>
            <a:pPr marL="95250" indent="0" algn="ctr"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200" i="1" spc="-70" dirty="0"/>
              <a:t>In the previous slide’s example, namespace </a:t>
            </a:r>
            <a:r>
              <a:rPr lang="en-GB" altLang="en-US" sz="3200" b="1" spc="-70" dirty="0" err="1" smtClean="0">
                <a:solidFill>
                  <a:srgbClr val="FF0000"/>
                </a:solidFill>
              </a:rPr>
              <a:t>sound.effects</a:t>
            </a:r>
            <a:r>
              <a:rPr lang="en-GB" altLang="en-US" sz="3200" i="1" spc="-70" dirty="0" smtClean="0"/>
              <a:t> </a:t>
            </a:r>
            <a:r>
              <a:rPr lang="en-GB" altLang="en-US" sz="3200" i="1" spc="-70" dirty="0"/>
              <a:t/>
            </a:r>
            <a:br>
              <a:rPr lang="en-GB" altLang="en-US" sz="3200" i="1" spc="-70" dirty="0"/>
            </a:br>
            <a:r>
              <a:rPr lang="en-GB" altLang="en-US" sz="3200" i="1" spc="-70" dirty="0" smtClean="0"/>
              <a:t>exists </a:t>
            </a:r>
            <a:r>
              <a:rPr lang="en-GB" altLang="en-US" sz="3200" i="1" spc="-70" dirty="0"/>
              <a:t>with names from </a:t>
            </a:r>
            <a:r>
              <a:rPr lang="en-GB" altLang="en-US" sz="3200" i="1" spc="-70" dirty="0" smtClean="0"/>
              <a:t>that directory's </a:t>
            </a:r>
            <a:r>
              <a:rPr lang="en-GB" altLang="en-US" sz="3200" i="1" spc="-70" dirty="0">
                <a:solidFill>
                  <a:srgbClr val="FF0000"/>
                </a:solidFill>
              </a:rPr>
              <a:t>__init__.py </a:t>
            </a:r>
            <a:r>
              <a:rPr lang="en-GB" altLang="en-US" sz="3200" i="1" spc="-70" dirty="0"/>
              <a:t>file.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264694" y="-1137330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 lvl="0"/>
            <a:endParaRPr kumimoji="0" lang="en-US" b="0" i="0" u="none" strike="noStrike" kern="1200" cap="none" normalizeH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-438942" y="41442"/>
            <a:ext cx="10607674" cy="117775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00" dirty="0">
                <a:solidFill>
                  <a:srgbClr val="0C77C3"/>
                </a:solidFill>
                <a:latin typeface="Elephant" panose="02020904090505020303" pitchFamily="18" charset="0"/>
              </a:rPr>
              <a:t>__init__.py Files</a:t>
            </a:r>
          </a:p>
        </p:txBody>
      </p:sp>
    </p:spTree>
    <p:extLst>
      <p:ext uri="{BB962C8B-B14F-4D97-AF65-F5344CB8AC3E}">
        <p14:creationId xmlns:p14="http://schemas.microsoft.com/office/powerpoint/2010/main" val="242998406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1359694" y="-1295400"/>
            <a:ext cx="8210550" cy="104616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endParaRPr lang="en-GB" altLang="en-US" dirty="0">
              <a:solidFill>
                <a:srgbClr val="0070C0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88758" y="886968"/>
            <a:ext cx="9326880" cy="5693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800" b="0" i="0" u="none" strike="noStrike" kern="1200" cap="none" spc="-1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These are byte-compiled versions of modules </a:t>
            </a:r>
            <a:r>
              <a:rPr kumimoji="0" lang="en-US" altLang="en-US" sz="3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that end in “</a:t>
            </a:r>
            <a:r>
              <a:rPr kumimoji="0" lang="en-US" altLang="en-US" sz="3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r>
              <a:rPr kumimoji="0" lang="en-US" altLang="en-US" sz="3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pyc</a:t>
            </a:r>
            <a:r>
              <a:rPr kumimoji="0" lang="en-US" altLang="en-US" sz="3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” instead of “</a:t>
            </a:r>
            <a:r>
              <a:rPr kumimoji="0" lang="en-US" altLang="en-US" sz="3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r>
              <a:rPr kumimoji="0" lang="en-US" altLang="en-US" sz="3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py</a:t>
            </a:r>
            <a:r>
              <a:rPr kumimoji="0" lang="en-US" altLang="en-US" sz="3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”.</a:t>
            </a:r>
            <a:endParaRPr kumimoji="0" lang="en-US" altLang="en-US" sz="38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lvl="1">
              <a:spcBef>
                <a:spcPts val="1200"/>
              </a:spcBef>
              <a:defRPr/>
            </a:pPr>
            <a:r>
              <a:rPr lang="en-US" altLang="en-US" sz="3400" dirty="0" smtClean="0">
                <a:solidFill>
                  <a:sysClr val="windowText" lastClr="000000"/>
                </a:solidFill>
              </a:rPr>
              <a:t>Byte-code </a:t>
            </a:r>
            <a:r>
              <a:rPr lang="en-US" altLang="en-US" sz="3400" dirty="0">
                <a:solidFill>
                  <a:sysClr val="windowText" lastClr="000000"/>
                </a:solidFill>
              </a:rPr>
              <a:t>is platform </a:t>
            </a:r>
            <a:r>
              <a:rPr lang="en-US" altLang="en-US" sz="3400" dirty="0" smtClean="0">
                <a:solidFill>
                  <a:sysClr val="windowText" lastClr="000000"/>
                </a:solidFill>
              </a:rPr>
              <a:t>independent.</a:t>
            </a:r>
            <a:endParaRPr lang="en-US" altLang="en-US" sz="3400" dirty="0">
              <a:solidFill>
                <a:sysClr val="windowText" lastClr="000000"/>
              </a:solidFill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3400" dirty="0" err="1" smtClean="0">
                <a:solidFill>
                  <a:sysClr val="windowText" lastClr="000000"/>
                </a:solidFill>
                <a:latin typeface="Calibri"/>
              </a:rPr>
              <a:t>Pyc</a:t>
            </a:r>
            <a:r>
              <a:rPr lang="en-US" altLang="en-US" sz="3400" dirty="0" smtClean="0">
                <a:solidFill>
                  <a:sysClr val="windowText" lastClr="000000"/>
                </a:solidFill>
                <a:latin typeface="Calibri"/>
              </a:rPr>
              <a:t> files are used </a:t>
            </a:r>
            <a:r>
              <a:rPr kumimoji="0" lang="en-US" altLang="en-US" sz="3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hide the X.py source code.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 </a:t>
            </a:r>
            <a:r>
              <a:rPr kumimoji="0" lang="en-US" alt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pyc</a:t>
            </a:r>
            <a:r>
              <a:rPr kumimoji="0" lang="en-US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files are used to get a slight speed up.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 doesn't run any faster, but it may </a:t>
            </a:r>
            <a:r>
              <a:rPr kumimoji="0" lang="en-US" alt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load</a:t>
            </a:r>
            <a:r>
              <a:rPr kumimoji="0" lang="en-US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faster.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dirty="0" smtClean="0">
                <a:solidFill>
                  <a:sysClr val="windowText" lastClr="000000"/>
                </a:solidFill>
                <a:latin typeface="Calibri"/>
              </a:rPr>
              <a:t>S</a:t>
            </a:r>
            <a:r>
              <a:rPr kumimoji="0" lang="en-US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o, sometimes, the same directory may contain both the </a:t>
            </a:r>
            <a:r>
              <a:rPr kumimoji="0" lang="en-US" alt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X.pyc</a:t>
            </a:r>
            <a:r>
              <a:rPr kumimoji="0" lang="en-US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X.py files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-438942" y="41442"/>
            <a:ext cx="10607674" cy="117775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00" dirty="0">
                <a:solidFill>
                  <a:srgbClr val="0C77C3"/>
                </a:solidFill>
                <a:latin typeface="Elephant" panose="02020904090505020303" pitchFamily="18" charset="0"/>
              </a:rPr>
              <a:t>Some Packages Have </a:t>
            </a:r>
            <a:r>
              <a:rPr lang="en-US" sz="4800" dirty="0">
                <a:solidFill>
                  <a:srgbClr val="FF0000"/>
                </a:solidFill>
                <a:latin typeface="Elephant" panose="02020904090505020303" pitchFamily="18" charset="0"/>
              </a:rPr>
              <a:t>.</a:t>
            </a:r>
            <a:r>
              <a:rPr lang="en-US" sz="4800" dirty="0" err="1">
                <a:solidFill>
                  <a:srgbClr val="FF0000"/>
                </a:solidFill>
                <a:latin typeface="Elephant" panose="02020904090505020303" pitchFamily="18" charset="0"/>
              </a:rPr>
              <a:t>pyc</a:t>
            </a:r>
            <a:r>
              <a:rPr lang="en-US" sz="4800" dirty="0">
                <a:solidFill>
                  <a:srgbClr val="0C77C3"/>
                </a:solidFill>
                <a:latin typeface="Elephant" panose="02020904090505020303" pitchFamily="18" charset="0"/>
              </a:rPr>
              <a:t> Files</a:t>
            </a:r>
          </a:p>
        </p:txBody>
      </p:sp>
    </p:spTree>
    <p:extLst>
      <p:ext uri="{BB962C8B-B14F-4D97-AF65-F5344CB8AC3E}">
        <p14:creationId xmlns:p14="http://schemas.microsoft.com/office/powerpoint/2010/main" val="15753030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0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13198</TotalTime>
  <Words>10809</Words>
  <Application>Microsoft Office PowerPoint</Application>
  <PresentationFormat>Custom</PresentationFormat>
  <Paragraphs>1708</Paragraphs>
  <Slides>112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112</vt:i4>
      </vt:variant>
    </vt:vector>
  </HeadingPairs>
  <TitlesOfParts>
    <vt:vector size="141" baseType="lpstr">
      <vt:lpstr>ＭＳ Ｐゴシック</vt:lpstr>
      <vt:lpstr>ＭＳ Ｐゴシック</vt:lpstr>
      <vt:lpstr>新細明體</vt:lpstr>
      <vt:lpstr>Agency FB</vt:lpstr>
      <vt:lpstr>Arial</vt:lpstr>
      <vt:lpstr>Arial Black</vt:lpstr>
      <vt:lpstr>Arial Narrow</vt:lpstr>
      <vt:lpstr>Calibri</vt:lpstr>
      <vt:lpstr>Calibri Light</vt:lpstr>
      <vt:lpstr>Consolas</vt:lpstr>
      <vt:lpstr>Cooper Black</vt:lpstr>
      <vt:lpstr>Courier New</vt:lpstr>
      <vt:lpstr>Elephant</vt:lpstr>
      <vt:lpstr>Franklin Gothic Heavy</vt:lpstr>
      <vt:lpstr>Leelawadee UI</vt:lpstr>
      <vt:lpstr>Lucida Bright</vt:lpstr>
      <vt:lpstr>Lucida Console</vt:lpstr>
      <vt:lpstr>Lucida Fax</vt:lpstr>
      <vt:lpstr>Lucida Sans Unicode</vt:lpstr>
      <vt:lpstr>Symbol</vt:lpstr>
      <vt:lpstr>Tahoma</vt:lpstr>
      <vt:lpstr>Times New Roman</vt:lpstr>
      <vt:lpstr>Verdana</vt:lpstr>
      <vt:lpstr>Wingdings</vt:lpstr>
      <vt:lpstr>Office Theme</vt:lpstr>
      <vt:lpstr>2_Office Theme</vt:lpstr>
      <vt:lpstr>4_Default Design</vt:lpstr>
      <vt:lpstr>10_Office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Compared sets only have partial order</vt:lpstr>
      <vt:lpstr>Imposing a full order on a partial order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is  &amp; is not  Operators</vt:lpstr>
      <vt:lpstr>Using is  with Tuples</vt:lpstr>
      <vt:lpstr>Using is  with Tuples</vt:lpstr>
      <vt:lpstr>Using is  with Tuples</vt:lpstr>
      <vt:lpstr>Using is  with Tuples</vt:lpstr>
      <vt:lpstr>Using is  with Tuples</vt:lpstr>
      <vt:lpstr>Using is  with Tuples</vt:lpstr>
      <vt:lpstr>Using is  with Tuples</vt:lpstr>
      <vt:lpstr>Using is  with Tuples</vt:lpstr>
      <vt:lpstr>Using is  with Tuples</vt:lpstr>
      <vt:lpstr>Using is  with Lists</vt:lpstr>
      <vt:lpstr>is</vt:lpstr>
      <vt:lpstr>Using is  with Strings</vt:lpstr>
      <vt:lpstr>Using is  with Strings</vt:lpstr>
      <vt:lpstr>PowerPoint Presentation</vt:lpstr>
      <vt:lpstr>is</vt:lpstr>
      <vt:lpstr>is</vt:lpstr>
      <vt:lpstr>is</vt:lpstr>
      <vt:lpstr>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 control with _...</vt:lpstr>
      <vt:lpstr>The system variables in math</vt:lpstr>
      <vt:lpstr>The system variables in math</vt:lpstr>
      <vt:lpstr>The system variables in math</vt:lpstr>
      <vt:lpstr>The system variables in math</vt:lpstr>
      <vt:lpstr>The system variables in math</vt:lpstr>
      <vt:lpstr>The system variables in math</vt:lpstr>
      <vt:lpstr>The system variables in math</vt:lpstr>
      <vt:lpstr>The system variables in math</vt:lpstr>
      <vt:lpstr>The system variables in math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variable names</dc:title>
  <dc:creator>Steve Haga</dc:creator>
  <cp:lastModifiedBy>Me</cp:lastModifiedBy>
  <cp:revision>541</cp:revision>
  <dcterms:created xsi:type="dcterms:W3CDTF">2017-03-07T03:26:49Z</dcterms:created>
  <dcterms:modified xsi:type="dcterms:W3CDTF">2021-03-17T19:13:02Z</dcterms:modified>
</cp:coreProperties>
</file>