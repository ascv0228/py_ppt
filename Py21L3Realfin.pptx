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20" r:id="rId2"/>
    <p:sldMasterId id="2147483756" r:id="rId3"/>
    <p:sldMasterId id="2147483780" r:id="rId4"/>
    <p:sldMasterId id="2147483792" r:id="rId5"/>
    <p:sldMasterId id="2147483804" r:id="rId6"/>
    <p:sldMasterId id="2147483816" r:id="rId7"/>
    <p:sldMasterId id="2147483828" r:id="rId8"/>
    <p:sldMasterId id="2147483840" r:id="rId9"/>
    <p:sldMasterId id="2147483852" r:id="rId10"/>
  </p:sldMasterIdLst>
  <p:notesMasterIdLst>
    <p:notesMasterId r:id="rId190"/>
  </p:notesMasterIdLst>
  <p:sldIdLst>
    <p:sldId id="565" r:id="rId11"/>
    <p:sldId id="443" r:id="rId12"/>
    <p:sldId id="444" r:id="rId13"/>
    <p:sldId id="705" r:id="rId14"/>
    <p:sldId id="679" r:id="rId15"/>
    <p:sldId id="706" r:id="rId16"/>
    <p:sldId id="445" r:id="rId17"/>
    <p:sldId id="616" r:id="rId18"/>
    <p:sldId id="446" r:id="rId19"/>
    <p:sldId id="447" r:id="rId20"/>
    <p:sldId id="448" r:id="rId21"/>
    <p:sldId id="694" r:id="rId22"/>
    <p:sldId id="578" r:id="rId23"/>
    <p:sldId id="372" r:id="rId24"/>
    <p:sldId id="416" r:id="rId25"/>
    <p:sldId id="417" r:id="rId26"/>
    <p:sldId id="418" r:id="rId27"/>
    <p:sldId id="419" r:id="rId28"/>
    <p:sldId id="913" r:id="rId29"/>
    <p:sldId id="421" r:id="rId30"/>
    <p:sldId id="422" r:id="rId31"/>
    <p:sldId id="423" r:id="rId32"/>
    <p:sldId id="424" r:id="rId33"/>
    <p:sldId id="425" r:id="rId34"/>
    <p:sldId id="426" r:id="rId35"/>
    <p:sldId id="427" r:id="rId36"/>
    <p:sldId id="428" r:id="rId37"/>
    <p:sldId id="429" r:id="rId38"/>
    <p:sldId id="430" r:id="rId39"/>
    <p:sldId id="431" r:id="rId40"/>
    <p:sldId id="432" r:id="rId41"/>
    <p:sldId id="433" r:id="rId42"/>
    <p:sldId id="434" r:id="rId43"/>
    <p:sldId id="435" r:id="rId44"/>
    <p:sldId id="576" r:id="rId45"/>
    <p:sldId id="707" r:id="rId46"/>
    <p:sldId id="708" r:id="rId47"/>
    <p:sldId id="709" r:id="rId48"/>
    <p:sldId id="710" r:id="rId49"/>
    <p:sldId id="711" r:id="rId50"/>
    <p:sldId id="712" r:id="rId51"/>
    <p:sldId id="713" r:id="rId52"/>
    <p:sldId id="714" r:id="rId53"/>
    <p:sldId id="715" r:id="rId54"/>
    <p:sldId id="716" r:id="rId55"/>
    <p:sldId id="717" r:id="rId56"/>
    <p:sldId id="718" r:id="rId57"/>
    <p:sldId id="719" r:id="rId58"/>
    <p:sldId id="720" r:id="rId59"/>
    <p:sldId id="721" r:id="rId60"/>
    <p:sldId id="722" r:id="rId61"/>
    <p:sldId id="723" r:id="rId62"/>
    <p:sldId id="724" r:id="rId63"/>
    <p:sldId id="725" r:id="rId64"/>
    <p:sldId id="726" r:id="rId65"/>
    <p:sldId id="727" r:id="rId66"/>
    <p:sldId id="728" r:id="rId67"/>
    <p:sldId id="729" r:id="rId68"/>
    <p:sldId id="730" r:id="rId69"/>
    <p:sldId id="731" r:id="rId70"/>
    <p:sldId id="732" r:id="rId71"/>
    <p:sldId id="733" r:id="rId72"/>
    <p:sldId id="734" r:id="rId73"/>
    <p:sldId id="735" r:id="rId74"/>
    <p:sldId id="736" r:id="rId75"/>
    <p:sldId id="854" r:id="rId76"/>
    <p:sldId id="855" r:id="rId77"/>
    <p:sldId id="856" r:id="rId78"/>
    <p:sldId id="857" r:id="rId79"/>
    <p:sldId id="919" r:id="rId80"/>
    <p:sldId id="859" r:id="rId81"/>
    <p:sldId id="860" r:id="rId82"/>
    <p:sldId id="933" r:id="rId83"/>
    <p:sldId id="938" r:id="rId84"/>
    <p:sldId id="908" r:id="rId85"/>
    <p:sldId id="939" r:id="rId86"/>
    <p:sldId id="868" r:id="rId87"/>
    <p:sldId id="869" r:id="rId88"/>
    <p:sldId id="870" r:id="rId89"/>
    <p:sldId id="871" r:id="rId90"/>
    <p:sldId id="872" r:id="rId91"/>
    <p:sldId id="879" r:id="rId92"/>
    <p:sldId id="874" r:id="rId93"/>
    <p:sldId id="878" r:id="rId94"/>
    <p:sldId id="877" r:id="rId95"/>
    <p:sldId id="876" r:id="rId96"/>
    <p:sldId id="875" r:id="rId97"/>
    <p:sldId id="881" r:id="rId98"/>
    <p:sldId id="882" r:id="rId99"/>
    <p:sldId id="880" r:id="rId100"/>
    <p:sldId id="883" r:id="rId101"/>
    <p:sldId id="884" r:id="rId102"/>
    <p:sldId id="890" r:id="rId103"/>
    <p:sldId id="907" r:id="rId104"/>
    <p:sldId id="889" r:id="rId105"/>
    <p:sldId id="891" r:id="rId106"/>
    <p:sldId id="885" r:id="rId107"/>
    <p:sldId id="906" r:id="rId108"/>
    <p:sldId id="905" r:id="rId109"/>
    <p:sldId id="904" r:id="rId110"/>
    <p:sldId id="903" r:id="rId111"/>
    <p:sldId id="902" r:id="rId112"/>
    <p:sldId id="897" r:id="rId113"/>
    <p:sldId id="901" r:id="rId114"/>
    <p:sldId id="900" r:id="rId115"/>
    <p:sldId id="899" r:id="rId116"/>
    <p:sldId id="742" r:id="rId117"/>
    <p:sldId id="911" r:id="rId118"/>
    <p:sldId id="926" r:id="rId119"/>
    <p:sldId id="929" r:id="rId120"/>
    <p:sldId id="927" r:id="rId121"/>
    <p:sldId id="746" r:id="rId122"/>
    <p:sldId id="940" r:id="rId123"/>
    <p:sldId id="923" r:id="rId124"/>
    <p:sldId id="924" r:id="rId125"/>
    <p:sldId id="921" r:id="rId126"/>
    <p:sldId id="912" r:id="rId127"/>
    <p:sldId id="941" r:id="rId128"/>
    <p:sldId id="949" r:id="rId129"/>
    <p:sldId id="950" r:id="rId130"/>
    <p:sldId id="951" r:id="rId131"/>
    <p:sldId id="952" r:id="rId132"/>
    <p:sldId id="944" r:id="rId133"/>
    <p:sldId id="953" r:id="rId134"/>
    <p:sldId id="946" r:id="rId135"/>
    <p:sldId id="954" r:id="rId136"/>
    <p:sldId id="955" r:id="rId137"/>
    <p:sldId id="956" r:id="rId138"/>
    <p:sldId id="748" r:id="rId139"/>
    <p:sldId id="749" r:id="rId140"/>
    <p:sldId id="750" r:id="rId141"/>
    <p:sldId id="751" r:id="rId142"/>
    <p:sldId id="752" r:id="rId143"/>
    <p:sldId id="753" r:id="rId144"/>
    <p:sldId id="754" r:id="rId145"/>
    <p:sldId id="755" r:id="rId146"/>
    <p:sldId id="756" r:id="rId147"/>
    <p:sldId id="757" r:id="rId148"/>
    <p:sldId id="758" r:id="rId149"/>
    <p:sldId id="759" r:id="rId150"/>
    <p:sldId id="760" r:id="rId151"/>
    <p:sldId id="761" r:id="rId152"/>
    <p:sldId id="762" r:id="rId153"/>
    <p:sldId id="763" r:id="rId154"/>
    <p:sldId id="764" r:id="rId155"/>
    <p:sldId id="765" r:id="rId156"/>
    <p:sldId id="766" r:id="rId157"/>
    <p:sldId id="767" r:id="rId158"/>
    <p:sldId id="768" r:id="rId159"/>
    <p:sldId id="769" r:id="rId160"/>
    <p:sldId id="770" r:id="rId161"/>
    <p:sldId id="771" r:id="rId162"/>
    <p:sldId id="772" r:id="rId163"/>
    <p:sldId id="773" r:id="rId164"/>
    <p:sldId id="774" r:id="rId165"/>
    <p:sldId id="775" r:id="rId166"/>
    <p:sldId id="776" r:id="rId167"/>
    <p:sldId id="777" r:id="rId168"/>
    <p:sldId id="778" r:id="rId169"/>
    <p:sldId id="779" r:id="rId170"/>
    <p:sldId id="780" r:id="rId171"/>
    <p:sldId id="781" r:id="rId172"/>
    <p:sldId id="782" r:id="rId173"/>
    <p:sldId id="783" r:id="rId174"/>
    <p:sldId id="784" r:id="rId175"/>
    <p:sldId id="785" r:id="rId176"/>
    <p:sldId id="786" r:id="rId177"/>
    <p:sldId id="787" r:id="rId178"/>
    <p:sldId id="788" r:id="rId179"/>
    <p:sldId id="789" r:id="rId180"/>
    <p:sldId id="790" r:id="rId181"/>
    <p:sldId id="791" r:id="rId182"/>
    <p:sldId id="795" r:id="rId183"/>
    <p:sldId id="796" r:id="rId184"/>
    <p:sldId id="792" r:id="rId185"/>
    <p:sldId id="793" r:id="rId186"/>
    <p:sldId id="861" r:id="rId187"/>
    <p:sldId id="862" r:id="rId188"/>
    <p:sldId id="794" r:id="rId189"/>
  </p:sldIdLst>
  <p:sldSz cx="972978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F89900"/>
    <a:srgbClr val="F4B400"/>
    <a:srgbClr val="2D2DB9"/>
    <a:srgbClr val="05FF76"/>
    <a:srgbClr val="5B9BFF"/>
    <a:srgbClr val="F3F9FA"/>
    <a:srgbClr val="5B9BD5"/>
    <a:srgbClr val="E7F3F4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103" autoAdjust="0"/>
  </p:normalViewPr>
  <p:slideViewPr>
    <p:cSldViewPr>
      <p:cViewPr varScale="1">
        <p:scale>
          <a:sx n="63" d="100"/>
          <a:sy n="63" d="100"/>
        </p:scale>
        <p:origin x="7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7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63" Type="http://schemas.openxmlformats.org/officeDocument/2006/relationships/slide" Target="slides/slide53.xml"/><Relationship Id="rId84" Type="http://schemas.openxmlformats.org/officeDocument/2006/relationships/slide" Target="slides/slide74.xml"/><Relationship Id="rId138" Type="http://schemas.openxmlformats.org/officeDocument/2006/relationships/slide" Target="slides/slide128.xml"/><Relationship Id="rId159" Type="http://schemas.openxmlformats.org/officeDocument/2006/relationships/slide" Target="slides/slide149.xml"/><Relationship Id="rId170" Type="http://schemas.openxmlformats.org/officeDocument/2006/relationships/slide" Target="slides/slide160.xml"/><Relationship Id="rId191" Type="http://schemas.openxmlformats.org/officeDocument/2006/relationships/presProps" Target="presProps.xml"/><Relationship Id="rId107" Type="http://schemas.openxmlformats.org/officeDocument/2006/relationships/slide" Target="slides/slide97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53" Type="http://schemas.openxmlformats.org/officeDocument/2006/relationships/slide" Target="slides/slide43.xml"/><Relationship Id="rId74" Type="http://schemas.openxmlformats.org/officeDocument/2006/relationships/slide" Target="slides/slide64.xml"/><Relationship Id="rId128" Type="http://schemas.openxmlformats.org/officeDocument/2006/relationships/slide" Target="slides/slide118.xml"/><Relationship Id="rId149" Type="http://schemas.openxmlformats.org/officeDocument/2006/relationships/slide" Target="slides/slide139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5.xml"/><Relationship Id="rId160" Type="http://schemas.openxmlformats.org/officeDocument/2006/relationships/slide" Target="slides/slide150.xml"/><Relationship Id="rId181" Type="http://schemas.openxmlformats.org/officeDocument/2006/relationships/slide" Target="slides/slide171.xml"/><Relationship Id="rId22" Type="http://schemas.openxmlformats.org/officeDocument/2006/relationships/slide" Target="slides/slide12.xml"/><Relationship Id="rId43" Type="http://schemas.openxmlformats.org/officeDocument/2006/relationships/slide" Target="slides/slide33.xml"/><Relationship Id="rId64" Type="http://schemas.openxmlformats.org/officeDocument/2006/relationships/slide" Target="slides/slide54.xml"/><Relationship Id="rId118" Type="http://schemas.openxmlformats.org/officeDocument/2006/relationships/slide" Target="slides/slide108.xml"/><Relationship Id="rId139" Type="http://schemas.openxmlformats.org/officeDocument/2006/relationships/slide" Target="slides/slide129.xml"/><Relationship Id="rId85" Type="http://schemas.openxmlformats.org/officeDocument/2006/relationships/slide" Target="slides/slide75.xml"/><Relationship Id="rId150" Type="http://schemas.openxmlformats.org/officeDocument/2006/relationships/slide" Target="slides/slide140.xml"/><Relationship Id="rId171" Type="http://schemas.openxmlformats.org/officeDocument/2006/relationships/slide" Target="slides/slide161.xml"/><Relationship Id="rId192" Type="http://schemas.openxmlformats.org/officeDocument/2006/relationships/viewProps" Target="viewProps.xml"/><Relationship Id="rId12" Type="http://schemas.openxmlformats.org/officeDocument/2006/relationships/slide" Target="slides/slide2.xml"/><Relationship Id="rId33" Type="http://schemas.openxmlformats.org/officeDocument/2006/relationships/slide" Target="slides/slide23.xml"/><Relationship Id="rId108" Type="http://schemas.openxmlformats.org/officeDocument/2006/relationships/slide" Target="slides/slide98.xml"/><Relationship Id="rId129" Type="http://schemas.openxmlformats.org/officeDocument/2006/relationships/slide" Target="slides/slide119.xml"/><Relationship Id="rId54" Type="http://schemas.openxmlformats.org/officeDocument/2006/relationships/slide" Target="slides/slide44.xml"/><Relationship Id="rId75" Type="http://schemas.openxmlformats.org/officeDocument/2006/relationships/slide" Target="slides/slide65.xml"/><Relationship Id="rId96" Type="http://schemas.openxmlformats.org/officeDocument/2006/relationships/slide" Target="slides/slide86.xml"/><Relationship Id="rId140" Type="http://schemas.openxmlformats.org/officeDocument/2006/relationships/slide" Target="slides/slide130.xml"/><Relationship Id="rId161" Type="http://schemas.openxmlformats.org/officeDocument/2006/relationships/slide" Target="slides/slide151.xml"/><Relationship Id="rId182" Type="http://schemas.openxmlformats.org/officeDocument/2006/relationships/slide" Target="slides/slide172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3.xml"/><Relationship Id="rId119" Type="http://schemas.openxmlformats.org/officeDocument/2006/relationships/slide" Target="slides/slide109.xml"/><Relationship Id="rId44" Type="http://schemas.openxmlformats.org/officeDocument/2006/relationships/slide" Target="slides/slide34.xml"/><Relationship Id="rId65" Type="http://schemas.openxmlformats.org/officeDocument/2006/relationships/slide" Target="slides/slide55.xml"/><Relationship Id="rId86" Type="http://schemas.openxmlformats.org/officeDocument/2006/relationships/slide" Target="slides/slide76.xml"/><Relationship Id="rId130" Type="http://schemas.openxmlformats.org/officeDocument/2006/relationships/slide" Target="slides/slide120.xml"/><Relationship Id="rId151" Type="http://schemas.openxmlformats.org/officeDocument/2006/relationships/slide" Target="slides/slide141.xml"/><Relationship Id="rId172" Type="http://schemas.openxmlformats.org/officeDocument/2006/relationships/slide" Target="slides/slide162.xml"/><Relationship Id="rId193" Type="http://schemas.openxmlformats.org/officeDocument/2006/relationships/theme" Target="theme/theme1.xml"/><Relationship Id="rId13" Type="http://schemas.openxmlformats.org/officeDocument/2006/relationships/slide" Target="slides/slide3.xml"/><Relationship Id="rId109" Type="http://schemas.openxmlformats.org/officeDocument/2006/relationships/slide" Target="slides/slide9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slide" Target="slides/slide66.xml"/><Relationship Id="rId97" Type="http://schemas.openxmlformats.org/officeDocument/2006/relationships/slide" Target="slides/slide87.xml"/><Relationship Id="rId104" Type="http://schemas.openxmlformats.org/officeDocument/2006/relationships/slide" Target="slides/slide94.xml"/><Relationship Id="rId120" Type="http://schemas.openxmlformats.org/officeDocument/2006/relationships/slide" Target="slides/slide110.xml"/><Relationship Id="rId125" Type="http://schemas.openxmlformats.org/officeDocument/2006/relationships/slide" Target="slides/slide115.xml"/><Relationship Id="rId141" Type="http://schemas.openxmlformats.org/officeDocument/2006/relationships/slide" Target="slides/slide131.xml"/><Relationship Id="rId146" Type="http://schemas.openxmlformats.org/officeDocument/2006/relationships/slide" Target="slides/slide136.xml"/><Relationship Id="rId167" Type="http://schemas.openxmlformats.org/officeDocument/2006/relationships/slide" Target="slides/slide157.xml"/><Relationship Id="rId188" Type="http://schemas.openxmlformats.org/officeDocument/2006/relationships/slide" Target="slides/slide178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1.xml"/><Relationship Id="rId92" Type="http://schemas.openxmlformats.org/officeDocument/2006/relationships/slide" Target="slides/slide82.xml"/><Relationship Id="rId162" Type="http://schemas.openxmlformats.org/officeDocument/2006/relationships/slide" Target="slides/slide152.xml"/><Relationship Id="rId183" Type="http://schemas.openxmlformats.org/officeDocument/2006/relationships/slide" Target="slides/slide173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slide" Target="slides/slide56.xml"/><Relationship Id="rId87" Type="http://schemas.openxmlformats.org/officeDocument/2006/relationships/slide" Target="slides/slide77.xml"/><Relationship Id="rId110" Type="http://schemas.openxmlformats.org/officeDocument/2006/relationships/slide" Target="slides/slide100.xml"/><Relationship Id="rId115" Type="http://schemas.openxmlformats.org/officeDocument/2006/relationships/slide" Target="slides/slide105.xml"/><Relationship Id="rId131" Type="http://schemas.openxmlformats.org/officeDocument/2006/relationships/slide" Target="slides/slide121.xml"/><Relationship Id="rId136" Type="http://schemas.openxmlformats.org/officeDocument/2006/relationships/slide" Target="slides/slide126.xml"/><Relationship Id="rId157" Type="http://schemas.openxmlformats.org/officeDocument/2006/relationships/slide" Target="slides/slide147.xml"/><Relationship Id="rId178" Type="http://schemas.openxmlformats.org/officeDocument/2006/relationships/slide" Target="slides/slide168.xml"/><Relationship Id="rId61" Type="http://schemas.openxmlformats.org/officeDocument/2006/relationships/slide" Target="slides/slide51.xml"/><Relationship Id="rId82" Type="http://schemas.openxmlformats.org/officeDocument/2006/relationships/slide" Target="slides/slide72.xml"/><Relationship Id="rId152" Type="http://schemas.openxmlformats.org/officeDocument/2006/relationships/slide" Target="slides/slide142.xml"/><Relationship Id="rId173" Type="http://schemas.openxmlformats.org/officeDocument/2006/relationships/slide" Target="slides/slide163.xml"/><Relationship Id="rId194" Type="http://schemas.openxmlformats.org/officeDocument/2006/relationships/tableStyles" Target="tableStyles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56" Type="http://schemas.openxmlformats.org/officeDocument/2006/relationships/slide" Target="slides/slide46.xml"/><Relationship Id="rId77" Type="http://schemas.openxmlformats.org/officeDocument/2006/relationships/slide" Target="slides/slide67.xml"/><Relationship Id="rId100" Type="http://schemas.openxmlformats.org/officeDocument/2006/relationships/slide" Target="slides/slide90.xml"/><Relationship Id="rId105" Type="http://schemas.openxmlformats.org/officeDocument/2006/relationships/slide" Target="slides/slide95.xml"/><Relationship Id="rId126" Type="http://schemas.openxmlformats.org/officeDocument/2006/relationships/slide" Target="slides/slide116.xml"/><Relationship Id="rId147" Type="http://schemas.openxmlformats.org/officeDocument/2006/relationships/slide" Target="slides/slide137.xml"/><Relationship Id="rId168" Type="http://schemas.openxmlformats.org/officeDocument/2006/relationships/slide" Target="slides/slide158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93" Type="http://schemas.openxmlformats.org/officeDocument/2006/relationships/slide" Target="slides/slide83.xml"/><Relationship Id="rId98" Type="http://schemas.openxmlformats.org/officeDocument/2006/relationships/slide" Target="slides/slide88.xml"/><Relationship Id="rId121" Type="http://schemas.openxmlformats.org/officeDocument/2006/relationships/slide" Target="slides/slide111.xml"/><Relationship Id="rId142" Type="http://schemas.openxmlformats.org/officeDocument/2006/relationships/slide" Target="slides/slide132.xml"/><Relationship Id="rId163" Type="http://schemas.openxmlformats.org/officeDocument/2006/relationships/slide" Target="slides/slide153.xml"/><Relationship Id="rId184" Type="http://schemas.openxmlformats.org/officeDocument/2006/relationships/slide" Target="slides/slide174.xml"/><Relationship Id="rId189" Type="http://schemas.openxmlformats.org/officeDocument/2006/relationships/slide" Target="slides/slide179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5.xml"/><Relationship Id="rId46" Type="http://schemas.openxmlformats.org/officeDocument/2006/relationships/slide" Target="slides/slide36.xml"/><Relationship Id="rId67" Type="http://schemas.openxmlformats.org/officeDocument/2006/relationships/slide" Target="slides/slide57.xml"/><Relationship Id="rId116" Type="http://schemas.openxmlformats.org/officeDocument/2006/relationships/slide" Target="slides/slide106.xml"/><Relationship Id="rId137" Type="http://schemas.openxmlformats.org/officeDocument/2006/relationships/slide" Target="slides/slide127.xml"/><Relationship Id="rId158" Type="http://schemas.openxmlformats.org/officeDocument/2006/relationships/slide" Target="slides/slide148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62" Type="http://schemas.openxmlformats.org/officeDocument/2006/relationships/slide" Target="slides/slide52.xml"/><Relationship Id="rId83" Type="http://schemas.openxmlformats.org/officeDocument/2006/relationships/slide" Target="slides/slide73.xml"/><Relationship Id="rId88" Type="http://schemas.openxmlformats.org/officeDocument/2006/relationships/slide" Target="slides/slide78.xml"/><Relationship Id="rId111" Type="http://schemas.openxmlformats.org/officeDocument/2006/relationships/slide" Target="slides/slide101.xml"/><Relationship Id="rId132" Type="http://schemas.openxmlformats.org/officeDocument/2006/relationships/slide" Target="slides/slide122.xml"/><Relationship Id="rId153" Type="http://schemas.openxmlformats.org/officeDocument/2006/relationships/slide" Target="slides/slide143.xml"/><Relationship Id="rId174" Type="http://schemas.openxmlformats.org/officeDocument/2006/relationships/slide" Target="slides/slide164.xml"/><Relationship Id="rId179" Type="http://schemas.openxmlformats.org/officeDocument/2006/relationships/slide" Target="slides/slide169.xml"/><Relationship Id="rId190" Type="http://schemas.openxmlformats.org/officeDocument/2006/relationships/notesMaster" Target="notesMasters/notesMaster1.xml"/><Relationship Id="rId15" Type="http://schemas.openxmlformats.org/officeDocument/2006/relationships/slide" Target="slides/slide5.xml"/><Relationship Id="rId36" Type="http://schemas.openxmlformats.org/officeDocument/2006/relationships/slide" Target="slides/slide26.xml"/><Relationship Id="rId57" Type="http://schemas.openxmlformats.org/officeDocument/2006/relationships/slide" Target="slides/slide47.xml"/><Relationship Id="rId106" Type="http://schemas.openxmlformats.org/officeDocument/2006/relationships/slide" Target="slides/slide96.xml"/><Relationship Id="rId127" Type="http://schemas.openxmlformats.org/officeDocument/2006/relationships/slide" Target="slides/slide117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52" Type="http://schemas.openxmlformats.org/officeDocument/2006/relationships/slide" Target="slides/slide42.xml"/><Relationship Id="rId73" Type="http://schemas.openxmlformats.org/officeDocument/2006/relationships/slide" Target="slides/slide63.xml"/><Relationship Id="rId78" Type="http://schemas.openxmlformats.org/officeDocument/2006/relationships/slide" Target="slides/slide68.xml"/><Relationship Id="rId94" Type="http://schemas.openxmlformats.org/officeDocument/2006/relationships/slide" Target="slides/slide84.xml"/><Relationship Id="rId99" Type="http://schemas.openxmlformats.org/officeDocument/2006/relationships/slide" Target="slides/slide89.xml"/><Relationship Id="rId101" Type="http://schemas.openxmlformats.org/officeDocument/2006/relationships/slide" Target="slides/slide91.xml"/><Relationship Id="rId122" Type="http://schemas.openxmlformats.org/officeDocument/2006/relationships/slide" Target="slides/slide112.xml"/><Relationship Id="rId143" Type="http://schemas.openxmlformats.org/officeDocument/2006/relationships/slide" Target="slides/slide133.xml"/><Relationship Id="rId148" Type="http://schemas.openxmlformats.org/officeDocument/2006/relationships/slide" Target="slides/slide138.xml"/><Relationship Id="rId164" Type="http://schemas.openxmlformats.org/officeDocument/2006/relationships/slide" Target="slides/slide154.xml"/><Relationship Id="rId169" Type="http://schemas.openxmlformats.org/officeDocument/2006/relationships/slide" Target="slides/slide159.xml"/><Relationship Id="rId185" Type="http://schemas.openxmlformats.org/officeDocument/2006/relationships/slide" Target="slides/slide17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80" Type="http://schemas.openxmlformats.org/officeDocument/2006/relationships/slide" Target="slides/slide170.xml"/><Relationship Id="rId26" Type="http://schemas.openxmlformats.org/officeDocument/2006/relationships/slide" Target="slides/slide16.xml"/><Relationship Id="rId47" Type="http://schemas.openxmlformats.org/officeDocument/2006/relationships/slide" Target="slides/slide37.xml"/><Relationship Id="rId68" Type="http://schemas.openxmlformats.org/officeDocument/2006/relationships/slide" Target="slides/slide58.xml"/><Relationship Id="rId89" Type="http://schemas.openxmlformats.org/officeDocument/2006/relationships/slide" Target="slides/slide79.xml"/><Relationship Id="rId112" Type="http://schemas.openxmlformats.org/officeDocument/2006/relationships/slide" Target="slides/slide102.xml"/><Relationship Id="rId133" Type="http://schemas.openxmlformats.org/officeDocument/2006/relationships/slide" Target="slides/slide123.xml"/><Relationship Id="rId154" Type="http://schemas.openxmlformats.org/officeDocument/2006/relationships/slide" Target="slides/slide144.xml"/><Relationship Id="rId175" Type="http://schemas.openxmlformats.org/officeDocument/2006/relationships/slide" Target="slides/slide165.xml"/><Relationship Id="rId16" Type="http://schemas.openxmlformats.org/officeDocument/2006/relationships/slide" Target="slides/slide6.xml"/><Relationship Id="rId37" Type="http://schemas.openxmlformats.org/officeDocument/2006/relationships/slide" Target="slides/slide27.xml"/><Relationship Id="rId58" Type="http://schemas.openxmlformats.org/officeDocument/2006/relationships/slide" Target="slides/slide48.xml"/><Relationship Id="rId79" Type="http://schemas.openxmlformats.org/officeDocument/2006/relationships/slide" Target="slides/slide69.xml"/><Relationship Id="rId102" Type="http://schemas.openxmlformats.org/officeDocument/2006/relationships/slide" Target="slides/slide92.xml"/><Relationship Id="rId123" Type="http://schemas.openxmlformats.org/officeDocument/2006/relationships/slide" Target="slides/slide113.xml"/><Relationship Id="rId144" Type="http://schemas.openxmlformats.org/officeDocument/2006/relationships/slide" Target="slides/slide134.xml"/><Relationship Id="rId90" Type="http://schemas.openxmlformats.org/officeDocument/2006/relationships/slide" Target="slides/slide80.xml"/><Relationship Id="rId165" Type="http://schemas.openxmlformats.org/officeDocument/2006/relationships/slide" Target="slides/slide155.xml"/><Relationship Id="rId186" Type="http://schemas.openxmlformats.org/officeDocument/2006/relationships/slide" Target="slides/slide176.xml"/><Relationship Id="rId27" Type="http://schemas.openxmlformats.org/officeDocument/2006/relationships/slide" Target="slides/slide17.xml"/><Relationship Id="rId48" Type="http://schemas.openxmlformats.org/officeDocument/2006/relationships/slide" Target="slides/slide38.xml"/><Relationship Id="rId69" Type="http://schemas.openxmlformats.org/officeDocument/2006/relationships/slide" Target="slides/slide59.xml"/><Relationship Id="rId113" Type="http://schemas.openxmlformats.org/officeDocument/2006/relationships/slide" Target="slides/slide103.xml"/><Relationship Id="rId134" Type="http://schemas.openxmlformats.org/officeDocument/2006/relationships/slide" Target="slides/slide124.xml"/><Relationship Id="rId80" Type="http://schemas.openxmlformats.org/officeDocument/2006/relationships/slide" Target="slides/slide70.xml"/><Relationship Id="rId155" Type="http://schemas.openxmlformats.org/officeDocument/2006/relationships/slide" Target="slides/slide145.xml"/><Relationship Id="rId176" Type="http://schemas.openxmlformats.org/officeDocument/2006/relationships/slide" Target="slides/slide166.xml"/><Relationship Id="rId17" Type="http://schemas.openxmlformats.org/officeDocument/2006/relationships/slide" Target="slides/slide7.xml"/><Relationship Id="rId38" Type="http://schemas.openxmlformats.org/officeDocument/2006/relationships/slide" Target="slides/slide28.xml"/><Relationship Id="rId59" Type="http://schemas.openxmlformats.org/officeDocument/2006/relationships/slide" Target="slides/slide49.xml"/><Relationship Id="rId103" Type="http://schemas.openxmlformats.org/officeDocument/2006/relationships/slide" Target="slides/slide93.xml"/><Relationship Id="rId124" Type="http://schemas.openxmlformats.org/officeDocument/2006/relationships/slide" Target="slides/slide114.xml"/><Relationship Id="rId70" Type="http://schemas.openxmlformats.org/officeDocument/2006/relationships/slide" Target="slides/slide60.xml"/><Relationship Id="rId91" Type="http://schemas.openxmlformats.org/officeDocument/2006/relationships/slide" Target="slides/slide81.xml"/><Relationship Id="rId145" Type="http://schemas.openxmlformats.org/officeDocument/2006/relationships/slide" Target="slides/slide135.xml"/><Relationship Id="rId166" Type="http://schemas.openxmlformats.org/officeDocument/2006/relationships/slide" Target="slides/slide156.xml"/><Relationship Id="rId187" Type="http://schemas.openxmlformats.org/officeDocument/2006/relationships/slide" Target="slides/slide177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18.xml"/><Relationship Id="rId49" Type="http://schemas.openxmlformats.org/officeDocument/2006/relationships/slide" Target="slides/slide39.xml"/><Relationship Id="rId114" Type="http://schemas.openxmlformats.org/officeDocument/2006/relationships/slide" Target="slides/slide104.xml"/><Relationship Id="rId60" Type="http://schemas.openxmlformats.org/officeDocument/2006/relationships/slide" Target="slides/slide50.xml"/><Relationship Id="rId81" Type="http://schemas.openxmlformats.org/officeDocument/2006/relationships/slide" Target="slides/slide71.xml"/><Relationship Id="rId135" Type="http://schemas.openxmlformats.org/officeDocument/2006/relationships/slide" Target="slides/slide125.xml"/><Relationship Id="rId156" Type="http://schemas.openxmlformats.org/officeDocument/2006/relationships/slide" Target="slides/slide146.xml"/><Relationship Id="rId177" Type="http://schemas.openxmlformats.org/officeDocument/2006/relationships/slide" Target="slides/slide167.xml"/><Relationship Id="rId18" Type="http://schemas.openxmlformats.org/officeDocument/2006/relationships/slide" Target="slides/slide8.xml"/><Relationship Id="rId39" Type="http://schemas.openxmlformats.org/officeDocument/2006/relationships/slide" Target="slides/slide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1D515-082A-498F-B97E-C01F86933917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9838" y="1143000"/>
            <a:ext cx="4378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4C728-3C1E-41FA-9A18-EC48E4326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52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2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8310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3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36277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4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96259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5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83310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6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52084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12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51418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63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45371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64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64454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65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17237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224" y="1122363"/>
            <a:ext cx="7297341" cy="2387600"/>
          </a:xfrm>
        </p:spPr>
        <p:txBody>
          <a:bodyPr anchor="b"/>
          <a:lstStyle>
            <a:lvl1pPr algn="ctr">
              <a:defRPr sz="478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1915"/>
            </a:lvl1pPr>
            <a:lvl2pPr marL="364871" indent="0" algn="ctr">
              <a:buNone/>
              <a:defRPr sz="1596"/>
            </a:lvl2pPr>
            <a:lvl3pPr marL="729742" indent="0" algn="ctr">
              <a:buNone/>
              <a:defRPr sz="1436"/>
            </a:lvl3pPr>
            <a:lvl4pPr marL="1094613" indent="0" algn="ctr">
              <a:buNone/>
              <a:defRPr sz="1277"/>
            </a:lvl4pPr>
            <a:lvl5pPr marL="1459484" indent="0" algn="ctr">
              <a:buNone/>
              <a:defRPr sz="1277"/>
            </a:lvl5pPr>
            <a:lvl6pPr marL="1824356" indent="0" algn="ctr">
              <a:buNone/>
              <a:defRPr sz="1277"/>
            </a:lvl6pPr>
            <a:lvl7pPr marL="2189226" indent="0" algn="ctr">
              <a:buNone/>
              <a:defRPr sz="1277"/>
            </a:lvl7pPr>
            <a:lvl8pPr marL="2554097" indent="0" algn="ctr">
              <a:buNone/>
              <a:defRPr sz="1277"/>
            </a:lvl8pPr>
            <a:lvl9pPr marL="2918969" indent="0" algn="ctr">
              <a:buNone/>
              <a:defRPr sz="1277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941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012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478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1pPr>
            <a:lvl2pPr marL="3648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2pPr>
            <a:lvl3pPr marL="729742" indent="0">
              <a:buNone/>
              <a:defRPr sz="1436">
                <a:solidFill>
                  <a:schemeClr val="tx1">
                    <a:tint val="75000"/>
                  </a:schemeClr>
                </a:solidFill>
              </a:defRPr>
            </a:lvl3pPr>
            <a:lvl4pPr marL="1094613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4pPr>
            <a:lvl5pPr marL="1459484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5pPr>
            <a:lvl6pPr marL="182435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6pPr>
            <a:lvl7pPr marL="218922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7pPr>
            <a:lvl8pPr marL="2554097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8pPr>
            <a:lvl9pPr marL="2918969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445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5" y="1681163"/>
            <a:ext cx="4136428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5" y="2505075"/>
            <a:ext cx="413642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39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292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178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>
              <a:defRPr sz="2553"/>
            </a:lvl1pPr>
            <a:lvl2pPr>
              <a:defRPr sz="2234"/>
            </a:lvl2pPr>
            <a:lvl3pPr>
              <a:defRPr sz="191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85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 marL="0" indent="0">
              <a:buNone/>
              <a:defRPr sz="2553"/>
            </a:lvl1pPr>
            <a:lvl2pPr marL="364871" indent="0">
              <a:buNone/>
              <a:defRPr sz="2234"/>
            </a:lvl2pPr>
            <a:lvl3pPr marL="729742" indent="0">
              <a:buNone/>
              <a:defRPr sz="1915"/>
            </a:lvl3pPr>
            <a:lvl4pPr marL="1094613" indent="0">
              <a:buNone/>
              <a:defRPr sz="1596"/>
            </a:lvl4pPr>
            <a:lvl5pPr marL="1459484" indent="0">
              <a:buNone/>
              <a:defRPr sz="1596"/>
            </a:lvl5pPr>
            <a:lvl6pPr marL="1824356" indent="0">
              <a:buNone/>
              <a:defRPr sz="1596"/>
            </a:lvl6pPr>
            <a:lvl7pPr marL="2189226" indent="0">
              <a:buNone/>
              <a:defRPr sz="1596"/>
            </a:lvl7pPr>
            <a:lvl8pPr marL="2554097" indent="0">
              <a:buNone/>
              <a:defRPr sz="1596"/>
            </a:lvl8pPr>
            <a:lvl9pPr marL="2918969" indent="0">
              <a:buNone/>
              <a:defRPr sz="159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47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95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79" y="365125"/>
            <a:ext cx="209798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3" y="365125"/>
            <a:ext cx="617233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726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224" y="1122363"/>
            <a:ext cx="7297341" cy="2387600"/>
          </a:xfrm>
        </p:spPr>
        <p:txBody>
          <a:bodyPr anchor="b"/>
          <a:lstStyle>
            <a:lvl1pPr algn="ctr">
              <a:defRPr sz="478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1915"/>
            </a:lvl1pPr>
            <a:lvl2pPr marL="364871" indent="0" algn="ctr">
              <a:buNone/>
              <a:defRPr sz="1596"/>
            </a:lvl2pPr>
            <a:lvl3pPr marL="729742" indent="0" algn="ctr">
              <a:buNone/>
              <a:defRPr sz="1436"/>
            </a:lvl3pPr>
            <a:lvl4pPr marL="1094613" indent="0" algn="ctr">
              <a:buNone/>
              <a:defRPr sz="1277"/>
            </a:lvl4pPr>
            <a:lvl5pPr marL="1459484" indent="0" algn="ctr">
              <a:buNone/>
              <a:defRPr sz="1277"/>
            </a:lvl5pPr>
            <a:lvl6pPr marL="1824356" indent="0" algn="ctr">
              <a:buNone/>
              <a:defRPr sz="1277"/>
            </a:lvl6pPr>
            <a:lvl7pPr marL="2189226" indent="0" algn="ctr">
              <a:buNone/>
              <a:defRPr sz="1277"/>
            </a:lvl7pPr>
            <a:lvl8pPr marL="2554097" indent="0" algn="ctr">
              <a:buNone/>
              <a:defRPr sz="1277"/>
            </a:lvl8pPr>
            <a:lvl9pPr marL="2918969" indent="0" algn="ctr">
              <a:buNone/>
              <a:defRPr sz="1277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064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693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478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1pPr>
            <a:lvl2pPr marL="3648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2pPr>
            <a:lvl3pPr marL="729742" indent="0">
              <a:buNone/>
              <a:defRPr sz="1436">
                <a:solidFill>
                  <a:schemeClr val="tx1">
                    <a:tint val="75000"/>
                  </a:schemeClr>
                </a:solidFill>
              </a:defRPr>
            </a:lvl3pPr>
            <a:lvl4pPr marL="1094613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4pPr>
            <a:lvl5pPr marL="1459484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5pPr>
            <a:lvl6pPr marL="182435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6pPr>
            <a:lvl7pPr marL="218922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7pPr>
            <a:lvl8pPr marL="2554097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8pPr>
            <a:lvl9pPr marL="2918969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010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867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5" y="1681163"/>
            <a:ext cx="4136428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5" y="2505075"/>
            <a:ext cx="413642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879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4262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1366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>
              <a:defRPr sz="2553"/>
            </a:lvl1pPr>
            <a:lvl2pPr>
              <a:defRPr sz="2234"/>
            </a:lvl2pPr>
            <a:lvl3pPr>
              <a:defRPr sz="191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7174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 marL="0" indent="0">
              <a:buNone/>
              <a:defRPr sz="2553"/>
            </a:lvl1pPr>
            <a:lvl2pPr marL="364871" indent="0">
              <a:buNone/>
              <a:defRPr sz="2234"/>
            </a:lvl2pPr>
            <a:lvl3pPr marL="729742" indent="0">
              <a:buNone/>
              <a:defRPr sz="1915"/>
            </a:lvl3pPr>
            <a:lvl4pPr marL="1094613" indent="0">
              <a:buNone/>
              <a:defRPr sz="1596"/>
            </a:lvl4pPr>
            <a:lvl5pPr marL="1459484" indent="0">
              <a:buNone/>
              <a:defRPr sz="1596"/>
            </a:lvl5pPr>
            <a:lvl6pPr marL="1824356" indent="0">
              <a:buNone/>
              <a:defRPr sz="1596"/>
            </a:lvl6pPr>
            <a:lvl7pPr marL="2189226" indent="0">
              <a:buNone/>
              <a:defRPr sz="1596"/>
            </a:lvl7pPr>
            <a:lvl8pPr marL="2554097" indent="0">
              <a:buNone/>
              <a:defRPr sz="1596"/>
            </a:lvl8pPr>
            <a:lvl9pPr marL="2918969" indent="0">
              <a:buNone/>
              <a:defRPr sz="159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144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2675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79" y="365125"/>
            <a:ext cx="209798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3" y="365125"/>
            <a:ext cx="617233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1192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5997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398"/>
            </a:lvl1pPr>
            <a:lvl2pPr marL="456933" indent="0" algn="ctr">
              <a:buNone/>
              <a:defRPr sz="1999"/>
            </a:lvl2pPr>
            <a:lvl3pPr marL="913866" indent="0" algn="ctr">
              <a:buNone/>
              <a:defRPr sz="1799"/>
            </a:lvl3pPr>
            <a:lvl4pPr marL="1370800" indent="0" algn="ctr">
              <a:buNone/>
              <a:defRPr sz="1599"/>
            </a:lvl4pPr>
            <a:lvl5pPr marL="1827733" indent="0" algn="ctr">
              <a:buNone/>
              <a:defRPr sz="1599"/>
            </a:lvl5pPr>
            <a:lvl6pPr marL="2284667" indent="0" algn="ctr">
              <a:buNone/>
              <a:defRPr sz="1599"/>
            </a:lvl6pPr>
            <a:lvl7pPr marL="2741599" indent="0" algn="ctr">
              <a:buNone/>
              <a:defRPr sz="1599"/>
            </a:lvl7pPr>
            <a:lvl8pPr marL="3198533" indent="0" algn="ctr">
              <a:buNone/>
              <a:defRPr sz="1599"/>
            </a:lvl8pPr>
            <a:lvl9pPr marL="3655466" indent="0" algn="ctr">
              <a:buNone/>
              <a:defRPr sz="1599"/>
            </a:lvl9pPr>
          </a:lstStyle>
          <a:p>
            <a:r>
              <a:rPr lang="en-US" altLang="zh-TW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9165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8416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39"/>
            <a:ext cx="8391942" cy="2852737"/>
          </a:xfrm>
        </p:spPr>
        <p:txBody>
          <a:bodyPr anchor="b"/>
          <a:lstStyle>
            <a:lvl1pPr>
              <a:defRPr sz="5997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2398">
                <a:solidFill>
                  <a:schemeClr val="tx1"/>
                </a:solidFill>
              </a:defRPr>
            </a:lvl1pPr>
            <a:lvl2pPr marL="45693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386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0800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7733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466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1599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198533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5466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5822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6" y="1825625"/>
            <a:ext cx="4135160" cy="4351338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822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365127"/>
            <a:ext cx="8391942" cy="1325563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4"/>
            <a:ext cx="4116156" cy="82391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933" indent="0">
              <a:buNone/>
              <a:defRPr sz="1999" b="1"/>
            </a:lvl2pPr>
            <a:lvl3pPr marL="913866" indent="0">
              <a:buNone/>
              <a:defRPr sz="1799" b="1"/>
            </a:lvl3pPr>
            <a:lvl4pPr marL="1370800" indent="0">
              <a:buNone/>
              <a:defRPr sz="1599" b="1"/>
            </a:lvl4pPr>
            <a:lvl5pPr marL="1827733" indent="0">
              <a:buNone/>
              <a:defRPr sz="1599" b="1"/>
            </a:lvl5pPr>
            <a:lvl6pPr marL="2284667" indent="0">
              <a:buNone/>
              <a:defRPr sz="1599" b="1"/>
            </a:lvl6pPr>
            <a:lvl7pPr marL="2741599" indent="0">
              <a:buNone/>
              <a:defRPr sz="1599" b="1"/>
            </a:lvl7pPr>
            <a:lvl8pPr marL="3198533" indent="0">
              <a:buNone/>
              <a:defRPr sz="1599" b="1"/>
            </a:lvl8pPr>
            <a:lvl9pPr marL="3655466" indent="0">
              <a:buNone/>
              <a:defRPr sz="1599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5" y="1681164"/>
            <a:ext cx="4136428" cy="82391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933" indent="0">
              <a:buNone/>
              <a:defRPr sz="1999" b="1"/>
            </a:lvl2pPr>
            <a:lvl3pPr marL="913866" indent="0">
              <a:buNone/>
              <a:defRPr sz="1799" b="1"/>
            </a:lvl3pPr>
            <a:lvl4pPr marL="1370800" indent="0">
              <a:buNone/>
              <a:defRPr sz="1599" b="1"/>
            </a:lvl4pPr>
            <a:lvl5pPr marL="1827733" indent="0">
              <a:buNone/>
              <a:defRPr sz="1599" b="1"/>
            </a:lvl5pPr>
            <a:lvl6pPr marL="2284667" indent="0">
              <a:buNone/>
              <a:defRPr sz="1599" b="1"/>
            </a:lvl6pPr>
            <a:lvl7pPr marL="2741599" indent="0">
              <a:buNone/>
              <a:defRPr sz="1599" b="1"/>
            </a:lvl7pPr>
            <a:lvl8pPr marL="3198533" indent="0">
              <a:buNone/>
              <a:defRPr sz="1599" b="1"/>
            </a:lvl8pPr>
            <a:lvl9pPr marL="3655466" indent="0">
              <a:buNone/>
              <a:defRPr sz="1599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5" y="2505075"/>
            <a:ext cx="4136428" cy="3684588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8463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046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7205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3198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7" y="987426"/>
            <a:ext cx="4925706" cy="4873625"/>
          </a:xfrm>
        </p:spPr>
        <p:txBody>
          <a:bodyPr/>
          <a:lstStyle>
            <a:lvl1pPr>
              <a:defRPr sz="3198"/>
            </a:lvl1pPr>
            <a:lvl2pPr>
              <a:defRPr sz="2798"/>
            </a:lvl2pPr>
            <a:lvl3pPr>
              <a:defRPr sz="2398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6933" indent="0">
              <a:buNone/>
              <a:defRPr sz="1399"/>
            </a:lvl2pPr>
            <a:lvl3pPr marL="913866" indent="0">
              <a:buNone/>
              <a:defRPr sz="1199"/>
            </a:lvl3pPr>
            <a:lvl4pPr marL="1370800" indent="0">
              <a:buNone/>
              <a:defRPr sz="999"/>
            </a:lvl4pPr>
            <a:lvl5pPr marL="1827733" indent="0">
              <a:buNone/>
              <a:defRPr sz="999"/>
            </a:lvl5pPr>
            <a:lvl6pPr marL="2284667" indent="0">
              <a:buNone/>
              <a:defRPr sz="999"/>
            </a:lvl6pPr>
            <a:lvl7pPr marL="2741599" indent="0">
              <a:buNone/>
              <a:defRPr sz="999"/>
            </a:lvl7pPr>
            <a:lvl8pPr marL="3198533" indent="0">
              <a:buNone/>
              <a:defRPr sz="999"/>
            </a:lvl8pPr>
            <a:lvl9pPr marL="3655466" indent="0">
              <a:buNone/>
              <a:defRPr sz="999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5790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3198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7" y="987426"/>
            <a:ext cx="4925706" cy="4873625"/>
          </a:xfrm>
        </p:spPr>
        <p:txBody>
          <a:bodyPr anchor="t"/>
          <a:lstStyle>
            <a:lvl1pPr marL="0" indent="0">
              <a:buNone/>
              <a:defRPr sz="3198"/>
            </a:lvl1pPr>
            <a:lvl2pPr marL="456933" indent="0">
              <a:buNone/>
              <a:defRPr sz="2798"/>
            </a:lvl2pPr>
            <a:lvl3pPr marL="913866" indent="0">
              <a:buNone/>
              <a:defRPr sz="2398"/>
            </a:lvl3pPr>
            <a:lvl4pPr marL="1370800" indent="0">
              <a:buNone/>
              <a:defRPr sz="1999"/>
            </a:lvl4pPr>
            <a:lvl5pPr marL="1827733" indent="0">
              <a:buNone/>
              <a:defRPr sz="1999"/>
            </a:lvl5pPr>
            <a:lvl6pPr marL="2284667" indent="0">
              <a:buNone/>
              <a:defRPr sz="1999"/>
            </a:lvl6pPr>
            <a:lvl7pPr marL="2741599" indent="0">
              <a:buNone/>
              <a:defRPr sz="1999"/>
            </a:lvl7pPr>
            <a:lvl8pPr marL="3198533" indent="0">
              <a:buNone/>
              <a:defRPr sz="1999"/>
            </a:lvl8pPr>
            <a:lvl9pPr marL="3655466" indent="0">
              <a:buNone/>
              <a:defRPr sz="1999"/>
            </a:lvl9pPr>
          </a:lstStyle>
          <a:p>
            <a:r>
              <a:rPr lang="en-US" altLang="zh-TW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6933" indent="0">
              <a:buNone/>
              <a:defRPr sz="1399"/>
            </a:lvl2pPr>
            <a:lvl3pPr marL="913866" indent="0">
              <a:buNone/>
              <a:defRPr sz="1199"/>
            </a:lvl3pPr>
            <a:lvl4pPr marL="1370800" indent="0">
              <a:buNone/>
              <a:defRPr sz="999"/>
            </a:lvl4pPr>
            <a:lvl5pPr marL="1827733" indent="0">
              <a:buNone/>
              <a:defRPr sz="999"/>
            </a:lvl5pPr>
            <a:lvl6pPr marL="2284667" indent="0">
              <a:buNone/>
              <a:defRPr sz="999"/>
            </a:lvl6pPr>
            <a:lvl7pPr marL="2741599" indent="0">
              <a:buNone/>
              <a:defRPr sz="999"/>
            </a:lvl7pPr>
            <a:lvl8pPr marL="3198533" indent="0">
              <a:buNone/>
              <a:defRPr sz="999"/>
            </a:lvl8pPr>
            <a:lvl9pPr marL="3655466" indent="0">
              <a:buNone/>
              <a:defRPr sz="999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2808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6715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6"/>
            <a:ext cx="2097985" cy="5811838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6"/>
            <a:ext cx="6172334" cy="5811838"/>
          </a:xfrm>
        </p:spPr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961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9734" y="3124200"/>
            <a:ext cx="8270320" cy="838200"/>
          </a:xfrm>
        </p:spPr>
        <p:txBody>
          <a:bodyPr/>
          <a:lstStyle>
            <a:lvl1pPr>
              <a:defRPr sz="439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59468" y="4191000"/>
            <a:ext cx="6648688" cy="990600"/>
          </a:xfrm>
        </p:spPr>
        <p:txBody>
          <a:bodyPr/>
          <a:lstStyle>
            <a:lvl1pPr marL="0" indent="0" algn="ctr">
              <a:buFontTx/>
              <a:buNone/>
              <a:defRPr sz="4297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29734" y="6248400"/>
            <a:ext cx="2027039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99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4344" y="6248400"/>
            <a:ext cx="30811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3015" y="6248400"/>
            <a:ext cx="2027039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16822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2606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86" y="4406901"/>
            <a:ext cx="8270320" cy="1362075"/>
          </a:xfrm>
        </p:spPr>
        <p:txBody>
          <a:bodyPr anchor="t"/>
          <a:lstStyle>
            <a:lvl1pPr algn="l">
              <a:defRPr sz="399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586" y="2906714"/>
            <a:ext cx="8270320" cy="1500187"/>
          </a:xfrm>
        </p:spPr>
        <p:txBody>
          <a:bodyPr anchor="b"/>
          <a:lstStyle>
            <a:lvl1pPr marL="0" indent="0">
              <a:buNone/>
              <a:defRPr sz="1999"/>
            </a:lvl1pPr>
            <a:lvl2pPr marL="456933" indent="0">
              <a:buNone/>
              <a:defRPr sz="1799"/>
            </a:lvl2pPr>
            <a:lvl3pPr marL="913866" indent="0">
              <a:buNone/>
              <a:defRPr sz="1599"/>
            </a:lvl3pPr>
            <a:lvl4pPr marL="1370800" indent="0">
              <a:buNone/>
              <a:defRPr sz="1399"/>
            </a:lvl4pPr>
            <a:lvl5pPr marL="1827733" indent="0">
              <a:buNone/>
              <a:defRPr sz="1399"/>
            </a:lvl5pPr>
            <a:lvl6pPr marL="2284667" indent="0">
              <a:buNone/>
              <a:defRPr sz="1399"/>
            </a:lvl6pPr>
            <a:lvl7pPr marL="2741599" indent="0">
              <a:buNone/>
              <a:defRPr sz="1399"/>
            </a:lvl7pPr>
            <a:lvl8pPr marL="3198533" indent="0">
              <a:buNone/>
              <a:defRPr sz="1399"/>
            </a:lvl8pPr>
            <a:lvl9pPr marL="3655466" indent="0">
              <a:buNone/>
              <a:defRPr sz="13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52310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7571" y="1676400"/>
            <a:ext cx="4216241" cy="4572000"/>
          </a:xfrm>
        </p:spPr>
        <p:txBody>
          <a:bodyPr/>
          <a:lstStyle>
            <a:lvl1pPr>
              <a:defRPr sz="2798"/>
            </a:lvl1pPr>
            <a:lvl2pPr>
              <a:defRPr sz="2398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5976" y="1676400"/>
            <a:ext cx="4216241" cy="4572000"/>
          </a:xfrm>
        </p:spPr>
        <p:txBody>
          <a:bodyPr/>
          <a:lstStyle>
            <a:lvl1pPr>
              <a:defRPr sz="2798"/>
            </a:lvl1pPr>
            <a:lvl2pPr>
              <a:defRPr sz="2398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3785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4638"/>
            <a:ext cx="875680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489" y="1535113"/>
            <a:ext cx="4299013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933" indent="0">
              <a:buNone/>
              <a:defRPr sz="1999" b="1"/>
            </a:lvl2pPr>
            <a:lvl3pPr marL="913866" indent="0">
              <a:buNone/>
              <a:defRPr sz="1799" b="1"/>
            </a:lvl3pPr>
            <a:lvl4pPr marL="1370800" indent="0">
              <a:buNone/>
              <a:defRPr sz="1599" b="1"/>
            </a:lvl4pPr>
            <a:lvl5pPr marL="1827733" indent="0">
              <a:buNone/>
              <a:defRPr sz="1599" b="1"/>
            </a:lvl5pPr>
            <a:lvl6pPr marL="2284667" indent="0">
              <a:buNone/>
              <a:defRPr sz="1599" b="1"/>
            </a:lvl6pPr>
            <a:lvl7pPr marL="2741599" indent="0">
              <a:buNone/>
              <a:defRPr sz="1599" b="1"/>
            </a:lvl7pPr>
            <a:lvl8pPr marL="3198533" indent="0">
              <a:buNone/>
              <a:defRPr sz="1599" b="1"/>
            </a:lvl8pPr>
            <a:lvl9pPr marL="3655466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489" y="2174875"/>
            <a:ext cx="4299013" cy="3951288"/>
          </a:xfrm>
        </p:spPr>
        <p:txBody>
          <a:bodyPr/>
          <a:lstStyle>
            <a:lvl1pPr>
              <a:defRPr sz="2398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2598" y="1535113"/>
            <a:ext cx="4300701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933" indent="0">
              <a:buNone/>
              <a:defRPr sz="1999" b="1"/>
            </a:lvl2pPr>
            <a:lvl3pPr marL="913866" indent="0">
              <a:buNone/>
              <a:defRPr sz="1799" b="1"/>
            </a:lvl3pPr>
            <a:lvl4pPr marL="1370800" indent="0">
              <a:buNone/>
              <a:defRPr sz="1599" b="1"/>
            </a:lvl4pPr>
            <a:lvl5pPr marL="1827733" indent="0">
              <a:buNone/>
              <a:defRPr sz="1599" b="1"/>
            </a:lvl5pPr>
            <a:lvl6pPr marL="2284667" indent="0">
              <a:buNone/>
              <a:defRPr sz="1599" b="1"/>
            </a:lvl6pPr>
            <a:lvl7pPr marL="2741599" indent="0">
              <a:buNone/>
              <a:defRPr sz="1599" b="1"/>
            </a:lvl7pPr>
            <a:lvl8pPr marL="3198533" indent="0">
              <a:buNone/>
              <a:defRPr sz="1599" b="1"/>
            </a:lvl8pPr>
            <a:lvl9pPr marL="3655466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2598" y="2174875"/>
            <a:ext cx="4300701" cy="3951288"/>
          </a:xfrm>
        </p:spPr>
        <p:txBody>
          <a:bodyPr/>
          <a:lstStyle>
            <a:lvl1pPr>
              <a:defRPr sz="2398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78775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15657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20218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3050"/>
            <a:ext cx="3201033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4077" y="273051"/>
            <a:ext cx="5439222" cy="5853113"/>
          </a:xfrm>
        </p:spPr>
        <p:txBody>
          <a:bodyPr/>
          <a:lstStyle>
            <a:lvl1pPr>
              <a:defRPr sz="3198"/>
            </a:lvl1pPr>
            <a:lvl2pPr>
              <a:defRPr sz="2798"/>
            </a:lvl2pPr>
            <a:lvl3pPr>
              <a:defRPr sz="2398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490" y="1435101"/>
            <a:ext cx="3201033" cy="4691063"/>
          </a:xfrm>
        </p:spPr>
        <p:txBody>
          <a:bodyPr/>
          <a:lstStyle>
            <a:lvl1pPr marL="0" indent="0">
              <a:buNone/>
              <a:defRPr sz="1399"/>
            </a:lvl1pPr>
            <a:lvl2pPr marL="456933" indent="0">
              <a:buNone/>
              <a:defRPr sz="1199"/>
            </a:lvl2pPr>
            <a:lvl3pPr marL="913866" indent="0">
              <a:buNone/>
              <a:defRPr sz="999"/>
            </a:lvl3pPr>
            <a:lvl4pPr marL="1370800" indent="0">
              <a:buNone/>
              <a:defRPr sz="899"/>
            </a:lvl4pPr>
            <a:lvl5pPr marL="1827733" indent="0">
              <a:buNone/>
              <a:defRPr sz="899"/>
            </a:lvl5pPr>
            <a:lvl6pPr marL="2284667" indent="0">
              <a:buNone/>
              <a:defRPr sz="899"/>
            </a:lvl6pPr>
            <a:lvl7pPr marL="2741599" indent="0">
              <a:buNone/>
              <a:defRPr sz="899"/>
            </a:lvl7pPr>
            <a:lvl8pPr marL="3198533" indent="0">
              <a:buNone/>
              <a:defRPr sz="899"/>
            </a:lvl8pPr>
            <a:lvl9pPr marL="3655466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85645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106" y="4800600"/>
            <a:ext cx="5837873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7106" y="612776"/>
            <a:ext cx="5837873" cy="4114800"/>
          </a:xfrm>
        </p:spPr>
        <p:txBody>
          <a:bodyPr/>
          <a:lstStyle>
            <a:lvl1pPr marL="0" indent="0">
              <a:buNone/>
              <a:defRPr sz="3198"/>
            </a:lvl1pPr>
            <a:lvl2pPr marL="456933" indent="0">
              <a:buNone/>
              <a:defRPr sz="2798"/>
            </a:lvl2pPr>
            <a:lvl3pPr marL="913866" indent="0">
              <a:buNone/>
              <a:defRPr sz="2398"/>
            </a:lvl3pPr>
            <a:lvl4pPr marL="1370800" indent="0">
              <a:buNone/>
              <a:defRPr sz="1999"/>
            </a:lvl4pPr>
            <a:lvl5pPr marL="1827733" indent="0">
              <a:buNone/>
              <a:defRPr sz="1999"/>
            </a:lvl5pPr>
            <a:lvl6pPr marL="2284667" indent="0">
              <a:buNone/>
              <a:defRPr sz="1999"/>
            </a:lvl6pPr>
            <a:lvl7pPr marL="2741599" indent="0">
              <a:buNone/>
              <a:defRPr sz="1999"/>
            </a:lvl7pPr>
            <a:lvl8pPr marL="3198533" indent="0">
              <a:buNone/>
              <a:defRPr sz="1999"/>
            </a:lvl8pPr>
            <a:lvl9pPr marL="3655466" indent="0">
              <a:buNone/>
              <a:defRPr sz="1999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7106" y="5367338"/>
            <a:ext cx="5837873" cy="804862"/>
          </a:xfrm>
        </p:spPr>
        <p:txBody>
          <a:bodyPr/>
          <a:lstStyle>
            <a:lvl1pPr marL="0" indent="0">
              <a:buNone/>
              <a:defRPr sz="1399"/>
            </a:lvl1pPr>
            <a:lvl2pPr marL="456933" indent="0">
              <a:buNone/>
              <a:defRPr sz="1199"/>
            </a:lvl2pPr>
            <a:lvl3pPr marL="913866" indent="0">
              <a:buNone/>
              <a:defRPr sz="999"/>
            </a:lvl3pPr>
            <a:lvl4pPr marL="1370800" indent="0">
              <a:buNone/>
              <a:defRPr sz="899"/>
            </a:lvl4pPr>
            <a:lvl5pPr marL="1827733" indent="0">
              <a:buNone/>
              <a:defRPr sz="899"/>
            </a:lvl5pPr>
            <a:lvl6pPr marL="2284667" indent="0">
              <a:buNone/>
              <a:defRPr sz="899"/>
            </a:lvl6pPr>
            <a:lvl7pPr marL="2741599" indent="0">
              <a:buNone/>
              <a:defRPr sz="899"/>
            </a:lvl7pPr>
            <a:lvl8pPr marL="3198533" indent="0">
              <a:buNone/>
              <a:defRPr sz="899"/>
            </a:lvl8pPr>
            <a:lvl9pPr marL="3655466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36726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11360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3556" y="381000"/>
            <a:ext cx="2148662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7572" y="381000"/>
            <a:ext cx="6283821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51281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9734" y="3124200"/>
            <a:ext cx="8270320" cy="838200"/>
          </a:xfrm>
        </p:spPr>
        <p:txBody>
          <a:bodyPr/>
          <a:lstStyle>
            <a:lvl1pPr>
              <a:defRPr sz="439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59468" y="4191000"/>
            <a:ext cx="6648688" cy="990600"/>
          </a:xfrm>
        </p:spPr>
        <p:txBody>
          <a:bodyPr/>
          <a:lstStyle>
            <a:lvl1pPr marL="0" indent="0" algn="ctr">
              <a:buFontTx/>
              <a:buNone/>
              <a:defRPr sz="4297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29734" y="6248400"/>
            <a:ext cx="2027039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99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4344" y="6248400"/>
            <a:ext cx="30811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3015" y="6248400"/>
            <a:ext cx="2027039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23934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87629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86" y="4406901"/>
            <a:ext cx="8270320" cy="1362075"/>
          </a:xfrm>
        </p:spPr>
        <p:txBody>
          <a:bodyPr anchor="t"/>
          <a:lstStyle>
            <a:lvl1pPr algn="l">
              <a:defRPr sz="399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586" y="2906714"/>
            <a:ext cx="8270320" cy="1500187"/>
          </a:xfrm>
        </p:spPr>
        <p:txBody>
          <a:bodyPr anchor="b"/>
          <a:lstStyle>
            <a:lvl1pPr marL="0" indent="0">
              <a:buNone/>
              <a:defRPr sz="1999"/>
            </a:lvl1pPr>
            <a:lvl2pPr marL="456933" indent="0">
              <a:buNone/>
              <a:defRPr sz="1799"/>
            </a:lvl2pPr>
            <a:lvl3pPr marL="913866" indent="0">
              <a:buNone/>
              <a:defRPr sz="1599"/>
            </a:lvl3pPr>
            <a:lvl4pPr marL="1370800" indent="0">
              <a:buNone/>
              <a:defRPr sz="1399"/>
            </a:lvl4pPr>
            <a:lvl5pPr marL="1827733" indent="0">
              <a:buNone/>
              <a:defRPr sz="1399"/>
            </a:lvl5pPr>
            <a:lvl6pPr marL="2284667" indent="0">
              <a:buNone/>
              <a:defRPr sz="1399"/>
            </a:lvl6pPr>
            <a:lvl7pPr marL="2741599" indent="0">
              <a:buNone/>
              <a:defRPr sz="1399"/>
            </a:lvl7pPr>
            <a:lvl8pPr marL="3198533" indent="0">
              <a:buNone/>
              <a:defRPr sz="1399"/>
            </a:lvl8pPr>
            <a:lvl9pPr marL="3655466" indent="0">
              <a:buNone/>
              <a:defRPr sz="13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457093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7571" y="1676400"/>
            <a:ext cx="4216241" cy="4572000"/>
          </a:xfrm>
        </p:spPr>
        <p:txBody>
          <a:bodyPr/>
          <a:lstStyle>
            <a:lvl1pPr>
              <a:defRPr sz="2798"/>
            </a:lvl1pPr>
            <a:lvl2pPr>
              <a:defRPr sz="2398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5976" y="1676400"/>
            <a:ext cx="4216241" cy="4572000"/>
          </a:xfrm>
        </p:spPr>
        <p:txBody>
          <a:bodyPr/>
          <a:lstStyle>
            <a:lvl1pPr>
              <a:defRPr sz="2798"/>
            </a:lvl1pPr>
            <a:lvl2pPr>
              <a:defRPr sz="2398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402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4638"/>
            <a:ext cx="875680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489" y="1535113"/>
            <a:ext cx="4299013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933" indent="0">
              <a:buNone/>
              <a:defRPr sz="1999" b="1"/>
            </a:lvl2pPr>
            <a:lvl3pPr marL="913866" indent="0">
              <a:buNone/>
              <a:defRPr sz="1799" b="1"/>
            </a:lvl3pPr>
            <a:lvl4pPr marL="1370800" indent="0">
              <a:buNone/>
              <a:defRPr sz="1599" b="1"/>
            </a:lvl4pPr>
            <a:lvl5pPr marL="1827733" indent="0">
              <a:buNone/>
              <a:defRPr sz="1599" b="1"/>
            </a:lvl5pPr>
            <a:lvl6pPr marL="2284667" indent="0">
              <a:buNone/>
              <a:defRPr sz="1599" b="1"/>
            </a:lvl6pPr>
            <a:lvl7pPr marL="2741599" indent="0">
              <a:buNone/>
              <a:defRPr sz="1599" b="1"/>
            </a:lvl7pPr>
            <a:lvl8pPr marL="3198533" indent="0">
              <a:buNone/>
              <a:defRPr sz="1599" b="1"/>
            </a:lvl8pPr>
            <a:lvl9pPr marL="3655466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489" y="2174875"/>
            <a:ext cx="4299013" cy="3951288"/>
          </a:xfrm>
        </p:spPr>
        <p:txBody>
          <a:bodyPr/>
          <a:lstStyle>
            <a:lvl1pPr>
              <a:defRPr sz="2398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2598" y="1535113"/>
            <a:ext cx="4300701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933" indent="0">
              <a:buNone/>
              <a:defRPr sz="1999" b="1"/>
            </a:lvl2pPr>
            <a:lvl3pPr marL="913866" indent="0">
              <a:buNone/>
              <a:defRPr sz="1799" b="1"/>
            </a:lvl3pPr>
            <a:lvl4pPr marL="1370800" indent="0">
              <a:buNone/>
              <a:defRPr sz="1599" b="1"/>
            </a:lvl4pPr>
            <a:lvl5pPr marL="1827733" indent="0">
              <a:buNone/>
              <a:defRPr sz="1599" b="1"/>
            </a:lvl5pPr>
            <a:lvl6pPr marL="2284667" indent="0">
              <a:buNone/>
              <a:defRPr sz="1599" b="1"/>
            </a:lvl6pPr>
            <a:lvl7pPr marL="2741599" indent="0">
              <a:buNone/>
              <a:defRPr sz="1599" b="1"/>
            </a:lvl7pPr>
            <a:lvl8pPr marL="3198533" indent="0">
              <a:buNone/>
              <a:defRPr sz="1599" b="1"/>
            </a:lvl8pPr>
            <a:lvl9pPr marL="3655466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2598" y="2174875"/>
            <a:ext cx="4300701" cy="3951288"/>
          </a:xfrm>
        </p:spPr>
        <p:txBody>
          <a:bodyPr/>
          <a:lstStyle>
            <a:lvl1pPr>
              <a:defRPr sz="2398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806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6206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27923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3050"/>
            <a:ext cx="3201033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4077" y="273051"/>
            <a:ext cx="5439222" cy="5853113"/>
          </a:xfrm>
        </p:spPr>
        <p:txBody>
          <a:bodyPr/>
          <a:lstStyle>
            <a:lvl1pPr>
              <a:defRPr sz="3198"/>
            </a:lvl1pPr>
            <a:lvl2pPr>
              <a:defRPr sz="2798"/>
            </a:lvl2pPr>
            <a:lvl3pPr>
              <a:defRPr sz="2398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490" y="1435101"/>
            <a:ext cx="3201033" cy="4691063"/>
          </a:xfrm>
        </p:spPr>
        <p:txBody>
          <a:bodyPr/>
          <a:lstStyle>
            <a:lvl1pPr marL="0" indent="0">
              <a:buNone/>
              <a:defRPr sz="1399"/>
            </a:lvl1pPr>
            <a:lvl2pPr marL="456933" indent="0">
              <a:buNone/>
              <a:defRPr sz="1199"/>
            </a:lvl2pPr>
            <a:lvl3pPr marL="913866" indent="0">
              <a:buNone/>
              <a:defRPr sz="999"/>
            </a:lvl3pPr>
            <a:lvl4pPr marL="1370800" indent="0">
              <a:buNone/>
              <a:defRPr sz="899"/>
            </a:lvl4pPr>
            <a:lvl5pPr marL="1827733" indent="0">
              <a:buNone/>
              <a:defRPr sz="899"/>
            </a:lvl5pPr>
            <a:lvl6pPr marL="2284667" indent="0">
              <a:buNone/>
              <a:defRPr sz="899"/>
            </a:lvl6pPr>
            <a:lvl7pPr marL="2741599" indent="0">
              <a:buNone/>
              <a:defRPr sz="899"/>
            </a:lvl7pPr>
            <a:lvl8pPr marL="3198533" indent="0">
              <a:buNone/>
              <a:defRPr sz="899"/>
            </a:lvl8pPr>
            <a:lvl9pPr marL="3655466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55018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106" y="4800600"/>
            <a:ext cx="5837873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7106" y="612776"/>
            <a:ext cx="5837873" cy="4114800"/>
          </a:xfrm>
        </p:spPr>
        <p:txBody>
          <a:bodyPr/>
          <a:lstStyle>
            <a:lvl1pPr marL="0" indent="0">
              <a:buNone/>
              <a:defRPr sz="3198"/>
            </a:lvl1pPr>
            <a:lvl2pPr marL="456933" indent="0">
              <a:buNone/>
              <a:defRPr sz="2798"/>
            </a:lvl2pPr>
            <a:lvl3pPr marL="913866" indent="0">
              <a:buNone/>
              <a:defRPr sz="2398"/>
            </a:lvl3pPr>
            <a:lvl4pPr marL="1370800" indent="0">
              <a:buNone/>
              <a:defRPr sz="1999"/>
            </a:lvl4pPr>
            <a:lvl5pPr marL="1827733" indent="0">
              <a:buNone/>
              <a:defRPr sz="1999"/>
            </a:lvl5pPr>
            <a:lvl6pPr marL="2284667" indent="0">
              <a:buNone/>
              <a:defRPr sz="1999"/>
            </a:lvl6pPr>
            <a:lvl7pPr marL="2741599" indent="0">
              <a:buNone/>
              <a:defRPr sz="1999"/>
            </a:lvl7pPr>
            <a:lvl8pPr marL="3198533" indent="0">
              <a:buNone/>
              <a:defRPr sz="1999"/>
            </a:lvl8pPr>
            <a:lvl9pPr marL="3655466" indent="0">
              <a:buNone/>
              <a:defRPr sz="1999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7106" y="5367338"/>
            <a:ext cx="5837873" cy="804862"/>
          </a:xfrm>
        </p:spPr>
        <p:txBody>
          <a:bodyPr/>
          <a:lstStyle>
            <a:lvl1pPr marL="0" indent="0">
              <a:buNone/>
              <a:defRPr sz="1399"/>
            </a:lvl1pPr>
            <a:lvl2pPr marL="456933" indent="0">
              <a:buNone/>
              <a:defRPr sz="1199"/>
            </a:lvl2pPr>
            <a:lvl3pPr marL="913866" indent="0">
              <a:buNone/>
              <a:defRPr sz="999"/>
            </a:lvl3pPr>
            <a:lvl4pPr marL="1370800" indent="0">
              <a:buNone/>
              <a:defRPr sz="899"/>
            </a:lvl4pPr>
            <a:lvl5pPr marL="1827733" indent="0">
              <a:buNone/>
              <a:defRPr sz="899"/>
            </a:lvl5pPr>
            <a:lvl6pPr marL="2284667" indent="0">
              <a:buNone/>
              <a:defRPr sz="899"/>
            </a:lvl6pPr>
            <a:lvl7pPr marL="2741599" indent="0">
              <a:buNone/>
              <a:defRPr sz="899"/>
            </a:lvl7pPr>
            <a:lvl8pPr marL="3198533" indent="0">
              <a:buNone/>
              <a:defRPr sz="899"/>
            </a:lvl8pPr>
            <a:lvl9pPr marL="3655466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570870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4153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3556" y="381000"/>
            <a:ext cx="2148662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7572" y="381000"/>
            <a:ext cx="6283821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83929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36439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8312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1"/>
            <a:ext cx="83919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6"/>
            <a:ext cx="83919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54572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6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838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365128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2" y="1681163"/>
            <a:ext cx="411615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2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86512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65559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03347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6" y="987428"/>
            <a:ext cx="492570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6631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6" y="987428"/>
            <a:ext cx="492570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8921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79773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5"/>
            <a:ext cx="617233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15451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34356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11907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1"/>
            <a:ext cx="83919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6"/>
            <a:ext cx="83919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549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6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44834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365128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2" y="1681163"/>
            <a:ext cx="411615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2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9109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28408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65913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6" y="987428"/>
            <a:ext cx="492570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21387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6" y="987428"/>
            <a:ext cx="492570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96411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690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5"/>
            <a:ext cx="617233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42811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73052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48855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1"/>
            <a:ext cx="83919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6"/>
            <a:ext cx="83919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89327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6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74823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365128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2" y="1681163"/>
            <a:ext cx="411615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2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18083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47246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63569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6" y="987428"/>
            <a:ext cx="492570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2818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6" y="987428"/>
            <a:ext cx="492570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67903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38118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5"/>
            <a:ext cx="617233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45323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5567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96343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1"/>
            <a:ext cx="83919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6"/>
            <a:ext cx="83919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29954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6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51356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365128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2" y="1681163"/>
            <a:ext cx="411615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2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42720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5867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03492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6" y="987428"/>
            <a:ext cx="492570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00760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6" y="987428"/>
            <a:ext cx="492570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86661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59043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5"/>
            <a:ext cx="617233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31048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87476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33811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1"/>
            <a:ext cx="83919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6"/>
            <a:ext cx="83919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6281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6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58680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365128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2" y="1681163"/>
            <a:ext cx="411615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2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63822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34281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31763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6" y="987428"/>
            <a:ext cx="492570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52232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6" y="987428"/>
            <a:ext cx="492570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68787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33591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5"/>
            <a:ext cx="617233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891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076" y="1161143"/>
            <a:ext cx="9034803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363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729742" rtl="0" eaLnBrk="1" latinLnBrk="0" hangingPunct="1">
        <a:lnSpc>
          <a:spcPct val="90000"/>
        </a:lnSpc>
        <a:spcBef>
          <a:spcPct val="0"/>
        </a:spcBef>
        <a:buNone/>
        <a:defRPr sz="3511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182436" indent="-182436" algn="l" defTabSz="729742" rtl="0" eaLnBrk="1" latinLnBrk="0" hangingPunct="1">
        <a:lnSpc>
          <a:spcPct val="90000"/>
        </a:lnSpc>
        <a:spcBef>
          <a:spcPts val="798"/>
        </a:spcBef>
        <a:buFont typeface="Arial" panose="020B0604020202020204" pitchFamily="34" charset="0"/>
        <a:buChar char="•"/>
        <a:defRPr sz="3192" kern="1200">
          <a:solidFill>
            <a:schemeClr val="tx1"/>
          </a:solidFill>
          <a:latin typeface="+mn-lt"/>
          <a:ea typeface="+mn-ea"/>
          <a:cs typeface="+mn-cs"/>
        </a:defRPr>
      </a:lvl1pPr>
      <a:lvl2pPr marL="54730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873" kern="1200">
          <a:solidFill>
            <a:schemeClr val="tx1"/>
          </a:solidFill>
          <a:latin typeface="+mn-lt"/>
          <a:ea typeface="+mn-ea"/>
          <a:cs typeface="+mn-cs"/>
        </a:defRPr>
      </a:lvl2pPr>
      <a:lvl3pPr marL="91217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553" kern="1200">
          <a:solidFill>
            <a:schemeClr val="tx1"/>
          </a:solidFill>
          <a:latin typeface="+mn-lt"/>
          <a:ea typeface="+mn-ea"/>
          <a:cs typeface="+mn-cs"/>
        </a:defRPr>
      </a:lvl3pPr>
      <a:lvl4pPr marL="1277049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4pPr>
      <a:lvl5pPr marL="164192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5pPr>
      <a:lvl6pPr marL="200679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371662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736533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3101404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1pPr>
      <a:lvl2pPr marL="364871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2pPr>
      <a:lvl3pPr marL="729742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3pPr>
      <a:lvl4pPr marL="1094613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4pPr>
      <a:lvl5pPr marL="1459484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5pPr>
      <a:lvl6pPr marL="182435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18922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554097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2918969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076" y="1161143"/>
            <a:ext cx="9034803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17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729742" rtl="0" eaLnBrk="1" latinLnBrk="0" hangingPunct="1">
        <a:lnSpc>
          <a:spcPct val="90000"/>
        </a:lnSpc>
        <a:spcBef>
          <a:spcPct val="0"/>
        </a:spcBef>
        <a:buNone/>
        <a:defRPr sz="3511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182436" indent="-182436" algn="l" defTabSz="729742" rtl="0" eaLnBrk="1" latinLnBrk="0" hangingPunct="1">
        <a:lnSpc>
          <a:spcPct val="90000"/>
        </a:lnSpc>
        <a:spcBef>
          <a:spcPts val="798"/>
        </a:spcBef>
        <a:buFont typeface="Arial" panose="020B0604020202020204" pitchFamily="34" charset="0"/>
        <a:buChar char="•"/>
        <a:defRPr sz="3192" kern="1200">
          <a:solidFill>
            <a:schemeClr val="tx1"/>
          </a:solidFill>
          <a:latin typeface="+mn-lt"/>
          <a:ea typeface="+mn-ea"/>
          <a:cs typeface="+mn-cs"/>
        </a:defRPr>
      </a:lvl1pPr>
      <a:lvl2pPr marL="54730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873" kern="1200">
          <a:solidFill>
            <a:schemeClr val="tx1"/>
          </a:solidFill>
          <a:latin typeface="+mn-lt"/>
          <a:ea typeface="+mn-ea"/>
          <a:cs typeface="+mn-cs"/>
        </a:defRPr>
      </a:lvl2pPr>
      <a:lvl3pPr marL="91217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553" kern="1200">
          <a:solidFill>
            <a:schemeClr val="tx1"/>
          </a:solidFill>
          <a:latin typeface="+mn-lt"/>
          <a:ea typeface="+mn-ea"/>
          <a:cs typeface="+mn-cs"/>
        </a:defRPr>
      </a:lvl3pPr>
      <a:lvl4pPr marL="1277049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4pPr>
      <a:lvl5pPr marL="164192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5pPr>
      <a:lvl6pPr marL="200679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371662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736533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3101404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1pPr>
      <a:lvl2pPr marL="364871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2pPr>
      <a:lvl3pPr marL="729742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3pPr>
      <a:lvl4pPr marL="1094613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4pPr>
      <a:lvl5pPr marL="1459484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5pPr>
      <a:lvl6pPr marL="182435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18922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554097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2918969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4" y="365127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4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52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3866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67" indent="-228467" algn="l" defTabSz="913866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400" indent="-228467" algn="l" defTabSz="9138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333" indent="-228467" algn="l" defTabSz="9138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266" indent="-228467" algn="l" defTabSz="9138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00" indent="-228467" algn="l" defTabSz="9138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132" indent="-228467" algn="l" defTabSz="9138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066" indent="-228467" algn="l" defTabSz="9138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6999" indent="-228467" algn="l" defTabSz="9138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3933" indent="-228467" algn="l" defTabSz="9138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66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00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667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599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5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466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7571" y="381000"/>
            <a:ext cx="859464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7571" y="1295401"/>
            <a:ext cx="8594646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7571" y="6324601"/>
            <a:ext cx="6243281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99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3015" y="6324601"/>
            <a:ext cx="218920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99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756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6933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6pPr>
      <a:lvl7pPr marL="913866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7pPr>
      <a:lvl8pPr marL="1370800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8pPr>
      <a:lvl9pPr marL="1827733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9pPr>
    </p:titleStyle>
    <p:bodyStyle>
      <a:lvl1pPr marL="342700" indent="-3427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598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516" indent="-285584" algn="l" rtl="0" eaLnBrk="0" fontAlgn="base" hangingPunct="0">
        <a:spcBef>
          <a:spcPct val="20000"/>
        </a:spcBef>
        <a:spcAft>
          <a:spcPct val="0"/>
        </a:spcAft>
        <a:buChar char="–"/>
        <a:defRPr sz="2398">
          <a:solidFill>
            <a:srgbClr val="222222"/>
          </a:solidFill>
          <a:latin typeface="+mn-lt"/>
          <a:ea typeface="MS PGothic" pitchFamily="34" charset="-128"/>
        </a:defRPr>
      </a:lvl2pPr>
      <a:lvl3pPr marL="1142333" indent="-228467" algn="l" rtl="0" eaLnBrk="0" fontAlgn="base" hangingPunct="0">
        <a:spcBef>
          <a:spcPct val="20000"/>
        </a:spcBef>
        <a:spcAft>
          <a:spcPct val="0"/>
        </a:spcAft>
        <a:buChar char="•"/>
        <a:defRPr sz="2199">
          <a:solidFill>
            <a:srgbClr val="222222"/>
          </a:solidFill>
          <a:latin typeface="+mn-lt"/>
          <a:ea typeface="MS PGothic" pitchFamily="34" charset="-128"/>
        </a:defRPr>
      </a:lvl3pPr>
      <a:lvl4pPr marL="1599266" indent="-228467" algn="l" rtl="0" eaLnBrk="0" fontAlgn="base" hangingPunct="0">
        <a:spcBef>
          <a:spcPct val="20000"/>
        </a:spcBef>
        <a:spcAft>
          <a:spcPct val="0"/>
        </a:spcAft>
        <a:buChar char="–"/>
        <a:defRPr sz="2199">
          <a:solidFill>
            <a:srgbClr val="222222"/>
          </a:solidFill>
          <a:latin typeface="+mn-lt"/>
          <a:ea typeface="MS PGothic" pitchFamily="34" charset="-128"/>
        </a:defRPr>
      </a:lvl4pPr>
      <a:lvl5pPr marL="2056200" indent="-228467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3132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6pPr>
      <a:lvl7pPr marL="2970066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7pPr>
      <a:lvl8pPr marL="3426999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8pPr>
      <a:lvl9pPr marL="3883933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66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00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667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599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5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466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7571" y="381000"/>
            <a:ext cx="859464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7571" y="1295401"/>
            <a:ext cx="8594646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7571" y="6324601"/>
            <a:ext cx="6243281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99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3015" y="6324601"/>
            <a:ext cx="218920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99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874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6933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6pPr>
      <a:lvl7pPr marL="913866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7pPr>
      <a:lvl8pPr marL="1370800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8pPr>
      <a:lvl9pPr marL="1827733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9pPr>
    </p:titleStyle>
    <p:bodyStyle>
      <a:lvl1pPr marL="342700" indent="-3427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598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516" indent="-285584" algn="l" rtl="0" eaLnBrk="0" fontAlgn="base" hangingPunct="0">
        <a:spcBef>
          <a:spcPct val="20000"/>
        </a:spcBef>
        <a:spcAft>
          <a:spcPct val="0"/>
        </a:spcAft>
        <a:buChar char="–"/>
        <a:defRPr sz="2398">
          <a:solidFill>
            <a:srgbClr val="222222"/>
          </a:solidFill>
          <a:latin typeface="+mn-lt"/>
          <a:ea typeface="MS PGothic" pitchFamily="34" charset="-128"/>
        </a:defRPr>
      </a:lvl2pPr>
      <a:lvl3pPr marL="1142333" indent="-228467" algn="l" rtl="0" eaLnBrk="0" fontAlgn="base" hangingPunct="0">
        <a:spcBef>
          <a:spcPct val="20000"/>
        </a:spcBef>
        <a:spcAft>
          <a:spcPct val="0"/>
        </a:spcAft>
        <a:buChar char="•"/>
        <a:defRPr sz="2199">
          <a:solidFill>
            <a:srgbClr val="222222"/>
          </a:solidFill>
          <a:latin typeface="+mn-lt"/>
          <a:ea typeface="MS PGothic" pitchFamily="34" charset="-128"/>
        </a:defRPr>
      </a:lvl3pPr>
      <a:lvl4pPr marL="1599266" indent="-228467" algn="l" rtl="0" eaLnBrk="0" fontAlgn="base" hangingPunct="0">
        <a:spcBef>
          <a:spcPct val="20000"/>
        </a:spcBef>
        <a:spcAft>
          <a:spcPct val="0"/>
        </a:spcAft>
        <a:buChar char="–"/>
        <a:defRPr sz="2199">
          <a:solidFill>
            <a:srgbClr val="222222"/>
          </a:solidFill>
          <a:latin typeface="+mn-lt"/>
          <a:ea typeface="MS PGothic" pitchFamily="34" charset="-128"/>
        </a:defRPr>
      </a:lvl4pPr>
      <a:lvl5pPr marL="2056200" indent="-228467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3132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6pPr>
      <a:lvl7pPr marL="2970066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7pPr>
      <a:lvl8pPr marL="3426999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8pPr>
      <a:lvl9pPr marL="3883933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66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00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667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599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5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466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4" y="365128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4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4" y="6356353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993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4" y="365128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4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4" y="6356353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76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4" y="365128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4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4" y="6356353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18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4" y="365128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4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4" y="6356353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432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4" y="365128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4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4" y="6356353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5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python/number_ceil.htm" TargetMode="External"/><Relationship Id="rId2" Type="http://schemas.openxmlformats.org/officeDocument/2006/relationships/hyperlink" Target="http://www.tutorialspoint.com/python/number_abs.htm" TargetMode="External"/><Relationship Id="rId1" Type="http://schemas.openxmlformats.org/officeDocument/2006/relationships/slideLayout" Target="../slideLayouts/slideLayout68.xml"/><Relationship Id="rId5" Type="http://schemas.openxmlformats.org/officeDocument/2006/relationships/hyperlink" Target="http://www.tutorialspoint.com/python/number_min.htm" TargetMode="External"/><Relationship Id="rId4" Type="http://schemas.openxmlformats.org/officeDocument/2006/relationships/hyperlink" Target="http://www.tutorialspoint.com/python/number_max.htm" TargetMode="Externa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python/number_max.htm" TargetMode="External"/><Relationship Id="rId1" Type="http://schemas.openxmlformats.org/officeDocument/2006/relationships/slideLayout" Target="../slideLayouts/slideLayout6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python/number_max.htm" TargetMode="External"/><Relationship Id="rId1" Type="http://schemas.openxmlformats.org/officeDocument/2006/relationships/slideLayout" Target="../slideLayouts/slideLayout68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python/number_max.htm" TargetMode="External"/><Relationship Id="rId1" Type="http://schemas.openxmlformats.org/officeDocument/2006/relationships/slideLayout" Target="../slideLayouts/slideLayout68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python/number_max.htm" TargetMode="External"/><Relationship Id="rId2" Type="http://schemas.openxmlformats.org/officeDocument/2006/relationships/hyperlink" Target="http://www.tutorialspoint.com/python/number_ceil.htm" TargetMode="External"/><Relationship Id="rId1" Type="http://schemas.openxmlformats.org/officeDocument/2006/relationships/slideLayout" Target="../slideLayouts/slideLayout68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python/number_max.htm" TargetMode="External"/><Relationship Id="rId1" Type="http://schemas.openxmlformats.org/officeDocument/2006/relationships/slideLayout" Target="../slideLayouts/slideLayout68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utorialspoint.com/python/string_count.htm" TargetMode="External"/><Relationship Id="rId13" Type="http://schemas.openxmlformats.org/officeDocument/2006/relationships/hyperlink" Target="http://www.tutorialspoint.com/python/string_index.htm" TargetMode="External"/><Relationship Id="rId3" Type="http://schemas.openxmlformats.org/officeDocument/2006/relationships/hyperlink" Target="http://www.tutorialspoint.com/python/string_isa1num.htm" TargetMode="External"/><Relationship Id="rId7" Type="http://schemas.openxmlformats.org/officeDocument/2006/relationships/hyperlink" Target="http://www.tutorialspoint.com/python/string_center.htm" TargetMode="External"/><Relationship Id="rId12" Type="http://schemas.openxmlformats.org/officeDocument/2006/relationships/hyperlink" Target="http://www.tutorialspoint.com/python/string_find.htm" TargetMode="External"/><Relationship Id="rId2" Type="http://schemas.openxmlformats.org/officeDocument/2006/relationships/hyperlink" Target="http://www.tutorialspoint.com/python/string_splitlines.htm" TargetMode="External"/><Relationship Id="rId1" Type="http://schemas.openxmlformats.org/officeDocument/2006/relationships/slideLayout" Target="../slideLayouts/slideLayout101.xml"/><Relationship Id="rId6" Type="http://schemas.openxmlformats.org/officeDocument/2006/relationships/hyperlink" Target="http://www.tutorialspoint.com/python/string_decode.htm" TargetMode="External"/><Relationship Id="rId11" Type="http://schemas.openxmlformats.org/officeDocument/2006/relationships/hyperlink" Target="http://www.tutorialspoint.com/python/string_encode.htm" TargetMode="External"/><Relationship Id="rId5" Type="http://schemas.openxmlformats.org/officeDocument/2006/relationships/hyperlink" Target="http://www.tutorialspoint.com/python/string_endswith.htm" TargetMode="External"/><Relationship Id="rId10" Type="http://schemas.openxmlformats.org/officeDocument/2006/relationships/hyperlink" Target="http://www.tutorialspoint.com/python/string_expandtabs.htm" TargetMode="External"/><Relationship Id="rId4" Type="http://schemas.openxmlformats.org/officeDocument/2006/relationships/hyperlink" Target="http://www.tutorialspoint.com/python/string_capitalize.htm" TargetMode="External"/><Relationship Id="rId9" Type="http://schemas.openxmlformats.org/officeDocument/2006/relationships/hyperlink" Target="http://www.tutorialspoint.com/python/string_ljust.htm" TargetMode="External"/></Relationships>
</file>

<file path=ppt/slides/_rels/slide17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utorialspoint.com/python/list_remove.htm" TargetMode="External"/><Relationship Id="rId3" Type="http://schemas.openxmlformats.org/officeDocument/2006/relationships/hyperlink" Target="http://www.tutorialspoint.com/python/list_count.htm" TargetMode="External"/><Relationship Id="rId7" Type="http://schemas.openxmlformats.org/officeDocument/2006/relationships/hyperlink" Target="http://www.tutorialspoint.com/python/list_pop.htm" TargetMode="External"/><Relationship Id="rId2" Type="http://schemas.openxmlformats.org/officeDocument/2006/relationships/hyperlink" Target="http://www.tutorialspoint.com/python/list_append.htm" TargetMode="External"/><Relationship Id="rId1" Type="http://schemas.openxmlformats.org/officeDocument/2006/relationships/slideLayout" Target="../slideLayouts/slideLayout101.xml"/><Relationship Id="rId6" Type="http://schemas.openxmlformats.org/officeDocument/2006/relationships/hyperlink" Target="http://www.tutorialspoint.com/python/list_insert.htm" TargetMode="External"/><Relationship Id="rId5" Type="http://schemas.openxmlformats.org/officeDocument/2006/relationships/hyperlink" Target="http://www.tutorialspoint.com/python/list_index.htm" TargetMode="External"/><Relationship Id="rId10" Type="http://schemas.openxmlformats.org/officeDocument/2006/relationships/hyperlink" Target="http://www.tutorialspoint.com/python/list_sort.htm" TargetMode="External"/><Relationship Id="rId4" Type="http://schemas.openxmlformats.org/officeDocument/2006/relationships/hyperlink" Target="http://www.tutorialspoint.com/python/list_extend.htm" TargetMode="External"/><Relationship Id="rId9" Type="http://schemas.openxmlformats.org/officeDocument/2006/relationships/hyperlink" Target="http://www.tutorialspoint.com/python/list_reverse.htm" TargetMode="Externa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python/list_index.htm" TargetMode="External"/><Relationship Id="rId2" Type="http://schemas.openxmlformats.org/officeDocument/2006/relationships/hyperlink" Target="http://www.tutorialspoint.com/python/list_count.htm" TargetMode="External"/><Relationship Id="rId1" Type="http://schemas.openxmlformats.org/officeDocument/2006/relationships/slideLayout" Target="../slideLayouts/slideLayout101.xml"/></Relationships>
</file>

<file path=ppt/slides/_rels/slide17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utorialspoint.com/python/string_isalpha.htm" TargetMode="External"/><Relationship Id="rId3" Type="http://schemas.openxmlformats.org/officeDocument/2006/relationships/hyperlink" Target="http://www.tutorialspoint.com/python/string_count.htm" TargetMode="External"/><Relationship Id="rId7" Type="http://schemas.openxmlformats.org/officeDocument/2006/relationships/hyperlink" Target="http://www.tutorialspoint.com/python/string_isa1num.htm" TargetMode="External"/><Relationship Id="rId2" Type="http://schemas.openxmlformats.org/officeDocument/2006/relationships/hyperlink" Target="http://www.tutorialspoint.com/python/string_capitalize.htm" TargetMode="External"/><Relationship Id="rId1" Type="http://schemas.openxmlformats.org/officeDocument/2006/relationships/slideLayout" Target="../slideLayouts/slideLayout101.xml"/><Relationship Id="rId6" Type="http://schemas.openxmlformats.org/officeDocument/2006/relationships/hyperlink" Target="http://www.tutorialspoint.com/python/string_index.htm" TargetMode="External"/><Relationship Id="rId11" Type="http://schemas.openxmlformats.org/officeDocument/2006/relationships/hyperlink" Target="http://www.tutorialspoint.com/python/string_isnumeric.htm" TargetMode="External"/><Relationship Id="rId5" Type="http://schemas.openxmlformats.org/officeDocument/2006/relationships/hyperlink" Target="http://www.tutorialspoint.com/python/string_find.htm" TargetMode="External"/><Relationship Id="rId10" Type="http://schemas.openxmlformats.org/officeDocument/2006/relationships/hyperlink" Target="http://www.tutorialspoint.com/python/string_islower.htm" TargetMode="External"/><Relationship Id="rId4" Type="http://schemas.openxmlformats.org/officeDocument/2006/relationships/hyperlink" Target="http://www.tutorialspoint.com/python/string_encode.htm" TargetMode="External"/><Relationship Id="rId9" Type="http://schemas.openxmlformats.org/officeDocument/2006/relationships/hyperlink" Target="http://www.tutorialspoint.com/python/string_isdigit.htm" TargetMode="External"/></Relationships>
</file>

<file path=ppt/slides/_rels/slide17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utorialspoint.com/python/string_startswith.htm" TargetMode="External"/><Relationship Id="rId3" Type="http://schemas.openxmlformats.org/officeDocument/2006/relationships/hyperlink" Target="http://www.tutorialspoint.com/python/string_islower.htm" TargetMode="External"/><Relationship Id="rId7" Type="http://schemas.openxmlformats.org/officeDocument/2006/relationships/hyperlink" Target="http://www.tutorialspoint.com/python/string_split.htm" TargetMode="External"/><Relationship Id="rId2" Type="http://schemas.openxmlformats.org/officeDocument/2006/relationships/hyperlink" Target="http://www.tutorialspoint.com/python/string_capitalize.htm" TargetMode="External"/><Relationship Id="rId1" Type="http://schemas.openxmlformats.org/officeDocument/2006/relationships/slideLayout" Target="../slideLayouts/slideLayout101.xml"/><Relationship Id="rId6" Type="http://schemas.openxmlformats.org/officeDocument/2006/relationships/hyperlink" Target="http://www.tutorialspoint.com/python/string_replace.htm" TargetMode="External"/><Relationship Id="rId5" Type="http://schemas.openxmlformats.org/officeDocument/2006/relationships/hyperlink" Target="http://www.tutorialspoint.com/python/string_lower.htm" TargetMode="External"/><Relationship Id="rId4" Type="http://schemas.openxmlformats.org/officeDocument/2006/relationships/hyperlink" Target="http://www.tutorialspoint.com/python/string_join.htm" TargetMode="External"/><Relationship Id="rId9" Type="http://schemas.openxmlformats.org/officeDocument/2006/relationships/hyperlink" Target="http://www.tutorialspoint.com/python/string_upper.htm" TargetMode="Externa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python/dictionary_copy.htm" TargetMode="External"/><Relationship Id="rId7" Type="http://schemas.openxmlformats.org/officeDocument/2006/relationships/hyperlink" Target="http://www.tutorialspoint.com/python/dictionary_keys.htm" TargetMode="External"/><Relationship Id="rId2" Type="http://schemas.openxmlformats.org/officeDocument/2006/relationships/hyperlink" Target="http://www.tutorialspoint.com/python/dictionary_clear.htm" TargetMode="External"/><Relationship Id="rId1" Type="http://schemas.openxmlformats.org/officeDocument/2006/relationships/slideLayout" Target="../slideLayouts/slideLayout101.xml"/><Relationship Id="rId6" Type="http://schemas.openxmlformats.org/officeDocument/2006/relationships/hyperlink" Target="http://www.tutorialspoint.com/python/dictionary_items.htm" TargetMode="External"/><Relationship Id="rId5" Type="http://schemas.openxmlformats.org/officeDocument/2006/relationships/hyperlink" Target="http://www.tutorialspoint.com/python/dictionary_get.htm" TargetMode="External"/><Relationship Id="rId4" Type="http://schemas.openxmlformats.org/officeDocument/2006/relationships/hyperlink" Target="http://www.tutorialspoint.com/python/dictionary_fromkeys.htm" TargetMode="Externa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python/dictionary_copy.htm" TargetMode="External"/><Relationship Id="rId7" Type="http://schemas.openxmlformats.org/officeDocument/2006/relationships/hyperlink" Target="http://www.tutorialspoint.com/python/dictionary_keys.htm" TargetMode="External"/><Relationship Id="rId2" Type="http://schemas.openxmlformats.org/officeDocument/2006/relationships/hyperlink" Target="http://www.tutorialspoint.com/python/dictionary_clear.htm" TargetMode="External"/><Relationship Id="rId1" Type="http://schemas.openxmlformats.org/officeDocument/2006/relationships/slideLayout" Target="../slideLayouts/slideLayout101.xml"/><Relationship Id="rId6" Type="http://schemas.openxmlformats.org/officeDocument/2006/relationships/hyperlink" Target="http://www.tutorialspoint.com/python/dictionary_items.htm" TargetMode="External"/><Relationship Id="rId5" Type="http://schemas.openxmlformats.org/officeDocument/2006/relationships/hyperlink" Target="http://www.tutorialspoint.com/python/dictionary_get.htm" TargetMode="External"/><Relationship Id="rId4" Type="http://schemas.openxmlformats.org/officeDocument/2006/relationships/hyperlink" Target="http://www.tutorialspoint.com/python/dictionary_fromkeys.htm" TargetMode="Externa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0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python/dictionary_copy.htm" TargetMode="External"/><Relationship Id="rId7" Type="http://schemas.openxmlformats.org/officeDocument/2006/relationships/hyperlink" Target="http://www.tutorialspoint.com/python/dictionary_keys.htm" TargetMode="External"/><Relationship Id="rId2" Type="http://schemas.openxmlformats.org/officeDocument/2006/relationships/hyperlink" Target="http://www.tutorialspoint.com/python/dictionary_clear.htm" TargetMode="External"/><Relationship Id="rId1" Type="http://schemas.openxmlformats.org/officeDocument/2006/relationships/slideLayout" Target="../slideLayouts/slideLayout101.xml"/><Relationship Id="rId6" Type="http://schemas.openxmlformats.org/officeDocument/2006/relationships/hyperlink" Target="http://www.tutorialspoint.com/python/dictionary_items.htm" TargetMode="External"/><Relationship Id="rId5" Type="http://schemas.openxmlformats.org/officeDocument/2006/relationships/hyperlink" Target="http://www.tutorialspoint.com/python/dictionary_get.htm" TargetMode="External"/><Relationship Id="rId4" Type="http://schemas.openxmlformats.org/officeDocument/2006/relationships/hyperlink" Target="http://www.tutorialspoint.com/python/dictionary_fromkeys.htm" TargetMode="External"/></Relationships>
</file>

<file path=ppt/slides/_rels/slide17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utorialspoint.com/python/dictionary_values.htm" TargetMode="External"/><Relationship Id="rId3" Type="http://schemas.openxmlformats.org/officeDocument/2006/relationships/hyperlink" Target="http://www.tutorialspoint.com/python/dictionary_copy.htm" TargetMode="External"/><Relationship Id="rId7" Type="http://schemas.openxmlformats.org/officeDocument/2006/relationships/hyperlink" Target="http://www.tutorialspoint.com/python/dictionary_keys.htm" TargetMode="External"/><Relationship Id="rId2" Type="http://schemas.openxmlformats.org/officeDocument/2006/relationships/hyperlink" Target="http://www.tutorialspoint.com/python/dictionary_clear.htm" TargetMode="External"/><Relationship Id="rId1" Type="http://schemas.openxmlformats.org/officeDocument/2006/relationships/slideLayout" Target="../slideLayouts/slideLayout101.xml"/><Relationship Id="rId6" Type="http://schemas.openxmlformats.org/officeDocument/2006/relationships/hyperlink" Target="http://www.tutorialspoint.com/python/dictionary_items.htm" TargetMode="External"/><Relationship Id="rId5" Type="http://schemas.openxmlformats.org/officeDocument/2006/relationships/hyperlink" Target="http://www.tutorialspoint.com/python/dictionary_get.htm" TargetMode="External"/><Relationship Id="rId4" Type="http://schemas.openxmlformats.org/officeDocument/2006/relationships/hyperlink" Target="http://www.tutorialspoint.com/python/dictionary_fromkeys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391474" y="1161143"/>
            <a:ext cx="9214642" cy="501582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132" dirty="0"/>
              <a:t>Python has six standard data types: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Number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String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List</a:t>
            </a:r>
            <a:endParaRPr lang="en-US" altLang="en-US" sz="2800" dirty="0">
              <a:solidFill>
                <a:srgbClr val="A6A6A6"/>
              </a:solidFill>
              <a:latin typeface="Elephant" panose="02020904090505020303" pitchFamily="18" charset="0"/>
            </a:endParaRP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Tuple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Set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Dictionary</a:t>
            </a:r>
            <a:endParaRPr lang="en-US" altLang="en-US" sz="2800" dirty="0">
              <a:solidFill>
                <a:srgbClr val="A6A6A6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-1" y="53699"/>
            <a:ext cx="9729789" cy="1010254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Data Types:</a:t>
            </a:r>
          </a:p>
        </p:txBody>
      </p:sp>
    </p:spTree>
    <p:extLst>
      <p:ext uri="{BB962C8B-B14F-4D97-AF65-F5344CB8AC3E}">
        <p14:creationId xmlns:p14="http://schemas.microsoft.com/office/powerpoint/2010/main" val="399708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40494" y="792804"/>
            <a:ext cx="9434055" cy="593991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smtClean="0">
                <a:solidFill>
                  <a:srgbClr val="7030A0"/>
                </a:solidFill>
              </a:rPr>
              <a:t>Defining a set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998" dirty="0" smtClean="0">
                <a:solidFill>
                  <a:srgbClr val="FF0000"/>
                </a:solidFill>
              </a:rPr>
              <a:t>In Math </a:t>
            </a:r>
            <a:r>
              <a:rPr lang="en-US" altLang="zh-TW" sz="2998" dirty="0">
                <a:solidFill>
                  <a:srgbClr val="FF0000"/>
                </a:solidFill>
              </a:rPr>
              <a:t>(</a:t>
            </a:r>
            <a:r>
              <a:rPr lang="zh-TW" altLang="en-US" sz="2800" dirty="0">
                <a:solidFill>
                  <a:srgbClr val="FF0000"/>
                </a:solidFill>
              </a:rPr>
              <a:t>數</a:t>
            </a:r>
            <a:r>
              <a:rPr lang="zh-TW" altLang="en-US" sz="2800" dirty="0" smtClean="0">
                <a:solidFill>
                  <a:srgbClr val="FF0000"/>
                </a:solidFill>
              </a:rPr>
              <a:t>學</a:t>
            </a:r>
            <a:r>
              <a:rPr lang="en-US" altLang="zh-TW" sz="2998" dirty="0" smtClean="0">
                <a:solidFill>
                  <a:srgbClr val="FF0000"/>
                </a:solidFill>
              </a:rPr>
              <a:t>), you use the </a:t>
            </a:r>
            <a:r>
              <a:rPr lang="en-US" altLang="zh-TW" sz="2998" dirty="0" smtClean="0">
                <a:solidFill>
                  <a:schemeClr val="tx1"/>
                </a:solidFill>
              </a:rPr>
              <a:t>{</a:t>
            </a:r>
            <a:r>
              <a:rPr lang="en-US" altLang="zh-TW" sz="2998" dirty="0" smtClean="0">
                <a:solidFill>
                  <a:srgbClr val="FF0000"/>
                </a:solidFill>
              </a:rPr>
              <a:t>…</a:t>
            </a:r>
            <a:r>
              <a:rPr lang="en-US" altLang="zh-TW" sz="2998" dirty="0" smtClean="0">
                <a:solidFill>
                  <a:schemeClr val="tx1"/>
                </a:solidFill>
              </a:rPr>
              <a:t>}</a:t>
            </a:r>
            <a:r>
              <a:rPr lang="en-US" altLang="zh-TW" sz="2998" dirty="0" smtClean="0">
                <a:solidFill>
                  <a:srgbClr val="FF0000"/>
                </a:solidFill>
              </a:rPr>
              <a:t> symbols for a set.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TW" sz="2798" dirty="0" smtClean="0">
                <a:solidFill>
                  <a:srgbClr val="F4B400"/>
                </a:solidFill>
              </a:rPr>
              <a:t>Python uses the same notation:</a:t>
            </a:r>
            <a:r>
              <a:rPr lang="en-US" altLang="zh-TW" sz="2798" dirty="0" smtClean="0">
                <a:solidFill>
                  <a:srgbClr val="FFC000"/>
                </a:solidFill>
              </a:rPr>
              <a:t/>
            </a:r>
            <a:br>
              <a:rPr lang="en-US" altLang="zh-TW" sz="2798" dirty="0" smtClean="0">
                <a:solidFill>
                  <a:srgbClr val="FFC000"/>
                </a:solidFill>
              </a:rPr>
            </a:br>
            <a:r>
              <a:rPr lang="en-US" altLang="zh-TW" sz="2798" dirty="0" smtClean="0">
                <a:solidFill>
                  <a:schemeClr val="tx1"/>
                </a:solidFill>
              </a:rPr>
              <a:t>&gt;&gt;&gt; S = {1, 2, 3}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smtClean="0">
                <a:solidFill>
                  <a:srgbClr val="7030A0"/>
                </a:solidFill>
              </a:rPr>
              <a:t>Operating on a set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998" spc="-80" dirty="0" smtClean="0">
                <a:solidFill>
                  <a:srgbClr val="2D2DB9"/>
                </a:solidFill>
              </a:rPr>
              <a:t>Python uses keyboard equivalents to the math</a:t>
            </a:r>
            <a:r>
              <a:rPr lang="en-US" altLang="zh-TW" sz="2998" spc="-80" dirty="0" smtClean="0">
                <a:solidFill>
                  <a:srgbClr val="2D2DB9"/>
                </a:solidFill>
              </a:rPr>
              <a:t> symbols:</a:t>
            </a:r>
            <a:endParaRPr lang="en-US" altLang="zh-TW" sz="2998" spc="-80" dirty="0">
              <a:solidFill>
                <a:srgbClr val="2D2DB9"/>
              </a:solidFill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D2DB9"/>
                </a:solidFill>
              </a:rPr>
              <a:t> </a:t>
            </a:r>
            <a:r>
              <a:rPr lang="en-US" sz="2400" dirty="0" smtClean="0">
                <a:solidFill>
                  <a:srgbClr val="2D2DB9"/>
                </a:solidFill>
              </a:rPr>
              <a:t>   </a:t>
            </a:r>
            <a:r>
              <a:rPr lang="en-US" sz="2400" dirty="0" smtClean="0">
                <a:solidFill>
                  <a:srgbClr val="FF0000"/>
                </a:solidFill>
              </a:rPr>
              <a:t>   Math:    Union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2400" spc="-100" dirty="0">
                <a:solidFill>
                  <a:srgbClr val="FF0000"/>
                </a:solidFill>
              </a:rPr>
              <a:t>(</a:t>
            </a:r>
            <a:r>
              <a:rPr lang="en-US" sz="2400" b="1" spc="-100" dirty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∪</a:t>
            </a:r>
            <a:r>
              <a:rPr lang="en-US" sz="2400" dirty="0">
                <a:solidFill>
                  <a:srgbClr val="FF0000"/>
                </a:solidFill>
              </a:rPr>
              <a:t>),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Intersection</a:t>
            </a:r>
            <a:r>
              <a:rPr lang="en-US" sz="1100" dirty="0">
                <a:solidFill>
                  <a:srgbClr val="FF0000"/>
                </a:solidFill>
              </a:rPr>
              <a:t> </a:t>
            </a:r>
            <a:r>
              <a:rPr lang="en-US" sz="2400" spc="-100" dirty="0">
                <a:solidFill>
                  <a:srgbClr val="FF0000"/>
                </a:solidFill>
              </a:rPr>
              <a:t>(</a:t>
            </a:r>
            <a:r>
              <a:rPr lang="en-US" sz="2400" b="1" spc="-100" dirty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∩</a:t>
            </a:r>
            <a:r>
              <a:rPr lang="en-US" sz="2400" dirty="0">
                <a:solidFill>
                  <a:srgbClr val="FF0000"/>
                </a:solidFill>
              </a:rPr>
              <a:t>), </a:t>
            </a:r>
            <a:r>
              <a:rPr lang="en-US" sz="2400" dirty="0" err="1" smtClean="0">
                <a:solidFill>
                  <a:srgbClr val="FF0000"/>
                </a:solidFill>
              </a:rPr>
              <a:t>Xor</a:t>
            </a:r>
            <a:r>
              <a:rPr lang="en-US" sz="300" dirty="0">
                <a:solidFill>
                  <a:srgbClr val="FF0000"/>
                </a:solidFill>
              </a:rPr>
              <a:t> </a:t>
            </a:r>
            <a:r>
              <a:rPr lang="en-US" sz="300" dirty="0" smtClean="0">
                <a:solidFill>
                  <a:srgbClr val="FF0000"/>
                </a:solidFill>
              </a:rPr>
              <a:t>  </a:t>
            </a:r>
            <a:r>
              <a:rPr lang="en-US" sz="2400" dirty="0" smtClean="0">
                <a:solidFill>
                  <a:srgbClr val="FF0000"/>
                </a:solidFill>
              </a:rPr>
              <a:t>(</a:t>
            </a:r>
            <a:r>
              <a:rPr lang="en-US" sz="2400" dirty="0" smtClean="0">
                <a:solidFill>
                  <a:schemeClr val="tx1"/>
                </a:solidFill>
              </a:rPr>
              <a:t>⊕</a:t>
            </a:r>
            <a:r>
              <a:rPr lang="en-US" altLang="zh-TW" sz="2400" dirty="0" smtClean="0">
                <a:solidFill>
                  <a:srgbClr val="FF0000"/>
                </a:solidFill>
              </a:rPr>
              <a:t>), Remove subset (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-</a:t>
            </a:r>
            <a:r>
              <a:rPr lang="en-US" altLang="zh-TW" sz="2400" dirty="0" smtClean="0">
                <a:solidFill>
                  <a:srgbClr val="FF0000"/>
                </a:solidFill>
              </a:rPr>
              <a:t>)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       </a:t>
            </a:r>
            <a:r>
              <a:rPr lang="en-US" sz="2400" dirty="0" smtClean="0">
                <a:solidFill>
                  <a:srgbClr val="F89900"/>
                </a:solidFill>
              </a:rPr>
              <a:t>Python:</a:t>
            </a:r>
            <a:r>
              <a:rPr lang="en-US" sz="2000" dirty="0" smtClean="0">
                <a:solidFill>
                  <a:srgbClr val="F89900"/>
                </a:solidFill>
              </a:rPr>
              <a:t> </a:t>
            </a:r>
            <a:r>
              <a:rPr lang="en-US" sz="2400" dirty="0" smtClean="0">
                <a:solidFill>
                  <a:srgbClr val="F89900"/>
                </a:solidFill>
              </a:rPr>
              <a:t>Union (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ea typeface="PMingLiU" panose="02020500000000000000" pitchFamily="18" charset="-120"/>
              </a:rPr>
              <a:t>|</a:t>
            </a:r>
            <a:r>
              <a:rPr lang="en-US" sz="2400" dirty="0" smtClean="0">
                <a:solidFill>
                  <a:srgbClr val="F89900"/>
                </a:solidFill>
              </a:rPr>
              <a:t>), </a:t>
            </a:r>
            <a:r>
              <a:rPr lang="en-US" sz="1000" dirty="0" smtClean="0">
                <a:solidFill>
                  <a:srgbClr val="F89900"/>
                </a:solidFill>
              </a:rPr>
              <a:t> </a:t>
            </a:r>
            <a:r>
              <a:rPr lang="en-US" sz="2400" dirty="0" smtClean="0">
                <a:solidFill>
                  <a:srgbClr val="F89900"/>
                </a:solidFill>
              </a:rPr>
              <a:t>Intersection (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&amp;</a:t>
            </a:r>
            <a:r>
              <a:rPr lang="en-US" sz="2400" dirty="0" smtClean="0">
                <a:solidFill>
                  <a:srgbClr val="F89900"/>
                </a:solidFill>
              </a:rPr>
              <a:t>),</a:t>
            </a:r>
            <a:r>
              <a:rPr lang="en-US" sz="2000" dirty="0" smtClean="0">
                <a:solidFill>
                  <a:srgbClr val="F89900"/>
                </a:solidFill>
              </a:rPr>
              <a:t> </a:t>
            </a:r>
            <a:r>
              <a:rPr lang="en-US" sz="1600" dirty="0" smtClean="0">
                <a:solidFill>
                  <a:srgbClr val="F89900"/>
                </a:solidFill>
              </a:rPr>
              <a:t> </a:t>
            </a:r>
            <a:r>
              <a:rPr lang="en-US" sz="2400" dirty="0" err="1">
                <a:solidFill>
                  <a:srgbClr val="F89900"/>
                </a:solidFill>
              </a:rPr>
              <a:t>Xor</a:t>
            </a:r>
            <a:r>
              <a:rPr lang="en-US" sz="2400" dirty="0">
                <a:solidFill>
                  <a:srgbClr val="F89900"/>
                </a:solidFill>
              </a:rPr>
              <a:t> </a:t>
            </a:r>
            <a:r>
              <a:rPr lang="en-US" sz="2400" spc="60" dirty="0" smtClean="0">
                <a:solidFill>
                  <a:srgbClr val="F89900"/>
                </a:solidFill>
              </a:rPr>
              <a:t>(</a:t>
            </a:r>
            <a:r>
              <a:rPr lang="en-US" sz="2400" spc="6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^</a:t>
            </a:r>
            <a:r>
              <a:rPr lang="en-US" altLang="zh-TW" sz="2400" dirty="0" smtClean="0">
                <a:solidFill>
                  <a:srgbClr val="F89900"/>
                </a:solidFill>
              </a:rPr>
              <a:t>), </a:t>
            </a:r>
            <a:r>
              <a:rPr lang="en-US" altLang="zh-TW" sz="1600" dirty="0" smtClean="0">
                <a:solidFill>
                  <a:srgbClr val="F89900"/>
                </a:solidFill>
              </a:rPr>
              <a:t> </a:t>
            </a:r>
            <a:r>
              <a:rPr lang="en-US" altLang="zh-TW" sz="2400" dirty="0" smtClean="0">
                <a:solidFill>
                  <a:srgbClr val="F89900"/>
                </a:solidFill>
              </a:rPr>
              <a:t>Remove </a:t>
            </a:r>
            <a:r>
              <a:rPr lang="en-US" altLang="zh-TW" sz="2400" dirty="0">
                <a:solidFill>
                  <a:srgbClr val="F89900"/>
                </a:solidFill>
              </a:rPr>
              <a:t>subset </a:t>
            </a:r>
            <a:r>
              <a:rPr lang="en-US" altLang="zh-TW" sz="2400" dirty="0" smtClean="0">
                <a:solidFill>
                  <a:srgbClr val="F89900"/>
                </a:solidFill>
              </a:rPr>
              <a:t>(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-</a:t>
            </a:r>
            <a:r>
              <a:rPr lang="en-US" altLang="zh-TW" sz="2400" dirty="0" smtClean="0">
                <a:solidFill>
                  <a:srgbClr val="F89900"/>
                </a:solidFill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smtClean="0">
                <a:solidFill>
                  <a:srgbClr val="7030A0"/>
                </a:solidFill>
              </a:rPr>
              <a:t>Comparing a set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spc="-80" dirty="0" smtClean="0">
                <a:solidFill>
                  <a:srgbClr val="2D2DB9"/>
                </a:solidFill>
              </a:rPr>
              <a:t>Again, Python </a:t>
            </a:r>
            <a:r>
              <a:rPr lang="en-US" sz="3000" spc="-80" dirty="0">
                <a:solidFill>
                  <a:srgbClr val="2D2DB9"/>
                </a:solidFill>
              </a:rPr>
              <a:t>uses keyboard </a:t>
            </a:r>
            <a:r>
              <a:rPr lang="en-US" sz="3000" spc="-80" dirty="0" smtClean="0">
                <a:solidFill>
                  <a:srgbClr val="2D2DB9"/>
                </a:solidFill>
              </a:rPr>
              <a:t>equivalents</a:t>
            </a:r>
            <a:r>
              <a:rPr lang="en-US" altLang="zh-TW" sz="3000" spc="-80" dirty="0" smtClean="0">
                <a:solidFill>
                  <a:srgbClr val="2D2DB9"/>
                </a:solidFill>
              </a:rPr>
              <a:t>:</a:t>
            </a:r>
            <a:endParaRPr lang="en-US" altLang="zh-TW" sz="3000" spc="-80" dirty="0">
              <a:solidFill>
                <a:srgbClr val="2D2DB9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D2DB9"/>
                </a:solidFill>
              </a:rPr>
              <a:t> </a:t>
            </a:r>
            <a:r>
              <a:rPr lang="en-US" sz="2400" dirty="0" smtClean="0">
                <a:solidFill>
                  <a:srgbClr val="2D2DB9"/>
                </a:solidFill>
              </a:rPr>
              <a:t>   </a:t>
            </a:r>
            <a:r>
              <a:rPr lang="en-US" sz="2400" dirty="0" smtClean="0">
                <a:solidFill>
                  <a:srgbClr val="FF0000"/>
                </a:solidFill>
              </a:rPr>
              <a:t>   Math:    Equals (</a:t>
            </a:r>
            <a:r>
              <a:rPr lang="en-US" sz="2400" dirty="0" smtClean="0">
                <a:solidFill>
                  <a:schemeClr val="tx1"/>
                </a:solidFill>
              </a:rPr>
              <a:t>=</a:t>
            </a:r>
            <a:r>
              <a:rPr lang="en-US" sz="2400" dirty="0" smtClean="0">
                <a:solidFill>
                  <a:srgbClr val="FF0000"/>
                </a:solidFill>
              </a:rPr>
              <a:t>), Contains 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zh-TW" altLang="en-US" sz="2400" dirty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⊆</a:t>
            </a:r>
            <a:r>
              <a:rPr lang="en-US" altLang="zh-TW" sz="2400" dirty="0" smtClean="0">
                <a:solidFill>
                  <a:srgbClr val="FF0000"/>
                </a:solidFill>
              </a:rPr>
              <a:t>), </a:t>
            </a:r>
            <a:r>
              <a:rPr lang="en-US" altLang="zh-TW" sz="1100" dirty="0" smtClean="0">
                <a:solidFill>
                  <a:srgbClr val="FF0000"/>
                </a:solidFill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</a:rPr>
              <a:t>Is contained </a:t>
            </a:r>
            <a:r>
              <a:rPr lang="en-US" altLang="zh-TW" sz="2400" dirty="0">
                <a:solidFill>
                  <a:srgbClr val="FF0000"/>
                </a:solidFill>
              </a:rPr>
              <a:t>(</a:t>
            </a:r>
            <a:r>
              <a:rPr lang="zh-TW" altLang="en-US" sz="2400" dirty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⊇</a:t>
            </a:r>
            <a:r>
              <a:rPr lang="en-US" altLang="zh-TW" sz="2400" dirty="0" smtClean="0">
                <a:solidFill>
                  <a:srgbClr val="FF0000"/>
                </a:solidFill>
              </a:rPr>
              <a:t>) </a:t>
            </a:r>
            <a:br>
              <a:rPr lang="en-US" altLang="zh-TW" sz="2400" dirty="0" smtClean="0">
                <a:solidFill>
                  <a:srgbClr val="FF0000"/>
                </a:solidFill>
              </a:rPr>
            </a:br>
            <a:r>
              <a:rPr lang="en-US" altLang="zh-TW" sz="2400" dirty="0" smtClean="0">
                <a:solidFill>
                  <a:srgbClr val="FF0000"/>
                </a:solidFill>
              </a:rPr>
              <a:t>       </a:t>
            </a:r>
            <a:r>
              <a:rPr lang="en-US" sz="2400" dirty="0" smtClean="0">
                <a:solidFill>
                  <a:srgbClr val="F89900"/>
                </a:solidFill>
              </a:rPr>
              <a:t>Python:</a:t>
            </a:r>
            <a:r>
              <a:rPr lang="en-US" sz="1600" dirty="0" smtClean="0">
                <a:solidFill>
                  <a:srgbClr val="F89900"/>
                </a:solidFill>
              </a:rPr>
              <a:t> </a:t>
            </a:r>
            <a:r>
              <a:rPr lang="en-US" sz="2400" dirty="0" smtClean="0">
                <a:solidFill>
                  <a:srgbClr val="F89900"/>
                </a:solidFill>
              </a:rPr>
              <a:t>Equal</a:t>
            </a:r>
            <a:r>
              <a:rPr lang="en-US" sz="2400" spc="-100" dirty="0" smtClean="0">
                <a:solidFill>
                  <a:srgbClr val="F89900"/>
                </a:solidFill>
              </a:rPr>
              <a:t>s</a:t>
            </a:r>
            <a:r>
              <a:rPr lang="en-US" sz="1200" spc="-100" dirty="0" smtClean="0">
                <a:solidFill>
                  <a:srgbClr val="F89900"/>
                </a:solidFill>
              </a:rPr>
              <a:t> </a:t>
            </a:r>
            <a:r>
              <a:rPr lang="en-US" sz="2400" spc="-100" dirty="0" smtClean="0">
                <a:solidFill>
                  <a:srgbClr val="F89900"/>
                </a:solidFill>
              </a:rPr>
              <a:t>(</a:t>
            </a:r>
            <a:r>
              <a:rPr lang="en-US" sz="2400" dirty="0" smtClean="0">
                <a:solidFill>
                  <a:schemeClr val="tx1"/>
                </a:solidFill>
              </a:rPr>
              <a:t>=</a:t>
            </a:r>
            <a:r>
              <a:rPr lang="en-US" sz="2400" spc="-100" dirty="0" smtClean="0">
                <a:solidFill>
                  <a:schemeClr val="tx1"/>
                </a:solidFill>
              </a:rPr>
              <a:t>=</a:t>
            </a:r>
            <a:r>
              <a:rPr lang="en-US" sz="2400" spc="-100" dirty="0" smtClean="0">
                <a:solidFill>
                  <a:srgbClr val="F89900"/>
                </a:solidFill>
              </a:rPr>
              <a:t>),</a:t>
            </a:r>
            <a:r>
              <a:rPr lang="en-US" sz="1400" spc="-100" dirty="0" smtClean="0">
                <a:solidFill>
                  <a:srgbClr val="F89900"/>
                </a:solidFill>
              </a:rPr>
              <a:t> </a:t>
            </a:r>
            <a:r>
              <a:rPr lang="en-US" sz="2400" dirty="0" smtClean="0">
                <a:solidFill>
                  <a:srgbClr val="F89900"/>
                </a:solidFill>
              </a:rPr>
              <a:t>Contains</a:t>
            </a:r>
            <a:r>
              <a:rPr lang="en-US" sz="1100" dirty="0" smtClean="0">
                <a:solidFill>
                  <a:srgbClr val="F89900"/>
                </a:solidFill>
              </a:rPr>
              <a:t> </a:t>
            </a:r>
            <a:r>
              <a:rPr lang="en-US" sz="2400" dirty="0" smtClean="0">
                <a:solidFill>
                  <a:srgbClr val="F89900"/>
                </a:solidFill>
              </a:rPr>
              <a:t>(</a:t>
            </a:r>
            <a:r>
              <a:rPr lang="en-US" sz="24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&gt;=</a:t>
            </a:r>
            <a:r>
              <a:rPr lang="en-US" altLang="zh-TW" sz="2400" dirty="0" smtClean="0">
                <a:solidFill>
                  <a:srgbClr val="F89900"/>
                </a:solidFill>
              </a:rPr>
              <a:t>),</a:t>
            </a:r>
            <a:r>
              <a:rPr lang="en-US" altLang="zh-TW" sz="1800" dirty="0" smtClean="0">
                <a:solidFill>
                  <a:srgbClr val="F89900"/>
                </a:solidFill>
              </a:rPr>
              <a:t> </a:t>
            </a:r>
            <a:r>
              <a:rPr lang="en-US" altLang="zh-TW" sz="2400" dirty="0">
                <a:solidFill>
                  <a:srgbClr val="F89900"/>
                </a:solidFill>
              </a:rPr>
              <a:t>Is </a:t>
            </a:r>
            <a:r>
              <a:rPr lang="en-US" altLang="zh-TW" sz="2400" dirty="0" smtClean="0">
                <a:solidFill>
                  <a:srgbClr val="F89900"/>
                </a:solidFill>
              </a:rPr>
              <a:t>contained</a:t>
            </a:r>
            <a:r>
              <a:rPr lang="en-US" altLang="zh-TW" sz="1400" dirty="0" smtClean="0">
                <a:solidFill>
                  <a:srgbClr val="F89900"/>
                </a:solidFill>
              </a:rPr>
              <a:t> </a:t>
            </a:r>
            <a:r>
              <a:rPr lang="en-US" altLang="zh-TW" sz="2400" dirty="0" smtClean="0">
                <a:solidFill>
                  <a:srgbClr val="F89900"/>
                </a:solidFill>
              </a:rPr>
              <a:t>(</a:t>
            </a:r>
            <a:r>
              <a:rPr lang="en-US" altLang="zh-TW" sz="24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&lt;=</a:t>
            </a:r>
            <a:r>
              <a:rPr lang="en-US" altLang="zh-TW" sz="2400" dirty="0" smtClean="0">
                <a:solidFill>
                  <a:srgbClr val="F899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, </a:t>
            </a:r>
            <a:r>
              <a:rPr lang="en-US" altLang="zh-TW" sz="2000" dirty="0" smtClean="0">
                <a:solidFill>
                  <a:srgbClr val="F89900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for 1 element:</a:t>
            </a:r>
            <a:r>
              <a:rPr lang="en-US" altLang="zh-TW" sz="1000" dirty="0" smtClean="0">
                <a:solidFill>
                  <a:srgbClr val="FF0000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2400" b="1" dirty="0" smtClean="0">
                <a:solidFill>
                  <a:schemeClr val="tx1"/>
                </a:solidFill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in</a:t>
            </a:r>
            <a:r>
              <a:rPr lang="en-US" altLang="zh-TW" sz="2400" dirty="0" smtClean="0">
                <a:solidFill>
                  <a:srgbClr val="F89900"/>
                </a:solidFill>
              </a:rPr>
              <a:t>)</a:t>
            </a:r>
            <a:endParaRPr lang="en-US" altLang="zh-TW" sz="2600" dirty="0">
              <a:solidFill>
                <a:srgbClr val="F89900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152873"/>
            <a:ext cx="9729788" cy="761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 smtClean="0">
                <a:solidFill>
                  <a:srgbClr val="0070C0"/>
                </a:solidFill>
                <a:cs typeface="Arial" panose="020B0604020202020204" pitchFamily="34" charset="0"/>
              </a:rPr>
              <a:t>The Notation (</a:t>
            </a:r>
            <a:r>
              <a:rPr lang="zh-TW" altLang="en-US" sz="4000" b="1" dirty="0" smtClean="0">
                <a:solidFill>
                  <a:srgbClr val="0070C0"/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符</a:t>
            </a:r>
            <a:r>
              <a:rPr lang="zh-TW" altLang="en-US" sz="4000" b="1" dirty="0">
                <a:solidFill>
                  <a:srgbClr val="0070C0"/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號</a:t>
            </a:r>
            <a:r>
              <a:rPr lang="en-US" altLang="zh-TW" sz="4400" dirty="0" smtClean="0">
                <a:solidFill>
                  <a:srgbClr val="0070C0"/>
                </a:solidFill>
                <a:cs typeface="Arial" panose="020B0604020202020204" pitchFamily="34" charset="0"/>
              </a:rPr>
              <a:t>) </a:t>
            </a:r>
            <a:r>
              <a:rPr lang="en-US" altLang="en-US" sz="4400" dirty="0" smtClean="0">
                <a:solidFill>
                  <a:srgbClr val="0070C0"/>
                </a:solidFill>
                <a:cs typeface="Arial" panose="020B0604020202020204" pitchFamily="34" charset="0"/>
              </a:rPr>
              <a:t>for Sets</a:t>
            </a:r>
            <a:endParaRPr lang="en-US" altLang="en-US" sz="4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1132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5733" y="792805"/>
            <a:ext cx="9138323" cy="60160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dirty="0" smtClean="0">
                <a:solidFill>
                  <a:srgbClr val="FF0000"/>
                </a:solidFill>
              </a:rPr>
              <a:t>Python sets are </a:t>
            </a:r>
            <a:r>
              <a:rPr lang="en-US" sz="3600" u="sng" dirty="0" smtClean="0">
                <a:solidFill>
                  <a:srgbClr val="FF0000"/>
                </a:solidFill>
              </a:rPr>
              <a:t>unordered</a:t>
            </a:r>
            <a:r>
              <a:rPr lang="en-US" sz="3600" dirty="0" smtClean="0">
                <a:solidFill>
                  <a:srgbClr val="FF0000"/>
                </a:solidFill>
              </a:rPr>
              <a:t>.</a:t>
            </a:r>
            <a:endParaRPr lang="en-US" sz="3600" dirty="0">
              <a:solidFill>
                <a:srgbClr val="FF0000"/>
              </a:solidFill>
            </a:endParaRPr>
          </a:p>
          <a:p>
            <a:pPr lvl="1">
              <a:spcBef>
                <a:spcPts val="555"/>
              </a:spcBef>
            </a:pPr>
            <a:r>
              <a:rPr lang="en-US" altLang="zh-TW" sz="2998" dirty="0">
                <a:solidFill>
                  <a:srgbClr val="FF0000"/>
                </a:solidFill>
              </a:rPr>
              <a:t>One implication </a:t>
            </a:r>
            <a:r>
              <a:rPr lang="en-US" altLang="zh-TW" sz="2998" dirty="0" smtClean="0">
                <a:solidFill>
                  <a:srgbClr val="FF0000"/>
                </a:solidFill>
              </a:rPr>
              <a:t>(</a:t>
            </a:r>
            <a:r>
              <a:rPr lang="zh-TW" altLang="en-US" sz="2800" dirty="0" smtClean="0">
                <a:solidFill>
                  <a:srgbClr val="FF0000"/>
                </a:solidFill>
              </a:rPr>
              <a:t>其中一個意義</a:t>
            </a:r>
            <a:r>
              <a:rPr lang="en-US" altLang="zh-TW" sz="2998" dirty="0" smtClean="0">
                <a:solidFill>
                  <a:srgbClr val="FF0000"/>
                </a:solidFill>
              </a:rPr>
              <a:t>) of </a:t>
            </a:r>
            <a:r>
              <a:rPr lang="en-US" altLang="zh-TW" sz="2998" dirty="0">
                <a:solidFill>
                  <a:srgbClr val="FF0000"/>
                </a:solidFill>
              </a:rPr>
              <a:t>this </a:t>
            </a:r>
            <a:r>
              <a:rPr lang="en-US" altLang="zh-TW" sz="2998" dirty="0" smtClean="0">
                <a:solidFill>
                  <a:srgbClr val="FF0000"/>
                </a:solidFill>
              </a:rPr>
              <a:t>is that </a:t>
            </a:r>
            <a:r>
              <a:rPr lang="en-US" altLang="zh-TW" sz="2998" dirty="0">
                <a:solidFill>
                  <a:srgbClr val="FF0000"/>
                </a:solidFill>
              </a:rPr>
              <a:t>you </a:t>
            </a:r>
            <a:r>
              <a:rPr lang="en-US" altLang="zh-TW" sz="2998" dirty="0" smtClean="0">
                <a:solidFill>
                  <a:srgbClr val="FF0000"/>
                </a:solidFill>
              </a:rPr>
              <a:t>cannot </a:t>
            </a:r>
            <a:r>
              <a:rPr lang="en-US" altLang="zh-TW" sz="2998" dirty="0">
                <a:solidFill>
                  <a:srgbClr val="FF0000"/>
                </a:solidFill>
              </a:rPr>
              <a:t>use order-based syntax:</a:t>
            </a:r>
          </a:p>
          <a:p>
            <a:pPr marL="456933" lvl="1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&gt;&gt;&gt; a={1,5,3}; print(</a:t>
            </a:r>
            <a:r>
              <a:rPr lang="en-US" altLang="zh-TW" sz="2798" dirty="0">
                <a:solidFill>
                  <a:srgbClr val="0070C0"/>
                </a:solidFill>
                <a:latin typeface="Lucida Console" panose="020B0609040504020204" pitchFamily="49" charset="0"/>
              </a:rPr>
              <a:t>a[1]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) #an </a:t>
            </a:r>
            <a:r>
              <a:rPr lang="en-US" altLang="zh-TW" sz="2798" dirty="0">
                <a:solidFill>
                  <a:srgbClr val="0070C0"/>
                </a:solidFill>
                <a:latin typeface="Lucida Console" panose="020B0609040504020204" pitchFamily="49" charset="0"/>
              </a:rPr>
              <a:t>error</a:t>
            </a:r>
          </a:p>
          <a:p>
            <a:pPr lvl="1">
              <a:spcBef>
                <a:spcPts val="600"/>
              </a:spcBef>
            </a:pPr>
            <a:r>
              <a:rPr lang="en-US" altLang="zh-TW" sz="2998" dirty="0">
                <a:solidFill>
                  <a:srgbClr val="FF0000"/>
                </a:solidFill>
              </a:rPr>
              <a:t>Another implication is comparisons ignore order: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 &gt;&gt;&gt; {1, 2, 3} == {3, 2, 1}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1799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798" dirty="0">
                <a:solidFill>
                  <a:srgbClr val="0070C0"/>
                </a:solidFill>
                <a:latin typeface="Lucida Console" panose="020B0609040504020204" pitchFamily="49" charset="0"/>
              </a:rPr>
              <a:t>True</a:t>
            </a:r>
          </a:p>
          <a:p>
            <a:pPr lvl="1">
              <a:spcBef>
                <a:spcPts val="600"/>
              </a:spcBef>
            </a:pPr>
            <a:r>
              <a:rPr lang="en-US" sz="2998" dirty="0">
                <a:solidFill>
                  <a:srgbClr val="FF0000"/>
                </a:solidFill>
              </a:rPr>
              <a:t>Another implication is elements don’t repeat: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 &gt;&gt;&gt; {1, 5, 3, 2, 1, 5, 3, 4, 1, 1, 1}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1799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798" dirty="0">
                <a:solidFill>
                  <a:srgbClr val="0070C0"/>
                </a:solidFill>
                <a:latin typeface="Lucida Console" panose="020B0609040504020204" pitchFamily="49" charset="0"/>
              </a:rPr>
              <a:t>{1, 2, 3, 4, 5}</a:t>
            </a:r>
          </a:p>
          <a:p>
            <a:pPr>
              <a:spcBef>
                <a:spcPts val="0"/>
              </a:spcBef>
            </a:pPr>
            <a:r>
              <a:rPr lang="en-US" altLang="zh-TW" sz="3600" dirty="0" smtClean="0">
                <a:solidFill>
                  <a:srgbClr val="FF0000"/>
                </a:solidFill>
              </a:rPr>
              <a:t>But </a:t>
            </a:r>
            <a:r>
              <a:rPr lang="en-US" altLang="zh-TW" sz="3600" i="1" dirty="0">
                <a:solidFill>
                  <a:srgbClr val="7030A0"/>
                </a:solidFill>
              </a:rPr>
              <a:t>lists</a:t>
            </a:r>
            <a:r>
              <a:rPr lang="en-US" altLang="zh-TW" sz="3600" dirty="0">
                <a:solidFill>
                  <a:srgbClr val="FF0000"/>
                </a:solidFill>
              </a:rPr>
              <a:t> are ordered, and can repeat: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	&gt;&gt;&gt; [1, 5, 3, 2, 1, 5, 3, 4, 1, 1, 1]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1999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798" dirty="0">
                <a:solidFill>
                  <a:srgbClr val="0070C0"/>
                </a:solidFill>
                <a:latin typeface="Lucida Console" panose="020B0609040504020204" pitchFamily="49" charset="0"/>
              </a:rPr>
              <a:t>[1, 5, 3, 2, 1, 5, 3, 4, 1, 1, 1]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2798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76200"/>
            <a:ext cx="9729788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 smtClean="0">
                <a:solidFill>
                  <a:srgbClr val="0070C0"/>
                </a:solidFill>
                <a:cs typeface="Arial" panose="020B0604020202020204" pitchFamily="34" charset="0"/>
              </a:rPr>
              <a:t>Python Sets</a:t>
            </a:r>
            <a:endParaRPr lang="en-US" altLang="en-US" sz="4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2446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5733" y="792805"/>
            <a:ext cx="9369761" cy="60160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3400" dirty="0">
                <a:solidFill>
                  <a:srgbClr val="FF0000"/>
                </a:solidFill>
              </a:rPr>
              <a:t>Python set elements must be immutable</a:t>
            </a:r>
            <a:r>
              <a:rPr lang="en-US" sz="3400" dirty="0" smtClean="0">
                <a:solidFill>
                  <a:srgbClr val="FF0000"/>
                </a:solidFill>
              </a:rPr>
              <a:t>.</a:t>
            </a:r>
          </a:p>
          <a:p>
            <a:pPr lvl="1">
              <a:spcBef>
                <a:spcPts val="0"/>
              </a:spcBef>
            </a:pPr>
            <a:r>
              <a:rPr lang="en-US" sz="3200" dirty="0" smtClean="0">
                <a:solidFill>
                  <a:srgbClr val="FF0000"/>
                </a:solidFill>
              </a:rPr>
              <a:t>Even though the set, itself, is mutable.</a:t>
            </a:r>
            <a:endParaRPr lang="en-US" sz="3200" dirty="0">
              <a:solidFill>
                <a:srgbClr val="FF0000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3400" dirty="0" smtClean="0">
                <a:solidFill>
                  <a:srgbClr val="FF0000"/>
                </a:solidFill>
              </a:rPr>
              <a:t>This limitation exists as a consequence of the </a:t>
            </a:r>
            <a:r>
              <a:rPr lang="en-US" sz="3400" spc="-30" dirty="0" smtClean="0">
                <a:solidFill>
                  <a:srgbClr val="FF0000"/>
                </a:solidFill>
              </a:rPr>
              <a:t>requirement that set elements must be unique:</a:t>
            </a:r>
          </a:p>
          <a:p>
            <a:pPr lvl="1">
              <a:spcBef>
                <a:spcPts val="0"/>
              </a:spcBef>
            </a:pPr>
            <a:r>
              <a:rPr lang="en-US" sz="3000" dirty="0">
                <a:solidFill>
                  <a:srgbClr val="FF0000"/>
                </a:solidFill>
              </a:rPr>
              <a:t>I</a:t>
            </a:r>
            <a:r>
              <a:rPr lang="en-US" sz="3000" dirty="0" smtClean="0">
                <a:solidFill>
                  <a:srgbClr val="FF0000"/>
                </a:solidFill>
              </a:rPr>
              <a:t>f you were to allow </a:t>
            </a:r>
            <a:r>
              <a:rPr lang="en-US" sz="3000" dirty="0">
                <a:solidFill>
                  <a:srgbClr val="FF0000"/>
                </a:solidFill>
              </a:rPr>
              <a:t>those elements to be changed after they’ve been </a:t>
            </a:r>
            <a:r>
              <a:rPr lang="en-US" sz="3000" dirty="0" smtClean="0">
                <a:solidFill>
                  <a:srgbClr val="FF0000"/>
                </a:solidFill>
              </a:rPr>
              <a:t>added, like so:</a:t>
            </a:r>
            <a:endParaRPr lang="en-US" sz="3000" dirty="0">
              <a:solidFill>
                <a:srgbClr val="FF0000"/>
              </a:solidFill>
            </a:endParaRPr>
          </a:p>
          <a:p>
            <a:pPr marL="456932" lvl="1" indent="0">
              <a:spcBef>
                <a:spcPts val="0"/>
              </a:spcBef>
              <a:buNone/>
            </a:pP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  &gt;&gt;&gt; </a:t>
            </a:r>
            <a:r>
              <a:rPr lang="en-US" altLang="zh-TW" sz="2400" b="1" spc="-5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L</a:t>
            </a:r>
            <a:r>
              <a:rPr lang="en-US" altLang="zh-TW" sz="2400" spc="-50" dirty="0">
                <a:solidFill>
                  <a:srgbClr val="00B0F0"/>
                </a:solidFill>
                <a:latin typeface="Lucida Sans Typewriter" panose="020B0509030504030204" pitchFamily="49" charset="0"/>
              </a:rPr>
              <a:t>=[1,2</a:t>
            </a: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];</a:t>
            </a:r>
            <a:r>
              <a:rPr lang="en-US" altLang="zh-TW" sz="2400" spc="-50" dirty="0" smtClean="0">
                <a:solidFill>
                  <a:schemeClr val="tx1"/>
                </a:solidFill>
                <a:latin typeface="Lucida Sans Typewriter" panose="020B0509030504030204" pitchFamily="49" charset="0"/>
              </a:rPr>
              <a:t>S</a:t>
            </a: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={</a:t>
            </a:r>
            <a:r>
              <a:rPr lang="en-US" altLang="zh-TW" sz="2400" b="1" spc="-50" dirty="0" smtClean="0">
                <a:solidFill>
                  <a:srgbClr val="92D050"/>
                </a:solidFill>
                <a:latin typeface="Lucida Sans Typewriter" panose="020B0509030504030204" pitchFamily="49" charset="0"/>
              </a:rPr>
              <a:t>[</a:t>
            </a:r>
            <a:r>
              <a:rPr lang="en-US" altLang="zh-TW" sz="500" b="1" spc="-50" dirty="0" smtClean="0">
                <a:solidFill>
                  <a:srgbClr val="92D050"/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zh-TW" sz="2400" b="1" spc="-200" dirty="0" smtClean="0">
                <a:solidFill>
                  <a:srgbClr val="92D050"/>
                </a:solidFill>
                <a:latin typeface="Lucida Sans Typewriter" panose="020B0509030504030204" pitchFamily="49" charset="0"/>
              </a:rPr>
              <a:t>]</a:t>
            </a: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,</a:t>
            </a:r>
            <a:r>
              <a:rPr lang="en-US" altLang="zh-TW" sz="2400" b="1" spc="-5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L</a:t>
            </a:r>
            <a:r>
              <a:rPr lang="en-US" altLang="zh-TW" sz="2400" spc="-200" dirty="0">
                <a:solidFill>
                  <a:srgbClr val="00B0F0"/>
                </a:solidFill>
                <a:latin typeface="Lucida Sans Typewriter" panose="020B0509030504030204" pitchFamily="49" charset="0"/>
              </a:rPr>
              <a:t>}</a:t>
            </a:r>
            <a:r>
              <a:rPr lang="en-US" altLang="zh-TW" sz="2400" spc="-50" dirty="0">
                <a:solidFill>
                  <a:srgbClr val="00B0F0"/>
                </a:solidFill>
                <a:latin typeface="Lucida Sans Typewriter" panose="020B0509030504030204" pitchFamily="49" charset="0"/>
              </a:rPr>
              <a:t>;</a:t>
            </a:r>
            <a:r>
              <a:rPr lang="en-US" altLang="zh-TW" sz="2400" b="1" spc="-170" dirty="0" err="1">
                <a:solidFill>
                  <a:srgbClr val="7030A0"/>
                </a:solidFill>
                <a:latin typeface="Lucida Sans Typewriter" panose="020B0509030504030204" pitchFamily="49" charset="0"/>
              </a:rPr>
              <a:t>L.</a:t>
            </a:r>
            <a:r>
              <a:rPr lang="en-US" altLang="zh-TW" sz="2400" b="1" spc="-50" dirty="0" err="1">
                <a:solidFill>
                  <a:srgbClr val="7030A0"/>
                </a:solidFill>
                <a:latin typeface="Lucida Sans Typewriter" panose="020B0509030504030204" pitchFamily="49" charset="0"/>
              </a:rPr>
              <a:t>clear</a:t>
            </a:r>
            <a:r>
              <a:rPr lang="en-US" altLang="zh-TW" sz="2400" b="1" spc="-5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400" b="1" spc="-20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)</a:t>
            </a:r>
            <a:r>
              <a:rPr lang="en-US" altLang="zh-TW" sz="2400" spc="-50" dirty="0">
                <a:solidFill>
                  <a:srgbClr val="00B0F0"/>
                </a:solidFill>
                <a:latin typeface="Lucida Sans Typewriter" panose="020B0509030504030204" pitchFamily="49" charset="0"/>
              </a:rPr>
              <a:t>;</a:t>
            </a:r>
            <a:r>
              <a:rPr lang="en-US" altLang="zh-TW" sz="2400" dirty="0" err="1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le</a:t>
            </a:r>
            <a:r>
              <a:rPr lang="en-US" altLang="zh-TW" sz="2400" spc="-200" dirty="0" err="1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n</a:t>
            </a:r>
            <a:r>
              <a:rPr lang="en-US" altLang="zh-TW" sz="2400" spc="-20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400" spc="-200" dirty="0" smtClean="0">
                <a:solidFill>
                  <a:schemeClr val="tx1"/>
                </a:solidFill>
                <a:latin typeface="Lucida Sans Typewriter" panose="020B0509030504030204" pitchFamily="49" charset="0"/>
              </a:rPr>
              <a:t>S</a:t>
            </a:r>
            <a:r>
              <a:rPr lang="en-US" altLang="zh-TW" sz="240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)</a:t>
            </a:r>
            <a:r>
              <a:rPr lang="en-US" altLang="zh-TW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#</a:t>
            </a:r>
            <a:r>
              <a:rPr lang="en-US" altLang="zh-TW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s </a:t>
            </a:r>
            <a:r>
              <a:rPr lang="en-US" altLang="zh-TW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len</a:t>
            </a:r>
            <a:r>
              <a:rPr lang="en-US" altLang="zh-TW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=1 </a:t>
            </a:r>
            <a:r>
              <a:rPr lang="en-US" altLang="zh-TW" sz="2400" dirty="0">
                <a:solidFill>
                  <a:schemeClr val="tx1"/>
                </a:solidFill>
                <a:latin typeface="Arial Narrow" panose="020B0606020202030204" pitchFamily="34" charset="0"/>
              </a:rPr>
              <a:t>or 2</a:t>
            </a:r>
            <a:r>
              <a:rPr lang="en-US" altLang="zh-TW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?</a:t>
            </a:r>
            <a:endParaRPr lang="en-US" altLang="zh-TW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76200"/>
            <a:ext cx="9729788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 smtClean="0">
                <a:solidFill>
                  <a:srgbClr val="0070C0"/>
                </a:solidFill>
                <a:cs typeface="Arial" panose="020B0604020202020204" pitchFamily="34" charset="0"/>
              </a:rPr>
              <a:t>Set Elements</a:t>
            </a:r>
            <a:endParaRPr lang="en-US" altLang="en-US" sz="4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9233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5733" y="792805"/>
            <a:ext cx="9369761" cy="60160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3400" dirty="0">
                <a:solidFill>
                  <a:schemeClr val="bg1">
                    <a:lumMod val="65000"/>
                  </a:schemeClr>
                </a:solidFill>
              </a:rPr>
              <a:t>Python set elements must be immutable</a:t>
            </a:r>
            <a:r>
              <a:rPr lang="en-US" sz="3400" dirty="0" smtClean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  <a:p>
            <a:pPr lvl="1">
              <a:spcBef>
                <a:spcPts val="0"/>
              </a:spcBef>
            </a:pPr>
            <a:r>
              <a:rPr lang="en-US" sz="3200" dirty="0" smtClean="0">
                <a:solidFill>
                  <a:schemeClr val="bg1">
                    <a:lumMod val="65000"/>
                  </a:schemeClr>
                </a:solidFill>
              </a:rPr>
              <a:t>Even though the set, itself, is mutable.</a:t>
            </a:r>
            <a:endParaRPr lang="en-US" sz="3200" dirty="0">
              <a:solidFill>
                <a:schemeClr val="bg1">
                  <a:lumMod val="65000"/>
                </a:schemeClr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3400" dirty="0" smtClean="0">
                <a:solidFill>
                  <a:schemeClr val="bg1">
                    <a:lumMod val="65000"/>
                  </a:schemeClr>
                </a:solidFill>
              </a:rPr>
              <a:t>This limitation exists as a consequence of the </a:t>
            </a:r>
            <a:r>
              <a:rPr lang="en-US" sz="3400" spc="-30" dirty="0" smtClean="0">
                <a:solidFill>
                  <a:schemeClr val="bg1">
                    <a:lumMod val="65000"/>
                  </a:schemeClr>
                </a:solidFill>
              </a:rPr>
              <a:t>requirement that set elements must be unique:</a:t>
            </a:r>
          </a:p>
          <a:p>
            <a:pPr lvl="1">
              <a:spcBef>
                <a:spcPts val="0"/>
              </a:spcBef>
            </a:pPr>
            <a:r>
              <a:rPr lang="en-US" sz="3000" dirty="0">
                <a:solidFill>
                  <a:srgbClr val="FF0000"/>
                </a:solidFill>
              </a:rPr>
              <a:t>I</a:t>
            </a:r>
            <a:r>
              <a:rPr lang="en-US" sz="3000" dirty="0" smtClean="0">
                <a:solidFill>
                  <a:srgbClr val="FF0000"/>
                </a:solidFill>
              </a:rPr>
              <a:t>f you were to allow </a:t>
            </a:r>
            <a:r>
              <a:rPr lang="en-US" sz="3000" dirty="0">
                <a:solidFill>
                  <a:srgbClr val="FF0000"/>
                </a:solidFill>
              </a:rPr>
              <a:t>those elements to be changed after they’ve been </a:t>
            </a:r>
            <a:r>
              <a:rPr lang="en-US" sz="3000" dirty="0" smtClean="0">
                <a:solidFill>
                  <a:srgbClr val="FF0000"/>
                </a:solidFill>
              </a:rPr>
              <a:t>added</a:t>
            </a:r>
            <a:r>
              <a:rPr lang="en-US" sz="3000" dirty="0" smtClean="0">
                <a:solidFill>
                  <a:schemeClr val="bg1">
                    <a:lumMod val="65000"/>
                  </a:schemeClr>
                </a:solidFill>
              </a:rPr>
              <a:t>, like so:</a:t>
            </a:r>
            <a:endParaRPr lang="en-US" sz="3000" dirty="0">
              <a:solidFill>
                <a:schemeClr val="bg1">
                  <a:lumMod val="65000"/>
                </a:schemeClr>
              </a:solidFill>
            </a:endParaRPr>
          </a:p>
          <a:p>
            <a:pPr marL="456932" lvl="1" indent="0">
              <a:spcBef>
                <a:spcPts val="0"/>
              </a:spcBef>
              <a:buNone/>
            </a:pP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  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&gt;&gt;&gt; 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=[1,2];S={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[</a:t>
            </a:r>
            <a:r>
              <a:rPr lang="en-US" altLang="zh-TW" sz="5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zh-TW" sz="2400" b="1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]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,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</a:t>
            </a:r>
            <a:r>
              <a:rPr lang="en-US" altLang="zh-TW" sz="2400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}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;</a:t>
            </a:r>
            <a:r>
              <a:rPr lang="en-US" altLang="zh-TW" sz="2400" b="1" spc="-17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L.</a:t>
            </a:r>
            <a:r>
              <a:rPr lang="en-US" altLang="zh-TW" sz="2400" b="1" spc="-5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clear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400" b="1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)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;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le</a:t>
            </a:r>
            <a:r>
              <a:rPr lang="en-US" altLang="zh-TW" sz="2400" spc="-20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n</a:t>
            </a:r>
            <a:r>
              <a:rPr lang="en-US" altLang="zh-TW" sz="2400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(S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)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#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s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len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=1 or 2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?</a:t>
            </a:r>
            <a:endParaRPr lang="en-US" altLang="zh-TW" sz="24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lvl="1">
              <a:spcBef>
                <a:spcPts val="0"/>
              </a:spcBef>
            </a:pPr>
            <a:r>
              <a:rPr lang="en-US" sz="2800" dirty="0" smtClean="0">
                <a:solidFill>
                  <a:srgbClr val="FF0000"/>
                </a:solidFill>
              </a:rPr>
              <a:t>then </a:t>
            </a:r>
            <a:r>
              <a:rPr lang="en-US" sz="2800" spc="-80" dirty="0">
                <a:solidFill>
                  <a:srgbClr val="FF0000"/>
                </a:solidFill>
              </a:rPr>
              <a:t>yo</a:t>
            </a:r>
            <a:r>
              <a:rPr lang="en-US" sz="2800" spc="-60" dirty="0">
                <a:solidFill>
                  <a:srgbClr val="FF0000"/>
                </a:solidFill>
              </a:rPr>
              <a:t>u</a:t>
            </a:r>
            <a:r>
              <a:rPr lang="en-US" sz="2800" spc="-210" dirty="0">
                <a:solidFill>
                  <a:srgbClr val="FF0000"/>
                </a:solidFill>
              </a:rPr>
              <a:t>’</a:t>
            </a:r>
            <a:r>
              <a:rPr lang="en-US" sz="2800" spc="-30" dirty="0">
                <a:solidFill>
                  <a:srgbClr val="FF0000"/>
                </a:solidFill>
              </a:rPr>
              <a:t>d</a:t>
            </a:r>
            <a:r>
              <a:rPr lang="en-US" sz="2800" dirty="0" smtClean="0">
                <a:solidFill>
                  <a:srgbClr val="FF0000"/>
                </a:solidFill>
              </a:rPr>
              <a:t> need </a:t>
            </a:r>
            <a:r>
              <a:rPr lang="en-US" sz="2800" spc="-30" dirty="0" smtClean="0">
                <a:solidFill>
                  <a:srgbClr val="FF0000"/>
                </a:solidFill>
              </a:rPr>
              <a:t>checks whenever </a:t>
            </a:r>
            <a:r>
              <a:rPr lang="en-US" sz="2800" spc="-30" dirty="0" err="1" smtClean="0">
                <a:solidFill>
                  <a:srgbClr val="FF0000"/>
                </a:solidFill>
              </a:rPr>
              <a:t>mutables</a:t>
            </a:r>
            <a:r>
              <a:rPr lang="en-US" sz="2800" spc="-30" dirty="0" smtClean="0">
                <a:solidFill>
                  <a:srgbClr val="FF0000"/>
                </a:solidFill>
              </a:rPr>
              <a:t> change,</a:t>
            </a:r>
          </a:p>
          <a:p>
            <a:pPr lvl="1">
              <a:spcBef>
                <a:spcPts val="0"/>
              </a:spcBef>
            </a:pPr>
            <a:r>
              <a:rPr lang="en-US" sz="2801" spc="-30" dirty="0" smtClean="0">
                <a:solidFill>
                  <a:srgbClr val="FF0000"/>
                </a:solidFill>
              </a:rPr>
              <a:t>or </a:t>
            </a:r>
            <a:r>
              <a:rPr lang="en-US" sz="2801" spc="-80" dirty="0" smtClean="0">
                <a:solidFill>
                  <a:srgbClr val="FF0000"/>
                </a:solidFill>
              </a:rPr>
              <a:t>yo</a:t>
            </a:r>
            <a:r>
              <a:rPr lang="en-US" sz="2801" spc="-60" dirty="0" smtClean="0">
                <a:solidFill>
                  <a:srgbClr val="FF0000"/>
                </a:solidFill>
              </a:rPr>
              <a:t>u</a:t>
            </a:r>
            <a:r>
              <a:rPr lang="en-US" sz="2801" spc="-210" dirty="0" smtClean="0">
                <a:solidFill>
                  <a:srgbClr val="FF0000"/>
                </a:solidFill>
              </a:rPr>
              <a:t>’</a:t>
            </a:r>
            <a:r>
              <a:rPr lang="en-US" sz="2801" spc="-30" dirty="0" smtClean="0">
                <a:solidFill>
                  <a:srgbClr val="FF0000"/>
                </a:solidFill>
              </a:rPr>
              <a:t>d just t</a:t>
            </a:r>
            <a:r>
              <a:rPr lang="en-US" sz="2800" dirty="0" smtClean="0">
                <a:solidFill>
                  <a:srgbClr val="FF0000"/>
                </a:solidFill>
              </a:rPr>
              <a:t>ell programmers to not change the</a:t>
            </a:r>
            <a:r>
              <a:rPr lang="en-US" sz="2800" spc="-200" dirty="0" smtClean="0">
                <a:solidFill>
                  <a:srgbClr val="FF0000"/>
                </a:solidFill>
              </a:rPr>
              <a:t>m</a:t>
            </a:r>
            <a:r>
              <a:rPr lang="en-US" sz="2800" dirty="0" smtClean="0">
                <a:solidFill>
                  <a:srgbClr val="FF0000"/>
                </a:solidFill>
              </a:rPr>
              <a:t>.</a:t>
            </a:r>
          </a:p>
          <a:p>
            <a:pPr marL="1028700" lvl="3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FF0000"/>
                </a:solidFill>
              </a:rPr>
              <a:t>But this is unsafe, so its not the way of Python.</a:t>
            </a:r>
            <a:endParaRPr lang="en-US" sz="2800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TW" sz="3200" dirty="0" smtClean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TW" sz="2798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76200"/>
            <a:ext cx="9729788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 smtClean="0">
                <a:solidFill>
                  <a:srgbClr val="0070C0"/>
                </a:solidFill>
                <a:cs typeface="Arial" panose="020B0604020202020204" pitchFamily="34" charset="0"/>
              </a:rPr>
              <a:t>Set Elements</a:t>
            </a:r>
            <a:endParaRPr lang="en-US" altLang="en-US" sz="4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5472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5733" y="792805"/>
            <a:ext cx="9369761" cy="60160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3400" dirty="0">
                <a:solidFill>
                  <a:schemeClr val="bg1">
                    <a:lumMod val="65000"/>
                  </a:schemeClr>
                </a:solidFill>
              </a:rPr>
              <a:t>Python set elements must be immutable</a:t>
            </a:r>
            <a:r>
              <a:rPr lang="en-US" sz="3400" dirty="0" smtClean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  <a:p>
            <a:pPr lvl="1">
              <a:spcBef>
                <a:spcPts val="0"/>
              </a:spcBef>
            </a:pPr>
            <a:r>
              <a:rPr lang="en-US" sz="3200" dirty="0" smtClean="0">
                <a:solidFill>
                  <a:schemeClr val="bg1">
                    <a:lumMod val="65000"/>
                  </a:schemeClr>
                </a:solidFill>
              </a:rPr>
              <a:t>Even though the set, itself, is mutable.</a:t>
            </a:r>
            <a:endParaRPr lang="en-US" sz="3200" dirty="0">
              <a:solidFill>
                <a:schemeClr val="bg1">
                  <a:lumMod val="65000"/>
                </a:schemeClr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3400" dirty="0" smtClean="0">
                <a:solidFill>
                  <a:schemeClr val="bg1">
                    <a:lumMod val="65000"/>
                  </a:schemeClr>
                </a:solidFill>
              </a:rPr>
              <a:t>This limitation exists as a consequence of the </a:t>
            </a:r>
            <a:r>
              <a:rPr lang="en-US" sz="3400" spc="-30" dirty="0" smtClean="0">
                <a:solidFill>
                  <a:schemeClr val="bg1">
                    <a:lumMod val="65000"/>
                  </a:schemeClr>
                </a:solidFill>
              </a:rPr>
              <a:t>requirement that set elements must be unique:</a:t>
            </a:r>
          </a:p>
          <a:p>
            <a:pPr lvl="1">
              <a:spcBef>
                <a:spcPts val="0"/>
              </a:spcBef>
            </a:pPr>
            <a:r>
              <a:rPr lang="en-US" sz="3000" dirty="0">
                <a:solidFill>
                  <a:srgbClr val="A6A6A6"/>
                </a:solidFill>
              </a:rPr>
              <a:t>I</a:t>
            </a:r>
            <a:r>
              <a:rPr lang="en-US" sz="3000" dirty="0" smtClean="0">
                <a:solidFill>
                  <a:srgbClr val="A6A6A6"/>
                </a:solidFill>
              </a:rPr>
              <a:t>f you were to allow </a:t>
            </a:r>
            <a:r>
              <a:rPr lang="en-US" sz="3000" dirty="0">
                <a:solidFill>
                  <a:srgbClr val="A6A6A6"/>
                </a:solidFill>
              </a:rPr>
              <a:t>those elements to be changed after they’ve been </a:t>
            </a:r>
            <a:r>
              <a:rPr lang="en-US" sz="3000" dirty="0" smtClean="0">
                <a:solidFill>
                  <a:srgbClr val="A6A6A6"/>
                </a:solidFill>
              </a:rPr>
              <a:t>added, like so:</a:t>
            </a:r>
            <a:endParaRPr lang="en-US" sz="3000" dirty="0">
              <a:solidFill>
                <a:srgbClr val="A6A6A6"/>
              </a:solidFill>
            </a:endParaRPr>
          </a:p>
          <a:p>
            <a:pPr marL="456932" lvl="1" indent="0">
              <a:spcBef>
                <a:spcPts val="0"/>
              </a:spcBef>
              <a:buNone/>
            </a:pPr>
            <a:r>
              <a:rPr lang="en-US" altLang="zh-TW" sz="2400" spc="-50" dirty="0" smtClean="0">
                <a:solidFill>
                  <a:srgbClr val="A6A6A6"/>
                </a:solidFill>
                <a:latin typeface="Lucida Sans Typewriter" panose="020B0509030504030204" pitchFamily="49" charset="0"/>
              </a:rPr>
              <a:t>  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&gt;&gt;&gt; 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=[1,2];S={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[</a:t>
            </a:r>
            <a:r>
              <a:rPr lang="en-US" altLang="zh-TW" sz="5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zh-TW" sz="2400" b="1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]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,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</a:t>
            </a:r>
            <a:r>
              <a:rPr lang="en-US" altLang="zh-TW" sz="2400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}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;</a:t>
            </a:r>
            <a:r>
              <a:rPr lang="en-US" altLang="zh-TW" sz="2400" b="1" spc="-17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L.</a:t>
            </a:r>
            <a:r>
              <a:rPr lang="en-US" altLang="zh-TW" sz="2400" b="1" spc="-5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clear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400" b="1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)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;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le</a:t>
            </a:r>
            <a:r>
              <a:rPr lang="en-US" altLang="zh-TW" sz="2400" spc="-20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n</a:t>
            </a:r>
            <a:r>
              <a:rPr lang="en-US" altLang="zh-TW" sz="2400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(S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)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#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s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len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=1 or 2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?</a:t>
            </a:r>
            <a:endParaRPr lang="en-US" altLang="zh-TW" sz="24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lvl="1">
              <a:spcBef>
                <a:spcPts val="0"/>
              </a:spcBef>
            </a:pPr>
            <a:r>
              <a:rPr lang="en-US" sz="2800" dirty="0" smtClean="0">
                <a:solidFill>
                  <a:srgbClr val="A6A6A6"/>
                </a:solidFill>
              </a:rPr>
              <a:t>then </a:t>
            </a:r>
            <a:r>
              <a:rPr lang="en-US" sz="2800" spc="-80" dirty="0">
                <a:solidFill>
                  <a:srgbClr val="A6A6A6"/>
                </a:solidFill>
              </a:rPr>
              <a:t>yo</a:t>
            </a:r>
            <a:r>
              <a:rPr lang="en-US" sz="2800" spc="-60" dirty="0">
                <a:solidFill>
                  <a:srgbClr val="A6A6A6"/>
                </a:solidFill>
              </a:rPr>
              <a:t>u</a:t>
            </a:r>
            <a:r>
              <a:rPr lang="en-US" sz="2800" spc="-210" dirty="0">
                <a:solidFill>
                  <a:srgbClr val="A6A6A6"/>
                </a:solidFill>
              </a:rPr>
              <a:t>’</a:t>
            </a:r>
            <a:r>
              <a:rPr lang="en-US" sz="2800" spc="-30" dirty="0">
                <a:solidFill>
                  <a:srgbClr val="A6A6A6"/>
                </a:solidFill>
              </a:rPr>
              <a:t>d</a:t>
            </a:r>
            <a:r>
              <a:rPr lang="en-US" sz="2800" dirty="0" smtClean="0">
                <a:solidFill>
                  <a:srgbClr val="A6A6A6"/>
                </a:solidFill>
              </a:rPr>
              <a:t> need </a:t>
            </a:r>
            <a:r>
              <a:rPr lang="en-US" sz="2800" spc="-30" dirty="0" smtClean="0">
                <a:solidFill>
                  <a:srgbClr val="A6A6A6"/>
                </a:solidFill>
              </a:rPr>
              <a:t>checks whenever </a:t>
            </a:r>
            <a:r>
              <a:rPr lang="en-US" sz="2800" spc="-30" dirty="0" err="1" smtClean="0">
                <a:solidFill>
                  <a:srgbClr val="A6A6A6"/>
                </a:solidFill>
              </a:rPr>
              <a:t>mutables</a:t>
            </a:r>
            <a:r>
              <a:rPr lang="en-US" sz="2800" spc="-30" dirty="0" smtClean="0">
                <a:solidFill>
                  <a:srgbClr val="A6A6A6"/>
                </a:solidFill>
              </a:rPr>
              <a:t> change,</a:t>
            </a:r>
          </a:p>
          <a:p>
            <a:pPr lvl="1">
              <a:spcBef>
                <a:spcPts val="0"/>
              </a:spcBef>
            </a:pPr>
            <a:r>
              <a:rPr lang="en-US" sz="2801" spc="-30" dirty="0" smtClean="0">
                <a:solidFill>
                  <a:srgbClr val="A6A6A6"/>
                </a:solidFill>
              </a:rPr>
              <a:t>or </a:t>
            </a:r>
            <a:r>
              <a:rPr lang="en-US" sz="2801" spc="-80" dirty="0" smtClean="0">
                <a:solidFill>
                  <a:srgbClr val="A6A6A6"/>
                </a:solidFill>
              </a:rPr>
              <a:t>yo</a:t>
            </a:r>
            <a:r>
              <a:rPr lang="en-US" sz="2801" spc="-60" dirty="0" smtClean="0">
                <a:solidFill>
                  <a:srgbClr val="A6A6A6"/>
                </a:solidFill>
              </a:rPr>
              <a:t>u</a:t>
            </a:r>
            <a:r>
              <a:rPr lang="en-US" sz="2801" spc="-210" dirty="0" smtClean="0">
                <a:solidFill>
                  <a:srgbClr val="A6A6A6"/>
                </a:solidFill>
              </a:rPr>
              <a:t>’</a:t>
            </a:r>
            <a:r>
              <a:rPr lang="en-US" sz="2801" spc="-30" dirty="0" smtClean="0">
                <a:solidFill>
                  <a:srgbClr val="A6A6A6"/>
                </a:solidFill>
              </a:rPr>
              <a:t>d just t</a:t>
            </a:r>
            <a:r>
              <a:rPr lang="en-US" sz="2800" dirty="0" smtClean="0">
                <a:solidFill>
                  <a:srgbClr val="A6A6A6"/>
                </a:solidFill>
              </a:rPr>
              <a:t>ell programmers to not change the</a:t>
            </a:r>
            <a:r>
              <a:rPr lang="en-US" sz="2800" spc="-200" dirty="0" smtClean="0">
                <a:solidFill>
                  <a:srgbClr val="A6A6A6"/>
                </a:solidFill>
              </a:rPr>
              <a:t>m</a:t>
            </a:r>
            <a:r>
              <a:rPr lang="en-US" sz="2800" dirty="0" smtClean="0">
                <a:solidFill>
                  <a:srgbClr val="A6A6A6"/>
                </a:solidFill>
              </a:rPr>
              <a:t>.</a:t>
            </a:r>
          </a:p>
          <a:p>
            <a:pPr marL="1028700" lvl="3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A6A6A6"/>
                </a:solidFill>
              </a:rPr>
              <a:t>But this is unsafe, so its not the way of Python.</a:t>
            </a:r>
            <a:endParaRPr lang="en-US" sz="2800" dirty="0">
              <a:solidFill>
                <a:srgbClr val="A6A6A6"/>
              </a:solidFill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TW" sz="3200" spc="-60" dirty="0" smtClean="0">
                <a:solidFill>
                  <a:srgbClr val="FF0000"/>
                </a:solidFill>
              </a:rPr>
              <a:t>It follows that you can’t “cheat</a:t>
            </a:r>
            <a:r>
              <a:rPr lang="en-US" altLang="zh-TW" sz="3200" spc="-400" dirty="0" smtClean="0">
                <a:solidFill>
                  <a:srgbClr val="FF0000"/>
                </a:solidFill>
              </a:rPr>
              <a:t>”</a:t>
            </a:r>
            <a:r>
              <a:rPr lang="en-US" altLang="zh-TW" sz="3200" spc="-60" dirty="0" smtClean="0">
                <a:solidFill>
                  <a:srgbClr val="FF0000"/>
                </a:solidFill>
              </a:rPr>
              <a:t>,</a:t>
            </a:r>
            <a:r>
              <a:rPr lang="en-US" altLang="zh-TW" sz="2800" spc="-60" dirty="0" smtClean="0">
                <a:solidFill>
                  <a:srgbClr val="FF0000"/>
                </a:solidFill>
              </a:rPr>
              <a:t> </a:t>
            </a:r>
            <a:r>
              <a:rPr lang="en-US" altLang="zh-TW" sz="3200" spc="-60" dirty="0" smtClean="0">
                <a:solidFill>
                  <a:srgbClr val="FF0000"/>
                </a:solidFill>
              </a:rPr>
              <a:t>wrapping a mutable </a:t>
            </a:r>
            <a:r>
              <a:rPr lang="en-US" altLang="zh-TW" sz="3200" spc="-40" dirty="0" smtClean="0">
                <a:solidFill>
                  <a:srgbClr val="FF0000"/>
                </a:solidFill>
              </a:rPr>
              <a:t>element in an immutable one (</a:t>
            </a:r>
            <a:r>
              <a:rPr lang="en-US" altLang="zh-TW" sz="3200" spc="-40" dirty="0" err="1" smtClean="0">
                <a:solidFill>
                  <a:srgbClr val="FF0000"/>
                </a:solidFill>
              </a:rPr>
              <a:t>eg</a:t>
            </a:r>
            <a:r>
              <a:rPr lang="en-US" altLang="zh-TW" sz="3200" spc="-40" dirty="0" smtClean="0">
                <a:solidFill>
                  <a:srgbClr val="FF0000"/>
                </a:solidFill>
              </a:rPr>
              <a:t>, a </a:t>
            </a:r>
            <a:r>
              <a:rPr lang="en-US" altLang="zh-TW" sz="3200" spc="-40" dirty="0" smtClean="0">
                <a:solidFill>
                  <a:srgbClr val="7030A0"/>
                </a:solidFill>
              </a:rPr>
              <a:t>tuple</a:t>
            </a:r>
            <a:r>
              <a:rPr lang="en-US" altLang="zh-TW" sz="3200" spc="-40" dirty="0" smtClean="0">
                <a:solidFill>
                  <a:srgbClr val="FF0000"/>
                </a:solidFill>
              </a:rPr>
              <a:t>), like so:</a:t>
            </a:r>
            <a:endParaRPr lang="en-US" sz="3000" spc="-40" dirty="0" smtClean="0">
              <a:solidFill>
                <a:srgbClr val="FF0000"/>
              </a:solidFill>
            </a:endParaRPr>
          </a:p>
          <a:p>
            <a:pPr marL="456932" lvl="1" indent="0">
              <a:spcBef>
                <a:spcPts val="0"/>
              </a:spcBef>
              <a:buNone/>
            </a:pP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  &gt;&gt;&gt; L=[1,2];S={</a:t>
            </a:r>
            <a:r>
              <a:rPr lang="en-US" altLang="zh-TW" sz="2400" b="1" spc="-50" dirty="0" smtClean="0">
                <a:solidFill>
                  <a:srgbClr val="7030A0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L</a:t>
            </a:r>
            <a:r>
              <a:rPr lang="en-US" altLang="zh-TW" sz="2400" spc="-50" dirty="0" smtClean="0">
                <a:solidFill>
                  <a:srgbClr val="7030A0"/>
                </a:solidFill>
                <a:latin typeface="Lucida Sans Typewriter" panose="020B0509030504030204" pitchFamily="49" charset="0"/>
              </a:rPr>
              <a:t>,</a:t>
            </a:r>
            <a:r>
              <a:rPr lang="en-US" altLang="zh-TW" sz="2400" b="1" spc="-50" dirty="0" smtClean="0">
                <a:solidFill>
                  <a:srgbClr val="7030A0"/>
                </a:solidFill>
                <a:latin typeface="Lucida Sans Typewriter" panose="020B0509030504030204" pitchFamily="49" charset="0"/>
              </a:rPr>
              <a:t>)</a:t>
            </a: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} </a:t>
            </a:r>
            <a:r>
              <a:rPr lang="en-US" altLang="zh-TW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# This won’t work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3200" dirty="0" smtClean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TW" sz="2798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76200"/>
            <a:ext cx="9729788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 smtClean="0">
                <a:solidFill>
                  <a:srgbClr val="0070C0"/>
                </a:solidFill>
                <a:cs typeface="Arial" panose="020B0604020202020204" pitchFamily="34" charset="0"/>
              </a:rPr>
              <a:t>Set Elements</a:t>
            </a:r>
            <a:endParaRPr lang="en-US" altLang="en-US" sz="4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9823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28802" y="2129"/>
            <a:ext cx="8072185" cy="988471"/>
          </a:xfrm>
        </p:spPr>
        <p:txBody>
          <a:bodyPr/>
          <a:lstStyle/>
          <a:p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Union with</a:t>
            </a:r>
            <a:r>
              <a:rPr lang="en-US" altLang="en-US" sz="44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039" y="918185"/>
            <a:ext cx="8605254" cy="593981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 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  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398" dirty="0">
              <a:solidFill>
                <a:schemeClr val="tx1"/>
              </a:solidFill>
              <a:latin typeface="Lucida Console" pitchFamily="49" charset="0"/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2731294" y="2590800"/>
            <a:ext cx="6975359" cy="4246623"/>
          </a:xfrm>
          <a:prstGeom prst="wedgeRoundRectCallout">
            <a:avLst>
              <a:gd name="adj1" fmla="val -64379"/>
              <a:gd name="adj2" fmla="val -51179"/>
              <a:gd name="adj3" fmla="val 16667"/>
            </a:avLst>
          </a:prstGeom>
          <a:solidFill>
            <a:srgbClr val="92D05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wrap="none" lIns="182880" rtlCol="0" anchor="ctr"/>
          <a:lstStyle/>
          <a:p>
            <a:pPr>
              <a:lnSpc>
                <a:spcPct val="85000"/>
              </a:lnSpc>
            </a:pPr>
            <a:endParaRPr kumimoji="0" lang="en-US" altLang="zh-TW" sz="2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</a:endParaRPr>
          </a:p>
          <a:p>
            <a:pPr>
              <a:lnSpc>
                <a:spcPct val="85000"/>
              </a:lnSpc>
            </a:pPr>
            <a:r>
              <a:rPr kumimoji="0" lang="en-US" altLang="zh-TW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</a:rPr>
              <a:t>This converts</a:t>
            </a:r>
            <a:r>
              <a:rPr kumimoji="0" lang="en-US" altLang="zh-TW" sz="2800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</a:rPr>
              <a:t> the argument to a set.</a:t>
            </a:r>
          </a:p>
          <a:p>
            <a:pPr>
              <a:lnSpc>
                <a:spcPct val="85000"/>
              </a:lnSpc>
            </a:pPr>
            <a:r>
              <a:rPr lang="en-US" altLang="zh-TW" sz="2800" kern="0" dirty="0" smtClean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Actually </a:t>
            </a:r>
            <a:r>
              <a:rPr lang="en-US" altLang="zh-TW" sz="2800" kern="0" dirty="0" smtClean="0">
                <a:solidFill>
                  <a:srgbClr val="FFFF00"/>
                </a:solidFill>
                <a:latin typeface="Calibri"/>
                <a:ea typeface="新細明體" panose="02020500000000000000" pitchFamily="18" charset="-120"/>
              </a:rPr>
              <a:t>each type </a:t>
            </a:r>
            <a:r>
              <a:rPr lang="en-US" altLang="zh-TW" sz="2800" kern="0" dirty="0" smtClean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has a converter function:</a:t>
            </a:r>
            <a:endParaRPr lang="en-US" altLang="zh-TW" sz="2568" kern="0" dirty="0" smtClean="0">
              <a:solidFill>
                <a:prstClr val="black"/>
              </a:solidFill>
              <a:latin typeface="Calibri"/>
              <a:ea typeface="新細明體" panose="02020500000000000000" pitchFamily="18" charset="-120"/>
            </a:endParaRPr>
          </a:p>
          <a:p>
            <a:pPr>
              <a:lnSpc>
                <a:spcPct val="85000"/>
              </a:lnSpc>
            </a:pPr>
            <a:r>
              <a:rPr lang="en-US" sz="2400" dirty="0" smtClean="0">
                <a:solidFill>
                  <a:srgbClr val="78B24C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set</a:t>
            </a:r>
            <a:r>
              <a:rPr lang="en-US" sz="2400" dirty="0">
                <a:latin typeface="Lucida Console" panose="020B0609040504020204" pitchFamily="49" charset="0"/>
              </a:rPr>
              <a:t>('5.0')</a:t>
            </a:r>
          </a:p>
          <a:p>
            <a:pPr>
              <a:lnSpc>
                <a:spcPct val="85000"/>
              </a:lnSpc>
            </a:pPr>
            <a:r>
              <a:rPr lang="en-US" sz="2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{</a:t>
            </a:r>
            <a:r>
              <a:rPr lang="en-US" sz="2400" dirty="0">
                <a:latin typeface="Lucida Console" panose="020B0609040504020204" pitchFamily="49" charset="0"/>
              </a:rPr>
              <a:t>'.', '0', '5'</a:t>
            </a:r>
            <a:r>
              <a:rPr lang="en-US" sz="2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85000"/>
              </a:lnSpc>
            </a:pPr>
            <a:r>
              <a:rPr lang="en-US" sz="2400" dirty="0" smtClean="0">
                <a:solidFill>
                  <a:srgbClr val="78B24C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sz="2400" b="1" dirty="0" err="1">
                <a:solidFill>
                  <a:srgbClr val="CC6600"/>
                </a:solidFill>
                <a:latin typeface="Lucida Console" panose="020B0609040504020204" pitchFamily="49" charset="0"/>
              </a:rPr>
              <a:t>str</a:t>
            </a:r>
            <a:r>
              <a:rPr lang="en-US" sz="2400" dirty="0">
                <a:latin typeface="Lucida Console" panose="020B0609040504020204" pitchFamily="49" charset="0"/>
              </a:rPr>
              <a:t>(5.0)</a:t>
            </a:r>
          </a:p>
          <a:p>
            <a:pPr>
              <a:lnSpc>
                <a:spcPct val="85000"/>
              </a:lnSpc>
            </a:pPr>
            <a:r>
              <a:rPr lang="en-US" sz="2400" b="1" dirty="0">
                <a:solidFill>
                  <a:srgbClr val="CC6600"/>
                </a:solidFill>
                <a:latin typeface="Lucida Console" panose="020B0609040504020204" pitchFamily="49" charset="0"/>
              </a:rPr>
              <a:t>'</a:t>
            </a:r>
            <a:r>
              <a:rPr lang="en-US" sz="2400" dirty="0">
                <a:latin typeface="Lucida Console" panose="020B0609040504020204" pitchFamily="49" charset="0"/>
              </a:rPr>
              <a:t>5.0</a:t>
            </a:r>
            <a:r>
              <a:rPr lang="en-US" sz="2400" b="1" dirty="0">
                <a:solidFill>
                  <a:srgbClr val="CC6600"/>
                </a:solidFill>
                <a:latin typeface="Lucida Console" panose="020B0609040504020204" pitchFamily="49" charset="0"/>
              </a:rPr>
              <a:t>'</a:t>
            </a:r>
          </a:p>
          <a:p>
            <a:pPr>
              <a:lnSpc>
                <a:spcPct val="85000"/>
              </a:lnSpc>
            </a:pPr>
            <a:r>
              <a:rPr lang="en-US" sz="2400" dirty="0">
                <a:solidFill>
                  <a:srgbClr val="78B24C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dirty="0">
                <a:latin typeface="Lucida Console" panose="020B0609040504020204" pitchFamily="49" charset="0"/>
              </a:rPr>
              <a:t> </a:t>
            </a:r>
            <a:r>
              <a:rPr lang="en-US" sz="2400" b="1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int</a:t>
            </a:r>
            <a:r>
              <a:rPr lang="en-US" sz="2400" dirty="0">
                <a:latin typeface="Lucida Console" panose="020B0609040504020204" pitchFamily="49" charset="0"/>
              </a:rPr>
              <a:t>('5.0')</a:t>
            </a:r>
          </a:p>
          <a:p>
            <a:pPr>
              <a:lnSpc>
                <a:spcPct val="85000"/>
              </a:lnSpc>
            </a:pPr>
            <a:r>
              <a:rPr lang="en-US" sz="2400" b="1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5</a:t>
            </a:r>
            <a:endParaRPr lang="en-US" sz="24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400" dirty="0">
                <a:solidFill>
                  <a:srgbClr val="78B24C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dirty="0">
                <a:latin typeface="Lucida Console" panose="020B0609040504020204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list</a:t>
            </a:r>
            <a:r>
              <a:rPr lang="en-US" sz="2400" dirty="0">
                <a:latin typeface="Lucida Console" panose="020B0609040504020204" pitchFamily="49" charset="0"/>
              </a:rPr>
              <a:t>('5.0')</a:t>
            </a:r>
          </a:p>
          <a:p>
            <a:pPr>
              <a:lnSpc>
                <a:spcPct val="85000"/>
              </a:lnSpc>
            </a:pP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sz="2400" dirty="0">
                <a:latin typeface="Lucida Console" panose="020B0609040504020204" pitchFamily="49" charset="0"/>
              </a:rPr>
              <a:t>'5', '.', '0'</a:t>
            </a: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</a:p>
          <a:p>
            <a:pPr>
              <a:lnSpc>
                <a:spcPct val="85000"/>
              </a:lnSpc>
            </a:pPr>
            <a:r>
              <a:rPr lang="en-US" sz="2400" dirty="0" smtClean="0">
                <a:solidFill>
                  <a:srgbClr val="78B24C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dirty="0" smtClean="0">
                <a:solidFill>
                  <a:srgbClr val="A6B0A6"/>
                </a:solidFill>
                <a:latin typeface="Lucida Console" panose="020B0609040504020204" pitchFamily="49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sorted</a:t>
            </a:r>
            <a:r>
              <a:rPr 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sz="2400" dirty="0">
                <a:latin typeface="Lucida Console" panose="020B0609040504020204" pitchFamily="49" charset="0"/>
              </a:rPr>
              <a:t>'5.0</a:t>
            </a:r>
            <a:r>
              <a:rPr lang="en-US" sz="2400" dirty="0" smtClean="0">
                <a:latin typeface="Lucida Console" panose="020B0609040504020204" pitchFamily="49" charset="0"/>
              </a:rPr>
              <a:t>')</a:t>
            </a:r>
            <a:r>
              <a:rPr lang="en-US" sz="2400" dirty="0" smtClean="0">
                <a:latin typeface="Bookman Old Style" panose="02050604050505020204" pitchFamily="18" charset="0"/>
              </a:rPr>
              <a:t>#makes a </a:t>
            </a:r>
            <a:r>
              <a:rPr lang="en-US" sz="2400" b="1" dirty="0" smtClean="0">
                <a:solidFill>
                  <a:srgbClr val="FF0000"/>
                </a:solidFill>
                <a:latin typeface="Bookman Old Style" panose="02050604050505020204" pitchFamily="18" charset="0"/>
              </a:rPr>
              <a:t>sorted list</a:t>
            </a: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85000"/>
              </a:lnSpc>
            </a:pPr>
            <a:r>
              <a:rPr lang="en-US" sz="24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sz="2400" dirty="0" smtClean="0">
                <a:latin typeface="Lucida Console" panose="020B0609040504020204" pitchFamily="49" charset="0"/>
              </a:rPr>
              <a:t>'.', '0', '5'</a:t>
            </a:r>
            <a:r>
              <a:rPr lang="en-US" sz="24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  <a:endParaRPr lang="en-US" sz="2400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70000"/>
              </a:lnSpc>
            </a:pPr>
            <a:r>
              <a:rPr lang="en-US" sz="2400" dirty="0" smtClean="0">
                <a:solidFill>
                  <a:srgbClr val="78B24C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dirty="0" smtClean="0">
                <a:solidFill>
                  <a:srgbClr val="B3D88B"/>
                </a:solidFill>
                <a:latin typeface="Lucida Console" panose="020B0609040504020204" pitchFamily="49" charset="0"/>
              </a:rPr>
              <a:t> </a:t>
            </a:r>
            <a:r>
              <a:rPr lang="en-US" sz="2400" spc="-50" dirty="0" smtClean="0">
                <a:latin typeface="Bookman Old Style" panose="02050604050505020204" pitchFamily="18" charset="0"/>
              </a:rPr>
              <a:t>#This last </a:t>
            </a:r>
            <a:r>
              <a:rPr lang="en-US" sz="2400" spc="-100" dirty="0" smtClean="0">
                <a:latin typeface="Bookman Old Style" panose="02050604050505020204" pitchFamily="18" charset="0"/>
              </a:rPr>
              <a:t>on</a:t>
            </a:r>
            <a:r>
              <a:rPr lang="en-US" sz="2400" spc="-50" dirty="0" smtClean="0">
                <a:latin typeface="Bookman Old Style" panose="02050604050505020204" pitchFamily="18" charset="0"/>
              </a:rPr>
              <a:t>e </a:t>
            </a:r>
            <a:r>
              <a:rPr lang="en-US" sz="2400" spc="-50" dirty="0">
                <a:latin typeface="Bookman Old Style" panose="02050604050505020204" pitchFamily="18" charset="0"/>
              </a:rPr>
              <a:t>i</a:t>
            </a:r>
            <a:r>
              <a:rPr lang="en-US" sz="2400" spc="-50" dirty="0" smtClean="0">
                <a:latin typeface="Bookman Old Style" panose="02050604050505020204" pitchFamily="18" charset="0"/>
              </a:rPr>
              <a:t>s </a:t>
            </a:r>
            <a:r>
              <a:rPr lang="en-US" sz="2400" spc="-80" dirty="0" smtClean="0">
                <a:latin typeface="Bookman Old Style" panose="02050604050505020204" pitchFamily="18" charset="0"/>
              </a:rPr>
              <a:t>s</a:t>
            </a:r>
            <a:r>
              <a:rPr lang="en-US" sz="2400" spc="-100" dirty="0" smtClean="0">
                <a:latin typeface="Bookman Old Style" panose="02050604050505020204" pitchFamily="18" charset="0"/>
              </a:rPr>
              <a:t>o</a:t>
            </a:r>
            <a:r>
              <a:rPr lang="en-US" sz="2400" spc="-10" dirty="0" smtClean="0">
                <a:latin typeface="Bookman Old Style" panose="02050604050505020204" pitchFamily="18" charset="0"/>
              </a:rPr>
              <a:t>r</a:t>
            </a:r>
            <a:r>
              <a:rPr lang="en-US" sz="2400" spc="-50" dirty="0" smtClean="0">
                <a:latin typeface="Bookman Old Style" panose="02050604050505020204" pitchFamily="18" charset="0"/>
              </a:rPr>
              <a:t>ted </a:t>
            </a:r>
            <a:r>
              <a:rPr lang="en-US" sz="2400" spc="-100" dirty="0" smtClean="0">
                <a:latin typeface="Bookman Old Style" panose="02050604050505020204" pitchFamily="18" charset="0"/>
              </a:rPr>
              <a:t>b</a:t>
            </a:r>
            <a:r>
              <a:rPr lang="en-US" sz="2400" spc="-50" dirty="0" smtClean="0">
                <a:latin typeface="Bookman Old Style" panose="02050604050505020204" pitchFamily="18" charset="0"/>
              </a:rPr>
              <a:t>y</a:t>
            </a:r>
            <a:r>
              <a:rPr lang="en-US" sz="2000" spc="-50" dirty="0" smtClean="0">
                <a:latin typeface="Bookman Old Style" panose="02050604050505020204" pitchFamily="18" charset="0"/>
              </a:rPr>
              <a:t> </a:t>
            </a:r>
            <a:r>
              <a:rPr lang="en-US" sz="2400" spc="-50" dirty="0" smtClean="0">
                <a:latin typeface="Bookman Old Style" panose="02050604050505020204" pitchFamily="18" charset="0"/>
              </a:rPr>
              <a:t>A</a:t>
            </a:r>
            <a:r>
              <a:rPr lang="en-US" sz="2400" spc="-90" dirty="0" smtClean="0">
                <a:latin typeface="Bookman Old Style" panose="02050604050505020204" pitchFamily="18" charset="0"/>
              </a:rPr>
              <a:t>S</a:t>
            </a:r>
            <a:r>
              <a:rPr lang="en-US" sz="2400" spc="-50" dirty="0" smtClean="0">
                <a:latin typeface="Bookman Old Style" panose="02050604050505020204" pitchFamily="18" charset="0"/>
              </a:rPr>
              <a:t>C</a:t>
            </a:r>
            <a:r>
              <a:rPr lang="en-US" sz="2400" spc="-20" dirty="0" smtClean="0">
                <a:latin typeface="Bookman Old Style" panose="02050604050505020204" pitchFamily="18" charset="0"/>
              </a:rPr>
              <a:t>I</a:t>
            </a:r>
            <a:r>
              <a:rPr lang="en-US" sz="2400" spc="-50" dirty="0" smtClean="0">
                <a:latin typeface="Bookman Old Style" panose="02050604050505020204" pitchFamily="18" charset="0"/>
              </a:rPr>
              <a:t>I</a:t>
            </a:r>
            <a:r>
              <a:rPr lang="en-US" sz="2000" spc="-50" dirty="0" smtClean="0">
                <a:latin typeface="Bookman Old Style" panose="02050604050505020204" pitchFamily="18" charset="0"/>
              </a:rPr>
              <a:t> </a:t>
            </a:r>
            <a:r>
              <a:rPr lang="en-US" sz="2400" spc="-90" dirty="0" smtClean="0">
                <a:latin typeface="Bookman Old Style" panose="02050604050505020204" pitchFamily="18" charset="0"/>
              </a:rPr>
              <a:t>v</a:t>
            </a:r>
            <a:r>
              <a:rPr lang="en-US" sz="2400" spc="-50" dirty="0" smtClean="0">
                <a:latin typeface="Bookman Old Style" panose="02050604050505020204" pitchFamily="18" charset="0"/>
              </a:rPr>
              <a:t>al</a:t>
            </a:r>
            <a:r>
              <a:rPr lang="en-US" sz="2400" spc="-90" dirty="0" smtClean="0">
                <a:latin typeface="Bookman Old Style" panose="02050604050505020204" pitchFamily="18" charset="0"/>
              </a:rPr>
              <a:t>u</a:t>
            </a:r>
            <a:r>
              <a:rPr lang="en-US" sz="2400" spc="-50" dirty="0" smtClean="0">
                <a:latin typeface="Bookman Old Style" panose="02050604050505020204" pitchFamily="18" charset="0"/>
              </a:rPr>
              <a:t>e</a:t>
            </a:r>
          </a:p>
          <a:p>
            <a:pPr marL="0" marR="0" lvl="0" indent="0" algn="ct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698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038" y="918185"/>
            <a:ext cx="8836455" cy="593981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 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  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 err="1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","</a:t>
            </a:r>
            <a:r>
              <a:rPr lang="en-US" altLang="en-US" sz="2398" b="1" dirty="0" err="1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","</a:t>
            </a:r>
            <a:r>
              <a:rPr lang="en-US" altLang="en-US" sz="2398" b="1" dirty="0" err="1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.union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      (set("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.union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      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 #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The </a:t>
            </a:r>
            <a:r>
              <a:rPr lang="en-US" alt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last 2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 results have the same 4</a:t>
            </a:r>
            <a:r>
              <a:rPr lang="en-US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items,</a:t>
            </a:r>
            <a:endParaRPr lang="en-US" altLang="en-US" sz="2398" dirty="0">
              <a:solidFill>
                <a:schemeClr val="tx1">
                  <a:lumMod val="50000"/>
                  <a:lumOff val="50000"/>
                </a:schemeClr>
              </a:solidFill>
              <a:latin typeface="Lucida Console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 # 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but they've printed in a</a:t>
            </a:r>
            <a:r>
              <a:rPr lang="en-US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different order.</a:t>
            </a:r>
            <a:endParaRPr lang="en-US" altLang="en-US" sz="2398" dirty="0">
              <a:solidFill>
                <a:schemeClr val="tx1">
                  <a:lumMod val="50000"/>
                  <a:lumOff val="50000"/>
                </a:schemeClr>
              </a:solidFill>
              <a:latin typeface="Lucida Console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 # 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It </a:t>
            </a:r>
            <a:r>
              <a:rPr lang="en-US" alt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doesn’t 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matter, as</a:t>
            </a:r>
            <a:r>
              <a:rPr lang="en-US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sets 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are</a:t>
            </a:r>
            <a:r>
              <a:rPr lang="en-US" altLang="en-US" sz="2398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 unordered.</a:t>
            </a:r>
            <a:endParaRPr lang="en-US" altLang="en-US" sz="2398" i="1" dirty="0">
              <a:solidFill>
                <a:schemeClr val="tx1">
                  <a:lumMod val="50000"/>
                  <a:lumOff val="50000"/>
                </a:schemeClr>
              </a:solidFill>
              <a:latin typeface="Lucida Console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398" dirty="0">
              <a:solidFill>
                <a:schemeClr val="tx1"/>
              </a:solidFill>
              <a:latin typeface="Lucida Console" pitchFamily="49" charset="0"/>
            </a:endParaRP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28802" y="2129"/>
            <a:ext cx="8072185" cy="988471"/>
          </a:xfrm>
        </p:spPr>
        <p:txBody>
          <a:bodyPr/>
          <a:lstStyle/>
          <a:p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Union with</a:t>
            </a:r>
            <a:r>
              <a:rPr lang="en-US" altLang="en-US" sz="44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3036094" y="5486400"/>
            <a:ext cx="6670559" cy="1351023"/>
          </a:xfrm>
          <a:prstGeom prst="wedgeRoundRectCallout">
            <a:avLst>
              <a:gd name="adj1" fmla="val -40268"/>
              <a:gd name="adj2" fmla="val -127055"/>
              <a:gd name="adj3" fmla="val 16667"/>
            </a:avLst>
          </a:prstGeom>
          <a:solidFill>
            <a:srgbClr val="92D05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>
              <a:lnSpc>
                <a:spcPct val="85000"/>
              </a:lnSpc>
            </a:pPr>
            <a:r>
              <a:rPr kumimoji="0" lang="en-US" altLang="zh-TW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</a:rPr>
              <a:t>This</a:t>
            </a:r>
            <a:r>
              <a:rPr kumimoji="0" lang="en-US" altLang="zh-TW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</a:rPr>
              <a:t> is a method</a:t>
            </a:r>
            <a:r>
              <a:rPr kumimoji="0" lang="en-US" altLang="zh-TW" sz="2800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</a:rPr>
              <a:t>. We haven’t talked about methods yet. For now, we’ll just say that it is another way to run the </a:t>
            </a:r>
            <a:r>
              <a:rPr kumimoji="0" lang="en-US" altLang="zh-TW" sz="2800" b="1" i="0" u="none" strike="noStrike" kern="0" cap="none" spc="0" normalizeH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</a:rPr>
              <a:t>|</a:t>
            </a:r>
            <a:r>
              <a:rPr kumimoji="0" lang="en-US" altLang="zh-TW" sz="2800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</a:rPr>
              <a:t> operator.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2640214" y="6019800"/>
            <a:ext cx="7066439" cy="817623"/>
          </a:xfrm>
          <a:prstGeom prst="wedgeRoundRectCallout">
            <a:avLst>
              <a:gd name="adj1" fmla="val -53728"/>
              <a:gd name="adj2" fmla="val -123761"/>
              <a:gd name="adj3" fmla="val 16667"/>
            </a:avLst>
          </a:prstGeom>
          <a:solidFill>
            <a:srgbClr val="92D05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>
              <a:lnSpc>
                <a:spcPct val="85000"/>
              </a:lnSpc>
            </a:pPr>
            <a:r>
              <a:rPr lang="en-US" altLang="zh-TW" sz="2800" kern="0" dirty="0" smtClean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Here we see an interesting detail</a:t>
            </a:r>
            <a:r>
              <a:rPr kumimoji="0" lang="en-US" altLang="zh-TW" sz="2800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</a:rPr>
              <a:t>. It did</a:t>
            </a:r>
            <a:r>
              <a:rPr kumimoji="0" lang="en-US" altLang="zh-TW" sz="2800" b="0" i="0" u="none" strike="noStrike" kern="0" cap="none" spc="-20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</a:rPr>
              <a:t>n’</a:t>
            </a:r>
            <a:r>
              <a:rPr kumimoji="0" lang="en-US" altLang="zh-TW" sz="2800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</a:rPr>
              <a:t>t give the same output </a:t>
            </a:r>
            <a:r>
              <a:rPr kumimoji="0" lang="en-US" altLang="zh-TW" sz="2800" b="1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</a:rPr>
              <a:t>as the | operator gave</a:t>
            </a:r>
            <a:r>
              <a:rPr kumimoji="0" lang="en-US" altLang="zh-TW" sz="2800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</a:rPr>
              <a:t>.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 flipH="1" flipV="1">
            <a:off x="2350294" y="4038600"/>
            <a:ext cx="3886200" cy="25146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31682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58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58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58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358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28802" y="2129"/>
            <a:ext cx="8072185" cy="988471"/>
          </a:xfrm>
        </p:spPr>
        <p:txBody>
          <a:bodyPr/>
          <a:lstStyle/>
          <a:p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Intersection with</a:t>
            </a:r>
            <a:r>
              <a:rPr lang="en-US" altLang="en-US" sz="44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039" y="918185"/>
            <a:ext cx="8605254" cy="593981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rgbClr val="FF0000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rgbClr val="FF0000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rgbClr val="FF0000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&amp;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  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&amp;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en-US" sz="400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&amp;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&amp;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 err="1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","</a:t>
            </a:r>
            <a:r>
              <a:rPr lang="en-US" altLang="en-US" sz="2398" b="1" dirty="0" err="1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","</a:t>
            </a:r>
            <a:r>
              <a:rPr lang="en-US" altLang="en-US" sz="2398" b="1" dirty="0" err="1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&amp;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en-US" sz="400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endParaRPr lang="en-US" altLang="en-US" sz="2398" dirty="0">
              <a:solidFill>
                <a:schemeClr val="tx1"/>
              </a:solidFill>
              <a:latin typeface="Lucida Console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.intersection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(set("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.intersection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398" dirty="0">
              <a:solidFill>
                <a:schemeClr val="tx1"/>
              </a:solidFill>
              <a:latin typeface="Lucida Console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394950" y="2166632"/>
            <a:ext cx="5227860" cy="1792224"/>
            <a:chOff x="1310635" y="2057400"/>
            <a:chExt cx="5992658" cy="1752600"/>
          </a:xfrm>
        </p:grpSpPr>
        <p:sp>
          <p:nvSpPr>
            <p:cNvPr id="2" name="Isosceles Triangle 1"/>
            <p:cNvSpPr/>
            <p:nvPr/>
          </p:nvSpPr>
          <p:spPr bwMode="auto">
            <a:xfrm rot="4173493" flipV="1">
              <a:off x="1926441" y="2723348"/>
              <a:ext cx="457200" cy="1688811"/>
            </a:xfrm>
            <a:prstGeom prst="triangle">
              <a:avLst/>
            </a:prstGeom>
            <a:solidFill>
              <a:srgbClr val="92D050"/>
            </a:solidFill>
            <a:ln w="12700" cap="flat" cmpd="sng" algn="ctr">
              <a:solidFill>
                <a:srgbClr val="41719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4" name="Rounded Rectangular Callout 3"/>
            <p:cNvSpPr/>
            <p:nvPr/>
          </p:nvSpPr>
          <p:spPr>
            <a:xfrm>
              <a:off x="2731294" y="2057400"/>
              <a:ext cx="4571999" cy="1752600"/>
            </a:xfrm>
            <a:prstGeom prst="wedgeRoundRectCallout">
              <a:avLst>
                <a:gd name="adj1" fmla="val -79120"/>
                <a:gd name="adj2" fmla="val -50109"/>
                <a:gd name="adj3" fmla="val 16667"/>
              </a:avLst>
            </a:prstGeom>
            <a:solidFill>
              <a:srgbClr val="92D05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lnSpc>
                  <a:spcPct val="85000"/>
                </a:lnSpc>
              </a:pPr>
              <a:r>
                <a:rPr lang="en-US" altLang="zh-TW" sz="2800" kern="0" noProof="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These indicate empty sets. (The reason </a:t>
              </a:r>
              <a:r>
                <a:rPr lang="en-US" altLang="zh-TW" sz="2800" kern="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they're</a:t>
              </a:r>
              <a:r>
                <a:rPr lang="en-US" altLang="zh-TW" sz="2800" kern="0" noProof="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 not written as “</a:t>
              </a:r>
              <a:r>
                <a:rPr lang="en-US" altLang="zh-TW" sz="2800" b="1" kern="0" noProof="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{</a:t>
              </a:r>
              <a:r>
                <a:rPr lang="en-US" altLang="zh-TW" sz="2000" kern="0" noProof="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 </a:t>
              </a:r>
              <a:r>
                <a:rPr lang="en-US" altLang="zh-TW" sz="2800" b="1" kern="0" noProof="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}</a:t>
              </a:r>
              <a:r>
                <a:rPr lang="en-US" altLang="zh-TW" sz="2800" kern="0" noProof="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” </a:t>
              </a:r>
              <a:r>
                <a:rPr lang="en-US" altLang="zh-TW" sz="2800" kern="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will be explained on slide 63.)</a:t>
              </a:r>
              <a:endParaRPr kumimoji="0" lang="zh-TW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</a:endParaRPr>
            </a:p>
          </p:txBody>
        </p:sp>
        <p:sp>
          <p:nvSpPr>
            <p:cNvPr id="9" name="Isosceles Triangle 8"/>
            <p:cNvSpPr/>
            <p:nvPr/>
          </p:nvSpPr>
          <p:spPr bwMode="auto">
            <a:xfrm rot="4173493" flipV="1">
              <a:off x="1973657" y="2827260"/>
              <a:ext cx="425260" cy="1457566"/>
            </a:xfrm>
            <a:prstGeom prst="triangle">
              <a:avLst/>
            </a:prstGeom>
            <a:solidFill>
              <a:srgbClr val="92D05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946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-70505" y="2129"/>
            <a:ext cx="9823794" cy="988471"/>
          </a:xfrm>
        </p:spPr>
        <p:txBody>
          <a:bodyPr vert="horz" wrap="square" lIns="0" tIns="42303" rIns="0" bIns="42303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Remove </a:t>
            </a:r>
            <a:r>
              <a:rPr lang="en-US" altLang="en-US" sz="4400" dirty="0" smtClean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shared items</a:t>
            </a:r>
            <a:r>
              <a:rPr lang="en-US" altLang="en-US" sz="4400" spc="-139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,</a:t>
            </a:r>
            <a:r>
              <a:rPr lang="en-US" altLang="en-US" sz="4000" spc="-139" dirty="0" smtClean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400" spc="-139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with </a:t>
            </a:r>
            <a:r>
              <a:rPr lang="en-US" altLang="en-US" sz="4400" spc="-139" dirty="0">
                <a:solidFill>
                  <a:srgbClr val="00B0F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039" y="918185"/>
            <a:ext cx="8986018" cy="593981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-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{2,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  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-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{"bat"}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-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set("b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-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b","</a:t>
            </a:r>
            <a:r>
              <a:rPr lang="en-US" altLang="en-US" sz="2398" b="1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","</a:t>
            </a:r>
            <a:r>
              <a:rPr lang="en-US" altLang="en-US" sz="2398" b="1" dirty="0" err="1">
                <a:solidFill>
                  <a:srgbClr val="FF000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-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{"bat"}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.difference 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(set("b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.difference 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("b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endParaRPr lang="en-US" altLang="en-US" sz="2398" spc="-140" dirty="0">
              <a:solidFill>
                <a:schemeClr val="tx1"/>
              </a:solidFill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308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129"/>
            <a:ext cx="9729788" cy="988471"/>
          </a:xfrm>
        </p:spPr>
        <p:txBody>
          <a:bodyPr/>
          <a:lstStyle/>
          <a:p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Exclusively in just one set, with</a:t>
            </a:r>
            <a:r>
              <a:rPr lang="en-US" altLang="en-US" sz="44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^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039" y="918185"/>
            <a:ext cx="8986018" cy="593981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^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  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^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^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^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 err="1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","</a:t>
            </a:r>
            <a:r>
              <a:rPr lang="en-US" altLang="en-US" sz="2398" b="1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","</a:t>
            </a:r>
            <a:r>
              <a:rPr lang="en-US" altLang="en-US" sz="2398" b="1" dirty="0" err="1">
                <a:solidFill>
                  <a:srgbClr val="FF000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^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").</a:t>
            </a:r>
            <a:r>
              <a:rPr lang="en-US" altLang="en-US" sz="2398" b="1" dirty="0" err="1">
                <a:solidFill>
                  <a:srgbClr val="00B0F0"/>
                </a:solidFill>
                <a:latin typeface="Lucida Console" pitchFamily="49" charset="0"/>
              </a:rPr>
              <a:t>symmetric_difference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(set("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").</a:t>
            </a:r>
            <a:r>
              <a:rPr lang="en-US" altLang="en-US" sz="2398" b="1" dirty="0" err="1">
                <a:solidFill>
                  <a:srgbClr val="00B0F0"/>
                </a:solidFill>
                <a:latin typeface="Lucida Console" pitchFamily="49" charset="0"/>
              </a:rPr>
              <a:t>symmetric_difference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449266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129"/>
            <a:ext cx="9729788" cy="761527"/>
          </a:xfrm>
        </p:spPr>
        <p:txBody>
          <a:bodyPr/>
          <a:lstStyle/>
          <a:p>
            <a:r>
              <a:rPr lang="en-US" altLang="en-US" sz="4071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Sets</a:t>
            </a:r>
            <a:endParaRPr lang="en-US" altLang="en-US" sz="3997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124255"/>
              </p:ext>
            </p:extLst>
          </p:nvPr>
        </p:nvGraphicFramePr>
        <p:xfrm>
          <a:off x="295733" y="644306"/>
          <a:ext cx="9138324" cy="6243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6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215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2020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65055">
                <a:tc gridSpan="3">
                  <a:txBody>
                    <a:bodyPr/>
                    <a:lstStyle/>
                    <a:p>
                      <a:pPr algn="l" fontAlgn="base"/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      Method       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Result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1384" marR="91384" marT="27415" marB="274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r" fontAlgn="base"/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err="1" smtClean="0">
                          <a:solidFill>
                            <a:schemeClr val="tx1"/>
                          </a:solidFill>
                          <a:effectLst/>
                        </a:rPr>
                        <a:t>len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altLang="zh-TW" sz="2000" b="0" i="0" dirty="0" smtClean="0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Returns the number of elements in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set </a:t>
                      </a:r>
                      <a:r>
                        <a:rPr lang="en-US" sz="2000" b="0" i="1" dirty="0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cs typeface="times" panose="02020603050405020304" pitchFamily="18" charset="0"/>
                        </a:rPr>
                        <a:t>s</a:t>
                      </a:r>
                      <a:endParaRPr lang="en-US" sz="2000" i="1" dirty="0"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cs typeface="times" panose="02020603050405020304" pitchFamily="18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20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endParaRPr lang="en-US" sz="2000" i="1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137075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altLang="zh-TW" sz="2000" b="0" i="1" smtClean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altLang="zh-TW" sz="2000" smtClean="0">
                          <a:effectLst/>
                        </a:rPr>
                        <a:t> </a:t>
                      </a:r>
                      <a:r>
                        <a:rPr lang="en-US" altLang="zh-TW" sz="500" smtClean="0">
                          <a:effectLst/>
                        </a:rPr>
                        <a:t> </a:t>
                      </a:r>
                      <a:r>
                        <a:rPr lang="en-US" altLang="zh-TW" sz="2000" smtClean="0">
                          <a:effectLst/>
                        </a:rPr>
                        <a:t>in</a:t>
                      </a:r>
                      <a:r>
                        <a:rPr lang="en-US" altLang="zh-TW" sz="1000" smtClean="0">
                          <a:effectLst/>
                        </a:rPr>
                        <a:t> </a:t>
                      </a:r>
                      <a:r>
                        <a:rPr lang="en-US" altLang="zh-TW" sz="2000" b="0" i="1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endParaRPr lang="en-US" sz="2000" i="1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137075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  <a:r>
                        <a:rPr lang="en-US" sz="2000" b="0" i="1" dirty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sz="2000" dirty="0">
                          <a:effectLst/>
                        </a:rPr>
                        <a:t> for membership in </a:t>
                      </a:r>
                      <a:r>
                        <a:rPr lang="en-US" sz="20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endParaRPr lang="en-US" sz="20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9885">
                <a:tc gridSpan="2">
                  <a:txBody>
                    <a:bodyPr/>
                    <a:lstStyle/>
                    <a:p>
                      <a:pPr algn="r" fontAlgn="base"/>
                      <a:r>
                        <a:rPr lang="en-US" sz="2000" b="0" i="1" dirty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sz="2000" dirty="0">
                          <a:effectLst/>
                        </a:rPr>
                        <a:t> not in</a:t>
                      </a: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2000" b="0" i="1" dirty="0" smtClean="0">
                          <a:effectLst/>
                          <a:latin typeface="Lucida Console" panose="020B0609040504020204" pitchFamily="49" charset="0"/>
                        </a:rPr>
                        <a:t>s </a:t>
                      </a:r>
                      <a:endParaRPr lang="en-US" sz="2000" i="1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45692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dirty="0" smtClean="0">
                          <a:effectLst/>
                        </a:rPr>
                        <a:t>if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2000" b="0" i="1" dirty="0" smtClean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sz="10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sz="2000" b="0" i="0" dirty="0" smtClean="0">
                          <a:effectLst/>
                          <a:latin typeface="Lucida Console" panose="020B0609040504020204" pitchFamily="49" charset="0"/>
                        </a:rPr>
                        <a:t>in</a:t>
                      </a:r>
                      <a:r>
                        <a:rPr lang="en-US" sz="8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sz="20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dirty="0" smtClean="0">
                          <a:effectLst/>
                        </a:rPr>
                        <a:t> is not true</a:t>
                      </a:r>
                      <a:endParaRPr lang="en-US" sz="20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endParaRPr lang="en-US" sz="2000" dirty="0">
                        <a:effectLst/>
                      </a:endParaRP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1000" dirty="0" smtClean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altLang="zh-TW" sz="1800" dirty="0" smtClean="0">
                          <a:effectLst/>
                          <a:latin typeface="Lucida Console" panose="020B0609040504020204" pitchFamily="49" charset="0"/>
                        </a:rPr>
                        <a:t>==</a:t>
                      </a:r>
                      <a:r>
                        <a:rPr lang="en-US" altLang="zh-TW" sz="1000" dirty="0" smtClean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altLang="zh-TW" sz="1800" b="0" i="1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altLang="zh-TW" sz="1800" dirty="0" smtClean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effectLst/>
                        </a:rPr>
                        <a:t>Test if</a:t>
                      </a:r>
                      <a:r>
                        <a:rPr lang="en-US" altLang="zh-TW" sz="1600" dirty="0" smtClean="0">
                          <a:effectLst/>
                        </a:rPr>
                        <a:t> </a:t>
                      </a:r>
                      <a:r>
                        <a:rPr lang="en-US" altLang="zh-TW" sz="20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and </a:t>
                      </a:r>
                      <a:r>
                        <a:rPr lang="en-US" altLang="zh-TW" sz="2000" b="0" i="1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altLang="zh-TW" sz="2000" dirty="0" smtClean="0">
                          <a:effectLst/>
                        </a:rPr>
                        <a:t> have</a:t>
                      </a:r>
                      <a:r>
                        <a:rPr lang="en-US" altLang="zh-TW" sz="2000" baseline="0" dirty="0" smtClean="0">
                          <a:effectLst/>
                        </a:rPr>
                        <a:t> exactly the same</a:t>
                      </a:r>
                      <a:r>
                        <a:rPr lang="en-US" altLang="zh-TW" sz="2000" dirty="0" smtClean="0">
                          <a:effectLst/>
                        </a:rPr>
                        <a:t> elements</a:t>
                      </a: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endParaRPr lang="en-US" sz="2000" dirty="0">
                        <a:effectLst/>
                      </a:endParaRP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1000" dirty="0" smtClean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altLang="zh-TW" sz="1800" dirty="0" smtClean="0">
                          <a:effectLst/>
                          <a:latin typeface="Lucida Console" panose="020B0609040504020204" pitchFamily="49" charset="0"/>
                        </a:rPr>
                        <a:t>!=</a:t>
                      </a:r>
                      <a:r>
                        <a:rPr lang="en-US" altLang="zh-TW" sz="900" dirty="0" smtClean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altLang="zh-TW" sz="1800" b="0" i="1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altLang="zh-TW" sz="1800" dirty="0" smtClean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effectLst/>
                        </a:rPr>
                        <a:t>Test if</a:t>
                      </a:r>
                      <a:r>
                        <a:rPr lang="en-US" altLang="zh-TW" sz="1600" dirty="0" smtClean="0">
                          <a:effectLst/>
                        </a:rPr>
                        <a:t> </a:t>
                      </a:r>
                      <a:r>
                        <a:rPr lang="en-US" altLang="zh-TW" sz="2000" b="0" i="1" dirty="0" smtClean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altLang="zh-TW" sz="12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==</a:t>
                      </a:r>
                      <a:r>
                        <a:rPr lang="en-US" altLang="zh-TW" sz="6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altLang="zh-TW" sz="20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 is not true</a:t>
                      </a: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.issubset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&lt;=</a:t>
                      </a:r>
                      <a:r>
                        <a:rPr lang="en-US" sz="9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 if </a:t>
                      </a:r>
                      <a:r>
                        <a:rPr lang="en-US" sz="2000" dirty="0">
                          <a:effectLst/>
                        </a:rPr>
                        <a:t>every element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>
                          <a:effectLst/>
                        </a:rPr>
                        <a:t> is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i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endParaRPr lang="en-US" sz="2000" dirty="0">
                        <a:effectLst/>
                      </a:endParaRP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 smtClean="0">
                          <a:effectLst/>
                          <a:latin typeface="Lucida Console" panose="020B0609040504020204" pitchFamily="49" charset="0"/>
                        </a:rPr>
                        <a:t>&lt;</a:t>
                      </a:r>
                      <a:r>
                        <a:rPr lang="en-US" sz="9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 if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&lt;=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altLang="zh-TW" sz="2000" b="0" i="1" dirty="0" smtClean="0">
                          <a:effectLst/>
                          <a:latin typeface="times" panose="02020603050405020304" pitchFamily="18" charset="0"/>
                        </a:rPr>
                        <a:t>  </a:t>
                      </a:r>
                      <a:r>
                        <a:rPr lang="en-US" altLang="zh-TW" sz="2000" dirty="0" smtClean="0">
                          <a:effectLst/>
                        </a:rPr>
                        <a:t>and 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!=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altLang="zh-TW" sz="2000" b="0" i="1" dirty="0" smtClean="0">
                          <a:effectLst/>
                          <a:latin typeface="times" panose="02020603050405020304" pitchFamily="18" charset="0"/>
                        </a:rPr>
                        <a:t> </a:t>
                      </a:r>
                      <a:endParaRPr lang="en-US" sz="2000" dirty="0">
                        <a:effectLst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.issuperset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&gt;=</a:t>
                      </a:r>
                      <a:r>
                        <a:rPr lang="en-US" sz="9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 if </a:t>
                      </a:r>
                      <a:r>
                        <a:rPr lang="en-US" sz="2000" dirty="0">
                          <a:effectLst/>
                        </a:rPr>
                        <a:t>every element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 is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endParaRPr lang="en-US" sz="2000" i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.issuperset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 smtClean="0">
                          <a:effectLst/>
                          <a:latin typeface="Lucida Console" panose="020B0609040504020204" pitchFamily="49" charset="0"/>
                        </a:rPr>
                        <a:t>&gt;</a:t>
                      </a:r>
                      <a:r>
                        <a:rPr lang="en-US" sz="9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 smtClean="0">
                          <a:effectLst/>
                        </a:rPr>
                        <a:t>Test if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&gt;=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altLang="zh-TW" sz="2000" b="0" i="1" dirty="0" smtClean="0">
                          <a:effectLst/>
                          <a:latin typeface="times" panose="02020603050405020304" pitchFamily="18" charset="0"/>
                        </a:rPr>
                        <a:t>  </a:t>
                      </a:r>
                      <a:r>
                        <a:rPr lang="en-US" altLang="zh-TW" sz="2000" dirty="0" smtClean="0">
                          <a:effectLst/>
                        </a:rPr>
                        <a:t>and 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!=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dirty="0">
                        <a:effectLst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.union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|</a:t>
                      </a:r>
                      <a:r>
                        <a:rPr lang="en-US" sz="6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Returns a new </a:t>
                      </a:r>
                      <a:r>
                        <a:rPr lang="en-US" sz="2000" dirty="0">
                          <a:effectLst/>
                        </a:rPr>
                        <a:t>set with elements from </a:t>
                      </a:r>
                      <a:r>
                        <a:rPr lang="en-US" sz="2000" dirty="0" smtClean="0">
                          <a:effectLst/>
                        </a:rPr>
                        <a:t>either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dirty="0" smtClean="0">
                          <a:effectLst/>
                        </a:rPr>
                        <a:t>or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i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.intersection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91384" marR="0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&amp;</a:t>
                      </a:r>
                      <a:r>
                        <a:rPr lang="en-US" sz="7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 smtClean="0">
                          <a:effectLst/>
                        </a:rPr>
                        <a:t>Returns a </a:t>
                      </a:r>
                      <a:r>
                        <a:rPr lang="en-US" sz="2000" dirty="0" smtClean="0">
                          <a:effectLst/>
                        </a:rPr>
                        <a:t>new </a:t>
                      </a:r>
                      <a:r>
                        <a:rPr lang="en-US" sz="2000" dirty="0">
                          <a:effectLst/>
                        </a:rPr>
                        <a:t>set with e</a:t>
                      </a:r>
                      <a:r>
                        <a:rPr lang="en-US" sz="2000" spc="-20" baseline="0" dirty="0">
                          <a:effectLst/>
                        </a:rPr>
                        <a:t>leme</a:t>
                      </a:r>
                      <a:r>
                        <a:rPr lang="en-US" sz="2000" dirty="0">
                          <a:effectLst/>
                        </a:rPr>
                        <a:t>nts c</a:t>
                      </a:r>
                      <a:r>
                        <a:rPr lang="en-US" sz="2000" spc="-20" baseline="0" dirty="0">
                          <a:effectLst/>
                        </a:rPr>
                        <a:t>ommo</a:t>
                      </a:r>
                      <a:r>
                        <a:rPr lang="en-US" sz="2000" dirty="0">
                          <a:effectLst/>
                        </a:rPr>
                        <a:t>n </a:t>
                      </a:r>
                      <a:r>
                        <a:rPr lang="en-US" sz="2000" spc="0" baseline="0" dirty="0">
                          <a:effectLst/>
                        </a:rPr>
                        <a:t>t</a:t>
                      </a:r>
                      <a:r>
                        <a:rPr lang="en-US" sz="2000" spc="-50" baseline="0" dirty="0">
                          <a:effectLst/>
                        </a:rPr>
                        <a:t>o </a:t>
                      </a:r>
                      <a:r>
                        <a:rPr lang="en-US" sz="2000" b="0" i="0" spc="-50" baseline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spc="-50" baseline="0" dirty="0">
                          <a:effectLst/>
                        </a:rPr>
                        <a:t> and </a:t>
                      </a:r>
                      <a:r>
                        <a:rPr lang="en-US" sz="2000" b="0" i="0" spc="-50" baseline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i="0" spc="-50" baseline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.difference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-</a:t>
                      </a:r>
                      <a:r>
                        <a:rPr lang="en-US" sz="6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 smtClean="0">
                          <a:effectLst/>
                        </a:rPr>
                        <a:t>Returns a </a:t>
                      </a:r>
                      <a:r>
                        <a:rPr lang="en-US" sz="2000" dirty="0" smtClean="0">
                          <a:effectLst/>
                        </a:rPr>
                        <a:t>new </a:t>
                      </a:r>
                      <a:r>
                        <a:rPr lang="en-US" sz="2000" dirty="0">
                          <a:effectLst/>
                        </a:rPr>
                        <a:t>set with elements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>
                          <a:effectLst/>
                        </a:rPr>
                        <a:t> but not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i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19885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US" sz="1800" b="0" i="0" baseline="0" dirty="0" err="1" smtClean="0">
                          <a:effectLst/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en-US" sz="1800" baseline="0" dirty="0" err="1" smtClean="0">
                          <a:effectLst/>
                          <a:latin typeface="Arial Narrow" panose="020B0606020202030204" pitchFamily="34" charset="0"/>
                        </a:rPr>
                        <a:t>.symmetric</a:t>
                      </a:r>
                      <a:r>
                        <a:rPr lang="en-US" sz="1100" b="1" baseline="0" dirty="0" err="1" smtClean="0">
                          <a:effectLst/>
                          <a:latin typeface="Arial Narrow" panose="020B0606020202030204" pitchFamily="34" charset="0"/>
                        </a:rPr>
                        <a:t>_</a:t>
                      </a:r>
                      <a:r>
                        <a:rPr lang="en-US" sz="1800" baseline="0" dirty="0" err="1" smtClean="0">
                          <a:effectLst/>
                          <a:latin typeface="Arial Narrow" panose="020B0606020202030204" pitchFamily="34" charset="0"/>
                        </a:rPr>
                        <a:t>difference</a:t>
                      </a:r>
                      <a:r>
                        <a:rPr lang="en-US" sz="1800" baseline="0" dirty="0" smtClean="0">
                          <a:effectLst/>
                          <a:latin typeface="Arial Narrow" panose="020B0606020202030204" pitchFamily="34" charset="0"/>
                        </a:rPr>
                        <a:t>(</a:t>
                      </a:r>
                      <a:r>
                        <a:rPr lang="en-US" sz="1800" b="0" i="0" baseline="0" dirty="0" smtClean="0">
                          <a:effectLst/>
                          <a:latin typeface="Arial Narrow" panose="020B0606020202030204" pitchFamily="34" charset="0"/>
                        </a:rPr>
                        <a:t>t</a:t>
                      </a:r>
                      <a:r>
                        <a:rPr lang="en-US" sz="1800" baseline="0" dirty="0" smtClean="0">
                          <a:effectLst/>
                          <a:latin typeface="Arial Narrow" panose="020B0606020202030204" pitchFamily="34" charset="0"/>
                        </a:rPr>
                        <a:t>)</a:t>
                      </a:r>
                      <a:r>
                        <a:rPr lang="en-US" sz="18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^</a:t>
                      </a:r>
                      <a:r>
                        <a:rPr lang="en-US" sz="5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spc="-80" baseline="0" dirty="0" smtClean="0">
                          <a:effectLst/>
                        </a:rPr>
                        <a:t>R</a:t>
                      </a:r>
                      <a:r>
                        <a:rPr lang="en-US" altLang="zh-TW" sz="2000" spc="-10" baseline="0" dirty="0" smtClean="0">
                          <a:effectLst/>
                        </a:rPr>
                        <a:t>e</a:t>
                      </a:r>
                      <a:r>
                        <a:rPr lang="en-US" altLang="zh-TW" sz="2000" dirty="0" smtClean="0">
                          <a:effectLst/>
                        </a:rPr>
                        <a:t>t</a:t>
                      </a:r>
                      <a:r>
                        <a:rPr lang="en-US" altLang="zh-TW" sz="2000" spc="-30" baseline="0" dirty="0" smtClean="0">
                          <a:effectLst/>
                        </a:rPr>
                        <a:t>u</a:t>
                      </a:r>
                      <a:r>
                        <a:rPr lang="en-US" altLang="zh-TW" sz="2000" dirty="0" smtClean="0">
                          <a:effectLst/>
                        </a:rPr>
                        <a:t>rns a </a:t>
                      </a:r>
                      <a:r>
                        <a:rPr lang="en-US" sz="2000" spc="-40" baseline="0" dirty="0" smtClean="0">
                          <a:effectLst/>
                        </a:rPr>
                        <a:t>n</a:t>
                      </a:r>
                      <a:r>
                        <a:rPr lang="en-US" sz="2000" spc="-20" baseline="0" dirty="0" smtClean="0">
                          <a:effectLst/>
                        </a:rPr>
                        <a:t>e</a:t>
                      </a:r>
                      <a:r>
                        <a:rPr lang="en-US" sz="2000" dirty="0" smtClean="0">
                          <a:effectLst/>
                        </a:rPr>
                        <a:t>w </a:t>
                      </a:r>
                      <a:r>
                        <a:rPr lang="en-US" sz="2000" dirty="0">
                          <a:effectLst/>
                        </a:rPr>
                        <a:t>set with </a:t>
                      </a:r>
                      <a:r>
                        <a:rPr lang="en-US" sz="2000" spc="-20" baseline="0" dirty="0">
                          <a:effectLst/>
                        </a:rPr>
                        <a:t>elemen</a:t>
                      </a:r>
                      <a:r>
                        <a:rPr lang="en-US" sz="2000" dirty="0">
                          <a:effectLst/>
                        </a:rPr>
                        <a:t>ts </a:t>
                      </a:r>
                      <a:r>
                        <a:rPr lang="en-US" sz="2000" dirty="0" smtClean="0">
                          <a:effectLst/>
                        </a:rPr>
                        <a:t>i</a:t>
                      </a:r>
                      <a:r>
                        <a:rPr lang="en-US" sz="2000" spc="-30" dirty="0" smtClean="0">
                          <a:effectLst/>
                        </a:rPr>
                        <a:t>n</a:t>
                      </a:r>
                      <a:r>
                        <a:rPr lang="en-US" sz="1800" spc="-30" dirty="0">
                          <a:effectLst/>
                        </a:rPr>
                        <a:t> </a:t>
                      </a:r>
                      <a:r>
                        <a:rPr lang="en-US" sz="2000" b="0" i="0" spc="-3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800" spc="-30" dirty="0">
                          <a:effectLst/>
                        </a:rPr>
                        <a:t> </a:t>
                      </a:r>
                      <a:r>
                        <a:rPr lang="en-US" sz="2000" spc="-30" dirty="0">
                          <a:effectLst/>
                        </a:rPr>
                        <a:t>or</a:t>
                      </a:r>
                      <a:r>
                        <a:rPr lang="en-US" sz="1800" spc="-30" dirty="0">
                          <a:effectLst/>
                        </a:rPr>
                        <a:t> </a:t>
                      </a:r>
                      <a:r>
                        <a:rPr lang="en-US" sz="2000" b="0" i="0" spc="-3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spc="-30" dirty="0">
                          <a:effectLst/>
                        </a:rPr>
                        <a:t> </a:t>
                      </a:r>
                      <a:r>
                        <a:rPr lang="en-US" sz="2000" spc="-30" baseline="0" dirty="0">
                          <a:effectLst/>
                        </a:rPr>
                        <a:t>b</a:t>
                      </a:r>
                      <a:r>
                        <a:rPr lang="en-US" sz="2000" spc="-10" baseline="0" dirty="0">
                          <a:effectLst/>
                        </a:rPr>
                        <a:t>u</a:t>
                      </a:r>
                      <a:r>
                        <a:rPr lang="en-US" sz="2000" dirty="0">
                          <a:effectLst/>
                        </a:rPr>
                        <a:t>t </a:t>
                      </a:r>
                      <a:r>
                        <a:rPr lang="en-US" sz="2000" spc="-40" baseline="0" dirty="0">
                          <a:effectLst/>
                        </a:rPr>
                        <a:t>no</a:t>
                      </a:r>
                      <a:r>
                        <a:rPr lang="en-US" sz="2000" spc="-20" baseline="0" dirty="0">
                          <a:effectLst/>
                        </a:rPr>
                        <a:t>t </a:t>
                      </a:r>
                      <a:r>
                        <a:rPr lang="en-US" sz="2000" spc="-40" baseline="0" dirty="0">
                          <a:effectLst/>
                        </a:rPr>
                        <a:t>bo</a:t>
                      </a:r>
                      <a:r>
                        <a:rPr lang="en-US" sz="2000" dirty="0">
                          <a:effectLst/>
                        </a:rPr>
                        <a:t>t</a:t>
                      </a:r>
                      <a:r>
                        <a:rPr lang="en-US" sz="2000" spc="-100" baseline="0" dirty="0">
                          <a:effectLst/>
                        </a:rPr>
                        <a:t>h</a:t>
                      </a:r>
                    </a:p>
                  </a:txBody>
                  <a:tcPr marL="91384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.copy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1900"/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Returns a new </a:t>
                      </a:r>
                      <a:r>
                        <a:rPr lang="en-US" sz="2000" dirty="0">
                          <a:effectLst/>
                        </a:rPr>
                        <a:t>set with a shallow copy of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sp>
        <p:nvSpPr>
          <p:cNvPr id="8" name="Rounded Rectangular Callout 7"/>
          <p:cNvSpPr/>
          <p:nvPr/>
        </p:nvSpPr>
        <p:spPr bwMode="auto">
          <a:xfrm>
            <a:off x="3874909" y="3276695"/>
            <a:ext cx="5559146" cy="1599206"/>
          </a:xfrm>
          <a:prstGeom prst="wedgeRoundRectCallout">
            <a:avLst>
              <a:gd name="adj1" fmla="val -50039"/>
              <a:gd name="adj2" fmla="val -20343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84" tIns="45692" rIns="91384" bIns="45692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198" dirty="0">
                <a:solidFill>
                  <a:srgbClr val="000000"/>
                </a:solidFill>
                <a:latin typeface="Times New Roman" charset="0"/>
              </a:rPr>
              <a:t>Notice also that there is neither a repetition operator, *, </a:t>
            </a:r>
            <a:r>
              <a:rPr lang="en-US" altLang="zh-TW" sz="3198" dirty="0" smtClean="0">
                <a:solidFill>
                  <a:srgbClr val="000000"/>
                </a:solidFill>
                <a:latin typeface="Times New Roman" charset="0"/>
              </a:rPr>
              <a:t>nor a</a:t>
            </a:r>
            <a:r>
              <a:rPr lang="en-US" altLang="zh-TW" sz="3198" dirty="0">
                <a:solidFill>
                  <a:srgbClr val="000000"/>
                </a:solidFill>
                <a:latin typeface="Times New Roman" charset="0"/>
              </a:rPr>
              <a:t/>
            </a:r>
            <a:br>
              <a:rPr lang="en-US" altLang="zh-TW" sz="3198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3198" dirty="0" smtClean="0">
                <a:solidFill>
                  <a:srgbClr val="000000"/>
                </a:solidFill>
                <a:latin typeface="Times New Roman" charset="0"/>
              </a:rPr>
              <a:t>slice </a:t>
            </a:r>
            <a:r>
              <a:rPr lang="en-US" altLang="zh-TW" sz="3198" dirty="0">
                <a:solidFill>
                  <a:srgbClr val="000000"/>
                </a:solidFill>
                <a:latin typeface="Times New Roman" charset="0"/>
              </a:rPr>
              <a:t>operator, </a:t>
            </a:r>
            <a:r>
              <a:rPr lang="en-US" altLang="zh-TW" sz="3198" dirty="0" smtClean="0">
                <a:solidFill>
                  <a:srgbClr val="000000"/>
                </a:solidFill>
                <a:latin typeface="Times New Roman" charset="0"/>
              </a:rPr>
              <a:t>[</a:t>
            </a:r>
            <a:r>
              <a:rPr lang="en-US" altLang="zh-TW" sz="1600" dirty="0" smtClean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altLang="zh-TW" sz="3198" dirty="0" smtClean="0">
                <a:solidFill>
                  <a:srgbClr val="000000"/>
                </a:solidFill>
                <a:latin typeface="Times New Roman" charset="0"/>
              </a:rPr>
              <a:t>].</a:t>
            </a:r>
            <a:endParaRPr lang="zh-TW" altLang="en-US" sz="3198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3874909" y="5713581"/>
            <a:ext cx="5559146" cy="1142291"/>
          </a:xfrm>
          <a:prstGeom prst="wedgeRoundRectCallout">
            <a:avLst>
              <a:gd name="adj1" fmla="val -68170"/>
              <a:gd name="adj2" fmla="val -38705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84" tIns="45692" rIns="91384" bIns="45692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198" dirty="0">
                <a:solidFill>
                  <a:srgbClr val="000000"/>
                </a:solidFill>
                <a:latin typeface="Times New Roman" charset="0"/>
              </a:rPr>
              <a:t>Notice that there is a - operation, but there is no + operation.</a:t>
            </a:r>
            <a:endParaRPr lang="zh-TW" altLang="en-US" sz="3198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95733" y="549299"/>
            <a:ext cx="9138323" cy="2360734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84" tIns="45692" rIns="91384" bIns="45692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798" dirty="0">
                <a:solidFill>
                  <a:srgbClr val="000000"/>
                </a:solidFill>
                <a:latin typeface="Times New Roman" charset="0"/>
              </a:rPr>
              <a:t>T</a:t>
            </a:r>
            <a:r>
              <a:rPr lang="en-US" altLang="zh-TW" sz="2798" dirty="0">
                <a:solidFill>
                  <a:srgbClr val="000000"/>
                </a:solidFill>
                <a:latin typeface="Times New Roman" pitchFamily="18" charset="0"/>
              </a:rPr>
              <a:t>he methods are not identical to their symbol-based versions. The methods allow the 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798" dirty="0">
                <a:solidFill>
                  <a:srgbClr val="000000"/>
                </a:solidFill>
                <a:latin typeface="Times New Roman" pitchFamily="18" charset="0"/>
              </a:rPr>
              <a:t> object to be various types (such as a list), but the symbol-based versions require 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</a:t>
            </a:r>
            <a:r>
              <a:rPr lang="en-US" altLang="zh-TW" sz="2798" dirty="0">
                <a:solidFill>
                  <a:srgbClr val="000000"/>
                </a:solidFill>
                <a:latin typeface="Times New Roman" pitchFamily="18" charset="0"/>
              </a:rPr>
              <a:t> to be a set. </a:t>
            </a:r>
            <a:br>
              <a:rPr lang="en-US" altLang="zh-TW" sz="2798" dirty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altLang="zh-TW" sz="2798" dirty="0">
                <a:solidFill>
                  <a:srgbClr val="000000"/>
                </a:solidFill>
                <a:latin typeface="Times New Roman" pitchFamily="18" charset="0"/>
              </a:rPr>
              <a:t>This restriction prevents error-prone constructions like 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set('</a:t>
            </a:r>
            <a:r>
              <a:rPr lang="en-US" altLang="zh-TW" sz="2798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abc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') &amp; '</a:t>
            </a:r>
            <a:r>
              <a:rPr lang="en-US" altLang="zh-TW" sz="2798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cbs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798" dirty="0">
                <a:solidFill>
                  <a:srgbClr val="000000"/>
                </a:solidFill>
                <a:latin typeface="Times New Roman" pitchFamily="18" charset="0"/>
              </a:rPr>
              <a:t>. Instead you have to use the more readable 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set('</a:t>
            </a:r>
            <a:r>
              <a:rPr lang="en-US" altLang="zh-TW" sz="2798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abc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').intersection('</a:t>
            </a:r>
            <a:r>
              <a:rPr lang="en-US" altLang="zh-TW" sz="2798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cbs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')</a:t>
            </a:r>
            <a:r>
              <a:rPr lang="en-US" altLang="zh-TW" sz="2798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  <a:endParaRPr lang="zh-TW" altLang="en-US" sz="2798" dirty="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4320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0" animBg="1"/>
      <p:bldP spid="10" grpId="1" animBg="1"/>
      <p:bldP spid="7" grpId="0" animBg="1"/>
      <p:bldP spid="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87369" y="967611"/>
            <a:ext cx="9425725" cy="5595275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spcBef>
                <a:spcPts val="825"/>
              </a:spcBef>
              <a:buNone/>
            </a:pPr>
            <a:r>
              <a:rPr lang="en-US" altLang="en-US" sz="3669" dirty="0"/>
              <a:t>  Mathematics </a:t>
            </a:r>
            <a:r>
              <a:rPr lang="en-US" altLang="en-US" sz="3669" dirty="0" smtClean="0"/>
              <a:t>(</a:t>
            </a:r>
            <a:r>
              <a:rPr lang="zh-TW" altLang="en-US" sz="3200" dirty="0"/>
              <a:t>數學</a:t>
            </a:r>
            <a:r>
              <a:rPr lang="en-US" altLang="en-US" sz="3669" dirty="0" smtClean="0"/>
              <a:t>) defines </a:t>
            </a:r>
            <a:r>
              <a:rPr lang="en-US" altLang="en-US" sz="3669" dirty="0"/>
              <a:t>two types of sets:</a:t>
            </a:r>
          </a:p>
          <a:p>
            <a:pPr marL="364871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302" dirty="0"/>
              <a:t>1. </a:t>
            </a:r>
            <a:r>
              <a:rPr lang="en-US" altLang="en-US" sz="3302" dirty="0">
                <a:solidFill>
                  <a:srgbClr val="FF0000"/>
                </a:solidFill>
              </a:rPr>
              <a:t>Ordered Sets</a:t>
            </a:r>
          </a:p>
          <a:p>
            <a:pPr marL="995942" lvl="2" indent="-266459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/>
              <a:t>If you want to visit all elements of an ordered set, then they must be visited in a specific order.</a:t>
            </a:r>
          </a:p>
          <a:p>
            <a:pPr marL="1362867" lvl="3" indent="-267914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 err="1"/>
              <a:t>Eg</a:t>
            </a:r>
            <a:r>
              <a:rPr lang="en-US" altLang="en-US" sz="2935" dirty="0"/>
              <a:t>: </a:t>
            </a:r>
            <a:r>
              <a:rPr lang="en-US" altLang="en-US" sz="2935" b="1" dirty="0">
                <a:solidFill>
                  <a:srgbClr val="0070C0"/>
                </a:solidFill>
              </a:rPr>
              <a:t>Dealing</a:t>
            </a:r>
            <a:r>
              <a:rPr lang="en-US" altLang="en-US" sz="2935" dirty="0"/>
              <a:t> </a:t>
            </a:r>
            <a:r>
              <a:rPr lang="en-US" altLang="en-US" sz="2935" b="1" dirty="0">
                <a:solidFill>
                  <a:srgbClr val="0070C0"/>
                </a:solidFill>
              </a:rPr>
              <a:t>a stack of cards</a:t>
            </a:r>
            <a:r>
              <a:rPr lang="en-US" altLang="en-US" sz="2935" dirty="0"/>
              <a:t> off the top of the deck.</a:t>
            </a:r>
          </a:p>
          <a:p>
            <a:pPr marL="1729793" lvl="4" indent="-270826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/>
              <a:t>The cards always come out the same, regardless of who deals the deck.</a:t>
            </a:r>
          </a:p>
          <a:p>
            <a:pPr marL="364871" lvl="1" indent="0">
              <a:lnSpc>
                <a:spcPct val="80000"/>
              </a:lnSpc>
              <a:spcBef>
                <a:spcPts val="2100"/>
              </a:spcBef>
              <a:buNone/>
            </a:pPr>
            <a:r>
              <a:rPr lang="en-US" altLang="en-US" sz="3302" dirty="0"/>
              <a:t>2. </a:t>
            </a:r>
            <a:r>
              <a:rPr lang="en-US" altLang="en-US" sz="3302" dirty="0">
                <a:solidFill>
                  <a:srgbClr val="FF0000"/>
                </a:solidFill>
              </a:rPr>
              <a:t>Unordered Sets</a:t>
            </a:r>
          </a:p>
          <a:p>
            <a:pPr marL="995942" lvl="2" indent="-266459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/>
              <a:t>If you want to visit all elements of an unordered set, then the order is unimportant.</a:t>
            </a:r>
          </a:p>
          <a:p>
            <a:pPr marL="1362867" lvl="3" indent="-267914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 err="1"/>
              <a:t>Eg</a:t>
            </a:r>
            <a:r>
              <a:rPr lang="en-US" altLang="en-US" sz="2935" dirty="0"/>
              <a:t>: </a:t>
            </a:r>
            <a:r>
              <a:rPr lang="en-US" altLang="en-US" sz="2935" b="1" dirty="0">
                <a:solidFill>
                  <a:srgbClr val="0070C0"/>
                </a:solidFill>
              </a:rPr>
              <a:t>Pulling</a:t>
            </a:r>
            <a:r>
              <a:rPr lang="en-US" altLang="en-US" sz="2935" dirty="0">
                <a:solidFill>
                  <a:srgbClr val="0070C0"/>
                </a:solidFill>
              </a:rPr>
              <a:t> </a:t>
            </a:r>
            <a:r>
              <a:rPr lang="en-US" altLang="en-US" sz="2935" b="1" dirty="0">
                <a:solidFill>
                  <a:srgbClr val="0070C0"/>
                </a:solidFill>
              </a:rPr>
              <a:t>balls out of a bag</a:t>
            </a:r>
            <a:r>
              <a:rPr lang="en-US" altLang="en-US" sz="2935" dirty="0"/>
              <a:t>.</a:t>
            </a:r>
          </a:p>
          <a:p>
            <a:pPr marL="1729793" lvl="4" indent="-270826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/>
              <a:t>The balls could come out different each time.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" y="0"/>
            <a:ext cx="9729788" cy="1077171"/>
          </a:xfrm>
          <a:prstGeom prst="rect">
            <a:avLst/>
          </a:prstGeom>
        </p:spPr>
        <p:txBody>
          <a:bodyPr vert="horz" lIns="83872" tIns="41936" rIns="83872" bIns="41936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Mathematical </a:t>
            </a:r>
            <a:r>
              <a:rPr lang="en-US" altLang="zh-TW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4400" dirty="0">
                <a:solidFill>
                  <a:srgbClr val="0070C0"/>
                </a:solidFill>
              </a:rPr>
              <a:t>數學</a:t>
            </a:r>
            <a:r>
              <a:rPr lang="en-US" altLang="zh-TW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4400" dirty="0">
                <a:solidFill>
                  <a:srgbClr val="0070C0"/>
                </a:solidFill>
              </a:rPr>
              <a:t> </a:t>
            </a:r>
            <a:r>
              <a:rPr lang="en-US" altLang="en-US" sz="4400" dirty="0" smtClean="0">
                <a:solidFill>
                  <a:srgbClr val="0070C0"/>
                </a:solidFill>
              </a:rPr>
              <a:t>Sets</a:t>
            </a:r>
            <a:endParaRPr lang="en-US" altLang="en-US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27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7369" y="967611"/>
            <a:ext cx="9425725" cy="5595275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spcBef>
                <a:spcPts val="825"/>
              </a:spcBef>
              <a:buNone/>
            </a:pPr>
            <a:endParaRPr lang="en-US" altLang="en-US" sz="3669" dirty="0"/>
          </a:p>
          <a:p>
            <a:pPr marL="364871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302" dirty="0"/>
              <a:t>1. </a:t>
            </a:r>
            <a:r>
              <a:rPr lang="en-US" altLang="en-US" sz="3302" dirty="0">
                <a:solidFill>
                  <a:srgbClr val="FF0000"/>
                </a:solidFill>
              </a:rPr>
              <a:t>Ordered Sets</a:t>
            </a:r>
          </a:p>
          <a:p>
            <a:pPr marL="995942" lvl="2" indent="-266459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>
                <a:solidFill>
                  <a:schemeClr val="bg1"/>
                </a:solidFill>
              </a:rPr>
              <a:t>If you want to visit all elements of an ordered set, then they must be visited in a specific order.</a:t>
            </a:r>
          </a:p>
          <a:p>
            <a:pPr marL="1362867" lvl="3" indent="-267914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 err="1">
                <a:solidFill>
                  <a:schemeClr val="bg1"/>
                </a:solidFill>
              </a:rPr>
              <a:t>Eg</a:t>
            </a:r>
            <a:r>
              <a:rPr lang="en-US" altLang="en-US" sz="2935" dirty="0">
                <a:solidFill>
                  <a:schemeClr val="bg1"/>
                </a:solidFill>
              </a:rPr>
              <a:t>: </a:t>
            </a:r>
            <a:r>
              <a:rPr lang="en-US" altLang="en-US" sz="2935" b="1" dirty="0">
                <a:solidFill>
                  <a:schemeClr val="bg1"/>
                </a:solidFill>
              </a:rPr>
              <a:t>Dealing</a:t>
            </a:r>
            <a:r>
              <a:rPr lang="en-US" altLang="en-US" sz="2935" dirty="0">
                <a:solidFill>
                  <a:schemeClr val="bg1"/>
                </a:solidFill>
              </a:rPr>
              <a:t> </a:t>
            </a:r>
            <a:r>
              <a:rPr lang="en-US" altLang="en-US" sz="2935" b="1" dirty="0">
                <a:solidFill>
                  <a:schemeClr val="bg1"/>
                </a:solidFill>
              </a:rPr>
              <a:t>a stack of cards</a:t>
            </a:r>
            <a:r>
              <a:rPr lang="en-US" altLang="en-US" sz="2935" dirty="0">
                <a:solidFill>
                  <a:schemeClr val="bg1"/>
                </a:solidFill>
              </a:rPr>
              <a:t> off the top of the deck.</a:t>
            </a:r>
          </a:p>
          <a:p>
            <a:pPr marL="1729793" lvl="4" indent="-270826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>
                <a:solidFill>
                  <a:schemeClr val="bg1"/>
                </a:solidFill>
              </a:rPr>
              <a:t>The cards always come out the same, regardless of who deals the deck.</a:t>
            </a:r>
          </a:p>
          <a:p>
            <a:pPr marL="364871" lvl="1" indent="0">
              <a:lnSpc>
                <a:spcPct val="80000"/>
              </a:lnSpc>
              <a:spcBef>
                <a:spcPts val="2100"/>
              </a:spcBef>
              <a:buNone/>
            </a:pPr>
            <a:r>
              <a:rPr lang="en-US" altLang="en-US" sz="3302" dirty="0"/>
              <a:t>2. </a:t>
            </a:r>
            <a:r>
              <a:rPr lang="en-US" altLang="en-US" sz="3302" dirty="0">
                <a:solidFill>
                  <a:srgbClr val="FF0000"/>
                </a:solidFill>
              </a:rPr>
              <a:t>Unordered Sets</a:t>
            </a:r>
          </a:p>
          <a:p>
            <a:pPr marL="995942" lvl="2" indent="-266459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>
                <a:solidFill>
                  <a:schemeClr val="bg1"/>
                </a:solidFill>
              </a:rPr>
              <a:t>If you want to visit all elements of an unordered set, then the order is unimportant.</a:t>
            </a:r>
          </a:p>
          <a:p>
            <a:pPr marL="1362867" lvl="3" indent="-267914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 err="1">
                <a:solidFill>
                  <a:schemeClr val="bg1"/>
                </a:solidFill>
              </a:rPr>
              <a:t>Eg</a:t>
            </a:r>
            <a:r>
              <a:rPr lang="en-US" altLang="en-US" sz="2935" dirty="0">
                <a:solidFill>
                  <a:schemeClr val="bg1"/>
                </a:solidFill>
              </a:rPr>
              <a:t>: </a:t>
            </a:r>
            <a:r>
              <a:rPr lang="en-US" altLang="en-US" sz="2935" b="1" dirty="0">
                <a:solidFill>
                  <a:schemeClr val="bg1"/>
                </a:solidFill>
              </a:rPr>
              <a:t>Pulling</a:t>
            </a:r>
            <a:r>
              <a:rPr lang="en-US" altLang="en-US" sz="2935" dirty="0">
                <a:solidFill>
                  <a:schemeClr val="bg1"/>
                </a:solidFill>
              </a:rPr>
              <a:t> </a:t>
            </a:r>
            <a:r>
              <a:rPr lang="en-US" altLang="en-US" sz="2935" b="1" dirty="0">
                <a:solidFill>
                  <a:schemeClr val="bg1"/>
                </a:solidFill>
              </a:rPr>
              <a:t>balls out of a bag</a:t>
            </a:r>
            <a:r>
              <a:rPr lang="en-US" altLang="en-US" sz="2935" dirty="0">
                <a:solidFill>
                  <a:schemeClr val="bg1"/>
                </a:solidFill>
              </a:rPr>
              <a:t>.</a:t>
            </a:r>
          </a:p>
          <a:p>
            <a:pPr marL="1729793" lvl="4" indent="-270826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>
                <a:solidFill>
                  <a:schemeClr val="bg1"/>
                </a:solidFill>
              </a:rPr>
              <a:t>The balls could come out different each time.</a:t>
            </a:r>
          </a:p>
        </p:txBody>
      </p:sp>
      <p:sp>
        <p:nvSpPr>
          <p:cNvPr id="2" name="Rectangle 1"/>
          <p:cNvSpPr/>
          <p:nvPr/>
        </p:nvSpPr>
        <p:spPr>
          <a:xfrm>
            <a:off x="96104" y="4332500"/>
            <a:ext cx="9598737" cy="2525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48360" lvl="4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935" dirty="0" smtClean="0">
                <a:solidFill>
                  <a:prstClr val="black"/>
                </a:solidFill>
              </a:rPr>
              <a:t>Python-style:</a:t>
            </a:r>
            <a:endParaRPr lang="en-US" altLang="en-US" sz="2935" dirty="0">
              <a:solidFill>
                <a:prstClr val="black"/>
              </a:solidFill>
            </a:endParaRPr>
          </a:p>
          <a:p>
            <a:pPr marL="1467703" lvl="5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568" i="1" dirty="0" smtClean="0">
                <a:solidFill>
                  <a:prstClr val="black"/>
                </a:solidFill>
              </a:rPr>
              <a:t>Sets, Dictionaries</a:t>
            </a:r>
            <a:endParaRPr lang="en-US" altLang="en-US" sz="2568" i="1" dirty="0">
              <a:solidFill>
                <a:prstClr val="black"/>
              </a:solidFill>
            </a:endParaRPr>
          </a:p>
          <a:p>
            <a:pPr marL="1048360" lvl="2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935" dirty="0">
                <a:solidFill>
                  <a:prstClr val="black"/>
                </a:solidFill>
              </a:rPr>
              <a:t>C-style: </a:t>
            </a:r>
            <a:r>
              <a:rPr lang="en-US" altLang="en-US" sz="2568" i="1" dirty="0">
                <a:solidFill>
                  <a:prstClr val="black"/>
                </a:solidFill>
              </a:rPr>
              <a:t>Nothing </a:t>
            </a:r>
            <a:r>
              <a:rPr lang="en-US" altLang="en-US" sz="2568" i="1" dirty="0" smtClean="0">
                <a:solidFill>
                  <a:prstClr val="black"/>
                </a:solidFill>
              </a:rPr>
              <a:t>(speaking </a:t>
            </a:r>
            <a:r>
              <a:rPr lang="en-US" altLang="en-US" sz="2568" i="1" dirty="0">
                <a:solidFill>
                  <a:prstClr val="black"/>
                </a:solidFill>
              </a:rPr>
              <a:t>strictly of built-in types)</a:t>
            </a:r>
          </a:p>
          <a:p>
            <a:pPr marL="1467703" lvl="6" indent="-366926">
              <a:lnSpc>
                <a:spcPct val="80000"/>
              </a:lnSpc>
            </a:pPr>
            <a:r>
              <a:rPr lang="en-US" altLang="en-US" sz="2568" dirty="0">
                <a:solidFill>
                  <a:srgbClr val="FF0000"/>
                </a:solidFill>
              </a:rPr>
              <a:t>Q: But wait! We know that, mathematically, unordered sets </a:t>
            </a:r>
            <a:br>
              <a:rPr lang="en-US" altLang="en-US" sz="2568" dirty="0">
                <a:solidFill>
                  <a:srgbClr val="FF0000"/>
                </a:solidFill>
              </a:rPr>
            </a:br>
            <a:r>
              <a:rPr lang="en-US" altLang="en-US" sz="2568" dirty="0">
                <a:solidFill>
                  <a:srgbClr val="FF0000"/>
                </a:solidFill>
              </a:rPr>
              <a:t>do exist, so how can they be modeled in C?</a:t>
            </a:r>
          </a:p>
          <a:p>
            <a:pPr marL="1467703" lvl="6" indent="-366926">
              <a:lnSpc>
                <a:spcPct val="80000"/>
              </a:lnSpc>
            </a:pPr>
            <a:r>
              <a:rPr lang="en-US" altLang="en-US" sz="2568" dirty="0">
                <a:solidFill>
                  <a:srgbClr val="00B050"/>
                </a:solidFill>
              </a:rPr>
              <a:t>A: Well, a full-order can be imposed upon a partial order. </a:t>
            </a:r>
            <a:br>
              <a:rPr lang="en-US" altLang="en-US" sz="2568" dirty="0">
                <a:solidFill>
                  <a:srgbClr val="00B050"/>
                </a:solidFill>
              </a:rPr>
            </a:br>
            <a:r>
              <a:rPr lang="en-US" altLang="en-US" sz="2568" dirty="0">
                <a:solidFill>
                  <a:srgbClr val="00B050"/>
                </a:solidFill>
              </a:rPr>
              <a:t>So a set can be stored into an array or linked list or table. </a:t>
            </a:r>
          </a:p>
        </p:txBody>
      </p:sp>
      <p:sp>
        <p:nvSpPr>
          <p:cNvPr id="5" name="Rectangle 4"/>
          <p:cNvSpPr/>
          <p:nvPr/>
        </p:nvSpPr>
        <p:spPr>
          <a:xfrm>
            <a:off x="96104" y="1785415"/>
            <a:ext cx="9633685" cy="2142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48360" lvl="4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 smtClean="0">
                <a:solidFill>
                  <a:prstClr val="black"/>
                </a:solidFill>
              </a:rPr>
              <a:t>Python-style:</a:t>
            </a:r>
            <a:endParaRPr lang="en-US" altLang="en-US" sz="3200" dirty="0">
              <a:solidFill>
                <a:prstClr val="black"/>
              </a:solidFill>
            </a:endParaRPr>
          </a:p>
          <a:p>
            <a:pPr marL="1467703" lvl="5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i="1" dirty="0">
                <a:solidFill>
                  <a:prstClr val="black"/>
                </a:solidFill>
              </a:rPr>
              <a:t>Lists</a:t>
            </a:r>
            <a:r>
              <a:rPr lang="en-US" altLang="en-US" sz="2800" dirty="0">
                <a:solidFill>
                  <a:prstClr val="black"/>
                </a:solidFill>
              </a:rPr>
              <a:t>, </a:t>
            </a:r>
            <a:r>
              <a:rPr lang="en-US" altLang="en-US" sz="2800" i="1" dirty="0">
                <a:solidFill>
                  <a:prstClr val="black"/>
                </a:solidFill>
              </a:rPr>
              <a:t>Tuples</a:t>
            </a:r>
            <a:r>
              <a:rPr lang="en-US" altLang="en-US" sz="2800" dirty="0">
                <a:solidFill>
                  <a:prstClr val="black"/>
                </a:solidFill>
              </a:rPr>
              <a:t> (immutable lists), </a:t>
            </a:r>
            <a:r>
              <a:rPr lang="en-US" altLang="en-US" sz="2800" i="1" dirty="0">
                <a:solidFill>
                  <a:prstClr val="black"/>
                </a:solidFill>
              </a:rPr>
              <a:t>Strings</a:t>
            </a:r>
            <a:r>
              <a:rPr lang="en-US" altLang="en-US" sz="2800" dirty="0">
                <a:solidFill>
                  <a:prstClr val="black"/>
                </a:solidFill>
              </a:rPr>
              <a:t> (tuples of </a:t>
            </a:r>
            <a:r>
              <a:rPr lang="en-US" altLang="en-US" sz="2800" dirty="0" smtClean="0">
                <a:solidFill>
                  <a:prstClr val="black"/>
                </a:solidFill>
              </a:rPr>
              <a:t/>
            </a:r>
            <a:br>
              <a:rPr lang="en-US" altLang="en-US" sz="2800" dirty="0" smtClean="0">
                <a:solidFill>
                  <a:prstClr val="black"/>
                </a:solidFill>
              </a:rPr>
            </a:br>
            <a:r>
              <a:rPr lang="en-US" altLang="en-US" sz="2800" dirty="0" smtClean="0">
                <a:solidFill>
                  <a:prstClr val="black"/>
                </a:solidFill>
              </a:rPr>
              <a:t>characters</a:t>
            </a:r>
            <a:r>
              <a:rPr lang="en-US" altLang="en-US" sz="2800" dirty="0">
                <a:solidFill>
                  <a:prstClr val="black"/>
                </a:solidFill>
              </a:rPr>
              <a:t>)  </a:t>
            </a:r>
          </a:p>
          <a:p>
            <a:pPr marL="1048360" lvl="2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 smtClean="0">
                <a:solidFill>
                  <a:prstClr val="black"/>
                </a:solidFill>
              </a:rPr>
              <a:t>C-style: </a:t>
            </a:r>
            <a:endParaRPr lang="en-US" altLang="en-US" sz="3200" dirty="0">
              <a:solidFill>
                <a:prstClr val="black"/>
              </a:solidFill>
            </a:endParaRPr>
          </a:p>
          <a:p>
            <a:pPr marL="1467703" lvl="3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i="1" dirty="0">
                <a:solidFill>
                  <a:prstClr val="black"/>
                </a:solidFill>
              </a:rPr>
              <a:t>Arrays</a:t>
            </a:r>
            <a:r>
              <a:rPr lang="en-US" altLang="en-US" sz="2800" dirty="0">
                <a:solidFill>
                  <a:prstClr val="black"/>
                </a:solidFill>
              </a:rPr>
              <a:t>, </a:t>
            </a:r>
            <a:r>
              <a:rPr lang="en-US" altLang="en-US" sz="2800" i="1" dirty="0">
                <a:solidFill>
                  <a:prstClr val="black"/>
                </a:solidFill>
              </a:rPr>
              <a:t>Strings</a:t>
            </a:r>
            <a:r>
              <a:rPr lang="en-US" altLang="en-US" sz="2800" dirty="0">
                <a:solidFill>
                  <a:prstClr val="black"/>
                </a:solidFill>
              </a:rPr>
              <a:t> (arrays of </a:t>
            </a:r>
            <a:r>
              <a:rPr lang="en-US" altLang="en-US" sz="2800" dirty="0" smtClean="0">
                <a:solidFill>
                  <a:prstClr val="black"/>
                </a:solidFill>
              </a:rPr>
              <a:t>characters), </a:t>
            </a:r>
            <a:r>
              <a:rPr lang="en-US" altLang="en-US" sz="2800" i="1" dirty="0" smtClean="0">
                <a:solidFill>
                  <a:prstClr val="black"/>
                </a:solidFill>
              </a:rPr>
              <a:t>Linked </a:t>
            </a:r>
            <a:r>
              <a:rPr lang="en-US" altLang="en-US" sz="2800" i="1" dirty="0" err="1" smtClean="0">
                <a:solidFill>
                  <a:prstClr val="black"/>
                </a:solidFill>
              </a:rPr>
              <a:t>lists,etc</a:t>
            </a:r>
            <a:r>
              <a:rPr lang="en-US" altLang="en-US" sz="2800" i="1" dirty="0" smtClean="0">
                <a:solidFill>
                  <a:prstClr val="black"/>
                </a:solidFill>
              </a:rPr>
              <a:t>.</a:t>
            </a:r>
            <a:endParaRPr lang="en-US" altLang="en-US" sz="2800" i="1" dirty="0">
              <a:solidFill>
                <a:prstClr val="black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" y="0"/>
            <a:ext cx="9729788" cy="1077171"/>
          </a:xfrm>
          <a:prstGeom prst="rect">
            <a:avLst/>
          </a:prstGeom>
        </p:spPr>
        <p:txBody>
          <a:bodyPr vert="horz" lIns="83872" tIns="41936" rIns="83872" bIns="41936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Sets in Computer Languages</a:t>
            </a:r>
          </a:p>
        </p:txBody>
      </p:sp>
    </p:spTree>
    <p:extLst>
      <p:ext uri="{BB962C8B-B14F-4D97-AF65-F5344CB8AC3E}">
        <p14:creationId xmlns:p14="http://schemas.microsoft.com/office/powerpoint/2010/main" val="337752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51" b="14866"/>
          <a:stretch/>
        </p:blipFill>
        <p:spPr>
          <a:xfrm>
            <a:off x="3161007" y="2130"/>
            <a:ext cx="6568781" cy="68884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-866" y="2129"/>
            <a:ext cx="3899728" cy="685374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/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11517" y="2129"/>
            <a:ext cx="3687345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/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“Let’s pull some items out of our purse!”</a:t>
            </a:r>
          </a:p>
          <a:p>
            <a:pPr marL="169764" indent="-169764"/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“Okay.”</a:t>
            </a:r>
          </a:p>
          <a:p>
            <a:pPr marL="169764" indent="-169764"/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“Which item shall we take out first?”</a:t>
            </a:r>
          </a:p>
          <a:p>
            <a:pPr marL="169764" indent="-169764"/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“Why don’t we take the glasses out first?”</a:t>
            </a:r>
          </a:p>
          <a:p>
            <a:pPr marL="169764" indent="-169764"/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“Done!”</a:t>
            </a:r>
          </a:p>
          <a:p>
            <a:pPr marL="169764" indent="-169764"/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“Let’s get the keys next.”</a:t>
            </a:r>
          </a:p>
          <a:p>
            <a:pPr marL="169764" indent="-169764"/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“Got ‘um!”</a:t>
            </a:r>
          </a:p>
          <a:p>
            <a:pPr marL="169764" indent="-169764"/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sz="2591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pencil</a:t>
            </a:r>
            <a:r>
              <a:rPr lang="en-US" altLang="zh-TW" sz="2591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en-US" altLang="zh-TW" sz="2591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TW" sz="2591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169764" indent="-169764"/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“Okay!”</a:t>
            </a:r>
          </a:p>
          <a:p>
            <a:pPr marL="169764" indent="-169764"/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 card case is fourth.”</a:t>
            </a:r>
          </a:p>
          <a:p>
            <a:pPr marL="169764" indent="-169764"/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“Okay.”</a:t>
            </a:r>
          </a:p>
          <a:p>
            <a:pPr marL="169764" indent="-169764"/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1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1851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798" spc="-5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1851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1851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1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851" spc="-1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798" spc="-1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ift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27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spc="-1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169764" indent="-169764"/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“Now the bag is empty.”</a:t>
            </a:r>
          </a:p>
        </p:txBody>
      </p:sp>
      <p:grpSp>
        <p:nvGrpSpPr>
          <p:cNvPr id="36" name="Group 35"/>
          <p:cNvGrpSpPr/>
          <p:nvPr/>
        </p:nvGrpSpPr>
        <p:grpSpPr>
          <a:xfrm rot="2520452">
            <a:off x="4328034" y="3826559"/>
            <a:ext cx="1614571" cy="736367"/>
            <a:chOff x="9572846" y="3267741"/>
            <a:chExt cx="1041990" cy="935665"/>
          </a:xfrm>
        </p:grpSpPr>
        <p:cxnSp>
          <p:nvCxnSpPr>
            <p:cNvPr id="37" name="Straight Connector 36"/>
            <p:cNvCxnSpPr/>
            <p:nvPr/>
          </p:nvCxnSpPr>
          <p:spPr>
            <a:xfrm>
              <a:off x="9572846" y="3267741"/>
              <a:ext cx="1041990" cy="93566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9572846" y="3267741"/>
              <a:ext cx="1041990" cy="93566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 rot="773121">
            <a:off x="5731283" y="3773226"/>
            <a:ext cx="2384111" cy="1124898"/>
            <a:chOff x="9572846" y="3267741"/>
            <a:chExt cx="1041990" cy="935665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9572846" y="3267741"/>
              <a:ext cx="1041990" cy="93566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9572846" y="3267741"/>
              <a:ext cx="1041990" cy="93566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 rot="859337">
            <a:off x="5756756" y="1419685"/>
            <a:ext cx="2854826" cy="1200982"/>
            <a:chOff x="9572846" y="3267741"/>
            <a:chExt cx="1041990" cy="935665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9572846" y="3267741"/>
              <a:ext cx="1041990" cy="93566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9572846" y="3267741"/>
              <a:ext cx="1041990" cy="93566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 rot="743153">
            <a:off x="4558284" y="2503280"/>
            <a:ext cx="3237013" cy="1105673"/>
            <a:chOff x="9572846" y="3267741"/>
            <a:chExt cx="1041990" cy="935665"/>
          </a:xfrm>
        </p:grpSpPr>
        <p:cxnSp>
          <p:nvCxnSpPr>
            <p:cNvPr id="46" name="Straight Connector 45"/>
            <p:cNvCxnSpPr/>
            <p:nvPr/>
          </p:nvCxnSpPr>
          <p:spPr>
            <a:xfrm>
              <a:off x="9572846" y="3267741"/>
              <a:ext cx="1041990" cy="93566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9572846" y="3267741"/>
              <a:ext cx="1041990" cy="93566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Oval 48"/>
          <p:cNvSpPr/>
          <p:nvPr/>
        </p:nvSpPr>
        <p:spPr>
          <a:xfrm>
            <a:off x="6330292" y="4074872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3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5076016" y="3662128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2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6561205" y="3016826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52" name="Oval 51"/>
          <p:cNvSpPr/>
          <p:nvPr/>
        </p:nvSpPr>
        <p:spPr>
          <a:xfrm>
            <a:off x="6397246" y="1661131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4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8490216" y="3323167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1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 rot="19260623">
            <a:off x="7531754" y="3071008"/>
            <a:ext cx="1841394" cy="1072528"/>
            <a:chOff x="9572846" y="3267741"/>
            <a:chExt cx="1041990" cy="935665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9572846" y="3267741"/>
              <a:ext cx="1041990" cy="93566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9572846" y="3267741"/>
              <a:ext cx="1041990" cy="93566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132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4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2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51" b="14866"/>
          <a:stretch/>
        </p:blipFill>
        <p:spPr>
          <a:xfrm>
            <a:off x="3161007" y="2130"/>
            <a:ext cx="6568781" cy="68884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-866" y="2129"/>
            <a:ext cx="3899728" cy="685374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/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1517" y="2129"/>
            <a:ext cx="3687345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“I’m confused!”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“About what?”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“Aren’t items in a purse just jumbled together?”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“Yes, a purse is a bag. </a:t>
            </a:r>
            <a:b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mathematics, a bag </a:t>
            </a:r>
            <a:b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an unordered set.”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r>
              <a:rPr lang="en-US" altLang="zh-TW" sz="185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185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66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TW" sz="185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dere</a:t>
            </a:r>
            <a:r>
              <a:rPr lang="en-US" altLang="zh-TW" sz="2798" spc="-18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798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1)glasses,</a:t>
            </a:r>
            <a:r>
              <a:rPr lang="en-US" altLang="zh-TW" sz="2221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2)keys,</a:t>
            </a:r>
            <a:r>
              <a:rPr lang="en-US" altLang="zh-TW" sz="2221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3)pencil </a:t>
            </a:r>
            <a:r>
              <a:rPr lang="en-US" altLang="zh-TW" sz="2798" spc="-9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TW" sz="2798" spc="-46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as</a:t>
            </a:r>
            <a:r>
              <a:rPr lang="en-US" altLang="zh-TW" sz="2798" spc="-185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e, 4</a:t>
            </a:r>
            <a:r>
              <a:rPr lang="en-US" altLang="zh-TW" sz="2798" spc="-28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)</a:t>
            </a:r>
            <a:r>
              <a:rPr lang="en-US" altLang="zh-TW" sz="2798" spc="-9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TW" sz="2798" spc="-46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</a:t>
            </a:r>
            <a:r>
              <a:rPr lang="en-US" altLang="zh-TW" sz="2798" spc="-19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</a:t>
            </a:r>
            <a:r>
              <a:rPr lang="en-US" altLang="zh-TW" sz="2798" spc="-46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 </a:t>
            </a:r>
            <a:r>
              <a:rPr lang="en-US" altLang="zh-TW" sz="2798" spc="-9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TW" sz="2798" spc="-46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as</a:t>
            </a:r>
            <a:r>
              <a:rPr lang="en-US" altLang="zh-TW" sz="2798" spc="-185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e, 5</a:t>
            </a:r>
            <a:r>
              <a:rPr lang="en-US" altLang="zh-TW" sz="2798" spc="-28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)</a:t>
            </a:r>
            <a:r>
              <a:rPr lang="en-US" altLang="zh-TW" sz="2798" spc="-46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walle</a:t>
            </a:r>
            <a:r>
              <a:rPr lang="en-US" altLang="zh-TW" sz="2798" spc="-93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</a:t>
            </a:r>
            <a:r>
              <a:rPr lang="en-US" altLang="zh-TW" sz="2798" spc="-222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“Well, they get an order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you pull them out, but it doesn’t mean they had an order when in the </a:t>
            </a:r>
            <a:r>
              <a:rPr lang="en-US" altLang="zh-TW" sz="2798" spc="-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bag. </a:t>
            </a:r>
            <a:r>
              <a:rPr lang="en-US" altLang="zh-TW" sz="2798" spc="-9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sz="2798" spc="-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 </a:t>
            </a:r>
            <a:r>
              <a:rPr lang="en-US" altLang="zh-TW" sz="2798" spc="-9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terms</a:t>
            </a:r>
            <a:r>
              <a:rPr lang="en-US" altLang="zh-TW" sz="2798" spc="-11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TW" altLang="en-US" sz="2000" spc="-11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術</a:t>
            </a:r>
            <a:r>
              <a:rPr lang="zh-TW" altLang="en-US" sz="2000" spc="-1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語</a:t>
            </a:r>
            <a:r>
              <a:rPr lang="en-US" altLang="zh-TW" sz="2798" spc="-11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TW" sz="1851" spc="-11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n-US" altLang="zh-TW" sz="2221" spc="-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imposed </a:t>
            </a:r>
            <a:r>
              <a:rPr lang="en-US" altLang="zh-TW" sz="3200" spc="-11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 spc="-11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強加</a:t>
            </a:r>
            <a:r>
              <a:rPr lang="en-US" altLang="zh-TW" sz="3200" spc="-11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221" spc="-9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onto an unordered set.”</a:t>
            </a:r>
          </a:p>
        </p:txBody>
      </p:sp>
      <p:sp>
        <p:nvSpPr>
          <p:cNvPr id="20" name="Oval 19"/>
          <p:cNvSpPr/>
          <p:nvPr/>
        </p:nvSpPr>
        <p:spPr>
          <a:xfrm>
            <a:off x="8490216" y="3323167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1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6330292" y="4074872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3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6561205" y="3016826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6397246" y="1661131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4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076016" y="3662128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2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5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51" b="14866"/>
          <a:stretch/>
        </p:blipFill>
        <p:spPr>
          <a:xfrm>
            <a:off x="3161007" y="2130"/>
            <a:ext cx="6568781" cy="68884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-866" y="2129"/>
            <a:ext cx="3899728" cy="685374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/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1517" y="2129"/>
            <a:ext cx="3687345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“When did I impose an order?”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“When you pulled them out.”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“What do you mean?”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“You had a choice </a:t>
            </a:r>
            <a:r>
              <a:rPr lang="en-US" altLang="zh-TW" sz="2798" spc="-23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altLang="zh-TW" sz="2798" spc="-1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altLang="zh-TW" sz="2798" spc="-102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en-US" altLang="zh-TW" sz="2798" spc="-11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798" spc="-13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it was me, I would’ve taken the wallet first. </a:t>
            </a:r>
            <a:b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my imposed order 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woul</a:t>
            </a:r>
            <a:r>
              <a:rPr lang="en-US" altLang="zh-TW" sz="2798" spc="-23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</a:t>
            </a:r>
            <a:r>
              <a:rPr lang="en-US" altLang="zh-TW" sz="2798" spc="-14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bee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eren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27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which one 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us got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correct order?”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13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en-US" altLang="zh-TW" sz="2221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is illogica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bag is an unordered </a:t>
            </a:r>
            <a:b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set.”</a:t>
            </a:r>
          </a:p>
        </p:txBody>
      </p:sp>
      <p:sp>
        <p:nvSpPr>
          <p:cNvPr id="17" name="Oval 16"/>
          <p:cNvSpPr/>
          <p:nvPr/>
        </p:nvSpPr>
        <p:spPr>
          <a:xfrm>
            <a:off x="8490216" y="3323167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1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6330292" y="4074872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3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6561205" y="3016826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21" name="Oval 20"/>
          <p:cNvSpPr/>
          <p:nvPr/>
        </p:nvSpPr>
        <p:spPr>
          <a:xfrm>
            <a:off x="6397246" y="1661131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4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076016" y="3662128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2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35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51" b="14866"/>
          <a:stretch/>
        </p:blipFill>
        <p:spPr>
          <a:xfrm>
            <a:off x="3161007" y="2130"/>
            <a:ext cx="6568781" cy="6888460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6561205" y="3016826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5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719" y="2131"/>
            <a:ext cx="3121979" cy="336672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015185" y="554679"/>
            <a:ext cx="3049649" cy="216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List of Purse Items</a:t>
            </a:r>
          </a:p>
          <a:p>
            <a:pPr marL="168275" indent="-109538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Glasses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endParaRPr lang="en-US" altLang="zh-TW" sz="2798" dirty="0">
              <a:solidFill>
                <a:prstClr val="black"/>
              </a:solidFill>
              <a:latin typeface="Brush Script MT" panose="03060802040406070304" pitchFamily="66" charset="0"/>
            </a:endParaRPr>
          </a:p>
          <a:p>
            <a:pPr>
              <a:lnSpc>
                <a:spcPct val="85000"/>
              </a:lnSpc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 </a:t>
            </a:r>
          </a:p>
          <a:p>
            <a:pPr>
              <a:lnSpc>
                <a:spcPct val="85000"/>
              </a:lnSpc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 </a:t>
            </a:r>
          </a:p>
          <a:p>
            <a:pPr>
              <a:lnSpc>
                <a:spcPct val="85000"/>
              </a:lnSpc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 </a:t>
            </a:r>
          </a:p>
        </p:txBody>
      </p:sp>
      <p:sp>
        <p:nvSpPr>
          <p:cNvPr id="24" name="Oval 23"/>
          <p:cNvSpPr/>
          <p:nvPr/>
        </p:nvSpPr>
        <p:spPr>
          <a:xfrm>
            <a:off x="8490216" y="3323167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1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330292" y="4074872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3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6397246" y="1661131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4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8492491" y="3319341"/>
            <a:ext cx="303754" cy="27829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prstClr val="black"/>
                </a:solidFill>
              </a:rPr>
              <a:t>1</a:t>
            </a:r>
            <a:endParaRPr lang="zh-TW" altLang="en-US" sz="1799" dirty="0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076016" y="3662128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2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866" y="2129"/>
            <a:ext cx="3899728" cy="685374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/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4012" y="18288"/>
            <a:ext cx="3899728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“If its illogical to put the it</a:t>
            </a:r>
            <a:r>
              <a:rPr lang="en-US" altLang="zh-TW" sz="2798" spc="-5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in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14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</a:t>
            </a:r>
            <a:r>
              <a:rPr lang="en-US" altLang="zh-TW" sz="2221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ma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altLang="zh-TW" sz="2591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zh-TW" sz="2591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it?”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“There is no way to take it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t-a-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185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 t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t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b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some order.”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 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them in the bag.”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“But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1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spc="-102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to writ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paper, a list of contents: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1)</a:t>
            </a:r>
            <a:r>
              <a:rPr lang="en-US" altLang="zh-TW" sz="2798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glasses</a:t>
            </a:r>
            <a:r>
              <a:rPr lang="en-US" altLang="zh-TW" sz="279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</a:t>
            </a:r>
            <a:br>
              <a:rPr lang="en-US" altLang="zh-TW" sz="279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 </a:t>
            </a:r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83470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51" b="14866"/>
          <a:stretch/>
        </p:blipFill>
        <p:spPr>
          <a:xfrm>
            <a:off x="3161007" y="2130"/>
            <a:ext cx="6568781" cy="6888460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6561205" y="3016826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5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719" y="2131"/>
            <a:ext cx="3121979" cy="336672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015185" y="554679"/>
            <a:ext cx="3049649" cy="216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List of Purse Items</a:t>
            </a:r>
          </a:p>
          <a:p>
            <a:pPr marL="168275" indent="-109538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Glasses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endParaRPr lang="en-US" altLang="zh-TW" sz="2798" dirty="0">
              <a:solidFill>
                <a:prstClr val="black"/>
              </a:solidFill>
              <a:latin typeface="Brush Script MT" panose="03060802040406070304" pitchFamily="66" charset="0"/>
            </a:endParaRPr>
          </a:p>
          <a:p>
            <a:pPr>
              <a:lnSpc>
                <a:spcPct val="85000"/>
              </a:lnSpc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 </a:t>
            </a:r>
          </a:p>
          <a:p>
            <a:pPr>
              <a:lnSpc>
                <a:spcPct val="85000"/>
              </a:lnSpc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 </a:t>
            </a:r>
          </a:p>
          <a:p>
            <a:pPr>
              <a:lnSpc>
                <a:spcPct val="85000"/>
              </a:lnSpc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 </a:t>
            </a:r>
          </a:p>
        </p:txBody>
      </p:sp>
      <p:sp>
        <p:nvSpPr>
          <p:cNvPr id="24" name="Oval 23"/>
          <p:cNvSpPr/>
          <p:nvPr/>
        </p:nvSpPr>
        <p:spPr>
          <a:xfrm>
            <a:off x="8490216" y="3323167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1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330292" y="4074872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3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6397246" y="1661131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4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8492491" y="3319341"/>
            <a:ext cx="303754" cy="27829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prstClr val="black"/>
                </a:solidFill>
              </a:rPr>
              <a:t>1</a:t>
            </a:r>
            <a:endParaRPr lang="zh-TW" altLang="en-US" sz="1799" dirty="0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076016" y="3662128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2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866" y="2129"/>
            <a:ext cx="3899728" cy="685374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/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4012" y="18288"/>
            <a:ext cx="3899728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“If its illogical to put the it</a:t>
            </a:r>
            <a:r>
              <a:rPr lang="en-US" altLang="zh-TW" sz="2798" spc="-5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in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14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</a:t>
            </a:r>
            <a:r>
              <a:rPr lang="en-US" altLang="zh-TW" sz="2221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ma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altLang="zh-TW" sz="2591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zh-TW" sz="2591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it?”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“There is no way to take it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t-a-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185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 t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t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b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some order.”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 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them in the bag.”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“But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1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spc="-102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to writ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paper, a list of contents: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1)glasses, 2)</a:t>
            </a:r>
            <a:r>
              <a:rPr lang="en-US" altLang="zh-TW" sz="2798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keys</a:t>
            </a:r>
            <a:r>
              <a:rPr lang="en-US" altLang="zh-TW" sz="279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</a:t>
            </a:r>
            <a:br>
              <a:rPr lang="en-US" altLang="zh-TW" sz="279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 </a:t>
            </a:r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12083" y="554679"/>
            <a:ext cx="3049649" cy="216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List of Purse Items</a:t>
            </a:r>
          </a:p>
          <a:p>
            <a:pPr marL="168275" indent="-109538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Glasses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Keys</a:t>
            </a:r>
          </a:p>
          <a:p>
            <a:pPr>
              <a:lnSpc>
                <a:spcPct val="85000"/>
              </a:lnSpc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 </a:t>
            </a:r>
          </a:p>
          <a:p>
            <a:pPr>
              <a:lnSpc>
                <a:spcPct val="85000"/>
              </a:lnSpc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 </a:t>
            </a:r>
          </a:p>
          <a:p>
            <a:pPr>
              <a:lnSpc>
                <a:spcPct val="85000"/>
              </a:lnSpc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 </a:t>
            </a:r>
          </a:p>
        </p:txBody>
      </p:sp>
      <p:sp>
        <p:nvSpPr>
          <p:cNvPr id="18" name="Oval 17"/>
          <p:cNvSpPr/>
          <p:nvPr/>
        </p:nvSpPr>
        <p:spPr>
          <a:xfrm>
            <a:off x="5076411" y="3665606"/>
            <a:ext cx="303754" cy="27829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3843" rtlCol="0" anchor="ctr"/>
          <a:lstStyle/>
          <a:p>
            <a:pPr algn="ctr"/>
            <a:r>
              <a:rPr lang="en-US" altLang="zh-TW" sz="1799" dirty="0">
                <a:solidFill>
                  <a:prstClr val="black"/>
                </a:solidFill>
              </a:rPr>
              <a:t>2</a:t>
            </a:r>
            <a:endParaRPr lang="zh-TW" altLang="en-US" sz="1799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2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51" b="14866"/>
          <a:stretch/>
        </p:blipFill>
        <p:spPr>
          <a:xfrm>
            <a:off x="3161007" y="2130"/>
            <a:ext cx="6568781" cy="68884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-866" y="2129"/>
            <a:ext cx="3899728" cy="685374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/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561205" y="3016826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5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719" y="2131"/>
            <a:ext cx="3121979" cy="336672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11517" y="18288"/>
            <a:ext cx="3899728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“If its illogical to put the it</a:t>
            </a:r>
            <a:r>
              <a:rPr lang="en-US" altLang="zh-TW" sz="2798" spc="-5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in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14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</a:t>
            </a:r>
            <a:r>
              <a:rPr lang="en-US" altLang="zh-TW" sz="2221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ma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altLang="zh-TW" sz="2591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zh-TW" sz="2591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it?”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“There is no way to take it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t-a-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185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 t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t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b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some order.”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 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them in the bag.”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“But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1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spc="-102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to writ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paper, a list of contents: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1)glasses, 2)keys, </a:t>
            </a:r>
            <a:r>
              <a:rPr lang="en-US" altLang="zh-TW" sz="2798" dirty="0" smtClean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3)</a:t>
            </a:r>
            <a:r>
              <a:rPr lang="en-US" altLang="zh-TW" sz="2798" dirty="0" smtClean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pencil </a:t>
            </a:r>
            <a:r>
              <a:rPr lang="en-US" altLang="zh-TW" sz="2798" spc="-9" dirty="0" smtClean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TW" sz="2798" spc="-46" dirty="0" smtClean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as</a:t>
            </a:r>
            <a:r>
              <a:rPr lang="en-US" altLang="zh-TW" sz="2798" spc="-185" dirty="0" smtClean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</a:t>
            </a:r>
            <a:r>
              <a:rPr lang="en-US" altLang="zh-TW" sz="2798" spc="-185" dirty="0" smtClean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zh-TW" sz="2798" dirty="0" smtClean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endParaRPr lang="en-US" altLang="zh-TW" sz="2798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798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012083" y="554679"/>
            <a:ext cx="3049649" cy="216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List of Purse Items</a:t>
            </a:r>
          </a:p>
          <a:p>
            <a:pPr marL="168275" indent="-109538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Glasses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Keys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Pencil Case</a:t>
            </a:r>
          </a:p>
          <a:p>
            <a:pPr>
              <a:lnSpc>
                <a:spcPct val="85000"/>
              </a:lnSpc>
            </a:pPr>
            <a:endParaRPr lang="en-US" altLang="zh-TW" sz="2798" dirty="0">
              <a:solidFill>
                <a:prstClr val="black"/>
              </a:solidFill>
              <a:latin typeface="Brush Script MT" panose="03060802040406070304" pitchFamily="66" charset="0"/>
            </a:endParaRPr>
          </a:p>
          <a:p>
            <a:pPr>
              <a:lnSpc>
                <a:spcPct val="85000"/>
              </a:lnSpc>
            </a:pPr>
            <a:endParaRPr lang="en-US" altLang="zh-TW" sz="2798" dirty="0">
              <a:solidFill>
                <a:prstClr val="black"/>
              </a:solidFill>
              <a:latin typeface="Brush Script MT" panose="03060802040406070304" pitchFamily="66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490216" y="3323167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1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6330292" y="4074872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3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6397246" y="1661131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4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6326708" y="4077821"/>
            <a:ext cx="303754" cy="27829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prstClr val="black"/>
                </a:solidFill>
              </a:rPr>
              <a:t>3</a:t>
            </a:r>
            <a:endParaRPr lang="zh-TW" altLang="en-US" sz="1799" dirty="0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076016" y="3662128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2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02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51" b="14866"/>
          <a:stretch/>
        </p:blipFill>
        <p:spPr>
          <a:xfrm>
            <a:off x="3161007" y="2130"/>
            <a:ext cx="6568781" cy="68884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-866" y="2129"/>
            <a:ext cx="3899728" cy="685374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/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561205" y="3016826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5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719" y="2131"/>
            <a:ext cx="3121979" cy="336672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11517" y="18288"/>
            <a:ext cx="3899728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“If its illogical to put the it</a:t>
            </a:r>
            <a:r>
              <a:rPr lang="en-US" altLang="zh-TW" sz="2798" spc="-5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in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14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</a:t>
            </a:r>
            <a:r>
              <a:rPr lang="en-US" altLang="zh-TW" sz="2221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ma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altLang="zh-TW" sz="2591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zh-TW" sz="2591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it?”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“There is no way to take it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t-a-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185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 t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t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b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some order.”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 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them in the bag.”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“But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1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spc="-102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to writ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paper, a list of contents: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1)glasses, 2)keys, 3)pencil </a:t>
            </a:r>
            <a:r>
              <a:rPr lang="en-US" altLang="zh-TW" sz="2798" spc="-9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TW" sz="2798" spc="-46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as</a:t>
            </a:r>
            <a:r>
              <a:rPr lang="en-US" altLang="zh-TW" sz="2798" spc="-185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e, 4</a:t>
            </a:r>
            <a:r>
              <a:rPr lang="en-US" altLang="zh-TW" sz="2798" spc="-2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)</a:t>
            </a:r>
            <a:r>
              <a:rPr lang="en-US" altLang="zh-TW" sz="2798" spc="-9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TW" sz="2798" spc="-46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</a:t>
            </a:r>
            <a:r>
              <a:rPr lang="en-US" altLang="zh-TW" sz="2798" spc="-19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</a:t>
            </a:r>
            <a:r>
              <a:rPr lang="en-US" altLang="zh-TW" sz="2798" spc="-46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 </a:t>
            </a:r>
            <a:r>
              <a:rPr lang="en-US" altLang="zh-TW" sz="2798" spc="-9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TW" sz="2798" spc="-46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as</a:t>
            </a:r>
            <a:r>
              <a:rPr lang="en-US" altLang="zh-TW" sz="2798" spc="-185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</a:t>
            </a:r>
            <a:r>
              <a:rPr lang="en-US" altLang="zh-TW" sz="2798" spc="-185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</a:t>
            </a:r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2083" y="554679"/>
            <a:ext cx="3049649" cy="216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List of Purse Items</a:t>
            </a:r>
          </a:p>
          <a:p>
            <a:pPr marL="168275" indent="-109538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Glasses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Keys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Pencil Case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Card Case</a:t>
            </a:r>
          </a:p>
          <a:p>
            <a:pPr>
              <a:lnSpc>
                <a:spcPct val="85000"/>
              </a:lnSpc>
            </a:pPr>
            <a:endParaRPr lang="en-US" altLang="zh-TW" sz="2798" dirty="0">
              <a:solidFill>
                <a:prstClr val="black"/>
              </a:solidFill>
              <a:latin typeface="Brush Script MT" panose="03060802040406070304" pitchFamily="66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490216" y="3323167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1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6330292" y="4074872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3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6397246" y="1661131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4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6394592" y="1660082"/>
            <a:ext cx="303754" cy="27829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prstClr val="black"/>
                </a:solidFill>
              </a:rPr>
              <a:t>4</a:t>
            </a:r>
            <a:endParaRPr lang="zh-TW" altLang="en-US" sz="1799" dirty="0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076016" y="3662128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2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11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51" b="14866"/>
          <a:stretch/>
        </p:blipFill>
        <p:spPr>
          <a:xfrm>
            <a:off x="3161007" y="2130"/>
            <a:ext cx="6568781" cy="68884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6561205" y="3016826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-866" y="2129"/>
            <a:ext cx="3899728" cy="685374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/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564305" y="3017776"/>
            <a:ext cx="303754" cy="27829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prstClr val="black"/>
                </a:solidFill>
              </a:rPr>
              <a:t>5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719" y="2131"/>
            <a:ext cx="3121979" cy="336672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11517" y="18288"/>
            <a:ext cx="3899728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“If its illogical to put the it</a:t>
            </a:r>
            <a:r>
              <a:rPr lang="en-US" altLang="zh-TW" sz="2798" spc="-5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in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14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</a:t>
            </a:r>
            <a:r>
              <a:rPr lang="en-US" altLang="zh-TW" sz="2221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ma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altLang="zh-TW" sz="2591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zh-TW" sz="2591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it?”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“There is no way to take it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t-a-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185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 t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t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b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some order.”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 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them in the bag.”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“But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1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spc="-102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to writ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paper, a list of contents: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1)glasses, 2)keys, 3)pencil </a:t>
            </a:r>
            <a:r>
              <a:rPr lang="en-US" altLang="zh-TW" sz="2798" spc="-9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TW" sz="2798" spc="-46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as</a:t>
            </a:r>
            <a:r>
              <a:rPr lang="en-US" altLang="zh-TW" sz="2798" spc="-185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e, 4</a:t>
            </a:r>
            <a:r>
              <a:rPr lang="en-US" altLang="zh-TW" sz="2798" spc="-2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)</a:t>
            </a:r>
            <a:r>
              <a:rPr lang="en-US" altLang="zh-TW" sz="2798" spc="-9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TW" sz="2798" spc="-46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</a:t>
            </a:r>
            <a:r>
              <a:rPr lang="en-US" altLang="zh-TW" sz="2798" spc="-19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</a:t>
            </a:r>
            <a:r>
              <a:rPr lang="en-US" altLang="zh-TW" sz="2798" spc="-46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 </a:t>
            </a:r>
            <a:r>
              <a:rPr lang="en-US" altLang="zh-TW" sz="2798" spc="-9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TW" sz="2798" spc="-46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as</a:t>
            </a:r>
            <a:r>
              <a:rPr lang="en-US" altLang="zh-TW" sz="2798" spc="-185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e, 5</a:t>
            </a:r>
            <a:r>
              <a:rPr lang="en-US" altLang="zh-TW" sz="2798" spc="-2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)</a:t>
            </a:r>
            <a:r>
              <a:rPr lang="en-US" altLang="zh-TW" sz="2798" spc="-46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walle</a:t>
            </a:r>
            <a:r>
              <a:rPr lang="en-US" altLang="zh-TW" sz="2798" spc="-93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</a:t>
            </a:r>
            <a:r>
              <a:rPr lang="en-US" altLang="zh-TW" sz="2798" spc="-222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2083" y="554679"/>
            <a:ext cx="3049649" cy="216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List of Purse Items</a:t>
            </a:r>
          </a:p>
          <a:p>
            <a:pPr marL="168275" indent="-109538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Glasses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Keys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Pencil Case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Card Case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Coach Wallet</a:t>
            </a:r>
          </a:p>
        </p:txBody>
      </p:sp>
      <p:sp>
        <p:nvSpPr>
          <p:cNvPr id="23" name="Oval 22"/>
          <p:cNvSpPr/>
          <p:nvPr/>
        </p:nvSpPr>
        <p:spPr>
          <a:xfrm>
            <a:off x="8490216" y="3323167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1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6330292" y="4074872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3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6397246" y="1661131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4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076016" y="3662128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2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01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51" b="14866"/>
          <a:stretch/>
        </p:blipFill>
        <p:spPr>
          <a:xfrm>
            <a:off x="3161007" y="2130"/>
            <a:ext cx="6568781" cy="68884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-866" y="2129"/>
            <a:ext cx="3899728" cy="685374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/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6561205" y="3016826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5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719" y="2131"/>
            <a:ext cx="3121979" cy="336672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11517" y="18288"/>
            <a:ext cx="3899728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“If its illogical to put the it</a:t>
            </a:r>
            <a:r>
              <a:rPr lang="en-US" altLang="zh-TW" sz="2798" spc="-5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in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14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</a:t>
            </a:r>
            <a:r>
              <a:rPr lang="en-US" altLang="zh-TW" sz="2221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ma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altLang="zh-TW" sz="2591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zh-TW" sz="2591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it?”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“There is no way to take it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t-a-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185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 t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t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b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some order.”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9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 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them in the bag.”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“But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1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en-US" altLang="zh-TW" sz="2221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spc="-102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to writ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paper, a list of contents: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1)glasses, 2)keys, 3)pencil </a:t>
            </a:r>
            <a:r>
              <a:rPr lang="en-US" altLang="zh-TW" sz="2798" spc="-9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TW" sz="2798" spc="-46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as</a:t>
            </a:r>
            <a:r>
              <a:rPr lang="en-US" altLang="zh-TW" sz="2798" spc="-185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e, 4</a:t>
            </a:r>
            <a:r>
              <a:rPr lang="en-US" altLang="zh-TW" sz="2798" spc="-2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)</a:t>
            </a:r>
            <a:r>
              <a:rPr lang="en-US" altLang="zh-TW" sz="2798" spc="-9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TW" sz="2798" spc="-46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</a:t>
            </a:r>
            <a:r>
              <a:rPr lang="en-US" altLang="zh-TW" sz="2798" spc="-19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</a:t>
            </a:r>
            <a:r>
              <a:rPr lang="en-US" altLang="zh-TW" sz="2798" spc="-46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 </a:t>
            </a:r>
            <a:r>
              <a:rPr lang="en-US" altLang="zh-TW" sz="2798" spc="-9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TW" sz="2798" spc="-46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as</a:t>
            </a:r>
            <a:r>
              <a:rPr lang="en-US" altLang="zh-TW" sz="2798" spc="-185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e, 5</a:t>
            </a:r>
            <a:r>
              <a:rPr lang="en-US" altLang="zh-TW" sz="2798" spc="-2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)</a:t>
            </a:r>
            <a:r>
              <a:rPr lang="en-US" altLang="zh-TW" sz="2798" spc="-46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walle</a:t>
            </a:r>
            <a:r>
              <a:rPr lang="en-US" altLang="zh-TW" sz="2798" spc="-93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</a:t>
            </a:r>
            <a:r>
              <a:rPr lang="en-US" altLang="zh-TW" sz="2798" spc="-222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“But your own list was different?”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“It</a:t>
            </a:r>
            <a:r>
              <a:rPr lang="en-US" altLang="zh-TW" sz="222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</a:t>
            </a:r>
            <a:r>
              <a:rPr lang="en-US" altLang="zh-TW" sz="222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22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altLang="zh-TW" sz="222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719" y="3577999"/>
            <a:ext cx="3121979" cy="324168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012083" y="4130549"/>
            <a:ext cx="3049649" cy="216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  Alternative List</a:t>
            </a:r>
          </a:p>
          <a:p>
            <a:pPr marL="168275" indent="-109538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Coach Wallet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Keys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Pencil Case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Glasses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Card Case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12083" y="554679"/>
            <a:ext cx="3049649" cy="216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List of Purse Items</a:t>
            </a:r>
          </a:p>
          <a:p>
            <a:pPr marL="168275" indent="-109538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Glasses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Keys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Pencil Case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Card Case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Coach Wallet</a:t>
            </a:r>
          </a:p>
        </p:txBody>
      </p:sp>
      <p:sp>
        <p:nvSpPr>
          <p:cNvPr id="25" name="Oval 24"/>
          <p:cNvSpPr/>
          <p:nvPr/>
        </p:nvSpPr>
        <p:spPr>
          <a:xfrm>
            <a:off x="8490216" y="3323167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1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30292" y="4074872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3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6397246" y="1661131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4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076016" y="3662128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2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14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901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02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203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104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705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51" b="14866"/>
          <a:stretch/>
        </p:blipFill>
        <p:spPr>
          <a:xfrm>
            <a:off x="3161007" y="2130"/>
            <a:ext cx="6568781" cy="6888460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6561205" y="3016826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-866" y="2129"/>
            <a:ext cx="3899728" cy="685374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/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719" y="2131"/>
            <a:ext cx="3121979" cy="336672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719" y="3577999"/>
            <a:ext cx="3121979" cy="324168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11517" y="2129"/>
            <a:ext cx="3687345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“Which of our lists was in the correct order?”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“Both were. The order doesn’t matter.”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“Oh, I understand. Lists </a:t>
            </a:r>
            <a:r>
              <a:rPr lang="en-US" altLang="zh-TW" sz="2798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TW" sz="2591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unordered</a:t>
            </a:r>
            <a:r>
              <a:rPr lang="en-US" altLang="zh-TW" sz="2591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sets,</a:t>
            </a:r>
            <a:r>
              <a:rPr lang="en-US" altLang="zh-TW" sz="2591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“No lists are ordered. That’s why I said you </a:t>
            </a:r>
            <a:r>
              <a:rPr lang="en-US" altLang="zh-TW" sz="2798" spc="-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imposed an order when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 made your list of</a:t>
            </a:r>
            <a:b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was in the bag.”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“Why does a list have to be ordered?”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“Because, to write down words on a piece of paper, you must write them one-by-one.”</a:t>
            </a:r>
          </a:p>
        </p:txBody>
      </p:sp>
      <p:sp>
        <p:nvSpPr>
          <p:cNvPr id="26" name="Oval 25"/>
          <p:cNvSpPr/>
          <p:nvPr/>
        </p:nvSpPr>
        <p:spPr>
          <a:xfrm>
            <a:off x="8490216" y="3323167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1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6330292" y="4074872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3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6397246" y="1661131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4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012083" y="554679"/>
            <a:ext cx="3049649" cy="216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List of Purse Items</a:t>
            </a:r>
          </a:p>
          <a:p>
            <a:pPr marL="168275" indent="-109538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Glasses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Keys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Pencil Case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Card Case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Coach Wallet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12083" y="4130549"/>
            <a:ext cx="3049649" cy="216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  Alternative List</a:t>
            </a:r>
          </a:p>
          <a:p>
            <a:pPr marL="168275" indent="-109538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Coach Wallet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Keys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Pencil Case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Glasses</a:t>
            </a:r>
          </a:p>
          <a:p>
            <a:pPr marL="169764" indent="-169764">
              <a:lnSpc>
                <a:spcPct val="85000"/>
              </a:lnSpc>
              <a:buFontTx/>
              <a:buAutoNum type="arabicPeriod"/>
            </a:pPr>
            <a:r>
              <a:rPr lang="en-US" altLang="zh-TW" sz="2798" dirty="0">
                <a:solidFill>
                  <a:prstClr val="black"/>
                </a:solidFill>
                <a:latin typeface="Brush Script MT" panose="03060802040406070304" pitchFamily="66" charset="0"/>
              </a:rPr>
              <a:t>Card Case</a:t>
            </a:r>
          </a:p>
        </p:txBody>
      </p:sp>
      <p:sp>
        <p:nvSpPr>
          <p:cNvPr id="14" name="Oval 13"/>
          <p:cNvSpPr/>
          <p:nvPr/>
        </p:nvSpPr>
        <p:spPr>
          <a:xfrm>
            <a:off x="5076016" y="3662128"/>
            <a:ext cx="303754" cy="278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99" dirty="0">
                <a:solidFill>
                  <a:srgbClr val="002060"/>
                </a:solidFill>
              </a:rPr>
              <a:t>2</a:t>
            </a:r>
            <a:endParaRPr lang="zh-TW" altLang="en-US" sz="1799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12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Image result for ultima underworld ba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1" r="1078"/>
          <a:stretch/>
        </p:blipFill>
        <p:spPr bwMode="auto">
          <a:xfrm>
            <a:off x="723612" y="-3017"/>
            <a:ext cx="9012306" cy="685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-866" y="2129"/>
            <a:ext cx="3899728" cy="685374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/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1517" y="2129"/>
            <a:ext cx="3687345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“Imagine I have a bag in a computer game.”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“Okay”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“Are the items in order?”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 It is a bag.”</a:t>
            </a: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5000"/>
              </a:lnSpc>
            </a:pP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altLang="zh-TW" sz="2221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221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3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22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3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221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18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 rea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only exist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inside the computer.” 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“But is</a:t>
            </a:r>
            <a:r>
              <a:rPr lang="en-US" altLang="zh-TW" sz="2798" spc="-32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the compute</a:t>
            </a:r>
            <a:r>
              <a:rPr lang="en-US" altLang="zh-TW" sz="2798" spc="-13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r’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memory ordered into sequential addresses?”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“Yes.”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“So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 the bag in memory?”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 contents must be stored. Maybe in a C++ array or a Python List.”</a:t>
            </a:r>
          </a:p>
        </p:txBody>
      </p:sp>
    </p:spTree>
    <p:extLst>
      <p:ext uri="{BB962C8B-B14F-4D97-AF65-F5344CB8AC3E}">
        <p14:creationId xmlns:p14="http://schemas.microsoft.com/office/powerpoint/2010/main" val="229744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Image result for ultima underworld ba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1" r="1078"/>
          <a:stretch/>
        </p:blipFill>
        <p:spPr bwMode="auto">
          <a:xfrm>
            <a:off x="723612" y="-3017"/>
            <a:ext cx="9012306" cy="685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-866" y="2129"/>
            <a:ext cx="3899728" cy="685374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/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1517" y="2129"/>
            <a:ext cx="3687345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“So an order necessarily gets imposed upon any data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“Must be.”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“Pyt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st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 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set’s items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memory too. 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storage must be in some order.”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“So Python </a:t>
            </a: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r>
              <a:rPr lang="en-US" altLang="zh-TW" sz="2798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ordered after all!”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“No. Pytho</a:t>
            </a:r>
            <a:r>
              <a:rPr lang="en-US" altLang="zh-TW" sz="2798" spc="-32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interpreter stores them in memory (thus: in some order), but the data-type being modeled is unordered. 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is the bag in this computer game.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8" name="Oval 7"/>
          <p:cNvSpPr/>
          <p:nvPr/>
        </p:nvSpPr>
        <p:spPr>
          <a:xfrm>
            <a:off x="6156722" y="1159563"/>
            <a:ext cx="3698845" cy="44386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799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09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972193" y="489"/>
            <a:ext cx="5757599" cy="36128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stdio.h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a='1',b='2';</a:t>
            </a:r>
          </a:p>
          <a:p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c=3,d=4,e=5;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f='6';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main() {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("%d %d %d 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 a, b, c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("%d %d %d\n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d, e, f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zh-TW" altLang="en-US" sz="2398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70040" y="3613320"/>
            <a:ext cx="5759752" cy="3235483"/>
          </a:xfrm>
          <a:prstGeom prst="rect">
            <a:avLst/>
          </a:prstGeom>
          <a:solidFill>
            <a:srgbClr val="BDD7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stdio.h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c=3,d=4,e=5;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a='1',b='2',f='6';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main() {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("%d %d %d 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 a, b, c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("%d %d %d\n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d, e, f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zh-TW" altLang="en-US" sz="2398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129"/>
            <a:ext cx="3970039" cy="685374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1517" y="2129"/>
            <a:ext cx="3899728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“Le</a:t>
            </a:r>
            <a:r>
              <a:rPr lang="en-US" altLang="zh-TW" sz="2798" spc="-23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n-US" altLang="zh-TW" sz="222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22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altLang="zh-TW" sz="222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this C program print?”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 know the ASCII codes of </a:t>
            </a: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'1</a:t>
            </a:r>
            <a:r>
              <a:rPr lang="en-US" altLang="zh-TW" sz="2798" spc="-185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  <a:r>
              <a:rPr lang="en-US" altLang="zh-TW" sz="259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85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'2</a:t>
            </a:r>
            <a:r>
              <a:rPr lang="en-US" altLang="zh-TW" sz="2798" spc="-93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TW" sz="259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3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&amp;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'6</a:t>
            </a:r>
            <a:r>
              <a:rPr lang="en-US" altLang="zh-TW" sz="2798" spc="-18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it print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 50 3 4 5 54.”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rrect. </a:t>
            </a:r>
            <a:r>
              <a:rPr lang="en-US" altLang="zh-TW" sz="2798" spc="-14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 this new code?”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“That’s not new code! </a:t>
            </a:r>
            <a:r>
              <a:rPr lang="en-US" altLang="zh-TW" sz="2798" spc="-23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declarations changes nothing. It’s the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pr</a:t>
            </a:r>
            <a:r>
              <a:rPr lang="en-US" altLang="zh-TW" sz="2798" spc="-13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g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13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same output.”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13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But w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ere d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t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hes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798" spc="-13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altLang="zh-TW" sz="2798" spc="-13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399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zh-TW" sz="2798" spc="-15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altLang="zh-TW" sz="1399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TW" sz="1399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3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798" spc="-102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13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798" spc="-15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23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?’’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14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3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</a:t>
            </a:r>
            <a:r>
              <a:rPr lang="en-US" altLang="zh-TW" sz="2798" spc="-18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TW" sz="23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3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lang="en-US" altLang="zh-TW" sz="23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02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102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3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4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3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program to store the data; the place doesn’t matter.”</a:t>
            </a:r>
          </a:p>
        </p:txBody>
      </p:sp>
      <p:sp>
        <p:nvSpPr>
          <p:cNvPr id="2" name="Right Arrow 1"/>
          <p:cNvSpPr/>
          <p:nvPr/>
        </p:nvSpPr>
        <p:spPr>
          <a:xfrm rot="1133673">
            <a:off x="1993035" y="1000519"/>
            <a:ext cx="2186684" cy="28509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66">
              <a:solidFill>
                <a:prstClr val="white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 rot="2065027">
            <a:off x="2296490" y="3178863"/>
            <a:ext cx="2186684" cy="285095"/>
          </a:xfrm>
          <a:prstGeom prst="rightArrow">
            <a:avLst/>
          </a:prstGeom>
          <a:solidFill>
            <a:srgbClr val="BDD7EE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66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87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" grpId="0" animBg="1"/>
      <p:bldP spid="2" grpId="1" animBg="1"/>
      <p:bldP spid="7" grpId="0" animBg="1"/>
      <p:bldP spid="7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2129"/>
            <a:ext cx="3970039" cy="685374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1518" y="2129"/>
            <a:ext cx="3758522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“Right. The order does</a:t>
            </a:r>
            <a:r>
              <a:rPr lang="en-US" altLang="zh-TW" sz="2798" spc="-32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matter, because the set </a:t>
            </a:r>
            <a:b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declared variables is unordered, as far as the compiler is concerned.”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 agree.”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ut,</a:t>
            </a:r>
            <a:r>
              <a:rPr lang="en-US" altLang="zh-TW" sz="2221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4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zh-TW" sz="2591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ugh</a:t>
            </a:r>
            <a:r>
              <a:rPr lang="en-US" altLang="zh-TW" sz="2591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102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591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2798" spc="-3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set,</a:t>
            </a:r>
            <a:r>
              <a:rPr lang="en-US" altLang="zh-TW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7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9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memory locations, right?”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“Oh, I see. The compiler has to impose an order onto this unordered set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“Yes. And we can see what that order was, if we print their address values. Le</a:t>
            </a:r>
            <a:r>
              <a:rPr lang="en-US" altLang="zh-TW" sz="2798" spc="-23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try that…”</a:t>
            </a: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972193" y="489"/>
            <a:ext cx="5757599" cy="36128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stdio.h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a='1',b='2';</a:t>
            </a:r>
          </a:p>
          <a:p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c=3,d=4,e=5;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f='6';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main() {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("%d %d %d 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 a, b, c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("%d %d %d\n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d, e, f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zh-TW" altLang="en-US" sz="2398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970040" y="3613320"/>
            <a:ext cx="5759752" cy="3235483"/>
          </a:xfrm>
          <a:prstGeom prst="rect">
            <a:avLst/>
          </a:prstGeom>
          <a:solidFill>
            <a:srgbClr val="BDD7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stdio.h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c=3,d=4,e=5;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a='1',b='2',f='6';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main() {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("%d %d %d 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 a, b, c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("%d %d %d\n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d, e, f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zh-TW" altLang="en-US" sz="2398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99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2129"/>
            <a:ext cx="3970039" cy="685374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72193" y="489"/>
            <a:ext cx="5757599" cy="36128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stdio.h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a='1',b='2';</a:t>
            </a:r>
          </a:p>
          <a:p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c=3,d=4,e=5;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f='6';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main() {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("%d %d %d 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 a, b, </a:t>
            </a:r>
            <a:r>
              <a:rPr lang="en-US" altLang="zh-TW" sz="2398" spc="-2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c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altLang="zh-TW" sz="23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("%d %d %d\n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d, e, </a:t>
            </a:r>
            <a:r>
              <a:rPr lang="en-US" altLang="zh-TW" sz="2398" spc="-2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altLang="zh-TW" sz="23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zh-TW" altLang="en-US" sz="2398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970040" y="3613320"/>
            <a:ext cx="5759752" cy="3235483"/>
          </a:xfrm>
          <a:prstGeom prst="rect">
            <a:avLst/>
          </a:prstGeom>
          <a:solidFill>
            <a:srgbClr val="BDD7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stdio.h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c=3,d=4,e=5;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a='1',b='2',f='6';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main() {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("%d %d %d 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 a, b, c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("%d %d %d\n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d, e, </a:t>
            </a:r>
            <a:r>
              <a:rPr lang="en-US" altLang="zh-TW" sz="2398" spc="-2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altLang="zh-TW" sz="23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zh-TW" altLang="en-US" sz="2398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140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2129"/>
            <a:ext cx="3970039" cy="685374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1517" y="2129"/>
            <a:ext cx="3899728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“What output will these two programs produc</a:t>
            </a:r>
            <a:r>
              <a:rPr lang="en-US" altLang="zh-TW" sz="2798" spc="-23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 do</a:t>
            </a:r>
            <a:r>
              <a:rPr lang="en-US" altLang="zh-TW" sz="2798" spc="-32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spc="-18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know, because I d</a:t>
            </a:r>
            <a:r>
              <a:rPr lang="en-US" altLang="zh-TW" sz="2798" spc="-5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32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spc="-18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k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spc="-1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t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addr</a:t>
            </a:r>
            <a:r>
              <a:rPr lang="en-US" altLang="zh-TW" sz="2798" spc="-1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where the compiler puts global variables.”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“Tru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le</a:t>
            </a:r>
            <a:r>
              <a:rPr lang="en-US" altLang="zh-TW" sz="2798" spc="-23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sz="2798" spc="-3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that t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global space starts at address 100 (</a:t>
            </a:r>
            <a:r>
              <a:rPr lang="en-US" altLang="zh-TW" sz="129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=</a:t>
            </a:r>
            <a:r>
              <a:rPr lang="en-US" altLang="zh-TW" sz="2591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0x64</a:t>
            </a:r>
            <a:r>
              <a:rPr lang="en-US" altLang="zh-TW" sz="74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“Then the first program outputs: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398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  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And the second outputs: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398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                                     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169764" indent="-169764">
              <a:lnSpc>
                <a:spcPct val="90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“Yes – but only if you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stores them in the order that you declared the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72193" y="489"/>
            <a:ext cx="5757599" cy="36128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stdio.h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a='1',b='2';</a:t>
            </a:r>
          </a:p>
          <a:p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c=3,d=4,e=5;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f='6';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main() {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("%x %x %x 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398" b="1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&amp;b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&amp;c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("%x %x %x\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398" spc="-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&amp;d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&amp;e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&amp;f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zh-TW" altLang="en-US" sz="2398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70040" y="3613320"/>
            <a:ext cx="5759752" cy="3235483"/>
          </a:xfrm>
          <a:prstGeom prst="rect">
            <a:avLst/>
          </a:prstGeom>
          <a:solidFill>
            <a:srgbClr val="BDD7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stdio.h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c=3,d=4,e=5;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a='1',b='2',f='6';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main() {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("%x %x %x 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398" b="1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&amp;b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&amp;c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("%x %x %x\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398" spc="-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&amp;d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&amp;e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&amp;f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zh-TW" altLang="en-US" sz="2398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5819801" y="565893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C5E0B4"/>
                </a:solidFill>
                <a:latin typeface="Arial Narrow" panose="020B0606020202030204" pitchFamily="34" charset="0"/>
              </a:rPr>
              <a:t>65</a:t>
            </a:r>
            <a:endParaRPr lang="zh-TW" altLang="en-US" sz="1851" b="1" spc="-93" dirty="0">
              <a:solidFill>
                <a:srgbClr val="C5E0B4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4742892" y="595463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C5E0B4"/>
                </a:solidFill>
                <a:latin typeface="Arial Narrow" panose="020B0606020202030204" pitchFamily="34" charset="0"/>
              </a:rPr>
              <a:t>64</a:t>
            </a:r>
            <a:endParaRPr lang="zh-TW" altLang="en-US" sz="1851" b="1" spc="-93" dirty="0">
              <a:solidFill>
                <a:srgbClr val="C5E0B4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320088" y="4206654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BDD7EE"/>
                </a:solidFill>
                <a:latin typeface="Arial Narrow" panose="020B0606020202030204" pitchFamily="34" charset="0"/>
              </a:rPr>
              <a:t>68</a:t>
            </a:r>
            <a:endParaRPr lang="zh-TW" altLang="en-US" sz="1851" b="1" spc="-93" dirty="0">
              <a:solidFill>
                <a:srgbClr val="BDD7EE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563891" y="997030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C5E0B4"/>
                </a:solidFill>
                <a:latin typeface="Arial Narrow" panose="020B0606020202030204" pitchFamily="34" charset="0"/>
              </a:rPr>
              <a:t>66</a:t>
            </a:r>
            <a:endParaRPr lang="zh-TW" altLang="en-US" sz="1851" b="1" spc="-93" dirty="0">
              <a:solidFill>
                <a:srgbClr val="C5E0B4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302785" y="997031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C5E0B4"/>
                </a:solidFill>
                <a:latin typeface="Arial Narrow" panose="020B0606020202030204" pitchFamily="34" charset="0"/>
              </a:rPr>
              <a:t>6a</a:t>
            </a:r>
            <a:endParaRPr lang="zh-TW" altLang="en-US" sz="1851" b="1" spc="-93" dirty="0">
              <a:solidFill>
                <a:srgbClr val="C5E0B4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029415" y="990494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C5E0B4"/>
                </a:solidFill>
                <a:latin typeface="Arial Narrow" panose="020B0606020202030204" pitchFamily="34" charset="0"/>
              </a:rPr>
              <a:t>6e</a:t>
            </a:r>
            <a:endParaRPr lang="zh-TW" altLang="en-US" sz="1851" b="1" spc="-93" dirty="0">
              <a:solidFill>
                <a:srgbClr val="C5E0B4"/>
              </a:solidFill>
              <a:latin typeface="Arial Narrow" panose="020B0606020202030204" pitchFamily="3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071647" y="4206654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BDD7EE"/>
                </a:solidFill>
                <a:latin typeface="Arial Narrow" panose="020B0606020202030204" pitchFamily="34" charset="0"/>
              </a:rPr>
              <a:t>6c</a:t>
            </a:r>
            <a:endParaRPr lang="zh-TW" altLang="en-US" sz="1851" b="1" spc="-93" dirty="0">
              <a:solidFill>
                <a:srgbClr val="BDD7EE"/>
              </a:solidFill>
              <a:latin typeface="Arial Narrow" panose="020B0606020202030204" pitchFamily="34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580575" y="4206654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BDD7EE"/>
                </a:solidFill>
                <a:latin typeface="Arial Narrow" panose="020B0606020202030204" pitchFamily="34" charset="0"/>
              </a:rPr>
              <a:t>64</a:t>
            </a:r>
            <a:endParaRPr lang="zh-TW" altLang="en-US" sz="1851" b="1" spc="-93" dirty="0">
              <a:solidFill>
                <a:srgbClr val="BDD7E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797131" y="4535875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BDD7EE"/>
                </a:solidFill>
                <a:latin typeface="Arial Narrow" panose="020B0606020202030204" pitchFamily="34" charset="0"/>
              </a:rPr>
              <a:t>71</a:t>
            </a:r>
            <a:endParaRPr lang="zh-TW" altLang="en-US" sz="1851" b="1" spc="-93" dirty="0">
              <a:solidFill>
                <a:srgbClr val="BDD7EE"/>
              </a:solidFill>
              <a:latin typeface="Arial Narrow" panose="020B0606020202030204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975733" y="4535875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BDD7EE"/>
                </a:solidFill>
                <a:latin typeface="Arial Narrow" panose="020B0606020202030204" pitchFamily="34" charset="0"/>
              </a:rPr>
              <a:t>72</a:t>
            </a:r>
            <a:endParaRPr lang="zh-TW" altLang="en-US" sz="1851" b="1" spc="-93" dirty="0">
              <a:solidFill>
                <a:srgbClr val="BDD7EE"/>
              </a:solidFill>
              <a:latin typeface="Arial Narrow" panose="020B0606020202030204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704456" y="4608221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BDD7EE"/>
                </a:solidFill>
                <a:latin typeface="Arial Narrow" panose="020B0606020202030204" pitchFamily="34" charset="0"/>
              </a:rPr>
              <a:t>70</a:t>
            </a:r>
            <a:endParaRPr lang="zh-TW" altLang="en-US" sz="1851" b="1" spc="-93" dirty="0">
              <a:solidFill>
                <a:srgbClr val="BDD7EE"/>
              </a:solidFill>
              <a:latin typeface="Arial Narrow" panose="020B0606020202030204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709599" y="1398597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C5E0B4"/>
                </a:solidFill>
                <a:latin typeface="Arial Narrow" panose="020B0606020202030204" pitchFamily="34" charset="0"/>
              </a:rPr>
              <a:t>72</a:t>
            </a:r>
            <a:endParaRPr lang="zh-TW" altLang="en-US" sz="1851" b="1" spc="-93" dirty="0">
              <a:solidFill>
                <a:srgbClr val="C5E0B4"/>
              </a:solidFill>
              <a:latin typeface="Arial Narrow" panose="020B0606020202030204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943070" y="4224246"/>
            <a:ext cx="372270" cy="372270"/>
          </a:xfrm>
          <a:prstGeom prst="ellipse">
            <a:avLst/>
          </a:prstGeom>
          <a:solidFill>
            <a:schemeClr val="bg1"/>
          </a:solidFill>
          <a:ln>
            <a:solidFill>
              <a:srgbClr val="C5E0B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2221" b="1" spc="-93" dirty="0">
                <a:solidFill>
                  <a:srgbClr val="B5D8A0"/>
                </a:solidFill>
                <a:latin typeface="Arial Narrow" panose="020B0606020202030204" pitchFamily="34" charset="0"/>
              </a:rPr>
              <a:t>65</a:t>
            </a:r>
            <a:endParaRPr lang="zh-TW" altLang="en-US" sz="2221" b="1" spc="-93" dirty="0">
              <a:solidFill>
                <a:srgbClr val="B5D8A0"/>
              </a:solidFill>
              <a:latin typeface="Arial Narrow" panose="020B0606020202030204" pitchFamily="34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544865" y="4224246"/>
            <a:ext cx="372270" cy="372270"/>
          </a:xfrm>
          <a:prstGeom prst="ellipse">
            <a:avLst/>
          </a:prstGeom>
          <a:solidFill>
            <a:schemeClr val="bg1"/>
          </a:solidFill>
          <a:ln>
            <a:solidFill>
              <a:srgbClr val="C5E0B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2221" b="1" spc="-93" dirty="0">
                <a:solidFill>
                  <a:srgbClr val="B5D8A0"/>
                </a:solidFill>
                <a:latin typeface="Arial Narrow" panose="020B0606020202030204" pitchFamily="34" charset="0"/>
              </a:rPr>
              <a:t>64</a:t>
            </a:r>
            <a:endParaRPr lang="zh-TW" altLang="en-US" sz="2221" b="1" spc="-93" dirty="0">
              <a:solidFill>
                <a:srgbClr val="B5D8A0"/>
              </a:solidFill>
              <a:latin typeface="Arial Narrow" panose="020B0606020202030204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341193" y="4224246"/>
            <a:ext cx="372270" cy="372270"/>
          </a:xfrm>
          <a:prstGeom prst="ellipse">
            <a:avLst/>
          </a:prstGeom>
          <a:solidFill>
            <a:schemeClr val="bg1"/>
          </a:solidFill>
          <a:ln>
            <a:solidFill>
              <a:srgbClr val="C5E0B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2221" b="1" spc="-93" dirty="0">
                <a:solidFill>
                  <a:srgbClr val="B5D8A0"/>
                </a:solidFill>
                <a:latin typeface="Arial Narrow" panose="020B0606020202030204" pitchFamily="34" charset="0"/>
              </a:rPr>
              <a:t>66</a:t>
            </a:r>
            <a:endParaRPr lang="zh-TW" altLang="en-US" sz="2221" b="1" spc="-93" dirty="0">
              <a:solidFill>
                <a:srgbClr val="B5D8A0"/>
              </a:solidFill>
              <a:latin typeface="Arial Narrow" panose="020B0606020202030204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739309" y="4224246"/>
            <a:ext cx="372270" cy="372270"/>
          </a:xfrm>
          <a:prstGeom prst="ellipse">
            <a:avLst/>
          </a:prstGeom>
          <a:solidFill>
            <a:schemeClr val="bg1"/>
          </a:solidFill>
          <a:ln>
            <a:solidFill>
              <a:srgbClr val="C5E0B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2221" b="1" spc="-93" dirty="0">
                <a:solidFill>
                  <a:srgbClr val="B5D8A0"/>
                </a:solidFill>
                <a:latin typeface="Arial Narrow" panose="020B0606020202030204" pitchFamily="34" charset="0"/>
              </a:rPr>
              <a:t>6a</a:t>
            </a:r>
            <a:endParaRPr lang="zh-TW" altLang="en-US" sz="2221" b="1" spc="-93" dirty="0">
              <a:solidFill>
                <a:srgbClr val="B5D8A0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2142788" y="4224246"/>
            <a:ext cx="372270" cy="372270"/>
          </a:xfrm>
          <a:prstGeom prst="ellipse">
            <a:avLst/>
          </a:prstGeom>
          <a:solidFill>
            <a:schemeClr val="bg1"/>
          </a:solidFill>
          <a:ln>
            <a:solidFill>
              <a:srgbClr val="C5E0B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2221" b="1" spc="-93" dirty="0">
                <a:solidFill>
                  <a:srgbClr val="B5D8A0"/>
                </a:solidFill>
                <a:latin typeface="Arial Narrow" panose="020B0606020202030204" pitchFamily="34" charset="0"/>
              </a:rPr>
              <a:t>6e</a:t>
            </a:r>
            <a:endParaRPr lang="zh-TW" altLang="en-US" sz="2221" b="1" spc="-93" dirty="0">
              <a:solidFill>
                <a:srgbClr val="B5D8A0"/>
              </a:solidFill>
              <a:latin typeface="Arial Narrow" panose="020B0606020202030204" pitchFamily="34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2544486" y="4224246"/>
            <a:ext cx="372270" cy="372270"/>
          </a:xfrm>
          <a:prstGeom prst="ellipse">
            <a:avLst/>
          </a:prstGeom>
          <a:solidFill>
            <a:schemeClr val="bg1"/>
          </a:solidFill>
          <a:ln>
            <a:solidFill>
              <a:srgbClr val="C5E0B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2221" b="1" spc="-93" dirty="0">
                <a:solidFill>
                  <a:srgbClr val="B5D8A0"/>
                </a:solidFill>
                <a:latin typeface="Arial Narrow" panose="020B0606020202030204" pitchFamily="34" charset="0"/>
              </a:rPr>
              <a:t>72</a:t>
            </a:r>
            <a:endParaRPr lang="zh-TW" altLang="en-US" sz="2221" b="1" spc="-93" dirty="0">
              <a:solidFill>
                <a:srgbClr val="B5D8A0"/>
              </a:solidFill>
              <a:latin typeface="Arial Narrow" panose="020B0606020202030204" pitchFamily="34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943070" y="4942132"/>
            <a:ext cx="372270" cy="372270"/>
          </a:xfrm>
          <a:prstGeom prst="ellipse">
            <a:avLst/>
          </a:prstGeom>
          <a:solidFill>
            <a:schemeClr val="bg1"/>
          </a:solidFill>
          <a:ln>
            <a:solidFill>
              <a:srgbClr val="BDD7E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2221" b="1" spc="-93" dirty="0">
                <a:solidFill>
                  <a:srgbClr val="A6C9E8"/>
                </a:solidFill>
                <a:latin typeface="Arial Narrow" panose="020B0606020202030204" pitchFamily="34" charset="0"/>
              </a:rPr>
              <a:t>71</a:t>
            </a:r>
            <a:endParaRPr lang="zh-TW" altLang="en-US" sz="2221" b="1" spc="-93" dirty="0">
              <a:solidFill>
                <a:srgbClr val="A6C9E8"/>
              </a:solidFill>
              <a:latin typeface="Arial Narrow" panose="020B0606020202030204" pitchFamily="34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44865" y="4942132"/>
            <a:ext cx="372270" cy="372270"/>
          </a:xfrm>
          <a:prstGeom prst="ellipse">
            <a:avLst/>
          </a:prstGeom>
          <a:solidFill>
            <a:schemeClr val="bg1"/>
          </a:solidFill>
          <a:ln>
            <a:solidFill>
              <a:srgbClr val="BDD7E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2221" b="1" spc="-93" dirty="0">
                <a:solidFill>
                  <a:srgbClr val="A6C9E8"/>
                </a:solidFill>
                <a:latin typeface="Arial Narrow" panose="020B0606020202030204" pitchFamily="34" charset="0"/>
              </a:rPr>
              <a:t>70</a:t>
            </a:r>
            <a:endParaRPr lang="zh-TW" altLang="en-US" sz="2221" b="1" spc="-93" dirty="0">
              <a:solidFill>
                <a:srgbClr val="A6C9E8"/>
              </a:solidFill>
              <a:latin typeface="Arial Narrow" panose="020B0606020202030204" pitchFamily="34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341193" y="4942132"/>
            <a:ext cx="372270" cy="372270"/>
          </a:xfrm>
          <a:prstGeom prst="ellipse">
            <a:avLst/>
          </a:prstGeom>
          <a:solidFill>
            <a:schemeClr val="bg1"/>
          </a:solidFill>
          <a:ln>
            <a:solidFill>
              <a:srgbClr val="BDD7E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2221" b="1" spc="-93" dirty="0">
                <a:solidFill>
                  <a:srgbClr val="A6C9E8"/>
                </a:solidFill>
                <a:latin typeface="Arial Narrow" panose="020B0606020202030204" pitchFamily="34" charset="0"/>
              </a:rPr>
              <a:t>64</a:t>
            </a:r>
            <a:endParaRPr lang="zh-TW" altLang="en-US" sz="2221" b="1" spc="-93" dirty="0">
              <a:solidFill>
                <a:srgbClr val="A6C9E8"/>
              </a:solidFill>
              <a:latin typeface="Arial Narrow" panose="020B0606020202030204" pitchFamily="34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739309" y="4942132"/>
            <a:ext cx="372270" cy="372270"/>
          </a:xfrm>
          <a:prstGeom prst="ellipse">
            <a:avLst/>
          </a:prstGeom>
          <a:solidFill>
            <a:schemeClr val="bg1"/>
          </a:solidFill>
          <a:ln>
            <a:solidFill>
              <a:srgbClr val="BDD7E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2221" b="1" spc="-93" dirty="0">
                <a:solidFill>
                  <a:srgbClr val="A6C9E8"/>
                </a:solidFill>
                <a:latin typeface="Arial Narrow" panose="020B0606020202030204" pitchFamily="34" charset="0"/>
              </a:rPr>
              <a:t>68</a:t>
            </a:r>
            <a:endParaRPr lang="zh-TW" altLang="en-US" sz="2221" b="1" spc="-93" dirty="0">
              <a:solidFill>
                <a:srgbClr val="A6C9E8"/>
              </a:solidFill>
              <a:latin typeface="Arial Narrow" panose="020B0606020202030204" pitchFamily="34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2142788" y="4942132"/>
            <a:ext cx="372270" cy="372270"/>
          </a:xfrm>
          <a:prstGeom prst="ellipse">
            <a:avLst/>
          </a:prstGeom>
          <a:solidFill>
            <a:schemeClr val="bg1"/>
          </a:solidFill>
          <a:ln>
            <a:solidFill>
              <a:srgbClr val="BDD7E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2221" b="1" spc="-93" dirty="0">
                <a:solidFill>
                  <a:srgbClr val="A6C9E8"/>
                </a:solidFill>
                <a:latin typeface="Arial Narrow" panose="020B0606020202030204" pitchFamily="34" charset="0"/>
              </a:rPr>
              <a:t>6c</a:t>
            </a:r>
            <a:endParaRPr lang="zh-TW" altLang="en-US" sz="2221" b="1" spc="-93" dirty="0">
              <a:solidFill>
                <a:srgbClr val="A6C9E8"/>
              </a:solidFill>
              <a:latin typeface="Arial Narrow" panose="020B0606020202030204" pitchFamily="34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2544486" y="4942132"/>
            <a:ext cx="372270" cy="372270"/>
          </a:xfrm>
          <a:prstGeom prst="ellipse">
            <a:avLst/>
          </a:prstGeom>
          <a:solidFill>
            <a:schemeClr val="bg1"/>
          </a:solidFill>
          <a:ln>
            <a:solidFill>
              <a:srgbClr val="BDD7E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2221" b="1" spc="-93" dirty="0">
                <a:solidFill>
                  <a:srgbClr val="A6C9E8"/>
                </a:solidFill>
                <a:latin typeface="Arial Narrow" panose="020B0606020202030204" pitchFamily="34" charset="0"/>
              </a:rPr>
              <a:t>72</a:t>
            </a:r>
            <a:endParaRPr lang="zh-TW" altLang="en-US" sz="2221" b="1" spc="-93" dirty="0">
              <a:solidFill>
                <a:srgbClr val="A6C9E8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42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2129"/>
            <a:ext cx="3970039" cy="685374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1517" y="2129"/>
            <a:ext cx="3899728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8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“Actually, the compiler might choose to turn the first program into the second, so that variables align better in the cache (</a:t>
            </a:r>
            <a:r>
              <a:rPr lang="en-US" altLang="zh-TW" sz="2798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if variable ‘e’ is at addresses 6e-71, then tha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in 2 cache lines).”</a:t>
            </a:r>
          </a:p>
          <a:p>
            <a:pPr marL="169764" indent="-169764">
              <a:lnSpc>
                <a:spcPct val="8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“But the second program puts </a:t>
            </a:r>
            <a:r>
              <a:rPr lang="en-US" altLang="zh-TW" sz="2798" spc="-18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at 6c</a:t>
            </a:r>
            <a:r>
              <a:rPr lang="en-US" altLang="zh-TW" sz="2798" spc="-18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6f. That </a:t>
            </a:r>
            <a:r>
              <a:rPr lang="en-US" altLang="zh-TW" sz="2798" spc="-1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aligns </a:t>
            </a:r>
            <a:r>
              <a:rPr lang="en-US" altLang="zh-TW" sz="2798" spc="-13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1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 in t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spc="-5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</a:t>
            </a:r>
            <a:r>
              <a:rPr lang="en-US" altLang="zh-TW" sz="2798" spc="-5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9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13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spc="-1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169764" indent="-169764">
              <a:lnSpc>
                <a:spcPct val="8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“Right. So you see: you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altLang="zh-TW" sz="2221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n-US" altLang="zh-TW" sz="2221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TW" sz="2221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221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altLang="zh-TW" sz="2221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variables get stored. And </a:t>
            </a:r>
            <a:r>
              <a:rPr lang="en-US" altLang="zh-TW" sz="2798" spc="-157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1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2221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221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221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rrect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798" spc="-23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But you also might guess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wrong. Why is that?”</a:t>
            </a:r>
          </a:p>
          <a:p>
            <a:pPr marL="169764" indent="-169764">
              <a:lnSpc>
                <a:spcPct val="8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the </a:t>
            </a:r>
            <a:r>
              <a:rPr lang="en-US" altLang="zh-TW" sz="2798" spc="-157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aria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</a:t>
            </a:r>
            <a:r>
              <a:rPr lang="en-US" altLang="zh-TW" sz="2798" spc="-2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are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unordered set.”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2193" y="489"/>
            <a:ext cx="5757599" cy="3612830"/>
          </a:xfrm>
          <a:prstGeom prst="rect">
            <a:avLst/>
          </a:prstGeom>
          <a:solidFill>
            <a:srgbClr val="C5E0B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stdio.h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a='1',b='2';</a:t>
            </a:r>
          </a:p>
          <a:p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c=3,d=4,e=5;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f='6';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main() {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("%x %x %x 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398" b="1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&amp;b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zh-TW" sz="2398" b="1" spc="-2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c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altLang="zh-TW" sz="23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("%x %x %x\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398" spc="-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&amp;d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&amp;e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zh-TW" sz="2398" b="1" spc="-2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altLang="zh-TW" sz="23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zh-TW" altLang="en-US" sz="2398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70040" y="3613320"/>
            <a:ext cx="5759752" cy="3235483"/>
          </a:xfrm>
          <a:prstGeom prst="rect">
            <a:avLst/>
          </a:prstGeom>
          <a:solidFill>
            <a:srgbClr val="BDD7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stdio.h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c=3,d=4,e=5;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a='1',b='2',f='6';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main() {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("%x %x %x </a:t>
            </a:r>
            <a:r>
              <a:rPr lang="en-US" altLang="zh-TW" sz="2398" spc="-200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398" b="1" spc="-20" dirty="0">
                <a:solidFill>
                  <a:prstClr val="black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&amp;b</a:t>
            </a:r>
            <a:r>
              <a:rPr lang="en-US" altLang="zh-TW" sz="2398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zh-TW" sz="2398" b="1" spc="-2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c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altLang="zh-TW" sz="23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2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spc="-2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("%x %x %x\</a:t>
            </a:r>
            <a:r>
              <a:rPr lang="en-US" altLang="zh-TW" sz="2398" spc="-2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398" spc="-2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398" spc="-2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&amp;d</a:t>
            </a:r>
            <a:r>
              <a:rPr lang="en-US" altLang="zh-TW" sz="2398" spc="-2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&amp;e</a:t>
            </a:r>
            <a:r>
              <a:rPr lang="en-US" altLang="zh-TW" sz="2398" spc="-2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spc="-2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&amp;f</a:t>
            </a:r>
            <a:r>
              <a:rPr lang="en-US" altLang="zh-TW" sz="2398" spc="-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altLang="zh-TW" sz="23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zh-TW" altLang="en-US" sz="2398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5819801" y="565893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C5E0B4"/>
                </a:solidFill>
                <a:latin typeface="Arial Narrow" panose="020B0606020202030204" pitchFamily="34" charset="0"/>
              </a:rPr>
              <a:t>65</a:t>
            </a:r>
            <a:endParaRPr lang="zh-TW" altLang="en-US" sz="1851" b="1" spc="-93" dirty="0">
              <a:solidFill>
                <a:srgbClr val="C5E0B4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742892" y="595463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C5E0B4"/>
                </a:solidFill>
                <a:latin typeface="Arial Narrow" panose="020B0606020202030204" pitchFamily="34" charset="0"/>
              </a:rPr>
              <a:t>64</a:t>
            </a:r>
            <a:endParaRPr lang="zh-TW" altLang="en-US" sz="1851" b="1" spc="-93" dirty="0">
              <a:solidFill>
                <a:srgbClr val="C5E0B4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5320088" y="4206654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BDD7EE"/>
                </a:solidFill>
                <a:latin typeface="Arial Narrow" panose="020B0606020202030204" pitchFamily="34" charset="0"/>
              </a:rPr>
              <a:t>68</a:t>
            </a:r>
            <a:endParaRPr lang="zh-TW" altLang="en-US" sz="1851" b="1" spc="-93" dirty="0">
              <a:solidFill>
                <a:srgbClr val="BDD7EE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4563891" y="997030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C5E0B4"/>
                </a:solidFill>
                <a:latin typeface="Arial Narrow" panose="020B0606020202030204" pitchFamily="34" charset="0"/>
              </a:rPr>
              <a:t>66</a:t>
            </a:r>
            <a:endParaRPr lang="zh-TW" altLang="en-US" sz="1851" b="1" spc="-93" dirty="0">
              <a:solidFill>
                <a:srgbClr val="C5E0B4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302785" y="997031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C5E0B4"/>
                </a:solidFill>
                <a:latin typeface="Arial Narrow" panose="020B0606020202030204" pitchFamily="34" charset="0"/>
              </a:rPr>
              <a:t>6a</a:t>
            </a:r>
            <a:endParaRPr lang="zh-TW" altLang="en-US" sz="1851" b="1" spc="-93" dirty="0">
              <a:solidFill>
                <a:srgbClr val="C5E0B4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029415" y="990494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C5E0B4"/>
                </a:solidFill>
                <a:latin typeface="Arial Narrow" panose="020B0606020202030204" pitchFamily="34" charset="0"/>
              </a:rPr>
              <a:t>6e</a:t>
            </a:r>
            <a:endParaRPr lang="zh-TW" altLang="en-US" sz="1851" b="1" spc="-93" dirty="0">
              <a:solidFill>
                <a:srgbClr val="C5E0B4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071647" y="4206654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BDD7EE"/>
                </a:solidFill>
                <a:latin typeface="Arial Narrow" panose="020B0606020202030204" pitchFamily="34" charset="0"/>
              </a:rPr>
              <a:t>6c</a:t>
            </a:r>
            <a:endParaRPr lang="zh-TW" altLang="en-US" sz="1851" b="1" spc="-93" dirty="0">
              <a:solidFill>
                <a:srgbClr val="BDD7EE"/>
              </a:solidFill>
              <a:latin typeface="Arial Narrow" panose="020B0606020202030204" pitchFamily="3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580575" y="4206654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BDD7EE"/>
                </a:solidFill>
                <a:latin typeface="Arial Narrow" panose="020B0606020202030204" pitchFamily="34" charset="0"/>
              </a:rPr>
              <a:t>64</a:t>
            </a:r>
            <a:endParaRPr lang="zh-TW" altLang="en-US" sz="1851" b="1" spc="-93" dirty="0">
              <a:solidFill>
                <a:srgbClr val="BDD7EE"/>
              </a:solidFill>
              <a:latin typeface="Arial Narrow" panose="020B0606020202030204" pitchFamily="34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97131" y="4535875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BDD7EE"/>
                </a:solidFill>
                <a:latin typeface="Arial Narrow" panose="020B0606020202030204" pitchFamily="34" charset="0"/>
              </a:rPr>
              <a:t>71</a:t>
            </a:r>
            <a:endParaRPr lang="zh-TW" altLang="en-US" sz="1851" b="1" spc="-93" dirty="0">
              <a:solidFill>
                <a:srgbClr val="BDD7E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975733" y="4535875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BDD7EE"/>
                </a:solidFill>
                <a:latin typeface="Arial Narrow" panose="020B0606020202030204" pitchFamily="34" charset="0"/>
              </a:rPr>
              <a:t>72</a:t>
            </a:r>
            <a:endParaRPr lang="zh-TW" altLang="en-US" sz="1851" b="1" spc="-93" dirty="0">
              <a:solidFill>
                <a:srgbClr val="BDD7EE"/>
              </a:solidFill>
              <a:latin typeface="Arial Narrow" panose="020B0606020202030204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704456" y="4608221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BDD7EE"/>
                </a:solidFill>
                <a:latin typeface="Arial Narrow" panose="020B0606020202030204" pitchFamily="34" charset="0"/>
              </a:rPr>
              <a:t>70</a:t>
            </a:r>
            <a:endParaRPr lang="zh-TW" altLang="en-US" sz="1851" b="1" spc="-93" dirty="0">
              <a:solidFill>
                <a:srgbClr val="BDD7EE"/>
              </a:solidFill>
              <a:latin typeface="Arial Narrow" panose="020B0606020202030204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709599" y="1398597"/>
            <a:ext cx="296124" cy="29612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851" b="1" spc="-93" dirty="0">
                <a:solidFill>
                  <a:srgbClr val="C5E0B4"/>
                </a:solidFill>
                <a:latin typeface="Arial Narrow" panose="020B0606020202030204" pitchFamily="34" charset="0"/>
              </a:rPr>
              <a:t>72</a:t>
            </a:r>
            <a:endParaRPr lang="zh-TW" altLang="en-US" sz="1851" b="1" spc="-93" dirty="0">
              <a:solidFill>
                <a:srgbClr val="C5E0B4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5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2129"/>
            <a:ext cx="3970039" cy="685374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83007" y="489"/>
            <a:ext cx="5746781" cy="361283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stdio.h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char a='1',b='2';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main() {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("This prints a 1:");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("%u\n",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    </a:t>
            </a:r>
            <a:r>
              <a:rPr lang="en-US" altLang="zh-TW" sz="23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((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long unsigned 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)&amp;b)</a:t>
            </a:r>
            <a:r>
              <a:rPr lang="en-US" altLang="zh-TW" sz="2398" b="1" dirty="0">
                <a:solidFill>
                  <a:prstClr val="black"/>
                </a:solidFill>
                <a:latin typeface="Lucida Bright" panose="02040602050505020304" pitchFamily="18" charset="0"/>
              </a:rPr>
              <a:t>–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     </a:t>
            </a:r>
            <a:r>
              <a:rPr lang="en-US" altLang="zh-TW" sz="23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((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long unsigned </a:t>
            </a:r>
            <a:r>
              <a:rPr lang="en-US" altLang="zh-TW" sz="239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)&amp;</a:t>
            </a:r>
            <a:r>
              <a:rPr lang="en-US" altLang="zh-TW" sz="2398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a));</a:t>
            </a:r>
          </a:p>
          <a:p>
            <a:r>
              <a:rPr lang="en-US" altLang="zh-TW" sz="2398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zh-TW" altLang="en-US" sz="2398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1517" y="2129"/>
            <a:ext cx="3899728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8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27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22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14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y’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22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altLang="zh-TW" sz="222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 set. So what about this new program?”</a:t>
            </a:r>
          </a:p>
          <a:p>
            <a:pPr marL="169764" indent="-169764">
              <a:lnSpc>
                <a:spcPct val="8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“Does it print a ‘1’?”</a:t>
            </a:r>
          </a:p>
          <a:p>
            <a:pPr marL="169764" indent="-169764">
              <a:lnSpc>
                <a:spcPct val="8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27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22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printed a </a:t>
            </a:r>
            <a:r>
              <a:rPr lang="en-US" altLang="zh-TW" sz="2798" spc="-27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‘1’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pPr marL="169764" indent="-169764">
              <a:lnSpc>
                <a:spcPct val="8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“Can you do that?”</a:t>
            </a:r>
          </a:p>
          <a:p>
            <a:pPr marL="169764" indent="-169764">
              <a:lnSpc>
                <a:spcPct val="8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</a:t>
            </a:r>
            <a:r>
              <a:rPr lang="en-US" altLang="zh-TW" sz="2798" spc="-23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a bug – 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 if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altLang="zh-TW" sz="2798" i="1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i="1" spc="-7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rk</a:t>
            </a:r>
            <a:r>
              <a:rPr lang="en-US" altLang="zh-TW" sz="2798" i="1" spc="-222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185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7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ca</a:t>
            </a:r>
            <a:r>
              <a:rPr lang="en-US" altLang="zh-TW" sz="2798" spc="-32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to know what order the compiler will impos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pPr marL="169764" indent="-169764">
              <a:lnSpc>
                <a:spcPct val="8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“But what is you point?”</a:t>
            </a:r>
          </a:p>
          <a:p>
            <a:pPr marL="169764" indent="-169764">
              <a:lnSpc>
                <a:spcPct val="8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</a:t>
            </a:r>
            <a:r>
              <a:rPr lang="en-US" altLang="zh-TW" sz="2798" spc="-5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TW" sz="2798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1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22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b="1" spc="-46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They </a:t>
            </a:r>
            <a:b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unordered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 if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guess the order 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which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items d</a:t>
            </a:r>
            <a:r>
              <a:rPr lang="en-US" altLang="zh-TW" sz="2798" spc="-2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8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798" spc="-1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</a:t>
            </a:r>
            <a:r>
              <a:rPr lang="en-US" altLang="zh-TW" sz="2798" spc="-222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1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169764" indent="-169764">
              <a:lnSpc>
                <a:spcPct val="8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“How would I guess?”</a:t>
            </a:r>
          </a:p>
          <a:p>
            <a:pPr marL="169764" indent="-169764">
              <a:lnSpc>
                <a:spcPct val="8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“Well, consider this…”</a:t>
            </a: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47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2129"/>
            <a:ext cx="3970039" cy="685374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1517" y="2129"/>
            <a:ext cx="3899728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“See? The items 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b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spc="-46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798" spc="-9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lang="en-US" altLang="zh-TW" sz="2798" spc="-46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 in t</a:t>
            </a:r>
            <a:r>
              <a:rPr lang="en-US" altLang="zh-TW" sz="2798" spc="-13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created them.”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“Yes.”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“So a student asked me: 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‘How can I add a new </a:t>
            </a:r>
            <a:b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 at the beginning </a:t>
            </a:r>
            <a:b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i="1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the</a:t>
            </a:r>
            <a:r>
              <a:rPr lang="en-US" altLang="zh-TW" sz="222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set? </a:t>
            </a:r>
            <a:r>
              <a:rPr lang="en-US" altLang="zh-TW" sz="2798" i="1" spc="-46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i="1" spc="-74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I add 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element, it al</a:t>
            </a:r>
            <a:r>
              <a:rPr lang="en-US" altLang="zh-TW" sz="2798" i="1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i="1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sz="2798" i="1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lang="en-US" altLang="zh-TW" sz="2798" i="1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to t</a:t>
            </a:r>
            <a:r>
              <a:rPr lang="en-US" altLang="zh-TW" sz="2798" i="1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798" i="1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i="1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798" i="1" spc="-46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’’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spc="-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see.</a:t>
            </a:r>
            <a:r>
              <a:rPr lang="en-US" altLang="zh-TW" spc="-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6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400" spc="-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</a:t>
            </a:r>
            <a:r>
              <a:rPr lang="en-US" altLang="zh-TW" sz="2798" spc="-4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</a:t>
            </a:r>
            <a:r>
              <a:rPr lang="en-US" altLang="zh-TW" sz="2798" spc="-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798" spc="-2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</a:t>
            </a:r>
            <a:r>
              <a:rPr lang="en-US" altLang="zh-TW" sz="2798" spc="-12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798" spc="-2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sense because </a:t>
            </a:r>
            <a:r>
              <a:rPr lang="en-US" altLang="zh-TW" sz="2798" spc="-83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r>
              <a:rPr lang="en-US" altLang="zh-TW" sz="2798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5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798" spc="-37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2798" spc="-11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spc="-83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</a:t>
            </a:r>
            <a:r>
              <a:rPr lang="en-US" altLang="zh-TW" sz="2798" spc="-65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altLang="zh-TW" sz="2798" spc="-83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TW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regar</a:t>
            </a:r>
            <a:r>
              <a:rPr lang="en-US" altLang="zh-TW" sz="2798" spc="-3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</a:t>
            </a:r>
            <a:r>
              <a:rPr lang="en-US" altLang="zh-TW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spc="-3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</a:t>
            </a: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in which they print </a:t>
            </a:r>
            <a:r>
              <a:rPr lang="en-US" altLang="zh-TW" sz="2798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seems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12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2798" spc="-16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12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798" spc="-8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2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16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</a:t>
            </a:r>
            <a:r>
              <a:rPr lang="en-US" altLang="zh-TW" sz="2798" spc="-12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spc="-12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25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 spc="-1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看起</a:t>
            </a:r>
            <a:r>
              <a:rPr lang="zh-TW" altLang="en-US" sz="2400" spc="-14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來</a:t>
            </a:r>
            <a:r>
              <a:rPr lang="zh-TW" altLang="en-US" sz="2400" spc="-1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可預測</a:t>
            </a:r>
            <a:r>
              <a:rPr lang="en-US" altLang="zh-TW" sz="2798" spc="-22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798" spc="-42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spc="-22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’’</a:t>
            </a:r>
            <a:endParaRPr lang="en-US" altLang="zh-TW" sz="2798" spc="-12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91180" y="489"/>
            <a:ext cx="5738609" cy="3501287"/>
          </a:xfrm>
          <a:prstGeom prst="rect">
            <a:avLst/>
          </a:prstGeom>
          <a:solidFill>
            <a:srgbClr val="C5E0B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&gt;&gt;&gt; S={1,2,3,4}</a:t>
            </a: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&gt;&gt;&gt; print (S)</a:t>
            </a: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{1, 2, 3, 4}</a:t>
            </a: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&gt;&gt;&gt; S|={5}</a:t>
            </a: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798" dirty="0">
                <a:solidFill>
                  <a:prstClr val="black"/>
                </a:solidFill>
                <a:latin typeface="Lucida Console" panose="020B0609040504020204" pitchFamily="49" charset="0"/>
              </a:rPr>
              <a:t>print </a:t>
            </a:r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(S)</a:t>
            </a:r>
            <a:endParaRPr lang="en-US" altLang="zh-TW" sz="2798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{1, 2, 3, 4, 5}</a:t>
            </a: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798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82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2129"/>
            <a:ext cx="3970039" cy="685374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1517" y="2129"/>
            <a:ext cx="3899728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“Correct. And 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that’s w</a:t>
            </a:r>
            <a:r>
              <a:rPr lang="en-US" altLang="zh-TW" sz="2798" spc="-93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ere is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-93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ndexing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for 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sets.”</a:t>
            </a:r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“Can you explain?”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Lists </a:t>
            </a:r>
            <a:r>
              <a:rPr lang="en-US" altLang="zh-TW" sz="2798" spc="-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798" spc="-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altLang="zh-TW" sz="2798" i="1" spc="-2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TW" sz="2798" spc="-2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sz="2798" spc="-2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spc="-8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</a:t>
            </a:r>
            <a:r>
              <a:rPr lang="en-US" altLang="zh-TW" sz="2798" spc="-6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ere</a:t>
            </a:r>
            <a:r>
              <a:rPr lang="en-US" altLang="zh-TW" sz="2798" spc="-13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798" spc="-8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spc="-8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8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zh-TW" sz="2400" spc="-8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8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1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r>
              <a:rPr lang="en-US" altLang="zh-TW" sz="2798" spc="-8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400" spc="-8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8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</a:t>
            </a:r>
            <a:r>
              <a:rPr lang="en-US" altLang="zh-TW" sz="2798" spc="-11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8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zh-TW" sz="2798" spc="-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2798" spc="-93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zh-TW" sz="2798" spc="-93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spc="-3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 </a:t>
            </a:r>
            <a:r>
              <a:rPr lang="en-US" altLang="zh-TW" sz="2798" spc="-3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798" spc="-18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es. </a:t>
            </a:r>
            <a:r>
              <a:rPr lang="en-US" altLang="zh-TW" sz="2798" spc="-18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 </a:t>
            </a:r>
            <a:r>
              <a:rPr lang="en-US" altLang="zh-TW" sz="2798" spc="-46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 an </a:t>
            </a:r>
            <a:r>
              <a:rPr lang="en-US" altLang="zh-TW" sz="2798" spc="-139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at a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spc="1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798" spc="-102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TW" sz="2798" spc="-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zh-TW" sz="2798" spc="-74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798" spc="-4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altLang="zh-TW" sz="2798" spc="-11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798" spc="-13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11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altLang="zh-TW" sz="2798" spc="-14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</a:t>
            </a:r>
            <a:r>
              <a:rPr lang="en-US" altLang="zh-TW" sz="2798" spc="-18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spc="-46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spc="-18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798" spc="-27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“Correct. But le</a:t>
            </a:r>
            <a:r>
              <a:rPr lang="en-US" altLang="zh-TW" sz="2798" spc="-23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try this agai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185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59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altLang="zh-TW" sz="2798" spc="-185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TW" sz="2798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 see. No </a:t>
            </a: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provided because the concept </a:t>
            </a: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illogical. </a:t>
            </a:r>
            <a:b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</a:t>
            </a:r>
            <a:r>
              <a:rPr lang="en-US" altLang="zh-TW" sz="2798" spc="-24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18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no</a:t>
            </a:r>
            <a:r>
              <a:rPr lang="en-US" altLang="zh-TW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altLang="zh-TW" sz="2798" baseline="300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4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</a:t>
            </a:r>
            <a:r>
              <a:rPr lang="en-US" altLang="zh-TW" sz="2798" spc="-3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because</a:t>
            </a:r>
            <a:r>
              <a:rPr lang="en-US" altLang="zh-TW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798" spc="-5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spc="-24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spc="-18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6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zh-TW" sz="2400" spc="-6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spc="-6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</a:t>
            </a:r>
            <a:r>
              <a:rPr lang="en-US" altLang="zh-TW" sz="2798" spc="-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0039" y="4663"/>
            <a:ext cx="5759749" cy="3036751"/>
          </a:xfrm>
          <a:prstGeom prst="rect">
            <a:avLst/>
          </a:prstGeom>
          <a:solidFill>
            <a:srgbClr val="EDFC7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798" dirty="0">
                <a:solidFill>
                  <a:prstClr val="black"/>
                </a:solidFill>
                <a:latin typeface="Lucida Console" panose="020B0609040504020204" pitchFamily="49" charset="0"/>
              </a:rPr>
              <a:t>&gt;&gt;&gt; L = [1,2,3,4]</a:t>
            </a:r>
          </a:p>
          <a:p>
            <a:r>
              <a:rPr lang="en-US" altLang="zh-TW" sz="2798" dirty="0">
                <a:solidFill>
                  <a:prstClr val="black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print(L</a:t>
            </a:r>
            <a:r>
              <a:rPr lang="en-US" altLang="zh-TW" sz="2798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US" altLang="zh-TW" sz="2798" dirty="0">
                <a:solidFill>
                  <a:prstClr val="black"/>
                </a:solidFill>
                <a:latin typeface="Lucida Console" panose="020B0609040504020204" pitchFamily="49" charset="0"/>
              </a:rPr>
              <a:t>[1, 2, 3, 4]</a:t>
            </a:r>
          </a:p>
          <a:p>
            <a:r>
              <a:rPr lang="en-US" altLang="zh-TW" sz="2798" dirty="0">
                <a:solidFill>
                  <a:prstClr val="black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L[2] = 'X'</a:t>
            </a:r>
            <a:endParaRPr lang="en-US" altLang="zh-TW" sz="2798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altLang="zh-TW" sz="2798" dirty="0">
                <a:solidFill>
                  <a:prstClr val="black"/>
                </a:solidFill>
                <a:latin typeface="Lucida Console" panose="020B0609040504020204" pitchFamily="49" charset="0"/>
              </a:rPr>
              <a:t>&gt;&gt;&gt; print (L)</a:t>
            </a:r>
          </a:p>
          <a:p>
            <a:r>
              <a:rPr lang="en-US" altLang="zh-TW" sz="2798" dirty="0">
                <a:solidFill>
                  <a:prstClr val="black"/>
                </a:solidFill>
                <a:latin typeface="Lucida Console" panose="020B0609040504020204" pitchFamily="49" charset="0"/>
              </a:rPr>
              <a:t>[1, 2</a:t>
            </a:r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798" dirty="0">
                <a:solidFill>
                  <a:prstClr val="black"/>
                </a:solidFill>
                <a:latin typeface="Lucida Console" panose="020B0609040504020204" pitchFamily="49" charset="0"/>
              </a:rPr>
              <a:t>'X', 4]</a:t>
            </a:r>
          </a:p>
          <a:p>
            <a:r>
              <a:rPr lang="en-US" altLang="zh-TW" sz="2798" dirty="0">
                <a:solidFill>
                  <a:prstClr val="black"/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0039" y="3041415"/>
            <a:ext cx="5759749" cy="3803581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&gt;&gt;&gt; S={1,2,3,4}</a:t>
            </a: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&gt;&gt;&gt; print(S)</a:t>
            </a: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{1, 2, 3, 4}</a:t>
            </a: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&gt;&gt;&gt; S[2]='X'</a:t>
            </a:r>
            <a:endParaRPr lang="en-US" altLang="zh-TW" sz="2798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altLang="zh-TW" sz="2798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altLang="zh-TW" sz="2798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r>
              <a:rPr lang="en-US" altLang="zh-TW" sz="2798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altLang="zh-TW" sz="2798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altLang="zh-TW" sz="2798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&gt;",line 1, in &lt;module&gt;</a:t>
            </a:r>
          </a:p>
          <a:p>
            <a:r>
              <a:rPr lang="en-US" altLang="zh-TW" sz="2798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altLang="zh-TW" sz="2798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'set' object does not support item assignment</a:t>
            </a:r>
            <a:endParaRPr lang="en-US" altLang="zh-TW" sz="2798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798" dirty="0">
                <a:solidFill>
                  <a:prstClr val="black"/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9" name="Right Arrow 8"/>
          <p:cNvSpPr/>
          <p:nvPr/>
        </p:nvSpPr>
        <p:spPr>
          <a:xfrm rot="20510829">
            <a:off x="1498139" y="1970521"/>
            <a:ext cx="3492433" cy="285095"/>
          </a:xfrm>
          <a:prstGeom prst="rightArrow">
            <a:avLst/>
          </a:prstGeom>
          <a:solidFill>
            <a:srgbClr val="EDFC7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66">
              <a:solidFill>
                <a:prstClr val="white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 rot="2206753">
            <a:off x="2507220" y="4800657"/>
            <a:ext cx="2343340" cy="285095"/>
          </a:xfrm>
          <a:prstGeom prst="rightArrow">
            <a:avLst/>
          </a:prstGeom>
          <a:solidFill>
            <a:srgbClr val="FFCC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66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67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9" grpId="1" animBg="1"/>
      <p:bldP spid="10" grpId="0" animBg="1"/>
      <p:bldP spid="10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391474" y="1161143"/>
            <a:ext cx="9214642" cy="501582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132" dirty="0"/>
              <a:t>Python has six standard data types: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Number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String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List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Tuple</a:t>
            </a:r>
            <a:endParaRPr lang="en-US" altLang="en-US" sz="2800" dirty="0">
              <a:solidFill>
                <a:srgbClr val="A6A6A6"/>
              </a:solidFill>
              <a:latin typeface="Elephant" panose="02020904090505020303" pitchFamily="18" charset="0"/>
            </a:endParaRP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Set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Dictionary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-1" y="53699"/>
            <a:ext cx="9729789" cy="1010254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Data Types:</a:t>
            </a:r>
          </a:p>
        </p:txBody>
      </p:sp>
    </p:spTree>
    <p:extLst>
      <p:ext uri="{BB962C8B-B14F-4D97-AF65-F5344CB8AC3E}">
        <p14:creationId xmlns:p14="http://schemas.microsoft.com/office/powerpoint/2010/main" val="420655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294" y="1028700"/>
            <a:ext cx="9640888" cy="5829300"/>
          </a:xfrm>
        </p:spPr>
        <p:txBody>
          <a:bodyPr>
            <a:noAutofit/>
          </a:bodyPr>
          <a:lstStyle/>
          <a:p>
            <a:pPr marL="285750" indent="-230188"/>
            <a:r>
              <a:rPr lang="en-US" altLang="en-US" sz="3600" dirty="0">
                <a:solidFill>
                  <a:srgbClr val="FF0000"/>
                </a:solidFill>
              </a:rPr>
              <a:t>Dictionaries are </a:t>
            </a:r>
            <a:r>
              <a:rPr lang="en-US" altLang="en-US" sz="3600" b="1" dirty="0"/>
              <a:t>mutable</a:t>
            </a:r>
            <a:r>
              <a:rPr lang="en-US" altLang="en-US" sz="3600" dirty="0">
                <a:solidFill>
                  <a:srgbClr val="FF0000"/>
                </a:solidFill>
              </a:rPr>
              <a:t>.</a:t>
            </a:r>
          </a:p>
          <a:p>
            <a:pPr marL="596646" lvl="1" indent="-231775">
              <a:spcBef>
                <a:spcPts val="0"/>
              </a:spcBef>
            </a:pPr>
            <a:r>
              <a:rPr lang="en-US" altLang="en-US" sz="3281" dirty="0">
                <a:solidFill>
                  <a:srgbClr val="FF0000"/>
                </a:solidFill>
              </a:rPr>
              <a:t>Individual items can be changed. </a:t>
            </a:r>
            <a:endParaRPr lang="en-US" altLang="en-US" sz="2642" dirty="0">
              <a:solidFill>
                <a:srgbClr val="FF0000"/>
              </a:solidFill>
            </a:endParaRPr>
          </a:p>
          <a:p>
            <a:pPr marL="285750" indent="-230188">
              <a:spcBef>
                <a:spcPts val="1800"/>
              </a:spcBef>
            </a:pPr>
            <a:r>
              <a:rPr lang="en-US" altLang="en-US" sz="3600" spc="-10" dirty="0">
                <a:solidFill>
                  <a:srgbClr val="FF0000"/>
                </a:solidFill>
              </a:rPr>
              <a:t>Their elements are </a:t>
            </a:r>
            <a:r>
              <a:rPr lang="en-US" altLang="en-US" sz="3600" spc="-10" dirty="0">
                <a:solidFill>
                  <a:srgbClr val="7030A0"/>
                </a:solidFill>
              </a:rPr>
              <a:t>accessed</a:t>
            </a:r>
            <a:r>
              <a:rPr lang="en-US" altLang="en-US" sz="3600" spc="-10" dirty="0">
                <a:solidFill>
                  <a:srgbClr val="FF0000"/>
                </a:solidFill>
              </a:rPr>
              <a:t>, </a:t>
            </a:r>
            <a:r>
              <a:rPr lang="en-US" altLang="en-US" sz="3600" spc="-10" dirty="0">
                <a:solidFill>
                  <a:srgbClr val="7030A0"/>
                </a:solidFill>
              </a:rPr>
              <a:t>added</a:t>
            </a:r>
            <a:r>
              <a:rPr lang="en-US" altLang="en-US" sz="3600" spc="-10" dirty="0">
                <a:solidFill>
                  <a:srgbClr val="FF0000"/>
                </a:solidFill>
              </a:rPr>
              <a:t>, </a:t>
            </a:r>
            <a:r>
              <a:rPr lang="en-US" altLang="en-US" sz="3600" spc="-10" dirty="0">
                <a:solidFill>
                  <a:srgbClr val="7030A0"/>
                </a:solidFill>
              </a:rPr>
              <a:t>assigned</a:t>
            </a:r>
            <a:r>
              <a:rPr lang="en-US" altLang="en-US" sz="3600" spc="-10" dirty="0">
                <a:solidFill>
                  <a:srgbClr val="FF0000"/>
                </a:solidFill>
              </a:rPr>
              <a:t>, &amp; </a:t>
            </a:r>
            <a:r>
              <a:rPr lang="en-US" altLang="en-US" sz="3600" spc="-10" dirty="0">
                <a:solidFill>
                  <a:srgbClr val="7030A0"/>
                </a:solidFill>
              </a:rPr>
              <a:t>deleted</a:t>
            </a:r>
            <a:r>
              <a:rPr lang="en-US" altLang="en-US" sz="3600" spc="-10" dirty="0">
                <a:solidFill>
                  <a:srgbClr val="FF0000"/>
                </a:solidFill>
              </a:rPr>
              <a:t> by using a </a:t>
            </a:r>
            <a:r>
              <a:rPr lang="en-US" altLang="en-US" sz="3600" i="1" spc="-10" dirty="0">
                <a:solidFill>
                  <a:srgbClr val="FF0000"/>
                </a:solidFill>
              </a:rPr>
              <a:t>key</a:t>
            </a:r>
            <a:r>
              <a:rPr lang="en-US" altLang="en-US" sz="3600" spc="-10" dirty="0">
                <a:solidFill>
                  <a:srgbClr val="FF0000"/>
                </a:solidFill>
              </a:rPr>
              <a:t> inside square braces, </a:t>
            </a:r>
            <a:r>
              <a:rPr lang="en-US" altLang="en-US" sz="3600" b="1" spc="-10" dirty="0">
                <a:solidFill>
                  <a:srgbClr val="00B0F0"/>
                </a:solidFill>
              </a:rPr>
              <a:t>[ ]</a:t>
            </a:r>
            <a:r>
              <a:rPr lang="en-US" altLang="en-US" sz="3600" spc="-10" dirty="0">
                <a:solidFill>
                  <a:srgbClr val="FF0000"/>
                </a:solidFill>
              </a:rPr>
              <a:t>.</a:t>
            </a:r>
          </a:p>
          <a:p>
            <a:pPr marL="596646" lvl="1" indent="-231775">
              <a:spcBef>
                <a:spcPts val="0"/>
              </a:spcBef>
            </a:pPr>
            <a:r>
              <a:rPr lang="en-US" altLang="en-US" sz="3281" dirty="0">
                <a:solidFill>
                  <a:srgbClr val="FF0000"/>
                </a:solidFill>
              </a:rPr>
              <a:t>You index with the</a:t>
            </a:r>
            <a:r>
              <a:rPr lang="en-US" altLang="en-US" sz="3281" b="1" i="1" dirty="0">
                <a:solidFill>
                  <a:srgbClr val="7030A0"/>
                </a:solidFill>
              </a:rPr>
              <a:t> </a:t>
            </a:r>
            <a:r>
              <a:rPr lang="en-US" altLang="en-US" sz="3281" b="1" i="1" dirty="0">
                <a:solidFill>
                  <a:srgbClr val="00B050"/>
                </a:solidFill>
              </a:rPr>
              <a:t>key</a:t>
            </a:r>
            <a:r>
              <a:rPr lang="en-US" altLang="en-US" sz="3281" b="1" i="1" dirty="0">
                <a:solidFill>
                  <a:srgbClr val="7030A0"/>
                </a:solidFill>
              </a:rPr>
              <a:t> </a:t>
            </a:r>
            <a:r>
              <a:rPr lang="en-US" altLang="en-US" sz="3281" dirty="0">
                <a:solidFill>
                  <a:srgbClr val="FF0000"/>
                </a:solidFill>
              </a:rPr>
              <a:t>to get the </a:t>
            </a:r>
            <a:r>
              <a:rPr lang="en-US" altLang="en-US" sz="3281" b="1" i="1" dirty="0">
                <a:solidFill>
                  <a:srgbClr val="FF1493"/>
                </a:solidFill>
              </a:rPr>
              <a:t>value</a:t>
            </a:r>
            <a:r>
              <a:rPr lang="en-US" altLang="en-US" sz="3281" dirty="0">
                <a:solidFill>
                  <a:srgbClr val="FF0000"/>
                </a:solidFill>
              </a:rPr>
              <a:t>.</a:t>
            </a:r>
            <a:endParaRPr lang="en-US" altLang="en-US" sz="3600" dirty="0">
              <a:solidFill>
                <a:srgbClr val="FF0000"/>
              </a:solidFill>
            </a:endParaRPr>
          </a:p>
          <a:p>
            <a:pPr marL="285750" indent="-230188">
              <a:spcBef>
                <a:spcPts val="1800"/>
              </a:spcBef>
            </a:pPr>
            <a:r>
              <a:rPr lang="en-US" altLang="en-US" sz="3600" dirty="0">
                <a:solidFill>
                  <a:srgbClr val="FF0000"/>
                </a:solidFill>
              </a:rPr>
              <a:t>Dictionaries are</a:t>
            </a:r>
            <a:r>
              <a:rPr lang="en-US" altLang="en-US" sz="3600" spc="70" dirty="0">
                <a:solidFill>
                  <a:srgbClr val="FF0000"/>
                </a:solidFill>
              </a:rPr>
              <a:t> </a:t>
            </a:r>
            <a:r>
              <a:rPr lang="en-US" altLang="en-US" sz="3600" dirty="0">
                <a:solidFill>
                  <a:srgbClr val="7030A0"/>
                </a:solidFill>
              </a:rPr>
              <a:t>defined</a:t>
            </a:r>
            <a:r>
              <a:rPr lang="en-US" altLang="en-US" sz="3600" spc="70" dirty="0">
                <a:solidFill>
                  <a:srgbClr val="FF0000"/>
                </a:solidFill>
              </a:rPr>
              <a:t> </a:t>
            </a:r>
            <a:r>
              <a:rPr lang="en-US" altLang="en-US" sz="3600" dirty="0">
                <a:solidFill>
                  <a:srgbClr val="FF0000"/>
                </a:solidFill>
              </a:rPr>
              <a:t>by using curly braces, </a:t>
            </a:r>
            <a:r>
              <a:rPr lang="en-US" altLang="en-US" sz="3600" b="1" dirty="0">
                <a:solidFill>
                  <a:srgbClr val="00B0F0"/>
                </a:solidFill>
              </a:rPr>
              <a:t>{</a:t>
            </a:r>
            <a:r>
              <a:rPr lang="en-US" altLang="en-US" sz="3600" dirty="0">
                <a:solidFill>
                  <a:srgbClr val="FF0000"/>
                </a:solidFill>
              </a:rPr>
              <a:t> </a:t>
            </a:r>
            <a:r>
              <a:rPr lang="en-US" altLang="en-US" sz="3600" b="1" dirty="0">
                <a:solidFill>
                  <a:srgbClr val="00B0F0"/>
                </a:solidFill>
              </a:rPr>
              <a:t>}</a:t>
            </a:r>
            <a:r>
              <a:rPr lang="en-US" altLang="en-US" sz="36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4295" y="4"/>
            <a:ext cx="9601200" cy="1142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  Python Dictionaries</a:t>
            </a:r>
          </a:p>
        </p:txBody>
      </p:sp>
    </p:spTree>
    <p:extLst>
      <p:ext uri="{BB962C8B-B14F-4D97-AF65-F5344CB8AC3E}">
        <p14:creationId xmlns:p14="http://schemas.microsoft.com/office/powerpoint/2010/main" val="164461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294" y="1028700"/>
            <a:ext cx="9640888" cy="5829300"/>
          </a:xfrm>
        </p:spPr>
        <p:txBody>
          <a:bodyPr>
            <a:noAutofit/>
          </a:bodyPr>
          <a:lstStyle/>
          <a:p>
            <a:pPr marL="285750" indent="-230188"/>
            <a:r>
              <a:rPr lang="en-US" altLang="en-US" sz="3600" dirty="0">
                <a:solidFill>
                  <a:schemeClr val="bg1">
                    <a:lumMod val="85000"/>
                  </a:schemeClr>
                </a:solidFill>
              </a:rPr>
              <a:t>Dictionaries are </a:t>
            </a:r>
            <a:r>
              <a:rPr lang="en-US" altLang="en-US" sz="3600" b="1" dirty="0">
                <a:solidFill>
                  <a:schemeClr val="bg1">
                    <a:lumMod val="85000"/>
                  </a:schemeClr>
                </a:solidFill>
              </a:rPr>
              <a:t>mutable</a:t>
            </a:r>
            <a:r>
              <a:rPr lang="en-US" altLang="en-US" sz="36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596646" lvl="1" indent="-231775">
              <a:spcBef>
                <a:spcPts val="0"/>
              </a:spcBef>
            </a:pPr>
            <a:r>
              <a:rPr lang="en-US" altLang="en-US" sz="3281" dirty="0">
                <a:solidFill>
                  <a:schemeClr val="bg1">
                    <a:lumMod val="85000"/>
                  </a:schemeClr>
                </a:solidFill>
              </a:rPr>
              <a:t>Individual items can be changed. </a:t>
            </a:r>
            <a:endParaRPr lang="en-US" altLang="en-US" sz="2642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30188">
              <a:spcBef>
                <a:spcPts val="1800"/>
              </a:spcBef>
            </a:pPr>
            <a:r>
              <a:rPr lang="en-US" altLang="en-US" sz="3600" spc="-10" dirty="0">
                <a:solidFill>
                  <a:schemeClr val="bg1">
                    <a:lumMod val="85000"/>
                  </a:schemeClr>
                </a:solidFill>
              </a:rPr>
              <a:t>Their elements are accessed, added, assigned, &amp; deleted by using a </a:t>
            </a:r>
            <a:r>
              <a:rPr lang="en-US" altLang="en-US" sz="3600" i="1" spc="-10" dirty="0">
                <a:solidFill>
                  <a:schemeClr val="bg1">
                    <a:lumMod val="85000"/>
                  </a:schemeClr>
                </a:solidFill>
              </a:rPr>
              <a:t>key</a:t>
            </a:r>
            <a:r>
              <a:rPr lang="en-US" altLang="en-US" sz="3600" spc="-10" dirty="0">
                <a:solidFill>
                  <a:schemeClr val="bg1">
                    <a:lumMod val="85000"/>
                  </a:schemeClr>
                </a:solidFill>
              </a:rPr>
              <a:t> inside square braces, </a:t>
            </a:r>
            <a:r>
              <a:rPr lang="en-US" altLang="en-US" sz="3600" b="1" spc="-10" dirty="0">
                <a:solidFill>
                  <a:schemeClr val="bg1">
                    <a:lumMod val="85000"/>
                  </a:schemeClr>
                </a:solidFill>
              </a:rPr>
              <a:t>[ ]</a:t>
            </a:r>
            <a:r>
              <a:rPr lang="en-US" altLang="en-US" sz="3600" spc="-1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596646" lvl="1" indent="-231775">
              <a:spcBef>
                <a:spcPts val="0"/>
              </a:spcBef>
            </a:pPr>
            <a:r>
              <a:rPr lang="en-US" altLang="en-US" sz="3281" dirty="0">
                <a:solidFill>
                  <a:schemeClr val="bg1">
                    <a:lumMod val="85000"/>
                  </a:schemeClr>
                </a:solidFill>
              </a:rPr>
              <a:t>You index with the</a:t>
            </a:r>
            <a:r>
              <a:rPr lang="en-US" altLang="en-US" sz="3281" b="1" i="1" dirty="0">
                <a:solidFill>
                  <a:schemeClr val="bg1">
                    <a:lumMod val="85000"/>
                  </a:schemeClr>
                </a:solidFill>
              </a:rPr>
              <a:t> key </a:t>
            </a:r>
            <a:r>
              <a:rPr lang="en-US" altLang="en-US" sz="3281" dirty="0">
                <a:solidFill>
                  <a:schemeClr val="bg1">
                    <a:lumMod val="85000"/>
                  </a:schemeClr>
                </a:solidFill>
              </a:rPr>
              <a:t>to get the </a:t>
            </a:r>
            <a:r>
              <a:rPr lang="en-US" altLang="en-US" sz="3281" b="1" i="1" dirty="0">
                <a:solidFill>
                  <a:schemeClr val="bg1">
                    <a:lumMod val="85000"/>
                  </a:schemeClr>
                </a:solidFill>
              </a:rPr>
              <a:t>value</a:t>
            </a:r>
            <a:r>
              <a:rPr lang="en-US" altLang="en-US" sz="3281" dirty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en-US" altLang="en-US" sz="3600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30188">
              <a:spcBef>
                <a:spcPts val="1800"/>
              </a:spcBef>
            </a:pPr>
            <a:r>
              <a:rPr lang="en-US" altLang="en-US" sz="3600" dirty="0"/>
              <a:t>Dictionaries are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600" b="1" dirty="0">
                <a:solidFill>
                  <a:srgbClr val="7030A0"/>
                </a:solidFill>
              </a:rPr>
              <a:t>defined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600" dirty="0"/>
              <a:t>by using curly braces, </a:t>
            </a:r>
            <a:r>
              <a:rPr lang="en-US" altLang="en-US" sz="3600" b="1" dirty="0">
                <a:solidFill>
                  <a:srgbClr val="00B0F0"/>
                </a:solidFill>
              </a:rPr>
              <a:t>{</a:t>
            </a:r>
            <a:r>
              <a:rPr lang="en-US" altLang="en-US" sz="3600" dirty="0">
                <a:solidFill>
                  <a:srgbClr val="FF0000"/>
                </a:solidFill>
              </a:rPr>
              <a:t> </a:t>
            </a:r>
            <a:r>
              <a:rPr lang="en-US" altLang="en-US" sz="3600" b="1" dirty="0">
                <a:solidFill>
                  <a:srgbClr val="00B0F0"/>
                </a:solidFill>
              </a:rPr>
              <a:t>}</a:t>
            </a:r>
            <a:r>
              <a:rPr lang="en-US" altLang="en-US" sz="3600" dirty="0">
                <a:solidFill>
                  <a:srgbClr val="FF0000"/>
                </a:solidFill>
              </a:rPr>
              <a:t>.</a:t>
            </a:r>
          </a:p>
          <a:p>
            <a:pPr marL="596646" lvl="1" indent="-231775"/>
            <a:r>
              <a:rPr lang="en-US" altLang="en-US" sz="3200" spc="-10" dirty="0">
                <a:solidFill>
                  <a:srgbClr val="FF0000"/>
                </a:solidFill>
              </a:rPr>
              <a:t>Sets also use </a:t>
            </a:r>
            <a:r>
              <a:rPr lang="en-US" altLang="en-US" sz="3200" spc="-10" dirty="0">
                <a:solidFill>
                  <a:srgbClr val="00B0F0"/>
                </a:solidFill>
              </a:rPr>
              <a:t>{</a:t>
            </a:r>
            <a:r>
              <a:rPr lang="en-US" altLang="en-US" sz="3200" spc="-10" dirty="0">
                <a:solidFill>
                  <a:srgbClr val="FF0000"/>
                </a:solidFill>
              </a:rPr>
              <a:t> </a:t>
            </a:r>
            <a:r>
              <a:rPr lang="en-US" altLang="en-US" sz="3200" spc="-10" dirty="0">
                <a:solidFill>
                  <a:srgbClr val="00B0F0"/>
                </a:solidFill>
              </a:rPr>
              <a:t>}</a:t>
            </a:r>
            <a:r>
              <a:rPr lang="en-US" altLang="en-US" sz="3200" spc="-10" dirty="0">
                <a:solidFill>
                  <a:srgbClr val="FF0000"/>
                </a:solidFill>
              </a:rPr>
              <a:t>, but these 2 types are distinguishable </a:t>
            </a:r>
            <a:r>
              <a:rPr lang="en-US" altLang="en-US" sz="3200" dirty="0">
                <a:solidFill>
                  <a:srgbClr val="FF0000"/>
                </a:solidFill>
              </a:rPr>
              <a:t>(</a:t>
            </a:r>
            <a:r>
              <a:rPr lang="zh-TW" altLang="en-US" sz="2800" dirty="0">
                <a:solidFill>
                  <a:srgbClr val="FF0000"/>
                </a:solidFill>
              </a:rPr>
              <a:t>消除歧義</a:t>
            </a:r>
            <a:r>
              <a:rPr lang="en-US" altLang="en-US" sz="3200" dirty="0">
                <a:solidFill>
                  <a:srgbClr val="FF0000"/>
                </a:solidFill>
              </a:rPr>
              <a:t>) because dictionaries have </a:t>
            </a:r>
            <a:r>
              <a:rPr lang="en-US" altLang="en-US" sz="3200" dirty="0">
                <a:solidFill>
                  <a:schemeClr val="accent2">
                    <a:lumMod val="75000"/>
                  </a:schemeClr>
                </a:solidFill>
              </a:rPr>
              <a:t>colons</a:t>
            </a:r>
            <a:r>
              <a:rPr lang="en-US" altLang="en-US" sz="3200" dirty="0">
                <a:solidFill>
                  <a:srgbClr val="FF0000"/>
                </a:solidFill>
              </a:rPr>
              <a:t>, </a:t>
            </a:r>
            <a:r>
              <a:rPr lang="en-US" altLang="en-US" sz="3200" b="1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altLang="en-US" sz="3200" dirty="0">
                <a:solidFill>
                  <a:srgbClr val="FF0000"/>
                </a:solidFill>
              </a:rPr>
              <a:t>, inside of their curly braces.</a:t>
            </a:r>
          </a:p>
          <a:p>
            <a:pPr marL="961516" lvl="2" indent="-231775">
              <a:spcBef>
                <a:spcPts val="0"/>
              </a:spcBef>
            </a:pPr>
            <a:r>
              <a:rPr lang="en-US" altLang="en-US" sz="3200" dirty="0">
                <a:solidFill>
                  <a:srgbClr val="FF0000"/>
                </a:solidFill>
              </a:rPr>
              <a:t>The </a:t>
            </a:r>
            <a:r>
              <a:rPr lang="en-US" altLang="en-US" sz="3200" b="1" i="1" dirty="0">
                <a:solidFill>
                  <a:schemeClr val="accent2">
                    <a:lumMod val="75000"/>
                  </a:schemeClr>
                </a:solidFill>
              </a:rPr>
              <a:t>colons</a:t>
            </a:r>
            <a:r>
              <a:rPr lang="en-US" altLang="en-US" sz="3200" dirty="0">
                <a:solidFill>
                  <a:srgbClr val="FF0000"/>
                </a:solidFill>
              </a:rPr>
              <a:t> separate the</a:t>
            </a:r>
            <a:r>
              <a:rPr lang="en-US" altLang="en-US" sz="3200" b="1" i="1" dirty="0">
                <a:solidFill>
                  <a:srgbClr val="7030A0"/>
                </a:solidFill>
              </a:rPr>
              <a:t> </a:t>
            </a:r>
            <a:r>
              <a:rPr lang="en-US" altLang="en-US" sz="3200" b="1" i="1" dirty="0">
                <a:solidFill>
                  <a:srgbClr val="00B050"/>
                </a:solidFill>
              </a:rPr>
              <a:t>keys</a:t>
            </a:r>
            <a:r>
              <a:rPr lang="en-US" altLang="en-US" sz="3200" b="1" i="1" dirty="0">
                <a:solidFill>
                  <a:srgbClr val="7030A0"/>
                </a:solidFill>
              </a:rPr>
              <a:t> </a:t>
            </a:r>
            <a:r>
              <a:rPr lang="en-US" altLang="en-US" sz="3200" dirty="0">
                <a:solidFill>
                  <a:srgbClr val="FF0000"/>
                </a:solidFill>
              </a:rPr>
              <a:t>from the </a:t>
            </a:r>
            <a:r>
              <a:rPr lang="en-US" altLang="en-US" sz="3200" b="1" i="1" dirty="0">
                <a:solidFill>
                  <a:srgbClr val="FF1493"/>
                </a:solidFill>
              </a:rPr>
              <a:t>values</a:t>
            </a:r>
            <a:r>
              <a:rPr lang="en-US" altLang="en-US" sz="3200" dirty="0">
                <a:solidFill>
                  <a:srgbClr val="FF0000"/>
                </a:solidFill>
              </a:rPr>
              <a:t>:</a:t>
            </a:r>
          </a:p>
          <a:p>
            <a:pPr marL="729741" lvl="2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8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800" dirty="0" err="1">
                <a:latin typeface="Lucida Sans Typewriter" panose="020B0509030504030204" pitchFamily="49" charset="0"/>
                <a:cs typeface="Courier New" pitchFamily="49" charset="0"/>
              </a:rPr>
              <a:t>dict</a:t>
            </a:r>
            <a:r>
              <a:rPr lang="en-US" altLang="zh-TW" sz="28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{</a:t>
            </a:r>
            <a:r>
              <a:rPr lang="en-US" altLang="zh-TW" sz="2800" i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'Key1'</a:t>
            </a:r>
            <a:r>
              <a:rPr lang="en-US" altLang="zh-TW" sz="2800" b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2800" i="1" dirty="0">
                <a:solidFill>
                  <a:srgbClr val="FF1493"/>
                </a:solidFill>
                <a:latin typeface="Lucida Sans Typewriter" panose="020B0509030504030204" pitchFamily="49" charset="0"/>
                <a:cs typeface="Courier New" pitchFamily="49" charset="0"/>
              </a:rPr>
              <a:t>'Val1'</a:t>
            </a:r>
            <a:r>
              <a:rPr lang="en-US" altLang="zh-TW" sz="280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800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800" i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2</a:t>
            </a:r>
            <a:r>
              <a:rPr lang="en-US" altLang="zh-TW" sz="2800" b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2800" i="1" dirty="0">
                <a:solidFill>
                  <a:srgbClr val="FF35A2"/>
                </a:solidFill>
                <a:latin typeface="Lucida Sans Typewriter" panose="020B0509030504030204" pitchFamily="49" charset="0"/>
                <a:cs typeface="Courier New" pitchFamily="49" charset="0"/>
              </a:rPr>
              <a:t>3</a:t>
            </a:r>
            <a:r>
              <a:rPr lang="en-US" altLang="zh-TW" sz="280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800" i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1000" i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800" i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altLang="zh-TW" sz="2800" b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2800" i="1" dirty="0">
                <a:solidFill>
                  <a:srgbClr val="FF1493"/>
                </a:solidFill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1000" i="1" dirty="0">
                <a:solidFill>
                  <a:srgbClr val="FF1493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800" i="1" dirty="0">
                <a:solidFill>
                  <a:srgbClr val="FF1493"/>
                </a:solidFill>
                <a:latin typeface="Lucida Sans Typewriter" panose="020B0509030504030204" pitchFamily="49" charset="0"/>
                <a:cs typeface="Courier New" pitchFamily="49" charset="0"/>
              </a:rPr>
              <a:t>]</a:t>
            </a:r>
            <a:r>
              <a:rPr lang="en-US" altLang="zh-TW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marL="729741" lvl="2" indent="0">
              <a:spcBef>
                <a:spcPts val="0"/>
              </a:spcBef>
              <a:buNone/>
            </a:pPr>
            <a:endParaRPr lang="en-US" altLang="en-US" sz="3600" dirty="0">
              <a:solidFill>
                <a:srgbClr val="FF00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4295" y="4"/>
            <a:ext cx="9601200" cy="1142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  Python Dictionaries</a:t>
            </a:r>
          </a:p>
        </p:txBody>
      </p:sp>
    </p:spTree>
    <p:extLst>
      <p:ext uri="{BB962C8B-B14F-4D97-AF65-F5344CB8AC3E}">
        <p14:creationId xmlns:p14="http://schemas.microsoft.com/office/powerpoint/2010/main" val="283319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294" y="1066800"/>
            <a:ext cx="9829800" cy="5791200"/>
          </a:xfrm>
        </p:spPr>
        <p:txBody>
          <a:bodyPr>
            <a:noAutofit/>
          </a:bodyPr>
          <a:lstStyle/>
          <a:p>
            <a:pPr marL="231775" indent="-231775">
              <a:lnSpc>
                <a:spcPct val="80000"/>
              </a:lnSpc>
            </a:pPr>
            <a:r>
              <a:rPr lang="en-US" altLang="en-US" sz="3600" dirty="0">
                <a:solidFill>
                  <a:srgbClr val="FF0000"/>
                </a:solidFill>
              </a:rPr>
              <a:t>Dict</a:t>
            </a:r>
            <a:r>
              <a:rPr lang="en-US" altLang="en-US" sz="3600" spc="-10" dirty="0">
                <a:solidFill>
                  <a:srgbClr val="FF0000"/>
                </a:solidFill>
              </a:rPr>
              <a:t>iona</a:t>
            </a:r>
            <a:r>
              <a:rPr lang="en-US" altLang="en-US" sz="3600" dirty="0">
                <a:solidFill>
                  <a:srgbClr val="FF0000"/>
                </a:solidFill>
              </a:rPr>
              <a:t>r</a:t>
            </a:r>
            <a:r>
              <a:rPr lang="en-US" altLang="en-US" sz="3600" spc="-10" dirty="0">
                <a:solidFill>
                  <a:srgbClr val="FF0000"/>
                </a:solidFill>
              </a:rPr>
              <a:t>ies use key/value pairs because </a:t>
            </a:r>
            <a:r>
              <a:rPr lang="en-US" altLang="en-US" sz="3600" dirty="0">
                <a:solidFill>
                  <a:srgbClr val="FF0000"/>
                </a:solidFill>
              </a:rPr>
              <a:t>t</a:t>
            </a:r>
            <a:r>
              <a:rPr lang="en-US" altLang="en-US" sz="3600" spc="-30" dirty="0">
                <a:solidFill>
                  <a:srgbClr val="FF0000"/>
                </a:solidFill>
              </a:rPr>
              <a:t>hey </a:t>
            </a:r>
            <a:r>
              <a:rPr lang="en-US" altLang="en-US" sz="3600" dirty="0">
                <a:solidFill>
                  <a:srgbClr val="FF0000"/>
                </a:solidFill>
              </a:rPr>
              <a:t>are </a:t>
            </a:r>
            <a:r>
              <a:rPr lang="en-US" altLang="en-US" sz="3600" b="1" dirty="0">
                <a:solidFill>
                  <a:srgbClr val="7030A0"/>
                </a:solidFill>
              </a:rPr>
              <a:t>hash tables</a:t>
            </a:r>
            <a:r>
              <a:rPr lang="en-US" altLang="en-US" sz="3600" dirty="0">
                <a:solidFill>
                  <a:srgbClr val="FF0000"/>
                </a:solidFill>
              </a:rPr>
              <a:t> </a:t>
            </a:r>
            <a:r>
              <a:rPr lang="en-US" altLang="en-US" sz="3200" dirty="0">
                <a:solidFill>
                  <a:srgbClr val="FF0000"/>
                </a:solidFill>
              </a:rPr>
              <a:t>(</a:t>
            </a:r>
            <a:r>
              <a:rPr lang="en-US" altLang="en-US" sz="3600" dirty="0">
                <a:solidFill>
                  <a:srgbClr val="FF0000"/>
                </a:solidFill>
              </a:rPr>
              <a:t>sometimes called </a:t>
            </a:r>
            <a:r>
              <a:rPr lang="en-US" altLang="en-US" sz="3600" i="1" dirty="0">
                <a:solidFill>
                  <a:srgbClr val="FF0000"/>
                </a:solidFill>
              </a:rPr>
              <a:t>associative ar</a:t>
            </a:r>
            <a:r>
              <a:rPr lang="en-US" altLang="en-US" sz="3600" i="1" spc="-40" dirty="0">
                <a:solidFill>
                  <a:srgbClr val="FF0000"/>
                </a:solidFill>
              </a:rPr>
              <a:t>ray</a:t>
            </a:r>
            <a:r>
              <a:rPr lang="en-US" altLang="en-US" sz="3600" i="1" spc="-100" dirty="0">
                <a:solidFill>
                  <a:srgbClr val="FF0000"/>
                </a:solidFill>
              </a:rPr>
              <a:t>s</a:t>
            </a:r>
            <a:r>
              <a:rPr lang="en-US" altLang="en-US" sz="3200" spc="-100" dirty="0" smtClean="0">
                <a:solidFill>
                  <a:srgbClr val="FF0000"/>
                </a:solidFill>
              </a:rPr>
              <a:t>)</a:t>
            </a:r>
            <a:r>
              <a:rPr lang="en-US" altLang="en-US" sz="3200" dirty="0" smtClean="0">
                <a:solidFill>
                  <a:srgbClr val="FF0000"/>
                </a:solidFill>
              </a:rPr>
              <a:t>.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 marL="231775" indent="-231775">
              <a:spcBef>
                <a:spcPts val="3200"/>
              </a:spcBef>
            </a:pPr>
            <a:r>
              <a:rPr lang="en-US" altLang="en-US" sz="3600" b="1" spc="-30" dirty="0">
                <a:solidFill>
                  <a:srgbClr val="FF0000"/>
                </a:solidFill>
              </a:rPr>
              <a:t>Values</a:t>
            </a:r>
            <a:r>
              <a:rPr lang="en-US" altLang="en-US" sz="3600" spc="-30" dirty="0">
                <a:solidFill>
                  <a:srgbClr val="FF0000"/>
                </a:solidFill>
              </a:rPr>
              <a:t> can be </a:t>
            </a:r>
            <a:r>
              <a:rPr lang="en-US" altLang="en-US" sz="3600" b="1" spc="-30" dirty="0">
                <a:solidFill>
                  <a:srgbClr val="FF0000"/>
                </a:solidFill>
              </a:rPr>
              <a:t>anything</a:t>
            </a:r>
            <a:r>
              <a:rPr lang="en-US" altLang="en-US" sz="3600" spc="-30" dirty="0">
                <a:solidFill>
                  <a:srgbClr val="FF0000"/>
                </a:solidFill>
              </a:rPr>
              <a:t>, even another dictiona</a:t>
            </a:r>
            <a:r>
              <a:rPr lang="en-US" altLang="en-US" sz="3600" dirty="0">
                <a:solidFill>
                  <a:srgbClr val="FF0000"/>
                </a:solidFill>
              </a:rPr>
              <a:t>r</a:t>
            </a:r>
            <a:r>
              <a:rPr lang="en-US" altLang="en-US" sz="3600" spc="-200" dirty="0">
                <a:solidFill>
                  <a:srgbClr val="FF0000"/>
                </a:solidFill>
              </a:rPr>
              <a:t>y</a:t>
            </a:r>
            <a:r>
              <a:rPr lang="en-US" altLang="en-US" sz="3600" dirty="0">
                <a:solidFill>
                  <a:srgbClr val="FF0000"/>
                </a:solidFill>
              </a:rPr>
              <a:t>.</a:t>
            </a:r>
          </a:p>
          <a:p>
            <a:pPr marL="231775" indent="-231775">
              <a:spcBef>
                <a:spcPts val="3200"/>
              </a:spcBef>
            </a:pPr>
            <a:r>
              <a:rPr lang="en-US" altLang="en-US" sz="3600" b="1" dirty="0">
                <a:solidFill>
                  <a:srgbClr val="FF0000"/>
                </a:solidFill>
              </a:rPr>
              <a:t>Keys</a:t>
            </a:r>
            <a:r>
              <a:rPr lang="en-US" altLang="en-US" sz="3600" dirty="0">
                <a:solidFill>
                  <a:srgbClr val="FF0000"/>
                </a:solidFill>
              </a:rPr>
              <a:t> can be almost any </a:t>
            </a:r>
            <a:r>
              <a:rPr lang="en-US" altLang="en-US" sz="3600" b="1" dirty="0">
                <a:solidFill>
                  <a:srgbClr val="FF0000"/>
                </a:solidFill>
              </a:rPr>
              <a:t>immutable</a:t>
            </a:r>
            <a:r>
              <a:rPr lang="en-US" altLang="en-US" sz="3600" dirty="0">
                <a:solidFill>
                  <a:srgbClr val="FF0000"/>
                </a:solidFill>
              </a:rPr>
              <a:t> type, but are usually numbers or strings.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4295" y="4"/>
            <a:ext cx="9601200" cy="1142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  Python Dictionaries</a:t>
            </a:r>
          </a:p>
        </p:txBody>
      </p:sp>
    </p:spTree>
    <p:extLst>
      <p:ext uri="{BB962C8B-B14F-4D97-AF65-F5344CB8AC3E}">
        <p14:creationId xmlns:p14="http://schemas.microsoft.com/office/powerpoint/2010/main" val="212152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294" y="1066800"/>
            <a:ext cx="9829800" cy="5791200"/>
          </a:xfrm>
        </p:spPr>
        <p:txBody>
          <a:bodyPr>
            <a:noAutofit/>
          </a:bodyPr>
          <a:lstStyle/>
          <a:p>
            <a:pPr marL="231775" indent="-231775">
              <a:lnSpc>
                <a:spcPct val="80000"/>
              </a:lnSpc>
            </a:pPr>
            <a:r>
              <a:rPr lang="en-US" altLang="en-US" sz="3600" dirty="0">
                <a:solidFill>
                  <a:schemeClr val="bg1">
                    <a:lumMod val="85000"/>
                  </a:schemeClr>
                </a:solidFill>
              </a:rPr>
              <a:t>Dict</a:t>
            </a:r>
            <a:r>
              <a:rPr lang="en-US" altLang="en-US" sz="3600" spc="-10" dirty="0">
                <a:solidFill>
                  <a:schemeClr val="bg1">
                    <a:lumMod val="85000"/>
                  </a:schemeClr>
                </a:solidFill>
              </a:rPr>
              <a:t>iona</a:t>
            </a:r>
            <a:r>
              <a:rPr lang="en-US" altLang="en-US" sz="3600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lang="en-US" altLang="en-US" sz="3600" spc="-10" dirty="0">
                <a:solidFill>
                  <a:schemeClr val="bg1">
                    <a:lumMod val="85000"/>
                  </a:schemeClr>
                </a:solidFill>
              </a:rPr>
              <a:t>ies use key/value pairs because </a:t>
            </a:r>
            <a:r>
              <a:rPr lang="en-US" altLang="en-US" sz="36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lang="en-US" altLang="en-US" sz="3600" spc="-30" dirty="0">
                <a:solidFill>
                  <a:schemeClr val="bg1">
                    <a:lumMod val="85000"/>
                  </a:schemeClr>
                </a:solidFill>
              </a:rPr>
              <a:t>hey </a:t>
            </a:r>
            <a:r>
              <a:rPr lang="en-US" altLang="en-US" sz="3600" dirty="0">
                <a:solidFill>
                  <a:schemeClr val="bg1">
                    <a:lumMod val="85000"/>
                  </a:schemeClr>
                </a:solidFill>
              </a:rPr>
              <a:t>are </a:t>
            </a:r>
            <a:r>
              <a:rPr lang="en-US" altLang="en-US" sz="3600" b="1" dirty="0">
                <a:solidFill>
                  <a:schemeClr val="bg1">
                    <a:lumMod val="85000"/>
                  </a:schemeClr>
                </a:solidFill>
              </a:rPr>
              <a:t>hash tables</a:t>
            </a:r>
            <a:r>
              <a:rPr lang="en-US" altLang="en-US" sz="3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en-US" sz="3200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US" altLang="en-US" sz="3600" dirty="0">
                <a:solidFill>
                  <a:schemeClr val="bg1">
                    <a:lumMod val="85000"/>
                  </a:schemeClr>
                </a:solidFill>
              </a:rPr>
              <a:t>sometimes called </a:t>
            </a: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</a:rPr>
              <a:t>associative </a:t>
            </a:r>
            <a:r>
              <a:rPr lang="en-US" altLang="en-US" sz="3600" i="1" dirty="0">
                <a:solidFill>
                  <a:srgbClr val="D9D9D9"/>
                </a:solidFill>
              </a:rPr>
              <a:t>ar</a:t>
            </a:r>
            <a:r>
              <a:rPr lang="en-US" altLang="en-US" sz="3600" i="1" spc="-40" dirty="0">
                <a:solidFill>
                  <a:srgbClr val="D9D9D9"/>
                </a:solidFill>
              </a:rPr>
              <a:t>ray</a:t>
            </a:r>
            <a:r>
              <a:rPr lang="en-US" altLang="en-US" sz="3600" i="1" spc="-100" dirty="0">
                <a:solidFill>
                  <a:srgbClr val="D9D9D9"/>
                </a:solidFill>
              </a:rPr>
              <a:t>s</a:t>
            </a:r>
            <a:r>
              <a:rPr lang="en-US" altLang="en-US" sz="3200" spc="-100" dirty="0">
                <a:solidFill>
                  <a:srgbClr val="D9D9D9"/>
                </a:solidFill>
              </a:rPr>
              <a:t>)</a:t>
            </a:r>
            <a:r>
              <a:rPr lang="en-US" altLang="en-US" sz="3200" dirty="0">
                <a:solidFill>
                  <a:srgbClr val="D9D9D9"/>
                </a:solidFill>
              </a:rPr>
              <a:t>.</a:t>
            </a:r>
          </a:p>
          <a:p>
            <a:pPr marL="231775" indent="-231775">
              <a:spcBef>
                <a:spcPts val="3200"/>
              </a:spcBef>
            </a:pPr>
            <a:r>
              <a:rPr lang="en-US" altLang="en-US" sz="3600" b="1" spc="-30" dirty="0" smtClean="0">
                <a:solidFill>
                  <a:schemeClr val="bg1">
                    <a:lumMod val="85000"/>
                  </a:schemeClr>
                </a:solidFill>
              </a:rPr>
              <a:t>Values</a:t>
            </a:r>
            <a:r>
              <a:rPr lang="en-US" altLang="en-US" sz="3600" spc="-30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en-US" sz="3600" spc="-30" dirty="0">
                <a:solidFill>
                  <a:schemeClr val="bg1">
                    <a:lumMod val="85000"/>
                  </a:schemeClr>
                </a:solidFill>
              </a:rPr>
              <a:t>can be </a:t>
            </a:r>
            <a:r>
              <a:rPr lang="en-US" altLang="en-US" sz="3600" b="1" spc="-30" dirty="0">
                <a:solidFill>
                  <a:schemeClr val="bg1">
                    <a:lumMod val="85000"/>
                  </a:schemeClr>
                </a:solidFill>
              </a:rPr>
              <a:t>anything</a:t>
            </a:r>
            <a:r>
              <a:rPr lang="en-US" altLang="en-US" sz="3600" spc="-30" dirty="0">
                <a:solidFill>
                  <a:schemeClr val="bg1">
                    <a:lumMod val="85000"/>
                  </a:schemeClr>
                </a:solidFill>
              </a:rPr>
              <a:t>, even another dictiona</a:t>
            </a:r>
            <a:r>
              <a:rPr lang="en-US" altLang="en-US" sz="3600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lang="en-US" altLang="en-US" sz="3600" spc="-200" dirty="0">
                <a:solidFill>
                  <a:schemeClr val="bg1">
                    <a:lumMod val="85000"/>
                  </a:schemeClr>
                </a:solidFill>
              </a:rPr>
              <a:t>y</a:t>
            </a:r>
            <a:r>
              <a:rPr lang="en-US" altLang="en-US" sz="36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231775" indent="-231775">
              <a:spcBef>
                <a:spcPts val="3200"/>
              </a:spcBef>
            </a:pPr>
            <a:r>
              <a:rPr lang="en-US" altLang="en-US" sz="3600" b="1" dirty="0"/>
              <a:t>Keys</a:t>
            </a:r>
            <a:r>
              <a:rPr lang="en-US" altLang="en-US" sz="3600" dirty="0"/>
              <a:t> can be </a:t>
            </a:r>
            <a:r>
              <a:rPr lang="en-US" altLang="en-US" sz="3600" dirty="0">
                <a:solidFill>
                  <a:srgbClr val="0070C0"/>
                </a:solidFill>
              </a:rPr>
              <a:t>almost any </a:t>
            </a:r>
            <a:r>
              <a:rPr lang="en-US" altLang="en-US" sz="3600" b="1" dirty="0"/>
              <a:t>immutable</a:t>
            </a:r>
            <a:r>
              <a:rPr lang="en-US" altLang="en-US" sz="3600" dirty="0"/>
              <a:t> type, but are usually numbers or strings. </a:t>
            </a:r>
          </a:p>
          <a:p>
            <a:pPr marL="456932" lvl="1" indent="0" eaLnBrk="0" fontAlgn="base" hangingPunct="0">
              <a:lnSpc>
                <a:spcPct val="80000"/>
              </a:lnSpc>
              <a:spcBef>
                <a:spcPts val="1500"/>
              </a:spcBef>
              <a:spcAft>
                <a:spcPct val="0"/>
              </a:spcAft>
              <a:buNone/>
            </a:pPr>
            <a:r>
              <a:rPr lang="en-US" altLang="en-US" sz="3281" i="1" dirty="0">
                <a:solidFill>
                  <a:srgbClr val="0070C0"/>
                </a:solidFill>
              </a:rPr>
              <a:t>Almost </a:t>
            </a:r>
            <a:r>
              <a:rPr lang="en-US" altLang="en-US" sz="3281" dirty="0">
                <a:solidFill>
                  <a:srgbClr val="0070C0"/>
                </a:solidFill>
              </a:rPr>
              <a:t>any</a:t>
            </a:r>
            <a:r>
              <a:rPr lang="en-US" altLang="en-US" sz="3281" dirty="0">
                <a:solidFill>
                  <a:srgbClr val="FF0000"/>
                </a:solidFill>
              </a:rPr>
              <a:t>? Well you can’t “cheat”, by wrapping a </a:t>
            </a:r>
            <a:r>
              <a:rPr lang="en-US" altLang="en-US" sz="3281" dirty="0">
                <a:solidFill>
                  <a:srgbClr val="540000"/>
                </a:solidFill>
              </a:rPr>
              <a:t>mutable type</a:t>
            </a:r>
            <a:r>
              <a:rPr lang="en-US" altLang="en-US" sz="3281" dirty="0">
                <a:solidFill>
                  <a:srgbClr val="FF0000"/>
                </a:solidFill>
              </a:rPr>
              <a:t> inside an immutable one (</a:t>
            </a:r>
            <a:r>
              <a:rPr lang="en-US" altLang="en-US" sz="3281" dirty="0" err="1">
                <a:solidFill>
                  <a:srgbClr val="FF0000"/>
                </a:solidFill>
              </a:rPr>
              <a:t>eg</a:t>
            </a:r>
            <a:r>
              <a:rPr lang="en-US" altLang="en-US" sz="3281" dirty="0">
                <a:solidFill>
                  <a:srgbClr val="FF0000"/>
                </a:solidFill>
              </a:rPr>
              <a:t>, a </a:t>
            </a:r>
            <a:r>
              <a:rPr lang="en-US" altLang="en-US" sz="3281" dirty="0">
                <a:solidFill>
                  <a:srgbClr val="7030A0"/>
                </a:solidFill>
              </a:rPr>
              <a:t>tuple</a:t>
            </a:r>
            <a:r>
              <a:rPr lang="en-US" altLang="en-US" sz="3281" dirty="0">
                <a:solidFill>
                  <a:srgbClr val="FF0000"/>
                </a:solidFill>
              </a:rPr>
              <a:t>):</a:t>
            </a:r>
          </a:p>
          <a:p>
            <a:pPr marL="456932" lvl="1" indent="0" eaLnBrk="0" fontAlgn="base" hangingPunct="0">
              <a:lnSpc>
                <a:spcPct val="80000"/>
              </a:lnSpc>
              <a:spcBef>
                <a:spcPts val="400"/>
              </a:spcBef>
              <a:spcAft>
                <a:spcPct val="0"/>
              </a:spcAft>
              <a:buNone/>
            </a:pPr>
            <a:r>
              <a:rPr lang="en-US" altLang="zh-TW" kern="0" spc="-50" dirty="0">
                <a:solidFill>
                  <a:srgbClr val="00B0F0"/>
                </a:solidFill>
                <a:latin typeface="Lucida Sans Typewriter" panose="020B0509030504030204" pitchFamily="49" charset="0"/>
                <a:ea typeface="MS PGothic" pitchFamily="34" charset="-128"/>
              </a:rPr>
              <a:t>&gt;&gt;&gt; </a:t>
            </a:r>
            <a:r>
              <a:rPr lang="en-US" altLang="zh-TW" b="1" kern="0" spc="-50" dirty="0">
                <a:latin typeface="Lucida Sans Typewriter" panose="020B0509030504030204" pitchFamily="49" charset="0"/>
                <a:ea typeface="MS PGothic" pitchFamily="34" charset="-128"/>
              </a:rPr>
              <a:t>L</a:t>
            </a:r>
            <a:r>
              <a:rPr lang="en-US" altLang="zh-TW" kern="0" spc="-50" dirty="0">
                <a:latin typeface="Lucida Sans Typewriter" panose="020B0509030504030204" pitchFamily="49" charset="0"/>
                <a:ea typeface="MS PGothic" pitchFamily="34" charset="-128"/>
              </a:rPr>
              <a:t>=</a:t>
            </a:r>
            <a:r>
              <a:rPr lang="en-US" altLang="zh-TW" b="1" kern="0" spc="-50" dirty="0">
                <a:latin typeface="Lucida Sans Typewriter" panose="020B0509030504030204" pitchFamily="49" charset="0"/>
                <a:ea typeface="MS PGothic" pitchFamily="34" charset="-128"/>
              </a:rPr>
              <a:t>[</a:t>
            </a:r>
            <a:r>
              <a:rPr lang="en-US" altLang="zh-TW" kern="0" spc="-50" dirty="0">
                <a:latin typeface="Lucida Sans Typewriter" panose="020B0509030504030204" pitchFamily="49" charset="0"/>
                <a:ea typeface="MS PGothic" pitchFamily="34" charset="-128"/>
              </a:rPr>
              <a:t>1,2</a:t>
            </a:r>
            <a:r>
              <a:rPr lang="en-US" altLang="zh-TW" b="1" kern="0" spc="-50" dirty="0">
                <a:latin typeface="Lucida Sans Typewriter" panose="020B0509030504030204" pitchFamily="49" charset="0"/>
                <a:ea typeface="MS PGothic" pitchFamily="34" charset="-128"/>
              </a:rPr>
              <a:t>]</a:t>
            </a:r>
            <a:r>
              <a:rPr lang="en-US" altLang="zh-TW" kern="0" spc="-50" dirty="0">
                <a:latin typeface="Lucida Sans Typewriter" panose="020B0509030504030204" pitchFamily="49" charset="0"/>
                <a:ea typeface="MS PGothic" pitchFamily="34" charset="-128"/>
              </a:rPr>
              <a:t>;D=</a:t>
            </a:r>
            <a:r>
              <a:rPr lang="en-US" altLang="zh-TW" b="1" kern="0" spc="-50" dirty="0">
                <a:solidFill>
                  <a:srgbClr val="00B0F0"/>
                </a:solidFill>
                <a:latin typeface="Lucida Sans Typewriter" panose="020B0509030504030204" pitchFamily="49" charset="0"/>
                <a:ea typeface="MS PGothic" pitchFamily="34" charset="-128"/>
              </a:rPr>
              <a:t>{</a:t>
            </a:r>
            <a:r>
              <a:rPr lang="en-US" altLang="zh-TW" b="1" kern="0" spc="-50" dirty="0">
                <a:solidFill>
                  <a:srgbClr val="7030A0"/>
                </a:solidFill>
                <a:latin typeface="Lucida Sans Typewriter" panose="020B0509030504030204" pitchFamily="49" charset="0"/>
                <a:ea typeface="MS PGothic" pitchFamily="34" charset="-128"/>
              </a:rPr>
              <a:t>(</a:t>
            </a:r>
            <a:r>
              <a:rPr lang="en-US" altLang="zh-TW" b="1" kern="0" spc="-50" dirty="0">
                <a:latin typeface="Lucida Sans Typewriter" panose="020B0509030504030204" pitchFamily="49" charset="0"/>
                <a:ea typeface="MS PGothic" pitchFamily="34" charset="-128"/>
              </a:rPr>
              <a:t>L</a:t>
            </a:r>
            <a:r>
              <a:rPr lang="en-US" altLang="zh-TW" kern="0" spc="-50" dirty="0" smtClean="0">
                <a:solidFill>
                  <a:srgbClr val="7030A0"/>
                </a:solidFill>
                <a:latin typeface="Lucida Sans Typewriter" panose="020B0509030504030204" pitchFamily="49" charset="0"/>
                <a:ea typeface="MS PGothic" pitchFamily="34" charset="-128"/>
              </a:rPr>
              <a:t>,</a:t>
            </a:r>
            <a:r>
              <a:rPr lang="en-US" altLang="zh-TW" b="1" kern="0" spc="-50" dirty="0" smtClean="0">
                <a:solidFill>
                  <a:srgbClr val="7030A0"/>
                </a:solidFill>
                <a:latin typeface="Lucida Sans Typewriter" panose="020B0509030504030204" pitchFamily="49" charset="0"/>
                <a:ea typeface="MS PGothic" pitchFamily="34" charset="-128"/>
              </a:rPr>
              <a:t>)</a:t>
            </a:r>
            <a:r>
              <a:rPr lang="en-US" altLang="zh-TW" b="1" kern="0" spc="-50" dirty="0" smtClean="0">
                <a:solidFill>
                  <a:srgbClr val="00B0F0"/>
                </a:solidFill>
                <a:latin typeface="Lucida Sans Typewriter" panose="020B0509030504030204" pitchFamily="49" charset="0"/>
                <a:ea typeface="MS PGothic" pitchFamily="34" charset="-128"/>
              </a:rPr>
              <a:t>:</a:t>
            </a:r>
            <a:r>
              <a:rPr lang="en-US" altLang="zh-TW" kern="0" spc="-50" dirty="0" smtClean="0">
                <a:latin typeface="Lucida Sans Typewriter" panose="020B0509030504030204" pitchFamily="49" charset="0"/>
                <a:ea typeface="MS PGothic" pitchFamily="34" charset="-128"/>
              </a:rPr>
              <a:t>1,</a:t>
            </a:r>
            <a:r>
              <a:rPr lang="en-US" altLang="zh-TW" b="1" kern="0" spc="-50" dirty="0" smtClean="0">
                <a:solidFill>
                  <a:srgbClr val="7030A0"/>
                </a:solidFill>
                <a:latin typeface="Lucida Sans Typewriter" panose="020B0509030504030204" pitchFamily="49" charset="0"/>
                <a:ea typeface="MS PGothic" pitchFamily="34" charset="-128"/>
              </a:rPr>
              <a:t>()</a:t>
            </a:r>
            <a:r>
              <a:rPr lang="en-US" altLang="zh-TW" b="1" kern="0" spc="-50" dirty="0" smtClean="0">
                <a:solidFill>
                  <a:srgbClr val="00B0F0"/>
                </a:solidFill>
                <a:latin typeface="Lucida Sans Typewriter" panose="020B0509030504030204" pitchFamily="49" charset="0"/>
                <a:ea typeface="MS PGothic" pitchFamily="34" charset="-128"/>
              </a:rPr>
              <a:t>:</a:t>
            </a:r>
            <a:r>
              <a:rPr lang="en-US" altLang="zh-TW" kern="0" spc="-50" dirty="0" smtClean="0">
                <a:latin typeface="Lucida Sans Typewriter" panose="020B0509030504030204" pitchFamily="49" charset="0"/>
                <a:ea typeface="MS PGothic" pitchFamily="34" charset="-128"/>
              </a:rPr>
              <a:t>2</a:t>
            </a:r>
            <a:r>
              <a:rPr lang="en-US" altLang="zh-TW" b="1" kern="0" spc="-50" dirty="0" smtClean="0">
                <a:solidFill>
                  <a:srgbClr val="00B0F0"/>
                </a:solidFill>
                <a:latin typeface="Lucida Sans Typewriter" panose="020B0509030504030204" pitchFamily="49" charset="0"/>
                <a:ea typeface="MS PGothic" pitchFamily="34" charset="-128"/>
              </a:rPr>
              <a:t>}</a:t>
            </a:r>
            <a:r>
              <a:rPr lang="en-US" altLang="zh-TW" kern="0" spc="-50" dirty="0" smtClean="0">
                <a:latin typeface="Lucida Sans Typewriter" panose="020B0509030504030204" pitchFamily="49" charset="0"/>
                <a:ea typeface="MS PGothic" pitchFamily="34" charset="-128"/>
              </a:rPr>
              <a:t>;</a:t>
            </a:r>
            <a:r>
              <a:rPr lang="en-US" altLang="zh-TW" b="1" kern="0" spc="-50" dirty="0" err="1" smtClean="0">
                <a:latin typeface="Lucida Sans Typewriter" panose="020B0509030504030204" pitchFamily="49" charset="0"/>
                <a:ea typeface="MS PGothic" pitchFamily="34" charset="-128"/>
              </a:rPr>
              <a:t>L</a:t>
            </a:r>
            <a:r>
              <a:rPr lang="en-US" altLang="zh-TW" kern="0" spc="-50" dirty="0" err="1" smtClean="0">
                <a:latin typeface="Lucida Sans Typewriter" panose="020B0509030504030204" pitchFamily="49" charset="0"/>
                <a:ea typeface="MS PGothic" pitchFamily="34" charset="-128"/>
              </a:rPr>
              <a:t>.clear</a:t>
            </a:r>
            <a:r>
              <a:rPr lang="en-US" altLang="zh-TW" sz="400" kern="0" spc="-50" dirty="0" smtClean="0">
                <a:latin typeface="Lucida Sans Typewriter" panose="020B0509030504030204" pitchFamily="49" charset="0"/>
                <a:ea typeface="MS PGothic" pitchFamily="34" charset="-128"/>
              </a:rPr>
              <a:t> </a:t>
            </a:r>
            <a:r>
              <a:rPr lang="en-US" altLang="zh-TW" b="1" kern="0" spc="-50" dirty="0" smtClean="0">
                <a:latin typeface="Lucida Bright" panose="02040602050505020304" pitchFamily="18" charset="0"/>
                <a:ea typeface="MS PGothic" pitchFamily="34" charset="-128"/>
              </a:rPr>
              <a:t>(</a:t>
            </a:r>
            <a:r>
              <a:rPr lang="en-US" altLang="zh-TW" sz="1600" b="1" kern="0" spc="-50" dirty="0" smtClean="0">
                <a:latin typeface="Lucida Bright" panose="02040602050505020304" pitchFamily="18" charset="0"/>
                <a:ea typeface="MS PGothic" pitchFamily="34" charset="-128"/>
              </a:rPr>
              <a:t> </a:t>
            </a:r>
            <a:r>
              <a:rPr lang="en-US" altLang="zh-TW" b="1" kern="0" spc="-50" dirty="0" smtClean="0">
                <a:latin typeface="Lucida Bright" panose="02040602050505020304" pitchFamily="18" charset="0"/>
                <a:ea typeface="MS PGothic" pitchFamily="34" charset="-128"/>
              </a:rPr>
              <a:t>)</a:t>
            </a:r>
            <a:r>
              <a:rPr lang="en-US" altLang="zh-TW" sz="1400" kern="0" spc="-50" dirty="0" smtClean="0">
                <a:latin typeface="Lucida Sans Typewriter" panose="020B0509030504030204" pitchFamily="49" charset="0"/>
                <a:ea typeface="MS PGothic" pitchFamily="34" charset="-128"/>
              </a:rPr>
              <a:t> </a:t>
            </a:r>
            <a:r>
              <a:rPr lang="en-US" altLang="zh-TW" b="1" kern="0" spc="80" dirty="0">
                <a:solidFill>
                  <a:srgbClr val="FF9B9B"/>
                </a:solidFill>
                <a:latin typeface="Arial Narrow" panose="020B0606020202030204" pitchFamily="34" charset="0"/>
                <a:ea typeface="MS PGothic" pitchFamily="34" charset="-128"/>
              </a:rPr>
              <a:t># This won’t work</a:t>
            </a:r>
          </a:p>
          <a:p>
            <a:pPr marL="456932" lvl="1" indent="0" eaLnBrk="0" fontAlgn="base" hangingPunct="0">
              <a:lnSpc>
                <a:spcPct val="100000"/>
              </a:lnSpc>
              <a:spcBef>
                <a:spcPts val="1500"/>
              </a:spcBef>
              <a:spcAft>
                <a:spcPct val="0"/>
              </a:spcAft>
              <a:buNone/>
            </a:pPr>
            <a:r>
              <a:rPr lang="en-US" altLang="en-US" sz="3281" i="1" dirty="0">
                <a:solidFill>
                  <a:srgbClr val="FF0000"/>
                </a:solidFill>
              </a:rPr>
              <a:t>Recall: we made the same observation about sets: </a:t>
            </a:r>
            <a:r>
              <a:rPr lang="en-US" altLang="en-US" sz="3281" dirty="0">
                <a:solidFill>
                  <a:srgbClr val="FF0000"/>
                </a:solidFill>
              </a:rPr>
              <a:t> </a:t>
            </a:r>
          </a:p>
          <a:p>
            <a:pPr marL="456932" lvl="1" indent="0" eaLnBrk="0" fontAlgn="base" hangingPunct="0">
              <a:lnSpc>
                <a:spcPct val="8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altLang="zh-TW" kern="0" spc="-50" dirty="0">
                <a:solidFill>
                  <a:srgbClr val="00B0F0"/>
                </a:solidFill>
                <a:latin typeface="Lucida Sans Typewriter" panose="020B0509030504030204" pitchFamily="49" charset="0"/>
                <a:ea typeface="MS PGothic" pitchFamily="34" charset="-128"/>
              </a:rPr>
              <a:t>&gt;&gt;&gt; </a:t>
            </a:r>
            <a:r>
              <a:rPr lang="en-US" altLang="zh-TW" b="1" kern="0" spc="-50" dirty="0">
                <a:latin typeface="Lucida Sans Typewriter" panose="020B0509030504030204" pitchFamily="49" charset="0"/>
                <a:ea typeface="MS PGothic" pitchFamily="34" charset="-128"/>
              </a:rPr>
              <a:t>L</a:t>
            </a:r>
            <a:r>
              <a:rPr lang="en-US" altLang="zh-TW" kern="0" spc="-50" dirty="0">
                <a:latin typeface="Lucida Sans Typewriter" panose="020B0509030504030204" pitchFamily="49" charset="0"/>
                <a:ea typeface="MS PGothic" pitchFamily="34" charset="-128"/>
              </a:rPr>
              <a:t>=</a:t>
            </a:r>
            <a:r>
              <a:rPr lang="en-US" altLang="zh-TW" b="1" kern="0" spc="-50" dirty="0">
                <a:latin typeface="Lucida Sans Typewriter" panose="020B0509030504030204" pitchFamily="49" charset="0"/>
                <a:ea typeface="MS PGothic" pitchFamily="34" charset="-128"/>
              </a:rPr>
              <a:t>[</a:t>
            </a:r>
            <a:r>
              <a:rPr lang="en-US" altLang="zh-TW" kern="0" spc="-50" dirty="0">
                <a:latin typeface="Lucida Sans Typewriter" panose="020B0509030504030204" pitchFamily="49" charset="0"/>
                <a:ea typeface="MS PGothic" pitchFamily="34" charset="-128"/>
              </a:rPr>
              <a:t>1,2</a:t>
            </a:r>
            <a:r>
              <a:rPr lang="en-US" altLang="zh-TW" b="1" kern="0" spc="-50" dirty="0">
                <a:latin typeface="Lucida Sans Typewriter" panose="020B0509030504030204" pitchFamily="49" charset="0"/>
                <a:ea typeface="MS PGothic" pitchFamily="34" charset="-128"/>
              </a:rPr>
              <a:t>]</a:t>
            </a:r>
            <a:r>
              <a:rPr lang="en-US" altLang="zh-TW" kern="0" spc="-50" dirty="0">
                <a:latin typeface="Lucida Sans Typewriter" panose="020B0509030504030204" pitchFamily="49" charset="0"/>
                <a:ea typeface="MS PGothic" pitchFamily="34" charset="-128"/>
              </a:rPr>
              <a:t>;</a:t>
            </a:r>
            <a:r>
              <a:rPr lang="en-US" altLang="zh-TW" kern="0" spc="-50" dirty="0">
                <a:solidFill>
                  <a:srgbClr val="00B0F0"/>
                </a:solidFill>
                <a:latin typeface="Lucida Sans Typewriter" panose="020B0509030504030204" pitchFamily="49" charset="0"/>
                <a:ea typeface="MS PGothic" pitchFamily="34" charset="-128"/>
              </a:rPr>
              <a:t>S=</a:t>
            </a:r>
            <a:r>
              <a:rPr lang="en-US" altLang="zh-TW" b="1" kern="0" spc="-50" dirty="0">
                <a:solidFill>
                  <a:srgbClr val="00B0F0"/>
                </a:solidFill>
                <a:latin typeface="Lucida Sans Typewriter" panose="020B0509030504030204" pitchFamily="49" charset="0"/>
                <a:ea typeface="MS PGothic" pitchFamily="34" charset="-128"/>
              </a:rPr>
              <a:t>{</a:t>
            </a:r>
            <a:r>
              <a:rPr lang="en-US" altLang="zh-TW" b="1" kern="0" spc="-50" dirty="0">
                <a:solidFill>
                  <a:srgbClr val="7030A0"/>
                </a:solidFill>
                <a:latin typeface="Lucida Sans Typewriter" panose="020B0509030504030204" pitchFamily="49" charset="0"/>
                <a:ea typeface="MS PGothic" pitchFamily="34" charset="-128"/>
              </a:rPr>
              <a:t>(</a:t>
            </a:r>
            <a:r>
              <a:rPr lang="en-US" altLang="zh-TW" b="1" kern="0" spc="-50" dirty="0">
                <a:latin typeface="Lucida Sans Typewriter" panose="020B0509030504030204" pitchFamily="49" charset="0"/>
                <a:ea typeface="MS PGothic" pitchFamily="34" charset="-128"/>
              </a:rPr>
              <a:t>L</a:t>
            </a:r>
            <a:r>
              <a:rPr lang="en-US" altLang="zh-TW" kern="0" spc="-50" dirty="0">
                <a:solidFill>
                  <a:srgbClr val="7030A0"/>
                </a:solidFill>
                <a:latin typeface="Lucida Sans Typewriter" panose="020B0509030504030204" pitchFamily="49" charset="0"/>
                <a:ea typeface="MS PGothic" pitchFamily="34" charset="-128"/>
              </a:rPr>
              <a:t>,</a:t>
            </a:r>
            <a:r>
              <a:rPr lang="en-US" altLang="zh-TW" b="1" kern="0" spc="-50" dirty="0">
                <a:solidFill>
                  <a:srgbClr val="7030A0"/>
                </a:solidFill>
                <a:latin typeface="Lucida Sans Typewriter" panose="020B0509030504030204" pitchFamily="49" charset="0"/>
                <a:ea typeface="MS PGothic" pitchFamily="34" charset="-128"/>
              </a:rPr>
              <a:t>)</a:t>
            </a:r>
            <a:r>
              <a:rPr lang="en-US" altLang="zh-TW" b="1" kern="0" spc="-50" dirty="0">
                <a:solidFill>
                  <a:srgbClr val="00B0F0"/>
                </a:solidFill>
                <a:latin typeface="Lucida Sans Typewriter" panose="020B0509030504030204" pitchFamily="49" charset="0"/>
                <a:ea typeface="MS PGothic" pitchFamily="34" charset="-128"/>
              </a:rPr>
              <a:t>}</a:t>
            </a:r>
            <a:r>
              <a:rPr lang="en-US" altLang="zh-TW" kern="0" spc="-50" dirty="0">
                <a:solidFill>
                  <a:srgbClr val="00B0F0"/>
                </a:solidFill>
                <a:latin typeface="Lucida Sans Typewriter" panose="020B0509030504030204" pitchFamily="49" charset="0"/>
                <a:ea typeface="MS PGothic" pitchFamily="34" charset="-128"/>
              </a:rPr>
              <a:t> </a:t>
            </a:r>
            <a:r>
              <a:rPr lang="en-US" altLang="zh-TW" b="1" kern="0" spc="80" dirty="0">
                <a:solidFill>
                  <a:srgbClr val="FF9B9B"/>
                </a:solidFill>
                <a:latin typeface="Arial Narrow" panose="020B0606020202030204" pitchFamily="34" charset="0"/>
                <a:ea typeface="MS PGothic" pitchFamily="34" charset="-128"/>
              </a:rPr>
              <a:t># This </a:t>
            </a:r>
            <a:r>
              <a:rPr lang="en-US" altLang="zh-TW" b="1" kern="0" spc="-50" dirty="0">
                <a:solidFill>
                  <a:srgbClr val="FF9B9B"/>
                </a:solidFill>
                <a:latin typeface="Arial Narrow" panose="020B0606020202030204" pitchFamily="34" charset="0"/>
                <a:ea typeface="MS PGothic" pitchFamily="34" charset="-128"/>
              </a:rPr>
              <a:t>won’t wo</a:t>
            </a:r>
            <a:r>
              <a:rPr lang="en-US" altLang="zh-TW" b="1" kern="0" dirty="0">
                <a:solidFill>
                  <a:srgbClr val="FF9B9B"/>
                </a:solidFill>
                <a:latin typeface="Arial Narrow" panose="020B0606020202030204" pitchFamily="34" charset="0"/>
                <a:ea typeface="MS PGothic" pitchFamily="34" charset="-128"/>
              </a:rPr>
              <a:t>r</a:t>
            </a:r>
            <a:r>
              <a:rPr lang="en-US" altLang="zh-TW" b="1" kern="0" spc="-50" dirty="0">
                <a:solidFill>
                  <a:srgbClr val="FF9B9B"/>
                </a:solidFill>
                <a:latin typeface="Arial Narrow" panose="020B0606020202030204" pitchFamily="34" charset="0"/>
                <a:ea typeface="MS PGothic" pitchFamily="34" charset="-128"/>
              </a:rPr>
              <a:t>k </a:t>
            </a:r>
            <a:r>
              <a:rPr lang="en-US" altLang="zh-TW" b="1" kern="0" dirty="0">
                <a:solidFill>
                  <a:srgbClr val="FF9B9B"/>
                </a:solidFill>
                <a:latin typeface="Arial Narrow" panose="020B0606020202030204" pitchFamily="34" charset="0"/>
                <a:ea typeface="MS PGothic" pitchFamily="34" charset="-128"/>
              </a:rPr>
              <a:t>(see slide </a:t>
            </a:r>
            <a:r>
              <a:rPr lang="en-US" altLang="zh-TW" b="1" kern="0" dirty="0" smtClean="0">
                <a:solidFill>
                  <a:srgbClr val="FF9B9B"/>
                </a:solidFill>
                <a:latin typeface="Arial Narrow" panose="020B0606020202030204" pitchFamily="34" charset="0"/>
                <a:ea typeface="MS PGothic" pitchFamily="34" charset="-128"/>
              </a:rPr>
              <a:t>#6, above)</a:t>
            </a:r>
            <a:endParaRPr lang="en-US" altLang="zh-TW" b="1" kern="0" dirty="0">
              <a:solidFill>
                <a:srgbClr val="FF9B9B"/>
              </a:solidFill>
              <a:latin typeface="Arial Narrow" panose="020B0606020202030204" pitchFamily="34" charset="0"/>
              <a:ea typeface="MS PGothic" pitchFamily="34" charset="-128"/>
            </a:endParaRPr>
          </a:p>
          <a:p>
            <a:pPr marL="596646" lvl="1" indent="-231775">
              <a:spcBef>
                <a:spcPts val="0"/>
              </a:spcBef>
            </a:pPr>
            <a:endParaRPr lang="en-US" altLang="en-US" sz="3281" dirty="0">
              <a:solidFill>
                <a:srgbClr val="FF00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4295" y="4"/>
            <a:ext cx="9601200" cy="1142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  Python Dictionaries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1826420" y="3695701"/>
            <a:ext cx="1285875" cy="838201"/>
          </a:xfrm>
          <a:prstGeom prst="straightConnector1">
            <a:avLst/>
          </a:prstGeom>
          <a:ln w="28575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7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4294" y="1143000"/>
            <a:ext cx="10172700" cy="5105400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student={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dirty="0" err="1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Name'</a:t>
            </a:r>
            <a:r>
              <a:rPr lang="en-US" altLang="zh-TW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2400" dirty="0" err="1">
                <a:solidFill>
                  <a:srgbClr val="C55A11"/>
                </a:solidFill>
                <a:latin typeface="Lucida Sans Typewriter" panose="020B0509030504030204" pitchFamily="49" charset="0"/>
                <a:cs typeface="Courier New" pitchFamily="49" charset="0"/>
              </a:rPr>
              <a:t>'Bob</a:t>
            </a:r>
            <a:r>
              <a:rPr lang="en-US" altLang="zh-TW" sz="2400" dirty="0">
                <a:solidFill>
                  <a:srgbClr val="C55A11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'Age'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2400" dirty="0">
                <a:solidFill>
                  <a:srgbClr val="C55A11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dirty="0" err="1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Major'</a:t>
            </a:r>
            <a:r>
              <a:rPr lang="en-US" altLang="zh-TW" sz="2400" dirty="0" err="1"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2400" dirty="0" err="1">
                <a:solidFill>
                  <a:srgbClr val="C55A11"/>
                </a:solidFill>
                <a:latin typeface="Lucida Sans Typewriter" panose="020B0509030504030204" pitchFamily="49" charset="0"/>
                <a:cs typeface="Courier New" pitchFamily="49" charset="0"/>
              </a:rPr>
              <a:t>'CSE</a:t>
            </a:r>
            <a:r>
              <a:rPr lang="en-US" altLang="zh-TW" sz="2400" dirty="0">
                <a:solidFill>
                  <a:srgbClr val="C55A11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  <a:endParaRPr lang="en-US" sz="3600" dirty="0"/>
          </a:p>
          <a:p>
            <a:r>
              <a:rPr lang="en-US" sz="3600" spc="-60" dirty="0"/>
              <a:t>To access dictionary elements, use square brackets,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FF0000"/>
                </a:solidFill>
              </a:rPr>
              <a:t>[</a:t>
            </a:r>
            <a:r>
              <a:rPr lang="en-US" sz="3600" dirty="0"/>
              <a:t>…</a:t>
            </a:r>
            <a:r>
              <a:rPr lang="en-US" sz="3600" b="1" dirty="0">
                <a:solidFill>
                  <a:srgbClr val="FF0000"/>
                </a:solidFill>
              </a:rPr>
              <a:t>]</a:t>
            </a:r>
            <a:r>
              <a:rPr lang="en-US" sz="3600" dirty="0"/>
              <a:t>, along with </a:t>
            </a:r>
            <a:r>
              <a:rPr lang="en-US" sz="3600" dirty="0">
                <a:solidFill>
                  <a:srgbClr val="008000"/>
                </a:solidFill>
              </a:rPr>
              <a:t>the key</a:t>
            </a:r>
            <a:r>
              <a:rPr lang="en-US" sz="3600" dirty="0"/>
              <a:t> to obtain </a:t>
            </a:r>
            <a:r>
              <a:rPr lang="en-US" sz="3600" dirty="0">
                <a:solidFill>
                  <a:srgbClr val="C55A11"/>
                </a:solidFill>
              </a:rPr>
              <a:t>its value</a:t>
            </a:r>
            <a:r>
              <a:rPr lang="en-US" sz="3600" dirty="0"/>
              <a:t>:</a:t>
            </a:r>
            <a:endParaRPr lang="en-US" sz="3600" b="1" dirty="0"/>
          </a:p>
          <a:p>
            <a:pPr lvl="1">
              <a:buFontTx/>
              <a:buNone/>
            </a:pPr>
            <a:endParaRPr lang="en-US" altLang="zh-TW" sz="1100" dirty="0">
              <a:latin typeface="Courier New" pitchFamily="49" charset="0"/>
              <a:cs typeface="Courier New" pitchFamily="49" charset="0"/>
            </a:endParaRPr>
          </a:p>
          <a:p>
            <a:pPr marL="457200" indent="0">
              <a:spcBef>
                <a:spcPts val="300"/>
              </a:spcBef>
              <a:buNone/>
            </a:pPr>
            <a:r>
              <a:rPr lang="en-US" altLang="zh-TW" sz="24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print ("student['Name']:", student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'Name'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]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 </a:t>
            </a:r>
            <a:r>
              <a:rPr lang="en-US" altLang="zh-TW" sz="2400" dirty="0" smtClean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marL="457200" indent="0">
              <a:spcBef>
                <a:spcPts val="300"/>
              </a:spcBef>
              <a:buNone/>
            </a:pP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['Name']: </a:t>
            </a:r>
            <a:r>
              <a:rPr lang="en-US" altLang="zh-TW" sz="2400" dirty="0">
                <a:solidFill>
                  <a:srgbClr val="C55A11"/>
                </a:solidFill>
                <a:latin typeface="Lucida Sans Typewriter" panose="020B0509030504030204" pitchFamily="49" charset="0"/>
                <a:cs typeface="Courier New" pitchFamily="49" charset="0"/>
              </a:rPr>
              <a:t>Bob</a:t>
            </a:r>
            <a:r>
              <a:rPr lang="en-US" altLang="zh-TW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marL="457200" indent="0">
              <a:spcBef>
                <a:spcPts val="300"/>
              </a:spcBef>
              <a:buNone/>
            </a:pPr>
            <a:r>
              <a:rPr lang="en-US" altLang="zh-TW" sz="24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print ("student['Age']:", student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'Age'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]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 </a:t>
            </a:r>
            <a:endParaRPr lang="en-US" altLang="zh-TW" sz="2400" dirty="0" smtClean="0">
              <a:latin typeface="Lucida Sans Typewriter" panose="020B0509030504030204" pitchFamily="49" charset="0"/>
              <a:cs typeface="Courier New" pitchFamily="49" charset="0"/>
            </a:endParaRPr>
          </a:p>
          <a:p>
            <a:pPr marL="457200" indent="0">
              <a:spcBef>
                <a:spcPts val="300"/>
              </a:spcBef>
              <a:buNone/>
            </a:pP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['Age']: </a:t>
            </a:r>
            <a:r>
              <a:rPr lang="en-US" altLang="zh-TW" sz="2400" dirty="0">
                <a:solidFill>
                  <a:srgbClr val="C55A11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</a:p>
          <a:p>
            <a:pPr marL="198438" indent="258763"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-81134" y="1152939"/>
            <a:ext cx="10157791" cy="1461052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131707" y="2812789"/>
            <a:ext cx="1436503" cy="458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8438" indent="258763">
              <a:buNone/>
            </a:pPr>
            <a:r>
              <a:rPr lang="en-US" altLang="zh-TW" sz="2400" dirty="0" smtClean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endParaRPr lang="en-US" altLang="zh-TW" sz="24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-128282" y="3548679"/>
            <a:ext cx="1436503" cy="458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8438" indent="258763">
              <a:buNone/>
            </a:pPr>
            <a:r>
              <a:rPr lang="en-US" altLang="zh-TW" sz="2400" dirty="0" smtClean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endParaRPr lang="en-US" altLang="zh-TW" sz="24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018311" y="1489755"/>
            <a:ext cx="703780" cy="750013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553208" y="2440112"/>
            <a:ext cx="3355852" cy="581384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492655" y="1464067"/>
            <a:ext cx="2399015" cy="760288"/>
          </a:xfrm>
          <a:prstGeom prst="straightConnector1">
            <a:avLst/>
          </a:prstGeom>
          <a:ln w="28575"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331494" y="2514600"/>
            <a:ext cx="2590800" cy="838200"/>
          </a:xfrm>
          <a:prstGeom prst="straightConnector1">
            <a:avLst/>
          </a:prstGeom>
          <a:ln w="28575"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4407695" y="1489754"/>
            <a:ext cx="1061003" cy="796247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521995" y="2453813"/>
            <a:ext cx="3237981" cy="1293241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579395" y="1485900"/>
            <a:ext cx="430427" cy="738456"/>
          </a:xfrm>
          <a:prstGeom prst="straightConnector1">
            <a:avLst/>
          </a:prstGeom>
          <a:ln w="28575"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950494" y="2514600"/>
            <a:ext cx="3086100" cy="1524000"/>
          </a:xfrm>
          <a:prstGeom prst="straightConnector1">
            <a:avLst/>
          </a:prstGeom>
          <a:ln w="28575"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4294" y="4343400"/>
            <a:ext cx="112678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64294" y="220580"/>
            <a:ext cx="9601201" cy="7419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dirty="0">
                <a:solidFill>
                  <a:srgbClr val="0070C0"/>
                </a:solidFill>
              </a:rPr>
              <a:t>Accessing Values in a Dictionary</a:t>
            </a:r>
          </a:p>
        </p:txBody>
      </p:sp>
      <p:sp>
        <p:nvSpPr>
          <p:cNvPr id="33" name="Content Placeholder 2"/>
          <p:cNvSpPr txBox="1">
            <a:spLocks/>
          </p:cNvSpPr>
          <p:nvPr/>
        </p:nvSpPr>
        <p:spPr>
          <a:xfrm>
            <a:off x="64294" y="4407738"/>
            <a:ext cx="9959143" cy="245026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spc="-40" dirty="0">
                <a:solidFill>
                  <a:prstClr val="black"/>
                </a:solidFill>
              </a:rPr>
              <a:t>It</a:t>
            </a:r>
            <a:r>
              <a:rPr lang="en-US" altLang="zh-TW" sz="3200" spc="-40" dirty="0">
                <a:solidFill>
                  <a:prstClr val="black"/>
                </a:solidFill>
              </a:rPr>
              <a:t> </a:t>
            </a:r>
            <a:r>
              <a:rPr lang="en-US" altLang="zh-TW" sz="3600" spc="-40" dirty="0">
                <a:solidFill>
                  <a:prstClr val="black"/>
                </a:solidFill>
              </a:rPr>
              <a:t>is an</a:t>
            </a:r>
            <a:r>
              <a:rPr lang="en-US" altLang="zh-TW" sz="3200" spc="-40" dirty="0">
                <a:solidFill>
                  <a:prstClr val="black"/>
                </a:solidFill>
              </a:rPr>
              <a:t> </a:t>
            </a:r>
            <a:r>
              <a:rPr lang="en-US" altLang="zh-TW" sz="3600" spc="-40" dirty="0">
                <a:solidFill>
                  <a:srgbClr val="C55A11"/>
                </a:solidFill>
              </a:rPr>
              <a:t>error</a:t>
            </a:r>
            <a:r>
              <a:rPr lang="en-US" altLang="zh-TW" sz="3200" spc="-40" dirty="0">
                <a:solidFill>
                  <a:prstClr val="black"/>
                </a:solidFill>
              </a:rPr>
              <a:t> </a:t>
            </a:r>
            <a:r>
              <a:rPr lang="en-US" altLang="zh-TW" sz="3600" spc="-40" dirty="0">
                <a:solidFill>
                  <a:prstClr val="black"/>
                </a:solidFill>
              </a:rPr>
              <a:t>to</a:t>
            </a:r>
            <a:r>
              <a:rPr lang="en-US" altLang="zh-TW" sz="3200" spc="-40" dirty="0">
                <a:solidFill>
                  <a:prstClr val="black"/>
                </a:solidFill>
              </a:rPr>
              <a:t> </a:t>
            </a:r>
            <a:r>
              <a:rPr lang="en-US" altLang="zh-TW" sz="3600" spc="-40" dirty="0">
                <a:solidFill>
                  <a:prstClr val="black"/>
                </a:solidFill>
              </a:rPr>
              <a:t>use</a:t>
            </a:r>
            <a:r>
              <a:rPr lang="en-US" altLang="zh-TW" sz="3200" spc="-40" dirty="0">
                <a:solidFill>
                  <a:prstClr val="black"/>
                </a:solidFill>
              </a:rPr>
              <a:t> </a:t>
            </a:r>
            <a:r>
              <a:rPr lang="en-US" altLang="zh-TW" sz="3600" dirty="0">
                <a:solidFill>
                  <a:srgbClr val="FF0000"/>
                </a:solidFill>
              </a:rPr>
              <a:t>a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3600" spc="-50" dirty="0">
                <a:solidFill>
                  <a:srgbClr val="FF0000"/>
                </a:solidFill>
              </a:rPr>
              <a:t>ke</a:t>
            </a:r>
            <a:r>
              <a:rPr lang="en-US" altLang="zh-TW" sz="3600" dirty="0">
                <a:solidFill>
                  <a:srgbClr val="FF0000"/>
                </a:solidFill>
              </a:rPr>
              <a:t>y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3600" dirty="0">
                <a:solidFill>
                  <a:srgbClr val="FF0000"/>
                </a:solidFill>
              </a:rPr>
              <a:t>t</a:t>
            </a:r>
            <a:r>
              <a:rPr lang="en-US" altLang="zh-TW" sz="3600" spc="-100" dirty="0">
                <a:solidFill>
                  <a:srgbClr val="FF0000"/>
                </a:solidFill>
              </a:rPr>
              <a:t>h</a:t>
            </a:r>
            <a:r>
              <a:rPr lang="en-US" altLang="zh-TW" sz="3600" dirty="0">
                <a:solidFill>
                  <a:srgbClr val="FF0000"/>
                </a:solidFill>
              </a:rPr>
              <a:t>at </a:t>
            </a:r>
            <a:r>
              <a:rPr lang="en-US" altLang="zh-TW" sz="3600" spc="-40" dirty="0">
                <a:solidFill>
                  <a:srgbClr val="FF0000"/>
                </a:solidFill>
              </a:rPr>
              <a:t>is</a:t>
            </a:r>
            <a:r>
              <a:rPr lang="en-US" altLang="zh-TW" sz="3600" spc="-200" dirty="0">
                <a:solidFill>
                  <a:srgbClr val="FF0000"/>
                </a:solidFill>
              </a:rPr>
              <a:t>n’</a:t>
            </a:r>
            <a:r>
              <a:rPr lang="en-US" altLang="zh-TW" sz="3600" dirty="0">
                <a:solidFill>
                  <a:srgbClr val="FF0000"/>
                </a:solidFill>
              </a:rPr>
              <a:t>t</a:t>
            </a:r>
            <a:r>
              <a:rPr lang="en-US" altLang="zh-TW" sz="3200" dirty="0">
                <a:solidFill>
                  <a:srgbClr val="FF0000"/>
                </a:solidFill>
              </a:rPr>
              <a:t> </a:t>
            </a:r>
            <a:r>
              <a:rPr lang="en-US" altLang="zh-TW" sz="3600" spc="-60" dirty="0">
                <a:solidFill>
                  <a:srgbClr val="FF0000"/>
                </a:solidFill>
              </a:rPr>
              <a:t>i</a:t>
            </a:r>
            <a:r>
              <a:rPr lang="en-US" altLang="zh-TW" sz="3600" dirty="0">
                <a:solidFill>
                  <a:srgbClr val="FF0000"/>
                </a:solidFill>
              </a:rPr>
              <a:t>n</a:t>
            </a:r>
            <a:r>
              <a:rPr lang="en-US" altLang="zh-TW" sz="3200" dirty="0">
                <a:solidFill>
                  <a:srgbClr val="FF0000"/>
                </a:solidFill>
              </a:rPr>
              <a:t> </a:t>
            </a:r>
            <a:r>
              <a:rPr lang="en-US" altLang="zh-TW" sz="3600" dirty="0">
                <a:solidFill>
                  <a:srgbClr val="FF0000"/>
                </a:solidFill>
              </a:rPr>
              <a:t>t</a:t>
            </a:r>
            <a:r>
              <a:rPr lang="en-US" altLang="zh-TW" sz="3600" spc="-100" dirty="0">
                <a:solidFill>
                  <a:srgbClr val="FF0000"/>
                </a:solidFill>
              </a:rPr>
              <a:t>h</a:t>
            </a:r>
            <a:r>
              <a:rPr lang="en-US" altLang="zh-TW" sz="3600" dirty="0">
                <a:solidFill>
                  <a:srgbClr val="FF0000"/>
                </a:solidFill>
              </a:rPr>
              <a:t>e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3600" spc="-50" dirty="0">
                <a:solidFill>
                  <a:srgbClr val="FF0000"/>
                </a:solidFill>
              </a:rPr>
              <a:t>di</a:t>
            </a:r>
            <a:r>
              <a:rPr lang="en-US" altLang="zh-TW" sz="3600" dirty="0">
                <a:solidFill>
                  <a:srgbClr val="FF0000"/>
                </a:solidFill>
              </a:rPr>
              <a:t>ct</a:t>
            </a:r>
            <a:r>
              <a:rPr lang="en-US" altLang="zh-TW" sz="3600" spc="-50" dirty="0">
                <a:solidFill>
                  <a:srgbClr val="FF0000"/>
                </a:solidFill>
              </a:rPr>
              <a:t>i</a:t>
            </a:r>
            <a:r>
              <a:rPr lang="en-US" altLang="zh-TW" sz="3600" spc="-150" dirty="0">
                <a:solidFill>
                  <a:srgbClr val="FF0000"/>
                </a:solidFill>
              </a:rPr>
              <a:t>ona</a:t>
            </a:r>
            <a:r>
              <a:rPr lang="en-US" altLang="zh-TW" sz="3600" dirty="0">
                <a:solidFill>
                  <a:srgbClr val="FF0000"/>
                </a:solidFill>
              </a:rPr>
              <a:t>r</a:t>
            </a:r>
            <a:r>
              <a:rPr lang="en-US" altLang="zh-TW" sz="3600" spc="-100" dirty="0">
                <a:solidFill>
                  <a:srgbClr val="FF0000"/>
                </a:solidFill>
              </a:rPr>
              <a:t>y</a:t>
            </a:r>
            <a:r>
              <a:rPr lang="en-US" altLang="zh-TW" sz="3600" dirty="0">
                <a:solidFill>
                  <a:prstClr val="black"/>
                </a:solidFill>
              </a:rPr>
              <a:t>:</a:t>
            </a:r>
          </a:p>
          <a:p>
            <a:pPr marL="198438" indent="258763">
              <a:buNone/>
            </a:pP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print ("student['GPA']:", student[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'GPA'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]) </a:t>
            </a:r>
          </a:p>
          <a:p>
            <a:pPr marL="198438" indent="258763">
              <a:spcBef>
                <a:spcPts val="300"/>
              </a:spcBef>
              <a:buNone/>
            </a:pPr>
            <a:r>
              <a:rPr lang="en-US" altLang="zh-TW" sz="2400" dirty="0" err="1">
                <a:solidFill>
                  <a:srgbClr val="FFB3B3"/>
                </a:solidFill>
                <a:latin typeface="Lucida Sans Typewriter" panose="020B0509030504030204" pitchFamily="49" charset="0"/>
                <a:cs typeface="Courier New" pitchFamily="49" charset="0"/>
              </a:rPr>
              <a:t>Traceback</a:t>
            </a:r>
            <a:r>
              <a:rPr lang="en-US" altLang="zh-TW" sz="2400" dirty="0">
                <a:solidFill>
                  <a:srgbClr val="FFB3B3"/>
                </a:solidFill>
                <a:latin typeface="Lucida Sans Typewriter" panose="020B0509030504030204" pitchFamily="49" charset="0"/>
                <a:cs typeface="Courier New" pitchFamily="49" charset="0"/>
              </a:rPr>
              <a:t> (most recent call last):</a:t>
            </a:r>
          </a:p>
          <a:p>
            <a:pPr marL="198438" indent="258763"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FFB3B3"/>
                </a:solidFill>
                <a:latin typeface="Lucida Sans Typewriter" panose="020B0509030504030204" pitchFamily="49" charset="0"/>
                <a:cs typeface="Courier New" pitchFamily="49" charset="0"/>
              </a:rPr>
              <a:t>  File "&lt;</a:t>
            </a:r>
            <a:r>
              <a:rPr lang="en-US" altLang="zh-TW" sz="2400" dirty="0" err="1">
                <a:solidFill>
                  <a:srgbClr val="FFB3B3"/>
                </a:solidFill>
                <a:latin typeface="Lucida Sans Typewriter" panose="020B0509030504030204" pitchFamily="49" charset="0"/>
                <a:cs typeface="Courier New" pitchFamily="49" charset="0"/>
              </a:rPr>
              <a:t>stdin</a:t>
            </a:r>
            <a:r>
              <a:rPr lang="en-US" altLang="zh-TW" sz="2400" dirty="0">
                <a:solidFill>
                  <a:srgbClr val="FFB3B3"/>
                </a:solidFill>
                <a:latin typeface="Lucida Sans Typewriter" panose="020B0509030504030204" pitchFamily="49" charset="0"/>
                <a:cs typeface="Courier New" pitchFamily="49" charset="0"/>
              </a:rPr>
              <a:t>&gt;", line 1, in &lt;module&gt;</a:t>
            </a:r>
          </a:p>
          <a:p>
            <a:pPr marL="198438" indent="258763"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C55A11"/>
                </a:solidFill>
                <a:latin typeface="Lucida Sans Typewriter" panose="020B0509030504030204" pitchFamily="49" charset="0"/>
                <a:cs typeface="Courier New" pitchFamily="49" charset="0"/>
              </a:rPr>
              <a:t>KeyError</a:t>
            </a:r>
            <a:r>
              <a:rPr lang="en-US" altLang="zh-TW" sz="2400" dirty="0">
                <a:solidFill>
                  <a:srgbClr val="C55A11"/>
                </a:solidFill>
                <a:latin typeface="Lucida Sans Typewriter" panose="020B0509030504030204" pitchFamily="49" charset="0"/>
                <a:cs typeface="Courier New" pitchFamily="49" charset="0"/>
              </a:rPr>
              <a:t>: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'GPA'</a:t>
            </a:r>
          </a:p>
          <a:p>
            <a:pPr marL="198438" indent="258763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29369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" grpId="0"/>
      <p:bldP spid="6" grpId="0"/>
      <p:bldP spid="3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4294" y="1143000"/>
            <a:ext cx="9983788" cy="5486400"/>
          </a:xfrm>
        </p:spPr>
        <p:txBody>
          <a:bodyPr>
            <a:noAutofit/>
          </a:bodyPr>
          <a:lstStyle/>
          <a:p>
            <a:r>
              <a:rPr lang="en-US" altLang="zh-TW" sz="3600" dirty="0">
                <a:solidFill>
                  <a:schemeClr val="bg1"/>
                </a:solidFill>
              </a:rPr>
              <a:t>Update by adding an entry (i.e., a key-value pair), deleting an entry, or modifying an existing entry.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4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4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4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student={'Name':</a:t>
            </a:r>
            <a:r>
              <a:rPr lang="en-US" altLang="zh-TW" sz="1200" spc="-5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'Bob',</a:t>
            </a:r>
            <a:r>
              <a:rPr lang="en-US" altLang="zh-TW" sz="1200" spc="-5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'Age':</a:t>
            </a:r>
            <a:r>
              <a:rPr lang="en-US" altLang="zh-TW" sz="1200" spc="-5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20,</a:t>
            </a:r>
            <a:r>
              <a:rPr lang="en-US" altLang="zh-TW" sz="1200" spc="-5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'Major':</a:t>
            </a:r>
            <a:r>
              <a:rPr lang="en-US" altLang="zh-TW" sz="1200" spc="-5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'CSE'}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spc="-5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spc="-5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spc="-5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b="1" spc="-5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'GPA'</a:t>
            </a:r>
            <a:r>
              <a:rPr lang="en-US" altLang="zh-TW" sz="2400" spc="-5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] =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spc="-50" dirty="0">
                <a:solidFill>
                  <a:srgbClr val="C55A11"/>
                </a:solidFill>
                <a:latin typeface="Lucida Sans Typewriter" panose="020B0509030504030204" pitchFamily="49" charset="0"/>
                <a:cs typeface="Courier New" pitchFamily="49" charset="0"/>
              </a:rPr>
              <a:t>3.71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spc="-5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print ("student['GPA']:", student['GPA'])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student['GPA']: 3.71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spc="-5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spc="-5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del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b="1" spc="-5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spc="-5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b="1" spc="-5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'Major'</a:t>
            </a:r>
            <a:r>
              <a:rPr lang="en-US" altLang="zh-TW" sz="2400" spc="-5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]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spc="-5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print ("Dictionary:", student)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Dictionary:</a:t>
            </a:r>
            <a:r>
              <a:rPr lang="en-US" altLang="zh-TW" sz="12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{'Name':</a:t>
            </a:r>
            <a:r>
              <a:rPr lang="en-US" altLang="zh-TW" sz="12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'Bob',</a:t>
            </a:r>
            <a:r>
              <a:rPr lang="en-US" altLang="zh-TW" sz="12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'Age':</a:t>
            </a:r>
            <a:r>
              <a:rPr lang="en-US" altLang="zh-TW" sz="12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20,</a:t>
            </a:r>
            <a:r>
              <a:rPr lang="en-US" altLang="zh-TW" sz="12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'GPA':</a:t>
            </a:r>
            <a:r>
              <a:rPr lang="en-US" altLang="zh-TW" sz="12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3.71}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spc="-5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spc="-5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spc="-5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b="1" spc="-50" dirty="0" smtClean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'Age'</a:t>
            </a:r>
            <a:r>
              <a:rPr lang="en-US" altLang="zh-TW" sz="2400" spc="-50" dirty="0" smtClean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]</a:t>
            </a:r>
            <a:r>
              <a:rPr lang="en-US" altLang="zh-TW" sz="2400" spc="-50" dirty="0" smtClean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= </a:t>
            </a:r>
            <a:r>
              <a:rPr lang="en-US" altLang="zh-TW" sz="2400" b="1" spc="-5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21</a:t>
            </a:r>
            <a:endParaRPr lang="en-US" altLang="zh-TW" sz="2400" spc="-5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spc="-5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print ("Dictionary:", student)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Dictionary:</a:t>
            </a:r>
            <a:r>
              <a:rPr lang="en-US" altLang="zh-TW" sz="12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{'Name':</a:t>
            </a:r>
            <a:r>
              <a:rPr lang="en-US" altLang="zh-TW" sz="12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 smtClean="0">
                <a:solidFill>
                  <a:srgbClr val="1F4E79"/>
                </a:solidFill>
                <a:latin typeface="Lucida Sans Typewriter" panose="020B0509030504030204" pitchFamily="49" charset="0"/>
                <a:cs typeface="Courier New" pitchFamily="49" charset="0"/>
              </a:rPr>
              <a:t>'Bob',</a:t>
            </a:r>
            <a:r>
              <a:rPr lang="en-US" altLang="zh-TW" sz="1200" spc="-50" dirty="0" smtClean="0">
                <a:solidFill>
                  <a:srgbClr val="1F4E79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'Age':</a:t>
            </a:r>
            <a:r>
              <a:rPr lang="en-US" altLang="zh-TW" sz="12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 smtClean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21,</a:t>
            </a:r>
            <a:r>
              <a:rPr lang="en-US" altLang="zh-TW" sz="1200" spc="-50" dirty="0" smtClean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'GPA':</a:t>
            </a:r>
            <a:r>
              <a:rPr lang="en-US" altLang="zh-TW" sz="12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3.71}</a:t>
            </a:r>
          </a:p>
          <a:p>
            <a:pPr>
              <a:spcBef>
                <a:spcPts val="600"/>
              </a:spcBef>
              <a:buNone/>
            </a:pPr>
            <a:endParaRPr lang="en-US" altLang="zh-TW" sz="2400" spc="-40" dirty="0">
              <a:solidFill>
                <a:schemeClr val="bg1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4294" y="1060704"/>
            <a:ext cx="9983788" cy="106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>
                <a:solidFill>
                  <a:prstClr val="black"/>
                </a:solidFill>
              </a:rPr>
              <a:t>Update by adding an entry (i.e., a key-value pair), deleting an entry, or modifying an existing entry.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64294" y="1060704"/>
            <a:ext cx="9983788" cy="1066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Update by</a:t>
            </a:r>
            <a:r>
              <a:rPr lang="en-US" altLang="zh-TW" sz="3600" dirty="0">
                <a:solidFill>
                  <a:prstClr val="black"/>
                </a:solidFill>
              </a:rPr>
              <a:t> </a:t>
            </a:r>
            <a:r>
              <a:rPr lang="en-US" altLang="zh-TW" sz="3600" dirty="0">
                <a:solidFill>
                  <a:srgbClr val="FF0000"/>
                </a:solidFill>
              </a:rPr>
              <a:t>adding an entry</a:t>
            </a:r>
            <a:r>
              <a:rPr lang="en-US" altLang="zh-TW" sz="3600" dirty="0">
                <a:solidFill>
                  <a:prstClr val="black"/>
                </a:solidFill>
              </a:rPr>
              <a:t> (i.e., a </a:t>
            </a:r>
            <a:r>
              <a:rPr lang="en-US" altLang="zh-TW" sz="3600" dirty="0">
                <a:solidFill>
                  <a:srgbClr val="008000"/>
                </a:solidFill>
              </a:rPr>
              <a:t>key</a:t>
            </a:r>
            <a:r>
              <a:rPr lang="en-US" altLang="zh-TW" sz="3600" dirty="0">
                <a:solidFill>
                  <a:prstClr val="black"/>
                </a:solidFill>
              </a:rPr>
              <a:t>-</a:t>
            </a:r>
            <a:r>
              <a:rPr lang="en-US" altLang="zh-TW" sz="3600" dirty="0">
                <a:solidFill>
                  <a:srgbClr val="C55A11"/>
                </a:solidFill>
              </a:rPr>
              <a:t>value</a:t>
            </a:r>
            <a:r>
              <a:rPr lang="en-US" altLang="zh-TW" sz="3600" dirty="0">
                <a:solidFill>
                  <a:prstClr val="black"/>
                </a:solidFill>
              </a:rPr>
              <a:t> pair), </a:t>
            </a: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deleting an entry, or modifying an existing entry.</a:t>
            </a: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64294" y="1060704"/>
            <a:ext cx="9983788" cy="1066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Update by adding an entry (i.e., a key-value pair), </a:t>
            </a:r>
            <a:r>
              <a:rPr lang="en-US" altLang="zh-TW" sz="3600" dirty="0">
                <a:solidFill>
                  <a:srgbClr val="FF0000"/>
                </a:solidFill>
              </a:rPr>
              <a:t>deleting </a:t>
            </a:r>
            <a:r>
              <a:rPr lang="en-US" altLang="zh-TW" sz="3600" dirty="0">
                <a:solidFill>
                  <a:srgbClr val="008000"/>
                </a:solidFill>
              </a:rPr>
              <a:t>an</a:t>
            </a:r>
            <a:r>
              <a:rPr lang="en-US" altLang="zh-TW" sz="3600" dirty="0">
                <a:solidFill>
                  <a:srgbClr val="FFC000"/>
                </a:solidFill>
              </a:rPr>
              <a:t> </a:t>
            </a:r>
            <a:r>
              <a:rPr lang="en-US" altLang="zh-TW" sz="3600" dirty="0">
                <a:solidFill>
                  <a:srgbClr val="008000"/>
                </a:solidFill>
              </a:rPr>
              <a:t>entry</a:t>
            </a: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, or modifying an existing entry.</a:t>
            </a: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64294" y="1060704"/>
            <a:ext cx="9983788" cy="1066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Update by adding an entry (i.e., a key-value pair), deleting an entry, or</a:t>
            </a:r>
            <a:r>
              <a:rPr lang="en-US" altLang="zh-TW" sz="3600" dirty="0">
                <a:solidFill>
                  <a:prstClr val="black"/>
                </a:solidFill>
              </a:rPr>
              <a:t> </a:t>
            </a:r>
            <a:r>
              <a:rPr lang="en-US" altLang="zh-TW" sz="3600" dirty="0">
                <a:solidFill>
                  <a:srgbClr val="FF0000"/>
                </a:solidFill>
              </a:rPr>
              <a:t>modifying</a:t>
            </a:r>
            <a:r>
              <a:rPr lang="en-US" altLang="zh-TW" sz="3600" dirty="0">
                <a:solidFill>
                  <a:prstClr val="black"/>
                </a:solidFill>
              </a:rPr>
              <a:t> </a:t>
            </a:r>
            <a:r>
              <a:rPr lang="en-US" altLang="zh-TW" sz="3600" dirty="0">
                <a:solidFill>
                  <a:srgbClr val="008000"/>
                </a:solidFill>
              </a:rPr>
              <a:t>an existing entry</a:t>
            </a:r>
            <a:r>
              <a:rPr lang="en-US" altLang="zh-TW" sz="36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4294" y="220579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dirty="0">
                <a:solidFill>
                  <a:srgbClr val="0070C0"/>
                </a:solidFill>
              </a:rPr>
              <a:t>Updating a Dictionary: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4294" y="1143000"/>
            <a:ext cx="1028700" cy="5486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/>
            </a:r>
            <a:b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</a:br>
            <a:endParaRPr lang="en-US" altLang="zh-TW" sz="3600" dirty="0">
              <a:solidFill>
                <a:prstClr val="white">
                  <a:lumMod val="75000"/>
                </a:prstClr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TW" sz="2400" spc="-4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40" dirty="0">
                <a:solidFill>
                  <a:srgbClr val="C0C0C0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 </a:t>
            </a:r>
            <a:endParaRPr lang="en-US" altLang="zh-TW" sz="2400" spc="-50" dirty="0">
              <a:solidFill>
                <a:srgbClr val="C0C0C0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rgbClr val="C0C0C0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endParaRPr lang="en-US" altLang="zh-TW" sz="2400" b="1" spc="-50" dirty="0">
              <a:solidFill>
                <a:srgbClr val="C0C0C0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rgbClr val="C0C0C0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</a:p>
          <a:p>
            <a:pPr>
              <a:spcBef>
                <a:spcPts val="600"/>
              </a:spcBef>
              <a:buNone/>
            </a:pPr>
            <a:endParaRPr lang="en-US" altLang="zh-TW" sz="2400" spc="-50" dirty="0">
              <a:solidFill>
                <a:srgbClr val="C0C0C0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rgbClr val="C0C0C0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rgbClr val="C0C0C0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rgbClr val="C0C0C0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rgbClr val="C0C0C0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50" dirty="0">
                <a:solidFill>
                  <a:srgbClr val="C0C0C0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</a:p>
          <a:p>
            <a:pPr>
              <a:spcBef>
                <a:spcPts val="600"/>
              </a:spcBef>
              <a:buNone/>
            </a:pPr>
            <a:endParaRPr lang="en-US" altLang="zh-TW" sz="2400" spc="-50" dirty="0">
              <a:solidFill>
                <a:srgbClr val="C0C0C0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TW" sz="2400" spc="-40" dirty="0">
                <a:solidFill>
                  <a:srgbClr val="C0C0C0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</a:p>
          <a:p>
            <a:pPr>
              <a:buFont typeface="Arial" panose="020B0604020202020204" pitchFamily="34" charset="0"/>
              <a:buNone/>
            </a:pPr>
            <a:endParaRPr lang="en-US" altLang="zh-TW" sz="2400" dirty="0">
              <a:solidFill>
                <a:srgbClr val="C0C0C0"/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04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4294" y="1060704"/>
            <a:ext cx="9601200" cy="5905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>
                <a:solidFill>
                  <a:prstClr val="black"/>
                </a:solidFill>
              </a:rPr>
              <a:t>Delete individual dictionary elements, clear all </a:t>
            </a:r>
            <a:br>
              <a:rPr lang="en-US" altLang="zh-TW" sz="3600" dirty="0">
                <a:solidFill>
                  <a:prstClr val="black"/>
                </a:solidFill>
              </a:rPr>
            </a:br>
            <a:r>
              <a:rPr lang="en-US" altLang="zh-TW" sz="3600" dirty="0">
                <a:solidFill>
                  <a:prstClr val="black"/>
                </a:solidFill>
              </a:rPr>
              <a:t>the contents of a dictionary, or delete it entirely: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4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student={'Name':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'Bob',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'Age':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20,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'Major':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'CSE'}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endParaRPr lang="en-US" altLang="zh-TW" sz="2400" dirty="0">
              <a:solidFill>
                <a:prstClr val="white">
                  <a:lumMod val="8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dirty="0">
                <a:solidFill>
                  <a:srgbClr val="0070C0"/>
                </a:solidFill>
              </a:rPr>
              <a:t>Deleting Dictionary Elements:</a:t>
            </a:r>
          </a:p>
        </p:txBody>
      </p:sp>
    </p:spTree>
    <p:extLst>
      <p:ext uri="{BB962C8B-B14F-4D97-AF65-F5344CB8AC3E}">
        <p14:creationId xmlns:p14="http://schemas.microsoft.com/office/powerpoint/2010/main" val="191626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4294" y="1060704"/>
            <a:ext cx="9601200" cy="5905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>
                  <a:lumMod val="75000"/>
                </a:prstClr>
              </a:buClr>
            </a:pPr>
            <a:r>
              <a:rPr lang="en-US" altLang="zh-TW" sz="3600" dirty="0">
                <a:solidFill>
                  <a:srgbClr val="FF0000"/>
                </a:solidFill>
              </a:rPr>
              <a:t>Delete</a:t>
            </a: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 </a:t>
            </a:r>
            <a:r>
              <a:rPr lang="en-US" altLang="zh-TW" sz="3600" dirty="0">
                <a:solidFill>
                  <a:srgbClr val="008000"/>
                </a:solidFill>
              </a:rPr>
              <a:t>individual dictionary elements</a:t>
            </a: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, clear all </a:t>
            </a:r>
            <a:b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</a:b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the contents of a dictionary, or delete it entirely: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4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student={'Name':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'Bob',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'Age':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20,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'Major':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'CSE'}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del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(student[</a:t>
            </a:r>
            <a:r>
              <a:rPr lang="en-US" altLang="zh-TW" sz="2400" b="1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'Major'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])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endParaRPr lang="en-US" altLang="zh-TW" sz="2400" dirty="0">
              <a:solidFill>
                <a:prstClr val="white">
                  <a:lumMod val="8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dirty="0">
                <a:solidFill>
                  <a:srgbClr val="0070C0"/>
                </a:solidFill>
              </a:rPr>
              <a:t>Deleting Dictionary Elements:</a:t>
            </a:r>
          </a:p>
        </p:txBody>
      </p:sp>
    </p:spTree>
    <p:extLst>
      <p:ext uri="{BB962C8B-B14F-4D97-AF65-F5344CB8AC3E}">
        <p14:creationId xmlns:p14="http://schemas.microsoft.com/office/powerpoint/2010/main" val="224739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4294" y="1060704"/>
            <a:ext cx="9601200" cy="5905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>
                  <a:lumMod val="75000"/>
                </a:prstClr>
              </a:buClr>
            </a:pPr>
            <a:r>
              <a:rPr lang="en-US" altLang="zh-TW" sz="3600" dirty="0">
                <a:solidFill>
                  <a:srgbClr val="FF0000"/>
                </a:solidFill>
              </a:rPr>
              <a:t>Delete</a:t>
            </a: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 </a:t>
            </a:r>
            <a:r>
              <a:rPr lang="en-US" altLang="zh-TW" sz="3600" dirty="0">
                <a:solidFill>
                  <a:srgbClr val="008000"/>
                </a:solidFill>
              </a:rPr>
              <a:t>individual dictionary elements</a:t>
            </a: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, clear all </a:t>
            </a:r>
            <a:b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</a:b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the contents of a dictionary, or delete it entirely: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4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student={'Name':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'Bob',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'Age':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20,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'Major':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'CSE'}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del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(student[</a:t>
            </a:r>
            <a:r>
              <a:rPr lang="en-US" altLang="zh-TW" sz="2400" b="1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'Major'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])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 ("Dictionary:", student)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5B9BD5">
                    <a:lumMod val="50000"/>
                  </a:srgbClr>
                </a:solidFill>
                <a:latin typeface="Lucida Sans Typewriter" panose="020B0509030504030204" pitchFamily="49" charset="0"/>
                <a:cs typeface="Courier New" pitchFamily="49" charset="0"/>
              </a:rPr>
              <a:t> Dictionary: {'Name': 'Bob', 'Age': 20}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endParaRPr lang="en-US" altLang="zh-TW" sz="2400" dirty="0">
              <a:solidFill>
                <a:prstClr val="white">
                  <a:lumMod val="8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dirty="0">
                <a:solidFill>
                  <a:srgbClr val="0070C0"/>
                </a:solidFill>
              </a:rPr>
              <a:t>Deleting Dictionary Elements:</a:t>
            </a:r>
          </a:p>
        </p:txBody>
      </p:sp>
    </p:spTree>
    <p:extLst>
      <p:ext uri="{BB962C8B-B14F-4D97-AF65-F5344CB8AC3E}">
        <p14:creationId xmlns:p14="http://schemas.microsoft.com/office/powerpoint/2010/main" val="74470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4294" y="1060704"/>
            <a:ext cx="9601200" cy="5905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Delete individual dictionary elements, </a:t>
            </a:r>
            <a:r>
              <a:rPr lang="en-US" altLang="zh-TW" sz="3600" dirty="0">
                <a:solidFill>
                  <a:srgbClr val="FF0000"/>
                </a:solidFill>
              </a:rPr>
              <a:t>clear all </a:t>
            </a:r>
            <a:br>
              <a:rPr lang="en-US" altLang="zh-TW" sz="3600" dirty="0">
                <a:solidFill>
                  <a:srgbClr val="FF0000"/>
                </a:solidFill>
              </a:rPr>
            </a:br>
            <a:r>
              <a:rPr lang="en-US" altLang="zh-TW" sz="3600" dirty="0">
                <a:solidFill>
                  <a:srgbClr val="FF0000"/>
                </a:solidFill>
              </a:rPr>
              <a:t>the contents</a:t>
            </a:r>
            <a:r>
              <a:rPr lang="en-US" altLang="zh-TW" sz="3600" dirty="0">
                <a:solidFill>
                  <a:prstClr val="black"/>
                </a:solidFill>
              </a:rPr>
              <a:t> </a:t>
            </a:r>
            <a:r>
              <a:rPr lang="en-US" altLang="zh-TW" sz="3600" dirty="0">
                <a:solidFill>
                  <a:srgbClr val="008000"/>
                </a:solidFill>
              </a:rPr>
              <a:t>of a dictionary</a:t>
            </a: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, or delete it entirely: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4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student={'Name':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'Bob',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'Age':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20,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'Major':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'CSE'}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del(student['Major'])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 ("Dictionary:", student)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5B9BD5">
                    <a:lumMod val="50000"/>
                  </a:srgbClr>
                </a:solidFill>
                <a:latin typeface="Lucida Sans Typewriter" panose="020B0509030504030204" pitchFamily="49" charset="0"/>
                <a:cs typeface="Courier New" pitchFamily="49" charset="0"/>
              </a:rPr>
              <a:t> Dictionary: {'Name': 'Bob', 'Age': 20}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 err="1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b="1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.clear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()</a:t>
            </a:r>
            <a:endParaRPr lang="en-US" altLang="zh-TW" sz="24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endParaRPr lang="en-US" altLang="zh-TW" sz="2400" dirty="0">
              <a:solidFill>
                <a:prstClr val="white">
                  <a:lumMod val="8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dirty="0">
                <a:solidFill>
                  <a:srgbClr val="0070C0"/>
                </a:solidFill>
              </a:rPr>
              <a:t>Deleting Dictionary Elements:</a:t>
            </a:r>
          </a:p>
        </p:txBody>
      </p:sp>
    </p:spTree>
    <p:extLst>
      <p:ext uri="{BB962C8B-B14F-4D97-AF65-F5344CB8AC3E}">
        <p14:creationId xmlns:p14="http://schemas.microsoft.com/office/powerpoint/2010/main" val="332328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4294" y="1060704"/>
            <a:ext cx="9601200" cy="5905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Delete individual dictionary elements, </a:t>
            </a:r>
            <a:r>
              <a:rPr lang="en-US" altLang="zh-TW" sz="3600" dirty="0">
                <a:solidFill>
                  <a:srgbClr val="FF0000"/>
                </a:solidFill>
              </a:rPr>
              <a:t>clear all </a:t>
            </a:r>
            <a:br>
              <a:rPr lang="en-US" altLang="zh-TW" sz="3600" dirty="0">
                <a:solidFill>
                  <a:srgbClr val="FF0000"/>
                </a:solidFill>
              </a:rPr>
            </a:br>
            <a:r>
              <a:rPr lang="en-US" altLang="zh-TW" sz="3600" dirty="0">
                <a:solidFill>
                  <a:srgbClr val="FF0000"/>
                </a:solidFill>
              </a:rPr>
              <a:t>the contents</a:t>
            </a:r>
            <a:r>
              <a:rPr lang="en-US" altLang="zh-TW" sz="3600" dirty="0">
                <a:solidFill>
                  <a:prstClr val="black"/>
                </a:solidFill>
              </a:rPr>
              <a:t> </a:t>
            </a:r>
            <a:r>
              <a:rPr lang="en-US" altLang="zh-TW" sz="3600" dirty="0">
                <a:solidFill>
                  <a:srgbClr val="008000"/>
                </a:solidFill>
              </a:rPr>
              <a:t>of a dictionary</a:t>
            </a: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, or delete it entirely: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4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student={'Name':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'Bob',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'Age':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20,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'Major':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'CSE'}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del(student['Major'])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 ("Dictionary:", student)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5B9BD5">
                    <a:lumMod val="50000"/>
                  </a:srgbClr>
                </a:solidFill>
                <a:latin typeface="Lucida Sans Typewriter" panose="020B0509030504030204" pitchFamily="49" charset="0"/>
                <a:cs typeface="Courier New" pitchFamily="49" charset="0"/>
              </a:rPr>
              <a:t> Dictionary: {'Name': 'Bob', 'Age': 20}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 err="1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b="1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.clear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()</a:t>
            </a:r>
            <a:endParaRPr lang="en-US" altLang="zh-TW" sz="24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 ("Dictionary:", student)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1F4E79"/>
                </a:solidFill>
                <a:latin typeface="Lucida Sans Typewriter" panose="020B0509030504030204" pitchFamily="49" charset="0"/>
                <a:cs typeface="Courier New" pitchFamily="49" charset="0"/>
              </a:rPr>
              <a:t> Dictionary: {}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endParaRPr lang="en-US" altLang="zh-TW" sz="2400" dirty="0">
              <a:solidFill>
                <a:prstClr val="white">
                  <a:lumMod val="8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dirty="0">
                <a:solidFill>
                  <a:srgbClr val="0070C0"/>
                </a:solidFill>
              </a:rPr>
              <a:t>Deleting Dictionary Elements:</a:t>
            </a:r>
          </a:p>
        </p:txBody>
      </p:sp>
    </p:spTree>
    <p:extLst>
      <p:ext uri="{BB962C8B-B14F-4D97-AF65-F5344CB8AC3E}">
        <p14:creationId xmlns:p14="http://schemas.microsoft.com/office/powerpoint/2010/main" val="402021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4294" y="1060704"/>
            <a:ext cx="9601200" cy="5905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Delete individual dictionary elements, clear all </a:t>
            </a:r>
            <a:b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</a:b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the contents of a dictionary, or </a:t>
            </a:r>
            <a:r>
              <a:rPr lang="en-US" altLang="zh-TW" sz="3600" dirty="0">
                <a:solidFill>
                  <a:srgbClr val="FF0000"/>
                </a:solidFill>
              </a:rPr>
              <a:t>delete </a:t>
            </a:r>
            <a:r>
              <a:rPr lang="en-US" altLang="zh-TW" sz="3600" dirty="0">
                <a:solidFill>
                  <a:srgbClr val="008000"/>
                </a:solidFill>
              </a:rPr>
              <a:t>it</a:t>
            </a:r>
            <a:r>
              <a:rPr lang="en-US" altLang="zh-TW" sz="3600" dirty="0">
                <a:solidFill>
                  <a:srgbClr val="FF0000"/>
                </a:solidFill>
              </a:rPr>
              <a:t> entirely</a:t>
            </a: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4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student={'Name':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'Bob',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'Age':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20,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'Major':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'CSE'}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del(student['Major'])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 ("Dictionary:", student)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5B9BD5">
                    <a:lumMod val="50000"/>
                  </a:srgbClr>
                </a:solidFill>
                <a:latin typeface="Lucida Sans Typewriter" panose="020B0509030504030204" pitchFamily="49" charset="0"/>
                <a:cs typeface="Courier New" pitchFamily="49" charset="0"/>
              </a:rPr>
              <a:t> Dictionary: {'Name': 'Bob', 'Age': 20}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student.clear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()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 ("Dictionary:", student)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1F4E79"/>
                </a:solidFill>
                <a:latin typeface="Lucida Sans Typewriter" panose="020B0509030504030204" pitchFamily="49" charset="0"/>
                <a:cs typeface="Courier New" pitchFamily="49" charset="0"/>
              </a:rPr>
              <a:t> Dictionary: {}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del(</a:t>
            </a:r>
            <a:r>
              <a:rPr lang="en-US" altLang="zh-TW" sz="2400" b="1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endParaRPr lang="en-US" altLang="zh-TW" sz="2400" dirty="0">
              <a:solidFill>
                <a:prstClr val="white">
                  <a:lumMod val="8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dirty="0">
                <a:solidFill>
                  <a:srgbClr val="0070C0"/>
                </a:solidFill>
              </a:rPr>
              <a:t>Deleting Dictionary Elements:</a:t>
            </a:r>
          </a:p>
        </p:txBody>
      </p:sp>
    </p:spTree>
    <p:extLst>
      <p:ext uri="{BB962C8B-B14F-4D97-AF65-F5344CB8AC3E}">
        <p14:creationId xmlns:p14="http://schemas.microsoft.com/office/powerpoint/2010/main" val="279038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4294" y="1060704"/>
            <a:ext cx="9601200" cy="5905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Delete individual dictionary elements, clear all </a:t>
            </a:r>
            <a:b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</a:b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the contents of a dictionary, or </a:t>
            </a:r>
            <a:r>
              <a:rPr lang="en-US" altLang="zh-TW" sz="3600" dirty="0">
                <a:solidFill>
                  <a:srgbClr val="FF0000"/>
                </a:solidFill>
              </a:rPr>
              <a:t>delete </a:t>
            </a:r>
            <a:r>
              <a:rPr lang="en-US" altLang="zh-TW" sz="3600" dirty="0">
                <a:solidFill>
                  <a:srgbClr val="008000"/>
                </a:solidFill>
              </a:rPr>
              <a:t>it</a:t>
            </a:r>
            <a:r>
              <a:rPr lang="en-US" altLang="zh-TW" sz="3600" dirty="0">
                <a:solidFill>
                  <a:srgbClr val="FF0000"/>
                </a:solidFill>
              </a:rPr>
              <a:t> entirely</a:t>
            </a:r>
            <a:r>
              <a:rPr lang="en-US" altLang="zh-TW" sz="3600" dirty="0">
                <a:solidFill>
                  <a:prstClr val="white">
                    <a:lumMod val="75000"/>
                  </a:prstClr>
                </a:solidFill>
              </a:rPr>
              <a:t>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400" spc="-4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student={'Name':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'Bob',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'Age':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20,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'Major':</a:t>
            </a:r>
            <a:r>
              <a:rPr lang="en-US" altLang="zh-TW" sz="12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'CSE'}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del(student['Major'])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 ("Dictionary:", student)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5B9BD5">
                    <a:lumMod val="50000"/>
                  </a:srgbClr>
                </a:solidFill>
                <a:latin typeface="Lucida Sans Typewriter" panose="020B0509030504030204" pitchFamily="49" charset="0"/>
                <a:cs typeface="Courier New" pitchFamily="49" charset="0"/>
              </a:rPr>
              <a:t> Dictionary: {'Name': 'Bob', 'Age': 20}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student.clear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()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 ("Dictionary:", student)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1F4E79"/>
                </a:solidFill>
                <a:latin typeface="Lucida Sans Typewriter" panose="020B0509030504030204" pitchFamily="49" charset="0"/>
                <a:cs typeface="Courier New" pitchFamily="49" charset="0"/>
              </a:rPr>
              <a:t> Dictionary: {}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del(</a:t>
            </a:r>
            <a:r>
              <a:rPr lang="en-US" altLang="zh-TW" sz="2400" b="1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dirty="0">
                <a:solidFill>
                  <a:prstClr val="white">
                    <a:lumMod val="50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 ("Dictionary:", student)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 err="1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Traceback</a:t>
            </a:r>
            <a:r>
              <a:rPr lang="en-US" altLang="zh-TW" sz="2400" dirty="0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 (most recent call last):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   File "&lt;</a:t>
            </a:r>
            <a:r>
              <a:rPr lang="en-US" altLang="zh-TW" sz="2400" dirty="0" err="1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stdin</a:t>
            </a:r>
            <a:r>
              <a:rPr lang="en-US" altLang="zh-TW" sz="2400" dirty="0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&gt;", line 1, in &lt;module&gt;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 err="1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NameError</a:t>
            </a:r>
            <a:r>
              <a:rPr lang="en-US" altLang="zh-TW" sz="2400" dirty="0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: name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'student' is not defined</a:t>
            </a:r>
          </a:p>
          <a:p>
            <a:pPr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</a:p>
          <a:p>
            <a:pPr>
              <a:spcBef>
                <a:spcPts val="600"/>
              </a:spcBef>
              <a:buNone/>
            </a:pPr>
            <a:endParaRPr lang="en-US" altLang="zh-TW" sz="2400" dirty="0">
              <a:solidFill>
                <a:prstClr val="white">
                  <a:lumMod val="8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dirty="0">
                <a:solidFill>
                  <a:srgbClr val="0070C0"/>
                </a:solidFill>
              </a:rPr>
              <a:t>Deleting Dictionary Elements:</a:t>
            </a:r>
          </a:p>
        </p:txBody>
      </p:sp>
    </p:spTree>
    <p:extLst>
      <p:ext uri="{BB962C8B-B14F-4D97-AF65-F5344CB8AC3E}">
        <p14:creationId xmlns:p14="http://schemas.microsoft.com/office/powerpoint/2010/main" val="2702260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4400" dirty="0">
                <a:solidFill>
                  <a:srgbClr val="0070C0"/>
                </a:solidFill>
              </a:rPr>
              <a:t>Properties of Dictionary Keys: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4294" y="1062790"/>
            <a:ext cx="9601200" cy="5905500"/>
          </a:xfrm>
        </p:spPr>
        <p:txBody>
          <a:bodyPr>
            <a:noAutofit/>
          </a:bodyPr>
          <a:lstStyle/>
          <a:p>
            <a:r>
              <a:rPr lang="en-US" altLang="zh-TW" sz="3600" spc="-20" dirty="0"/>
              <a:t>Dicti</a:t>
            </a:r>
            <a:r>
              <a:rPr lang="en-US" altLang="zh-TW" sz="3600" spc="-100" dirty="0"/>
              <a:t>ona</a:t>
            </a:r>
            <a:r>
              <a:rPr lang="en-US" altLang="zh-TW" sz="3600" spc="-20" dirty="0"/>
              <a:t>ry</a:t>
            </a:r>
            <a:r>
              <a:rPr lang="en-US" altLang="zh-TW" sz="3600" spc="-20" dirty="0">
                <a:solidFill>
                  <a:srgbClr val="1F4E79"/>
                </a:solidFill>
              </a:rPr>
              <a:t> </a:t>
            </a:r>
            <a:r>
              <a:rPr lang="en-US" altLang="zh-TW" sz="3600" b="1" spc="-20" dirty="0">
                <a:solidFill>
                  <a:srgbClr val="FF0000"/>
                </a:solidFill>
              </a:rPr>
              <a:t>values</a:t>
            </a:r>
            <a:r>
              <a:rPr lang="en-US" altLang="zh-TW" sz="3600" spc="-20" dirty="0">
                <a:solidFill>
                  <a:srgbClr val="1F4E79"/>
                </a:solidFill>
              </a:rPr>
              <a:t> </a:t>
            </a:r>
            <a:r>
              <a:rPr lang="en-US" altLang="zh-TW" sz="3600" spc="-80" dirty="0"/>
              <a:t>have </a:t>
            </a:r>
            <a:r>
              <a:rPr lang="en-US" altLang="zh-TW" sz="3600" b="1" spc="-80" dirty="0">
                <a:solidFill>
                  <a:srgbClr val="FF0000"/>
                </a:solidFill>
              </a:rPr>
              <a:t>n</a:t>
            </a:r>
            <a:r>
              <a:rPr lang="en-US" altLang="zh-TW" sz="3600" b="1" spc="-20" dirty="0">
                <a:solidFill>
                  <a:srgbClr val="FF0000"/>
                </a:solidFill>
              </a:rPr>
              <a:t>o restrictions</a:t>
            </a:r>
            <a:r>
              <a:rPr lang="en-US" altLang="zh-TW" sz="3600" spc="-20" dirty="0"/>
              <a:t>: </a:t>
            </a:r>
            <a:r>
              <a:rPr lang="en-US" altLang="zh-TW" sz="3600" spc="-60" dirty="0"/>
              <a:t>any obj</a:t>
            </a:r>
            <a:r>
              <a:rPr lang="en-US" altLang="zh-TW" sz="3600" spc="-20" dirty="0"/>
              <a:t>ect, either standard objects or user-defined objects. </a:t>
            </a:r>
          </a:p>
          <a:p>
            <a:pPr>
              <a:spcAft>
                <a:spcPts val="1000"/>
              </a:spcAft>
            </a:pPr>
            <a:r>
              <a:rPr lang="en-US" altLang="zh-TW" sz="3600" spc="-100" dirty="0">
                <a:solidFill>
                  <a:schemeClr val="bg1"/>
                </a:solidFill>
              </a:rPr>
              <a:t>Keys mu</a:t>
            </a:r>
            <a:r>
              <a:rPr lang="en-US" altLang="zh-TW" sz="3600" spc="-50" dirty="0">
                <a:solidFill>
                  <a:schemeClr val="bg1"/>
                </a:solidFill>
              </a:rPr>
              <a:t>s</a:t>
            </a:r>
            <a:r>
              <a:rPr lang="en-US" altLang="zh-TW" sz="3600" spc="-100" dirty="0">
                <a:solidFill>
                  <a:schemeClr val="bg1"/>
                </a:solidFill>
              </a:rPr>
              <a:t>t be </a:t>
            </a:r>
            <a:r>
              <a:rPr lang="en-US" altLang="zh-TW" sz="3600" b="1" spc="-100" dirty="0">
                <a:solidFill>
                  <a:schemeClr val="bg1"/>
                </a:solidFill>
              </a:rPr>
              <a:t>immutable</a:t>
            </a:r>
            <a:r>
              <a:rPr lang="en-US" altLang="zh-TW" sz="3600" spc="-100" dirty="0">
                <a:solidFill>
                  <a:schemeClr val="bg1"/>
                </a:solidFill>
              </a:rPr>
              <a:t>: string</a:t>
            </a:r>
            <a:r>
              <a:rPr lang="en-US" altLang="zh-TW" sz="3600" spc="-300" dirty="0">
                <a:solidFill>
                  <a:schemeClr val="bg1"/>
                </a:solidFill>
              </a:rPr>
              <a:t>s</a:t>
            </a:r>
            <a:r>
              <a:rPr lang="en-US" altLang="zh-TW" sz="3600" spc="-150" dirty="0">
                <a:solidFill>
                  <a:schemeClr val="bg1"/>
                </a:solidFill>
              </a:rPr>
              <a:t>, num</a:t>
            </a:r>
            <a:r>
              <a:rPr lang="en-US" altLang="zh-TW" sz="3600" spc="-100" dirty="0">
                <a:solidFill>
                  <a:schemeClr val="bg1"/>
                </a:solidFill>
              </a:rPr>
              <a:t>be</a:t>
            </a:r>
            <a:r>
              <a:rPr lang="en-US" altLang="zh-TW" sz="3600" spc="-50" dirty="0">
                <a:solidFill>
                  <a:schemeClr val="bg1"/>
                </a:solidFill>
              </a:rPr>
              <a:t>r</a:t>
            </a:r>
            <a:r>
              <a:rPr lang="en-US" altLang="zh-TW" sz="3600" spc="-100" dirty="0">
                <a:solidFill>
                  <a:schemeClr val="bg1"/>
                </a:solidFill>
              </a:rPr>
              <a:t>s </a:t>
            </a:r>
            <a:r>
              <a:rPr lang="en-US" altLang="zh-TW" sz="3600" spc="-130" dirty="0">
                <a:solidFill>
                  <a:schemeClr val="bg1"/>
                </a:solidFill>
              </a:rPr>
              <a:t>o</a:t>
            </a:r>
            <a:r>
              <a:rPr lang="en-US" altLang="zh-TW" sz="3600" spc="-100" dirty="0">
                <a:solidFill>
                  <a:schemeClr val="bg1"/>
                </a:solidFill>
              </a:rPr>
              <a:t>r tuple</a:t>
            </a:r>
            <a:r>
              <a:rPr lang="en-US" altLang="zh-TW" sz="3600" spc="-200" dirty="0">
                <a:solidFill>
                  <a:schemeClr val="bg1"/>
                </a:solidFill>
              </a:rPr>
              <a:t>s</a:t>
            </a:r>
            <a:r>
              <a:rPr lang="en-US" altLang="zh-TW" sz="3600" spc="-100" dirty="0">
                <a:solidFill>
                  <a:schemeClr val="bg1"/>
                </a:solidFill>
              </a:rPr>
              <a:t>.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student={'CSE':</a:t>
            </a:r>
            <a:r>
              <a:rPr lang="en-US" altLang="zh-TW" sz="2400" spc="-2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[1,(((2,),),)]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weird={(5,):</a:t>
            </a:r>
            <a:r>
              <a:rPr lang="en-US" altLang="zh-TW" sz="2400" spc="-2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, 2+3j:</a:t>
            </a:r>
            <a:r>
              <a:rPr lang="en-US" altLang="zh-TW" sz="2400" spc="-2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"str"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print ("Weird:", weird)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Weird:</a:t>
            </a:r>
            <a:r>
              <a:rPr lang="en-US" altLang="zh-TW" sz="18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{(5,):</a:t>
            </a:r>
            <a:r>
              <a:rPr lang="en-US" altLang="zh-TW" sz="16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{'CSE</a:t>
            </a:r>
            <a:r>
              <a:rPr lang="en-US" altLang="zh-TW" sz="2400" spc="-1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':</a:t>
            </a:r>
            <a:r>
              <a:rPr lang="en-US" altLang="zh-TW" sz="16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spc="-7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6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(((</a:t>
            </a:r>
            <a:r>
              <a:rPr lang="en-US" altLang="zh-TW" sz="2400" spc="-8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2,),),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)]</a:t>
            </a:r>
            <a:r>
              <a:rPr lang="en-US" altLang="zh-TW" sz="2400" spc="-9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0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(2+3j</a:t>
            </a:r>
            <a:r>
              <a:rPr lang="en-US" altLang="zh-TW" sz="2400" spc="-20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10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spc="-20" dirty="0" err="1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st</a:t>
            </a:r>
            <a:r>
              <a:rPr lang="en-US" altLang="zh-TW" sz="2400" spc="-200" dirty="0" err="1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r</a:t>
            </a:r>
            <a:r>
              <a:rPr lang="en-US" altLang="zh-TW" sz="2400" spc="-20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endParaRPr lang="en-US" altLang="zh-TW" sz="2400" spc="-20" dirty="0">
              <a:solidFill>
                <a:schemeClr val="bg1">
                  <a:lumMod val="8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7037" y="2830808"/>
            <a:ext cx="914400" cy="20648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altLang="zh-TW" sz="2400" spc="-2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07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4400" dirty="0">
                <a:solidFill>
                  <a:srgbClr val="0070C0"/>
                </a:solidFill>
              </a:rPr>
              <a:t>Properties of Dictionary Keys: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4294" y="1062790"/>
            <a:ext cx="9601200" cy="5905500"/>
          </a:xfrm>
        </p:spPr>
        <p:txBody>
          <a:bodyPr>
            <a:noAutofit/>
          </a:bodyPr>
          <a:lstStyle/>
          <a:p>
            <a:r>
              <a:rPr lang="en-US" altLang="zh-TW" sz="3600" spc="-20" dirty="0"/>
              <a:t>Dicti</a:t>
            </a:r>
            <a:r>
              <a:rPr lang="en-US" altLang="zh-TW" sz="3600" spc="-100" dirty="0"/>
              <a:t>ona</a:t>
            </a:r>
            <a:r>
              <a:rPr lang="en-US" altLang="zh-TW" sz="3600" spc="-20" dirty="0"/>
              <a:t>ry</a:t>
            </a:r>
            <a:r>
              <a:rPr lang="en-US" altLang="zh-TW" sz="3600" spc="-20" dirty="0">
                <a:solidFill>
                  <a:srgbClr val="1F4E79"/>
                </a:solidFill>
              </a:rPr>
              <a:t> </a:t>
            </a:r>
            <a:r>
              <a:rPr lang="en-US" altLang="zh-TW" sz="3600" b="1" spc="-20" dirty="0"/>
              <a:t>values</a:t>
            </a:r>
            <a:r>
              <a:rPr lang="en-US" altLang="zh-TW" sz="3600" spc="-20" dirty="0"/>
              <a:t> </a:t>
            </a:r>
            <a:r>
              <a:rPr lang="en-US" altLang="zh-TW" sz="3600" spc="-80" dirty="0"/>
              <a:t>have </a:t>
            </a:r>
            <a:r>
              <a:rPr lang="en-US" altLang="zh-TW" sz="3600" b="1" spc="-80" dirty="0"/>
              <a:t>n</a:t>
            </a:r>
            <a:r>
              <a:rPr lang="en-US" altLang="zh-TW" sz="3600" b="1" spc="-20" dirty="0"/>
              <a:t>o restrictions</a:t>
            </a:r>
            <a:r>
              <a:rPr lang="en-US" altLang="zh-TW" sz="3600" spc="-20" dirty="0"/>
              <a:t>: </a:t>
            </a:r>
            <a:r>
              <a:rPr lang="en-US" altLang="zh-TW" sz="3600" spc="-60" dirty="0"/>
              <a:t>any obj</a:t>
            </a:r>
            <a:r>
              <a:rPr lang="en-US" altLang="zh-TW" sz="3600" spc="-20" dirty="0"/>
              <a:t>ect, either </a:t>
            </a:r>
            <a:r>
              <a:rPr lang="en-US" altLang="zh-TW" sz="3600" spc="-20" dirty="0">
                <a:solidFill>
                  <a:srgbClr val="C55A11"/>
                </a:solidFill>
              </a:rPr>
              <a:t>standard</a:t>
            </a:r>
            <a:r>
              <a:rPr lang="en-US" altLang="zh-TW" sz="3600" spc="-20" dirty="0"/>
              <a:t> </a:t>
            </a:r>
            <a:r>
              <a:rPr lang="en-US" altLang="zh-TW" sz="3600" spc="-20" dirty="0">
                <a:solidFill>
                  <a:srgbClr val="C55A11"/>
                </a:solidFill>
              </a:rPr>
              <a:t>objects</a:t>
            </a:r>
            <a:r>
              <a:rPr lang="en-US" altLang="zh-TW" sz="3600" spc="-20" dirty="0"/>
              <a:t> or user-defined objects. </a:t>
            </a:r>
          </a:p>
          <a:p>
            <a:pPr>
              <a:spcAft>
                <a:spcPts val="1000"/>
              </a:spcAft>
            </a:pPr>
            <a:r>
              <a:rPr lang="en-US" altLang="zh-TW" sz="3600" spc="-100" dirty="0">
                <a:solidFill>
                  <a:schemeClr val="bg1"/>
                </a:solidFill>
              </a:rPr>
              <a:t>Keys mu</a:t>
            </a:r>
            <a:r>
              <a:rPr lang="en-US" altLang="zh-TW" sz="3600" spc="-50" dirty="0">
                <a:solidFill>
                  <a:schemeClr val="bg1"/>
                </a:solidFill>
              </a:rPr>
              <a:t>s</a:t>
            </a:r>
            <a:r>
              <a:rPr lang="en-US" altLang="zh-TW" sz="3600" spc="-100" dirty="0">
                <a:solidFill>
                  <a:schemeClr val="bg1"/>
                </a:solidFill>
              </a:rPr>
              <a:t>t be </a:t>
            </a:r>
            <a:r>
              <a:rPr lang="en-US" altLang="zh-TW" sz="3600" b="1" spc="-100" dirty="0">
                <a:solidFill>
                  <a:schemeClr val="bg1"/>
                </a:solidFill>
              </a:rPr>
              <a:t>immutable</a:t>
            </a:r>
            <a:r>
              <a:rPr lang="en-US" altLang="zh-TW" sz="3600" spc="-100" dirty="0">
                <a:solidFill>
                  <a:schemeClr val="bg1"/>
                </a:solidFill>
              </a:rPr>
              <a:t>: string</a:t>
            </a:r>
            <a:r>
              <a:rPr lang="en-US" altLang="zh-TW" sz="3600" spc="-300" dirty="0">
                <a:solidFill>
                  <a:schemeClr val="bg1"/>
                </a:solidFill>
              </a:rPr>
              <a:t>s</a:t>
            </a:r>
            <a:r>
              <a:rPr lang="en-US" altLang="zh-TW" sz="3600" spc="-150" dirty="0">
                <a:solidFill>
                  <a:schemeClr val="bg1"/>
                </a:solidFill>
              </a:rPr>
              <a:t>, num</a:t>
            </a:r>
            <a:r>
              <a:rPr lang="en-US" altLang="zh-TW" sz="3600" spc="-100" dirty="0">
                <a:solidFill>
                  <a:schemeClr val="bg1"/>
                </a:solidFill>
              </a:rPr>
              <a:t>be</a:t>
            </a:r>
            <a:r>
              <a:rPr lang="en-US" altLang="zh-TW" sz="3600" spc="-50" dirty="0">
                <a:solidFill>
                  <a:schemeClr val="bg1"/>
                </a:solidFill>
              </a:rPr>
              <a:t>r</a:t>
            </a:r>
            <a:r>
              <a:rPr lang="en-US" altLang="zh-TW" sz="3600" spc="-100" dirty="0">
                <a:solidFill>
                  <a:schemeClr val="bg1"/>
                </a:solidFill>
              </a:rPr>
              <a:t>s </a:t>
            </a:r>
            <a:r>
              <a:rPr lang="en-US" altLang="zh-TW" sz="3600" spc="-130" dirty="0">
                <a:solidFill>
                  <a:schemeClr val="bg1"/>
                </a:solidFill>
              </a:rPr>
              <a:t>o</a:t>
            </a:r>
            <a:r>
              <a:rPr lang="en-US" altLang="zh-TW" sz="3600" spc="-100" dirty="0">
                <a:solidFill>
                  <a:schemeClr val="bg1"/>
                </a:solidFill>
              </a:rPr>
              <a:t>r tuple</a:t>
            </a:r>
            <a:r>
              <a:rPr lang="en-US" altLang="zh-TW" sz="3600" spc="-200" dirty="0">
                <a:solidFill>
                  <a:schemeClr val="bg1"/>
                </a:solidFill>
              </a:rPr>
              <a:t>s</a:t>
            </a:r>
            <a:r>
              <a:rPr lang="en-US" altLang="zh-TW" sz="3600" spc="-100" dirty="0">
                <a:solidFill>
                  <a:schemeClr val="bg1"/>
                </a:solidFill>
              </a:rPr>
              <a:t>.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student={'CSE':[1,(((2,),),)]}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weird={(5,):student, 2+3j:</a:t>
            </a:r>
            <a:r>
              <a:rPr lang="en-US" altLang="zh-TW" sz="2400" b="1" spc="-20" dirty="0">
                <a:solidFill>
                  <a:srgbClr val="C55A11"/>
                </a:solidFill>
                <a:latin typeface="Lucida Sans Typewriter" panose="020B0509030504030204" pitchFamily="49" charset="0"/>
                <a:cs typeface="Courier New" pitchFamily="49" charset="0"/>
              </a:rPr>
              <a:t>"str"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print ("Weird:", weird)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Weird:</a:t>
            </a:r>
            <a:r>
              <a:rPr lang="en-US" altLang="zh-TW" sz="18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{(5,):</a:t>
            </a:r>
            <a:r>
              <a:rPr lang="en-US" altLang="zh-TW" sz="16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{'CSE</a:t>
            </a:r>
            <a:r>
              <a:rPr lang="en-US" altLang="zh-TW" sz="2400" spc="-1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':</a:t>
            </a:r>
            <a:r>
              <a:rPr lang="en-US" altLang="zh-TW" sz="16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spc="-7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6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(((</a:t>
            </a:r>
            <a:r>
              <a:rPr lang="en-US" altLang="zh-TW" sz="2400" spc="-8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2,),),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)]</a:t>
            </a:r>
            <a:r>
              <a:rPr lang="en-US" altLang="zh-TW" sz="2400" spc="-9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0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(2+3j</a:t>
            </a:r>
            <a:r>
              <a:rPr lang="en-US" altLang="zh-TW" sz="2400" spc="-20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10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spc="-20" dirty="0" err="1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st</a:t>
            </a:r>
            <a:r>
              <a:rPr lang="en-US" altLang="zh-TW" sz="2400" spc="-200" dirty="0" err="1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r</a:t>
            </a:r>
            <a:r>
              <a:rPr lang="en-US" altLang="zh-TW" sz="2400" spc="-20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endParaRPr lang="en-US" altLang="zh-TW" sz="2400" spc="-20" dirty="0">
              <a:solidFill>
                <a:schemeClr val="bg1">
                  <a:lumMod val="8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7037" y="2830808"/>
            <a:ext cx="914400" cy="20648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altLang="zh-TW" sz="2400" spc="-2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807494" y="2057400"/>
            <a:ext cx="3314700" cy="1257300"/>
          </a:xfrm>
          <a:prstGeom prst="straightConnector1">
            <a:avLst/>
          </a:prstGeom>
          <a:ln w="57150"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311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4400" dirty="0">
                <a:solidFill>
                  <a:srgbClr val="0070C0"/>
                </a:solidFill>
              </a:rPr>
              <a:t>Properties of Dictionary Keys: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4294" y="1062790"/>
            <a:ext cx="9601200" cy="5905500"/>
          </a:xfrm>
        </p:spPr>
        <p:txBody>
          <a:bodyPr>
            <a:noAutofit/>
          </a:bodyPr>
          <a:lstStyle/>
          <a:p>
            <a:r>
              <a:rPr lang="en-US" altLang="zh-TW" sz="3600" spc="-20" dirty="0"/>
              <a:t>Dicti</a:t>
            </a:r>
            <a:r>
              <a:rPr lang="en-US" altLang="zh-TW" sz="3600" spc="-100" dirty="0"/>
              <a:t>ona</a:t>
            </a:r>
            <a:r>
              <a:rPr lang="en-US" altLang="zh-TW" sz="3600" spc="-20" dirty="0"/>
              <a:t>ry</a:t>
            </a:r>
            <a:r>
              <a:rPr lang="en-US" altLang="zh-TW" sz="3600" spc="-20" dirty="0">
                <a:solidFill>
                  <a:srgbClr val="1F4E79"/>
                </a:solidFill>
              </a:rPr>
              <a:t> </a:t>
            </a:r>
            <a:r>
              <a:rPr lang="en-US" altLang="zh-TW" sz="3600" b="1" spc="-20" dirty="0"/>
              <a:t>values</a:t>
            </a:r>
            <a:r>
              <a:rPr lang="en-US" altLang="zh-TW" sz="3600" spc="-20" dirty="0"/>
              <a:t> </a:t>
            </a:r>
            <a:r>
              <a:rPr lang="en-US" altLang="zh-TW" sz="3600" spc="-80" dirty="0"/>
              <a:t>have </a:t>
            </a:r>
            <a:r>
              <a:rPr lang="en-US" altLang="zh-TW" sz="3600" b="1" spc="-80" dirty="0"/>
              <a:t>n</a:t>
            </a:r>
            <a:r>
              <a:rPr lang="en-US" altLang="zh-TW" sz="3600" b="1" spc="-20" dirty="0"/>
              <a:t>o restrictions</a:t>
            </a:r>
            <a:r>
              <a:rPr lang="en-US" altLang="zh-TW" sz="3600" spc="-20" dirty="0"/>
              <a:t>: </a:t>
            </a:r>
            <a:r>
              <a:rPr lang="en-US" altLang="zh-TW" sz="3600" spc="-60" dirty="0"/>
              <a:t>any obj</a:t>
            </a:r>
            <a:r>
              <a:rPr lang="en-US" altLang="zh-TW" sz="3600" spc="-20" dirty="0"/>
              <a:t>ect, either standard objects or </a:t>
            </a:r>
            <a:r>
              <a:rPr lang="en-US" altLang="zh-TW" sz="3600" spc="-20" dirty="0">
                <a:solidFill>
                  <a:srgbClr val="0000FF"/>
                </a:solidFill>
              </a:rPr>
              <a:t>user-defined</a:t>
            </a:r>
            <a:r>
              <a:rPr lang="en-US" altLang="zh-TW" sz="3600" spc="-20" dirty="0"/>
              <a:t> </a:t>
            </a:r>
            <a:r>
              <a:rPr lang="en-US" altLang="zh-TW" sz="3600" spc="-20" dirty="0">
                <a:solidFill>
                  <a:srgbClr val="0000FF"/>
                </a:solidFill>
              </a:rPr>
              <a:t>objects</a:t>
            </a:r>
            <a:r>
              <a:rPr lang="en-US" altLang="zh-TW" sz="3600" spc="-20" dirty="0"/>
              <a:t>. </a:t>
            </a:r>
          </a:p>
          <a:p>
            <a:pPr>
              <a:spcAft>
                <a:spcPts val="1000"/>
              </a:spcAft>
            </a:pPr>
            <a:r>
              <a:rPr lang="en-US" altLang="zh-TW" sz="3600" spc="-100" dirty="0">
                <a:solidFill>
                  <a:schemeClr val="bg1"/>
                </a:solidFill>
              </a:rPr>
              <a:t>Keys mu</a:t>
            </a:r>
            <a:r>
              <a:rPr lang="en-US" altLang="zh-TW" sz="3600" spc="-50" dirty="0">
                <a:solidFill>
                  <a:schemeClr val="bg1"/>
                </a:solidFill>
              </a:rPr>
              <a:t>s</a:t>
            </a:r>
            <a:r>
              <a:rPr lang="en-US" altLang="zh-TW" sz="3600" spc="-100" dirty="0">
                <a:solidFill>
                  <a:schemeClr val="bg1"/>
                </a:solidFill>
              </a:rPr>
              <a:t>t be </a:t>
            </a:r>
            <a:r>
              <a:rPr lang="en-US" altLang="zh-TW" sz="3600" b="1" spc="-100" dirty="0">
                <a:solidFill>
                  <a:schemeClr val="bg1"/>
                </a:solidFill>
              </a:rPr>
              <a:t>immutable</a:t>
            </a:r>
            <a:r>
              <a:rPr lang="en-US" altLang="zh-TW" sz="3600" spc="-100" dirty="0">
                <a:solidFill>
                  <a:schemeClr val="bg1"/>
                </a:solidFill>
              </a:rPr>
              <a:t>: string</a:t>
            </a:r>
            <a:r>
              <a:rPr lang="en-US" altLang="zh-TW" sz="3600" spc="-300" dirty="0">
                <a:solidFill>
                  <a:schemeClr val="bg1"/>
                </a:solidFill>
              </a:rPr>
              <a:t>s</a:t>
            </a:r>
            <a:r>
              <a:rPr lang="en-US" altLang="zh-TW" sz="3600" spc="-150" dirty="0">
                <a:solidFill>
                  <a:schemeClr val="bg1"/>
                </a:solidFill>
              </a:rPr>
              <a:t>, num</a:t>
            </a:r>
            <a:r>
              <a:rPr lang="en-US" altLang="zh-TW" sz="3600" spc="-100" dirty="0">
                <a:solidFill>
                  <a:schemeClr val="bg1"/>
                </a:solidFill>
              </a:rPr>
              <a:t>be</a:t>
            </a:r>
            <a:r>
              <a:rPr lang="en-US" altLang="zh-TW" sz="3600" spc="-50" dirty="0">
                <a:solidFill>
                  <a:schemeClr val="bg1"/>
                </a:solidFill>
              </a:rPr>
              <a:t>r</a:t>
            </a:r>
            <a:r>
              <a:rPr lang="en-US" altLang="zh-TW" sz="3600" spc="-100" dirty="0">
                <a:solidFill>
                  <a:schemeClr val="bg1"/>
                </a:solidFill>
              </a:rPr>
              <a:t>s </a:t>
            </a:r>
            <a:r>
              <a:rPr lang="en-US" altLang="zh-TW" sz="3600" spc="-130" dirty="0">
                <a:solidFill>
                  <a:schemeClr val="bg1"/>
                </a:solidFill>
              </a:rPr>
              <a:t>o</a:t>
            </a:r>
            <a:r>
              <a:rPr lang="en-US" altLang="zh-TW" sz="3600" spc="-100" dirty="0">
                <a:solidFill>
                  <a:schemeClr val="bg1"/>
                </a:solidFill>
              </a:rPr>
              <a:t>r tuple</a:t>
            </a:r>
            <a:r>
              <a:rPr lang="en-US" altLang="zh-TW" sz="3600" spc="-200" dirty="0">
                <a:solidFill>
                  <a:schemeClr val="bg1"/>
                </a:solidFill>
              </a:rPr>
              <a:t>s</a:t>
            </a:r>
            <a:r>
              <a:rPr lang="en-US" altLang="zh-TW" sz="3600" spc="-100" dirty="0">
                <a:solidFill>
                  <a:schemeClr val="bg1"/>
                </a:solidFill>
              </a:rPr>
              <a:t>.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student={'CSE':</a:t>
            </a:r>
            <a:r>
              <a:rPr lang="en-US" altLang="zh-TW" sz="2400" b="1" spc="-2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[1,(((2,),),)]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weird={(5,):</a:t>
            </a:r>
            <a:r>
              <a:rPr lang="en-US" altLang="zh-TW" sz="2400" b="1" spc="-2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, 2+3j:"str"}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print ("Weird:", weird)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Weird:</a:t>
            </a:r>
            <a:r>
              <a:rPr lang="en-US" altLang="zh-TW" sz="18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{(5,):</a:t>
            </a:r>
            <a:r>
              <a:rPr lang="en-US" altLang="zh-TW" sz="16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{'CSE</a:t>
            </a:r>
            <a:r>
              <a:rPr lang="en-US" altLang="zh-TW" sz="2400" spc="-1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':</a:t>
            </a:r>
            <a:r>
              <a:rPr lang="en-US" altLang="zh-TW" sz="16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spc="-7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6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(((</a:t>
            </a:r>
            <a:r>
              <a:rPr lang="en-US" altLang="zh-TW" sz="2400" spc="-8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2,),),</a:t>
            </a:r>
            <a:r>
              <a:rPr lang="en-US" altLang="zh-TW" sz="2400" spc="-5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)]</a:t>
            </a:r>
            <a:r>
              <a:rPr lang="en-US" altLang="zh-TW" sz="2400" spc="-9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0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(2+3j</a:t>
            </a:r>
            <a:r>
              <a:rPr lang="en-US" altLang="zh-TW" sz="2400" spc="-20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altLang="zh-TW" sz="24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1000" spc="-2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spc="-20" dirty="0" err="1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st</a:t>
            </a:r>
            <a:r>
              <a:rPr lang="en-US" altLang="zh-TW" sz="2400" spc="-200" dirty="0" err="1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r</a:t>
            </a:r>
            <a:r>
              <a:rPr lang="en-US" altLang="zh-TW" sz="2400" spc="-200" dirty="0">
                <a:solidFill>
                  <a:schemeClr val="accent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endParaRPr lang="en-US" altLang="zh-TW" sz="2400" spc="-20" dirty="0">
              <a:solidFill>
                <a:schemeClr val="bg1">
                  <a:lumMod val="8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7037" y="2830808"/>
            <a:ext cx="914400" cy="20648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altLang="zh-TW" sz="2400" spc="-2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5322094" y="2057400"/>
            <a:ext cx="1143000" cy="91440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23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4400" dirty="0">
                <a:solidFill>
                  <a:srgbClr val="0070C0"/>
                </a:solidFill>
              </a:rPr>
              <a:t>Properties of Dictionary Keys: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4294" y="1062790"/>
            <a:ext cx="9601200" cy="5905500"/>
          </a:xfrm>
        </p:spPr>
        <p:txBody>
          <a:bodyPr>
            <a:noAutofit/>
          </a:bodyPr>
          <a:lstStyle/>
          <a:p>
            <a:r>
              <a:rPr lang="en-US" altLang="zh-TW" sz="3600" spc="-20" dirty="0">
                <a:solidFill>
                  <a:srgbClr val="BFBFBF"/>
                </a:solidFill>
              </a:rPr>
              <a:t>Dicti</a:t>
            </a:r>
            <a:r>
              <a:rPr lang="en-US" altLang="zh-TW" sz="3600" spc="-100" dirty="0">
                <a:solidFill>
                  <a:srgbClr val="BFBFBF"/>
                </a:solidFill>
              </a:rPr>
              <a:t>ona</a:t>
            </a:r>
            <a:r>
              <a:rPr lang="en-US" altLang="zh-TW" sz="3600" spc="-20" dirty="0">
                <a:solidFill>
                  <a:srgbClr val="BFBFBF"/>
                </a:solidFill>
              </a:rPr>
              <a:t>ry </a:t>
            </a:r>
            <a:r>
              <a:rPr lang="en-US" altLang="zh-TW" sz="3600" b="1" spc="-20" dirty="0">
                <a:solidFill>
                  <a:srgbClr val="BFBFBF"/>
                </a:solidFill>
              </a:rPr>
              <a:t>values</a:t>
            </a:r>
            <a:r>
              <a:rPr lang="en-US" altLang="zh-TW" sz="3600" spc="-20" dirty="0">
                <a:solidFill>
                  <a:srgbClr val="BFBFBF"/>
                </a:solidFill>
              </a:rPr>
              <a:t> </a:t>
            </a:r>
            <a:r>
              <a:rPr lang="en-US" altLang="zh-TW" sz="3600" spc="-80" dirty="0">
                <a:solidFill>
                  <a:srgbClr val="BFBFBF"/>
                </a:solidFill>
              </a:rPr>
              <a:t>have </a:t>
            </a:r>
            <a:r>
              <a:rPr lang="en-US" altLang="zh-TW" sz="3600" b="1" spc="-80" dirty="0">
                <a:solidFill>
                  <a:srgbClr val="BFBFBF"/>
                </a:solidFill>
              </a:rPr>
              <a:t>n</a:t>
            </a:r>
            <a:r>
              <a:rPr lang="en-US" altLang="zh-TW" sz="3600" b="1" spc="-20" dirty="0">
                <a:solidFill>
                  <a:srgbClr val="BFBFBF"/>
                </a:solidFill>
              </a:rPr>
              <a:t>o restrictions</a:t>
            </a:r>
            <a:r>
              <a:rPr lang="en-US" altLang="zh-TW" sz="3600" spc="-20" dirty="0">
                <a:solidFill>
                  <a:srgbClr val="BFBFBF"/>
                </a:solidFill>
              </a:rPr>
              <a:t>: </a:t>
            </a:r>
            <a:r>
              <a:rPr lang="en-US" altLang="zh-TW" sz="3600" spc="-60" dirty="0">
                <a:solidFill>
                  <a:srgbClr val="BFBFBF"/>
                </a:solidFill>
              </a:rPr>
              <a:t>any obj</a:t>
            </a:r>
            <a:r>
              <a:rPr lang="en-US" altLang="zh-TW" sz="3600" spc="-20" dirty="0">
                <a:solidFill>
                  <a:srgbClr val="BFBFBF"/>
                </a:solidFill>
              </a:rPr>
              <a:t>ect, either standard objects or user-defined objects. </a:t>
            </a:r>
          </a:p>
          <a:p>
            <a:pPr>
              <a:spcAft>
                <a:spcPts val="1000"/>
              </a:spcAft>
              <a:buClr>
                <a:schemeClr val="tx1"/>
              </a:buClr>
            </a:pPr>
            <a:r>
              <a:rPr lang="en-US" altLang="zh-TW" sz="3600" b="1" spc="-100" dirty="0">
                <a:solidFill>
                  <a:srgbClr val="FF0000"/>
                </a:solidFill>
              </a:rPr>
              <a:t>Keys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600" spc="-100" dirty="0"/>
              <a:t>mu</a:t>
            </a:r>
            <a:r>
              <a:rPr lang="en-US" altLang="zh-TW" sz="3600" spc="-50" dirty="0"/>
              <a:t>s</a:t>
            </a:r>
            <a:r>
              <a:rPr lang="en-US" altLang="zh-TW" sz="3600" spc="-100" dirty="0"/>
              <a:t>t be immutable: string</a:t>
            </a:r>
            <a:r>
              <a:rPr lang="en-US" altLang="zh-TW" sz="3600" spc="-300" dirty="0"/>
              <a:t>s</a:t>
            </a:r>
            <a:r>
              <a:rPr lang="en-US" altLang="zh-TW" sz="3600" spc="-150" dirty="0"/>
              <a:t>, num</a:t>
            </a:r>
            <a:r>
              <a:rPr lang="en-US" altLang="zh-TW" sz="3600" spc="-100" dirty="0"/>
              <a:t>be</a:t>
            </a:r>
            <a:r>
              <a:rPr lang="en-US" altLang="zh-TW" sz="3600" spc="-50" dirty="0"/>
              <a:t>r</a:t>
            </a:r>
            <a:r>
              <a:rPr lang="en-US" altLang="zh-TW" sz="3600" spc="-100" dirty="0"/>
              <a:t>s </a:t>
            </a:r>
            <a:r>
              <a:rPr lang="en-US" altLang="zh-TW" sz="3600" spc="-130" dirty="0"/>
              <a:t>o</a:t>
            </a:r>
            <a:r>
              <a:rPr lang="en-US" altLang="zh-TW" sz="3600" spc="-100" dirty="0"/>
              <a:t>r tuple</a:t>
            </a:r>
            <a:r>
              <a:rPr lang="en-US" altLang="zh-TW" sz="3600" spc="-200" dirty="0"/>
              <a:t>s</a:t>
            </a:r>
            <a:r>
              <a:rPr lang="en-US" altLang="zh-TW" sz="3600" spc="-100" dirty="0"/>
              <a:t>.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student={</a:t>
            </a:r>
            <a:r>
              <a:rPr lang="en-US" altLang="zh-TW" sz="2400" b="1" spc="-2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'CSE'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:[1,(((2,),),)]}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weird={</a:t>
            </a:r>
            <a:r>
              <a:rPr lang="en-US" altLang="zh-TW" sz="2400" b="1" spc="-2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(5,)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:student, </a:t>
            </a:r>
            <a:r>
              <a:rPr lang="en-US" altLang="zh-TW" sz="2400" b="1" spc="-2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2+3j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:"str"}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print ("Weird:", weird)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 Weird:</a:t>
            </a:r>
            <a:r>
              <a:rPr lang="en-US" altLang="zh-TW" sz="18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{(5,):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{'CSE</a:t>
            </a:r>
            <a:r>
              <a:rPr lang="en-US" altLang="zh-TW" sz="2400" spc="-120" dirty="0">
                <a:latin typeface="Lucida Sans Typewriter" panose="020B0509030504030204" pitchFamily="49" charset="0"/>
                <a:cs typeface="Courier New" pitchFamily="49" charset="0"/>
              </a:rPr>
              <a:t>':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spc="-70" dirty="0"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600" spc="-5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(((</a:t>
            </a:r>
            <a:r>
              <a:rPr lang="en-US" altLang="zh-TW" sz="2400" spc="-80" dirty="0">
                <a:latin typeface="Lucida Sans Typewriter" panose="020B0509030504030204" pitchFamily="49" charset="0"/>
                <a:cs typeface="Courier New" pitchFamily="49" charset="0"/>
              </a:rPr>
              <a:t>2,),),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)]</a:t>
            </a:r>
            <a:r>
              <a:rPr lang="en-US" altLang="zh-TW" sz="2400" spc="-9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(2+3j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spc="-20" dirty="0" err="1">
                <a:latin typeface="Lucida Sans Typewriter" panose="020B0509030504030204" pitchFamily="49" charset="0"/>
                <a:cs typeface="Courier New" pitchFamily="49" charset="0"/>
              </a:rPr>
              <a:t>st</a:t>
            </a:r>
            <a:r>
              <a:rPr lang="en-US" altLang="zh-TW" sz="2400" spc="-200" dirty="0" err="1">
                <a:latin typeface="Lucida Sans Typewriter" panose="020B0509030504030204" pitchFamily="49" charset="0"/>
                <a:cs typeface="Courier New" pitchFamily="49" charset="0"/>
              </a:rPr>
              <a:t>r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endParaRPr lang="en-US" altLang="zh-TW" sz="2400" spc="-20" dirty="0">
              <a:solidFill>
                <a:schemeClr val="bg1">
                  <a:lumMod val="8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47037" y="2830808"/>
            <a:ext cx="914400" cy="20648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altLang="zh-TW" sz="2400" spc="-2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213156" y="2588456"/>
            <a:ext cx="1594338" cy="49764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978694" y="2628900"/>
            <a:ext cx="1371600" cy="6858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321594" y="2514600"/>
            <a:ext cx="3543300" cy="8001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62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4400" dirty="0">
                <a:solidFill>
                  <a:srgbClr val="0070C0"/>
                </a:solidFill>
              </a:rPr>
              <a:t>Properties of Dictionary Keys: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4294" y="1062790"/>
            <a:ext cx="9601200" cy="5905500"/>
          </a:xfrm>
        </p:spPr>
        <p:txBody>
          <a:bodyPr>
            <a:noAutofit/>
          </a:bodyPr>
          <a:lstStyle/>
          <a:p>
            <a:r>
              <a:rPr lang="en-US" altLang="zh-TW" sz="3600" spc="-20" dirty="0">
                <a:solidFill>
                  <a:srgbClr val="BFBFBF"/>
                </a:solidFill>
              </a:rPr>
              <a:t>Dicti</a:t>
            </a:r>
            <a:r>
              <a:rPr lang="en-US" altLang="zh-TW" sz="3600" spc="-100" dirty="0">
                <a:solidFill>
                  <a:srgbClr val="BFBFBF"/>
                </a:solidFill>
              </a:rPr>
              <a:t>ona</a:t>
            </a:r>
            <a:r>
              <a:rPr lang="en-US" altLang="zh-TW" sz="3600" spc="-20" dirty="0">
                <a:solidFill>
                  <a:srgbClr val="BFBFBF"/>
                </a:solidFill>
              </a:rPr>
              <a:t>ry </a:t>
            </a:r>
            <a:r>
              <a:rPr lang="en-US" altLang="zh-TW" sz="3600" b="1" spc="-20" dirty="0">
                <a:solidFill>
                  <a:srgbClr val="BFBFBF"/>
                </a:solidFill>
              </a:rPr>
              <a:t>values</a:t>
            </a:r>
            <a:r>
              <a:rPr lang="en-US" altLang="zh-TW" sz="3600" spc="-20" dirty="0">
                <a:solidFill>
                  <a:srgbClr val="BFBFBF"/>
                </a:solidFill>
              </a:rPr>
              <a:t> </a:t>
            </a:r>
            <a:r>
              <a:rPr lang="en-US" altLang="zh-TW" sz="3600" spc="-80" dirty="0">
                <a:solidFill>
                  <a:srgbClr val="BFBFBF"/>
                </a:solidFill>
              </a:rPr>
              <a:t>have </a:t>
            </a:r>
            <a:r>
              <a:rPr lang="en-US" altLang="zh-TW" sz="3600" b="1" spc="-80" dirty="0">
                <a:solidFill>
                  <a:srgbClr val="BFBFBF"/>
                </a:solidFill>
              </a:rPr>
              <a:t>n</a:t>
            </a:r>
            <a:r>
              <a:rPr lang="en-US" altLang="zh-TW" sz="3600" b="1" spc="-20" dirty="0">
                <a:solidFill>
                  <a:srgbClr val="BFBFBF"/>
                </a:solidFill>
              </a:rPr>
              <a:t>o restrictions</a:t>
            </a:r>
            <a:r>
              <a:rPr lang="en-US" altLang="zh-TW" sz="3600" spc="-20" dirty="0">
                <a:solidFill>
                  <a:srgbClr val="BFBFBF"/>
                </a:solidFill>
              </a:rPr>
              <a:t>: </a:t>
            </a:r>
            <a:r>
              <a:rPr lang="en-US" altLang="zh-TW" sz="3600" spc="-60" dirty="0">
                <a:solidFill>
                  <a:srgbClr val="BFBFBF"/>
                </a:solidFill>
              </a:rPr>
              <a:t>any obj</a:t>
            </a:r>
            <a:r>
              <a:rPr lang="en-US" altLang="zh-TW" sz="3600" spc="-20" dirty="0">
                <a:solidFill>
                  <a:srgbClr val="BFBFBF"/>
                </a:solidFill>
              </a:rPr>
              <a:t>ect, either standard objects or user-defined objects. </a:t>
            </a:r>
          </a:p>
          <a:p>
            <a:pPr>
              <a:spcAft>
                <a:spcPts val="1000"/>
              </a:spcAft>
              <a:buClr>
                <a:schemeClr val="tx1"/>
              </a:buClr>
            </a:pPr>
            <a:r>
              <a:rPr lang="en-US" altLang="zh-TW" sz="3600" b="1" spc="-100" dirty="0">
                <a:solidFill>
                  <a:srgbClr val="FF0000"/>
                </a:solidFill>
              </a:rPr>
              <a:t>Keys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600" spc="-100" dirty="0"/>
              <a:t>mu</a:t>
            </a:r>
            <a:r>
              <a:rPr lang="en-US" altLang="zh-TW" sz="3600" spc="-50" dirty="0"/>
              <a:t>s</a:t>
            </a:r>
            <a:r>
              <a:rPr lang="en-US" altLang="zh-TW" sz="3600" spc="-100" dirty="0"/>
              <a:t>t be immutable: </a:t>
            </a:r>
            <a:r>
              <a:rPr lang="en-US" altLang="zh-TW" sz="3600" spc="-100" dirty="0">
                <a:solidFill>
                  <a:srgbClr val="00B050"/>
                </a:solidFill>
              </a:rPr>
              <a:t>string</a:t>
            </a:r>
            <a:r>
              <a:rPr lang="en-US" altLang="zh-TW" sz="3600" spc="-300" dirty="0">
                <a:solidFill>
                  <a:srgbClr val="00B050"/>
                </a:solidFill>
              </a:rPr>
              <a:t>s</a:t>
            </a:r>
            <a:r>
              <a:rPr lang="en-US" altLang="zh-TW" sz="3600" spc="-150" dirty="0"/>
              <a:t>, num</a:t>
            </a:r>
            <a:r>
              <a:rPr lang="en-US" altLang="zh-TW" sz="3600" spc="-100" dirty="0"/>
              <a:t>be</a:t>
            </a:r>
            <a:r>
              <a:rPr lang="en-US" altLang="zh-TW" sz="3600" spc="-50" dirty="0"/>
              <a:t>r</a:t>
            </a:r>
            <a:r>
              <a:rPr lang="en-US" altLang="zh-TW" sz="3600" spc="-100" dirty="0"/>
              <a:t>s </a:t>
            </a:r>
            <a:r>
              <a:rPr lang="en-US" altLang="zh-TW" sz="3600" spc="-130" dirty="0"/>
              <a:t>o</a:t>
            </a:r>
            <a:r>
              <a:rPr lang="en-US" altLang="zh-TW" sz="3600" spc="-100" dirty="0"/>
              <a:t>r tuple</a:t>
            </a:r>
            <a:r>
              <a:rPr lang="en-US" altLang="zh-TW" sz="3600" spc="-200" dirty="0"/>
              <a:t>s</a:t>
            </a:r>
            <a:r>
              <a:rPr lang="en-US" altLang="zh-TW" sz="3600" spc="-100" dirty="0"/>
              <a:t>.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student={</a:t>
            </a:r>
            <a:r>
              <a:rPr lang="en-US" altLang="zh-TW" sz="2400" b="1" spc="-20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'CSE'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:[1,(((2,),),)]}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weird={</a:t>
            </a:r>
            <a:r>
              <a:rPr lang="en-US" altLang="zh-TW" sz="2400" b="1" spc="-2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(5,)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:student, </a:t>
            </a:r>
            <a:r>
              <a:rPr lang="en-US" altLang="zh-TW" sz="2400" b="1" spc="-2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2+3j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:"str"}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print ("Weird:", weird)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 Weird:</a:t>
            </a:r>
            <a:r>
              <a:rPr lang="en-US" altLang="zh-TW" sz="18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{(5,):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{'CSE</a:t>
            </a:r>
            <a:r>
              <a:rPr lang="en-US" altLang="zh-TW" sz="2400" spc="-120" dirty="0">
                <a:latin typeface="Lucida Sans Typewriter" panose="020B0509030504030204" pitchFamily="49" charset="0"/>
                <a:cs typeface="Courier New" pitchFamily="49" charset="0"/>
              </a:rPr>
              <a:t>':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spc="-70" dirty="0"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600" spc="-5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(((</a:t>
            </a:r>
            <a:r>
              <a:rPr lang="en-US" altLang="zh-TW" sz="2400" spc="-80" dirty="0">
                <a:latin typeface="Lucida Sans Typewriter" panose="020B0509030504030204" pitchFamily="49" charset="0"/>
                <a:cs typeface="Courier New" pitchFamily="49" charset="0"/>
              </a:rPr>
              <a:t>2,),),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)]</a:t>
            </a:r>
            <a:r>
              <a:rPr lang="en-US" altLang="zh-TW" sz="2400" spc="-9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(2+3j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spc="-20" dirty="0" err="1">
                <a:latin typeface="Lucida Sans Typewriter" panose="020B0509030504030204" pitchFamily="49" charset="0"/>
                <a:cs typeface="Courier New" pitchFamily="49" charset="0"/>
              </a:rPr>
              <a:t>st</a:t>
            </a:r>
            <a:r>
              <a:rPr lang="en-US" altLang="zh-TW" sz="2400" spc="-200" dirty="0" err="1">
                <a:latin typeface="Lucida Sans Typewriter" panose="020B0509030504030204" pitchFamily="49" charset="0"/>
                <a:cs typeface="Courier New" pitchFamily="49" charset="0"/>
              </a:rPr>
              <a:t>r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endParaRPr lang="en-US" altLang="zh-TW" sz="2400" spc="-20" dirty="0">
              <a:solidFill>
                <a:schemeClr val="bg1">
                  <a:lumMod val="8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7037" y="2830808"/>
            <a:ext cx="914400" cy="20648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altLang="zh-TW" sz="2400" spc="-2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493294" y="2628900"/>
            <a:ext cx="1485900" cy="3429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829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4400" dirty="0">
                <a:solidFill>
                  <a:srgbClr val="0070C0"/>
                </a:solidFill>
              </a:rPr>
              <a:t>Properties of Dictionary Keys: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4294" y="1062790"/>
            <a:ext cx="9601200" cy="5905500"/>
          </a:xfrm>
        </p:spPr>
        <p:txBody>
          <a:bodyPr>
            <a:noAutofit/>
          </a:bodyPr>
          <a:lstStyle/>
          <a:p>
            <a:r>
              <a:rPr lang="en-US" altLang="zh-TW" sz="3600" spc="-20" dirty="0">
                <a:solidFill>
                  <a:srgbClr val="BFBFBF"/>
                </a:solidFill>
              </a:rPr>
              <a:t>Dicti</a:t>
            </a:r>
            <a:r>
              <a:rPr lang="en-US" altLang="zh-TW" sz="3600" spc="-100" dirty="0">
                <a:solidFill>
                  <a:srgbClr val="BFBFBF"/>
                </a:solidFill>
              </a:rPr>
              <a:t>ona</a:t>
            </a:r>
            <a:r>
              <a:rPr lang="en-US" altLang="zh-TW" sz="3600" spc="-20" dirty="0">
                <a:solidFill>
                  <a:srgbClr val="BFBFBF"/>
                </a:solidFill>
              </a:rPr>
              <a:t>ry </a:t>
            </a:r>
            <a:r>
              <a:rPr lang="en-US" altLang="zh-TW" sz="3600" b="1" spc="-20" dirty="0">
                <a:solidFill>
                  <a:srgbClr val="BFBFBF"/>
                </a:solidFill>
              </a:rPr>
              <a:t>values</a:t>
            </a:r>
            <a:r>
              <a:rPr lang="en-US" altLang="zh-TW" sz="3600" spc="-20" dirty="0">
                <a:solidFill>
                  <a:srgbClr val="BFBFBF"/>
                </a:solidFill>
              </a:rPr>
              <a:t> </a:t>
            </a:r>
            <a:r>
              <a:rPr lang="en-US" altLang="zh-TW" sz="3600" spc="-80" dirty="0">
                <a:solidFill>
                  <a:srgbClr val="BFBFBF"/>
                </a:solidFill>
              </a:rPr>
              <a:t>have </a:t>
            </a:r>
            <a:r>
              <a:rPr lang="en-US" altLang="zh-TW" sz="3600" b="1" spc="-80" dirty="0">
                <a:solidFill>
                  <a:srgbClr val="BFBFBF"/>
                </a:solidFill>
              </a:rPr>
              <a:t>n</a:t>
            </a:r>
            <a:r>
              <a:rPr lang="en-US" altLang="zh-TW" sz="3600" b="1" spc="-20" dirty="0">
                <a:solidFill>
                  <a:srgbClr val="BFBFBF"/>
                </a:solidFill>
              </a:rPr>
              <a:t>o restrictions</a:t>
            </a:r>
            <a:r>
              <a:rPr lang="en-US" altLang="zh-TW" sz="3600" spc="-20" dirty="0">
                <a:solidFill>
                  <a:srgbClr val="BFBFBF"/>
                </a:solidFill>
              </a:rPr>
              <a:t>: </a:t>
            </a:r>
            <a:r>
              <a:rPr lang="en-US" altLang="zh-TW" sz="3600" spc="-60" dirty="0">
                <a:solidFill>
                  <a:srgbClr val="BFBFBF"/>
                </a:solidFill>
              </a:rPr>
              <a:t>any obj</a:t>
            </a:r>
            <a:r>
              <a:rPr lang="en-US" altLang="zh-TW" sz="3600" spc="-20" dirty="0">
                <a:solidFill>
                  <a:srgbClr val="BFBFBF"/>
                </a:solidFill>
              </a:rPr>
              <a:t>ect, either standard objects or user-defined objects. </a:t>
            </a:r>
          </a:p>
          <a:p>
            <a:pPr>
              <a:spcAft>
                <a:spcPts val="1000"/>
              </a:spcAft>
              <a:buClr>
                <a:schemeClr val="tx1"/>
              </a:buClr>
            </a:pPr>
            <a:r>
              <a:rPr lang="en-US" altLang="zh-TW" sz="3600" b="1" spc="-100" dirty="0">
                <a:solidFill>
                  <a:srgbClr val="FF0000"/>
                </a:solidFill>
              </a:rPr>
              <a:t>Keys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600" spc="-100" dirty="0"/>
              <a:t>mu</a:t>
            </a:r>
            <a:r>
              <a:rPr lang="en-US" altLang="zh-TW" sz="3600" spc="-50" dirty="0"/>
              <a:t>s</a:t>
            </a:r>
            <a:r>
              <a:rPr lang="en-US" altLang="zh-TW" sz="3600" spc="-100" dirty="0"/>
              <a:t>t be immutable: </a:t>
            </a:r>
            <a:r>
              <a:rPr lang="en-US" altLang="zh-TW" sz="3600" spc="-100" dirty="0">
                <a:solidFill>
                  <a:srgbClr val="00B050"/>
                </a:solidFill>
              </a:rPr>
              <a:t>string</a:t>
            </a:r>
            <a:r>
              <a:rPr lang="en-US" altLang="zh-TW" sz="3600" spc="-300" dirty="0">
                <a:solidFill>
                  <a:srgbClr val="00B050"/>
                </a:solidFill>
              </a:rPr>
              <a:t>s</a:t>
            </a:r>
            <a:r>
              <a:rPr lang="en-US" altLang="zh-TW" sz="3600" spc="-150" dirty="0"/>
              <a:t>, </a:t>
            </a:r>
            <a:r>
              <a:rPr lang="en-US" altLang="zh-TW" sz="3600" spc="-150" dirty="0">
                <a:solidFill>
                  <a:srgbClr val="C55A11"/>
                </a:solidFill>
              </a:rPr>
              <a:t>num</a:t>
            </a:r>
            <a:r>
              <a:rPr lang="en-US" altLang="zh-TW" sz="3600" spc="-100" dirty="0">
                <a:solidFill>
                  <a:srgbClr val="C55A11"/>
                </a:solidFill>
              </a:rPr>
              <a:t>be</a:t>
            </a:r>
            <a:r>
              <a:rPr lang="en-US" altLang="zh-TW" sz="3600" spc="-50" dirty="0">
                <a:solidFill>
                  <a:srgbClr val="C55A11"/>
                </a:solidFill>
              </a:rPr>
              <a:t>r</a:t>
            </a:r>
            <a:r>
              <a:rPr lang="en-US" altLang="zh-TW" sz="3600" spc="-100" dirty="0">
                <a:solidFill>
                  <a:srgbClr val="C55A11"/>
                </a:solidFill>
              </a:rPr>
              <a:t>s</a:t>
            </a:r>
            <a:r>
              <a:rPr lang="en-US" altLang="zh-TW" sz="3600" spc="-100" dirty="0"/>
              <a:t> </a:t>
            </a:r>
            <a:r>
              <a:rPr lang="en-US" altLang="zh-TW" sz="3600" spc="-130" dirty="0"/>
              <a:t>o</a:t>
            </a:r>
            <a:r>
              <a:rPr lang="en-US" altLang="zh-TW" sz="3600" spc="-100" dirty="0"/>
              <a:t>r tuple</a:t>
            </a:r>
            <a:r>
              <a:rPr lang="en-US" altLang="zh-TW" sz="3600" spc="-200" dirty="0"/>
              <a:t>s</a:t>
            </a:r>
            <a:r>
              <a:rPr lang="en-US" altLang="zh-TW" sz="3600" spc="-100" dirty="0"/>
              <a:t>.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student={</a:t>
            </a:r>
            <a:r>
              <a:rPr lang="en-US" altLang="zh-TW" sz="2400" b="1" spc="-20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'CSE'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:[1,(((2,),),)]}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weird={</a:t>
            </a:r>
            <a:r>
              <a:rPr lang="en-US" altLang="zh-TW" sz="2400" b="1" spc="-2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(5,)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:student, </a:t>
            </a:r>
            <a:r>
              <a:rPr lang="en-US" altLang="zh-TW" sz="2400" b="1" spc="-20" dirty="0">
                <a:solidFill>
                  <a:srgbClr val="C55A11"/>
                </a:solidFill>
                <a:latin typeface="Lucida Sans Typewriter" panose="020B0509030504030204" pitchFamily="49" charset="0"/>
                <a:cs typeface="Courier New" pitchFamily="49" charset="0"/>
              </a:rPr>
              <a:t>2+3j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:"str"}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print ("Weird:", weird)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 Weird:</a:t>
            </a:r>
            <a:r>
              <a:rPr lang="en-US" altLang="zh-TW" sz="18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{(5,):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{'CSE</a:t>
            </a:r>
            <a:r>
              <a:rPr lang="en-US" altLang="zh-TW" sz="2400" spc="-120" dirty="0">
                <a:latin typeface="Lucida Sans Typewriter" panose="020B0509030504030204" pitchFamily="49" charset="0"/>
                <a:cs typeface="Courier New" pitchFamily="49" charset="0"/>
              </a:rPr>
              <a:t>':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spc="-70" dirty="0"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600" spc="-5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(((</a:t>
            </a:r>
            <a:r>
              <a:rPr lang="en-US" altLang="zh-TW" sz="2400" spc="-80" dirty="0">
                <a:latin typeface="Lucida Sans Typewriter" panose="020B0509030504030204" pitchFamily="49" charset="0"/>
                <a:cs typeface="Courier New" pitchFamily="49" charset="0"/>
              </a:rPr>
              <a:t>2,),),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)]</a:t>
            </a:r>
            <a:r>
              <a:rPr lang="en-US" altLang="zh-TW" sz="2400" spc="-9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(2+3j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spc="-20" dirty="0" err="1">
                <a:latin typeface="Lucida Sans Typewriter" panose="020B0509030504030204" pitchFamily="49" charset="0"/>
                <a:cs typeface="Courier New" pitchFamily="49" charset="0"/>
              </a:rPr>
              <a:t>st</a:t>
            </a:r>
            <a:r>
              <a:rPr lang="en-US" altLang="zh-TW" sz="2400" spc="-200" dirty="0" err="1">
                <a:latin typeface="Lucida Sans Typewriter" panose="020B0509030504030204" pitchFamily="49" charset="0"/>
                <a:cs typeface="Courier New" pitchFamily="49" charset="0"/>
              </a:rPr>
              <a:t>r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endParaRPr lang="en-US" altLang="zh-TW" sz="2400" spc="-20" dirty="0">
              <a:solidFill>
                <a:schemeClr val="bg1">
                  <a:lumMod val="8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7037" y="2830808"/>
            <a:ext cx="914400" cy="20648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altLang="zh-TW" sz="2400" spc="-2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5550694" y="2628900"/>
            <a:ext cx="914400" cy="685800"/>
          </a:xfrm>
          <a:prstGeom prst="straightConnector1">
            <a:avLst/>
          </a:prstGeom>
          <a:ln w="57150"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20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4400" dirty="0">
                <a:solidFill>
                  <a:srgbClr val="0070C0"/>
                </a:solidFill>
              </a:rPr>
              <a:t>Properties of Dictionary Keys: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4294" y="1062790"/>
            <a:ext cx="9601200" cy="5905500"/>
          </a:xfrm>
        </p:spPr>
        <p:txBody>
          <a:bodyPr>
            <a:noAutofit/>
          </a:bodyPr>
          <a:lstStyle/>
          <a:p>
            <a:r>
              <a:rPr lang="en-US" altLang="zh-TW" sz="3600" spc="-20" dirty="0">
                <a:solidFill>
                  <a:srgbClr val="BFBFBF"/>
                </a:solidFill>
              </a:rPr>
              <a:t>Dicti</a:t>
            </a:r>
            <a:r>
              <a:rPr lang="en-US" altLang="zh-TW" sz="3600" spc="-100" dirty="0">
                <a:solidFill>
                  <a:srgbClr val="BFBFBF"/>
                </a:solidFill>
              </a:rPr>
              <a:t>ona</a:t>
            </a:r>
            <a:r>
              <a:rPr lang="en-US" altLang="zh-TW" sz="3600" spc="-20" dirty="0">
                <a:solidFill>
                  <a:srgbClr val="BFBFBF"/>
                </a:solidFill>
              </a:rPr>
              <a:t>ry </a:t>
            </a:r>
            <a:r>
              <a:rPr lang="en-US" altLang="zh-TW" sz="3600" b="1" spc="-20" dirty="0">
                <a:solidFill>
                  <a:srgbClr val="BFBFBF"/>
                </a:solidFill>
              </a:rPr>
              <a:t>values</a:t>
            </a:r>
            <a:r>
              <a:rPr lang="en-US" altLang="zh-TW" sz="3600" spc="-20" dirty="0">
                <a:solidFill>
                  <a:srgbClr val="BFBFBF"/>
                </a:solidFill>
              </a:rPr>
              <a:t> </a:t>
            </a:r>
            <a:r>
              <a:rPr lang="en-US" altLang="zh-TW" sz="3600" spc="-80" dirty="0">
                <a:solidFill>
                  <a:srgbClr val="BFBFBF"/>
                </a:solidFill>
              </a:rPr>
              <a:t>have </a:t>
            </a:r>
            <a:r>
              <a:rPr lang="en-US" altLang="zh-TW" sz="3600" b="1" spc="-80" dirty="0">
                <a:solidFill>
                  <a:srgbClr val="BFBFBF"/>
                </a:solidFill>
              </a:rPr>
              <a:t>n</a:t>
            </a:r>
            <a:r>
              <a:rPr lang="en-US" altLang="zh-TW" sz="3600" b="1" spc="-20" dirty="0">
                <a:solidFill>
                  <a:srgbClr val="BFBFBF"/>
                </a:solidFill>
              </a:rPr>
              <a:t>o restrictions</a:t>
            </a:r>
            <a:r>
              <a:rPr lang="en-US" altLang="zh-TW" sz="3600" spc="-20" dirty="0">
                <a:solidFill>
                  <a:srgbClr val="BFBFBF"/>
                </a:solidFill>
              </a:rPr>
              <a:t>: </a:t>
            </a:r>
            <a:r>
              <a:rPr lang="en-US" altLang="zh-TW" sz="3600" spc="-60" dirty="0">
                <a:solidFill>
                  <a:srgbClr val="BFBFBF"/>
                </a:solidFill>
              </a:rPr>
              <a:t>any obj</a:t>
            </a:r>
            <a:r>
              <a:rPr lang="en-US" altLang="zh-TW" sz="3600" spc="-20" dirty="0">
                <a:solidFill>
                  <a:srgbClr val="BFBFBF"/>
                </a:solidFill>
              </a:rPr>
              <a:t>ect, either standard objects or user-defined objects. </a:t>
            </a:r>
          </a:p>
          <a:p>
            <a:pPr>
              <a:spcAft>
                <a:spcPts val="1000"/>
              </a:spcAft>
              <a:buClr>
                <a:schemeClr val="tx1"/>
              </a:buClr>
            </a:pPr>
            <a:r>
              <a:rPr lang="en-US" altLang="zh-TW" sz="3600" b="1" spc="-100" dirty="0">
                <a:solidFill>
                  <a:srgbClr val="FF0000"/>
                </a:solidFill>
              </a:rPr>
              <a:t>Keys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600" spc="-100" dirty="0"/>
              <a:t>mu</a:t>
            </a:r>
            <a:r>
              <a:rPr lang="en-US" altLang="zh-TW" sz="3600" spc="-50" dirty="0"/>
              <a:t>s</a:t>
            </a:r>
            <a:r>
              <a:rPr lang="en-US" altLang="zh-TW" sz="3600" spc="-100" dirty="0"/>
              <a:t>t be immutable: </a:t>
            </a:r>
            <a:r>
              <a:rPr lang="en-US" altLang="zh-TW" sz="3600" spc="-100" dirty="0">
                <a:solidFill>
                  <a:srgbClr val="00B050"/>
                </a:solidFill>
              </a:rPr>
              <a:t>string</a:t>
            </a:r>
            <a:r>
              <a:rPr lang="en-US" altLang="zh-TW" sz="3600" spc="-300" dirty="0">
                <a:solidFill>
                  <a:srgbClr val="00B050"/>
                </a:solidFill>
              </a:rPr>
              <a:t>s</a:t>
            </a:r>
            <a:r>
              <a:rPr lang="en-US" altLang="zh-TW" sz="3600" spc="-150" dirty="0"/>
              <a:t>, </a:t>
            </a:r>
            <a:r>
              <a:rPr lang="en-US" altLang="zh-TW" sz="3600" spc="-150" dirty="0">
                <a:solidFill>
                  <a:srgbClr val="C55A11"/>
                </a:solidFill>
              </a:rPr>
              <a:t>num</a:t>
            </a:r>
            <a:r>
              <a:rPr lang="en-US" altLang="zh-TW" sz="3600" spc="-100" dirty="0">
                <a:solidFill>
                  <a:srgbClr val="C55A11"/>
                </a:solidFill>
              </a:rPr>
              <a:t>be</a:t>
            </a:r>
            <a:r>
              <a:rPr lang="en-US" altLang="zh-TW" sz="3600" spc="-50" dirty="0">
                <a:solidFill>
                  <a:srgbClr val="C55A11"/>
                </a:solidFill>
              </a:rPr>
              <a:t>r</a:t>
            </a:r>
            <a:r>
              <a:rPr lang="en-US" altLang="zh-TW" sz="3600" spc="-100" dirty="0">
                <a:solidFill>
                  <a:srgbClr val="C55A11"/>
                </a:solidFill>
              </a:rPr>
              <a:t>s</a:t>
            </a:r>
            <a:r>
              <a:rPr lang="en-US" altLang="zh-TW" sz="3600" spc="-100" dirty="0"/>
              <a:t> </a:t>
            </a:r>
            <a:r>
              <a:rPr lang="en-US" altLang="zh-TW" sz="3600" spc="-130" dirty="0"/>
              <a:t>o</a:t>
            </a:r>
            <a:r>
              <a:rPr lang="en-US" altLang="zh-TW" sz="3600" spc="-100" dirty="0"/>
              <a:t>r </a:t>
            </a:r>
            <a:r>
              <a:rPr lang="en-US" altLang="zh-TW" sz="3600" spc="-100" dirty="0">
                <a:solidFill>
                  <a:srgbClr val="0000FF"/>
                </a:solidFill>
              </a:rPr>
              <a:t>tuple</a:t>
            </a:r>
            <a:r>
              <a:rPr lang="en-US" altLang="zh-TW" sz="3600" spc="-200" dirty="0">
                <a:solidFill>
                  <a:srgbClr val="0000FF"/>
                </a:solidFill>
              </a:rPr>
              <a:t>s</a:t>
            </a:r>
            <a:r>
              <a:rPr lang="en-US" altLang="zh-TW" sz="3600" spc="-100" dirty="0"/>
              <a:t>.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student={</a:t>
            </a:r>
            <a:r>
              <a:rPr lang="en-US" altLang="zh-TW" sz="2400" b="1" spc="-20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'CSE'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:[1,(((2,),),)]}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weird={</a:t>
            </a:r>
            <a:r>
              <a:rPr lang="en-US" altLang="zh-TW" sz="2400" b="1" spc="-2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(5,)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:student, </a:t>
            </a:r>
            <a:r>
              <a:rPr lang="en-US" altLang="zh-TW" sz="2400" b="1" spc="-20" dirty="0">
                <a:solidFill>
                  <a:srgbClr val="C55A11"/>
                </a:solidFill>
                <a:latin typeface="Lucida Sans Typewriter" panose="020B0509030504030204" pitchFamily="49" charset="0"/>
                <a:cs typeface="Courier New" pitchFamily="49" charset="0"/>
              </a:rPr>
              <a:t>2+3j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:"str"}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 print ("Weird:", weird)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 Weird:</a:t>
            </a:r>
            <a:r>
              <a:rPr lang="en-US" altLang="zh-TW" sz="18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{(5,):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{'CSE</a:t>
            </a:r>
            <a:r>
              <a:rPr lang="en-US" altLang="zh-TW" sz="2400" spc="-120" dirty="0">
                <a:latin typeface="Lucida Sans Typewriter" panose="020B0509030504030204" pitchFamily="49" charset="0"/>
                <a:cs typeface="Courier New" pitchFamily="49" charset="0"/>
              </a:rPr>
              <a:t>':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spc="-70" dirty="0"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600" spc="-5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(((</a:t>
            </a:r>
            <a:r>
              <a:rPr lang="en-US" altLang="zh-TW" sz="2400" spc="-80" dirty="0">
                <a:latin typeface="Lucida Sans Typewriter" panose="020B0509030504030204" pitchFamily="49" charset="0"/>
                <a:cs typeface="Courier New" pitchFamily="49" charset="0"/>
              </a:rPr>
              <a:t>2,),),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)]</a:t>
            </a:r>
            <a:r>
              <a:rPr lang="en-US" altLang="zh-TW" sz="2400" spc="-9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(2+3j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spc="-20" dirty="0" err="1">
                <a:latin typeface="Lucida Sans Typewriter" panose="020B0509030504030204" pitchFamily="49" charset="0"/>
                <a:cs typeface="Courier New" pitchFamily="49" charset="0"/>
              </a:rPr>
              <a:t>st</a:t>
            </a:r>
            <a:r>
              <a:rPr lang="en-US" altLang="zh-TW" sz="2400" spc="-200" dirty="0" err="1">
                <a:latin typeface="Lucida Sans Typewriter" panose="020B0509030504030204" pitchFamily="49" charset="0"/>
                <a:cs typeface="Courier New" pitchFamily="49" charset="0"/>
              </a:rPr>
              <a:t>r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endParaRPr lang="en-US" altLang="zh-TW" sz="2400" spc="-20" dirty="0">
              <a:solidFill>
                <a:schemeClr val="bg1">
                  <a:lumMod val="8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7037" y="2830808"/>
            <a:ext cx="914400" cy="20648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altLang="zh-TW" sz="2400" spc="-2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066287" y="2562045"/>
            <a:ext cx="5201729" cy="81951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83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4400" dirty="0">
                <a:solidFill>
                  <a:srgbClr val="0070C0"/>
                </a:solidFill>
              </a:rPr>
              <a:t>Properties of Dictionary Keys: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4294" y="1062790"/>
            <a:ext cx="9601200" cy="5905500"/>
          </a:xfrm>
        </p:spPr>
        <p:txBody>
          <a:bodyPr>
            <a:noAutofit/>
          </a:bodyPr>
          <a:lstStyle/>
          <a:p>
            <a:r>
              <a:rPr lang="en-US" altLang="zh-TW" sz="3600" spc="-20" dirty="0">
                <a:solidFill>
                  <a:srgbClr val="BFBFBF"/>
                </a:solidFill>
              </a:rPr>
              <a:t>Dicti</a:t>
            </a:r>
            <a:r>
              <a:rPr lang="en-US" altLang="zh-TW" sz="3600" spc="-100" dirty="0">
                <a:solidFill>
                  <a:srgbClr val="BFBFBF"/>
                </a:solidFill>
              </a:rPr>
              <a:t>ona</a:t>
            </a:r>
            <a:r>
              <a:rPr lang="en-US" altLang="zh-TW" sz="3600" spc="-20" dirty="0">
                <a:solidFill>
                  <a:srgbClr val="BFBFBF"/>
                </a:solidFill>
              </a:rPr>
              <a:t>ry </a:t>
            </a:r>
            <a:r>
              <a:rPr lang="en-US" altLang="zh-TW" sz="3600" b="1" spc="-20" dirty="0">
                <a:solidFill>
                  <a:srgbClr val="BFBFBF"/>
                </a:solidFill>
              </a:rPr>
              <a:t>values</a:t>
            </a:r>
            <a:r>
              <a:rPr lang="en-US" altLang="zh-TW" sz="3600" spc="-20" dirty="0">
                <a:solidFill>
                  <a:srgbClr val="BFBFBF"/>
                </a:solidFill>
              </a:rPr>
              <a:t> </a:t>
            </a:r>
            <a:r>
              <a:rPr lang="en-US" altLang="zh-TW" sz="3600" spc="-80" dirty="0">
                <a:solidFill>
                  <a:srgbClr val="BFBFBF"/>
                </a:solidFill>
              </a:rPr>
              <a:t>have </a:t>
            </a:r>
            <a:r>
              <a:rPr lang="en-US" altLang="zh-TW" sz="3600" b="1" spc="-80" dirty="0">
                <a:solidFill>
                  <a:srgbClr val="BFBFBF"/>
                </a:solidFill>
              </a:rPr>
              <a:t>n</a:t>
            </a:r>
            <a:r>
              <a:rPr lang="en-US" altLang="zh-TW" sz="3600" b="1" spc="-20" dirty="0">
                <a:solidFill>
                  <a:srgbClr val="BFBFBF"/>
                </a:solidFill>
              </a:rPr>
              <a:t>o restrictions</a:t>
            </a:r>
            <a:r>
              <a:rPr lang="en-US" altLang="zh-TW" sz="3600" spc="-20" dirty="0">
                <a:solidFill>
                  <a:srgbClr val="BFBFBF"/>
                </a:solidFill>
              </a:rPr>
              <a:t>: </a:t>
            </a:r>
            <a:r>
              <a:rPr lang="en-US" altLang="zh-TW" sz="3600" spc="-60" dirty="0">
                <a:solidFill>
                  <a:srgbClr val="BFBFBF"/>
                </a:solidFill>
              </a:rPr>
              <a:t>any obj</a:t>
            </a:r>
            <a:r>
              <a:rPr lang="en-US" altLang="zh-TW" sz="3600" spc="-20" dirty="0">
                <a:solidFill>
                  <a:srgbClr val="BFBFBF"/>
                </a:solidFill>
              </a:rPr>
              <a:t>ect, either standard objects or user-defined objects. </a:t>
            </a:r>
          </a:p>
          <a:p>
            <a:pPr>
              <a:spcAft>
                <a:spcPts val="1000"/>
              </a:spcAft>
              <a:buClr>
                <a:schemeClr val="tx1"/>
              </a:buClr>
            </a:pPr>
            <a:r>
              <a:rPr lang="en-US" altLang="zh-TW" sz="3600" b="1" spc="-100" dirty="0">
                <a:solidFill>
                  <a:srgbClr val="FF0000"/>
                </a:solidFill>
              </a:rPr>
              <a:t>Keys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600" spc="-100" dirty="0"/>
              <a:t>mu</a:t>
            </a:r>
            <a:r>
              <a:rPr lang="en-US" altLang="zh-TW" sz="3600" spc="-50" dirty="0"/>
              <a:t>s</a:t>
            </a:r>
            <a:r>
              <a:rPr lang="en-US" altLang="zh-TW" sz="3600" spc="-100" dirty="0"/>
              <a:t>t be immutable: </a:t>
            </a:r>
            <a:r>
              <a:rPr lang="en-US" altLang="zh-TW" sz="3600" spc="-100" dirty="0">
                <a:solidFill>
                  <a:srgbClr val="00B050"/>
                </a:solidFill>
              </a:rPr>
              <a:t>string</a:t>
            </a:r>
            <a:r>
              <a:rPr lang="en-US" altLang="zh-TW" sz="3600" spc="-300" dirty="0">
                <a:solidFill>
                  <a:srgbClr val="00B050"/>
                </a:solidFill>
              </a:rPr>
              <a:t>s</a:t>
            </a:r>
            <a:r>
              <a:rPr lang="en-US" altLang="zh-TW" sz="3600" spc="-150" dirty="0"/>
              <a:t>, </a:t>
            </a:r>
            <a:r>
              <a:rPr lang="en-US" altLang="zh-TW" sz="3600" spc="-150" dirty="0">
                <a:solidFill>
                  <a:srgbClr val="C55A11"/>
                </a:solidFill>
              </a:rPr>
              <a:t>num</a:t>
            </a:r>
            <a:r>
              <a:rPr lang="en-US" altLang="zh-TW" sz="3600" spc="-100" dirty="0">
                <a:solidFill>
                  <a:srgbClr val="C55A11"/>
                </a:solidFill>
              </a:rPr>
              <a:t>be</a:t>
            </a:r>
            <a:r>
              <a:rPr lang="en-US" altLang="zh-TW" sz="3600" spc="-50" dirty="0">
                <a:solidFill>
                  <a:srgbClr val="C55A11"/>
                </a:solidFill>
              </a:rPr>
              <a:t>r</a:t>
            </a:r>
            <a:r>
              <a:rPr lang="en-US" altLang="zh-TW" sz="3600" spc="-100" dirty="0">
                <a:solidFill>
                  <a:srgbClr val="C55A11"/>
                </a:solidFill>
              </a:rPr>
              <a:t>s</a:t>
            </a:r>
            <a:r>
              <a:rPr lang="en-US" altLang="zh-TW" sz="3600" spc="-100" dirty="0"/>
              <a:t> </a:t>
            </a:r>
            <a:r>
              <a:rPr lang="en-US" altLang="zh-TW" sz="3600" spc="-130" dirty="0"/>
              <a:t>o</a:t>
            </a:r>
            <a:r>
              <a:rPr lang="en-US" altLang="zh-TW" sz="3600" spc="-100" dirty="0"/>
              <a:t>r </a:t>
            </a:r>
            <a:r>
              <a:rPr lang="en-US" altLang="zh-TW" sz="3600" spc="-100" dirty="0">
                <a:solidFill>
                  <a:srgbClr val="0000FF"/>
                </a:solidFill>
              </a:rPr>
              <a:t>tuple</a:t>
            </a:r>
            <a:r>
              <a:rPr lang="en-US" altLang="zh-TW" sz="3600" spc="-200" dirty="0">
                <a:solidFill>
                  <a:srgbClr val="0000FF"/>
                </a:solidFill>
              </a:rPr>
              <a:t>s</a:t>
            </a:r>
            <a:r>
              <a:rPr lang="en-US" altLang="zh-TW" sz="3600" spc="-100" dirty="0"/>
              <a:t>.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student={</a:t>
            </a:r>
            <a:r>
              <a:rPr lang="en-US" altLang="zh-TW" sz="2400" b="1" spc="-20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'CSE'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:[1,(((2,),),)]}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weird={</a:t>
            </a:r>
            <a:r>
              <a:rPr lang="en-US" altLang="zh-TW" sz="2400" b="1" spc="-2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(5,)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:student, </a:t>
            </a:r>
            <a:r>
              <a:rPr lang="en-US" altLang="zh-TW" sz="2400" b="1" spc="-20" dirty="0">
                <a:solidFill>
                  <a:srgbClr val="C55A11"/>
                </a:solidFill>
                <a:latin typeface="Lucida Sans Typewriter" panose="020B0509030504030204" pitchFamily="49" charset="0"/>
                <a:cs typeface="Courier New" pitchFamily="49" charset="0"/>
              </a:rPr>
              <a:t>2+3j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:"str"}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print ("Weird:", weird)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 Weird:</a:t>
            </a:r>
            <a:r>
              <a:rPr lang="en-US" altLang="zh-TW" sz="18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{(5,):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{'CSE</a:t>
            </a:r>
            <a:r>
              <a:rPr lang="en-US" altLang="zh-TW" sz="2400" spc="-120" dirty="0">
                <a:latin typeface="Lucida Sans Typewriter" panose="020B0509030504030204" pitchFamily="49" charset="0"/>
                <a:cs typeface="Courier New" pitchFamily="49" charset="0"/>
              </a:rPr>
              <a:t>':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spc="-70" dirty="0"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600" spc="-5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(((</a:t>
            </a:r>
            <a:r>
              <a:rPr lang="en-US" altLang="zh-TW" sz="2400" spc="-80" dirty="0">
                <a:latin typeface="Lucida Sans Typewriter" panose="020B0509030504030204" pitchFamily="49" charset="0"/>
                <a:cs typeface="Courier New" pitchFamily="49" charset="0"/>
              </a:rPr>
              <a:t>2,),),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)]</a:t>
            </a:r>
            <a:r>
              <a:rPr lang="en-US" altLang="zh-TW" sz="2400" spc="-9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(2+3j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spc="-20" dirty="0" err="1">
                <a:latin typeface="Lucida Sans Typewriter" panose="020B0509030504030204" pitchFamily="49" charset="0"/>
                <a:cs typeface="Courier New" pitchFamily="49" charset="0"/>
              </a:rPr>
              <a:t>st</a:t>
            </a:r>
            <a:r>
              <a:rPr lang="en-US" altLang="zh-TW" sz="2400" spc="-200" dirty="0" err="1">
                <a:latin typeface="Lucida Sans Typewriter" panose="020B0509030504030204" pitchFamily="49" charset="0"/>
                <a:cs typeface="Courier New" pitchFamily="49" charset="0"/>
              </a:rPr>
              <a:t>r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works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= "works"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7F7F7F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dirty="0">
                <a:solidFill>
                  <a:srgbClr val="7F7F7F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weird[</a:t>
            </a:r>
            <a:r>
              <a:rPr lang="en-US" altLang="zh-TW" sz="24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works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] = 1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</a:p>
          <a:p>
            <a:pPr>
              <a:spcBef>
                <a:spcPts val="300"/>
              </a:spcBef>
              <a:buNone/>
            </a:pPr>
            <a:endParaRPr lang="en-US" altLang="zh-TW" sz="2400" spc="-20" dirty="0">
              <a:solidFill>
                <a:schemeClr val="bg1">
                  <a:lumMod val="8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7037" y="2830808"/>
            <a:ext cx="914400" cy="20648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altLang="zh-TW" sz="2400" spc="-2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824748" y="2628900"/>
            <a:ext cx="2497347" cy="2072496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22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4400" dirty="0">
                <a:solidFill>
                  <a:srgbClr val="0070C0"/>
                </a:solidFill>
              </a:rPr>
              <a:t>Properties of Dictionary Keys: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4294" y="1062790"/>
            <a:ext cx="9601200" cy="5905500"/>
          </a:xfrm>
        </p:spPr>
        <p:txBody>
          <a:bodyPr>
            <a:noAutofit/>
          </a:bodyPr>
          <a:lstStyle/>
          <a:p>
            <a:r>
              <a:rPr lang="en-US" altLang="zh-TW" sz="3600" spc="-20" dirty="0">
                <a:solidFill>
                  <a:srgbClr val="BFBFBF"/>
                </a:solidFill>
              </a:rPr>
              <a:t>Dicti</a:t>
            </a:r>
            <a:r>
              <a:rPr lang="en-US" altLang="zh-TW" sz="3600" spc="-100" dirty="0">
                <a:solidFill>
                  <a:srgbClr val="BFBFBF"/>
                </a:solidFill>
              </a:rPr>
              <a:t>ona</a:t>
            </a:r>
            <a:r>
              <a:rPr lang="en-US" altLang="zh-TW" sz="3600" spc="-20" dirty="0">
                <a:solidFill>
                  <a:srgbClr val="BFBFBF"/>
                </a:solidFill>
              </a:rPr>
              <a:t>ry </a:t>
            </a:r>
            <a:r>
              <a:rPr lang="en-US" altLang="zh-TW" sz="3600" b="1" spc="-20" dirty="0">
                <a:solidFill>
                  <a:srgbClr val="BFBFBF"/>
                </a:solidFill>
              </a:rPr>
              <a:t>values</a:t>
            </a:r>
            <a:r>
              <a:rPr lang="en-US" altLang="zh-TW" sz="3600" spc="-20" dirty="0">
                <a:solidFill>
                  <a:srgbClr val="BFBFBF"/>
                </a:solidFill>
              </a:rPr>
              <a:t> </a:t>
            </a:r>
            <a:r>
              <a:rPr lang="en-US" altLang="zh-TW" sz="3600" spc="-80" dirty="0">
                <a:solidFill>
                  <a:srgbClr val="BFBFBF"/>
                </a:solidFill>
              </a:rPr>
              <a:t>have </a:t>
            </a:r>
            <a:r>
              <a:rPr lang="en-US" altLang="zh-TW" sz="3600" b="1" spc="-80" dirty="0">
                <a:solidFill>
                  <a:srgbClr val="BFBFBF"/>
                </a:solidFill>
              </a:rPr>
              <a:t>n</a:t>
            </a:r>
            <a:r>
              <a:rPr lang="en-US" altLang="zh-TW" sz="3600" b="1" spc="-20" dirty="0">
                <a:solidFill>
                  <a:srgbClr val="BFBFBF"/>
                </a:solidFill>
              </a:rPr>
              <a:t>o restrictions</a:t>
            </a:r>
            <a:r>
              <a:rPr lang="en-US" altLang="zh-TW" sz="3600" spc="-20" dirty="0">
                <a:solidFill>
                  <a:srgbClr val="BFBFBF"/>
                </a:solidFill>
              </a:rPr>
              <a:t>: </a:t>
            </a:r>
            <a:r>
              <a:rPr lang="en-US" altLang="zh-TW" sz="3600" spc="-60" dirty="0">
                <a:solidFill>
                  <a:srgbClr val="BFBFBF"/>
                </a:solidFill>
              </a:rPr>
              <a:t>any obj</a:t>
            </a:r>
            <a:r>
              <a:rPr lang="en-US" altLang="zh-TW" sz="3600" spc="-20" dirty="0">
                <a:solidFill>
                  <a:srgbClr val="BFBFBF"/>
                </a:solidFill>
              </a:rPr>
              <a:t>ect, either standard objects or user-defined objects. </a:t>
            </a:r>
          </a:p>
          <a:p>
            <a:pPr>
              <a:spcAft>
                <a:spcPts val="1000"/>
              </a:spcAft>
            </a:pPr>
            <a:r>
              <a:rPr lang="en-US" altLang="zh-TW" sz="3600" spc="-100" dirty="0"/>
              <a:t>Keys mu</a:t>
            </a:r>
            <a:r>
              <a:rPr lang="en-US" altLang="zh-TW" sz="3600" spc="-50" dirty="0"/>
              <a:t>s</a:t>
            </a:r>
            <a:r>
              <a:rPr lang="en-US" altLang="zh-TW" sz="3600" spc="-100" dirty="0"/>
              <a:t>t be </a:t>
            </a:r>
            <a:r>
              <a:rPr lang="en-US" altLang="zh-TW" sz="3600" b="1" spc="-100" dirty="0">
                <a:solidFill>
                  <a:srgbClr val="7030A0"/>
                </a:solidFill>
              </a:rPr>
              <a:t>immutable</a:t>
            </a:r>
            <a:r>
              <a:rPr lang="en-US" altLang="zh-TW" sz="3600" spc="-100" dirty="0"/>
              <a:t>: string</a:t>
            </a:r>
            <a:r>
              <a:rPr lang="en-US" altLang="zh-TW" sz="3600" spc="-300" dirty="0"/>
              <a:t>s</a:t>
            </a:r>
            <a:r>
              <a:rPr lang="en-US" altLang="zh-TW" sz="3600" spc="-150" dirty="0"/>
              <a:t>, num</a:t>
            </a:r>
            <a:r>
              <a:rPr lang="en-US" altLang="zh-TW" sz="3600" spc="-100" dirty="0"/>
              <a:t>be</a:t>
            </a:r>
            <a:r>
              <a:rPr lang="en-US" altLang="zh-TW" sz="3600" spc="-50" dirty="0"/>
              <a:t>r</a:t>
            </a:r>
            <a:r>
              <a:rPr lang="en-US" altLang="zh-TW" sz="3600" spc="-100" dirty="0"/>
              <a:t>s </a:t>
            </a:r>
            <a:r>
              <a:rPr lang="en-US" altLang="zh-TW" sz="3600" spc="-130" dirty="0"/>
              <a:t>o</a:t>
            </a:r>
            <a:r>
              <a:rPr lang="en-US" altLang="zh-TW" sz="3600" spc="-100" dirty="0"/>
              <a:t>r tuple</a:t>
            </a:r>
            <a:r>
              <a:rPr lang="en-US" altLang="zh-TW" sz="3600" spc="-200" dirty="0"/>
              <a:t>s</a:t>
            </a:r>
            <a:r>
              <a:rPr lang="en-US" altLang="zh-TW" sz="3600" spc="-100" dirty="0"/>
              <a:t>.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student={</a:t>
            </a:r>
            <a:r>
              <a:rPr lang="en-US" altLang="zh-TW" sz="2400" b="1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'CSE'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:[1,(((2,),),)]}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weird={</a:t>
            </a:r>
            <a:r>
              <a:rPr lang="en-US" altLang="zh-TW" sz="2400" b="1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(5,)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:student,</a:t>
            </a:r>
            <a:r>
              <a:rPr lang="en-US" altLang="zh-TW" sz="2400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2+3j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:"str"}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 print ("Weird:", weird)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 Weird:</a:t>
            </a:r>
            <a:r>
              <a:rPr lang="en-US" altLang="zh-TW" sz="18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{(5,):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{'CSE</a:t>
            </a:r>
            <a:r>
              <a:rPr lang="en-US" altLang="zh-TW" sz="2400" spc="-120" dirty="0">
                <a:latin typeface="Lucida Sans Typewriter" panose="020B0509030504030204" pitchFamily="49" charset="0"/>
                <a:cs typeface="Courier New" pitchFamily="49" charset="0"/>
              </a:rPr>
              <a:t>':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spc="-70" dirty="0"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600" spc="-5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(((</a:t>
            </a:r>
            <a:r>
              <a:rPr lang="en-US" altLang="zh-TW" sz="2400" spc="-80" dirty="0">
                <a:latin typeface="Lucida Sans Typewriter" panose="020B0509030504030204" pitchFamily="49" charset="0"/>
                <a:cs typeface="Courier New" pitchFamily="49" charset="0"/>
              </a:rPr>
              <a:t>2,),),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)]</a:t>
            </a:r>
            <a:r>
              <a:rPr lang="en-US" altLang="zh-TW" sz="2400" spc="-9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(2+3j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spc="-20" dirty="0" err="1">
                <a:latin typeface="Lucida Sans Typewriter" panose="020B0509030504030204" pitchFamily="49" charset="0"/>
                <a:cs typeface="Courier New" pitchFamily="49" charset="0"/>
              </a:rPr>
              <a:t>st</a:t>
            </a:r>
            <a:r>
              <a:rPr lang="en-US" altLang="zh-TW" sz="2400" spc="-200" dirty="0" err="1">
                <a:latin typeface="Lucida Sans Typewriter" panose="020B0509030504030204" pitchFamily="49" charset="0"/>
                <a:cs typeface="Courier New" pitchFamily="49" charset="0"/>
              </a:rPr>
              <a:t>r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b="1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works</a:t>
            </a: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= "works"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7F7F7F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dirty="0">
                <a:solidFill>
                  <a:srgbClr val="7F7F7F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weird[</a:t>
            </a:r>
            <a:r>
              <a:rPr lang="en-US" altLang="zh-TW" sz="2400" b="1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works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] = 1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</a:p>
          <a:p>
            <a:pPr>
              <a:spcBef>
                <a:spcPts val="300"/>
              </a:spcBef>
              <a:buNone/>
            </a:pPr>
            <a:endParaRPr lang="en-US" altLang="zh-TW" sz="2400" spc="-20" dirty="0">
              <a:solidFill>
                <a:schemeClr val="bg1">
                  <a:lumMod val="8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7037" y="2830808"/>
            <a:ext cx="914400" cy="20648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altLang="zh-TW" sz="2400" spc="-2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34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4400" dirty="0">
                <a:solidFill>
                  <a:srgbClr val="0070C0"/>
                </a:solidFill>
              </a:rPr>
              <a:t>Properties of Dictionary Keys: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4294" y="1062790"/>
            <a:ext cx="9601200" cy="5905500"/>
          </a:xfrm>
        </p:spPr>
        <p:txBody>
          <a:bodyPr>
            <a:noAutofit/>
          </a:bodyPr>
          <a:lstStyle/>
          <a:p>
            <a:r>
              <a:rPr lang="en-US" altLang="zh-TW" sz="3600" spc="-20" dirty="0">
                <a:solidFill>
                  <a:srgbClr val="BFBFBF"/>
                </a:solidFill>
              </a:rPr>
              <a:t>Dicti</a:t>
            </a:r>
            <a:r>
              <a:rPr lang="en-US" altLang="zh-TW" sz="3600" spc="-100" dirty="0">
                <a:solidFill>
                  <a:srgbClr val="BFBFBF"/>
                </a:solidFill>
              </a:rPr>
              <a:t>ona</a:t>
            </a:r>
            <a:r>
              <a:rPr lang="en-US" altLang="zh-TW" sz="3600" spc="-20" dirty="0">
                <a:solidFill>
                  <a:srgbClr val="BFBFBF"/>
                </a:solidFill>
              </a:rPr>
              <a:t>ry </a:t>
            </a:r>
            <a:r>
              <a:rPr lang="en-US" altLang="zh-TW" sz="3600" b="1" spc="-20" dirty="0">
                <a:solidFill>
                  <a:srgbClr val="BFBFBF"/>
                </a:solidFill>
              </a:rPr>
              <a:t>values</a:t>
            </a:r>
            <a:r>
              <a:rPr lang="en-US" altLang="zh-TW" sz="3600" spc="-20" dirty="0">
                <a:solidFill>
                  <a:srgbClr val="BFBFBF"/>
                </a:solidFill>
              </a:rPr>
              <a:t> </a:t>
            </a:r>
            <a:r>
              <a:rPr lang="en-US" altLang="zh-TW" sz="3600" spc="-80" dirty="0">
                <a:solidFill>
                  <a:srgbClr val="BFBFBF"/>
                </a:solidFill>
              </a:rPr>
              <a:t>have </a:t>
            </a:r>
            <a:r>
              <a:rPr lang="en-US" altLang="zh-TW" sz="3600" b="1" spc="-80" dirty="0">
                <a:solidFill>
                  <a:srgbClr val="BFBFBF"/>
                </a:solidFill>
              </a:rPr>
              <a:t>n</a:t>
            </a:r>
            <a:r>
              <a:rPr lang="en-US" altLang="zh-TW" sz="3600" b="1" spc="-20" dirty="0">
                <a:solidFill>
                  <a:srgbClr val="BFBFBF"/>
                </a:solidFill>
              </a:rPr>
              <a:t>o restrictions</a:t>
            </a:r>
            <a:r>
              <a:rPr lang="en-US" altLang="zh-TW" sz="3600" spc="-20" dirty="0">
                <a:solidFill>
                  <a:srgbClr val="BFBFBF"/>
                </a:solidFill>
              </a:rPr>
              <a:t>: </a:t>
            </a:r>
            <a:r>
              <a:rPr lang="en-US" altLang="zh-TW" sz="3600" spc="-60" dirty="0">
                <a:solidFill>
                  <a:srgbClr val="BFBFBF"/>
                </a:solidFill>
              </a:rPr>
              <a:t>any obj</a:t>
            </a:r>
            <a:r>
              <a:rPr lang="en-US" altLang="zh-TW" sz="3600" spc="-20" dirty="0">
                <a:solidFill>
                  <a:srgbClr val="BFBFBF"/>
                </a:solidFill>
              </a:rPr>
              <a:t>ect, either standard objects or user-defined objects. </a:t>
            </a:r>
          </a:p>
          <a:p>
            <a:pPr>
              <a:spcAft>
                <a:spcPts val="1000"/>
              </a:spcAft>
            </a:pPr>
            <a:r>
              <a:rPr lang="en-US" altLang="zh-TW" sz="3600" spc="-100" dirty="0"/>
              <a:t>Keys mu</a:t>
            </a:r>
            <a:r>
              <a:rPr lang="en-US" altLang="zh-TW" sz="3600" spc="-50" dirty="0"/>
              <a:t>s</a:t>
            </a:r>
            <a:r>
              <a:rPr lang="en-US" altLang="zh-TW" sz="3600" spc="-100" dirty="0"/>
              <a:t>t be </a:t>
            </a:r>
            <a:r>
              <a:rPr lang="en-US" altLang="zh-TW" sz="3600" b="1" spc="-100" dirty="0">
                <a:solidFill>
                  <a:srgbClr val="7030A0"/>
                </a:solidFill>
              </a:rPr>
              <a:t>immutable</a:t>
            </a:r>
            <a:r>
              <a:rPr lang="en-US" altLang="zh-TW" sz="3600" spc="-100" dirty="0"/>
              <a:t>: string</a:t>
            </a:r>
            <a:r>
              <a:rPr lang="en-US" altLang="zh-TW" sz="3600" spc="-300" dirty="0"/>
              <a:t>s</a:t>
            </a:r>
            <a:r>
              <a:rPr lang="en-US" altLang="zh-TW" sz="3600" spc="-150" dirty="0"/>
              <a:t>, num</a:t>
            </a:r>
            <a:r>
              <a:rPr lang="en-US" altLang="zh-TW" sz="3600" spc="-100" dirty="0"/>
              <a:t>be</a:t>
            </a:r>
            <a:r>
              <a:rPr lang="en-US" altLang="zh-TW" sz="3600" spc="-50" dirty="0"/>
              <a:t>r</a:t>
            </a:r>
            <a:r>
              <a:rPr lang="en-US" altLang="zh-TW" sz="3600" spc="-100" dirty="0"/>
              <a:t>s </a:t>
            </a:r>
            <a:r>
              <a:rPr lang="en-US" altLang="zh-TW" sz="3600" spc="-130" dirty="0"/>
              <a:t>o</a:t>
            </a:r>
            <a:r>
              <a:rPr lang="en-US" altLang="zh-TW" sz="3600" spc="-100" dirty="0"/>
              <a:t>r tuple</a:t>
            </a:r>
            <a:r>
              <a:rPr lang="en-US" altLang="zh-TW" sz="3600" spc="-200" dirty="0"/>
              <a:t>s</a:t>
            </a:r>
            <a:r>
              <a:rPr lang="en-US" altLang="zh-TW" sz="3600" spc="-100" dirty="0"/>
              <a:t>.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student={</a:t>
            </a:r>
            <a:r>
              <a:rPr lang="en-US" altLang="zh-TW" sz="2400" b="1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'CSE'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:[1,(((2,),),)]}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weird={</a:t>
            </a:r>
            <a:r>
              <a:rPr lang="en-US" altLang="zh-TW" sz="2400" b="1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(5,)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:student,</a:t>
            </a:r>
            <a:r>
              <a:rPr lang="en-US" altLang="zh-TW" sz="2400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2+3j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:"str"}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 print ("Weird:", weird)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 Weird:</a:t>
            </a:r>
            <a:r>
              <a:rPr lang="en-US" altLang="zh-TW" sz="18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{(5,):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{'CSE</a:t>
            </a:r>
            <a:r>
              <a:rPr lang="en-US" altLang="zh-TW" sz="2400" spc="-120" dirty="0">
                <a:latin typeface="Lucida Sans Typewriter" panose="020B0509030504030204" pitchFamily="49" charset="0"/>
                <a:cs typeface="Courier New" pitchFamily="49" charset="0"/>
              </a:rPr>
              <a:t>':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spc="-70" dirty="0"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600" spc="-5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(((</a:t>
            </a:r>
            <a:r>
              <a:rPr lang="en-US" altLang="zh-TW" sz="2400" spc="-80" dirty="0">
                <a:latin typeface="Lucida Sans Typewriter" panose="020B0509030504030204" pitchFamily="49" charset="0"/>
                <a:cs typeface="Courier New" pitchFamily="49" charset="0"/>
              </a:rPr>
              <a:t>2,),),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)]</a:t>
            </a:r>
            <a:r>
              <a:rPr lang="en-US" altLang="zh-TW" sz="2400" spc="-9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(2+3j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spc="-20" dirty="0" err="1">
                <a:latin typeface="Lucida Sans Typewriter" panose="020B0509030504030204" pitchFamily="49" charset="0"/>
                <a:cs typeface="Courier New" pitchFamily="49" charset="0"/>
              </a:rPr>
              <a:t>st</a:t>
            </a:r>
            <a:r>
              <a:rPr lang="en-US" altLang="zh-TW" sz="2400" spc="-200" dirty="0" err="1">
                <a:latin typeface="Lucida Sans Typewriter" panose="020B0509030504030204" pitchFamily="49" charset="0"/>
                <a:cs typeface="Courier New" pitchFamily="49" charset="0"/>
              </a:rPr>
              <a:t>r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b="1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works</a:t>
            </a: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= "works"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7F7F7F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dirty="0">
                <a:solidFill>
                  <a:srgbClr val="7F7F7F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weird[</a:t>
            </a:r>
            <a:r>
              <a:rPr lang="en-US" altLang="zh-TW" sz="2400" b="1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works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] = 1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weird[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] = 2</a:t>
            </a:r>
          </a:p>
          <a:p>
            <a:pPr>
              <a:spcBef>
                <a:spcPts val="300"/>
              </a:spcBef>
              <a:buNone/>
            </a:pPr>
            <a:endParaRPr lang="en-US" altLang="zh-TW" sz="2400" spc="-20" dirty="0">
              <a:solidFill>
                <a:schemeClr val="bg1">
                  <a:lumMod val="8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595872" y="3594202"/>
            <a:ext cx="6897654" cy="2079729"/>
            <a:chOff x="3074161" y="3594201"/>
            <a:chExt cx="7508114" cy="2079729"/>
          </a:xfrm>
        </p:grpSpPr>
        <p:sp>
          <p:nvSpPr>
            <p:cNvPr id="5" name="Rectangular Callout 4"/>
            <p:cNvSpPr/>
            <p:nvPr/>
          </p:nvSpPr>
          <p:spPr>
            <a:xfrm>
              <a:off x="7372350" y="4073731"/>
              <a:ext cx="3209925" cy="1600199"/>
            </a:xfrm>
            <a:prstGeom prst="wedgeRectCallout">
              <a:avLst>
                <a:gd name="adj1" fmla="val -49961"/>
                <a:gd name="adj2" fmla="val 14382"/>
              </a:avLst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TW" sz="3000" dirty="0">
                  <a:solidFill>
                    <a:prstClr val="black"/>
                  </a:solidFill>
                </a:rPr>
                <a:t>T</a:t>
              </a:r>
              <a:r>
                <a:rPr lang="en-US" altLang="zh-TW" sz="3000" spc="-50" dirty="0">
                  <a:solidFill>
                    <a:prstClr val="black"/>
                  </a:solidFill>
                </a:rPr>
                <a:t>he obje</a:t>
              </a:r>
              <a:r>
                <a:rPr lang="en-US" altLang="zh-TW" sz="3000" dirty="0">
                  <a:solidFill>
                    <a:prstClr val="black"/>
                  </a:solidFill>
                </a:rPr>
                <a:t>ct</a:t>
              </a:r>
              <a:r>
                <a:rPr lang="en-US" altLang="zh-TW" sz="3000" spc="-50" dirty="0">
                  <a:solidFill>
                    <a:prstClr val="black"/>
                  </a:solidFill>
                </a:rPr>
                <a:t> named</a:t>
              </a:r>
              <a:r>
                <a:rPr lang="en-US" altLang="zh-TW" sz="3000" dirty="0">
                  <a:solidFill>
                    <a:prstClr val="black"/>
                  </a:solidFill>
                </a:rPr>
                <a:t> “student” is a </a:t>
              </a:r>
              <a:r>
                <a:rPr lang="en-US" altLang="zh-TW" sz="3000" dirty="0">
                  <a:solidFill>
                    <a:srgbClr val="008000"/>
                  </a:solidFill>
                </a:rPr>
                <a:t>dictionary type</a:t>
              </a:r>
              <a:r>
                <a:rPr lang="en-US" altLang="zh-TW" sz="3000" dirty="0">
                  <a:solidFill>
                    <a:prstClr val="black"/>
                  </a:solidFill>
                </a:rPr>
                <a:t>.</a:t>
              </a:r>
              <a:endParaRPr lang="zh-TW" altLang="en-US" sz="3000" dirty="0">
                <a:solidFill>
                  <a:prstClr val="black"/>
                </a:solidFill>
              </a:endParaRPr>
            </a:p>
          </p:txBody>
        </p:sp>
        <p:sp>
          <p:nvSpPr>
            <p:cNvPr id="6" name="Flowchart: Merge 5"/>
            <p:cNvSpPr/>
            <p:nvPr/>
          </p:nvSpPr>
          <p:spPr>
            <a:xfrm rot="17411154" flipV="1">
              <a:off x="5120726" y="1547636"/>
              <a:ext cx="389846" cy="4482975"/>
            </a:xfrm>
            <a:prstGeom prst="flowChartMerge">
              <a:avLst/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Flowchart: Merge 6"/>
            <p:cNvSpPr/>
            <p:nvPr/>
          </p:nvSpPr>
          <p:spPr>
            <a:xfrm rot="5112145">
              <a:off x="5336926" y="3037343"/>
              <a:ext cx="358904" cy="3926066"/>
            </a:xfrm>
            <a:prstGeom prst="flowChartMerge">
              <a:avLst/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Flowchart: Extract 7"/>
            <p:cNvSpPr/>
            <p:nvPr/>
          </p:nvSpPr>
          <p:spPr>
            <a:xfrm rot="16200000">
              <a:off x="7236731" y="4791670"/>
              <a:ext cx="386723" cy="275360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Flowchart: Extract 8"/>
            <p:cNvSpPr/>
            <p:nvPr/>
          </p:nvSpPr>
          <p:spPr>
            <a:xfrm rot="12370835" flipH="1">
              <a:off x="7343073" y="4231753"/>
              <a:ext cx="140838" cy="157104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Flowchart: Extract 9"/>
            <p:cNvSpPr/>
            <p:nvPr/>
          </p:nvSpPr>
          <p:spPr>
            <a:xfrm rot="10406737" flipH="1">
              <a:off x="7424036" y="4343436"/>
              <a:ext cx="140838" cy="157104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Flowchart: Extract 11"/>
            <p:cNvSpPr/>
            <p:nvPr/>
          </p:nvSpPr>
          <p:spPr>
            <a:xfrm rot="5400000" flipH="1">
              <a:off x="7288410" y="4471987"/>
              <a:ext cx="496489" cy="367902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Flowchart: Extract 12"/>
            <p:cNvSpPr/>
            <p:nvPr/>
          </p:nvSpPr>
          <p:spPr>
            <a:xfrm rot="4504261" flipH="1">
              <a:off x="7417086" y="4708926"/>
              <a:ext cx="254710" cy="371381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4" name="Rectangular Callout 13"/>
          <p:cNvSpPr/>
          <p:nvPr/>
        </p:nvSpPr>
        <p:spPr>
          <a:xfrm>
            <a:off x="5501651" y="1600201"/>
            <a:ext cx="3911058" cy="1155647"/>
          </a:xfrm>
          <a:prstGeom prst="wedgeRectCallout">
            <a:avLst>
              <a:gd name="adj1" fmla="val 8908"/>
              <a:gd name="adj2" fmla="val 26624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prstClr val="black"/>
                </a:solidFill>
              </a:rPr>
              <a:t>The </a:t>
            </a:r>
            <a:r>
              <a:rPr lang="en-US" altLang="zh-TW" sz="3000" dirty="0">
                <a:solidFill>
                  <a:srgbClr val="008000"/>
                </a:solidFill>
              </a:rPr>
              <a:t>dictionary</a:t>
            </a:r>
            <a:br>
              <a:rPr lang="en-US" altLang="zh-TW" sz="3000" dirty="0">
                <a:solidFill>
                  <a:srgbClr val="008000"/>
                </a:solidFill>
              </a:rPr>
            </a:br>
            <a:r>
              <a:rPr lang="en-US" altLang="zh-TW" sz="3000" dirty="0">
                <a:solidFill>
                  <a:srgbClr val="008000"/>
                </a:solidFill>
              </a:rPr>
              <a:t>type </a:t>
            </a:r>
            <a:r>
              <a:rPr lang="en-US" altLang="zh-TW" sz="3000" dirty="0">
                <a:solidFill>
                  <a:prstClr val="black"/>
                </a:solidFill>
              </a:rPr>
              <a:t>is </a:t>
            </a:r>
            <a:r>
              <a:rPr lang="en-US" altLang="zh-TW" sz="3000" dirty="0">
                <a:solidFill>
                  <a:srgbClr val="FF0000"/>
                </a:solidFill>
              </a:rPr>
              <a:t>mutable</a:t>
            </a:r>
            <a:r>
              <a:rPr lang="en-US" altLang="zh-TW" sz="3000" dirty="0">
                <a:solidFill>
                  <a:prstClr val="black"/>
                </a:solidFill>
              </a:rPr>
              <a:t>.</a:t>
            </a:r>
            <a:endParaRPr lang="zh-TW" altLang="en-US" sz="3000" dirty="0">
              <a:solidFill>
                <a:prstClr val="black"/>
              </a:solidFill>
            </a:endParaRPr>
          </a:p>
        </p:txBody>
      </p:sp>
      <p:sp>
        <p:nvSpPr>
          <p:cNvPr id="17" name="Flowchart: Extract 16"/>
          <p:cNvSpPr/>
          <p:nvPr/>
        </p:nvSpPr>
        <p:spPr>
          <a:xfrm rot="12370835" flipH="1">
            <a:off x="6489100" y="4387835"/>
            <a:ext cx="186109" cy="157104"/>
          </a:xfrm>
          <a:prstGeom prst="flowChartExtract">
            <a:avLst/>
          </a:prstGeom>
          <a:solidFill>
            <a:srgbClr val="FFE699"/>
          </a:solidFill>
          <a:ln>
            <a:solidFill>
              <a:srgbClr val="FFE6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8" name="Rectangular Callout 17"/>
          <p:cNvSpPr/>
          <p:nvPr/>
        </p:nvSpPr>
        <p:spPr>
          <a:xfrm>
            <a:off x="292894" y="534971"/>
            <a:ext cx="4679151" cy="1161855"/>
          </a:xfrm>
          <a:prstGeom prst="wedgeRectCallout">
            <a:avLst>
              <a:gd name="adj1" fmla="val 22362"/>
              <a:gd name="adj2" fmla="val 109416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prstClr val="black"/>
                </a:solidFill>
              </a:rPr>
              <a:t>But keys must be </a:t>
            </a:r>
            <a:r>
              <a:rPr lang="en-US" altLang="zh-TW" sz="3000" b="1" dirty="0">
                <a:solidFill>
                  <a:srgbClr val="7030A0"/>
                </a:solidFill>
              </a:rPr>
              <a:t>immutable</a:t>
            </a:r>
            <a:r>
              <a:rPr lang="en-US" altLang="zh-TW" sz="3000" dirty="0">
                <a:solidFill>
                  <a:srgbClr val="FFE699"/>
                </a:solidFill>
              </a:rPr>
              <a:t>, so we got this </a:t>
            </a:r>
            <a:r>
              <a:rPr lang="en-US" altLang="zh-TW" sz="3000" b="1" dirty="0">
                <a:solidFill>
                  <a:srgbClr val="FFE699"/>
                </a:solidFill>
              </a:rPr>
              <a:t>error</a:t>
            </a:r>
            <a:r>
              <a:rPr lang="en-US" altLang="zh-TW" sz="3000" dirty="0">
                <a:solidFill>
                  <a:srgbClr val="FFE699"/>
                </a:solidFill>
              </a:rPr>
              <a:t>.</a:t>
            </a:r>
            <a:endParaRPr lang="zh-TW" altLang="en-US" sz="3000" dirty="0">
              <a:solidFill>
                <a:srgbClr val="FFE699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7037" y="2830808"/>
            <a:ext cx="914400" cy="20648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altLang="zh-TW" sz="2400" spc="-2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20" name="Flowchart: Extract 19"/>
          <p:cNvSpPr/>
          <p:nvPr/>
        </p:nvSpPr>
        <p:spPr>
          <a:xfrm rot="16200000" flipH="1">
            <a:off x="6511791" y="4268920"/>
            <a:ext cx="129387" cy="157104"/>
          </a:xfrm>
          <a:prstGeom prst="flowChartExtract">
            <a:avLst/>
          </a:prstGeom>
          <a:solidFill>
            <a:srgbClr val="FFE699"/>
          </a:solidFill>
          <a:ln>
            <a:solidFill>
              <a:srgbClr val="FFE6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07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4400" dirty="0">
                <a:solidFill>
                  <a:srgbClr val="0070C0"/>
                </a:solidFill>
              </a:rPr>
              <a:t>Properties of Dictionary Keys: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4294" y="1062790"/>
            <a:ext cx="9601200" cy="5905500"/>
          </a:xfrm>
        </p:spPr>
        <p:txBody>
          <a:bodyPr>
            <a:noAutofit/>
          </a:bodyPr>
          <a:lstStyle/>
          <a:p>
            <a:r>
              <a:rPr lang="en-US" altLang="zh-TW" sz="3600" spc="-20" dirty="0">
                <a:solidFill>
                  <a:srgbClr val="BFBFBF"/>
                </a:solidFill>
              </a:rPr>
              <a:t>Dicti</a:t>
            </a:r>
            <a:r>
              <a:rPr lang="en-US" altLang="zh-TW" sz="3600" spc="-100" dirty="0">
                <a:solidFill>
                  <a:srgbClr val="BFBFBF"/>
                </a:solidFill>
              </a:rPr>
              <a:t>ona</a:t>
            </a:r>
            <a:r>
              <a:rPr lang="en-US" altLang="zh-TW" sz="3600" spc="-20" dirty="0">
                <a:solidFill>
                  <a:srgbClr val="BFBFBF"/>
                </a:solidFill>
              </a:rPr>
              <a:t>ry </a:t>
            </a:r>
            <a:r>
              <a:rPr lang="en-US" altLang="zh-TW" sz="3600" b="1" spc="-20" dirty="0">
                <a:solidFill>
                  <a:srgbClr val="BFBFBF"/>
                </a:solidFill>
              </a:rPr>
              <a:t>values</a:t>
            </a:r>
            <a:r>
              <a:rPr lang="en-US" altLang="zh-TW" sz="3600" spc="-20" dirty="0">
                <a:solidFill>
                  <a:srgbClr val="BFBFBF"/>
                </a:solidFill>
              </a:rPr>
              <a:t> </a:t>
            </a:r>
            <a:r>
              <a:rPr lang="en-US" altLang="zh-TW" sz="3600" spc="-80" dirty="0">
                <a:solidFill>
                  <a:srgbClr val="BFBFBF"/>
                </a:solidFill>
              </a:rPr>
              <a:t>have </a:t>
            </a:r>
            <a:r>
              <a:rPr lang="en-US" altLang="zh-TW" sz="3600" b="1" spc="-80" dirty="0">
                <a:solidFill>
                  <a:srgbClr val="BFBFBF"/>
                </a:solidFill>
              </a:rPr>
              <a:t>n</a:t>
            </a:r>
            <a:r>
              <a:rPr lang="en-US" altLang="zh-TW" sz="3600" b="1" spc="-20" dirty="0">
                <a:solidFill>
                  <a:srgbClr val="BFBFBF"/>
                </a:solidFill>
              </a:rPr>
              <a:t>o restrictions</a:t>
            </a:r>
            <a:r>
              <a:rPr lang="en-US" altLang="zh-TW" sz="3600" spc="-20" dirty="0">
                <a:solidFill>
                  <a:srgbClr val="BFBFBF"/>
                </a:solidFill>
              </a:rPr>
              <a:t>: </a:t>
            </a:r>
            <a:r>
              <a:rPr lang="en-US" altLang="zh-TW" sz="3600" spc="-60" dirty="0">
                <a:solidFill>
                  <a:srgbClr val="BFBFBF"/>
                </a:solidFill>
              </a:rPr>
              <a:t>any obj</a:t>
            </a:r>
            <a:r>
              <a:rPr lang="en-US" altLang="zh-TW" sz="3600" spc="-20" dirty="0">
                <a:solidFill>
                  <a:srgbClr val="BFBFBF"/>
                </a:solidFill>
              </a:rPr>
              <a:t>ect, either standard objects or user-defined objects. </a:t>
            </a:r>
          </a:p>
          <a:p>
            <a:pPr>
              <a:spcAft>
                <a:spcPts val="1000"/>
              </a:spcAft>
            </a:pPr>
            <a:r>
              <a:rPr lang="en-US" altLang="zh-TW" sz="3600" spc="-100" dirty="0"/>
              <a:t>Keys mu</a:t>
            </a:r>
            <a:r>
              <a:rPr lang="en-US" altLang="zh-TW" sz="3600" spc="-50" dirty="0"/>
              <a:t>s</a:t>
            </a:r>
            <a:r>
              <a:rPr lang="en-US" altLang="zh-TW" sz="3600" spc="-100" dirty="0"/>
              <a:t>t be </a:t>
            </a:r>
            <a:r>
              <a:rPr lang="en-US" altLang="zh-TW" sz="3600" b="1" spc="-100" dirty="0">
                <a:solidFill>
                  <a:srgbClr val="7030A0"/>
                </a:solidFill>
              </a:rPr>
              <a:t>immutable</a:t>
            </a:r>
            <a:r>
              <a:rPr lang="en-US" altLang="zh-TW" sz="3600" spc="-100" dirty="0"/>
              <a:t>: string</a:t>
            </a:r>
            <a:r>
              <a:rPr lang="en-US" altLang="zh-TW" sz="3600" spc="-300" dirty="0"/>
              <a:t>s</a:t>
            </a:r>
            <a:r>
              <a:rPr lang="en-US" altLang="zh-TW" sz="3600" spc="-150" dirty="0"/>
              <a:t>, num</a:t>
            </a:r>
            <a:r>
              <a:rPr lang="en-US" altLang="zh-TW" sz="3600" spc="-100" dirty="0"/>
              <a:t>be</a:t>
            </a:r>
            <a:r>
              <a:rPr lang="en-US" altLang="zh-TW" sz="3600" spc="-50" dirty="0"/>
              <a:t>r</a:t>
            </a:r>
            <a:r>
              <a:rPr lang="en-US" altLang="zh-TW" sz="3600" spc="-100" dirty="0"/>
              <a:t>s </a:t>
            </a:r>
            <a:r>
              <a:rPr lang="en-US" altLang="zh-TW" sz="3600" spc="-130" dirty="0"/>
              <a:t>o</a:t>
            </a:r>
            <a:r>
              <a:rPr lang="en-US" altLang="zh-TW" sz="3600" spc="-100" dirty="0"/>
              <a:t>r tuple</a:t>
            </a:r>
            <a:r>
              <a:rPr lang="en-US" altLang="zh-TW" sz="3600" spc="-200" dirty="0"/>
              <a:t>s</a:t>
            </a:r>
            <a:r>
              <a:rPr lang="en-US" altLang="zh-TW" sz="3600" spc="-100" dirty="0"/>
              <a:t>.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student={</a:t>
            </a:r>
            <a:r>
              <a:rPr lang="en-US" altLang="zh-TW" sz="2400" b="1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'CSE'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:[1,(((2,),),)]}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weird={</a:t>
            </a:r>
            <a:r>
              <a:rPr lang="en-US" altLang="zh-TW" sz="2400" b="1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(5,)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:student,</a:t>
            </a:r>
            <a:r>
              <a:rPr lang="en-US" altLang="zh-TW" sz="2400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2+3j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:"str"}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 print ("Weird:", weird)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 Weird:</a:t>
            </a:r>
            <a:r>
              <a:rPr lang="en-US" altLang="zh-TW" sz="18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{(5,):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{'CSE</a:t>
            </a:r>
            <a:r>
              <a:rPr lang="en-US" altLang="zh-TW" sz="2400" spc="-120" dirty="0">
                <a:latin typeface="Lucida Sans Typewriter" panose="020B0509030504030204" pitchFamily="49" charset="0"/>
                <a:cs typeface="Courier New" pitchFamily="49" charset="0"/>
              </a:rPr>
              <a:t>':</a:t>
            </a:r>
            <a:r>
              <a:rPr lang="en-US" altLang="zh-TW" sz="16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spc="-70" dirty="0"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600" spc="-5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(((</a:t>
            </a:r>
            <a:r>
              <a:rPr lang="en-US" altLang="zh-TW" sz="2400" spc="-80" dirty="0">
                <a:latin typeface="Lucida Sans Typewriter" panose="020B0509030504030204" pitchFamily="49" charset="0"/>
                <a:cs typeface="Courier New" pitchFamily="49" charset="0"/>
              </a:rPr>
              <a:t>2,),),</a:t>
            </a:r>
            <a:r>
              <a:rPr lang="en-US" altLang="zh-TW" sz="2400" spc="-50" dirty="0">
                <a:latin typeface="Lucida Sans Typewriter" panose="020B0509030504030204" pitchFamily="49" charset="0"/>
                <a:cs typeface="Courier New" pitchFamily="49" charset="0"/>
              </a:rPr>
              <a:t>)]</a:t>
            </a:r>
            <a:r>
              <a:rPr lang="en-US" altLang="zh-TW" sz="2400" spc="-9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(2+3j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1000" spc="-2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spc="-20" dirty="0" err="1">
                <a:latin typeface="Lucida Sans Typewriter" panose="020B0509030504030204" pitchFamily="49" charset="0"/>
                <a:cs typeface="Courier New" pitchFamily="49" charset="0"/>
              </a:rPr>
              <a:t>st</a:t>
            </a:r>
            <a:r>
              <a:rPr lang="en-US" altLang="zh-TW" sz="2400" spc="-200" dirty="0" err="1">
                <a:latin typeface="Lucida Sans Typewriter" panose="020B0509030504030204" pitchFamily="49" charset="0"/>
                <a:cs typeface="Courier New" pitchFamily="49" charset="0"/>
              </a:rPr>
              <a:t>r</a:t>
            </a:r>
            <a:r>
              <a:rPr lang="en-US" altLang="zh-TW" sz="2400" spc="-200" dirty="0">
                <a:latin typeface="Lucida Sans Typewriter" panose="020B0509030504030204" pitchFamily="49" charset="0"/>
                <a:cs typeface="Courier New" pitchFamily="49" charset="0"/>
              </a:rPr>
              <a:t>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b="1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works</a:t>
            </a: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= "works"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rgbClr val="7F7F7F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dirty="0">
                <a:solidFill>
                  <a:srgbClr val="7F7F7F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weird[</a:t>
            </a:r>
            <a:r>
              <a:rPr lang="en-US" altLang="zh-TW" sz="2400" b="1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works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] = 1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weird[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] = 2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 err="1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Traceback</a:t>
            </a:r>
            <a:r>
              <a:rPr lang="en-US" altLang="zh-TW" sz="2400" spc="-20" dirty="0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 (most recent call last):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   File "&lt;</a:t>
            </a:r>
            <a:r>
              <a:rPr lang="en-US" altLang="zh-TW" sz="2400" spc="-20" dirty="0" err="1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stdin</a:t>
            </a:r>
            <a:r>
              <a:rPr lang="en-US" altLang="zh-TW" sz="2400" spc="-20" dirty="0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&gt;", line 1, in &lt;module&gt;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 err="1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TypeError</a:t>
            </a:r>
            <a:r>
              <a:rPr lang="en-US" altLang="zh-TW" sz="2400" spc="-20" dirty="0">
                <a:solidFill>
                  <a:srgbClr val="FFAFAF"/>
                </a:solidFill>
                <a:latin typeface="Lucida Sans Typewriter" panose="020B0509030504030204" pitchFamily="49" charset="0"/>
                <a:cs typeface="Courier New" pitchFamily="49" charset="0"/>
              </a:rPr>
              <a:t>: </a:t>
            </a:r>
            <a:r>
              <a:rPr lang="en-US" altLang="zh-TW" sz="2400" spc="-2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unhashable</a:t>
            </a:r>
            <a:r>
              <a:rPr lang="en-US" altLang="zh-TW" sz="2400" spc="-2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 type: '</a:t>
            </a:r>
            <a:r>
              <a:rPr lang="en-US" altLang="zh-TW" sz="2400" spc="-2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dict</a:t>
            </a:r>
            <a:r>
              <a:rPr lang="en-US" altLang="zh-TW" sz="2400" spc="-2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</a:t>
            </a: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altLang="zh-TW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>
              <a:spcBef>
                <a:spcPts val="300"/>
              </a:spcBef>
              <a:buNone/>
            </a:pPr>
            <a:endParaRPr lang="en-US" altLang="zh-TW" sz="2400" spc="-20" dirty="0">
              <a:solidFill>
                <a:schemeClr val="bg1">
                  <a:lumMod val="8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036094" y="3775546"/>
            <a:ext cx="6457430" cy="1898385"/>
            <a:chOff x="3553345" y="3775545"/>
            <a:chExt cx="7028930" cy="1898385"/>
          </a:xfrm>
        </p:grpSpPr>
        <p:sp>
          <p:nvSpPr>
            <p:cNvPr id="5" name="Rectangular Callout 4"/>
            <p:cNvSpPr/>
            <p:nvPr/>
          </p:nvSpPr>
          <p:spPr>
            <a:xfrm>
              <a:off x="7372350" y="4073731"/>
              <a:ext cx="3209925" cy="1600199"/>
            </a:xfrm>
            <a:prstGeom prst="wedgeRectCallout">
              <a:avLst>
                <a:gd name="adj1" fmla="val -49961"/>
                <a:gd name="adj2" fmla="val 14382"/>
              </a:avLst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TW" sz="3000" dirty="0">
                  <a:solidFill>
                    <a:prstClr val="black"/>
                  </a:solidFill>
                </a:rPr>
                <a:t>T</a:t>
              </a:r>
              <a:r>
                <a:rPr lang="en-US" altLang="zh-TW" sz="3000" spc="-50" dirty="0">
                  <a:solidFill>
                    <a:prstClr val="black"/>
                  </a:solidFill>
                </a:rPr>
                <a:t>he obje</a:t>
              </a:r>
              <a:r>
                <a:rPr lang="en-US" altLang="zh-TW" sz="3000" dirty="0">
                  <a:solidFill>
                    <a:prstClr val="black"/>
                  </a:solidFill>
                </a:rPr>
                <a:t>ct</a:t>
              </a:r>
              <a:r>
                <a:rPr lang="en-US" altLang="zh-TW" sz="3000" spc="-50" dirty="0">
                  <a:solidFill>
                    <a:prstClr val="black"/>
                  </a:solidFill>
                </a:rPr>
                <a:t> named</a:t>
              </a:r>
              <a:r>
                <a:rPr lang="en-US" altLang="zh-TW" sz="3000" dirty="0">
                  <a:solidFill>
                    <a:prstClr val="black"/>
                  </a:solidFill>
                </a:rPr>
                <a:t> “student” is a </a:t>
              </a:r>
              <a:r>
                <a:rPr lang="en-US" altLang="zh-TW" sz="3000" dirty="0">
                  <a:solidFill>
                    <a:srgbClr val="008000"/>
                  </a:solidFill>
                </a:rPr>
                <a:t>dictionary type</a:t>
              </a:r>
              <a:r>
                <a:rPr lang="en-US" altLang="zh-TW" sz="3000" dirty="0">
                  <a:solidFill>
                    <a:prstClr val="black"/>
                  </a:solidFill>
                </a:rPr>
                <a:t>.</a:t>
              </a:r>
              <a:endParaRPr lang="zh-TW" altLang="en-US" sz="3000" dirty="0">
                <a:solidFill>
                  <a:prstClr val="black"/>
                </a:solidFill>
              </a:endParaRPr>
            </a:p>
          </p:txBody>
        </p:sp>
        <p:sp>
          <p:nvSpPr>
            <p:cNvPr id="6" name="Flowchart: Merge 5"/>
            <p:cNvSpPr/>
            <p:nvPr/>
          </p:nvSpPr>
          <p:spPr>
            <a:xfrm rot="17242416" flipV="1">
              <a:off x="5539769" y="2213000"/>
              <a:ext cx="389846" cy="3514935"/>
            </a:xfrm>
            <a:prstGeom prst="flowChartMerge">
              <a:avLst/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Flowchart: Merge 6"/>
            <p:cNvSpPr/>
            <p:nvPr/>
          </p:nvSpPr>
          <p:spPr>
            <a:xfrm rot="5112145">
              <a:off x="5336926" y="3037343"/>
              <a:ext cx="358904" cy="3926066"/>
            </a:xfrm>
            <a:prstGeom prst="flowChartMerge">
              <a:avLst/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Flowchart: Extract 7"/>
            <p:cNvSpPr/>
            <p:nvPr/>
          </p:nvSpPr>
          <p:spPr>
            <a:xfrm rot="16200000">
              <a:off x="7236731" y="4791670"/>
              <a:ext cx="386723" cy="275360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Flowchart: Extract 8"/>
            <p:cNvSpPr/>
            <p:nvPr/>
          </p:nvSpPr>
          <p:spPr>
            <a:xfrm rot="12370835" flipH="1">
              <a:off x="7343073" y="4231753"/>
              <a:ext cx="140838" cy="157104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Flowchart: Extract 9"/>
            <p:cNvSpPr/>
            <p:nvPr/>
          </p:nvSpPr>
          <p:spPr>
            <a:xfrm rot="10406737" flipH="1">
              <a:off x="7424036" y="4343436"/>
              <a:ext cx="140838" cy="157104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Flowchart: Extract 11"/>
            <p:cNvSpPr/>
            <p:nvPr/>
          </p:nvSpPr>
          <p:spPr>
            <a:xfrm rot="5400000" flipH="1">
              <a:off x="7288410" y="4471987"/>
              <a:ext cx="496489" cy="367902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Flowchart: Extract 12"/>
            <p:cNvSpPr/>
            <p:nvPr/>
          </p:nvSpPr>
          <p:spPr>
            <a:xfrm rot="4504261" flipH="1">
              <a:off x="7417086" y="4708926"/>
              <a:ext cx="254710" cy="371381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5" name="Rectangular Callout 14"/>
          <p:cNvSpPr/>
          <p:nvPr/>
        </p:nvSpPr>
        <p:spPr>
          <a:xfrm>
            <a:off x="292894" y="534971"/>
            <a:ext cx="4679151" cy="1161855"/>
          </a:xfrm>
          <a:prstGeom prst="wedgeRectCallout">
            <a:avLst>
              <a:gd name="adj1" fmla="val 22362"/>
              <a:gd name="adj2" fmla="val 109416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prstClr val="black"/>
                </a:solidFill>
              </a:rPr>
              <a:t>But keys must be </a:t>
            </a:r>
            <a:r>
              <a:rPr lang="en-US" altLang="zh-TW" sz="3000" b="1" dirty="0">
                <a:solidFill>
                  <a:srgbClr val="7030A0"/>
                </a:solidFill>
              </a:rPr>
              <a:t>immutable</a:t>
            </a:r>
            <a:r>
              <a:rPr lang="en-US" altLang="zh-TW" sz="3000" dirty="0">
                <a:solidFill>
                  <a:prstClr val="black"/>
                </a:solidFill>
              </a:rPr>
              <a:t>, so we </a:t>
            </a:r>
            <a:r>
              <a:rPr lang="en-US" altLang="zh-TW" sz="3000" dirty="0" smtClean="0">
                <a:solidFill>
                  <a:prstClr val="black"/>
                </a:solidFill>
              </a:rPr>
              <a:t>get </a:t>
            </a:r>
            <a:r>
              <a:rPr lang="en-US" altLang="zh-TW" sz="3000" dirty="0">
                <a:solidFill>
                  <a:prstClr val="black"/>
                </a:solidFill>
              </a:rPr>
              <a:t>this </a:t>
            </a:r>
            <a:r>
              <a:rPr lang="en-US" altLang="zh-TW" sz="3000" b="1" dirty="0">
                <a:solidFill>
                  <a:srgbClr val="FF0000"/>
                </a:solidFill>
              </a:rPr>
              <a:t>error</a:t>
            </a:r>
            <a:r>
              <a:rPr lang="en-US" altLang="zh-TW" sz="3000" dirty="0">
                <a:solidFill>
                  <a:prstClr val="black"/>
                </a:solidFill>
              </a:rPr>
              <a:t>.</a:t>
            </a:r>
            <a:endParaRPr lang="zh-TW" altLang="en-US" sz="3000" dirty="0">
              <a:solidFill>
                <a:prstClr val="black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1392296" y="1593130"/>
            <a:ext cx="2215299" cy="461913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Extract 16"/>
          <p:cNvSpPr/>
          <p:nvPr/>
        </p:nvSpPr>
        <p:spPr>
          <a:xfrm rot="12370835" flipH="1">
            <a:off x="6523624" y="4324887"/>
            <a:ext cx="186109" cy="157104"/>
          </a:xfrm>
          <a:prstGeom prst="flowChartExtract">
            <a:avLst/>
          </a:prstGeom>
          <a:solidFill>
            <a:srgbClr val="FFE699"/>
          </a:solidFill>
          <a:ln>
            <a:solidFill>
              <a:srgbClr val="FFE6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314295" y="4301837"/>
            <a:ext cx="591620" cy="2014784"/>
            <a:chOff x="6250001" y="4301837"/>
            <a:chExt cx="591620" cy="2014784"/>
          </a:xfrm>
        </p:grpSpPr>
        <p:sp>
          <p:nvSpPr>
            <p:cNvPr id="19" name="Flowchart: Extract 18"/>
            <p:cNvSpPr/>
            <p:nvPr/>
          </p:nvSpPr>
          <p:spPr>
            <a:xfrm rot="6607332" flipH="1">
              <a:off x="5402908" y="5189650"/>
              <a:ext cx="1974064" cy="279877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Flowchart: Extract 19"/>
            <p:cNvSpPr/>
            <p:nvPr/>
          </p:nvSpPr>
          <p:spPr>
            <a:xfrm rot="10800000" flipH="1">
              <a:off x="6296891" y="4855202"/>
              <a:ext cx="503166" cy="724713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Flowchart: Extract 20"/>
            <p:cNvSpPr/>
            <p:nvPr/>
          </p:nvSpPr>
          <p:spPr>
            <a:xfrm rot="10800000" flipH="1" flipV="1">
              <a:off x="6338455" y="4301837"/>
              <a:ext cx="503166" cy="702302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4" name="Rectangular Callout 23"/>
          <p:cNvSpPr/>
          <p:nvPr/>
        </p:nvSpPr>
        <p:spPr>
          <a:xfrm>
            <a:off x="5501651" y="1600201"/>
            <a:ext cx="3911058" cy="1155647"/>
          </a:xfrm>
          <a:prstGeom prst="wedgeRectCallout">
            <a:avLst>
              <a:gd name="adj1" fmla="val 8908"/>
              <a:gd name="adj2" fmla="val 26624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prstClr val="black"/>
                </a:solidFill>
              </a:rPr>
              <a:t>The </a:t>
            </a:r>
            <a:r>
              <a:rPr lang="en-US" altLang="zh-TW" sz="3000" dirty="0">
                <a:solidFill>
                  <a:srgbClr val="008000"/>
                </a:solidFill>
              </a:rPr>
              <a:t>dictionary</a:t>
            </a:r>
            <a:br>
              <a:rPr lang="en-US" altLang="zh-TW" sz="3000" dirty="0">
                <a:solidFill>
                  <a:srgbClr val="008000"/>
                </a:solidFill>
              </a:rPr>
            </a:br>
            <a:r>
              <a:rPr lang="en-US" altLang="zh-TW" sz="3000" dirty="0">
                <a:solidFill>
                  <a:srgbClr val="008000"/>
                </a:solidFill>
              </a:rPr>
              <a:t>type </a:t>
            </a:r>
            <a:r>
              <a:rPr lang="en-US" altLang="zh-TW" sz="3000" dirty="0">
                <a:solidFill>
                  <a:prstClr val="black"/>
                </a:solidFill>
              </a:rPr>
              <a:t>is </a:t>
            </a:r>
            <a:r>
              <a:rPr lang="en-US" altLang="zh-TW" sz="3000" dirty="0">
                <a:solidFill>
                  <a:srgbClr val="FF0000"/>
                </a:solidFill>
              </a:rPr>
              <a:t>mutable</a:t>
            </a:r>
            <a:r>
              <a:rPr lang="en-US" altLang="zh-TW" sz="3000" dirty="0">
                <a:solidFill>
                  <a:prstClr val="black"/>
                </a:solidFill>
              </a:rPr>
              <a:t>.</a:t>
            </a:r>
            <a:endParaRPr lang="zh-TW" altLang="en-US" sz="3000" dirty="0">
              <a:solidFill>
                <a:prstClr val="black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47037" y="2830808"/>
            <a:ext cx="914400" cy="20648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altLang="zh-TW" sz="2400" spc="-2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54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4294" y="205540"/>
            <a:ext cx="960120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4400" dirty="0">
                <a:solidFill>
                  <a:srgbClr val="0070C0"/>
                </a:solidFill>
              </a:rPr>
              <a:t>Properties of Dictionary Keys: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4294" y="1062790"/>
            <a:ext cx="9601200" cy="5905500"/>
          </a:xfrm>
        </p:spPr>
        <p:txBody>
          <a:bodyPr>
            <a:noAutofit/>
          </a:bodyPr>
          <a:lstStyle/>
          <a:p>
            <a:r>
              <a:rPr lang="en-US" altLang="zh-TW" sz="3600" spc="-20" dirty="0"/>
              <a:t>Dicti</a:t>
            </a:r>
            <a:r>
              <a:rPr lang="en-US" altLang="zh-TW" sz="3600" spc="-100" dirty="0"/>
              <a:t>ona</a:t>
            </a:r>
            <a:r>
              <a:rPr lang="en-US" altLang="zh-TW" sz="3600" spc="-20" dirty="0"/>
              <a:t>ry </a:t>
            </a:r>
            <a:r>
              <a:rPr lang="en-US" altLang="zh-TW" sz="3600" b="1" spc="-20" dirty="0">
                <a:solidFill>
                  <a:srgbClr val="FF0000"/>
                </a:solidFill>
              </a:rPr>
              <a:t>values</a:t>
            </a:r>
            <a:r>
              <a:rPr lang="en-US" altLang="zh-TW" sz="3600" spc="-20" dirty="0">
                <a:solidFill>
                  <a:srgbClr val="FF0000"/>
                </a:solidFill>
              </a:rPr>
              <a:t> </a:t>
            </a:r>
            <a:r>
              <a:rPr lang="en-US" altLang="zh-TW" sz="3600" spc="-80" dirty="0"/>
              <a:t>have </a:t>
            </a:r>
            <a:r>
              <a:rPr lang="en-US" altLang="zh-TW" sz="3600" b="1" spc="-80" dirty="0">
                <a:solidFill>
                  <a:srgbClr val="008000"/>
                </a:solidFill>
              </a:rPr>
              <a:t>n</a:t>
            </a:r>
            <a:r>
              <a:rPr lang="en-US" altLang="zh-TW" sz="3600" b="1" spc="-20" dirty="0">
                <a:solidFill>
                  <a:srgbClr val="008000"/>
                </a:solidFill>
              </a:rPr>
              <a:t>o</a:t>
            </a:r>
            <a:r>
              <a:rPr lang="en-US" altLang="zh-TW" sz="3600" b="1" spc="-20" dirty="0"/>
              <a:t> </a:t>
            </a:r>
            <a:r>
              <a:rPr lang="en-US" altLang="zh-TW" sz="3600" b="1" spc="-20" dirty="0">
                <a:solidFill>
                  <a:srgbClr val="008000"/>
                </a:solidFill>
              </a:rPr>
              <a:t>restrictions</a:t>
            </a:r>
            <a:r>
              <a:rPr lang="en-US" altLang="zh-TW" sz="3600" spc="-20" dirty="0">
                <a:solidFill>
                  <a:srgbClr val="BFBFBF"/>
                </a:solidFill>
              </a:rPr>
              <a:t>: </a:t>
            </a:r>
            <a:r>
              <a:rPr lang="en-US" altLang="zh-TW" sz="3600" spc="-60" dirty="0">
                <a:solidFill>
                  <a:srgbClr val="BFBFBF"/>
                </a:solidFill>
              </a:rPr>
              <a:t>any obj</a:t>
            </a:r>
            <a:r>
              <a:rPr lang="en-US" altLang="zh-TW" sz="3600" spc="-20" dirty="0">
                <a:solidFill>
                  <a:srgbClr val="BFBFBF"/>
                </a:solidFill>
              </a:rPr>
              <a:t>ect, either standard objects or user-defined objects. </a:t>
            </a:r>
          </a:p>
          <a:p>
            <a:pPr>
              <a:spcAft>
                <a:spcPts val="1000"/>
              </a:spcAft>
            </a:pPr>
            <a:r>
              <a:rPr lang="en-US" altLang="zh-TW" sz="3600" spc="-100" dirty="0"/>
              <a:t>Keys mu</a:t>
            </a:r>
            <a:r>
              <a:rPr lang="en-US" altLang="zh-TW" sz="3600" spc="-50" dirty="0"/>
              <a:t>s</a:t>
            </a:r>
            <a:r>
              <a:rPr lang="en-US" altLang="zh-TW" sz="3600" spc="-100" dirty="0"/>
              <a:t>t be </a:t>
            </a:r>
            <a:r>
              <a:rPr lang="en-US" altLang="zh-TW" sz="3600" b="1" spc="-100" dirty="0">
                <a:solidFill>
                  <a:srgbClr val="7030A0"/>
                </a:solidFill>
              </a:rPr>
              <a:t>immutable</a:t>
            </a:r>
            <a:r>
              <a:rPr lang="en-US" altLang="zh-TW" sz="3600" spc="-100" dirty="0"/>
              <a:t>: string</a:t>
            </a:r>
            <a:r>
              <a:rPr lang="en-US" altLang="zh-TW" sz="3600" spc="-300" dirty="0"/>
              <a:t>s</a:t>
            </a:r>
            <a:r>
              <a:rPr lang="en-US" altLang="zh-TW" sz="3600" spc="-150" dirty="0"/>
              <a:t>, num</a:t>
            </a:r>
            <a:r>
              <a:rPr lang="en-US" altLang="zh-TW" sz="3600" spc="-100" dirty="0"/>
              <a:t>be</a:t>
            </a:r>
            <a:r>
              <a:rPr lang="en-US" altLang="zh-TW" sz="3600" spc="-50" dirty="0"/>
              <a:t>r</a:t>
            </a:r>
            <a:r>
              <a:rPr lang="en-US" altLang="zh-TW" sz="3600" spc="-100" dirty="0"/>
              <a:t>s </a:t>
            </a:r>
            <a:r>
              <a:rPr lang="en-US" altLang="zh-TW" sz="3600" spc="-130" dirty="0"/>
              <a:t>o</a:t>
            </a:r>
            <a:r>
              <a:rPr lang="en-US" altLang="zh-TW" sz="3600" spc="-100" dirty="0"/>
              <a:t>r tuple</a:t>
            </a:r>
            <a:r>
              <a:rPr lang="en-US" altLang="zh-TW" sz="3600" spc="-200" dirty="0"/>
              <a:t>s</a:t>
            </a:r>
            <a:r>
              <a:rPr lang="en-US" altLang="zh-TW" sz="3600" spc="-100" dirty="0"/>
              <a:t>.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student={</a:t>
            </a:r>
            <a:r>
              <a:rPr lang="en-US" altLang="zh-TW" sz="2400" b="1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'CSE'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:[1,(((2,),),)]}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weird={</a:t>
            </a:r>
            <a:r>
              <a:rPr lang="en-US" altLang="zh-TW" sz="2400" b="1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(5,)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2400" spc="-2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spc="-2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2+3j</a:t>
            </a:r>
            <a:r>
              <a:rPr lang="en-US" altLang="zh-TW" sz="2400" spc="-20" dirty="0">
                <a:latin typeface="Lucida Sans Typewriter" panose="020B0509030504030204" pitchFamily="49" charset="0"/>
                <a:cs typeface="Courier New" pitchFamily="49" charset="0"/>
              </a:rPr>
              <a:t>:"str"}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print ("Weird:", weird)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Weird:</a:t>
            </a:r>
            <a:r>
              <a:rPr lang="en-US" altLang="zh-TW" sz="18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{(5,):</a:t>
            </a:r>
            <a:r>
              <a:rPr lang="en-US" altLang="zh-TW" sz="16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{'CSE</a:t>
            </a:r>
            <a:r>
              <a:rPr lang="en-US" altLang="zh-TW" sz="2400" spc="-1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':</a:t>
            </a:r>
            <a:r>
              <a:rPr lang="en-US" altLang="zh-TW" sz="16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[</a:t>
            </a:r>
            <a:r>
              <a:rPr lang="en-US" altLang="zh-TW" sz="2400" spc="-7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altLang="zh-TW" sz="2400" spc="-5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600" spc="-5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5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(((</a:t>
            </a:r>
            <a:r>
              <a:rPr lang="en-US" altLang="zh-TW" sz="2400" spc="-8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2,),),</a:t>
            </a:r>
            <a:r>
              <a:rPr lang="en-US" altLang="zh-TW" sz="2400" spc="-5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)]</a:t>
            </a:r>
            <a:r>
              <a:rPr lang="en-US" altLang="zh-TW" sz="2400" spc="-9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10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(2+3j</a:t>
            </a:r>
            <a:r>
              <a:rPr lang="en-US" altLang="zh-TW" sz="2400" spc="-20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:</a:t>
            </a:r>
            <a:r>
              <a:rPr lang="en-US" altLang="zh-TW" sz="10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altLang="zh-TW" sz="2400" spc="-20" dirty="0" err="1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st</a:t>
            </a:r>
            <a:r>
              <a:rPr lang="en-US" altLang="zh-TW" sz="2400" spc="-200" dirty="0" err="1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r</a:t>
            </a:r>
            <a:r>
              <a:rPr lang="en-US" altLang="zh-TW" sz="2400" spc="-20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'}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r>
              <a:rPr lang="en-US" altLang="zh-TW" sz="2400" b="1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works</a:t>
            </a:r>
            <a:r>
              <a:rPr lang="en-US" altLang="zh-TW" sz="240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= "works"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weird[</a:t>
            </a:r>
            <a:r>
              <a:rPr lang="en-US" altLang="zh-TW" sz="2400" b="1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works</a:t>
            </a:r>
            <a:r>
              <a:rPr lang="en-US" altLang="zh-TW" sz="240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] = 1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weird[</a:t>
            </a:r>
            <a:r>
              <a:rPr lang="en-US" altLang="zh-TW" sz="2400" b="1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student</a:t>
            </a:r>
            <a:r>
              <a:rPr lang="en-US" altLang="zh-TW" sz="240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] = 2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 err="1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Traceback</a:t>
            </a: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(most recent call last):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File "&lt;</a:t>
            </a:r>
            <a:r>
              <a:rPr lang="en-US" altLang="zh-TW" sz="2400" spc="-20" dirty="0" err="1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stdin</a:t>
            </a: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&gt;", line 1, in &lt;module&gt;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spc="-20" dirty="0" err="1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TypeError</a:t>
            </a: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: </a:t>
            </a:r>
            <a:r>
              <a:rPr lang="en-US" altLang="zh-TW" sz="2400" spc="-20" dirty="0" err="1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unhashable</a:t>
            </a: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type: '</a:t>
            </a:r>
            <a:r>
              <a:rPr lang="en-US" altLang="zh-TW" sz="2400" spc="-20" dirty="0" err="1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dict</a:t>
            </a: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</a:p>
          <a:p>
            <a:pPr>
              <a:spcBef>
                <a:spcPts val="30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8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&gt;&gt;&gt; </a:t>
            </a:r>
            <a:endParaRPr lang="en-US" altLang="zh-TW" sz="2400" dirty="0">
              <a:solidFill>
                <a:schemeClr val="bg1">
                  <a:lumMod val="8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>
              <a:spcBef>
                <a:spcPts val="300"/>
              </a:spcBef>
              <a:buNone/>
            </a:pPr>
            <a:endParaRPr lang="en-US" altLang="zh-TW" sz="2400" spc="-20" dirty="0">
              <a:solidFill>
                <a:schemeClr val="bg1">
                  <a:lumMod val="8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036094" y="3775546"/>
            <a:ext cx="6457430" cy="1898385"/>
            <a:chOff x="3553345" y="3775545"/>
            <a:chExt cx="7028930" cy="1898385"/>
          </a:xfrm>
        </p:grpSpPr>
        <p:sp>
          <p:nvSpPr>
            <p:cNvPr id="5" name="Rectangular Callout 4"/>
            <p:cNvSpPr/>
            <p:nvPr/>
          </p:nvSpPr>
          <p:spPr>
            <a:xfrm>
              <a:off x="7372350" y="4073731"/>
              <a:ext cx="3209925" cy="1600199"/>
            </a:xfrm>
            <a:prstGeom prst="wedgeRectCallout">
              <a:avLst>
                <a:gd name="adj1" fmla="val -49961"/>
                <a:gd name="adj2" fmla="val 14382"/>
              </a:avLst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TW" sz="3000" dirty="0">
                  <a:solidFill>
                    <a:prstClr val="black"/>
                  </a:solidFill>
                </a:rPr>
                <a:t>T</a:t>
              </a:r>
              <a:r>
                <a:rPr lang="en-US" altLang="zh-TW" sz="3000" spc="-50" dirty="0">
                  <a:solidFill>
                    <a:prstClr val="black"/>
                  </a:solidFill>
                </a:rPr>
                <a:t>he obje</a:t>
              </a:r>
              <a:r>
                <a:rPr lang="en-US" altLang="zh-TW" sz="3000" dirty="0">
                  <a:solidFill>
                    <a:prstClr val="black"/>
                  </a:solidFill>
                </a:rPr>
                <a:t>ct</a:t>
              </a:r>
              <a:r>
                <a:rPr lang="en-US" altLang="zh-TW" sz="3000" spc="-50" dirty="0">
                  <a:solidFill>
                    <a:prstClr val="black"/>
                  </a:solidFill>
                </a:rPr>
                <a:t> named</a:t>
              </a:r>
              <a:r>
                <a:rPr lang="en-US" altLang="zh-TW" sz="3000" dirty="0">
                  <a:solidFill>
                    <a:prstClr val="black"/>
                  </a:solidFill>
                </a:rPr>
                <a:t> “student” is a </a:t>
              </a:r>
              <a:r>
                <a:rPr lang="en-US" altLang="zh-TW" sz="3000" dirty="0">
                  <a:solidFill>
                    <a:srgbClr val="008000"/>
                  </a:solidFill>
                </a:rPr>
                <a:t>dictionary type</a:t>
              </a:r>
              <a:r>
                <a:rPr lang="en-US" altLang="zh-TW" sz="3000" dirty="0">
                  <a:solidFill>
                    <a:prstClr val="black"/>
                  </a:solidFill>
                </a:rPr>
                <a:t>.</a:t>
              </a:r>
              <a:endParaRPr lang="zh-TW" altLang="en-US" sz="3000" dirty="0">
                <a:solidFill>
                  <a:prstClr val="black"/>
                </a:solidFill>
              </a:endParaRPr>
            </a:p>
          </p:txBody>
        </p:sp>
        <p:sp>
          <p:nvSpPr>
            <p:cNvPr id="6" name="Flowchart: Merge 5"/>
            <p:cNvSpPr/>
            <p:nvPr/>
          </p:nvSpPr>
          <p:spPr>
            <a:xfrm rot="17242416" flipV="1">
              <a:off x="5539769" y="2213000"/>
              <a:ext cx="389846" cy="3514935"/>
            </a:xfrm>
            <a:prstGeom prst="flowChartMerge">
              <a:avLst/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Flowchart: Merge 6"/>
            <p:cNvSpPr/>
            <p:nvPr/>
          </p:nvSpPr>
          <p:spPr>
            <a:xfrm rot="5112145">
              <a:off x="5336926" y="3037343"/>
              <a:ext cx="358904" cy="3926066"/>
            </a:xfrm>
            <a:prstGeom prst="flowChartMerge">
              <a:avLst/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Flowchart: Extract 7"/>
            <p:cNvSpPr/>
            <p:nvPr/>
          </p:nvSpPr>
          <p:spPr>
            <a:xfrm rot="16200000">
              <a:off x="7236731" y="4791670"/>
              <a:ext cx="386723" cy="275360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Flowchart: Extract 8"/>
            <p:cNvSpPr/>
            <p:nvPr/>
          </p:nvSpPr>
          <p:spPr>
            <a:xfrm rot="12370835" flipH="1">
              <a:off x="7343073" y="4231753"/>
              <a:ext cx="140838" cy="157104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Flowchart: Extract 9"/>
            <p:cNvSpPr/>
            <p:nvPr/>
          </p:nvSpPr>
          <p:spPr>
            <a:xfrm rot="10406737" flipH="1">
              <a:off x="7424036" y="4343436"/>
              <a:ext cx="140838" cy="157104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Flowchart: Extract 11"/>
            <p:cNvSpPr/>
            <p:nvPr/>
          </p:nvSpPr>
          <p:spPr>
            <a:xfrm rot="5400000" flipH="1">
              <a:off x="7288410" y="4471987"/>
              <a:ext cx="496489" cy="367902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Flowchart: Extract 12"/>
            <p:cNvSpPr/>
            <p:nvPr/>
          </p:nvSpPr>
          <p:spPr>
            <a:xfrm rot="4504261" flipH="1">
              <a:off x="7417086" y="4708926"/>
              <a:ext cx="254710" cy="371381"/>
            </a:xfrm>
            <a:prstGeom prst="flowChartExtra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" name="Flowchart: Extract 16"/>
          <p:cNvSpPr/>
          <p:nvPr/>
        </p:nvSpPr>
        <p:spPr>
          <a:xfrm rot="12370835" flipH="1">
            <a:off x="6523624" y="4324887"/>
            <a:ext cx="186109" cy="157104"/>
          </a:xfrm>
          <a:prstGeom prst="flowChartExtract">
            <a:avLst/>
          </a:prstGeom>
          <a:solidFill>
            <a:srgbClr val="FFE699"/>
          </a:solidFill>
          <a:ln>
            <a:solidFill>
              <a:srgbClr val="FFE6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9" name="Flowchart: Extract 18"/>
          <p:cNvSpPr/>
          <p:nvPr/>
        </p:nvSpPr>
        <p:spPr>
          <a:xfrm rot="6607332" flipH="1">
            <a:off x="5467202" y="5189651"/>
            <a:ext cx="1974064" cy="279877"/>
          </a:xfrm>
          <a:prstGeom prst="flowChartExtract">
            <a:avLst/>
          </a:prstGeom>
          <a:solidFill>
            <a:srgbClr val="FFE699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0" name="Flowchart: Extract 19"/>
          <p:cNvSpPr/>
          <p:nvPr/>
        </p:nvSpPr>
        <p:spPr>
          <a:xfrm rot="10800000" flipH="1">
            <a:off x="6361185" y="4855203"/>
            <a:ext cx="503166" cy="724713"/>
          </a:xfrm>
          <a:prstGeom prst="flowChartExtract">
            <a:avLst/>
          </a:prstGeom>
          <a:solidFill>
            <a:srgbClr val="FFE699"/>
          </a:solidFill>
          <a:ln>
            <a:solidFill>
              <a:srgbClr val="FFE6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1" name="Flowchart: Extract 20"/>
          <p:cNvSpPr/>
          <p:nvPr/>
        </p:nvSpPr>
        <p:spPr>
          <a:xfrm rot="10800000" flipH="1" flipV="1">
            <a:off x="6402749" y="4301837"/>
            <a:ext cx="503166" cy="702302"/>
          </a:xfrm>
          <a:prstGeom prst="flowChartExtract">
            <a:avLst/>
          </a:prstGeom>
          <a:solidFill>
            <a:srgbClr val="FFE699"/>
          </a:solidFill>
          <a:ln>
            <a:solidFill>
              <a:srgbClr val="FFE6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2" name="Rectangular Callout 21"/>
          <p:cNvSpPr/>
          <p:nvPr/>
        </p:nvSpPr>
        <p:spPr>
          <a:xfrm>
            <a:off x="407195" y="1600201"/>
            <a:ext cx="4336717" cy="1161855"/>
          </a:xfrm>
          <a:prstGeom prst="wedgeRectCallout">
            <a:avLst>
              <a:gd name="adj1" fmla="val 58912"/>
              <a:gd name="adj2" fmla="val -56625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prstClr val="black"/>
                </a:solidFill>
              </a:rPr>
              <a:t>Values have no restrictions, </a:t>
            </a:r>
          </a:p>
          <a:p>
            <a:pPr algn="ctr"/>
            <a:r>
              <a:rPr lang="en-US" altLang="zh-TW" sz="3000" dirty="0">
                <a:solidFill>
                  <a:prstClr val="black"/>
                </a:solidFill>
              </a:rPr>
              <a:t>so </a:t>
            </a:r>
            <a:r>
              <a:rPr lang="en-US" altLang="zh-TW" sz="3000" dirty="0">
                <a:solidFill>
                  <a:srgbClr val="FF0000"/>
                </a:solidFill>
              </a:rPr>
              <a:t>this</a:t>
            </a:r>
            <a:r>
              <a:rPr lang="en-US" altLang="zh-TW" sz="3000" dirty="0">
                <a:solidFill>
                  <a:prstClr val="black"/>
                </a:solidFill>
              </a:rPr>
              <a:t> had given </a:t>
            </a:r>
            <a:r>
              <a:rPr lang="en-US" altLang="zh-TW" sz="3000" b="1" dirty="0">
                <a:solidFill>
                  <a:srgbClr val="008000"/>
                </a:solidFill>
              </a:rPr>
              <a:t>no error</a:t>
            </a:r>
            <a:r>
              <a:rPr lang="en-US" altLang="zh-TW" sz="3000" dirty="0">
                <a:solidFill>
                  <a:prstClr val="black"/>
                </a:solidFill>
              </a:rPr>
              <a:t>.</a:t>
            </a:r>
            <a:endParaRPr lang="zh-TW" altLang="en-US" sz="3000" dirty="0">
              <a:solidFill>
                <a:prstClr val="black"/>
              </a:solidFill>
            </a:endParaRPr>
          </a:p>
        </p:txBody>
      </p:sp>
      <p:sp>
        <p:nvSpPr>
          <p:cNvPr id="24" name="Rectangular Callout 23"/>
          <p:cNvSpPr/>
          <p:nvPr/>
        </p:nvSpPr>
        <p:spPr>
          <a:xfrm>
            <a:off x="5501651" y="1600201"/>
            <a:ext cx="3911058" cy="1155647"/>
          </a:xfrm>
          <a:prstGeom prst="wedgeRectCallout">
            <a:avLst>
              <a:gd name="adj1" fmla="val 8908"/>
              <a:gd name="adj2" fmla="val 26624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prstClr val="black"/>
                </a:solidFill>
              </a:rPr>
              <a:t>The </a:t>
            </a:r>
            <a:r>
              <a:rPr lang="en-US" altLang="zh-TW" sz="3000" dirty="0">
                <a:solidFill>
                  <a:srgbClr val="008000"/>
                </a:solidFill>
              </a:rPr>
              <a:t>dictionary</a:t>
            </a:r>
            <a:br>
              <a:rPr lang="en-US" altLang="zh-TW" sz="3000" dirty="0">
                <a:solidFill>
                  <a:srgbClr val="008000"/>
                </a:solidFill>
              </a:rPr>
            </a:br>
            <a:r>
              <a:rPr lang="en-US" altLang="zh-TW" sz="3000" dirty="0">
                <a:solidFill>
                  <a:srgbClr val="008000"/>
                </a:solidFill>
              </a:rPr>
              <a:t>type </a:t>
            </a:r>
            <a:r>
              <a:rPr lang="en-US" altLang="zh-TW" sz="3000" dirty="0">
                <a:solidFill>
                  <a:prstClr val="black"/>
                </a:solidFill>
              </a:rPr>
              <a:t>is </a:t>
            </a:r>
            <a:r>
              <a:rPr lang="en-US" altLang="zh-TW" sz="3000" dirty="0">
                <a:solidFill>
                  <a:srgbClr val="FF0000"/>
                </a:solidFill>
              </a:rPr>
              <a:t>mutable</a:t>
            </a:r>
            <a:r>
              <a:rPr lang="en-US" altLang="zh-TW" sz="3000" dirty="0">
                <a:solidFill>
                  <a:prstClr val="black"/>
                </a:solidFill>
              </a:rPr>
              <a:t>.</a:t>
            </a:r>
            <a:endParaRPr lang="zh-TW" altLang="en-US" sz="3000" dirty="0">
              <a:solidFill>
                <a:prstClr val="black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47037" y="2830808"/>
            <a:ext cx="914400" cy="20648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spc="-2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altLang="zh-TW" sz="2400" spc="-2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356261" y="2571833"/>
            <a:ext cx="2921369" cy="1009022"/>
          </a:xfrm>
          <a:prstGeom prst="straightConnector1">
            <a:avLst/>
          </a:prstGeom>
          <a:ln w="5715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435894" y="2628900"/>
            <a:ext cx="1943100" cy="6858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99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140496" y="838200"/>
            <a:ext cx="9753599" cy="6065168"/>
          </a:xfrm>
        </p:spPr>
        <p:txBody>
          <a:bodyPr>
            <a:noAutofit/>
          </a:bodyPr>
          <a:lstStyle/>
          <a:p>
            <a:pPr>
              <a:lnSpc>
                <a:spcPct val="56000"/>
              </a:lnSpc>
              <a:buFontTx/>
              <a:buNone/>
            </a:pPr>
            <a:r>
              <a:rPr lang="en-US" altLang="en-US" dirty="0">
                <a:latin typeface="Lucida Console" pitchFamily="49" charset="0"/>
                <a:ea typeface="MS Gothic" pitchFamily="49" charset="-128"/>
              </a:rPr>
              <a:t>%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 cat test.py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 err="1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dict</a:t>
            </a:r>
            <a:r>
              <a:rPr lang="en-US" altLang="en-US" b="1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 = {}                </a:t>
            </a:r>
            <a:r>
              <a:rPr lang="en-US" altLang="en-US" sz="100" b="1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#</a:t>
            </a:r>
            <a:r>
              <a:rPr lang="en-US" altLang="en-US" sz="1600" b="1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20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One way to define a </a:t>
            </a:r>
            <a:r>
              <a:rPr lang="en-US" altLang="en-US" b="1" spc="-20" dirty="0" err="1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dict</a:t>
            </a:r>
            <a:r>
              <a:rPr lang="en-US" altLang="en-US" b="1" spc="-40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-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 err="1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dict</a:t>
            </a:r>
            <a:r>
              <a:rPr lang="en-US" altLang="en-US" b="1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[</a:t>
            </a:r>
            <a:r>
              <a:rPr lang="en-US" altLang="en-US" b="1" dirty="0">
                <a:solidFill>
                  <a:srgbClr val="00B05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one</a:t>
            </a:r>
            <a:r>
              <a:rPr lang="en-US" altLang="en-US" b="1" dirty="0">
                <a:solidFill>
                  <a:srgbClr val="00B05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]=</a:t>
            </a:r>
            <a:r>
              <a:rPr lang="en-US" altLang="en-US" b="1" dirty="0">
                <a:solidFill>
                  <a:srgbClr val="00B050"/>
                </a:solidFill>
                <a:latin typeface="Lucida Sans" panose="020B0602030504020204" pitchFamily="34" charset="0"/>
                <a:ea typeface="MS Gothic" pitchFamily="49" charset="-128"/>
              </a:rPr>
              <a:t>"</a:t>
            </a:r>
            <a:r>
              <a:rPr lang="en-US" altLang="en-US" b="1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Build up</a:t>
            </a:r>
            <a:r>
              <a:rPr lang="en-US" altLang="en-US" b="1" dirty="0">
                <a:solidFill>
                  <a:srgbClr val="00B050"/>
                </a:solidFill>
                <a:latin typeface="Lucida Sans" panose="020B0602030504020204" pitchFamily="34" charset="0"/>
                <a:ea typeface="MS Gothic" pitchFamily="49" charset="-128"/>
              </a:rPr>
              <a:t>"      </a:t>
            </a:r>
            <a:r>
              <a:rPr lang="en-US" altLang="en-US" sz="2000" b="1" dirty="0">
                <a:solidFill>
                  <a:srgbClr val="00B050"/>
                </a:solidFill>
                <a:latin typeface="Lucida Sans" panose="020B0602030504020204" pitchFamily="34" charset="0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#</a:t>
            </a:r>
            <a:r>
              <a:rPr lang="en-US" altLang="en-US" sz="1400" b="1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 err="1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ionary</a:t>
            </a:r>
            <a:r>
              <a:rPr lang="en-US" altLang="en-US" b="1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 is to build it up.</a:t>
            </a:r>
            <a:endParaRPr lang="en-US" altLang="en-US" b="1" dirty="0">
              <a:solidFill>
                <a:srgbClr val="00B050"/>
              </a:solidFill>
              <a:latin typeface="Lucida Sans" panose="020B0602030504020204" pitchFamily="34" charset="0"/>
              <a:ea typeface="MS Gothic" pitchFamily="49" charset="-128"/>
            </a:endParaRP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 err="1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dict</a:t>
            </a:r>
            <a:r>
              <a:rPr lang="en-US" altLang="en-US" b="1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[2] =</a:t>
            </a:r>
            <a:r>
              <a:rPr lang="en-US" altLang="en-US" b="1" dirty="0">
                <a:solidFill>
                  <a:srgbClr val="00B050"/>
                </a:solidFill>
                <a:latin typeface="Lucida Sans" panose="020B0602030504020204" pitchFamily="34" charset="0"/>
                <a:ea typeface="MS Gothic" pitchFamily="49" charset="-128"/>
              </a:rPr>
              <a:t>"</a:t>
            </a:r>
            <a:r>
              <a:rPr lang="en-US" altLang="en-US" b="1" dirty="0">
                <a:solidFill>
                  <a:srgbClr val="00B050"/>
                </a:solidFill>
                <a:latin typeface="MS Gothic" pitchFamily="49" charset="-128"/>
                <a:ea typeface="MS Gothic" pitchFamily="49" charset="-128"/>
              </a:rPr>
              <a:t>Build up more</a:t>
            </a:r>
            <a:r>
              <a:rPr lang="en-US" altLang="en-US" b="1" dirty="0">
                <a:solidFill>
                  <a:srgbClr val="00B050"/>
                </a:solidFill>
                <a:latin typeface="Lucida Sans" panose="020B0602030504020204" pitchFamily="34" charset="0"/>
                <a:ea typeface="MS Gothic" pitchFamily="49" charset="-128"/>
              </a:rPr>
              <a:t>"  </a:t>
            </a:r>
            <a:r>
              <a:rPr lang="en-US" altLang="en-US" b="1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#</a:t>
            </a:r>
            <a:r>
              <a:rPr lang="en-US" altLang="en-US" sz="1600" b="1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20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Another</a:t>
            </a:r>
            <a:r>
              <a:rPr lang="en-US" altLang="en-US" sz="2400" b="1" spc="-20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20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way</a:t>
            </a:r>
            <a:r>
              <a:rPr lang="en-US" altLang="en-US" sz="2400" b="1" spc="-20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20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is</a:t>
            </a:r>
            <a:r>
              <a:rPr lang="en-US" altLang="en-US" sz="2400" b="1" spc="-20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120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a</a:t>
            </a:r>
            <a:r>
              <a:rPr lang="en-US" altLang="en-US" b="1" spc="-400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l</a:t>
            </a:r>
            <a:r>
              <a:rPr lang="en-US" altLang="en-US" b="1" spc="-120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l</a:t>
            </a:r>
            <a:r>
              <a:rPr lang="en-US" altLang="en-US" sz="2400" b="1" spc="-20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20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at</a:t>
            </a:r>
            <a:r>
              <a:rPr lang="en-US" altLang="en-US" sz="2000" b="1" spc="-20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20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onc</a:t>
            </a:r>
            <a:r>
              <a:rPr lang="en-US" altLang="en-US" b="1" spc="-260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e</a:t>
            </a:r>
            <a:r>
              <a:rPr lang="en-US" altLang="en-US" b="1" spc="-20" dirty="0">
                <a:solidFill>
                  <a:srgbClr val="FFC000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: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 err="1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tdict</a:t>
            </a:r>
            <a:r>
              <a:rPr lang="en-US" altLang="en-US" b="1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 = {</a:t>
            </a:r>
            <a:r>
              <a:rPr lang="en-US" altLang="en-US" b="1" dirty="0">
                <a:solidFill>
                  <a:srgbClr val="FFC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name</a:t>
            </a:r>
            <a:r>
              <a:rPr lang="en-US" altLang="en-US" b="1" dirty="0">
                <a:solidFill>
                  <a:srgbClr val="FFC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: </a:t>
            </a:r>
            <a:r>
              <a:rPr lang="en-US" altLang="en-US" b="1" dirty="0">
                <a:solidFill>
                  <a:srgbClr val="FFC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john</a:t>
            </a:r>
            <a:r>
              <a:rPr lang="en-US" altLang="en-US" b="1" dirty="0">
                <a:solidFill>
                  <a:srgbClr val="FFC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,</a:t>
            </a:r>
            <a:r>
              <a:rPr lang="en-US" altLang="en-US" b="1" dirty="0">
                <a:solidFill>
                  <a:srgbClr val="FFC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code</a:t>
            </a:r>
            <a:r>
              <a:rPr lang="en-US" altLang="en-US" b="1" dirty="0">
                <a:solidFill>
                  <a:srgbClr val="FFC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:6734, </a:t>
            </a:r>
            <a:r>
              <a:rPr lang="en-US" altLang="en-US" b="1" dirty="0">
                <a:solidFill>
                  <a:srgbClr val="FFC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dept</a:t>
            </a:r>
            <a:r>
              <a:rPr lang="en-US" altLang="en-US" b="1" dirty="0">
                <a:solidFill>
                  <a:srgbClr val="FFC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: </a:t>
            </a:r>
            <a:r>
              <a:rPr lang="en-US" altLang="en-US" b="1" dirty="0">
                <a:solidFill>
                  <a:srgbClr val="FFC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sales</a:t>
            </a:r>
            <a:r>
              <a:rPr lang="en-US" altLang="en-US" b="1" dirty="0">
                <a:solidFill>
                  <a:srgbClr val="FFC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</a:rPr>
              <a:t>}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print (</a:t>
            </a:r>
            <a:r>
              <a:rPr lang="en-US" altLang="en-US" b="1" dirty="0" err="1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dict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[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one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])       #</a:t>
            </a:r>
            <a:r>
              <a:rPr lang="en-US" altLang="en-US" sz="2000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Prints value for</a:t>
            </a:r>
            <a:r>
              <a:rPr lang="en-US" altLang="en-US" sz="1800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one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 </a:t>
            </a:r>
            <a:r>
              <a:rPr lang="en-US" altLang="en-US" sz="100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key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print (</a:t>
            </a:r>
            <a:r>
              <a:rPr lang="en-US" altLang="en-US" b="1" dirty="0" err="1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dict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[2])          #</a:t>
            </a:r>
            <a:r>
              <a:rPr lang="en-US" altLang="en-US" sz="2000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Prints value for 2 key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print (</a:t>
            </a:r>
            <a:r>
              <a:rPr lang="en-US" altLang="en-US" b="1" dirty="0" err="1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tdict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)            #</a:t>
            </a:r>
            <a:r>
              <a:rPr lang="en-US" altLang="en-US" sz="2000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Prints </a:t>
            </a:r>
            <a:r>
              <a:rPr lang="en-US" altLang="en-US" b="1" spc="-20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complete</a:t>
            </a:r>
            <a:r>
              <a:rPr lang="en-US" altLang="en-US" sz="2400" b="1" spc="-20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20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dictionary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print (</a:t>
            </a:r>
            <a:r>
              <a:rPr lang="en-US" altLang="en-US" b="1" dirty="0" err="1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tdict.keys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())     #</a:t>
            </a:r>
            <a:r>
              <a:rPr lang="en-US" altLang="en-US" sz="2000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Prints all the keys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print (</a:t>
            </a:r>
            <a:r>
              <a:rPr lang="en-US" altLang="en-US" b="1" dirty="0" err="1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tdict.values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())   #</a:t>
            </a:r>
            <a:r>
              <a:rPr lang="en-US" altLang="en-US" sz="2000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Prints all the values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dirty="0">
                <a:latin typeface="Lucida Console" pitchFamily="49" charset="0"/>
                <a:ea typeface="MS Gothic" pitchFamily="49" charset="-128"/>
              </a:rPr>
              <a:t>%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 python3 test.py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Build up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Build up more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{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dept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: 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sales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, 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code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: 6734, 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name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: 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john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}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[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dept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, 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code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, 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name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]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[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sales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, 6734, 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john</a:t>
            </a:r>
            <a:r>
              <a:rPr lang="en-US" altLang="en-US" b="1" dirty="0">
                <a:solidFill>
                  <a:schemeClr val="bg1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chemeClr val="bg1"/>
                </a:solidFill>
                <a:latin typeface="MS Gothic" pitchFamily="49" charset="-128"/>
                <a:ea typeface="MS Gothic" pitchFamily="49" charset="-128"/>
              </a:rPr>
              <a:t>]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en-US" dirty="0">
                <a:latin typeface="Lucida Console" pitchFamily="49" charset="0"/>
                <a:ea typeface="MS Gothic" pitchFamily="49" charset="-128"/>
              </a:rPr>
              <a:t>%</a:t>
            </a:r>
          </a:p>
        </p:txBody>
      </p:sp>
      <p:sp>
        <p:nvSpPr>
          <p:cNvPr id="4" name="Rectangle 3"/>
          <p:cNvSpPr/>
          <p:nvPr/>
        </p:nvSpPr>
        <p:spPr>
          <a:xfrm>
            <a:off x="4648718" y="1873527"/>
            <a:ext cx="5016776" cy="338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4296" y="1"/>
            <a:ext cx="960119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>
                <a:solidFill>
                  <a:srgbClr val="0070C0"/>
                </a:solidFill>
              </a:rPr>
              <a:t>  Example Dictionaries:</a:t>
            </a:r>
            <a:endParaRPr lang="en-US" altLang="en-US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87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140496" y="838200"/>
            <a:ext cx="9753599" cy="6065168"/>
          </a:xfrm>
        </p:spPr>
        <p:txBody>
          <a:bodyPr>
            <a:noAutofit/>
          </a:bodyPr>
          <a:lstStyle/>
          <a:p>
            <a:pPr>
              <a:lnSpc>
                <a:spcPct val="56000"/>
              </a:lnSpc>
              <a:buFontTx/>
              <a:buNone/>
            </a:pPr>
            <a:r>
              <a:rPr lang="en-US" altLang="en-US" dirty="0">
                <a:solidFill>
                  <a:srgbClr val="777777"/>
                </a:solidFill>
                <a:latin typeface="Lucida Console" pitchFamily="49" charset="0"/>
                <a:ea typeface="MS Gothic" pitchFamily="49" charset="-128"/>
              </a:rPr>
              <a:t>%</a:t>
            </a:r>
            <a:r>
              <a:rPr lang="en-US" altLang="en-US" b="1" dirty="0">
                <a:solidFill>
                  <a:srgbClr val="777777"/>
                </a:solidFill>
                <a:latin typeface="MS Gothic" pitchFamily="49" charset="-128"/>
                <a:ea typeface="MS Gothic" pitchFamily="49" charset="-128"/>
              </a:rPr>
              <a:t> cat test.py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 err="1">
                <a:latin typeface="MS Gothic" pitchFamily="49" charset="-128"/>
                <a:ea typeface="MS Gothic" pitchFamily="49" charset="-128"/>
              </a:rPr>
              <a:t>dict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 = {}                </a:t>
            </a:r>
            <a:r>
              <a:rPr lang="en-US" altLang="en-US" sz="100" b="1" dirty="0"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#</a:t>
            </a:r>
            <a:r>
              <a:rPr lang="en-US" altLang="en-US" sz="1600" b="1" dirty="0"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20" dirty="0">
                <a:latin typeface="MS Gothic" pitchFamily="49" charset="-128"/>
                <a:ea typeface="MS Gothic" pitchFamily="49" charset="-128"/>
              </a:rPr>
              <a:t>One way to define a </a:t>
            </a:r>
            <a:r>
              <a:rPr lang="en-US" altLang="en-US" b="1" spc="-20" dirty="0" err="1">
                <a:latin typeface="MS Gothic" pitchFamily="49" charset="-128"/>
                <a:ea typeface="MS Gothic" pitchFamily="49" charset="-128"/>
              </a:rPr>
              <a:t>dict</a:t>
            </a:r>
            <a:r>
              <a:rPr lang="en-US" altLang="en-US" b="1" spc="-40" dirty="0">
                <a:latin typeface="MS Gothic" pitchFamily="49" charset="-128"/>
                <a:ea typeface="MS Gothic" pitchFamily="49" charset="-128"/>
              </a:rPr>
              <a:t>-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 err="1">
                <a:latin typeface="MS Gothic" pitchFamily="49" charset="-128"/>
                <a:ea typeface="MS Gothic" pitchFamily="49" charset="-128"/>
              </a:rPr>
              <a:t>dict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[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one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]=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"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Build up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"      </a:t>
            </a:r>
            <a:r>
              <a:rPr lang="en-US" altLang="en-US" sz="2000" b="1" dirty="0">
                <a:latin typeface="Lucida Sans" panose="020B0602030504020204" pitchFamily="34" charset="0"/>
                <a:ea typeface="MS Gothic" pitchFamily="49" charset="-128"/>
              </a:rPr>
              <a:t> 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#</a:t>
            </a:r>
            <a:r>
              <a:rPr lang="en-US" altLang="en-US" sz="1400" b="1" dirty="0"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 err="1">
                <a:latin typeface="MS Gothic" pitchFamily="49" charset="-128"/>
                <a:ea typeface="MS Gothic" pitchFamily="49" charset="-128"/>
              </a:rPr>
              <a:t>ionary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 is to build it up.</a:t>
            </a:r>
            <a:endParaRPr lang="en-US" altLang="en-US" b="1" dirty="0">
              <a:latin typeface="Lucida Sans" panose="020B0602030504020204" pitchFamily="34" charset="0"/>
              <a:ea typeface="MS Gothic" pitchFamily="49" charset="-128"/>
            </a:endParaRP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 err="1">
                <a:latin typeface="MS Gothic" pitchFamily="49" charset="-128"/>
                <a:ea typeface="MS Gothic" pitchFamily="49" charset="-128"/>
              </a:rPr>
              <a:t>dict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[2] =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"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Build up more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"  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#</a:t>
            </a:r>
            <a:r>
              <a:rPr lang="en-US" altLang="en-US" sz="1600" b="1" dirty="0"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20" dirty="0">
                <a:latin typeface="MS Gothic" pitchFamily="49" charset="-128"/>
                <a:ea typeface="MS Gothic" pitchFamily="49" charset="-128"/>
              </a:rPr>
              <a:t>Another</a:t>
            </a:r>
            <a:r>
              <a:rPr lang="en-US" altLang="en-US" sz="2400" b="1" spc="-20" dirty="0"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20" dirty="0">
                <a:latin typeface="MS Gothic" pitchFamily="49" charset="-128"/>
                <a:ea typeface="MS Gothic" pitchFamily="49" charset="-128"/>
              </a:rPr>
              <a:t>way</a:t>
            </a:r>
            <a:r>
              <a:rPr lang="en-US" altLang="en-US" sz="2400" b="1" spc="-20" dirty="0"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20" dirty="0">
                <a:latin typeface="MS Gothic" pitchFamily="49" charset="-128"/>
                <a:ea typeface="MS Gothic" pitchFamily="49" charset="-128"/>
              </a:rPr>
              <a:t>is</a:t>
            </a:r>
            <a:r>
              <a:rPr lang="en-US" altLang="en-US" sz="2400" b="1" spc="-20" dirty="0"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120" dirty="0">
                <a:latin typeface="MS Gothic" pitchFamily="49" charset="-128"/>
                <a:ea typeface="MS Gothic" pitchFamily="49" charset="-128"/>
              </a:rPr>
              <a:t>a</a:t>
            </a:r>
            <a:r>
              <a:rPr lang="en-US" altLang="en-US" b="1" spc="-400" dirty="0">
                <a:latin typeface="MS Gothic" pitchFamily="49" charset="-128"/>
                <a:ea typeface="MS Gothic" pitchFamily="49" charset="-128"/>
              </a:rPr>
              <a:t>l</a:t>
            </a:r>
            <a:r>
              <a:rPr lang="en-US" altLang="en-US" b="1" spc="-120" dirty="0">
                <a:latin typeface="MS Gothic" pitchFamily="49" charset="-128"/>
                <a:ea typeface="MS Gothic" pitchFamily="49" charset="-128"/>
              </a:rPr>
              <a:t>l</a:t>
            </a:r>
            <a:r>
              <a:rPr lang="en-US" altLang="en-US" sz="2400" b="1" spc="-20" dirty="0"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20" dirty="0">
                <a:latin typeface="MS Gothic" pitchFamily="49" charset="-128"/>
                <a:ea typeface="MS Gothic" pitchFamily="49" charset="-128"/>
              </a:rPr>
              <a:t>at</a:t>
            </a:r>
            <a:r>
              <a:rPr lang="en-US" altLang="en-US" sz="2000" b="1" spc="-20" dirty="0"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20" dirty="0">
                <a:latin typeface="MS Gothic" pitchFamily="49" charset="-128"/>
                <a:ea typeface="MS Gothic" pitchFamily="49" charset="-128"/>
              </a:rPr>
              <a:t>onc</a:t>
            </a:r>
            <a:r>
              <a:rPr lang="en-US" altLang="en-US" b="1" spc="-260" dirty="0">
                <a:latin typeface="MS Gothic" pitchFamily="49" charset="-128"/>
                <a:ea typeface="MS Gothic" pitchFamily="49" charset="-128"/>
              </a:rPr>
              <a:t>e</a:t>
            </a:r>
            <a:r>
              <a:rPr lang="en-US" altLang="en-US" b="1" spc="-20" dirty="0">
                <a:latin typeface="NSimSun" panose="02010609030101010101" pitchFamily="49" charset="-122"/>
                <a:ea typeface="NSimSun" panose="02010609030101010101" pitchFamily="49" charset="-122"/>
              </a:rPr>
              <a:t>: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 err="1">
                <a:latin typeface="MS Gothic" pitchFamily="49" charset="-128"/>
                <a:ea typeface="MS Gothic" pitchFamily="49" charset="-128"/>
              </a:rPr>
              <a:t>tdict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 = {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name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: 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john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, 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code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:6734, 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dept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: 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sales</a:t>
            </a:r>
            <a:r>
              <a:rPr lang="en-US" altLang="en-US" b="1" dirty="0"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latin typeface="MS Gothic" pitchFamily="49" charset="-128"/>
                <a:ea typeface="MS Gothic" pitchFamily="49" charset="-128"/>
              </a:rPr>
              <a:t>}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print (</a:t>
            </a:r>
            <a:r>
              <a:rPr lang="en-US" altLang="en-US" b="1" dirty="0" err="1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dict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[</a:t>
            </a:r>
            <a:r>
              <a:rPr lang="en-US" altLang="en-US" b="1" dirty="0">
                <a:solidFill>
                  <a:srgbClr val="00B0F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one</a:t>
            </a:r>
            <a:r>
              <a:rPr lang="en-US" altLang="en-US" b="1" dirty="0">
                <a:solidFill>
                  <a:srgbClr val="00B0F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])       #</a:t>
            </a:r>
            <a:r>
              <a:rPr lang="en-US" altLang="en-US" sz="20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Prints</a:t>
            </a:r>
            <a:r>
              <a:rPr lang="en-US" altLang="en-US" sz="20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value for</a:t>
            </a:r>
            <a:r>
              <a:rPr lang="en-US" altLang="en-US" sz="18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one</a:t>
            </a:r>
            <a:r>
              <a:rPr lang="en-US" altLang="en-US" b="1" dirty="0">
                <a:solidFill>
                  <a:srgbClr val="00B0F0"/>
                </a:solidFill>
                <a:latin typeface="Lucida Sans" panose="020B0602030504020204" pitchFamily="34" charset="0"/>
                <a:ea typeface="MS Gothic" pitchFamily="49" charset="-128"/>
              </a:rPr>
              <a:t>' </a:t>
            </a:r>
            <a:r>
              <a:rPr lang="en-US" altLang="en-US" sz="1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key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print (</a:t>
            </a:r>
            <a:r>
              <a:rPr lang="en-US" altLang="en-US" b="1" dirty="0" err="1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dict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[2])          #</a:t>
            </a:r>
            <a:r>
              <a:rPr lang="en-US" altLang="en-US" sz="20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Prints</a:t>
            </a:r>
            <a:r>
              <a:rPr lang="en-US" altLang="en-US" sz="20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value for 2 key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print (</a:t>
            </a:r>
            <a:r>
              <a:rPr lang="en-US" altLang="en-US" b="1" dirty="0" err="1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tdict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)            #</a:t>
            </a:r>
            <a:r>
              <a:rPr lang="en-US" altLang="en-US" sz="20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Prints</a:t>
            </a:r>
            <a:r>
              <a:rPr lang="en-US" altLang="en-US" sz="20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20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com</a:t>
            </a:r>
            <a:r>
              <a:rPr lang="en-US" altLang="en-US" b="1" spc="-70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pl</a:t>
            </a:r>
            <a:r>
              <a:rPr lang="en-US" altLang="en-US" b="1" spc="-20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ete</a:t>
            </a:r>
            <a:r>
              <a:rPr lang="en-US" altLang="en-US" sz="1800" b="1" spc="-20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spc="-70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di</a:t>
            </a:r>
            <a:r>
              <a:rPr lang="en-US" altLang="en-US" b="1" spc="-20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ctionary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print (</a:t>
            </a:r>
            <a:r>
              <a:rPr lang="en-US" altLang="en-US" b="1" dirty="0" err="1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tdict.keys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(</a:t>
            </a:r>
            <a:r>
              <a:rPr lang="en-US" altLang="en-US" sz="14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))    </a:t>
            </a:r>
            <a:r>
              <a:rPr lang="en-US" altLang="en-US" sz="14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#</a:t>
            </a:r>
            <a:r>
              <a:rPr lang="en-US" altLang="en-US" sz="20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Prints</a:t>
            </a:r>
            <a:r>
              <a:rPr lang="en-US" altLang="en-US" sz="20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all the keys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print (</a:t>
            </a:r>
            <a:r>
              <a:rPr lang="en-US" altLang="en-US" b="1" dirty="0" err="1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tdict.values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(</a:t>
            </a:r>
            <a:r>
              <a:rPr lang="en-US" altLang="en-US" sz="14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))  </a:t>
            </a:r>
            <a:r>
              <a:rPr lang="en-US" altLang="en-US" sz="14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#</a:t>
            </a:r>
            <a:r>
              <a:rPr lang="en-US" altLang="en-US" sz="20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Prints</a:t>
            </a:r>
            <a:r>
              <a:rPr lang="en-US" altLang="en-US" sz="2000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MS Gothic" pitchFamily="49" charset="-128"/>
                <a:ea typeface="MS Gothic" pitchFamily="49" charset="-128"/>
              </a:rPr>
              <a:t>all the values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dirty="0">
                <a:solidFill>
                  <a:srgbClr val="777777"/>
                </a:solidFill>
                <a:latin typeface="Lucida Console" pitchFamily="49" charset="0"/>
                <a:ea typeface="MS Gothic" pitchFamily="49" charset="-128"/>
              </a:rPr>
              <a:t>%</a:t>
            </a:r>
            <a:r>
              <a:rPr lang="en-US" altLang="en-US" b="1" dirty="0">
                <a:solidFill>
                  <a:srgbClr val="777777"/>
                </a:solidFill>
                <a:latin typeface="MS Gothic" pitchFamily="49" charset="-128"/>
                <a:ea typeface="MS Gothic" pitchFamily="49" charset="-128"/>
              </a:rPr>
              <a:t> python3 test.py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Build up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Build up more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{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dept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: 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sales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, 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code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: 6734, 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name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: 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john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}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[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dept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, 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code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, 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name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]</a:t>
            </a:r>
          </a:p>
          <a:p>
            <a:pPr>
              <a:lnSpc>
                <a:spcPct val="56000"/>
              </a:lnSpc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[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sales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, 6734, 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john</a:t>
            </a:r>
            <a:r>
              <a:rPr lang="en-US" altLang="en-US" b="1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</a:rPr>
              <a:t>'</a:t>
            </a:r>
            <a:r>
              <a:rPr lang="en-US" altLang="en-US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</a:rPr>
              <a:t>]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777777"/>
                </a:solidFill>
                <a:latin typeface="Lucida Console" pitchFamily="49" charset="0"/>
                <a:ea typeface="MS Gothic" pitchFamily="49" charset="-128"/>
              </a:rPr>
              <a:t>%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4296" y="1"/>
            <a:ext cx="960119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>
                <a:solidFill>
                  <a:srgbClr val="0070C0"/>
                </a:solidFill>
              </a:rPr>
              <a:t>  Example Dictionaries:</a:t>
            </a:r>
            <a:endParaRPr lang="en-US" altLang="en-US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06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 noChangeArrowheads="1"/>
          </p:cNvSpPr>
          <p:nvPr/>
        </p:nvSpPr>
        <p:spPr>
          <a:xfrm>
            <a:off x="64296" y="2130"/>
            <a:ext cx="9601199" cy="12876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096" algn="l"/>
                <a:tab pos="828192" algn="l"/>
                <a:tab pos="1242287" algn="l"/>
                <a:tab pos="1656383" algn="l"/>
                <a:tab pos="2072065" algn="l"/>
                <a:tab pos="2486162" algn="l"/>
                <a:tab pos="2900257" algn="l"/>
                <a:tab pos="3314353" algn="l"/>
                <a:tab pos="3730035" algn="l"/>
                <a:tab pos="4144131" algn="l"/>
                <a:tab pos="4558227" algn="l"/>
                <a:tab pos="4972323" algn="l"/>
                <a:tab pos="5388004" algn="l"/>
                <a:tab pos="5802101" algn="l"/>
                <a:tab pos="6216196" algn="l"/>
                <a:tab pos="6630292" algn="l"/>
                <a:tab pos="7045974" algn="l"/>
                <a:tab pos="7460069" algn="l"/>
                <a:tab pos="7874166" algn="l"/>
                <a:tab pos="8288261" algn="l"/>
              </a:tabLst>
            </a:pPr>
            <a:r>
              <a:rPr lang="en-GB" altLang="en-US" sz="4400">
                <a:solidFill>
                  <a:srgbClr val="0070C0"/>
                </a:solidFill>
                <a:cs typeface="Arial" panose="020B0604020202020204" pitchFamily="34" charset="0"/>
              </a:rPr>
              <a:t>Sets vs. Dictionaries</a:t>
            </a:r>
            <a:endParaRPr lang="en-GB" altLang="en-US" sz="4400" dirty="0">
              <a:solidFill>
                <a:srgbClr val="0070C0"/>
              </a:solidFill>
              <a:cs typeface="Arial" panose="020B060402020202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4294" y="915962"/>
            <a:ext cx="9598360" cy="2627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4000"/>
              </a:lnSpc>
              <a:buNone/>
              <a:defRPr/>
            </a:pPr>
            <a:r>
              <a:rPr lang="en-US" sz="3198" dirty="0">
                <a:solidFill>
                  <a:sysClr val="windowText" lastClr="000000"/>
                </a:solidFill>
              </a:rPr>
              <a:t>Sets are defined by using “{}”. But so are dictionaries. </a:t>
            </a:r>
            <a:br>
              <a:rPr lang="en-US" sz="3198" dirty="0">
                <a:solidFill>
                  <a:sysClr val="windowText" lastClr="000000"/>
                </a:solidFill>
              </a:rPr>
            </a:br>
            <a:r>
              <a:rPr lang="en-US" sz="3198" dirty="0">
                <a:solidFill>
                  <a:sysClr val="windowText" lastClr="000000"/>
                </a:solidFill>
              </a:rPr>
              <a:t>They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3198" dirty="0">
                <a:solidFill>
                  <a:sysClr val="windowText" lastClr="000000"/>
                </a:solidFill>
              </a:rPr>
              <a:t>are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3198" dirty="0">
                <a:solidFill>
                  <a:sysClr val="windowText" lastClr="000000"/>
                </a:solidFill>
              </a:rPr>
              <a:t>distinguishable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3198" dirty="0">
                <a:solidFill>
                  <a:sysClr val="windowText" lastClr="000000"/>
                </a:solidFill>
              </a:rPr>
              <a:t>because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3198" dirty="0">
                <a:solidFill>
                  <a:sysClr val="windowText" lastClr="000000"/>
                </a:solidFill>
              </a:rPr>
              <a:t>dictionaries also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3198" dirty="0">
                <a:solidFill>
                  <a:sysClr val="windowText" lastClr="000000"/>
                </a:solidFill>
              </a:rPr>
              <a:t>use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3198" dirty="0">
                <a:solidFill>
                  <a:sysClr val="windowText" lastClr="000000"/>
                </a:solidFill>
              </a:rPr>
              <a:t>“</a:t>
            </a:r>
            <a:r>
              <a:rPr lang="en-US" sz="3198" b="1" dirty="0">
                <a:solidFill>
                  <a:srgbClr val="C55A11"/>
                </a:solidFill>
              </a:rPr>
              <a:t>:</a:t>
            </a:r>
            <a:r>
              <a:rPr lang="en-US" sz="3198" dirty="0">
                <a:solidFill>
                  <a:sysClr val="windowText" lastClr="000000"/>
                </a:solidFill>
              </a:rPr>
              <a:t>”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  <a:defRPr/>
            </a:pPr>
            <a:r>
              <a:rPr lang="en-US" sz="2798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</a:rPr>
              <a:t>   &gt;</a:t>
            </a:r>
            <a:r>
              <a:rPr lang="en-US" sz="2798" dirty="0">
                <a:solidFill>
                  <a:srgbClr val="A6A6A6"/>
                </a:solidFill>
                <a:latin typeface="Lucida Console" panose="020B0609040504020204" pitchFamily="49" charset="0"/>
              </a:rPr>
              <a:t>&gt;</a:t>
            </a:r>
            <a:r>
              <a:rPr lang="en-US" sz="2798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</a:rPr>
              <a:t>&gt; </a:t>
            </a:r>
            <a:r>
              <a:rPr lang="en-US" sz="2798" b="1" dirty="0">
                <a:solidFill>
                  <a:srgbClr val="006600"/>
                </a:solidFill>
                <a:latin typeface="Lucida Console" panose="020B0609040504020204" pitchFamily="49" charset="0"/>
              </a:rPr>
              <a:t>s</a:t>
            </a:r>
            <a:r>
              <a:rPr lang="en-US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27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{</a:t>
            </a:r>
            <a:r>
              <a:rPr lang="en-US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1,2,3,4</a:t>
            </a:r>
            <a:r>
              <a:rPr lang="en-US" sz="27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}</a:t>
            </a:r>
            <a:r>
              <a:rPr lang="en-US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/>
            </a:r>
            <a:br>
              <a:rPr lang="en-US" sz="2798" dirty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r>
              <a:rPr lang="en-US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sz="2798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</a:rPr>
              <a:t> &gt;&gt;&gt; </a:t>
            </a:r>
            <a:r>
              <a:rPr lang="en-US" sz="2798" b="1" dirty="0">
                <a:solidFill>
                  <a:srgbClr val="C55A11"/>
                </a:solidFill>
                <a:latin typeface="Lucida Console" panose="020B0609040504020204" pitchFamily="49" charset="0"/>
              </a:rPr>
              <a:t>d</a:t>
            </a:r>
            <a:r>
              <a:rPr lang="en-US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27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{</a:t>
            </a:r>
            <a:r>
              <a:rPr lang="en-US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en-US" sz="2798" b="1" dirty="0">
                <a:solidFill>
                  <a:srgbClr val="C55A11"/>
                </a:solidFill>
                <a:latin typeface="Lucida Console" panose="020B0609040504020204" pitchFamily="49" charset="0"/>
              </a:rPr>
              <a:t>:</a:t>
            </a:r>
            <a:r>
              <a:rPr lang="en-US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2,3</a:t>
            </a:r>
            <a:r>
              <a:rPr lang="en-US" sz="2798" b="1" dirty="0">
                <a:solidFill>
                  <a:srgbClr val="C55A11"/>
                </a:solidFill>
                <a:latin typeface="Lucida Console" panose="020B0609040504020204" pitchFamily="49" charset="0"/>
              </a:rPr>
              <a:t>:</a:t>
            </a:r>
            <a:r>
              <a:rPr lang="en-US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sz="27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}</a:t>
            </a:r>
            <a:r>
              <a:rPr lang="en-US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/>
            </a:r>
            <a:br>
              <a:rPr lang="en-US" sz="2798" dirty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r>
              <a:rPr lang="en-US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sz="2798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print(type(</a:t>
            </a:r>
            <a:r>
              <a:rPr lang="en-US" sz="2798" b="1" dirty="0">
                <a:solidFill>
                  <a:srgbClr val="006600"/>
                </a:solidFill>
                <a:latin typeface="Lucida Console" panose="020B0609040504020204" pitchFamily="49" charset="0"/>
              </a:rPr>
              <a:t>s</a:t>
            </a:r>
            <a:r>
              <a:rPr lang="en-US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),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"\</a:t>
            </a:r>
            <a:r>
              <a:rPr lang="en-US" altLang="zh-TW" sz="27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t",type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798" b="1" dirty="0">
                <a:solidFill>
                  <a:srgbClr val="C55A11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))</a:t>
            </a:r>
            <a:b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&lt;class '</a:t>
            </a:r>
            <a:r>
              <a:rPr lang="en-US" altLang="zh-TW" sz="2798" b="1" dirty="0">
                <a:solidFill>
                  <a:srgbClr val="00660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'&gt;    &lt;class '</a:t>
            </a:r>
            <a:r>
              <a:rPr lang="en-US" altLang="zh-TW" sz="2798" b="1" dirty="0" err="1">
                <a:solidFill>
                  <a:srgbClr val="C55A1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'&gt;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  <a:defRPr/>
            </a:pP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sz="2800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3198" dirty="0">
              <a:solidFill>
                <a:srgbClr val="FF0000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4294" y="3543300"/>
            <a:ext cx="9598360" cy="33125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>
              <a:lnSpc>
                <a:spcPct val="94000"/>
              </a:lnSpc>
              <a:defRPr/>
            </a:pPr>
            <a:r>
              <a:rPr lang="en-US" altLang="zh-TW" sz="3198" b="1" dirty="0">
                <a:solidFill>
                  <a:prstClr val="black"/>
                </a:solidFill>
              </a:rPr>
              <a:t>BUT:</a:t>
            </a:r>
            <a:r>
              <a:rPr lang="en-US" altLang="zh-TW" sz="3198" b="1" dirty="0">
                <a:solidFill>
                  <a:srgbClr val="FF0000"/>
                </a:solidFill>
              </a:rPr>
              <a:t> an </a:t>
            </a:r>
            <a:r>
              <a:rPr lang="en-US" altLang="zh-TW" sz="3198" b="1" i="1" dirty="0">
                <a:solidFill>
                  <a:prstClr val="black"/>
                </a:solidFill>
              </a:rPr>
              <a:t>empty</a:t>
            </a:r>
            <a:r>
              <a:rPr lang="en-US" altLang="zh-TW" sz="3198" b="1" dirty="0">
                <a:solidFill>
                  <a:srgbClr val="FF0000"/>
                </a:solidFill>
              </a:rPr>
              <a:t> dictionary </a:t>
            </a:r>
            <a:r>
              <a:rPr lang="en-US" altLang="zh-TW" sz="3198" b="1" dirty="0">
                <a:solidFill>
                  <a:prstClr val="black"/>
                </a:solidFill>
              </a:rPr>
              <a:t>has</a:t>
            </a:r>
            <a:r>
              <a:rPr lang="en-US" altLang="zh-TW" sz="3198" b="1" dirty="0">
                <a:solidFill>
                  <a:srgbClr val="FF0000"/>
                </a:solidFill>
              </a:rPr>
              <a:t> </a:t>
            </a:r>
            <a:r>
              <a:rPr lang="en-US" altLang="zh-TW" sz="3198" b="1" dirty="0">
                <a:solidFill>
                  <a:prstClr val="black"/>
                </a:solidFill>
              </a:rPr>
              <a:t>no</a:t>
            </a:r>
            <a:r>
              <a:rPr lang="en-US" altLang="zh-TW" sz="3198" b="1" dirty="0">
                <a:solidFill>
                  <a:srgbClr val="FF0000"/>
                </a:solidFill>
              </a:rPr>
              <a:t> </a:t>
            </a:r>
            <a:r>
              <a:rPr lang="en-US" altLang="zh-TW" sz="3198" dirty="0">
                <a:solidFill>
                  <a:prstClr val="black"/>
                </a:solidFill>
              </a:rPr>
              <a:t>“</a:t>
            </a:r>
            <a:r>
              <a:rPr lang="en-US" altLang="zh-TW" sz="3198" b="1" dirty="0">
                <a:solidFill>
                  <a:prstClr val="black"/>
                </a:solidFill>
              </a:rPr>
              <a:t>:</a:t>
            </a:r>
            <a:r>
              <a:rPr lang="en-US" altLang="zh-TW" sz="3198" dirty="0">
                <a:solidFill>
                  <a:prstClr val="black"/>
                </a:solidFill>
              </a:rPr>
              <a:t>”</a:t>
            </a:r>
            <a:r>
              <a:rPr lang="en-US" altLang="zh-TW" sz="3198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  <a:defRPr/>
            </a:pPr>
            <a:r>
              <a:rPr lang="en-US" altLang="zh-TW" sz="3198" dirty="0">
                <a:solidFill>
                  <a:srgbClr val="FF0000"/>
                </a:solidFill>
              </a:rPr>
              <a:t>   So which type is </a:t>
            </a:r>
            <a:r>
              <a:rPr lang="en-US" altLang="zh-TW" sz="3198" spc="-200" dirty="0" smtClean="0">
                <a:solidFill>
                  <a:srgbClr val="FF0000"/>
                </a:solidFill>
              </a:rPr>
              <a:t>“</a:t>
            </a:r>
            <a:r>
              <a:rPr lang="en-US" altLang="zh-TW" sz="32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4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2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3198" dirty="0" smtClean="0">
                <a:solidFill>
                  <a:srgbClr val="FF0000"/>
                </a:solidFill>
              </a:rPr>
              <a:t>”?</a:t>
            </a:r>
            <a:endParaRPr lang="en-US" altLang="zh-TW" sz="3198" dirty="0">
              <a:solidFill>
                <a:srgbClr val="FF0000"/>
              </a:solidFill>
            </a:endParaRPr>
          </a:p>
          <a:p>
            <a:pPr marL="0" indent="0">
              <a:lnSpc>
                <a:spcPct val="94000"/>
              </a:lnSpc>
              <a:spcBef>
                <a:spcPts val="800"/>
              </a:spcBef>
              <a:buNone/>
              <a:defRPr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798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print (type</a:t>
            </a:r>
            <a:r>
              <a:rPr lang="en-US" altLang="zh-TW" sz="2798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798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4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798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798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))</a:t>
            </a:r>
            <a:endParaRPr lang="en-US" altLang="zh-TW" sz="2798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300"/>
              </a:spcBef>
              <a:buNone/>
              <a:defRPr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798" dirty="0">
                <a:solidFill>
                  <a:prstClr val="black"/>
                </a:solidFill>
                <a:latin typeface="Lucida Console" panose="020B0609040504020204" pitchFamily="49" charset="0"/>
              </a:rPr>
              <a:t>&lt;class '</a:t>
            </a:r>
            <a:r>
              <a:rPr lang="en-US" altLang="zh-TW" sz="2798" b="1" dirty="0" err="1">
                <a:solidFill>
                  <a:srgbClr val="C55A1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798" dirty="0">
                <a:solidFill>
                  <a:prstClr val="black"/>
                </a:solidFill>
                <a:latin typeface="Lucida Console" panose="020B0609040504020204" pitchFamily="49" charset="0"/>
              </a:rPr>
              <a:t>'&gt;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/>
            </a:r>
            <a:b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8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dirty="0">
              <a:solidFill>
                <a:srgbClr val="FF0000"/>
              </a:solidFill>
            </a:endParaRPr>
          </a:p>
          <a:p>
            <a:pPr marL="287338" indent="-287338">
              <a:lnSpc>
                <a:spcPct val="94000"/>
              </a:lnSpc>
              <a:defRPr/>
            </a:pPr>
            <a:r>
              <a:rPr lang="en-US" altLang="zh-TW" sz="3198" dirty="0">
                <a:solidFill>
                  <a:prstClr val="black"/>
                </a:solidFill>
              </a:rPr>
              <a:t>So an</a:t>
            </a:r>
            <a:r>
              <a:rPr lang="en-US" altLang="zh-TW" sz="2798" dirty="0">
                <a:solidFill>
                  <a:prstClr val="black"/>
                </a:solidFill>
              </a:rPr>
              <a:t> </a:t>
            </a:r>
            <a:r>
              <a:rPr lang="en-US" altLang="zh-TW" sz="3198" dirty="0">
                <a:solidFill>
                  <a:prstClr val="black"/>
                </a:solidFill>
              </a:rPr>
              <a:t>empty </a:t>
            </a:r>
            <a:r>
              <a:rPr lang="en-US" altLang="zh-TW" sz="3198" spc="-200" dirty="0" smtClean="0">
                <a:solidFill>
                  <a:prstClr val="black"/>
                </a:solidFill>
              </a:rPr>
              <a:t>“</a:t>
            </a:r>
            <a:r>
              <a:rPr lang="en-US" altLang="zh-TW" sz="32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4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2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3198" dirty="0" smtClean="0">
                <a:solidFill>
                  <a:prstClr val="black"/>
                </a:solidFill>
              </a:rPr>
              <a:t>” </a:t>
            </a:r>
            <a:r>
              <a:rPr lang="en-US" altLang="zh-TW" sz="3198" dirty="0">
                <a:solidFill>
                  <a:prstClr val="black"/>
                </a:solidFill>
              </a:rPr>
              <a:t>is a </a:t>
            </a:r>
            <a:r>
              <a:rPr lang="en-US" altLang="zh-TW" sz="3198" dirty="0">
                <a:solidFill>
                  <a:srgbClr val="C55A11"/>
                </a:solidFill>
              </a:rPr>
              <a:t>dictionary</a:t>
            </a:r>
            <a:r>
              <a:rPr lang="en-US" altLang="zh-TW" sz="3198" dirty="0">
                <a:solidFill>
                  <a:prstClr val="black"/>
                </a:solidFill>
              </a:rPr>
              <a:t>. </a:t>
            </a:r>
          </a:p>
          <a:p>
            <a:pPr marL="627063" lvl="1" indent="-287338">
              <a:lnSpc>
                <a:spcPct val="94000"/>
              </a:lnSpc>
              <a:spcBef>
                <a:spcPts val="0"/>
              </a:spcBef>
              <a:defRPr/>
            </a:pPr>
            <a:r>
              <a:rPr lang="en-US" altLang="zh-TW" sz="3198" dirty="0">
                <a:solidFill>
                  <a:srgbClr val="FF0000"/>
                </a:solidFill>
              </a:rPr>
              <a:t>To get an empty set, you use “</a:t>
            </a:r>
            <a:r>
              <a:rPr lang="en-US" altLang="zh-TW" sz="2998" b="1" dirty="0">
                <a:solidFill>
                  <a:srgbClr val="00660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zh-TW" sz="2998" dirty="0">
                <a:solidFill>
                  <a:srgbClr val="006600"/>
                </a:solidFill>
                <a:latin typeface="Bahnschrift" panose="020B0502040204020203" pitchFamily="34" charset="0"/>
              </a:rPr>
              <a:t>(</a:t>
            </a:r>
            <a:r>
              <a:rPr lang="en-US" altLang="zh-TW" sz="1800" dirty="0">
                <a:solidFill>
                  <a:srgbClr val="006600"/>
                </a:solidFill>
                <a:latin typeface="Bahnschrift" panose="020B0502040204020203" pitchFamily="34" charset="0"/>
              </a:rPr>
              <a:t> </a:t>
            </a:r>
            <a:r>
              <a:rPr lang="en-US" altLang="zh-TW" sz="2998" dirty="0">
                <a:solidFill>
                  <a:srgbClr val="006600"/>
                </a:solidFill>
                <a:latin typeface="Bahnschrift" panose="020B0502040204020203" pitchFamily="34" charset="0"/>
              </a:rPr>
              <a:t>)</a:t>
            </a:r>
            <a:r>
              <a:rPr lang="en-US" altLang="zh-TW" sz="3198" dirty="0">
                <a:solidFill>
                  <a:srgbClr val="FF0000"/>
                </a:solidFill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9361730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6437" y="1143000"/>
            <a:ext cx="4797620" cy="54864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3198" dirty="0">
                <a:solidFill>
                  <a:schemeClr val="accent2"/>
                </a:solidFill>
              </a:rPr>
              <a:t>Singleton objects: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798" dirty="0">
                <a:latin typeface="Lucida Console" panose="020B0609040504020204" pitchFamily="49" charset="0"/>
              </a:rPr>
              <a:t> </a:t>
            </a:r>
            <a:r>
              <a:rPr lang="en-US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L=</a:t>
            </a:r>
            <a:r>
              <a:rPr lang="en-US" sz="2798" b="1" dirty="0">
                <a:latin typeface="Lucida Console" panose="020B0609040504020204" pitchFamily="49" charset="0"/>
              </a:rPr>
              <a:t>[1]</a:t>
            </a:r>
            <a:r>
              <a:rPr lang="en-US" sz="2798" dirty="0">
                <a:latin typeface="Lucida Console" panose="020B0609040504020204" pitchFamily="49" charset="0"/>
              </a:rPr>
              <a:t/>
            </a:r>
            <a:br>
              <a:rPr lang="en-US" sz="2798" dirty="0">
                <a:latin typeface="Lucida Console" panose="020B0609040504020204" pitchFamily="49" charset="0"/>
              </a:rPr>
            </a:br>
            <a:r>
              <a:rPr lang="en-US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798" dirty="0">
                <a:latin typeface="Lucida Console" panose="020B0609040504020204" pitchFamily="49" charset="0"/>
              </a:rPr>
              <a:t> </a:t>
            </a:r>
            <a:r>
              <a:rPr lang="en-US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T=</a:t>
            </a:r>
            <a:r>
              <a:rPr lang="en-US" altLang="zh-TW" dirty="0">
                <a:latin typeface="Bahnschrift" panose="020B0502040204020203" pitchFamily="34" charset="0"/>
              </a:rPr>
              <a:t>(</a:t>
            </a:r>
            <a:r>
              <a:rPr lang="en-US" sz="2798" b="1" dirty="0">
                <a:latin typeface="Lucida Console" panose="020B0609040504020204" pitchFamily="49" charset="0"/>
              </a:rPr>
              <a:t>1</a:t>
            </a:r>
            <a:r>
              <a:rPr lang="en-US" sz="2798" b="1" dirty="0"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dirty="0">
                <a:latin typeface="Bahnschrift" panose="020B0502040204020203" pitchFamily="34" charset="0"/>
              </a:rPr>
              <a:t>)</a:t>
            </a:r>
            <a:r>
              <a:rPr lang="en-US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sz="2798" b="1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TW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798" dirty="0">
                <a:latin typeface="Lucida Console" panose="020B0609040504020204" pitchFamily="49" charset="0"/>
              </a:rPr>
              <a:t> </a:t>
            </a:r>
            <a:r>
              <a:rPr lang="en-US" altLang="zh-TW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S=</a:t>
            </a:r>
            <a:r>
              <a:rPr lang="en-US" altLang="zh-TW" sz="2798" b="1" dirty="0">
                <a:latin typeface="Lucida Console" panose="020B0609040504020204" pitchFamily="49" charset="0"/>
              </a:rPr>
              <a:t>"1"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798" dirty="0">
                <a:latin typeface="Lucida Console" panose="020B0609040504020204" pitchFamily="49" charset="0"/>
              </a:rPr>
              <a:t> </a:t>
            </a:r>
            <a:r>
              <a:rPr lang="en-US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D=</a:t>
            </a:r>
            <a:r>
              <a:rPr lang="en-US" sz="2798" b="1" dirty="0">
                <a:latin typeface="Lucida Console" panose="020B0609040504020204" pitchFamily="49" charset="0"/>
              </a:rPr>
              <a:t>{1:1}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798" dirty="0">
                <a:latin typeface="Lucida Console" panose="020B0609040504020204" pitchFamily="49" charset="0"/>
              </a:rPr>
              <a:t> </a:t>
            </a:r>
            <a:r>
              <a:rPr lang="en-US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s=</a:t>
            </a:r>
            <a:r>
              <a:rPr lang="en-US" sz="2798" b="1" dirty="0">
                <a:latin typeface="Lucida Console" panose="020B0609040504020204" pitchFamily="49" charset="0"/>
              </a:rPr>
              <a:t>{1}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798" dirty="0">
                <a:latin typeface="Lucida Console" panose="020B0609040504020204" pitchFamily="49" charset="0"/>
              </a:rPr>
              <a:t>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print (L,T,</a:t>
            </a: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\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...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S,D,s)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798" b="1" dirty="0">
                <a:latin typeface="Lucida Console" panose="020B0609040504020204" pitchFamily="49" charset="0"/>
              </a:rPr>
              <a:t>[1]</a:t>
            </a:r>
            <a:r>
              <a:rPr lang="en-US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latin typeface="Bahnschrift" panose="020B0502040204020203" pitchFamily="34" charset="0"/>
              </a:rPr>
              <a:t>(</a:t>
            </a:r>
            <a:r>
              <a:rPr lang="en-US" sz="2798" b="1" dirty="0">
                <a:latin typeface="Lucida Console" panose="020B0609040504020204" pitchFamily="49" charset="0"/>
              </a:rPr>
              <a:t>1,</a:t>
            </a:r>
            <a:r>
              <a:rPr lang="en-US" altLang="zh-TW" dirty="0">
                <a:latin typeface="Bahnschrift" panose="020B0502040204020203" pitchFamily="34" charset="0"/>
              </a:rPr>
              <a:t>)</a:t>
            </a:r>
            <a:r>
              <a:rPr lang="en-US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798" b="1" dirty="0">
                <a:latin typeface="Lucida Console" panose="020B0609040504020204" pitchFamily="49" charset="0"/>
              </a:rPr>
              <a:t>1</a:t>
            </a:r>
            <a:r>
              <a:rPr lang="en-US" altLang="zh-TW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798" b="1" dirty="0">
                <a:latin typeface="Lucida Console" panose="020B0609040504020204" pitchFamily="49" charset="0"/>
              </a:rPr>
              <a:t>{1: 1} {1}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buNone/>
            </a:pPr>
            <a:endParaRPr lang="en-US" sz="2798" dirty="0">
              <a:latin typeface="Lucida Console" panose="020B06090405040202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95736" y="1143000"/>
            <a:ext cx="3883787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84" tIns="45692" rIns="91384" bIns="45692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sz="3198" kern="0" dirty="0">
                <a:solidFill>
                  <a:srgbClr val="ED7D31"/>
                </a:solidFill>
              </a:rPr>
              <a:t>Empty objects: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L=</a:t>
            </a:r>
            <a:r>
              <a:rPr lang="en-US" sz="2798" b="1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[]</a:t>
            </a:r>
            <a:r>
              <a:rPr lang="en-US" sz="2798" kern="0" dirty="0">
                <a:latin typeface="Lucida Console" panose="020B0609040504020204" pitchFamily="49" charset="0"/>
              </a:rPr>
              <a:t/>
            </a:r>
            <a:br>
              <a:rPr lang="en-US" sz="2798" kern="0" dirty="0">
                <a:latin typeface="Lucida Console" panose="020B0609040504020204" pitchFamily="49" charset="0"/>
              </a:rPr>
            </a:b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T=</a:t>
            </a:r>
            <a:r>
              <a:rPr lang="en-US" sz="800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Bahnschrift" panose="020B0502040204020203" pitchFamily="34" charset="0"/>
              </a:rPr>
              <a:t>(</a:t>
            </a:r>
            <a:r>
              <a:rPr lang="en-US" altLang="zh-TW" sz="1600" dirty="0">
                <a:solidFill>
                  <a:prstClr val="black"/>
                </a:solidFill>
                <a:latin typeface="Bahnschrift" panose="020B0502040204020203" pitchFamily="34" charset="0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Bahnschrift" panose="020B0502040204020203" pitchFamily="34" charset="0"/>
              </a:rPr>
              <a:t>)</a:t>
            </a:r>
            <a:endParaRPr lang="en-US" sz="2798" b="1" kern="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S=</a:t>
            </a:r>
            <a:r>
              <a:rPr lang="en-US" altLang="zh-TW" sz="2798" b="1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""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D=</a:t>
            </a:r>
            <a:r>
              <a:rPr lang="en-US" sz="2798" b="1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{}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s=</a:t>
            </a:r>
            <a:r>
              <a:rPr lang="en-US" sz="27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zh-TW" sz="2800" dirty="0">
                <a:solidFill>
                  <a:srgbClr val="FF0000"/>
                </a:solidFill>
                <a:latin typeface="Bahnschrift" panose="020B0502040204020203" pitchFamily="34" charset="0"/>
              </a:rPr>
              <a:t>(</a:t>
            </a:r>
            <a:r>
              <a:rPr lang="en-US" altLang="zh-TW" sz="1600" dirty="0">
                <a:solidFill>
                  <a:srgbClr val="FF0000"/>
                </a:solidFill>
                <a:latin typeface="Bahnschrift" panose="020B0502040204020203" pitchFamily="34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Bahnschrift" panose="020B0502040204020203" pitchFamily="34" charset="0"/>
              </a:rPr>
              <a:t>)</a:t>
            </a:r>
            <a:endParaRPr lang="en-US" sz="2798" b="1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print (L,T,</a:t>
            </a: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\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...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S,D,s)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b="1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[]</a:t>
            </a:r>
            <a:r>
              <a:rPr lang="en-US" sz="2798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Bahnschrift" panose="020B0502040204020203" pitchFamily="34" charset="0"/>
              </a:rPr>
              <a:t>(</a:t>
            </a:r>
            <a:r>
              <a:rPr lang="en-US" altLang="zh-TW" sz="1600" dirty="0">
                <a:solidFill>
                  <a:prstClr val="black"/>
                </a:solidFill>
                <a:latin typeface="Bahnschrift" panose="020B0502040204020203" pitchFamily="34" charset="0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Bahnschrift" panose="020B0502040204020203" pitchFamily="34" charset="0"/>
              </a:rPr>
              <a:t>)</a:t>
            </a:r>
            <a:r>
              <a:rPr lang="en-US" sz="2798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  </a:t>
            </a:r>
            <a:r>
              <a:rPr lang="en-US" sz="2798" b="1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{}</a:t>
            </a:r>
            <a:r>
              <a:rPr lang="en-US" sz="2798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798" b="1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set</a:t>
            </a:r>
            <a:r>
              <a:rPr lang="en-US" altLang="zh-TW" sz="2800" dirty="0">
                <a:solidFill>
                  <a:prstClr val="black"/>
                </a:solidFill>
                <a:latin typeface="Bahnschrift" panose="020B0502040204020203" pitchFamily="34" charset="0"/>
              </a:rPr>
              <a:t>(</a:t>
            </a:r>
            <a:r>
              <a:rPr lang="en-US" altLang="zh-TW" sz="1600" dirty="0">
                <a:solidFill>
                  <a:prstClr val="black"/>
                </a:solidFill>
                <a:latin typeface="Bahnschrift" panose="020B0502040204020203" pitchFamily="34" charset="0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Bahnschrift" panose="020B0502040204020203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87137" y="2666056"/>
            <a:ext cx="4018132" cy="926797"/>
            <a:chOff x="2338279" y="2551770"/>
            <a:chExt cx="3946957" cy="927372"/>
          </a:xfrm>
        </p:grpSpPr>
        <p:sp>
          <p:nvSpPr>
            <p:cNvPr id="7" name="Left-Right Arrow 6"/>
            <p:cNvSpPr/>
            <p:nvPr/>
          </p:nvSpPr>
          <p:spPr bwMode="auto">
            <a:xfrm rot="20431380">
              <a:off x="2338279" y="2852105"/>
              <a:ext cx="3946957" cy="305031"/>
            </a:xfrm>
            <a:prstGeom prst="leftRightArrow">
              <a:avLst/>
            </a:prstGeom>
            <a:solidFill>
              <a:srgbClr val="FFCCCC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84" tIns="45692" rIns="91384" bIns="45692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999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 bwMode="auto">
            <a:xfrm rot="20460000">
              <a:off x="3283450" y="2672398"/>
              <a:ext cx="1994049" cy="685800"/>
            </a:xfrm>
            <a:prstGeom prst="roundRect">
              <a:avLst/>
            </a:prstGeom>
            <a:solidFill>
              <a:srgbClr val="FFCCCC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84" tIns="45692" rIns="91384" bIns="45692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398" dirty="0">
                  <a:solidFill>
                    <a:prstClr val="black"/>
                  </a:solidFill>
                  <a:latin typeface="Times New Roman" charset="0"/>
                </a:rPr>
                <a:t>The two special cases</a:t>
              </a:r>
            </a:p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TW" altLang="en-US" sz="2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" name="Isosceles Triangle 8"/>
            <p:cNvSpPr/>
            <p:nvPr/>
          </p:nvSpPr>
          <p:spPr bwMode="auto">
            <a:xfrm rot="4344255">
              <a:off x="5224079" y="2400661"/>
              <a:ext cx="196304" cy="498522"/>
            </a:xfrm>
            <a:prstGeom prst="triangle">
              <a:avLst/>
            </a:prstGeom>
            <a:solidFill>
              <a:srgbClr val="FFCC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84" tIns="45692" rIns="91384" bIns="45692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999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10" name="Isosceles Triangle 9"/>
            <p:cNvSpPr/>
            <p:nvPr/>
          </p:nvSpPr>
          <p:spPr bwMode="auto">
            <a:xfrm rot="15144255">
              <a:off x="3138940" y="3131729"/>
              <a:ext cx="196304" cy="498522"/>
            </a:xfrm>
            <a:prstGeom prst="triangle">
              <a:avLst/>
            </a:prstGeom>
            <a:solidFill>
              <a:srgbClr val="FFCC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84" tIns="45692" rIns="91384" bIns="45692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999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12" name="Rectangle 1"/>
          <p:cNvSpPr txBox="1">
            <a:spLocks noChangeArrowheads="1"/>
          </p:cNvSpPr>
          <p:nvPr/>
        </p:nvSpPr>
        <p:spPr>
          <a:xfrm>
            <a:off x="64295" y="2130"/>
            <a:ext cx="9601200" cy="128016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096" algn="l"/>
                <a:tab pos="828192" algn="l"/>
                <a:tab pos="1242287" algn="l"/>
                <a:tab pos="1656383" algn="l"/>
                <a:tab pos="2072065" algn="l"/>
                <a:tab pos="2486162" algn="l"/>
                <a:tab pos="2900257" algn="l"/>
                <a:tab pos="3314353" algn="l"/>
                <a:tab pos="3730035" algn="l"/>
                <a:tab pos="4144131" algn="l"/>
                <a:tab pos="4558227" algn="l"/>
                <a:tab pos="4972323" algn="l"/>
                <a:tab pos="5388004" algn="l"/>
                <a:tab pos="5802101" algn="l"/>
                <a:tab pos="6216196" algn="l"/>
                <a:tab pos="6630292" algn="l"/>
                <a:tab pos="7045974" algn="l"/>
                <a:tab pos="7460069" algn="l"/>
                <a:tab pos="7874166" algn="l"/>
                <a:tab pos="8288261" algn="l"/>
              </a:tabLst>
            </a:pPr>
            <a:r>
              <a:rPr lang="en-GB" altLang="en-US" sz="4400" dirty="0">
                <a:solidFill>
                  <a:srgbClr val="0070C0"/>
                </a:solidFill>
                <a:cs typeface="Arial" panose="020B0604020202020204" pitchFamily="34" charset="0"/>
              </a:rPr>
              <a:t>How to </a:t>
            </a:r>
            <a:r>
              <a:rPr lang="en-GB" altLang="en-US" sz="4400" spc="-40" dirty="0">
                <a:solidFill>
                  <a:srgbClr val="0070C0"/>
                </a:solidFill>
                <a:cs typeface="Arial" panose="020B0604020202020204" pitchFamily="34" charset="0"/>
              </a:rPr>
              <a:t>Declare</a:t>
            </a:r>
            <a:r>
              <a:rPr lang="en-GB" altLang="en-US" sz="3600" spc="-40" dirty="0">
                <a:solidFill>
                  <a:srgbClr val="0070C0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spc="-350" dirty="0">
                <a:solidFill>
                  <a:srgbClr val="0070C0"/>
                </a:solidFill>
                <a:cs typeface="Arial" panose="020B0604020202020204" pitchFamily="34" charset="0"/>
              </a:rPr>
              <a:t>V</a:t>
            </a:r>
            <a:r>
              <a:rPr lang="en-GB" altLang="en-US" sz="4400" spc="-40" dirty="0">
                <a:solidFill>
                  <a:srgbClr val="0070C0"/>
                </a:solidFill>
                <a:cs typeface="Arial" panose="020B0604020202020204" pitchFamily="34" charset="0"/>
              </a:rPr>
              <a:t>ar</a:t>
            </a:r>
            <a:r>
              <a:rPr lang="en-GB" altLang="en-US" sz="4400" spc="-80" dirty="0">
                <a:solidFill>
                  <a:srgbClr val="0070C0"/>
                </a:solidFill>
                <a:cs typeface="Arial" panose="020B0604020202020204" pitchFamily="34" charset="0"/>
              </a:rPr>
              <a:t>iou</a:t>
            </a:r>
            <a:r>
              <a:rPr lang="en-GB" altLang="en-US" sz="4400" spc="-40" dirty="0">
                <a:solidFill>
                  <a:srgbClr val="0070C0"/>
                </a:solidFill>
                <a:cs typeface="Arial" panose="020B0604020202020204" pitchFamily="34" charset="0"/>
              </a:rPr>
              <a:t>s</a:t>
            </a:r>
            <a:r>
              <a:rPr lang="en-GB" altLang="en-US" sz="3600" spc="-40" dirty="0">
                <a:solidFill>
                  <a:srgbClr val="0070C0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spc="-150" dirty="0">
                <a:solidFill>
                  <a:srgbClr val="0070C0"/>
                </a:solidFill>
                <a:cs typeface="Arial" panose="020B0604020202020204" pitchFamily="34" charset="0"/>
              </a:rPr>
              <a:t>O</a:t>
            </a:r>
            <a:r>
              <a:rPr lang="en-GB" altLang="en-US" sz="4400" spc="-40" dirty="0">
                <a:solidFill>
                  <a:srgbClr val="0070C0"/>
                </a:solidFill>
                <a:cs typeface="Arial" panose="020B0604020202020204" pitchFamily="34" charset="0"/>
              </a:rPr>
              <a:t>bjects</a:t>
            </a:r>
          </a:p>
        </p:txBody>
      </p:sp>
    </p:spTree>
    <p:extLst>
      <p:ext uri="{BB962C8B-B14F-4D97-AF65-F5344CB8AC3E}">
        <p14:creationId xmlns:p14="http://schemas.microsoft.com/office/powerpoint/2010/main" val="22623158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6437" y="1143000"/>
            <a:ext cx="4797620" cy="54864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3198" dirty="0">
                <a:solidFill>
                  <a:schemeClr val="accent2"/>
                </a:solidFill>
              </a:rPr>
              <a:t>Singleton objects: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798" dirty="0">
                <a:latin typeface="Lucida Console" panose="020B0609040504020204" pitchFamily="49" charset="0"/>
              </a:rPr>
              <a:t> </a:t>
            </a:r>
            <a:r>
              <a:rPr lang="en-US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L=</a:t>
            </a:r>
            <a:r>
              <a:rPr lang="en-US" sz="2798" b="1" dirty="0">
                <a:latin typeface="Lucida Console" panose="020B0609040504020204" pitchFamily="49" charset="0"/>
              </a:rPr>
              <a:t>[1]</a:t>
            </a:r>
            <a:r>
              <a:rPr lang="en-US" sz="2798" dirty="0">
                <a:latin typeface="Lucida Console" panose="020B0609040504020204" pitchFamily="49" charset="0"/>
              </a:rPr>
              <a:t/>
            </a:r>
            <a:br>
              <a:rPr lang="en-US" sz="2798" dirty="0">
                <a:latin typeface="Lucida Console" panose="020B0609040504020204" pitchFamily="49" charset="0"/>
              </a:rPr>
            </a:br>
            <a:r>
              <a:rPr lang="en-US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798" dirty="0">
                <a:latin typeface="Lucida Console" panose="020B0609040504020204" pitchFamily="49" charset="0"/>
              </a:rPr>
              <a:t> </a:t>
            </a:r>
            <a:r>
              <a:rPr lang="en-US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T=</a:t>
            </a:r>
            <a:r>
              <a:rPr lang="en-US" altLang="zh-TW" dirty="0">
                <a:latin typeface="Bahnschrift" panose="020B0502040204020203" pitchFamily="34" charset="0"/>
              </a:rPr>
              <a:t>(</a:t>
            </a:r>
            <a:r>
              <a:rPr lang="en-US" sz="2798" b="1" dirty="0">
                <a:latin typeface="Lucida Console" panose="020B0609040504020204" pitchFamily="49" charset="0"/>
              </a:rPr>
              <a:t>1,</a:t>
            </a:r>
            <a:r>
              <a:rPr lang="en-US" altLang="zh-TW" dirty="0">
                <a:latin typeface="Bahnschrift" panose="020B0502040204020203" pitchFamily="34" charset="0"/>
              </a:rPr>
              <a:t>)</a:t>
            </a:r>
            <a:r>
              <a:rPr lang="en-US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sz="2798" b="1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TW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798" dirty="0">
                <a:latin typeface="Lucida Console" panose="020B0609040504020204" pitchFamily="49" charset="0"/>
              </a:rPr>
              <a:t> </a:t>
            </a:r>
            <a:r>
              <a:rPr lang="en-US" altLang="zh-TW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S=</a:t>
            </a:r>
            <a:r>
              <a:rPr lang="en-US" altLang="zh-TW" sz="2798" b="1" dirty="0">
                <a:latin typeface="Lucida Console" panose="020B0609040504020204" pitchFamily="49" charset="0"/>
              </a:rPr>
              <a:t>"1"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798" dirty="0">
                <a:latin typeface="Lucida Console" panose="020B0609040504020204" pitchFamily="49" charset="0"/>
              </a:rPr>
              <a:t> </a:t>
            </a:r>
            <a:r>
              <a:rPr lang="en-US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D=</a:t>
            </a:r>
            <a:r>
              <a:rPr lang="en-US" sz="2798" b="1" dirty="0">
                <a:latin typeface="Lucida Console" panose="020B0609040504020204" pitchFamily="49" charset="0"/>
              </a:rPr>
              <a:t>{1:1}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798" dirty="0">
                <a:latin typeface="Lucida Console" panose="020B0609040504020204" pitchFamily="49" charset="0"/>
              </a:rPr>
              <a:t> </a:t>
            </a:r>
            <a:r>
              <a:rPr lang="en-US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s=</a:t>
            </a:r>
            <a:r>
              <a:rPr lang="en-US" sz="2798" b="1" dirty="0">
                <a:latin typeface="Lucida Console" panose="020B0609040504020204" pitchFamily="49" charset="0"/>
              </a:rPr>
              <a:t>{1}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798" dirty="0">
                <a:latin typeface="Lucida Console" panose="020B0609040504020204" pitchFamily="49" charset="0"/>
              </a:rPr>
              <a:t>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print (L,T,</a:t>
            </a: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\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...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S,D,s)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798" b="1" dirty="0">
                <a:latin typeface="Lucida Console" panose="020B0609040504020204" pitchFamily="49" charset="0"/>
              </a:rPr>
              <a:t>[1]</a:t>
            </a:r>
            <a:r>
              <a:rPr lang="en-US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latin typeface="Bahnschrift" panose="020B0502040204020203" pitchFamily="34" charset="0"/>
              </a:rPr>
              <a:t>(</a:t>
            </a:r>
            <a:r>
              <a:rPr lang="en-US" sz="2798" b="1" dirty="0">
                <a:latin typeface="Lucida Console" panose="020B0609040504020204" pitchFamily="49" charset="0"/>
              </a:rPr>
              <a:t>1,</a:t>
            </a:r>
            <a:r>
              <a:rPr lang="en-US" altLang="zh-TW" dirty="0">
                <a:latin typeface="Bahnschrift" panose="020B0502040204020203" pitchFamily="34" charset="0"/>
              </a:rPr>
              <a:t>)</a:t>
            </a:r>
            <a:r>
              <a:rPr lang="en-US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798" b="1" dirty="0">
                <a:latin typeface="Lucida Console" panose="020B0609040504020204" pitchFamily="49" charset="0"/>
              </a:rPr>
              <a:t>1</a:t>
            </a:r>
            <a:r>
              <a:rPr lang="en-US" altLang="zh-TW" sz="279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798" b="1" dirty="0">
                <a:latin typeface="Lucida Console" panose="020B0609040504020204" pitchFamily="49" charset="0"/>
              </a:rPr>
              <a:t>{1: 1} {1}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buNone/>
            </a:pPr>
            <a:endParaRPr lang="en-US" sz="2798" dirty="0">
              <a:latin typeface="Lucida Console" panose="020B06090405040202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95736" y="1143000"/>
            <a:ext cx="3883787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84" tIns="45692" rIns="91384" bIns="45692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sz="3198" kern="0" dirty="0">
                <a:solidFill>
                  <a:srgbClr val="ED7D31"/>
                </a:solidFill>
              </a:rPr>
              <a:t>Empty objects: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L=</a:t>
            </a:r>
            <a:r>
              <a:rPr lang="en-US" sz="2798" b="1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[]</a:t>
            </a:r>
            <a:r>
              <a:rPr lang="en-US" sz="2798" kern="0" dirty="0">
                <a:latin typeface="Lucida Console" panose="020B0609040504020204" pitchFamily="49" charset="0"/>
              </a:rPr>
              <a:t/>
            </a:r>
            <a:br>
              <a:rPr lang="en-US" sz="2798" kern="0" dirty="0">
                <a:latin typeface="Lucida Console" panose="020B0609040504020204" pitchFamily="49" charset="0"/>
              </a:rPr>
            </a:b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T=</a:t>
            </a:r>
            <a:r>
              <a:rPr lang="en-US" sz="8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Bahnschrift" panose="020B0502040204020203" pitchFamily="34" charset="0"/>
              </a:rPr>
              <a:t>(</a:t>
            </a:r>
            <a:r>
              <a:rPr lang="en-US" altLang="zh-TW" sz="1600" dirty="0">
                <a:solidFill>
                  <a:prstClr val="black"/>
                </a:solidFill>
                <a:latin typeface="Bahnschrift" panose="020B0502040204020203" pitchFamily="34" charset="0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Bahnschrift" panose="020B0502040204020203" pitchFamily="34" charset="0"/>
              </a:rPr>
              <a:t>)</a:t>
            </a:r>
            <a:endParaRPr lang="en-US" sz="2798" b="1" kern="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S=</a:t>
            </a:r>
            <a:r>
              <a:rPr lang="en-US" altLang="zh-TW" sz="2798" b="1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""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D=</a:t>
            </a:r>
            <a:r>
              <a:rPr lang="en-US" sz="2798" b="1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{}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s=</a:t>
            </a:r>
            <a:r>
              <a:rPr lang="en-US" sz="2798" b="1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set</a:t>
            </a:r>
            <a:r>
              <a:rPr lang="en-US" altLang="zh-TW" sz="2800" dirty="0">
                <a:solidFill>
                  <a:prstClr val="black"/>
                </a:solidFill>
                <a:latin typeface="Bahnschrift" panose="020B0502040204020203" pitchFamily="34" charset="0"/>
              </a:rPr>
              <a:t>(</a:t>
            </a:r>
            <a:r>
              <a:rPr lang="en-US" altLang="zh-TW" sz="1600" dirty="0">
                <a:solidFill>
                  <a:prstClr val="black"/>
                </a:solidFill>
                <a:latin typeface="Bahnschrift" panose="020B0502040204020203" pitchFamily="34" charset="0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Bahnschrift" panose="020B0502040204020203" pitchFamily="34" charset="0"/>
              </a:rPr>
              <a:t>)</a:t>
            </a:r>
            <a:endParaRPr lang="en-US" sz="2798" b="1" kern="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print (L,T,</a:t>
            </a: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\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... </a:t>
            </a:r>
            <a:r>
              <a:rPr lang="en-US" sz="2798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S,D,s)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b="1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[]</a:t>
            </a:r>
            <a:r>
              <a:rPr lang="en-US" sz="2798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Bahnschrift" panose="020B0502040204020203" pitchFamily="34" charset="0"/>
              </a:rPr>
              <a:t>(</a:t>
            </a:r>
            <a:r>
              <a:rPr lang="en-US" altLang="zh-TW" sz="1600" dirty="0">
                <a:solidFill>
                  <a:prstClr val="black"/>
                </a:solidFill>
                <a:latin typeface="Bahnschrift" panose="020B0502040204020203" pitchFamily="34" charset="0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Bahnschrift" panose="020B0502040204020203" pitchFamily="34" charset="0"/>
              </a:rPr>
              <a:t>)</a:t>
            </a:r>
            <a:r>
              <a:rPr lang="en-US" sz="2798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  </a:t>
            </a:r>
            <a:r>
              <a:rPr lang="en-US" sz="2798" b="1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{}</a:t>
            </a:r>
            <a:r>
              <a:rPr lang="en-US" sz="2798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798" b="1" kern="0" dirty="0">
                <a:solidFill>
                  <a:prstClr val="black"/>
                </a:solidFill>
                <a:latin typeface="Lucida Console" panose="020B0609040504020204" pitchFamily="49" charset="0"/>
              </a:rPr>
              <a:t>set</a:t>
            </a:r>
            <a:r>
              <a:rPr lang="en-US" altLang="zh-TW" sz="2800" dirty="0">
                <a:solidFill>
                  <a:prstClr val="black"/>
                </a:solidFill>
                <a:latin typeface="Bahnschrift" panose="020B0502040204020203" pitchFamily="34" charset="0"/>
              </a:rPr>
              <a:t>(</a:t>
            </a:r>
            <a:r>
              <a:rPr lang="en-US" altLang="zh-TW" sz="1600" dirty="0">
                <a:solidFill>
                  <a:prstClr val="black"/>
                </a:solidFill>
                <a:latin typeface="Bahnschrift" panose="020B0502040204020203" pitchFamily="34" charset="0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Bahnschrift" panose="020B0502040204020203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798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7" name="Rectangle 1"/>
          <p:cNvSpPr txBox="1">
            <a:spLocks noChangeArrowheads="1"/>
          </p:cNvSpPr>
          <p:nvPr/>
        </p:nvSpPr>
        <p:spPr>
          <a:xfrm>
            <a:off x="64295" y="2130"/>
            <a:ext cx="9601200" cy="128016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096" algn="l"/>
                <a:tab pos="828192" algn="l"/>
                <a:tab pos="1242287" algn="l"/>
                <a:tab pos="1656383" algn="l"/>
                <a:tab pos="2072065" algn="l"/>
                <a:tab pos="2486162" algn="l"/>
                <a:tab pos="2900257" algn="l"/>
                <a:tab pos="3314353" algn="l"/>
                <a:tab pos="3730035" algn="l"/>
                <a:tab pos="4144131" algn="l"/>
                <a:tab pos="4558227" algn="l"/>
                <a:tab pos="4972323" algn="l"/>
                <a:tab pos="5388004" algn="l"/>
                <a:tab pos="5802101" algn="l"/>
                <a:tab pos="6216196" algn="l"/>
                <a:tab pos="6630292" algn="l"/>
                <a:tab pos="7045974" algn="l"/>
                <a:tab pos="7460069" algn="l"/>
                <a:tab pos="7874166" algn="l"/>
                <a:tab pos="8288261" algn="l"/>
              </a:tabLst>
            </a:pPr>
            <a:r>
              <a:rPr lang="en-GB" altLang="en-US" sz="4400" dirty="0">
                <a:solidFill>
                  <a:srgbClr val="0070C0"/>
                </a:solidFill>
                <a:cs typeface="Arial" panose="020B0604020202020204" pitchFamily="34" charset="0"/>
              </a:rPr>
              <a:t>How to </a:t>
            </a:r>
            <a:r>
              <a:rPr lang="en-GB" altLang="en-US" sz="4400" spc="-40" dirty="0">
                <a:solidFill>
                  <a:srgbClr val="0070C0"/>
                </a:solidFill>
                <a:cs typeface="Arial" panose="020B0604020202020204" pitchFamily="34" charset="0"/>
              </a:rPr>
              <a:t>Declare</a:t>
            </a:r>
            <a:r>
              <a:rPr lang="en-GB" altLang="en-US" sz="3600" spc="-40" dirty="0">
                <a:solidFill>
                  <a:srgbClr val="0070C0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spc="-350" dirty="0">
                <a:solidFill>
                  <a:srgbClr val="0070C0"/>
                </a:solidFill>
                <a:cs typeface="Arial" panose="020B0604020202020204" pitchFamily="34" charset="0"/>
              </a:rPr>
              <a:t>V</a:t>
            </a:r>
            <a:r>
              <a:rPr lang="en-GB" altLang="en-US" sz="4400" spc="-40" dirty="0">
                <a:solidFill>
                  <a:srgbClr val="0070C0"/>
                </a:solidFill>
                <a:cs typeface="Arial" panose="020B0604020202020204" pitchFamily="34" charset="0"/>
              </a:rPr>
              <a:t>ar</a:t>
            </a:r>
            <a:r>
              <a:rPr lang="en-GB" altLang="en-US" sz="4400" spc="-80" dirty="0">
                <a:solidFill>
                  <a:srgbClr val="0070C0"/>
                </a:solidFill>
                <a:cs typeface="Arial" panose="020B0604020202020204" pitchFamily="34" charset="0"/>
              </a:rPr>
              <a:t>iou</a:t>
            </a:r>
            <a:r>
              <a:rPr lang="en-GB" altLang="en-US" sz="4400" spc="-40" dirty="0">
                <a:solidFill>
                  <a:srgbClr val="0070C0"/>
                </a:solidFill>
                <a:cs typeface="Arial" panose="020B0604020202020204" pitchFamily="34" charset="0"/>
              </a:rPr>
              <a:t>s</a:t>
            </a:r>
            <a:r>
              <a:rPr lang="en-GB" altLang="en-US" sz="3600" spc="-40" dirty="0">
                <a:solidFill>
                  <a:srgbClr val="0070C0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spc="-150" dirty="0">
                <a:solidFill>
                  <a:srgbClr val="0070C0"/>
                </a:solidFill>
                <a:cs typeface="Arial" panose="020B0604020202020204" pitchFamily="34" charset="0"/>
              </a:rPr>
              <a:t>O</a:t>
            </a:r>
            <a:r>
              <a:rPr lang="en-GB" altLang="en-US" sz="4400" spc="-40" dirty="0">
                <a:solidFill>
                  <a:srgbClr val="0070C0"/>
                </a:solidFill>
                <a:cs typeface="Arial" panose="020B0604020202020204" pitchFamily="34" charset="0"/>
              </a:rPr>
              <a:t>bjects</a:t>
            </a:r>
          </a:p>
        </p:txBody>
      </p:sp>
    </p:spTree>
    <p:extLst>
      <p:ext uri="{BB962C8B-B14F-4D97-AF65-F5344CB8AC3E}">
        <p14:creationId xmlns:p14="http://schemas.microsoft.com/office/powerpoint/2010/main" val="28378466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6040928"/>
              </p:ext>
            </p:extLst>
          </p:nvPr>
        </p:nvGraphicFramePr>
        <p:xfrm>
          <a:off x="235155" y="914400"/>
          <a:ext cx="925830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down to </a:t>
                      </a:r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an integer. </a:t>
                      </a:r>
                      <a:r>
                        <a:rPr lang="en-US" sz="1800" b="0" i="0" u="none" strike="noStrike" spc="-8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If x is a string, you can give the base.</a:t>
                      </a:r>
                      <a:endParaRPr lang="en-US" sz="1800" b="0" i="0" u="none" strike="noStrike" spc="-8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])</a:t>
                      </a:r>
                      <a:endParaRPr lang="en-US" sz="1800" b="0" i="0" u="none" strike="noStrike" spc="-15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bool(x)</a:t>
                      </a:r>
                      <a:endParaRPr lang="en-US" sz="1800" b="0" i="0" u="none" strike="noStrike" spc="-9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value (True or False).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(c)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round(n[,d])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tuple.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 that is sorted.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set.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“nice looking”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string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Adds padding to a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hexadecimal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octal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binary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856459" y="114300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</p:spTree>
    <p:extLst>
      <p:ext uri="{BB962C8B-B14F-4D97-AF65-F5344CB8AC3E}">
        <p14:creationId xmlns:p14="http://schemas.microsoft.com/office/powerpoint/2010/main" val="190876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8590006"/>
              </p:ext>
            </p:extLst>
          </p:nvPr>
        </p:nvGraphicFramePr>
        <p:xfrm>
          <a:off x="235155" y="914400"/>
          <a:ext cx="925830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bg1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down to </a:t>
                      </a:r>
                      <a:r>
                        <a:rPr lang="en-US" sz="1800" b="0" i="0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an integer. </a:t>
                      </a:r>
                      <a:r>
                        <a:rPr lang="en-US" sz="1800" b="0" i="0" u="none" strike="noStrike" spc="-8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If x is a string, you can give the base.</a:t>
                      </a:r>
                      <a:endParaRPr lang="en-US" sz="1800" b="0" i="0" u="none" strike="noStrike" spc="-80" baseline="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 smtClean="0">
                          <a:solidFill>
                            <a:schemeClr val="bg1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])</a:t>
                      </a:r>
                      <a:endParaRPr lang="en-US" sz="1800" b="0" i="0" u="none" strike="noStrike" spc="-150" baseline="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bool(x)</a:t>
                      </a:r>
                      <a:endParaRPr lang="en-US" sz="1800" b="0" i="0" u="none" strike="noStrike" spc="-90" baseline="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 value (True or False).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bg1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(c)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round(n[,d])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 smtClean="0">
                          <a:solidFill>
                            <a:schemeClr val="bg1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tuple.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 that is sorted.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set.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“nice looking”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string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Adds padding to a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hexadecimal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octal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binary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856459" y="114300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085" y="3938842"/>
            <a:ext cx="7701586" cy="174052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930" dirty="0">
                <a:solidFill>
                  <a:prstClr val="white"/>
                </a:solidFill>
              </a:rPr>
              <a:t>These return various kinds of numbers (including </a:t>
            </a:r>
            <a:r>
              <a:rPr lang="en-US" altLang="zh-TW" sz="4930" dirty="0" err="1">
                <a:solidFill>
                  <a:prstClr val="white"/>
                </a:solidFill>
              </a:rPr>
              <a:t>booleans</a:t>
            </a:r>
            <a:r>
              <a:rPr lang="en-US" altLang="zh-TW" sz="4930" dirty="0">
                <a:solidFill>
                  <a:prstClr val="white"/>
                </a:solidFill>
              </a:rPr>
              <a:t>)</a:t>
            </a:r>
            <a:endParaRPr lang="zh-TW" altLang="en-US" sz="4930" dirty="0">
              <a:solidFill>
                <a:prstClr val="white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35827" y="3160449"/>
            <a:ext cx="9018600" cy="3669253"/>
            <a:chOff x="406917" y="3409508"/>
            <a:chExt cx="9877514" cy="4018706"/>
          </a:xfrm>
        </p:grpSpPr>
        <p:sp>
          <p:nvSpPr>
            <p:cNvPr id="8" name="Rectangle 7"/>
            <p:cNvSpPr/>
            <p:nvPr/>
          </p:nvSpPr>
          <p:spPr>
            <a:xfrm>
              <a:off x="406917" y="3409508"/>
              <a:ext cx="9701766" cy="40187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43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4053" y="3453265"/>
              <a:ext cx="4426445" cy="39540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65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  <a:latin typeface="Lucida Console" panose="020B0609040504020204" pitchFamily="49" charset="0"/>
                </a:rPr>
                <a:t>int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"12"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12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  <a:latin typeface="Lucida Console" panose="020B0609040504020204" pitchFamily="49" charset="0"/>
                </a:rPr>
                <a:t>int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"1f"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,</a:t>
              </a:r>
              <a:r>
                <a:rPr lang="en-US" altLang="zh-TW" sz="2191" dirty="0">
                  <a:solidFill>
                    <a:srgbClr val="00B0F0"/>
                  </a:solidFill>
                  <a:latin typeface="Lucida Console" panose="020B0609040504020204" pitchFamily="49" charset="0"/>
                </a:rPr>
                <a:t>16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31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float(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12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12.0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float(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"12"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12.0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complex(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1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,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12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(1+12j)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complex(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"1+2j"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(1+2j)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bool(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0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70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False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bool(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{}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70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False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60369" y="3536722"/>
              <a:ext cx="5024062" cy="38705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65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bool(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0+0j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False</a:t>
              </a:r>
            </a:p>
            <a:p>
              <a:pPr>
                <a:lnSpc>
                  <a:spcPct val="67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bool(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{0}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60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True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  <a:latin typeface="Lucida Console" panose="020B0609040504020204" pitchFamily="49" charset="0"/>
                </a:rPr>
                <a:t>ord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'A'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65</a:t>
              </a:r>
            </a:p>
            <a:p>
              <a:pPr>
                <a:lnSpc>
                  <a:spcPct val="55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  <a:latin typeface="Lucida Console" panose="020B0609040504020204" pitchFamily="49" charset="0"/>
                </a:rPr>
                <a:t>ord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'AB'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1826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Traceback</a:t>
              </a:r>
              <a:r>
                <a:rPr lang="en-US" altLang="zh-TW" sz="1826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(most recent call last):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1826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 File "&lt;</a:t>
              </a:r>
              <a:r>
                <a:rPr lang="en-US" altLang="zh-TW" sz="1826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stdin</a:t>
              </a:r>
              <a:r>
                <a:rPr lang="en-US" altLang="zh-TW" sz="1826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&gt;", line 1, in &lt;module&gt;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1826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TypeError</a:t>
              </a:r>
              <a:r>
                <a:rPr lang="en-US" altLang="zh-TW" sz="1826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:</a:t>
              </a:r>
              <a:r>
                <a:rPr lang="en-US" altLang="zh-TW" sz="2191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ord</a:t>
              </a:r>
              <a:r>
                <a:rPr lang="en-US" altLang="zh-TW" sz="2191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() expected a character,     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2191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               but string of length 2 found</a:t>
              </a:r>
            </a:p>
            <a:p>
              <a:pPr>
                <a:lnSpc>
                  <a:spcPct val="67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round(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3.141592653589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60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3</a:t>
              </a:r>
            </a:p>
            <a:p>
              <a:pPr>
                <a:lnSpc>
                  <a:spcPct val="67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round(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2.718281828459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60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3</a:t>
              </a:r>
            </a:p>
            <a:p>
              <a:pPr>
                <a:lnSpc>
                  <a:spcPct val="67000"/>
                </a:lnSpc>
              </a:pP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round(</a:t>
              </a:r>
              <a:r>
                <a:rPr lang="en-US" altLang="zh-TW" sz="2191" b="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2.7182818284,2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60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2.72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118342" y="1257301"/>
            <a:ext cx="9465404" cy="174995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43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78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2719880"/>
              </p:ext>
            </p:extLst>
          </p:nvPr>
        </p:nvGraphicFramePr>
        <p:xfrm>
          <a:off x="235155" y="914400"/>
          <a:ext cx="925830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bg1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down to </a:t>
                      </a:r>
                      <a:r>
                        <a:rPr lang="en-US" sz="1800" b="0" i="0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an integer. </a:t>
                      </a:r>
                      <a:r>
                        <a:rPr lang="en-US" sz="1800" b="0" i="0" u="none" strike="noStrike" spc="-8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If x is a string, you can give the base.</a:t>
                      </a:r>
                      <a:endParaRPr lang="en-US" sz="1800" b="0" i="0" u="none" strike="noStrike" spc="-80" baseline="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 smtClean="0">
                          <a:solidFill>
                            <a:schemeClr val="bg1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])</a:t>
                      </a:r>
                      <a:endParaRPr lang="en-US" sz="1800" b="0" i="0" u="none" strike="noStrike" spc="-150" baseline="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bool(x)</a:t>
                      </a:r>
                      <a:endParaRPr lang="en-US" sz="1800" b="0" i="0" u="none" strike="noStrike" spc="-90" baseline="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 value (True or False).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bg1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(c)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round(n[,d])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 smtClean="0">
                          <a:solidFill>
                            <a:schemeClr val="bg1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tuple.</a:t>
                      </a: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 that is sorted.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set.</a:t>
                      </a: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“nice looking”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string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Adds padding to a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hexadecimal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octal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binary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856459" y="114300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6344" y="4774574"/>
            <a:ext cx="7315875" cy="174052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930" dirty="0">
                <a:solidFill>
                  <a:prstClr val="black"/>
                </a:solidFill>
              </a:rPr>
              <a:t>These do what </a:t>
            </a:r>
            <a:r>
              <a:rPr lang="en-US" altLang="zh-TW" sz="4930" dirty="0" smtClean="0">
                <a:solidFill>
                  <a:prstClr val="black"/>
                </a:solidFill>
              </a:rPr>
              <a:t>you would expect them to do.</a:t>
            </a:r>
            <a:endParaRPr lang="en-US" altLang="zh-TW" sz="4930" dirty="0">
              <a:solidFill>
                <a:prstClr val="black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35827" y="4495800"/>
            <a:ext cx="9018600" cy="2362200"/>
            <a:chOff x="406917" y="4915941"/>
            <a:chExt cx="9877514" cy="2512273"/>
          </a:xfrm>
        </p:grpSpPr>
        <p:sp>
          <p:nvSpPr>
            <p:cNvPr id="8" name="Rectangle 7"/>
            <p:cNvSpPr/>
            <p:nvPr/>
          </p:nvSpPr>
          <p:spPr>
            <a:xfrm>
              <a:off x="406917" y="4915941"/>
              <a:ext cx="9701766" cy="25122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43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4053" y="4915941"/>
              <a:ext cx="4918932" cy="2499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</a:pPr>
              <a:r>
                <a:rPr lang="en-US" altLang="zh-TW" sz="2100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tuple(</a:t>
              </a:r>
              <a:r>
                <a:rPr lang="en-US" sz="2100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{2,(1,),'@♞'}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 </a:t>
              </a:r>
            </a:p>
            <a:p>
              <a:pPr>
                <a:lnSpc>
                  <a:spcPct val="90000"/>
                </a:lnSpc>
              </a:pPr>
              <a:r>
                <a:rPr lang="en-US" sz="2100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2</a:t>
              </a:r>
              <a:r>
                <a:rPr lang="en-US" sz="2100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'@♞'</a:t>
              </a:r>
              <a:r>
                <a:rPr lang="en-US" sz="2100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(1,)</a:t>
              </a:r>
              <a:r>
                <a:rPr lang="en-US" sz="2100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2100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list</a:t>
              </a:r>
              <a:r>
                <a:rPr lang="en-US" sz="2100" dirty="0">
                  <a:solidFill>
                    <a:schemeClr val="tx1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sz="2100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{2,(1,),'@♞'}</a:t>
              </a:r>
              <a:r>
                <a:rPr lang="en-US" sz="2100" dirty="0">
                  <a:solidFill>
                    <a:schemeClr val="tx1"/>
                  </a:solidFill>
                  <a:latin typeface="Lucida Console" panose="020B0609040504020204" pitchFamily="49" charset="0"/>
                </a:rPr>
                <a:t>)</a:t>
              </a:r>
              <a:r>
                <a:rPr lang="en-US" sz="2100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 </a:t>
              </a:r>
            </a:p>
            <a:p>
              <a:pPr>
                <a:lnSpc>
                  <a:spcPct val="90000"/>
                </a:lnSpc>
              </a:pPr>
              <a:r>
                <a:rPr lang="en-US" sz="2100" dirty="0" smtClean="0">
                  <a:solidFill>
                    <a:srgbClr val="006600"/>
                  </a:solidFill>
                  <a:latin typeface="Lucida Console" panose="020B0609040504020204" pitchFamily="49" charset="0"/>
                </a:rPr>
                <a:t>[</a:t>
              </a:r>
              <a:r>
                <a:rPr lang="en-US" sz="2100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2</a:t>
              </a:r>
              <a:r>
                <a:rPr lang="en-US" sz="2100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'@♞'</a:t>
              </a:r>
              <a:r>
                <a:rPr lang="en-US" sz="2100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(1</a:t>
              </a:r>
              <a:r>
                <a:rPr lang="en-US" sz="2100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,)</a:t>
              </a:r>
              <a:r>
                <a:rPr lang="en-US" sz="2100" dirty="0" smtClean="0">
                  <a:solidFill>
                    <a:srgbClr val="006600"/>
                  </a:solidFill>
                  <a:latin typeface="Lucida Console" panose="020B0609040504020204" pitchFamily="49" charset="0"/>
                </a:rPr>
                <a:t>]</a:t>
              </a:r>
              <a:endParaRPr lang="en-US" sz="2100" dirty="0">
                <a:solidFill>
                  <a:srgbClr val="006600"/>
                </a:solidFill>
                <a:latin typeface="Lucida Console" panose="020B06090405040202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TW" sz="2100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sorted</a:t>
              </a:r>
              <a:r>
                <a:rPr lang="en-US" sz="2100" dirty="0">
                  <a:solidFill>
                    <a:schemeClr val="tx1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sz="2100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{2,(1,),'@♞'}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 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1830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Traceback</a:t>
              </a:r>
              <a:r>
                <a:rPr lang="en-US" altLang="zh-TW" sz="183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(most recent call last):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183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 File "&lt;</a:t>
              </a:r>
              <a:r>
                <a:rPr lang="en-US" altLang="zh-TW" sz="1830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stdin</a:t>
              </a:r>
              <a:r>
                <a:rPr lang="en-US" altLang="zh-TW" sz="183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&gt;", line 1, in &lt;module&gt;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1830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TypeError</a:t>
              </a:r>
              <a:r>
                <a:rPr lang="en-US" altLang="zh-TW" sz="200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:</a:t>
              </a:r>
              <a:r>
                <a:rPr lang="en-US" altLang="zh-TW" sz="2000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400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'&lt;' not supported between 	instances of '</a:t>
              </a:r>
              <a:r>
                <a:rPr lang="en-US" altLang="zh-TW" sz="2400" dirty="0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str</a:t>
              </a:r>
              <a:r>
                <a:rPr lang="en-US" altLang="zh-TW" sz="2400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' and '</a:t>
              </a:r>
              <a:r>
                <a:rPr lang="en-US" altLang="zh-TW" sz="2400" dirty="0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int</a:t>
              </a:r>
              <a:r>
                <a:rPr lang="en-US" altLang="zh-TW" sz="2400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'</a:t>
              </a:r>
              <a:endParaRPr lang="en-US" sz="2400" dirty="0">
                <a:solidFill>
                  <a:prstClr val="black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60369" y="4973263"/>
              <a:ext cx="5024062" cy="24340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BFBFBF"/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tuple(</a:t>
              </a:r>
              <a:r>
                <a:rPr lang="en-US" altLang="zh-TW" sz="219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"hello"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'h'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'e'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'l'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'l'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'o'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BFBFBF"/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list(</a:t>
              </a:r>
              <a:r>
                <a:rPr lang="en-US" altLang="zh-TW" sz="219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_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[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'h'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'e'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'l'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'l'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'o'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]</a:t>
              </a:r>
            </a:p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BFBFBF"/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set(</a:t>
              </a:r>
              <a:r>
                <a:rPr lang="en-US" altLang="zh-TW" sz="219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_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{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'l'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'h'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'o'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'e'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}</a:t>
              </a:r>
            </a:p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BFBFBF"/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TW" sz="2191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sorted(</a:t>
              </a:r>
              <a:r>
                <a:rPr lang="en-US" altLang="zh-TW" sz="2191" dirty="0" smtClean="0">
                  <a:solidFill>
                    <a:srgbClr val="FFC000"/>
                  </a:solidFill>
                  <a:latin typeface="Lucida Console" panose="020B0609040504020204" pitchFamily="49" charset="0"/>
                </a:rPr>
                <a:t>_</a:t>
              </a:r>
              <a:r>
                <a:rPr lang="en-US" altLang="zh-TW" sz="2191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  <a:endParaRPr lang="en-US" altLang="zh-TW" sz="2191" dirty="0">
                <a:solidFill>
                  <a:prstClr val="black"/>
                </a:solidFill>
                <a:latin typeface="Lucida Console" panose="020B0609040504020204" pitchFamily="49" charset="0"/>
              </a:endParaRPr>
            </a:p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[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'e'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'h'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'l'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'o'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195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6844566"/>
              </p:ext>
            </p:extLst>
          </p:nvPr>
        </p:nvGraphicFramePr>
        <p:xfrm>
          <a:off x="235155" y="914400"/>
          <a:ext cx="925830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bg1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down to </a:t>
                      </a:r>
                      <a:r>
                        <a:rPr lang="en-US" sz="1800" b="0" i="0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an integer. </a:t>
                      </a:r>
                      <a:r>
                        <a:rPr lang="en-US" sz="1800" b="0" i="0" u="none" strike="noStrike" spc="-8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If x is a string, you can give the base.</a:t>
                      </a:r>
                      <a:endParaRPr lang="en-US" sz="1800" b="0" i="0" u="none" strike="noStrike" spc="-80" baseline="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 smtClean="0">
                          <a:solidFill>
                            <a:schemeClr val="bg1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])</a:t>
                      </a:r>
                      <a:endParaRPr lang="en-US" sz="1800" b="0" i="0" u="none" strike="noStrike" spc="-150" baseline="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bool(x)</a:t>
                      </a:r>
                      <a:endParaRPr lang="en-US" sz="1800" b="0" i="0" u="none" strike="noStrike" spc="-90" baseline="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 value (True or False).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bg1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(c)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round(n[,d])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 smtClean="0">
                          <a:solidFill>
                            <a:schemeClr val="bg1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tuple.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 that is sorted.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set.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“nice looking”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string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Adds padding to a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hexadecimal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octal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binary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856459" y="114300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6957" y="1714189"/>
            <a:ext cx="7315875" cy="1740527"/>
          </a:xfrm>
          <a:prstGeom prst="rect">
            <a:avLst/>
          </a:prstGeom>
          <a:solidFill>
            <a:srgbClr val="86A6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930" dirty="0">
                <a:solidFill>
                  <a:prstClr val="black"/>
                </a:solidFill>
              </a:rPr>
              <a:t>These return strings</a:t>
            </a:r>
            <a:endParaRPr lang="zh-TW" altLang="en-US" sz="4930" dirty="0">
              <a:solidFill>
                <a:prstClr val="black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251480" y="1075945"/>
            <a:ext cx="9299714" cy="3343655"/>
            <a:chOff x="330199" y="2729468"/>
            <a:chExt cx="9954230" cy="4698747"/>
          </a:xfrm>
        </p:grpSpPr>
        <p:sp>
          <p:nvSpPr>
            <p:cNvPr id="14" name="Rectangle 13"/>
            <p:cNvSpPr/>
            <p:nvPr/>
          </p:nvSpPr>
          <p:spPr>
            <a:xfrm>
              <a:off x="406917" y="2729468"/>
              <a:ext cx="9701765" cy="46987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4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30199" y="2843030"/>
              <a:ext cx="5785998" cy="45642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str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3.14159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</a:t>
              </a:r>
              <a:r>
                <a:rPr lang="en-US" altLang="zh-TW" sz="2191" spc="-64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no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te</a:t>
              </a:r>
              <a:r>
                <a:rPr lang="en-US" altLang="zh-TW" sz="1826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t</a:t>
              </a:r>
              <a:r>
                <a:rPr lang="en-US" altLang="zh-TW" sz="2191" spc="-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he</a:t>
              </a:r>
              <a:r>
                <a:rPr lang="en-US" altLang="zh-TW" sz="1643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spc="-64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quote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s: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'3.14159'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str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{1,2,(1,),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'}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  <a:r>
                <a:rPr lang="en-US" altLang="zh-TW" sz="2191" dirty="0">
                  <a:solidFill>
                    <a:srgbClr val="006600"/>
                  </a:solidFill>
                </a:rPr>
                <a:t>{(1,), 1, 2, </a:t>
              </a:r>
              <a:r>
                <a:rPr lang="en-US" altLang="zh-TW" sz="2191" spc="-9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dirty="0">
                  <a:solidFill>
                    <a:srgbClr val="006600"/>
                  </a:solidFill>
                </a:rPr>
                <a:t>'}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hex(</a:t>
              </a:r>
              <a:r>
                <a:rPr lang="en-US" altLang="zh-TW" sz="2191" dirty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 in hexadecimal</a:t>
              </a:r>
              <a:r>
                <a:rPr lang="en-US" altLang="zh-TW" sz="2191" spc="-64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'0x265e'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 smtClean="0">
                  <a:solidFill>
                    <a:prstClr val="black"/>
                  </a:solidFill>
                </a:rPr>
                <a:t>oct</a:t>
              </a:r>
              <a:r>
                <a:rPr lang="en-US" altLang="zh-TW" sz="2191" dirty="0" smtClean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 smtClean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 smtClean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 smtClean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in octal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'0o23136'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smtClean="0">
                  <a:solidFill>
                    <a:prstClr val="black"/>
                  </a:solidFill>
                </a:rPr>
                <a:t>bin(</a:t>
              </a:r>
              <a:r>
                <a:rPr lang="en-US" altLang="zh-TW" sz="2191" dirty="0" smtClean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 smtClean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 smtClean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in binary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'0b10011001011110'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chr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'♞'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81500" y="2843030"/>
              <a:ext cx="5902929" cy="45642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repr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{1,2,(1,),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'}</a:t>
              </a:r>
              <a:r>
                <a:rPr lang="en-US" altLang="zh-TW" sz="2191" dirty="0">
                  <a:solidFill>
                    <a:prstClr val="black"/>
                  </a:solidFill>
                </a:rPr>
                <a:t>) 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usually acts like </a:t>
              </a:r>
              <a:r>
                <a:rPr lang="en-US" altLang="zh-TW" sz="2191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str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()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  <a:r>
                <a:rPr lang="en-US" altLang="zh-TW" sz="2191" dirty="0">
                  <a:solidFill>
                    <a:srgbClr val="006600"/>
                  </a:solidFill>
                </a:rPr>
                <a:t>{(1,), 1, 2, </a:t>
              </a:r>
              <a:r>
                <a:rPr lang="en-US" altLang="zh-TW" sz="2191" spc="-9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dirty="0">
                  <a:solidFill>
                    <a:srgbClr val="006600"/>
                  </a:solidFill>
                </a:rPr>
                <a:t>'}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ascii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{1,2,(1,),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'}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</a:t>
              </a:r>
              <a:r>
                <a:rPr lang="en-US" altLang="zh-TW" sz="2191" spc="-274" dirty="0">
                  <a:solidFill>
                    <a:srgbClr val="FFAFAF"/>
                  </a:solidFill>
                </a:rPr>
                <a:t>♞</a:t>
              </a:r>
              <a:r>
                <a:rPr lang="en-US" altLang="zh-TW" sz="2191" spc="-274" dirty="0">
                  <a:solidFill>
                    <a:prstClr val="black"/>
                  </a:solidFill>
                </a:rPr>
                <a:t> 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is 265E in </a:t>
              </a:r>
              <a:r>
                <a:rPr lang="en-US" altLang="zh-TW" sz="2191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unicode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pl-PL" altLang="zh-TW" sz="2191" b="1" dirty="0">
                  <a:solidFill>
                    <a:srgbClr val="006600"/>
                  </a:solidFill>
                </a:rPr>
                <a:t>"</a:t>
              </a:r>
              <a:r>
                <a:rPr lang="pl-PL" altLang="zh-TW" sz="2191" dirty="0">
                  <a:solidFill>
                    <a:srgbClr val="006600"/>
                  </a:solidFill>
                </a:rPr>
                <a:t>{(1,), 1, 2, </a:t>
              </a:r>
              <a:r>
                <a:rPr lang="en-US" altLang="zh-TW" sz="2191" spc="-9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dirty="0">
                  <a:solidFill>
                    <a:srgbClr val="006600"/>
                  </a:solidFill>
                </a:rPr>
                <a:t>@</a:t>
              </a:r>
              <a:r>
                <a:rPr lang="pl-PL" altLang="zh-TW" sz="2191" dirty="0">
                  <a:solidFill>
                    <a:srgbClr val="006600"/>
                  </a:solidFill>
                </a:rPr>
                <a:t>\\u265e'}</a:t>
              </a:r>
              <a:r>
                <a:rPr lang="pl-PL" altLang="zh-TW" sz="2191" b="1" dirty="0">
                  <a:solidFill>
                    <a:srgbClr val="006600"/>
                  </a:solidFill>
                </a:rPr>
                <a:t>"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 smtClean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 smtClean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 smtClean="0">
                  <a:solidFill>
                    <a:srgbClr val="FFC000"/>
                  </a:solidFill>
                </a:rPr>
                <a:t>"#&lt;</a:t>
              </a:r>
              <a:r>
                <a:rPr lang="en-US" altLang="zh-TW" sz="2191" dirty="0">
                  <a:solidFill>
                    <a:srgbClr val="FFC000"/>
                  </a:solidFill>
                </a:rPr>
                <a:t>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right pads a string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########'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 smtClean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 smtClean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 smtClean="0">
                  <a:solidFill>
                    <a:srgbClr val="FFC000"/>
                  </a:solidFill>
                </a:rPr>
                <a:t>"#^</a:t>
              </a:r>
              <a:r>
                <a:rPr lang="en-US" altLang="zh-TW" sz="2191" dirty="0">
                  <a:solidFill>
                    <a:srgbClr val="FFC000"/>
                  </a:solidFill>
                </a:rPr>
                <a:t>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110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</a:t>
              </a:r>
              <a:r>
                <a:rPr lang="en-US" altLang="zh-TW" sz="105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center</a:t>
              </a:r>
              <a:r>
                <a:rPr lang="en-US" altLang="zh-TW" sz="105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pads</a:t>
              </a:r>
              <a:r>
                <a:rPr lang="en-US" altLang="zh-TW" sz="105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a</a:t>
              </a:r>
              <a:r>
                <a:rPr lang="en-US" altLang="zh-TW" sz="100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string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'####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####'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 smtClean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 smtClean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 smtClean="0">
                  <a:solidFill>
                    <a:srgbClr val="FFC000"/>
                  </a:solidFill>
                </a:rPr>
                <a:t>"#&gt;</a:t>
              </a:r>
              <a:r>
                <a:rPr lang="en-US" altLang="zh-TW" sz="2191" dirty="0">
                  <a:solidFill>
                    <a:srgbClr val="FFC000"/>
                  </a:solidFill>
                </a:rPr>
                <a:t>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left pads a string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'########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 smtClean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 smtClean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 smtClean="0">
                  <a:solidFill>
                    <a:srgbClr val="FFC000"/>
                  </a:solidFill>
                </a:rPr>
                <a:t>"&gt;</a:t>
              </a:r>
              <a:r>
                <a:rPr lang="en-US" altLang="zh-TW" sz="2191" dirty="0">
                  <a:solidFill>
                    <a:srgbClr val="FFC000"/>
                  </a:solidFill>
                </a:rPr>
                <a:t>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default pad is space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b="1" dirty="0">
                  <a:solidFill>
                    <a:prstClr val="white"/>
                  </a:solidFill>
                </a:rPr>
                <a:t>########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378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56459" y="114300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/>
          </p:nvPr>
        </p:nvGraphicFramePr>
        <p:xfrm>
          <a:off x="235155" y="914400"/>
          <a:ext cx="925830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chemeClr val="tx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down to </a:t>
                      </a:r>
                      <a:r>
                        <a:rPr lang="en-US" sz="1800" b="0" i="0" u="none" strike="noStrike" spc="-80" baseline="0" dirty="0">
                          <a:solidFill>
                            <a:schemeClr val="tx1"/>
                          </a:solidFill>
                          <a:latin typeface="Verdana"/>
                        </a:rPr>
                        <a:t>an integer. </a:t>
                      </a:r>
                      <a:r>
                        <a:rPr lang="en-US" sz="1800" b="0" i="0" u="none" strike="noStrike" spc="-8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If x is a string, you can give the base.</a:t>
                      </a:r>
                      <a:endParaRPr lang="en-US" sz="1800" b="0" i="0" u="none" strike="noStrike" spc="-80" baseline="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>
                    <a:solidFill>
                      <a:srgbClr val="F3CBC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>
                    <a:solidFill>
                      <a:srgbClr val="F3CBC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])</a:t>
                      </a:r>
                      <a:endParaRPr lang="en-US" sz="1800" b="0" i="0" u="none" strike="noStrike" spc="-150" baseline="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bool(x)</a:t>
                      </a:r>
                      <a:endParaRPr lang="en-US" sz="1800" b="0" i="0" u="none" strike="noStrike" spc="-90" baseline="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3CBC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 value (True or False).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3CBC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(c)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round(n[,d])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3CBC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3CBC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tuple(x)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to a tuple.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list(x)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99DFB9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>
                    <a:solidFill>
                      <a:srgbClr val="99DFB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sorted(x)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to a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list that is sorted.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set(x)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99DFB9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to a set.</a:t>
                      </a:r>
                    </a:p>
                  </a:txBody>
                  <a:tcPr marL="9525" marR="9525" marT="9525" marB="0">
                    <a:solidFill>
                      <a:srgbClr val="99DFB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>
                    <a:solidFill>
                      <a:srgbClr val="A8BFE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a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“nice looking” string.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A8BF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>
                    <a:solidFill>
                      <a:srgbClr val="D8E1F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string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D8E1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A8BFE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A8BF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D8E1F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Adds padding to a string.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D8E1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A8BFE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>
                    <a:solidFill>
                      <a:srgbClr val="A8BF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D8E1F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hexadecimal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>
                    <a:solidFill>
                      <a:srgbClr val="D8E1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A8BFE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octal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>
                    <a:solidFill>
                      <a:srgbClr val="A8BFE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D8E1F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binary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>
                    <a:solidFill>
                      <a:srgbClr val="D8E1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549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2894" y="1219200"/>
            <a:ext cx="9296399" cy="5638800"/>
          </a:xfrm>
        </p:spPr>
        <p:txBody>
          <a:bodyPr>
            <a:noAutofit/>
          </a:bodyPr>
          <a:lstStyle/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spc="-2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spc="-20" dirty="0">
                <a:solidFill>
                  <a:srgbClr val="00B0F0"/>
                </a:solidFill>
                <a:latin typeface="Lucida Console" panose="020B0609040504020204" pitchFamily="49" charset="0"/>
              </a:rPr>
              <a:t>list(</a:t>
            </a:r>
            <a:r>
              <a:rPr lang="en-US" altLang="zh-TW" sz="2400" spc="-20" dirty="0">
                <a:latin typeface="Lucida Console" panose="020B0609040504020204" pitchFamily="49" charset="0"/>
              </a:rPr>
              <a:t>"Hello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"</a:t>
            </a:r>
            <a:r>
              <a:rPr lang="en-US" altLang="zh-TW" sz="2400" spc="-2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We </a:t>
            </a:r>
            <a:r>
              <a:rPr lang="en-US" altLang="zh-TW" sz="2400" spc="-2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 we 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use list() to convert stuff</a:t>
            </a:r>
            <a:endParaRPr lang="en-US" altLang="zh-TW" sz="2400" spc="-2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b="1" spc="-20" dirty="0">
                <a:latin typeface="Lucida Console" panose="020B0609040504020204" pitchFamily="49" charset="0"/>
              </a:rPr>
              <a:t>[</a:t>
            </a:r>
            <a:r>
              <a:rPr lang="en-US" altLang="zh-TW" sz="2400" spc="-20" dirty="0">
                <a:latin typeface="Lucida Console" panose="020B0609040504020204" pitchFamily="49" charset="0"/>
              </a:rPr>
              <a:t>'H', 'e', 'l', 'l', 'o'</a:t>
            </a:r>
            <a:r>
              <a:rPr lang="en-US" altLang="zh-TW" sz="2400" b="1" spc="-20" dirty="0"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b="1" spc="-20" dirty="0">
                <a:solidFill>
                  <a:srgbClr val="00B0F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b="1" spc="-20" dirty="0">
                <a:solidFill>
                  <a:srgbClr val="0070C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400" spc="-20" dirty="0">
                <a:latin typeface="Lucida Console" panose="020B0609040504020204" pitchFamily="49" charset="0"/>
              </a:rPr>
              <a:t>"Hello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"</a:t>
            </a:r>
            <a:r>
              <a:rPr lang="en-US" altLang="zh-TW" sz="2400" b="1" spc="-2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400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altLang="zh-TW" sz="16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altLang="zh-TW" sz="16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b="1" spc="-20" dirty="0" smtClean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*</a:t>
            </a:r>
            <a:r>
              <a:rPr lang="en-US" altLang="zh-TW" sz="16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unpacks the stuff, then the </a:t>
            </a:r>
            <a:r>
              <a:rPr lang="en-US" altLang="zh-TW" sz="2400" spc="-2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  <a:r>
              <a:rPr lang="en-US" altLang="zh-TW" sz="2400" spc="-2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remakes it</a:t>
            </a:r>
            <a:endParaRPr lang="en-US" altLang="zh-TW" sz="2400" spc="-2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b="1" spc="-20" dirty="0">
                <a:latin typeface="Lucida Console" panose="020B0609040504020204" pitchFamily="49" charset="0"/>
              </a:rPr>
              <a:t>[</a:t>
            </a:r>
            <a:r>
              <a:rPr lang="en-US" altLang="zh-TW" sz="2400" spc="-20" dirty="0">
                <a:latin typeface="Lucida Console" panose="020B0609040504020204" pitchFamily="49" charset="0"/>
              </a:rPr>
              <a:t>'H', 'e', 'l', 'l', 'o'</a:t>
            </a:r>
            <a:r>
              <a:rPr lang="en-US" altLang="zh-TW" sz="2400" b="1" spc="-20" dirty="0"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spc="-2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spc="-20" dirty="0">
                <a:solidFill>
                  <a:srgbClr val="00B0F0"/>
                </a:solidFill>
                <a:latin typeface="Lucida Console" panose="020B0609040504020204" pitchFamily="49" charset="0"/>
              </a:rPr>
              <a:t>list(</a:t>
            </a:r>
            <a:r>
              <a:rPr lang="en-US" altLang="zh-TW" sz="2400" spc="-20" dirty="0">
                <a:latin typeface="Lucida Console" panose="020B0609040504020204" pitchFamily="49" charset="0"/>
              </a:rPr>
              <a:t>"</a:t>
            </a:r>
            <a:r>
              <a:rPr lang="en-US" altLang="zh-TW" sz="2400" spc="-20" dirty="0" err="1">
                <a:latin typeface="Lucida Console" panose="020B0609040504020204" pitchFamily="49" charset="0"/>
              </a:rPr>
              <a:t>Hello","World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"</a:t>
            </a:r>
            <a:r>
              <a:rPr lang="en-US" altLang="zh-TW" sz="2400" spc="-2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You can’t send two arguments</a:t>
            </a:r>
            <a:endParaRPr lang="en-US" altLang="zh-TW" sz="2400" spc="-2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000" dirty="0" err="1">
                <a:solidFill>
                  <a:srgbClr val="FFB3B3"/>
                </a:solidFill>
                <a:latin typeface="Lucida Fax" panose="02060602050505020204" pitchFamily="18" charset="0"/>
              </a:rPr>
              <a:t>Traceback</a:t>
            </a:r>
            <a:r>
              <a:rPr lang="en-US" altLang="zh-TW" sz="2000" dirty="0">
                <a:solidFill>
                  <a:srgbClr val="FFB3B3"/>
                </a:solidFill>
                <a:latin typeface="Lucida Fax" panose="02060602050505020204" pitchFamily="18" charset="0"/>
              </a:rPr>
              <a:t> (most recent call last):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000" dirty="0">
                <a:solidFill>
                  <a:srgbClr val="FFB3B3"/>
                </a:solidFill>
                <a:latin typeface="Lucida Fax" panose="02060602050505020204" pitchFamily="18" charset="0"/>
              </a:rPr>
              <a:t>  File "&lt;</a:t>
            </a:r>
            <a:r>
              <a:rPr lang="en-US" altLang="zh-TW" sz="2000" dirty="0" err="1">
                <a:solidFill>
                  <a:srgbClr val="FFB3B3"/>
                </a:solidFill>
                <a:latin typeface="Lucida Fax" panose="02060602050505020204" pitchFamily="18" charset="0"/>
              </a:rPr>
              <a:t>stdin</a:t>
            </a:r>
            <a:r>
              <a:rPr lang="en-US" altLang="zh-TW" sz="2000" dirty="0">
                <a:solidFill>
                  <a:srgbClr val="FFB3B3"/>
                </a:solidFill>
                <a:latin typeface="Lucida Fax" panose="02060602050505020204" pitchFamily="18" charset="0"/>
              </a:rPr>
              <a:t>&gt;", line 1, in &lt;module&gt;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FFB3B3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zh-TW" sz="2400" dirty="0">
                <a:solidFill>
                  <a:srgbClr val="FFB3B3"/>
                </a:solidFill>
                <a:latin typeface="Lucida Fax" panose="02060602050505020204" pitchFamily="18" charset="0"/>
              </a:rPr>
              <a:t>: list() takes at most 1 argument (2 given)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spc="-2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b="1" spc="-20" dirty="0">
                <a:solidFill>
                  <a:srgbClr val="00B0F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b="1" spc="-20" dirty="0">
                <a:solidFill>
                  <a:srgbClr val="0070C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400" spc="-20" dirty="0">
                <a:latin typeface="Lucida Console" panose="020B0609040504020204" pitchFamily="49" charset="0"/>
              </a:rPr>
              <a:t>"Hello",</a:t>
            </a:r>
            <a:r>
              <a:rPr lang="en-US" altLang="zh-TW" sz="2400" b="1" spc="-20" dirty="0">
                <a:solidFill>
                  <a:srgbClr val="0070C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400" spc="-20" dirty="0">
                <a:latin typeface="Lucida Console" panose="020B0609040504020204" pitchFamily="49" charset="0"/>
              </a:rPr>
              <a:t>"World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"</a:t>
            </a:r>
            <a:r>
              <a:rPr lang="en-US" altLang="zh-TW" sz="2400" b="1" spc="-2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400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But you can splat </a:t>
            </a:r>
            <a:r>
              <a:rPr lang="en-US" altLang="zh-TW" sz="2400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things</a:t>
            </a:r>
            <a:endParaRPr lang="en-US" altLang="zh-TW" sz="2400" spc="-2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b="1" spc="-20" dirty="0">
                <a:latin typeface="Lucida Console" panose="020B0609040504020204" pitchFamily="49" charset="0"/>
              </a:rPr>
              <a:t>[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'H', 'e', 'l', 'l</a:t>
            </a:r>
            <a:r>
              <a:rPr lang="en-US" altLang="zh-TW" sz="2400" spc="-100" dirty="0">
                <a:latin typeface="Lucida Console" panose="020B0609040504020204" pitchFamily="49" charset="0"/>
              </a:rPr>
              <a:t>'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, 'o</a:t>
            </a:r>
            <a:r>
              <a:rPr lang="en-US" altLang="zh-TW" sz="2400" spc="-100" dirty="0">
                <a:latin typeface="Lucida Console" panose="020B0609040504020204" pitchFamily="49" charset="0"/>
              </a:rPr>
              <a:t>'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, 'W</a:t>
            </a:r>
            <a:r>
              <a:rPr lang="en-US" altLang="zh-TW" sz="2400" spc="-100" dirty="0">
                <a:latin typeface="Lucida Console" panose="020B0609040504020204" pitchFamily="49" charset="0"/>
              </a:rPr>
              <a:t>'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, 'o</a:t>
            </a:r>
            <a:r>
              <a:rPr lang="en-US" altLang="zh-TW" sz="2400" spc="-100" dirty="0">
                <a:latin typeface="Lucida Console" panose="020B0609040504020204" pitchFamily="49" charset="0"/>
              </a:rPr>
              <a:t>'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, 'r</a:t>
            </a:r>
            <a:r>
              <a:rPr lang="en-US" altLang="zh-TW" sz="2400" spc="-100" dirty="0">
                <a:latin typeface="Lucida Console" panose="020B0609040504020204" pitchFamily="49" charset="0"/>
              </a:rPr>
              <a:t>'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, </a:t>
            </a:r>
            <a:r>
              <a:rPr lang="en-US" altLang="zh-TW" sz="2400" spc="-20" dirty="0">
                <a:latin typeface="Lucida Console" panose="020B0609040504020204" pitchFamily="49" charset="0"/>
              </a:rPr>
              <a:t>'l</a:t>
            </a:r>
            <a:r>
              <a:rPr lang="en-US" altLang="zh-TW" sz="2400" spc="-100" dirty="0">
                <a:latin typeface="Lucida Console" panose="020B0609040504020204" pitchFamily="49" charset="0"/>
              </a:rPr>
              <a:t>'</a:t>
            </a:r>
            <a:r>
              <a:rPr lang="en-US" altLang="zh-TW" sz="2400" spc="-20" dirty="0">
                <a:latin typeface="Lucida Console" panose="020B0609040504020204" pitchFamily="49" charset="0"/>
              </a:rPr>
              <a:t>, 'd'</a:t>
            </a:r>
            <a:r>
              <a:rPr lang="en-US" altLang="zh-TW" sz="2400" b="1" spc="-20" dirty="0"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b="1" spc="-20" dirty="0">
                <a:solidFill>
                  <a:srgbClr val="00B0F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b="1" spc="-20" dirty="0">
                <a:solidFill>
                  <a:srgbClr val="0070C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400" spc="-20" dirty="0">
                <a:latin typeface="Lucida Console" panose="020B0609040504020204" pitchFamily="49" charset="0"/>
              </a:rPr>
              <a:t>[1,2],</a:t>
            </a:r>
            <a:r>
              <a:rPr lang="en-US" altLang="zh-TW" sz="2400" b="1" spc="-20" dirty="0">
                <a:solidFill>
                  <a:srgbClr val="0070C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400" spc="-20" dirty="0">
                <a:latin typeface="Lucida Console" panose="020B0609040504020204" pitchFamily="49" charset="0"/>
              </a:rPr>
              <a:t>(3,4),5,</a:t>
            </a:r>
            <a:r>
              <a:rPr lang="en-US" altLang="zh-TW" sz="2400" b="1" spc="-20" dirty="0">
                <a:solidFill>
                  <a:srgbClr val="0070C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400" spc="-20" dirty="0">
                <a:latin typeface="Lucida Console" panose="020B0609040504020204" pitchFamily="49" charset="0"/>
              </a:rPr>
              <a:t>"678",</a:t>
            </a:r>
            <a:r>
              <a:rPr lang="en-US" altLang="zh-TW" sz="2400" b="1" spc="-20" dirty="0">
                <a:solidFill>
                  <a:srgbClr val="0070C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400" spc="-20" dirty="0">
                <a:latin typeface="Lucida Console" panose="020B0609040504020204" pitchFamily="49" charset="0"/>
              </a:rPr>
              <a:t>{9,10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}</a:t>
            </a:r>
            <a:r>
              <a:rPr lang="en-US" altLang="zh-TW" sz="2400" b="1" spc="-2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#Not just for strings</a:t>
            </a:r>
            <a:endParaRPr lang="en-US" altLang="zh-TW" sz="2400" spc="-2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b="1" spc="-20" dirty="0">
                <a:latin typeface="Lucida Console" panose="020B0609040504020204" pitchFamily="49" charset="0"/>
              </a:rPr>
              <a:t>[</a:t>
            </a:r>
            <a:r>
              <a:rPr lang="en-US" altLang="zh-TW" sz="2400" spc="-20" dirty="0">
                <a:latin typeface="Lucida Console" panose="020B0609040504020204" pitchFamily="49" charset="0"/>
              </a:rPr>
              <a:t>1, 2, 3, 4, 5, '6', '7', '8', 9, 10</a:t>
            </a:r>
            <a:r>
              <a:rPr lang="en-US" altLang="zh-TW" sz="2400" b="1" spc="-20" dirty="0"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b="1" spc="-20" dirty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400" b="1" spc="-20" dirty="0">
                <a:solidFill>
                  <a:srgbClr val="0070C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400" spc="-20" dirty="0">
                <a:latin typeface="Lucida Console" panose="020B0609040504020204" pitchFamily="49" charset="0"/>
              </a:rPr>
              <a:t>{1,10,100,1000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}</a:t>
            </a:r>
            <a:r>
              <a:rPr lang="en-US" altLang="zh-TW" sz="2400" spc="-2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b="1" spc="-2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400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You can also make a tuple (or set)</a:t>
            </a:r>
            <a:endParaRPr lang="en-US" altLang="zh-TW" sz="2400" spc="-2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b="1" spc="-20" dirty="0">
                <a:latin typeface="Lucida Console" panose="020B0609040504020204" pitchFamily="49" charset="0"/>
              </a:rPr>
              <a:t>(</a:t>
            </a:r>
            <a:r>
              <a:rPr lang="en-US" altLang="zh-TW" sz="2400" spc="-20" dirty="0">
                <a:latin typeface="Lucida Console" panose="020B0609040504020204" pitchFamily="49" charset="0"/>
              </a:rPr>
              <a:t>1000, 1, 10, 100</a:t>
            </a:r>
            <a:r>
              <a:rPr lang="en-US" altLang="zh-TW" sz="2400" b="1" spc="-20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400" b="1" spc="-2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400" b="1" spc="-2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{</a:t>
            </a:r>
            <a:r>
              <a:rPr lang="en-US" altLang="zh-TW" sz="2400" spc="-20" dirty="0">
                <a:latin typeface="Lucida Console" panose="020B0609040504020204" pitchFamily="49" charset="0"/>
              </a:rPr>
              <a:t>1,10,100,1000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}</a:t>
            </a:r>
            <a:r>
              <a:rPr lang="en-US" altLang="zh-TW" sz="2400" b="1" spc="-2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above comma  </a:t>
            </a:r>
            <a:r>
              <a:rPr lang="en-US" altLang="zh-TW" sz="2400" b="1" spc="-2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TW" sz="2400" spc="-2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 needed</a:t>
            </a:r>
            <a:endParaRPr lang="en-US" altLang="zh-TW" sz="2400" spc="-2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000" dirty="0">
                <a:solidFill>
                  <a:srgbClr val="FFB3B3"/>
                </a:solidFill>
                <a:latin typeface="Lucida Fax" panose="02060602050505020204" pitchFamily="18" charset="0"/>
              </a:rPr>
              <a:t>  File "&lt;</a:t>
            </a:r>
            <a:r>
              <a:rPr lang="en-US" altLang="zh-TW" sz="2000" dirty="0" err="1">
                <a:solidFill>
                  <a:srgbClr val="FFB3B3"/>
                </a:solidFill>
                <a:latin typeface="Lucida Fax" panose="02060602050505020204" pitchFamily="18" charset="0"/>
              </a:rPr>
              <a:t>stdin</a:t>
            </a:r>
            <a:r>
              <a:rPr lang="en-US" altLang="zh-TW" sz="2000" dirty="0">
                <a:solidFill>
                  <a:srgbClr val="FFB3B3"/>
                </a:solidFill>
                <a:latin typeface="Lucida Fax" panose="02060602050505020204" pitchFamily="18" charset="0"/>
              </a:rPr>
              <a:t>&gt;", line 1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FFB3B3"/>
                </a:solidFill>
                <a:latin typeface="Lucida Fax" panose="02060602050505020204" pitchFamily="18" charset="0"/>
              </a:rPr>
              <a:t>SyntaxError</a:t>
            </a:r>
            <a:r>
              <a:rPr lang="en-US" altLang="zh-TW" sz="2400" dirty="0">
                <a:solidFill>
                  <a:srgbClr val="FFB3B3"/>
                </a:solidFill>
                <a:latin typeface="Lucida Fax" panose="02060602050505020204" pitchFamily="18" charset="0"/>
              </a:rPr>
              <a:t>: can't use starred expression </a:t>
            </a:r>
            <a:r>
              <a:rPr lang="en-US" altLang="zh-TW" sz="2400" dirty="0" smtClean="0">
                <a:solidFill>
                  <a:srgbClr val="FFB3B3"/>
                </a:solidFill>
                <a:latin typeface="Lucida Fax" panose="02060602050505020204" pitchFamily="18" charset="0"/>
              </a:rPr>
              <a:t>here</a:t>
            </a:r>
            <a:endParaRPr lang="en-US" altLang="zh-TW" sz="2400" dirty="0">
              <a:solidFill>
                <a:srgbClr val="FFB3B3"/>
              </a:solidFill>
              <a:latin typeface="Lucida Fax" panose="02060602050505020204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729788" cy="1257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83000"/>
              </a:lnSpc>
            </a:pPr>
            <a:r>
              <a:rPr lang="en-US" altLang="en-US" dirty="0" smtClean="0">
                <a:solidFill>
                  <a:srgbClr val="0070C0"/>
                </a:solidFill>
              </a:rPr>
              <a:t>There is Another Way to </a:t>
            </a:r>
            <a:br>
              <a:rPr lang="en-US" altLang="en-US" dirty="0" smtClean="0">
                <a:solidFill>
                  <a:srgbClr val="0070C0"/>
                </a:solidFill>
              </a:rPr>
            </a:br>
            <a:r>
              <a:rPr lang="en-US" altLang="en-US" dirty="0" smtClean="0">
                <a:solidFill>
                  <a:srgbClr val="0070C0"/>
                </a:solidFill>
              </a:rPr>
              <a:t>Convert Data Types: * (splat)</a:t>
            </a:r>
            <a:endParaRPr lang="en-US" altLang="en-US" dirty="0">
              <a:solidFill>
                <a:srgbClr val="0070C0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4378817" y="5525037"/>
            <a:ext cx="2924477" cy="647163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92895" y="1219200"/>
            <a:ext cx="9906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spc="-2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spc="-20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spc="-20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spc="-20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000" dirty="0" smtClean="0">
                <a:solidFill>
                  <a:srgbClr val="FFB3B3"/>
                </a:solidFill>
                <a:latin typeface="Lucida Fax" panose="02060602050505020204" pitchFamily="18" charset="0"/>
              </a:rPr>
              <a:t> 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000" dirty="0" smtClean="0">
                <a:solidFill>
                  <a:srgbClr val="FFB3B3"/>
                </a:solidFill>
                <a:latin typeface="Lucida Fax" panose="02060602050505020204" pitchFamily="18" charset="0"/>
              </a:rPr>
              <a:t>  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 smtClean="0">
                <a:solidFill>
                  <a:srgbClr val="FFB3B3"/>
                </a:solidFill>
                <a:latin typeface="Lucida Fax" panose="02060602050505020204" pitchFamily="18" charset="0"/>
              </a:rPr>
              <a:t> 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spc="-20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spc="-20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 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z="2400" spc="-20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spc="-20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spc="-20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000" dirty="0" smtClean="0">
                <a:solidFill>
                  <a:srgbClr val="FFB3B3"/>
                </a:solidFill>
                <a:latin typeface="Lucida Fax" panose="02060602050505020204" pitchFamily="18" charset="0"/>
              </a:rPr>
              <a:t> 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 smtClean="0">
                <a:solidFill>
                  <a:srgbClr val="FFB3B3"/>
                </a:solidFill>
                <a:latin typeface="Lucida Fax" panose="02060602050505020204" pitchFamily="18" charset="0"/>
              </a:rPr>
              <a:t> </a:t>
            </a:r>
            <a:endParaRPr lang="en-US" altLang="zh-TW" sz="2400" dirty="0">
              <a:solidFill>
                <a:srgbClr val="FFB3B3"/>
              </a:solidFill>
              <a:latin typeface="Lucida Fax" panose="02060602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186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58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58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358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358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2894" y="1219200"/>
            <a:ext cx="9296399" cy="5638800"/>
          </a:xfrm>
        </p:spPr>
        <p:txBody>
          <a:bodyPr>
            <a:noAutofit/>
          </a:bodyPr>
          <a:lstStyle/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spc="-20" dirty="0">
                <a:latin typeface="Lucida Console" panose="020B0609040504020204" pitchFamily="49" charset="0"/>
              </a:rPr>
              <a:t>L=[1,2,3]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spc="-20" dirty="0">
                <a:latin typeface="Lucida Console" panose="020B0609040504020204" pitchFamily="49" charset="0"/>
              </a:rPr>
              <a:t>T=(2,4,6)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spc="-20" dirty="0">
                <a:latin typeface="Lucida Console" panose="020B0609040504020204" pitchFamily="49" charset="0"/>
              </a:rPr>
              <a:t>S="ABC"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spc="-20" dirty="0">
                <a:latin typeface="Lucida Console" panose="020B0609040504020204" pitchFamily="49" charset="0"/>
              </a:rPr>
              <a:t>V1=(L,T,S)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spc="-2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V1</a:t>
            </a:r>
            <a:r>
              <a:rPr lang="en-US" altLang="zh-TW" sz="2400" spc="-2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400" spc="-2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#?</a:t>
            </a:r>
            <a:endParaRPr lang="en-US" altLang="zh-TW" sz="2400" spc="-20" dirty="0">
              <a:solidFill>
                <a:schemeClr val="accent2">
                  <a:lumMod val="60000"/>
                  <a:lumOff val="40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latin typeface="Lucida Console" panose="020B0609040504020204" pitchFamily="49" charset="0"/>
              </a:rPr>
              <a:t>([1, 2, 3], (2, 4, 6), 'ABC')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spc="-20" dirty="0">
                <a:latin typeface="Lucida Console" panose="020B0609040504020204" pitchFamily="49" charset="0"/>
              </a:rPr>
              <a:t>V2=(*L,*T,*S)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V2</a:t>
            </a:r>
            <a:r>
              <a:rPr lang="en-US" altLang="zh-TW" sz="2400" spc="-20" dirty="0">
                <a:latin typeface="Lucida Console" panose="020B0609040504020204" pitchFamily="49" charset="0"/>
              </a:rPr>
              <a:t> </a:t>
            </a:r>
            <a:r>
              <a:rPr lang="en-US" altLang="zh-TW" sz="2400" spc="-20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#?</a:t>
            </a:r>
            <a:endParaRPr lang="en-US" altLang="zh-TW" sz="2400" spc="-2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latin typeface="Lucida Console" panose="020B0609040504020204" pitchFamily="49" charset="0"/>
              </a:rPr>
              <a:t>(1, 2, 3, 2, 4, 6, 'A', 'B', 'C')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{*_}</a:t>
            </a:r>
            <a:r>
              <a:rPr lang="en-US" altLang="zh-TW" sz="2400" spc="-20" dirty="0">
                <a:latin typeface="Lucida Console" panose="020B0609040504020204" pitchFamily="49" charset="0"/>
              </a:rPr>
              <a:t> </a:t>
            </a:r>
            <a:r>
              <a:rPr lang="en-US" altLang="zh-TW" sz="2400" spc="-20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#?</a:t>
            </a:r>
            <a:endParaRPr lang="en-US" altLang="zh-TW" sz="2400" spc="-2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latin typeface="Lucida Console" panose="020B0609040504020204" pitchFamily="49" charset="0"/>
              </a:rPr>
              <a:t>{1, 2, 3, 4, 'A', 6, 'C', 'B'}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zh-TW" sz="2400" spc="-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729788" cy="1257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83000"/>
              </a:lnSpc>
            </a:pPr>
            <a:r>
              <a:rPr lang="en-US" altLang="en-US" dirty="0" smtClean="0">
                <a:solidFill>
                  <a:srgbClr val="0070C0"/>
                </a:solidFill>
              </a:rPr>
              <a:t>There is Another Way to </a:t>
            </a:r>
            <a:br>
              <a:rPr lang="en-US" altLang="en-US" dirty="0" smtClean="0">
                <a:solidFill>
                  <a:srgbClr val="0070C0"/>
                </a:solidFill>
              </a:rPr>
            </a:br>
            <a:r>
              <a:rPr lang="en-US" altLang="en-US" dirty="0" smtClean="0">
                <a:solidFill>
                  <a:srgbClr val="0070C0"/>
                </a:solidFill>
              </a:rPr>
              <a:t>Convert Data Types: * (splat)</a:t>
            </a:r>
            <a:endParaRPr lang="en-US" altLang="en-US" dirty="0">
              <a:solidFill>
                <a:srgbClr val="0070C0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92895" y="1219200"/>
            <a:ext cx="990600" cy="3657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spc="-20" dirty="0" smtClean="0">
              <a:solidFill>
                <a:prstClr val="white">
                  <a:lumMod val="7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spc="-20" dirty="0">
              <a:solidFill>
                <a:prstClr val="white">
                  <a:lumMod val="7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spc="-20" dirty="0" smtClean="0">
              <a:solidFill>
                <a:prstClr val="white">
                  <a:lumMod val="7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spc="-2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spc="-20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spc="-20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spc="-20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0" spc="-20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spc="-2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spc="-2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z="2400" spc="-20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srgbClr val="FFB3B3"/>
              </a:solidFill>
              <a:latin typeface="Lucida Fax" panose="02060602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1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sz="2600" spc="-7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7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_)[-72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:]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#Shows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all 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Python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functions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'bin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'bool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'bytes'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'callable'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'compile'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'complex'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'copyright'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'credits'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'enumerate'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'exec'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  <a:b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2894" y="5715000"/>
            <a:ext cx="838200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...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807494" y="573328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9360694" y="74268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14984" y="74268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014984" y="573328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14984" y="610819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81000" y="762000"/>
            <a:ext cx="521494" cy="30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E266"/>
                </a:solidFill>
              </a:rPr>
              <a:t>Ty</a:t>
            </a:r>
            <a:r>
              <a:rPr lang="en-US" altLang="en-US" sz="4200" spc="-100" dirty="0" smtClean="0">
                <a:solidFill>
                  <a:srgbClr val="00E266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E266"/>
                </a:solidFill>
              </a:rPr>
              <a:t>e Conv</a:t>
            </a:r>
            <a:r>
              <a:rPr lang="en-US" altLang="en-US" sz="4200" spc="-50" dirty="0" smtClean="0">
                <a:solidFill>
                  <a:srgbClr val="00E266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E266"/>
                </a:solidFill>
              </a:rPr>
              <a:t>ion 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&amp;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 </a:t>
            </a:r>
            <a:r>
              <a:rPr lang="en-US" altLang="en-US" sz="4200" spc="-120" dirty="0" smtClean="0">
                <a:solidFill>
                  <a:srgbClr val="FFC000"/>
                </a:solidFill>
              </a:rPr>
              <a:t>O</a:t>
            </a:r>
            <a:r>
              <a:rPr lang="en-US" altLang="en-US" sz="4200" spc="-80" dirty="0" smtClean="0">
                <a:solidFill>
                  <a:srgbClr val="FFC000"/>
                </a:solidFill>
              </a:rPr>
              <a:t>t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h</a:t>
            </a:r>
            <a:r>
              <a:rPr lang="en-US" altLang="en-US" sz="4200" spc="-110" dirty="0" smtClean="0">
                <a:solidFill>
                  <a:srgbClr val="FFC000"/>
                </a:solidFill>
              </a:rPr>
              <a:t>e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r </a:t>
            </a:r>
            <a:r>
              <a:rPr lang="en-US" altLang="en-US" sz="4200" spc="-100" dirty="0" smtClean="0">
                <a:solidFill>
                  <a:srgbClr val="FFC00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FFC00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ions</a:t>
            </a:r>
            <a:endParaRPr lang="en-US" altLang="en-US" sz="4200" spc="-200" dirty="0">
              <a:solidFill>
                <a:srgbClr val="FFC000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9299448" y="610819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16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201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201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201"/>
                            </p:stCondLst>
                            <p:childTnLst>
                              <p:par>
                                <p:cTn id="3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2600" spc="-7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7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_)[-72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:]#Shows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all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Python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functions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5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'bin</a:t>
            </a:r>
            <a:r>
              <a:rPr lang="en-US" sz="2600" spc="-5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'bool</a:t>
            </a:r>
            <a:r>
              <a:rPr lang="en-US" sz="2600" spc="-5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'bytes'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'callable'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'compile'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'complex'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'copyright'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'credits'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'enumerate'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'exec'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894" y="5715000"/>
            <a:ext cx="838200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... 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1320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299448" y="610819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81000" y="762000"/>
            <a:ext cx="521494" cy="30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E266"/>
                </a:solidFill>
              </a:rPr>
              <a:t>Ty</a:t>
            </a:r>
            <a:r>
              <a:rPr lang="en-US" altLang="en-US" sz="4200" spc="-100" dirty="0" smtClean="0">
                <a:solidFill>
                  <a:srgbClr val="00E266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E266"/>
                </a:solidFill>
              </a:rPr>
              <a:t>e Conv</a:t>
            </a:r>
            <a:r>
              <a:rPr lang="en-US" altLang="en-US" sz="4200" spc="-50" dirty="0" smtClean="0">
                <a:solidFill>
                  <a:srgbClr val="00E266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E266"/>
                </a:solidFill>
              </a:rPr>
              <a:t>ion 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&amp;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 </a:t>
            </a:r>
            <a:r>
              <a:rPr lang="en-US" altLang="en-US" sz="4200" spc="-120" dirty="0" smtClean="0">
                <a:solidFill>
                  <a:srgbClr val="FFC000"/>
                </a:solidFill>
              </a:rPr>
              <a:t>O</a:t>
            </a:r>
            <a:r>
              <a:rPr lang="en-US" altLang="en-US" sz="4200" spc="-80" dirty="0" smtClean="0">
                <a:solidFill>
                  <a:srgbClr val="FFC000"/>
                </a:solidFill>
              </a:rPr>
              <a:t>t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h</a:t>
            </a:r>
            <a:r>
              <a:rPr lang="en-US" altLang="en-US" sz="4200" spc="-110" dirty="0" smtClean="0">
                <a:solidFill>
                  <a:srgbClr val="FFC000"/>
                </a:solidFill>
              </a:rPr>
              <a:t>e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r </a:t>
            </a:r>
            <a:r>
              <a:rPr lang="en-US" altLang="en-US" sz="4200" spc="-100" dirty="0" smtClean="0">
                <a:solidFill>
                  <a:srgbClr val="FFC00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FFC00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FFC000"/>
                </a:solidFill>
              </a:rPr>
              <a:t>ions</a:t>
            </a:r>
            <a:endParaRPr lang="en-US" altLang="en-US" sz="4200" spc="-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00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5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'bin</a:t>
            </a:r>
            <a:r>
              <a:rPr lang="en-US" sz="2600" spc="-5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'bool</a:t>
            </a:r>
            <a:r>
              <a:rPr lang="en-US" sz="2600" spc="-5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'bytes'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'callable'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'compile'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'complex'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'copyright'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'credits'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'enumerate'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'exec'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'round'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...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endParaRPr lang="en-US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2894" y="685800"/>
            <a:ext cx="838200" cy="617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... 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1216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>
                <a:solidFill>
                  <a:srgbClr val="00E266"/>
                </a:solidFill>
              </a:rPr>
              <a:t>Ty</a:t>
            </a:r>
            <a:r>
              <a:rPr lang="en-US" altLang="en-US" sz="4200" spc="-100" dirty="0">
                <a:solidFill>
                  <a:srgbClr val="00E266"/>
                </a:solidFill>
              </a:rPr>
              <a:t>p</a:t>
            </a:r>
            <a:r>
              <a:rPr lang="en-US" altLang="en-US" sz="4200" spc="-200" dirty="0">
                <a:solidFill>
                  <a:srgbClr val="00E266"/>
                </a:solidFill>
              </a:rPr>
              <a:t>e Conv</a:t>
            </a:r>
            <a:r>
              <a:rPr lang="en-US" altLang="en-US" sz="4200" spc="-50" dirty="0">
                <a:solidFill>
                  <a:srgbClr val="00E266"/>
                </a:solidFill>
              </a:rPr>
              <a:t>ers</a:t>
            </a:r>
            <a:r>
              <a:rPr lang="en-US" altLang="en-US" sz="4200" spc="-200" dirty="0">
                <a:solidFill>
                  <a:srgbClr val="00E266"/>
                </a:solidFill>
              </a:rPr>
              <a:t>ion </a:t>
            </a:r>
            <a:r>
              <a:rPr lang="en-US" altLang="en-US" sz="4200" spc="-200" dirty="0">
                <a:solidFill>
                  <a:srgbClr val="0070C0"/>
                </a:solidFill>
              </a:rPr>
              <a:t>&amp;</a:t>
            </a:r>
            <a:r>
              <a:rPr lang="en-US" altLang="en-US" sz="4200" spc="-200" dirty="0">
                <a:solidFill>
                  <a:srgbClr val="FFC000"/>
                </a:solidFill>
              </a:rPr>
              <a:t> </a:t>
            </a:r>
            <a:r>
              <a:rPr lang="en-US" altLang="en-US" sz="4200" spc="-120" dirty="0">
                <a:solidFill>
                  <a:srgbClr val="FFC000"/>
                </a:solidFill>
              </a:rPr>
              <a:t>O</a:t>
            </a:r>
            <a:r>
              <a:rPr lang="en-US" altLang="en-US" sz="4200" spc="-80" dirty="0">
                <a:solidFill>
                  <a:srgbClr val="FFC000"/>
                </a:solidFill>
              </a:rPr>
              <a:t>t</a:t>
            </a:r>
            <a:r>
              <a:rPr lang="en-US" altLang="en-US" sz="4200" spc="-200" dirty="0">
                <a:solidFill>
                  <a:srgbClr val="FFC000"/>
                </a:solidFill>
              </a:rPr>
              <a:t>h</a:t>
            </a:r>
            <a:r>
              <a:rPr lang="en-US" altLang="en-US" sz="4200" spc="-110" dirty="0">
                <a:solidFill>
                  <a:srgbClr val="FFC000"/>
                </a:solidFill>
              </a:rPr>
              <a:t>e</a:t>
            </a:r>
            <a:r>
              <a:rPr lang="en-US" altLang="en-US" sz="4200" spc="-200" dirty="0">
                <a:solidFill>
                  <a:srgbClr val="FFC000"/>
                </a:solidFill>
              </a:rPr>
              <a:t>r </a:t>
            </a:r>
            <a:r>
              <a:rPr lang="en-US" altLang="en-US" sz="4200" spc="-100" dirty="0">
                <a:solidFill>
                  <a:srgbClr val="FFC000"/>
                </a:solidFill>
              </a:rPr>
              <a:t>Fu</a:t>
            </a:r>
            <a:r>
              <a:rPr lang="en-US" altLang="en-US" sz="4200" spc="-200" dirty="0">
                <a:solidFill>
                  <a:srgbClr val="FFC000"/>
                </a:solidFill>
              </a:rPr>
              <a:t>n</a:t>
            </a:r>
            <a:r>
              <a:rPr lang="en-US" altLang="en-US" sz="4200" spc="-100" dirty="0">
                <a:solidFill>
                  <a:srgbClr val="FFC000"/>
                </a:solidFill>
              </a:rPr>
              <a:t>ct</a:t>
            </a:r>
            <a:r>
              <a:rPr lang="en-US" altLang="en-US" sz="4200" spc="-200" dirty="0">
                <a:solidFill>
                  <a:srgbClr val="FFC00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86933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5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5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'bin</a:t>
            </a:r>
            <a:r>
              <a:rPr lang="en-US" sz="2600" spc="-5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'bool</a:t>
            </a:r>
            <a:r>
              <a:rPr lang="en-US" sz="2600" spc="-5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3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'bytes'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'callable'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'compile'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'complex'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'copyright'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'credits'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'enumerate'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'exec'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'round'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...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endParaRPr lang="en-US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2894" y="685800"/>
            <a:ext cx="838200" cy="617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... 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1216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>
                <a:solidFill>
                  <a:srgbClr val="00E266"/>
                </a:solidFill>
              </a:rPr>
              <a:t>Ty</a:t>
            </a:r>
            <a:r>
              <a:rPr lang="en-US" altLang="en-US" sz="4200" spc="-100" dirty="0">
                <a:solidFill>
                  <a:srgbClr val="00E266"/>
                </a:solidFill>
              </a:rPr>
              <a:t>p</a:t>
            </a:r>
            <a:r>
              <a:rPr lang="en-US" altLang="en-US" sz="4200" spc="-200" dirty="0">
                <a:solidFill>
                  <a:srgbClr val="00E266"/>
                </a:solidFill>
              </a:rPr>
              <a:t>e Conv</a:t>
            </a:r>
            <a:r>
              <a:rPr lang="en-US" altLang="en-US" sz="4200" spc="-50" dirty="0">
                <a:solidFill>
                  <a:srgbClr val="00E266"/>
                </a:solidFill>
              </a:rPr>
              <a:t>ers</a:t>
            </a:r>
            <a:r>
              <a:rPr lang="en-US" altLang="en-US" sz="4200" spc="-200" dirty="0">
                <a:solidFill>
                  <a:srgbClr val="00E266"/>
                </a:solidFill>
              </a:rPr>
              <a:t>ion </a:t>
            </a:r>
            <a:r>
              <a:rPr lang="en-US" altLang="en-US" sz="4200" spc="-200" dirty="0">
                <a:solidFill>
                  <a:srgbClr val="0070C0"/>
                </a:solidFill>
              </a:rPr>
              <a:t>&amp;</a:t>
            </a:r>
            <a:r>
              <a:rPr lang="en-US" altLang="en-US" sz="4200" spc="-200" dirty="0">
                <a:solidFill>
                  <a:srgbClr val="FFC000"/>
                </a:solidFill>
              </a:rPr>
              <a:t> </a:t>
            </a:r>
            <a:r>
              <a:rPr lang="en-US" altLang="en-US" sz="4200" spc="-120" dirty="0">
                <a:solidFill>
                  <a:srgbClr val="FFC000"/>
                </a:solidFill>
              </a:rPr>
              <a:t>O</a:t>
            </a:r>
            <a:r>
              <a:rPr lang="en-US" altLang="en-US" sz="4200" spc="-80" dirty="0">
                <a:solidFill>
                  <a:srgbClr val="FFC000"/>
                </a:solidFill>
              </a:rPr>
              <a:t>t</a:t>
            </a:r>
            <a:r>
              <a:rPr lang="en-US" altLang="en-US" sz="4200" spc="-200" dirty="0">
                <a:solidFill>
                  <a:srgbClr val="FFC000"/>
                </a:solidFill>
              </a:rPr>
              <a:t>h</a:t>
            </a:r>
            <a:r>
              <a:rPr lang="en-US" altLang="en-US" sz="4200" spc="-110" dirty="0">
                <a:solidFill>
                  <a:srgbClr val="FFC000"/>
                </a:solidFill>
              </a:rPr>
              <a:t>e</a:t>
            </a:r>
            <a:r>
              <a:rPr lang="en-US" altLang="en-US" sz="4200" spc="-200" dirty="0">
                <a:solidFill>
                  <a:srgbClr val="FFC000"/>
                </a:solidFill>
              </a:rPr>
              <a:t>r </a:t>
            </a:r>
            <a:r>
              <a:rPr lang="en-US" altLang="en-US" sz="4200" spc="-100" dirty="0">
                <a:solidFill>
                  <a:srgbClr val="FFC000"/>
                </a:solidFill>
              </a:rPr>
              <a:t>Fu</a:t>
            </a:r>
            <a:r>
              <a:rPr lang="en-US" altLang="en-US" sz="4200" spc="-200" dirty="0">
                <a:solidFill>
                  <a:srgbClr val="FFC000"/>
                </a:solidFill>
              </a:rPr>
              <a:t>n</a:t>
            </a:r>
            <a:r>
              <a:rPr lang="en-US" altLang="en-US" sz="4200" spc="-100" dirty="0">
                <a:solidFill>
                  <a:srgbClr val="FFC000"/>
                </a:solidFill>
              </a:rPr>
              <a:t>ct</a:t>
            </a:r>
            <a:r>
              <a:rPr lang="en-US" altLang="en-US" sz="4200" spc="-200" dirty="0">
                <a:solidFill>
                  <a:srgbClr val="FFC00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422152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'bytes'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'callable'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'compile'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'complex'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'copyright'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'credits'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'enumerate'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'exec'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'round'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>
                <a:solidFill>
                  <a:srgbClr val="00E266"/>
                </a:solidFill>
              </a:rPr>
              <a:t>Ty</a:t>
            </a:r>
            <a:r>
              <a:rPr lang="en-US" altLang="en-US" sz="4200" spc="-100" dirty="0">
                <a:solidFill>
                  <a:srgbClr val="00E266"/>
                </a:solidFill>
              </a:rPr>
              <a:t>p</a:t>
            </a:r>
            <a:r>
              <a:rPr lang="en-US" altLang="en-US" sz="4200" spc="-200" dirty="0">
                <a:solidFill>
                  <a:srgbClr val="00E266"/>
                </a:solidFill>
              </a:rPr>
              <a:t>e Conv</a:t>
            </a:r>
            <a:r>
              <a:rPr lang="en-US" altLang="en-US" sz="4200" spc="-50" dirty="0">
                <a:solidFill>
                  <a:srgbClr val="00E266"/>
                </a:solidFill>
              </a:rPr>
              <a:t>ers</a:t>
            </a:r>
            <a:r>
              <a:rPr lang="en-US" altLang="en-US" sz="4200" spc="-200" dirty="0">
                <a:solidFill>
                  <a:srgbClr val="00E266"/>
                </a:solidFill>
              </a:rPr>
              <a:t>ion </a:t>
            </a:r>
            <a:r>
              <a:rPr lang="en-US" altLang="en-US" sz="4200" spc="-200" dirty="0">
                <a:solidFill>
                  <a:srgbClr val="0070C0"/>
                </a:solidFill>
              </a:rPr>
              <a:t>&amp;</a:t>
            </a:r>
            <a:r>
              <a:rPr lang="en-US" altLang="en-US" sz="4200" spc="-200" dirty="0">
                <a:solidFill>
                  <a:srgbClr val="FFC000"/>
                </a:solidFill>
              </a:rPr>
              <a:t> </a:t>
            </a:r>
            <a:r>
              <a:rPr lang="en-US" altLang="en-US" sz="4200" spc="-120" dirty="0">
                <a:solidFill>
                  <a:srgbClr val="FFC000"/>
                </a:solidFill>
              </a:rPr>
              <a:t>O</a:t>
            </a:r>
            <a:r>
              <a:rPr lang="en-US" altLang="en-US" sz="4200" spc="-80" dirty="0">
                <a:solidFill>
                  <a:srgbClr val="FFC000"/>
                </a:solidFill>
              </a:rPr>
              <a:t>t</a:t>
            </a:r>
            <a:r>
              <a:rPr lang="en-US" altLang="en-US" sz="4200" spc="-200" dirty="0">
                <a:solidFill>
                  <a:srgbClr val="FFC000"/>
                </a:solidFill>
              </a:rPr>
              <a:t>h</a:t>
            </a:r>
            <a:r>
              <a:rPr lang="en-US" altLang="en-US" sz="4200" spc="-110" dirty="0">
                <a:solidFill>
                  <a:srgbClr val="FFC000"/>
                </a:solidFill>
              </a:rPr>
              <a:t>e</a:t>
            </a:r>
            <a:r>
              <a:rPr lang="en-US" altLang="en-US" sz="4200" spc="-200" dirty="0">
                <a:solidFill>
                  <a:srgbClr val="FFC000"/>
                </a:solidFill>
              </a:rPr>
              <a:t>r </a:t>
            </a:r>
            <a:r>
              <a:rPr lang="en-US" altLang="en-US" sz="4200" spc="-100" dirty="0">
                <a:solidFill>
                  <a:srgbClr val="FFC000"/>
                </a:solidFill>
              </a:rPr>
              <a:t>Fu</a:t>
            </a:r>
            <a:r>
              <a:rPr lang="en-US" altLang="en-US" sz="4200" spc="-200" dirty="0">
                <a:solidFill>
                  <a:srgbClr val="FFC000"/>
                </a:solidFill>
              </a:rPr>
              <a:t>n</a:t>
            </a:r>
            <a:r>
              <a:rPr lang="en-US" altLang="en-US" sz="4200" spc="-100" dirty="0">
                <a:solidFill>
                  <a:srgbClr val="FFC000"/>
                </a:solidFill>
              </a:rPr>
              <a:t>ct</a:t>
            </a:r>
            <a:r>
              <a:rPr lang="en-US" altLang="en-US" sz="4200" spc="-200" dirty="0">
                <a:solidFill>
                  <a:srgbClr val="FFC00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49453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'complex'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'copyright'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'credits'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'enumerate'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'exec'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'round'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'float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>
                <a:solidFill>
                  <a:srgbClr val="00E266"/>
                </a:solidFill>
              </a:rPr>
              <a:t>Ty</a:t>
            </a:r>
            <a:r>
              <a:rPr lang="en-US" altLang="en-US" sz="4200" spc="-100" dirty="0">
                <a:solidFill>
                  <a:srgbClr val="00E266"/>
                </a:solidFill>
              </a:rPr>
              <a:t>p</a:t>
            </a:r>
            <a:r>
              <a:rPr lang="en-US" altLang="en-US" sz="4200" spc="-200" dirty="0">
                <a:solidFill>
                  <a:srgbClr val="00E266"/>
                </a:solidFill>
              </a:rPr>
              <a:t>e Conv</a:t>
            </a:r>
            <a:r>
              <a:rPr lang="en-US" altLang="en-US" sz="4200" spc="-50" dirty="0">
                <a:solidFill>
                  <a:srgbClr val="00E266"/>
                </a:solidFill>
              </a:rPr>
              <a:t>ers</a:t>
            </a:r>
            <a:r>
              <a:rPr lang="en-US" altLang="en-US" sz="4200" spc="-200" dirty="0">
                <a:solidFill>
                  <a:srgbClr val="00E266"/>
                </a:solidFill>
              </a:rPr>
              <a:t>ion </a:t>
            </a:r>
            <a:r>
              <a:rPr lang="en-US" altLang="en-US" sz="4200" spc="-200" dirty="0">
                <a:solidFill>
                  <a:srgbClr val="0070C0"/>
                </a:solidFill>
              </a:rPr>
              <a:t>&amp;</a:t>
            </a:r>
            <a:r>
              <a:rPr lang="en-US" altLang="en-US" sz="4200" spc="-200" dirty="0">
                <a:solidFill>
                  <a:srgbClr val="FFC000"/>
                </a:solidFill>
              </a:rPr>
              <a:t> </a:t>
            </a:r>
            <a:r>
              <a:rPr lang="en-US" altLang="en-US" sz="4200" spc="-120" dirty="0">
                <a:solidFill>
                  <a:srgbClr val="FFC000"/>
                </a:solidFill>
              </a:rPr>
              <a:t>O</a:t>
            </a:r>
            <a:r>
              <a:rPr lang="en-US" altLang="en-US" sz="4200" spc="-80" dirty="0">
                <a:solidFill>
                  <a:srgbClr val="FFC000"/>
                </a:solidFill>
              </a:rPr>
              <a:t>t</a:t>
            </a:r>
            <a:r>
              <a:rPr lang="en-US" altLang="en-US" sz="4200" spc="-200" dirty="0">
                <a:solidFill>
                  <a:srgbClr val="FFC000"/>
                </a:solidFill>
              </a:rPr>
              <a:t>h</a:t>
            </a:r>
            <a:r>
              <a:rPr lang="en-US" altLang="en-US" sz="4200" spc="-110" dirty="0">
                <a:solidFill>
                  <a:srgbClr val="FFC000"/>
                </a:solidFill>
              </a:rPr>
              <a:t>e</a:t>
            </a:r>
            <a:r>
              <a:rPr lang="en-US" altLang="en-US" sz="4200" spc="-200" dirty="0">
                <a:solidFill>
                  <a:srgbClr val="FFC000"/>
                </a:solidFill>
              </a:rPr>
              <a:t>r </a:t>
            </a:r>
            <a:r>
              <a:rPr lang="en-US" altLang="en-US" sz="4200" spc="-100" dirty="0">
                <a:solidFill>
                  <a:srgbClr val="FFC000"/>
                </a:solidFill>
              </a:rPr>
              <a:t>Fu</a:t>
            </a:r>
            <a:r>
              <a:rPr lang="en-US" altLang="en-US" sz="4200" spc="-200" dirty="0">
                <a:solidFill>
                  <a:srgbClr val="FFC000"/>
                </a:solidFill>
              </a:rPr>
              <a:t>n</a:t>
            </a:r>
            <a:r>
              <a:rPr lang="en-US" altLang="en-US" sz="4200" spc="-100" dirty="0">
                <a:solidFill>
                  <a:srgbClr val="FFC000"/>
                </a:solidFill>
              </a:rPr>
              <a:t>ct</a:t>
            </a:r>
            <a:r>
              <a:rPr lang="en-US" altLang="en-US" sz="4200" spc="-200" dirty="0">
                <a:solidFill>
                  <a:srgbClr val="FFC00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116788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'enumerate'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'exec'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'exit'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'round'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']</a:t>
            </a:r>
            <a:endParaRPr lang="en-US" sz="2600" spc="-100" dirty="0">
              <a:solidFill>
                <a:srgbClr val="05FF76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>
                <a:solidFill>
                  <a:srgbClr val="00E266"/>
                </a:solidFill>
              </a:rPr>
              <a:t>Ty</a:t>
            </a:r>
            <a:r>
              <a:rPr lang="en-US" altLang="en-US" sz="4200" spc="-100" dirty="0">
                <a:solidFill>
                  <a:srgbClr val="00E266"/>
                </a:solidFill>
              </a:rPr>
              <a:t>p</a:t>
            </a:r>
            <a:r>
              <a:rPr lang="en-US" altLang="en-US" sz="4200" spc="-200" dirty="0">
                <a:solidFill>
                  <a:srgbClr val="00E266"/>
                </a:solidFill>
              </a:rPr>
              <a:t>e Conv</a:t>
            </a:r>
            <a:r>
              <a:rPr lang="en-US" altLang="en-US" sz="4200" spc="-50" dirty="0">
                <a:solidFill>
                  <a:srgbClr val="00E266"/>
                </a:solidFill>
              </a:rPr>
              <a:t>ers</a:t>
            </a:r>
            <a:r>
              <a:rPr lang="en-US" altLang="en-US" sz="4200" spc="-200" dirty="0">
                <a:solidFill>
                  <a:srgbClr val="00E266"/>
                </a:solidFill>
              </a:rPr>
              <a:t>ion </a:t>
            </a:r>
            <a:r>
              <a:rPr lang="en-US" altLang="en-US" sz="4200" spc="-200" dirty="0">
                <a:solidFill>
                  <a:srgbClr val="0070C0"/>
                </a:solidFill>
              </a:rPr>
              <a:t>&amp;</a:t>
            </a:r>
            <a:r>
              <a:rPr lang="en-US" altLang="en-US" sz="4200" spc="-200" dirty="0">
                <a:solidFill>
                  <a:srgbClr val="FFC000"/>
                </a:solidFill>
              </a:rPr>
              <a:t> </a:t>
            </a:r>
            <a:r>
              <a:rPr lang="en-US" altLang="en-US" sz="4200" spc="-120" dirty="0">
                <a:solidFill>
                  <a:srgbClr val="FFC000"/>
                </a:solidFill>
              </a:rPr>
              <a:t>O</a:t>
            </a:r>
            <a:r>
              <a:rPr lang="en-US" altLang="en-US" sz="4200" spc="-80" dirty="0">
                <a:solidFill>
                  <a:srgbClr val="FFC000"/>
                </a:solidFill>
              </a:rPr>
              <a:t>t</a:t>
            </a:r>
            <a:r>
              <a:rPr lang="en-US" altLang="en-US" sz="4200" spc="-200" dirty="0">
                <a:solidFill>
                  <a:srgbClr val="FFC000"/>
                </a:solidFill>
              </a:rPr>
              <a:t>h</a:t>
            </a:r>
            <a:r>
              <a:rPr lang="en-US" altLang="en-US" sz="4200" spc="-110" dirty="0">
                <a:solidFill>
                  <a:srgbClr val="FFC000"/>
                </a:solidFill>
              </a:rPr>
              <a:t>e</a:t>
            </a:r>
            <a:r>
              <a:rPr lang="en-US" altLang="en-US" sz="4200" spc="-200" dirty="0">
                <a:solidFill>
                  <a:srgbClr val="FFC000"/>
                </a:solidFill>
              </a:rPr>
              <a:t>r </a:t>
            </a:r>
            <a:r>
              <a:rPr lang="en-US" altLang="en-US" sz="4200" spc="-100" dirty="0">
                <a:solidFill>
                  <a:srgbClr val="FFC000"/>
                </a:solidFill>
              </a:rPr>
              <a:t>Fu</a:t>
            </a:r>
            <a:r>
              <a:rPr lang="en-US" altLang="en-US" sz="4200" spc="-200" dirty="0">
                <a:solidFill>
                  <a:srgbClr val="FFC000"/>
                </a:solidFill>
              </a:rPr>
              <a:t>n</a:t>
            </a:r>
            <a:r>
              <a:rPr lang="en-US" altLang="en-US" sz="4200" spc="-100" dirty="0">
                <a:solidFill>
                  <a:srgbClr val="FFC000"/>
                </a:solidFill>
              </a:rPr>
              <a:t>ct</a:t>
            </a:r>
            <a:r>
              <a:rPr lang="en-US" altLang="en-US" sz="4200" spc="-200" dirty="0">
                <a:solidFill>
                  <a:srgbClr val="FFC00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91993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'filter'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'format'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'round'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'round',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0266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>
                <a:solidFill>
                  <a:srgbClr val="00E266"/>
                </a:solidFill>
              </a:rPr>
              <a:t>Ty</a:t>
            </a:r>
            <a:r>
              <a:rPr lang="en-US" altLang="en-US" sz="4200" spc="-100" dirty="0">
                <a:solidFill>
                  <a:srgbClr val="00E266"/>
                </a:solidFill>
              </a:rPr>
              <a:t>p</a:t>
            </a:r>
            <a:r>
              <a:rPr lang="en-US" altLang="en-US" sz="4200" spc="-200" dirty="0">
                <a:solidFill>
                  <a:srgbClr val="00E266"/>
                </a:solidFill>
              </a:rPr>
              <a:t>e Conv</a:t>
            </a:r>
            <a:r>
              <a:rPr lang="en-US" altLang="en-US" sz="4200" spc="-50" dirty="0">
                <a:solidFill>
                  <a:srgbClr val="00E266"/>
                </a:solidFill>
              </a:rPr>
              <a:t>ers</a:t>
            </a:r>
            <a:r>
              <a:rPr lang="en-US" altLang="en-US" sz="4200" spc="-200" dirty="0">
                <a:solidFill>
                  <a:srgbClr val="00E266"/>
                </a:solidFill>
              </a:rPr>
              <a:t>ion </a:t>
            </a:r>
            <a:r>
              <a:rPr lang="en-US" altLang="en-US" sz="4200" spc="-200" dirty="0">
                <a:solidFill>
                  <a:srgbClr val="0070C0"/>
                </a:solidFill>
              </a:rPr>
              <a:t>&amp;</a:t>
            </a:r>
            <a:r>
              <a:rPr lang="en-US" altLang="en-US" sz="4200" spc="-200" dirty="0">
                <a:solidFill>
                  <a:srgbClr val="FFC000"/>
                </a:solidFill>
              </a:rPr>
              <a:t> </a:t>
            </a:r>
            <a:r>
              <a:rPr lang="en-US" altLang="en-US" sz="4200" spc="-120" dirty="0">
                <a:solidFill>
                  <a:srgbClr val="FFC000"/>
                </a:solidFill>
              </a:rPr>
              <a:t>O</a:t>
            </a:r>
            <a:r>
              <a:rPr lang="en-US" altLang="en-US" sz="4200" spc="-80" dirty="0">
                <a:solidFill>
                  <a:srgbClr val="FFC000"/>
                </a:solidFill>
              </a:rPr>
              <a:t>t</a:t>
            </a:r>
            <a:r>
              <a:rPr lang="en-US" altLang="en-US" sz="4200" spc="-200" dirty="0">
                <a:solidFill>
                  <a:srgbClr val="FFC000"/>
                </a:solidFill>
              </a:rPr>
              <a:t>h</a:t>
            </a:r>
            <a:r>
              <a:rPr lang="en-US" altLang="en-US" sz="4200" spc="-110" dirty="0">
                <a:solidFill>
                  <a:srgbClr val="FFC000"/>
                </a:solidFill>
              </a:rPr>
              <a:t>e</a:t>
            </a:r>
            <a:r>
              <a:rPr lang="en-US" altLang="en-US" sz="4200" spc="-200" dirty="0">
                <a:solidFill>
                  <a:srgbClr val="FFC000"/>
                </a:solidFill>
              </a:rPr>
              <a:t>r </a:t>
            </a:r>
            <a:r>
              <a:rPr lang="en-US" altLang="en-US" sz="4200" spc="-100" dirty="0">
                <a:solidFill>
                  <a:srgbClr val="FFC000"/>
                </a:solidFill>
              </a:rPr>
              <a:t>Fu</a:t>
            </a:r>
            <a:r>
              <a:rPr lang="en-US" altLang="en-US" sz="4200" spc="-200" dirty="0">
                <a:solidFill>
                  <a:srgbClr val="FFC000"/>
                </a:solidFill>
              </a:rPr>
              <a:t>n</a:t>
            </a:r>
            <a:r>
              <a:rPr lang="en-US" altLang="en-US" sz="4200" spc="-100" dirty="0">
                <a:solidFill>
                  <a:srgbClr val="FFC000"/>
                </a:solidFill>
              </a:rPr>
              <a:t>ct</a:t>
            </a:r>
            <a:r>
              <a:rPr lang="en-US" altLang="en-US" sz="4200" spc="-200" dirty="0">
                <a:solidFill>
                  <a:srgbClr val="FFC00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79550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>
                <a:solidFill>
                  <a:srgbClr val="00E266"/>
                </a:solidFill>
              </a:rPr>
              <a:t>Ty</a:t>
            </a:r>
            <a:r>
              <a:rPr lang="en-US" altLang="en-US" sz="4200" spc="-100" dirty="0">
                <a:solidFill>
                  <a:srgbClr val="00E266"/>
                </a:solidFill>
              </a:rPr>
              <a:t>p</a:t>
            </a:r>
            <a:r>
              <a:rPr lang="en-US" altLang="en-US" sz="4200" spc="-200" dirty="0">
                <a:solidFill>
                  <a:srgbClr val="00E266"/>
                </a:solidFill>
              </a:rPr>
              <a:t>e Conv</a:t>
            </a:r>
            <a:r>
              <a:rPr lang="en-US" altLang="en-US" sz="4200" spc="-50" dirty="0">
                <a:solidFill>
                  <a:srgbClr val="00E266"/>
                </a:solidFill>
              </a:rPr>
              <a:t>ers</a:t>
            </a:r>
            <a:r>
              <a:rPr lang="en-US" altLang="en-US" sz="4200" spc="-200" dirty="0">
                <a:solidFill>
                  <a:srgbClr val="00E266"/>
                </a:solidFill>
              </a:rPr>
              <a:t>ion </a:t>
            </a:r>
            <a:r>
              <a:rPr lang="en-US" altLang="en-US" sz="4200" spc="-200" dirty="0">
                <a:solidFill>
                  <a:srgbClr val="0070C0"/>
                </a:solidFill>
              </a:rPr>
              <a:t>&amp;</a:t>
            </a:r>
            <a:r>
              <a:rPr lang="en-US" altLang="en-US" sz="4200" spc="-200" dirty="0">
                <a:solidFill>
                  <a:srgbClr val="FFC000"/>
                </a:solidFill>
              </a:rPr>
              <a:t> </a:t>
            </a:r>
            <a:r>
              <a:rPr lang="en-US" altLang="en-US" sz="4200" spc="-120" dirty="0">
                <a:solidFill>
                  <a:srgbClr val="FFC000"/>
                </a:solidFill>
              </a:rPr>
              <a:t>O</a:t>
            </a:r>
            <a:r>
              <a:rPr lang="en-US" altLang="en-US" sz="4200" spc="-80" dirty="0">
                <a:solidFill>
                  <a:srgbClr val="FFC000"/>
                </a:solidFill>
              </a:rPr>
              <a:t>t</a:t>
            </a:r>
            <a:r>
              <a:rPr lang="en-US" altLang="en-US" sz="4200" spc="-200" dirty="0">
                <a:solidFill>
                  <a:srgbClr val="FFC000"/>
                </a:solidFill>
              </a:rPr>
              <a:t>h</a:t>
            </a:r>
            <a:r>
              <a:rPr lang="en-US" altLang="en-US" sz="4200" spc="-110" dirty="0">
                <a:solidFill>
                  <a:srgbClr val="FFC000"/>
                </a:solidFill>
              </a:rPr>
              <a:t>e</a:t>
            </a:r>
            <a:r>
              <a:rPr lang="en-US" altLang="en-US" sz="4200" spc="-200" dirty="0">
                <a:solidFill>
                  <a:srgbClr val="FFC000"/>
                </a:solidFill>
              </a:rPr>
              <a:t>r </a:t>
            </a:r>
            <a:r>
              <a:rPr lang="en-US" altLang="en-US" sz="4200" spc="-100" dirty="0">
                <a:solidFill>
                  <a:srgbClr val="FFC000"/>
                </a:solidFill>
              </a:rPr>
              <a:t>Fu</a:t>
            </a:r>
            <a:r>
              <a:rPr lang="en-US" altLang="en-US" sz="4200" spc="-200" dirty="0">
                <a:solidFill>
                  <a:srgbClr val="FFC000"/>
                </a:solidFill>
              </a:rPr>
              <a:t>n</a:t>
            </a:r>
            <a:r>
              <a:rPr lang="en-US" altLang="en-US" sz="4200" spc="-100" dirty="0">
                <a:solidFill>
                  <a:srgbClr val="FFC000"/>
                </a:solidFill>
              </a:rPr>
              <a:t>ct</a:t>
            </a:r>
            <a:r>
              <a:rPr lang="en-US" altLang="en-US" sz="4200" spc="-200" dirty="0">
                <a:solidFill>
                  <a:srgbClr val="FFC000"/>
                </a:solidFill>
              </a:rPr>
              <a:t>ions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Non-Ty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e-Conv</a:t>
            </a:r>
            <a:r>
              <a:rPr lang="en-US" altLang="en-US" sz="4200" spc="-50" dirty="0" smtClean="0">
                <a:solidFill>
                  <a:srgbClr val="0070C0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'hash'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'help'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'hex'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'round'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'round',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}-{*_})</a:t>
            </a:r>
          </a:p>
        </p:txBody>
      </p:sp>
      <p:sp>
        <p:nvSpPr>
          <p:cNvPr id="3" name="Rectangle 2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1696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63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'input'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'round'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'round',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Non-Ty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e-Conv</a:t>
            </a:r>
            <a:r>
              <a:rPr lang="en-US" altLang="en-US" sz="4200" spc="-50" dirty="0" smtClean="0">
                <a:solidFill>
                  <a:srgbClr val="0070C0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25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'license'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'locals'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'round'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'round',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Non-Ty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e-Conv</a:t>
            </a:r>
            <a:r>
              <a:rPr lang="en-US" altLang="en-US" sz="4200" spc="-50" dirty="0" smtClean="0">
                <a:solidFill>
                  <a:srgbClr val="0070C0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169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'next'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'object'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'open'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'round'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'round',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4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4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4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4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</a:t>
            </a: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Non-Ty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e-Conv</a:t>
            </a:r>
            <a:r>
              <a:rPr lang="en-US" altLang="en-US" sz="4200" spc="-50" dirty="0" smtClean="0">
                <a:solidFill>
                  <a:srgbClr val="0070C0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91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'print'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'property'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'quit'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'range'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'round'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'round',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Non-Ty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e-Conv</a:t>
            </a:r>
            <a:r>
              <a:rPr lang="en-US" altLang="en-US" sz="4200" spc="-50" dirty="0" smtClean="0">
                <a:solidFill>
                  <a:srgbClr val="0070C0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04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'reversed'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'round'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'set'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'round',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Non-Ty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e-Conv</a:t>
            </a:r>
            <a:r>
              <a:rPr lang="en-US" altLang="en-US" sz="4200" spc="-50" dirty="0" smtClean="0">
                <a:solidFill>
                  <a:srgbClr val="0070C0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78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'slice'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'sorted'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'round',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Non-Ty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e-Conv</a:t>
            </a:r>
            <a:r>
              <a:rPr lang="en-US" altLang="en-US" sz="4200" spc="-50" dirty="0" smtClean="0">
                <a:solidFill>
                  <a:srgbClr val="0070C0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969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'super'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'tuple'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'type'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'zip'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'round',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Non-Ty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e-Conv</a:t>
            </a:r>
            <a:r>
              <a:rPr lang="en-US" altLang="en-US" sz="4200" spc="-50" dirty="0" smtClean="0">
                <a:solidFill>
                  <a:srgbClr val="0070C0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58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'round',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Non-Ty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e-Conv</a:t>
            </a:r>
            <a:r>
              <a:rPr lang="en-US" altLang="en-US" sz="4200" spc="-50" dirty="0" smtClean="0">
                <a:solidFill>
                  <a:srgbClr val="0070C0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46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3:6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16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24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25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'round',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Non-Ty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e-Conv</a:t>
            </a:r>
            <a:r>
              <a:rPr lang="en-US" altLang="en-US" sz="4200" spc="-50" dirty="0" smtClean="0">
                <a:solidFill>
                  <a:srgbClr val="0070C0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00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49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51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57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59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60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'round',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Non-Ty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e-Conv</a:t>
            </a:r>
            <a:r>
              <a:rPr lang="en-US" altLang="en-US" sz="4200" spc="-50" dirty="0" smtClean="0">
                <a:solidFill>
                  <a:srgbClr val="0070C0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28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68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'round',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]] 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5224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200" dirty="0" smtClean="0">
                <a:solidFill>
                  <a:srgbClr val="0070C0"/>
                </a:solidFill>
              </a:rPr>
              <a:t>Non-Ty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p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e-Conv</a:t>
            </a:r>
            <a:r>
              <a:rPr lang="en-US" altLang="en-US" sz="4200" spc="-50" dirty="0" smtClean="0">
                <a:solidFill>
                  <a:srgbClr val="0070C0"/>
                </a:solidFill>
              </a:rPr>
              <a:t>ers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 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 for Basic Data Types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82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['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ascii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'bin', 'bool',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chr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'complex',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dict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repr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'round',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2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 smtClean="0">
                <a:solidFill>
                  <a:schemeClr val="bg1"/>
                </a:solidFill>
                <a:latin typeface="Consolas" panose="020B0609020204030204" pitchFamily="49" charset="0"/>
              </a:rPr>
              <a:t>44</a:t>
            </a:r>
            <a:r>
              <a:rPr lang="en-US" sz="2600" spc="-12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 smtClean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2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 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 for Basic Data Types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87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'float', 'format', 'hex',</a:t>
            </a:r>
            <a:r>
              <a:rPr lang="en-US" sz="24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int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'list',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oct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</a:t>
            </a:r>
            <a:r>
              <a:rPr lang="en-US" sz="2000" spc="-100" dirty="0">
                <a:solidFill>
                  <a:srgbClr val="05FF76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ord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']</a:t>
            </a:r>
            <a:endParaRPr lang="en-US" sz="2600" spc="-100" dirty="0">
              <a:solidFill>
                <a:srgbClr val="05FF76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44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2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pow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']</a:t>
            </a:r>
            <a:endParaRPr lang="en-US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 for Basic Data Types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80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'round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'set', 'sorted', '</a:t>
            </a:r>
            <a:r>
              <a:rPr lang="en-US" sz="2600" spc="-100" dirty="0" err="1">
                <a:solidFill>
                  <a:srgbClr val="05FF76"/>
                </a:solidFill>
                <a:latin typeface="Consolas" panose="020B0609020204030204" pitchFamily="49" charset="0"/>
              </a:rPr>
              <a:t>str</a:t>
            </a:r>
            <a:r>
              <a:rPr lang="en-US" sz="2600" spc="-100" dirty="0">
                <a:solidFill>
                  <a:srgbClr val="05FF76"/>
                </a:solidFill>
                <a:latin typeface="Consolas" panose="020B0609020204030204" pitchFamily="49" charset="0"/>
              </a:rPr>
              <a:t>', 'tuple</a:t>
            </a:r>
            <a:r>
              <a:rPr lang="en-US" sz="2600" spc="-100" dirty="0" smtClean="0">
                <a:solidFill>
                  <a:srgbClr val="05FF76"/>
                </a:solidFill>
                <a:latin typeface="Consolas" panose="020B0609020204030204" pitchFamily="49" charset="0"/>
              </a:rPr>
              <a:t>']</a:t>
            </a:r>
            <a:endParaRPr lang="en-US" sz="2600" spc="-100" dirty="0">
              <a:solidFill>
                <a:srgbClr val="05FF76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_[</a:t>
            </a:r>
            <a:r>
              <a:rPr lang="en-US" sz="2600" spc="-120" dirty="0" smtClean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2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20" dirty="0" smtClean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2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 smtClean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2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 smtClean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2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 smtClean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2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 smtClean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2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 smtClean="0">
                <a:solidFill>
                  <a:schemeClr val="bg1"/>
                </a:solidFill>
                <a:latin typeface="Consolas" panose="020B0609020204030204" pitchFamily="49" charset="0"/>
              </a:rPr>
              <a:t>44</a:t>
            </a:r>
            <a:r>
              <a:rPr lang="en-US" sz="2600" spc="-12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 smtClean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2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sz="2600" b="1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pow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', '</a:t>
            </a:r>
            <a:r>
              <a:rPr lang="en-US" sz="2600" b="1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functionsForStandardDataTypes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3888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 for Basic Data Types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98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  <a:endParaRPr lang="en-US" sz="2600" spc="-100" dirty="0" smtClean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44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pow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functionsForStandardDataTypes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}-{*_})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700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 for Basic Data Types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33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44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pow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functionsForStandardDataTypes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99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'abs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'all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'any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bytearray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'bytes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44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pow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functionsForStandardDataTypes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</a:t>
            </a:r>
            <a:r>
              <a:rPr lang="en-US" sz="2600" spc="-3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'credits</a:t>
            </a:r>
            <a:r>
              <a:rPr lang="en-US" sz="2600" spc="-3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3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3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'enumerate</a:t>
            </a:r>
            <a:r>
              <a:rPr lang="en-US" sz="2600" spc="-3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3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0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44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pow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functionsForStandardDataTypes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945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b="1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'enumerate',</a:t>
            </a:r>
            <a:r>
              <a:rPr lang="en-US" sz="12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44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pow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functionsForStandardDataTypes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884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'exit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frozenset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44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pow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functionsForStandardDataTypes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210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44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pow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functionsForStandardDataTypes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'print',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554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'license', 'locals', 'map',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44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pow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functionsForStandardDataTypes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92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'map',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'max'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'min'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'next', 'object', 'open',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44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pow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functionsForStandardDataTypes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23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'open',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'pow'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'print', 'property', 'quit', 'range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44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pow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functionsForStandardDataTypes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'enumerate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'exec',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'exit', 'filter',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'locals', 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'map',</a:t>
            </a:r>
            <a:r>
              <a:rPr lang="en-US" sz="24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</a:t>
            </a: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79128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44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44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20" dirty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2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pow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reversed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functionsForStandardDataTypes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40494" y="0"/>
            <a:ext cx="93726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40494" y="2895600"/>
            <a:ext cx="9372600" cy="403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230216"/>
              </p:ext>
            </p:extLst>
          </p:nvPr>
        </p:nvGraphicFramePr>
        <p:xfrm>
          <a:off x="178594" y="685800"/>
          <a:ext cx="9372600" cy="4572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Function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( description )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2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abs(X)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absolute value of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X: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(positive) distance between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X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zero.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3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divmod(X, Y)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3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3"/>
                        </a:rPr>
                        <a:t>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pair of numbers to hold X//Y and X%Y.</a:t>
                      </a:r>
                      <a:endParaRPr kumimoji="0" lang="en-US" altLang="en-US" sz="2400" b="0" i="0" u="none" strike="noStrike" cap="none" spc="-3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max(X1</a:t>
                      </a:r>
                      <a:r>
                        <a:rPr kumimoji="0" lang="en-US" altLang="en-US" sz="24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X2,</a:t>
                      </a:r>
                      <a:r>
                        <a:rPr kumimoji="0" lang="en-US" altLang="en-US" sz="20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8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...</a:t>
                      </a:r>
                      <a:r>
                        <a:rPr kumimoji="0" lang="en-US" altLang="en-US" sz="24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  <a:endParaRPr kumimoji="0" lang="en-US" altLang="en-US" sz="2400" b="0" i="0" u="none" strike="noStrike" cap="none" spc="-50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4"/>
                      </a:endParaRPr>
                    </a:p>
                  </a:txBody>
                  <a:tcPr marL="0" marR="0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largest of its arguments: the value closest to positive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infinity.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5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min(X1,</a:t>
                      </a:r>
                      <a:r>
                        <a:rPr kumimoji="0" lang="en-US" altLang="en-US" sz="14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X2,</a:t>
                      </a:r>
                      <a:r>
                        <a:rPr kumimoji="0" lang="en-US" altLang="en-US" sz="20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8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...</a:t>
                      </a:r>
                      <a:r>
                        <a:rPr kumimoji="0" lang="en-US" altLang="en-US" sz="24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5"/>
                        </a:rPr>
                        <a:t>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 the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smallest of its arguments: the value closest to negative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infinity.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pow(X, Y)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</a:t>
                      </a:r>
                      <a:r>
                        <a:rPr kumimoji="0" lang="en-US" altLang="en-US" sz="2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value of </a:t>
                      </a: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X**Y.</a:t>
                      </a:r>
                      <a:endParaRPr kumimoji="0" lang="en-US" altLang="en-US" sz="2400" b="0" i="0" u="none" strike="noStrike" cap="none" spc="-2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0" marT="0" marB="182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4296" y="0"/>
            <a:ext cx="9601199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Built-in Number Functions:</a:t>
            </a:r>
          </a:p>
        </p:txBody>
      </p:sp>
    </p:spTree>
    <p:extLst>
      <p:ext uri="{BB962C8B-B14F-4D97-AF65-F5344CB8AC3E}">
        <p14:creationId xmlns:p14="http://schemas.microsoft.com/office/powerpoint/2010/main" val="175310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956342"/>
              </p:ext>
            </p:extLst>
          </p:nvPr>
        </p:nvGraphicFramePr>
        <p:xfrm>
          <a:off x="178594" y="685800"/>
          <a:ext cx="9372600" cy="61569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Function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( description )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any</a:t>
                      </a:r>
                      <a:r>
                        <a:rPr kumimoji="0" lang="en-US" altLang="en-US" sz="2400" b="0" i="0" u="none" strike="noStrike" cap="none" spc="7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(L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any element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of L evaluates to True (</a:t>
                      </a:r>
                      <a:r>
                        <a:rPr kumimoji="0" lang="en-US" altLang="en-US" sz="2400" b="0" i="1" u="none" strike="noStrike" cap="none" spc="-1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the element is nonzero and nonempty)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all</a:t>
                      </a:r>
                      <a:r>
                        <a:rPr kumimoji="0" lang="en-US" altLang="en-US" sz="2400" b="0" i="0" u="none" strike="noStrike" cap="none" spc="7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(L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all elements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of L evaluate to</a:t>
                      </a:r>
                      <a:b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 (</a:t>
                      </a:r>
                      <a:r>
                        <a:rPr kumimoji="0" lang="en-US" altLang="en-US" sz="2400" b="0" i="1" u="none" strike="noStrike" cap="none" spc="-1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they are all nonzero and nonempty)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len</a:t>
                      </a:r>
                      <a:r>
                        <a:rPr kumimoji="0" lang="en-US" altLang="en-US" sz="2400" b="0" i="0" u="none" strike="noStrike" cap="none" spc="8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(L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length of the list, L.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max</a:t>
                      </a:r>
                      <a:r>
                        <a:rPr kumimoji="0" lang="en-US" altLang="en-US" sz="2400" b="0" i="0" u="none" strike="noStrike" cap="none" spc="8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(L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largest element from the list, L.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min</a:t>
                      </a:r>
                      <a:r>
                        <a:rPr kumimoji="0" lang="en-US" altLang="en-US" sz="2400" b="0" i="0" u="none" strike="noStrike" cap="none" spc="8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(L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2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smallest element from the list, L.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1440" marB="91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sum</a:t>
                      </a:r>
                      <a:r>
                        <a:rPr kumimoji="0" lang="en-US" altLang="en-US" sz="2400" b="0" i="0" u="none" strike="noStrike" cap="none" spc="8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(L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sum of all elements of the list, L.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[*reversed(L)]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Reverses the elements of the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list, L. (This one's different, because it had to splat back to a list.)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4296" y="0"/>
            <a:ext cx="9601199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Built-in List Functions:</a:t>
            </a:r>
          </a:p>
        </p:txBody>
      </p:sp>
    </p:spTree>
    <p:extLst>
      <p:ext uri="{BB962C8B-B14F-4D97-AF65-F5344CB8AC3E}">
        <p14:creationId xmlns:p14="http://schemas.microsoft.com/office/powerpoint/2010/main" val="403458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345650"/>
              </p:ext>
            </p:extLst>
          </p:nvPr>
        </p:nvGraphicFramePr>
        <p:xfrm>
          <a:off x="178594" y="685800"/>
          <a:ext cx="9372600" cy="61569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Function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( description )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any(T)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any element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of T evaluates to True (</a:t>
                      </a:r>
                      <a:r>
                        <a:rPr kumimoji="0" lang="en-US" altLang="en-US" sz="2400" b="0" i="1" u="none" strike="noStrike" cap="none" spc="-1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the element is nonzero and nonempty)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all(T)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all elements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of T evaluate to</a:t>
                      </a:r>
                      <a:b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 (</a:t>
                      </a:r>
                      <a:r>
                        <a:rPr kumimoji="0" lang="en-US" altLang="en-US" sz="2400" b="0" i="1" u="none" strike="noStrike" cap="none" spc="-1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they are all nonzero and nonempty)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len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(T)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length of the tuple, T.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max(T)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largest element from the tuple, T.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min(T)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2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smallest element from the tuple, T.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1440" marB="91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sum(T)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sum of all elements of the tuple, T.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</a:t>
                      </a:r>
                      <a:r>
                        <a:rPr kumimoji="0" lang="en-US" altLang="en-US" sz="2400" b="0" i="0" u="none" strike="noStrike" cap="none" spc="-15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reverse</a:t>
                      </a:r>
                      <a:r>
                        <a:rPr kumimoji="0" lang="en-US" altLang="en-US" sz="2400" b="0" i="0" u="none" strike="noStrike" cap="none" spc="-12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d(T),) </a:t>
                      </a: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Reverses the elements of the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tuple, T. (Notice we need a "," when we splat back to a tuple.)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4296" y="0"/>
            <a:ext cx="9601199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Built-in </a:t>
            </a:r>
            <a:r>
              <a:rPr lang="en-US" altLang="en-US" sz="4400" dirty="0" smtClean="0">
                <a:solidFill>
                  <a:srgbClr val="0070C0"/>
                </a:solidFill>
              </a:rPr>
              <a:t>Tuple </a:t>
            </a:r>
            <a:r>
              <a:rPr lang="en-US" altLang="en-US" sz="4400" dirty="0">
                <a:solidFill>
                  <a:srgbClr val="0070C0"/>
                </a:solidFill>
              </a:rPr>
              <a:t>Functions:</a:t>
            </a:r>
          </a:p>
        </p:txBody>
      </p:sp>
    </p:spTree>
    <p:extLst>
      <p:ext uri="{BB962C8B-B14F-4D97-AF65-F5344CB8AC3E}">
        <p14:creationId xmlns:p14="http://schemas.microsoft.com/office/powerpoint/2010/main" val="246914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771670"/>
              </p:ext>
            </p:extLst>
          </p:nvPr>
        </p:nvGraphicFramePr>
        <p:xfrm>
          <a:off x="178594" y="685800"/>
          <a:ext cx="9372600" cy="5334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Function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( description )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any(S)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any element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of S evaluates to True (</a:t>
                      </a:r>
                      <a:r>
                        <a:rPr kumimoji="0" lang="en-US" altLang="en-US" sz="2400" b="0" i="1" u="none" strike="noStrike" cap="none" spc="-1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the element is nonzero and nonempty)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all(S)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all elements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of S evaluate to</a:t>
                      </a:r>
                      <a:b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 (</a:t>
                      </a:r>
                      <a:r>
                        <a:rPr kumimoji="0" lang="en-US" altLang="en-US" sz="2400" b="0" i="1" u="none" strike="noStrike" cap="none" spc="-1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they are all nonzero and nonempty)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len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(S)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length of the set, S.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max(S)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largest element from the set, S.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min(S)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2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smallest element from the set, S.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1440" marB="91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sum(S)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sum of all elements of the set, S.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4296" y="0"/>
            <a:ext cx="9601199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Built-in </a:t>
            </a:r>
            <a:r>
              <a:rPr lang="en-US" altLang="en-US" sz="4400" dirty="0" smtClean="0">
                <a:solidFill>
                  <a:srgbClr val="0070C0"/>
                </a:solidFill>
              </a:rPr>
              <a:t>Set </a:t>
            </a:r>
            <a:r>
              <a:rPr lang="en-US" altLang="en-US" sz="4400" dirty="0">
                <a:solidFill>
                  <a:srgbClr val="0070C0"/>
                </a:solidFill>
              </a:rPr>
              <a:t>Functions:</a:t>
            </a:r>
          </a:p>
        </p:txBody>
      </p:sp>
    </p:spTree>
    <p:extLst>
      <p:ext uri="{BB962C8B-B14F-4D97-AF65-F5344CB8AC3E}">
        <p14:creationId xmlns:p14="http://schemas.microsoft.com/office/powerpoint/2010/main" val="190008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856943"/>
              </p:ext>
            </p:extLst>
          </p:nvPr>
        </p:nvGraphicFramePr>
        <p:xfrm>
          <a:off x="178594" y="685800"/>
          <a:ext cx="9372600" cy="4572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Function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( description )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any</a:t>
                      </a:r>
                      <a:r>
                        <a:rPr kumimoji="0" lang="en-US" altLang="en-US" sz="2400" b="0" i="0" u="none" strike="noStrike" cap="none" spc="-20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(D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any </a:t>
                      </a:r>
                      <a:r>
                        <a:rPr kumimoji="0" lang="en-US" altLang="en-US" sz="2400" b="0" i="1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key</a:t>
                      </a: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D evaluates to </a:t>
                      </a:r>
                      <a:b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 (</a:t>
                      </a:r>
                      <a:r>
                        <a:rPr kumimoji="0" lang="en-US" altLang="en-US" sz="2400" b="0" i="1" u="none" strike="noStrike" cap="none" spc="-1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the key is nonzero and nonempty)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all</a:t>
                      </a:r>
                      <a:r>
                        <a:rPr kumimoji="0" lang="en-US" altLang="en-US" sz="2400" b="0" i="0" u="none" strike="noStrike" cap="none" spc="-20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(D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all </a:t>
                      </a:r>
                      <a:r>
                        <a:rPr kumimoji="0" lang="en-US" altLang="en-US" sz="2400" b="0" i="1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keys</a:t>
                      </a: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D evaluate to</a:t>
                      </a:r>
                      <a:b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 (</a:t>
                      </a:r>
                      <a:r>
                        <a:rPr kumimoji="0" lang="en-US" altLang="en-US" sz="2400" b="0" i="1" u="none" strike="noStrike" cap="none" spc="-1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they are all nonzero and nonempty)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len</a:t>
                      </a:r>
                      <a:r>
                        <a:rPr kumimoji="0" lang="en-US" altLang="en-US" sz="2400" b="0" i="0" u="none" strike="noStrike" cap="none" spc="-20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(D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</a:t>
                      </a: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</a:t>
                      </a: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number of elements in dictionary</a:t>
                      </a: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2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max</a:t>
                      </a:r>
                      <a:r>
                        <a:rPr kumimoji="0" lang="en-US" altLang="en-US" sz="2400" b="0" i="0" u="none" strike="noStrike" cap="none" spc="-20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(D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largest key value in dictionary</a:t>
                      </a: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min</a:t>
                      </a:r>
                      <a:r>
                        <a:rPr kumimoji="0" lang="en-US" altLang="en-US" sz="2400" b="0" i="0" u="none" strike="noStrike" cap="none" spc="-20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(D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3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smallest key value in dictionary</a:t>
                      </a: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.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1440" marB="91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4296" y="0"/>
            <a:ext cx="9601199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Built-in </a:t>
            </a:r>
            <a:r>
              <a:rPr lang="en-US" altLang="en-US" sz="4400" dirty="0" smtClean="0">
                <a:solidFill>
                  <a:srgbClr val="0070C0"/>
                </a:solidFill>
              </a:rPr>
              <a:t>Dictionary </a:t>
            </a:r>
            <a:r>
              <a:rPr lang="en-US" altLang="en-US" sz="4400" dirty="0">
                <a:solidFill>
                  <a:srgbClr val="0070C0"/>
                </a:solidFill>
              </a:rPr>
              <a:t>Functions:</a:t>
            </a:r>
          </a:p>
        </p:txBody>
      </p:sp>
    </p:spTree>
    <p:extLst>
      <p:ext uri="{BB962C8B-B14F-4D97-AF65-F5344CB8AC3E}">
        <p14:creationId xmlns:p14="http://schemas.microsoft.com/office/powerpoint/2010/main" val="191404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973067"/>
              </p:ext>
            </p:extLst>
          </p:nvPr>
        </p:nvGraphicFramePr>
        <p:xfrm>
          <a:off x="178594" y="685800"/>
          <a:ext cx="9372600" cy="3749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Function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( description )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len(S)</a:t>
                      </a:r>
                      <a:b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length of the string, </a:t>
                      </a:r>
                      <a:r>
                        <a:rPr kumimoji="0" lang="en-US" altLang="en-US" sz="24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S.</a:t>
                      </a:r>
                      <a:endParaRPr kumimoji="0" lang="en-US" altLang="en-US" sz="2400" b="0" i="0" u="none" strike="noStrike" cap="none" spc="-7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max(S)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that character from the string S which has the highest Unicode value.</a:t>
                      </a: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min(S) 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2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that character from the string S which has the lowest Unicode value.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1440" marB="91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[*reverse</a:t>
                      </a:r>
                      <a:r>
                        <a:rPr kumimoji="0" lang="en-US" altLang="en-US" sz="24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d(S)</a:t>
                      </a: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reversed list of the elements of the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string, S. (We can't splat back to a string.)</a:t>
                      </a:r>
                      <a:endParaRPr kumimoji="0" lang="en-US" altLang="en-US" sz="2400" b="0" i="0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64296" y="0"/>
            <a:ext cx="9601199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Built-in String Functions:</a:t>
            </a:r>
          </a:p>
        </p:txBody>
      </p:sp>
    </p:spTree>
    <p:extLst>
      <p:ext uri="{BB962C8B-B14F-4D97-AF65-F5344CB8AC3E}">
        <p14:creationId xmlns:p14="http://schemas.microsoft.com/office/powerpoint/2010/main" val="408498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46" y="-93118"/>
            <a:ext cx="9727897" cy="1317775"/>
          </a:xfrm>
          <a:prstGeom prst="rect">
            <a:avLst/>
          </a:prstGeom>
        </p:spPr>
        <p:txBody>
          <a:bodyPr vert="horz" lIns="91365" tIns="45683" rIns="91365" bIns="45683" rtlCol="0" anchor="ctr">
            <a:normAutofit lnSpcReduction="10000"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4071" dirty="0">
                <a:solidFill>
                  <a:srgbClr val="0070C0"/>
                </a:solidFill>
              </a:rPr>
              <a:t>Know the difference: </a:t>
            </a:r>
            <a:br>
              <a:rPr lang="en-US" altLang="en-US" sz="4071" dirty="0">
                <a:solidFill>
                  <a:srgbClr val="0070C0"/>
                </a:solidFill>
              </a:rPr>
            </a:br>
            <a:r>
              <a:rPr lang="en-US" altLang="en-US" sz="3700" dirty="0">
                <a:solidFill>
                  <a:srgbClr val="000000"/>
                </a:solidFill>
                <a:latin typeface="Lucida Console" panose="020B0609040504020204" pitchFamily="49" charset="0"/>
              </a:rPr>
              <a:t>sorted</a:t>
            </a:r>
            <a:r>
              <a:rPr lang="en-US" altLang="en-US" sz="3700" dirty="0">
                <a:solidFill>
                  <a:srgbClr val="000000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3700" dirty="0">
                <a:solidFill>
                  <a:srgbClr val="000000"/>
                </a:solidFill>
                <a:latin typeface="Lucida Console" panose="020B0609040504020204" pitchFamily="49" charset="0"/>
              </a:rPr>
              <a:t>…,reverse=True</a:t>
            </a:r>
            <a:r>
              <a:rPr lang="en-US" altLang="en-US" sz="3700" dirty="0">
                <a:solidFill>
                  <a:srgbClr val="000000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071" dirty="0">
                <a:solidFill>
                  <a:srgbClr val="0070C0"/>
                </a:solidFill>
              </a:rPr>
              <a:t> vs </a:t>
            </a:r>
            <a:r>
              <a:rPr lang="en-US" altLang="en-US" sz="3700" dirty="0">
                <a:solidFill>
                  <a:srgbClr val="000000"/>
                </a:solidFill>
                <a:latin typeface="Lucida Console" panose="020B0609040504020204" pitchFamily="49" charset="0"/>
              </a:rPr>
              <a:t>reversed</a:t>
            </a:r>
            <a:r>
              <a:rPr lang="en-US" altLang="en-US" sz="4071" dirty="0">
                <a:solidFill>
                  <a:srgbClr val="000000"/>
                </a:solidFill>
                <a:latin typeface="Agency FB" panose="020B0503020202020204" pitchFamily="34" charset="0"/>
              </a:rPr>
              <a:t>()</a:t>
            </a:r>
          </a:p>
        </p:txBody>
      </p:sp>
      <p:sp>
        <p:nvSpPr>
          <p:cNvPr id="8" name="內容版面配置區 2"/>
          <p:cNvSpPr txBox="1">
            <a:spLocks/>
          </p:cNvSpPr>
          <p:nvPr/>
        </p:nvSpPr>
        <p:spPr>
          <a:xfrm>
            <a:off x="191958" y="1189211"/>
            <a:ext cx="9518694" cy="56687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 smtClean="0">
                <a:latin typeface="Lucida Console" panose="020B0609040504020204" pitchFamily="49" charset="0"/>
              </a:rPr>
              <a:t> T=(*"</a:t>
            </a:r>
            <a:r>
              <a:rPr lang="en-US" altLang="zh-TW" sz="2220" b="1" spc="-9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220" b="1" spc="-9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0" b="1" spc="-9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 smtClean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0" b="1" spc="-9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0" b="1" spc="-9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en-US" altLang="zh-TW" sz="2220" b="1" spc="-9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0" b="1" spc="-9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0" b="1" spc="-9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0" spc="-9" dirty="0" smtClean="0">
                <a:latin typeface="Lucida Console" panose="020B0609040504020204" pitchFamily="49" charset="0"/>
              </a:rPr>
              <a:t>",); T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it-IT" altLang="zh-TW" sz="2220" spc="-9" dirty="0" smtClean="0">
                <a:latin typeface="Lucida Console" panose="020B0609040504020204" pitchFamily="49" charset="0"/>
              </a:rPr>
              <a:t>('</a:t>
            </a:r>
            <a:r>
              <a:rPr lang="it-IT" altLang="zh-TW" sz="2220" b="1" spc="-9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 ', '</a:t>
            </a:r>
            <a:r>
              <a:rPr lang="it-IT" altLang="zh-TW" sz="2220" b="1" spc="-9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')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 smtClean="0">
                <a:latin typeface="Lucida Console" panose="020B0609040504020204" pitchFamily="49" charset="0"/>
              </a:rPr>
              <a:t> sorted(</a:t>
            </a:r>
            <a:r>
              <a:rPr lang="en-US" altLang="zh-TW" sz="2220" spc="-9" dirty="0" err="1" smtClean="0">
                <a:latin typeface="Lucida Console" panose="020B0609040504020204" pitchFamily="49" charset="0"/>
              </a:rPr>
              <a:t>T,reverse</a:t>
            </a:r>
            <a:r>
              <a:rPr lang="en-US" altLang="zh-TW" sz="2220" spc="-9" dirty="0" smtClean="0">
                <a:latin typeface="Lucida Console" panose="020B0609040504020204" pitchFamily="49" charset="0"/>
              </a:rPr>
              <a:t>=True)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it-IT" altLang="zh-TW" sz="2220" spc="-9" dirty="0" smtClean="0">
                <a:latin typeface="Lucida Console" panose="020B0609040504020204" pitchFamily="49" charset="0"/>
              </a:rPr>
              <a:t>['</a:t>
            </a:r>
            <a:r>
              <a:rPr lang="it-IT" altLang="zh-TW" sz="2220" b="1" spc="-9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 ']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 smtClean="0">
                <a:latin typeface="Lucida Console" panose="020B0609040504020204" pitchFamily="49" charset="0"/>
              </a:rPr>
              <a:t> [*reversed(T)]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it-IT" altLang="zh-TW" sz="2220" spc="-9" dirty="0" smtClean="0">
                <a:latin typeface="Lucida Console" panose="020B0609040504020204" pitchFamily="49" charset="0"/>
              </a:rPr>
              <a:t>['</a:t>
            </a:r>
            <a:r>
              <a:rPr lang="it-IT" altLang="zh-TW" sz="2220" b="1" spc="-9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 ', '</a:t>
            </a:r>
            <a:r>
              <a:rPr lang="it-IT" altLang="zh-TW" sz="2220" b="1" spc="-9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 smtClean="0">
                <a:latin typeface="Lucida Console" panose="020B0609040504020204" pitchFamily="49" charset="0"/>
              </a:rPr>
              <a:t> T[::-1]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it-IT" altLang="zh-TW" sz="2220" spc="-9" dirty="0" smtClean="0">
                <a:latin typeface="Lucida Console" panose="020B0609040504020204" pitchFamily="49" charset="0"/>
              </a:rPr>
              <a:t>('</a:t>
            </a:r>
            <a:r>
              <a:rPr lang="it-IT" altLang="zh-TW" sz="2220" b="1" spc="-9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 ', '</a:t>
            </a:r>
            <a:r>
              <a:rPr lang="it-IT" altLang="zh-TW" sz="2220" b="1" spc="-9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')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 smtClean="0">
                <a:latin typeface="Lucida Console" panose="020B0609040504020204" pitchFamily="49" charset="0"/>
              </a:rPr>
              <a:t> list(reversed("</a:t>
            </a:r>
            <a:r>
              <a:rPr lang="en-US" altLang="zh-TW" sz="2220" b="1" spc="-9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220" b="1" spc="-9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0" b="1" spc="-9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 smtClean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0" b="1" spc="-9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0" b="1" spc="-9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en-US" altLang="zh-TW" sz="2220" b="1" spc="-9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0" b="1" spc="-9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0" b="1" spc="-9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0" spc="-9" dirty="0" smtClean="0">
                <a:latin typeface="Lucida Console" panose="020B0609040504020204" pitchFamily="49" charset="0"/>
              </a:rPr>
              <a:t>"))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it-IT" altLang="zh-TW" sz="2220" spc="-9" dirty="0" smtClean="0">
                <a:latin typeface="Lucida Console" panose="020B0609040504020204" pitchFamily="49" charset="0"/>
              </a:rPr>
              <a:t>['</a:t>
            </a:r>
            <a:r>
              <a:rPr lang="it-IT" altLang="zh-TW" sz="2220" b="1" spc="-9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 ', '</a:t>
            </a:r>
            <a:r>
              <a:rPr lang="it-IT" altLang="zh-TW" sz="2220" b="1" spc="-9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 smtClean="0">
                <a:latin typeface="Lucida Console" panose="020B0609040504020204" pitchFamily="49" charset="0"/>
              </a:rPr>
              <a:t> list(("</a:t>
            </a:r>
            <a:r>
              <a:rPr lang="en-US" altLang="zh-TW" sz="2220" b="1" spc="-9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220" b="1" spc="-9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0" b="1" spc="-9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 smtClean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0" b="1" spc="-9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0" b="1" spc="-9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en-US" altLang="zh-TW" sz="2220" b="1" spc="-9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0" b="1" spc="-9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0" b="1" spc="-9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0" spc="-9" dirty="0" smtClean="0">
                <a:latin typeface="Lucida Console" panose="020B0609040504020204" pitchFamily="49" charset="0"/>
              </a:rPr>
              <a:t>"))[::-1]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it-IT" altLang="zh-TW" sz="2220" spc="-9" dirty="0" smtClean="0">
                <a:latin typeface="Lucida Console" panose="020B0609040504020204" pitchFamily="49" charset="0"/>
              </a:rPr>
              <a:t>['</a:t>
            </a:r>
            <a:r>
              <a:rPr lang="it-IT" altLang="zh-TW" sz="2220" b="1" spc="-9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 ', '</a:t>
            </a:r>
            <a:r>
              <a:rPr lang="it-IT" altLang="zh-TW" sz="2220" b="1" spc="-9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220" spc="-9" dirty="0" smtClean="0">
                <a:latin typeface="Lucida Console" panose="020B0609040504020204" pitchFamily="49" charset="0"/>
              </a:rPr>
              <a:t>']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0" spc="-9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9" name="內容版面配置區 2"/>
          <p:cNvSpPr txBox="1">
            <a:spLocks/>
          </p:cNvSpPr>
          <p:nvPr/>
        </p:nvSpPr>
        <p:spPr>
          <a:xfrm>
            <a:off x="191958" y="1189211"/>
            <a:ext cx="9518694" cy="56687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0" spc="-9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it-IT" altLang="zh-TW" sz="2220" spc="-9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0" spc="-9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it-IT" altLang="zh-TW" sz="2220" spc="-9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0" spc="-9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it-IT" altLang="zh-TW" sz="2220" spc="-9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0" spc="-9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it-IT" altLang="zh-TW" sz="2220" spc="-9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0" spc="-9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it-IT" altLang="zh-TW" sz="2220" spc="-9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0" spc="-9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it-IT" altLang="zh-TW" sz="2220" spc="-9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0" spc="-9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0" spc="-9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06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>
            <p:extLst/>
          </p:nvPr>
        </p:nvGraphicFramePr>
        <p:xfrm>
          <a:off x="235155" y="914400"/>
          <a:ext cx="925830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bg1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down to </a:t>
                      </a:r>
                      <a:r>
                        <a:rPr lang="en-US" sz="1800" b="0" i="0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an integer. </a:t>
                      </a:r>
                      <a:r>
                        <a:rPr lang="en-US" sz="1800" b="0" i="0" u="none" strike="noStrike" spc="-8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If x is a string, you can give the base.</a:t>
                      </a:r>
                      <a:endParaRPr lang="en-US" sz="1800" b="0" i="0" u="none" strike="noStrike" spc="-80" baseline="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 smtClean="0">
                          <a:solidFill>
                            <a:schemeClr val="bg1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])</a:t>
                      </a:r>
                      <a:endParaRPr lang="en-US" sz="1800" b="0" i="0" u="none" strike="noStrike" spc="-150" baseline="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bool(x)</a:t>
                      </a:r>
                      <a:endParaRPr lang="en-US" sz="1800" b="0" i="0" u="none" strike="noStrike" spc="-90" baseline="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 value (True or False).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bg1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(c)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bg1"/>
                          </a:solidFill>
                          <a:latin typeface="Verdana"/>
                        </a:rPr>
                        <a:t>round(n[,d])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 smtClean="0">
                          <a:solidFill>
                            <a:schemeClr val="bg1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bg1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tuple.</a:t>
                      </a: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 that is sorted.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set.</a:t>
                      </a: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>
                    <a:solidFill>
                      <a:srgbClr val="00B0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“nice looking”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string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Adds padding to a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hexadecimal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octal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binary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856459" y="114300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6344" y="4774574"/>
            <a:ext cx="7315875" cy="174052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930" dirty="0">
                <a:solidFill>
                  <a:prstClr val="black"/>
                </a:solidFill>
              </a:rPr>
              <a:t>These do what </a:t>
            </a:r>
            <a:r>
              <a:rPr lang="en-US" altLang="zh-TW" sz="4930" dirty="0" smtClean="0">
                <a:solidFill>
                  <a:prstClr val="black"/>
                </a:solidFill>
              </a:rPr>
              <a:t>you would expect them to do.</a:t>
            </a:r>
            <a:endParaRPr lang="en-US" altLang="zh-TW" sz="4930" dirty="0">
              <a:solidFill>
                <a:prstClr val="black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35827" y="4495800"/>
            <a:ext cx="9018600" cy="2362200"/>
            <a:chOff x="406917" y="4915941"/>
            <a:chExt cx="9877514" cy="2512273"/>
          </a:xfrm>
        </p:grpSpPr>
        <p:sp>
          <p:nvSpPr>
            <p:cNvPr id="8" name="Rectangle 7"/>
            <p:cNvSpPr/>
            <p:nvPr/>
          </p:nvSpPr>
          <p:spPr>
            <a:xfrm>
              <a:off x="406917" y="4915941"/>
              <a:ext cx="9701766" cy="25122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43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4053" y="4915941"/>
              <a:ext cx="4918932" cy="2499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</a:pPr>
              <a:r>
                <a:rPr lang="en-US" altLang="zh-TW" sz="2100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tuple(</a:t>
              </a:r>
              <a:r>
                <a:rPr lang="en-US" sz="2100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{2,(1,),'@♞'}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 </a:t>
              </a:r>
            </a:p>
            <a:p>
              <a:pPr>
                <a:lnSpc>
                  <a:spcPct val="90000"/>
                </a:lnSpc>
              </a:pPr>
              <a:r>
                <a:rPr lang="en-US" sz="2100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2</a:t>
              </a:r>
              <a:r>
                <a:rPr lang="en-US" sz="2100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'@♞'</a:t>
              </a:r>
              <a:r>
                <a:rPr lang="en-US" sz="2100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(1,)</a:t>
              </a:r>
              <a:r>
                <a:rPr lang="en-US" sz="2100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2100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list</a:t>
              </a:r>
              <a:r>
                <a:rPr lang="en-US" sz="2100" dirty="0">
                  <a:solidFill>
                    <a:schemeClr val="tx1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sz="2100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{2,(1,),'@♞'}</a:t>
              </a:r>
              <a:r>
                <a:rPr lang="en-US" sz="2100" dirty="0">
                  <a:solidFill>
                    <a:schemeClr val="tx1"/>
                  </a:solidFill>
                  <a:latin typeface="Lucida Console" panose="020B0609040504020204" pitchFamily="49" charset="0"/>
                </a:rPr>
                <a:t>)</a:t>
              </a:r>
              <a:r>
                <a:rPr lang="en-US" sz="2100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 </a:t>
              </a:r>
            </a:p>
            <a:p>
              <a:pPr>
                <a:lnSpc>
                  <a:spcPct val="90000"/>
                </a:lnSpc>
              </a:pPr>
              <a:r>
                <a:rPr lang="en-US" sz="2100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2</a:t>
              </a:r>
              <a:r>
                <a:rPr lang="en-US" sz="2100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'@♞'</a:t>
              </a:r>
              <a:r>
                <a:rPr lang="en-US" sz="2100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(1,)</a:t>
              </a:r>
              <a:r>
                <a:rPr lang="en-US" sz="2100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2100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sorted</a:t>
              </a:r>
              <a:r>
                <a:rPr lang="en-US" sz="2100" dirty="0">
                  <a:solidFill>
                    <a:schemeClr val="tx1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sz="2100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{2,(1,),'@♞'}</a:t>
              </a:r>
              <a:r>
                <a:rPr lang="en-US" sz="2100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 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1830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Traceback</a:t>
              </a:r>
              <a:r>
                <a:rPr lang="en-US" altLang="zh-TW" sz="183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(most recent call last):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183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 File "&lt;</a:t>
              </a:r>
              <a:r>
                <a:rPr lang="en-US" altLang="zh-TW" sz="1830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stdin</a:t>
              </a:r>
              <a:r>
                <a:rPr lang="en-US" altLang="zh-TW" sz="183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&gt;", line 1, in &lt;module&gt;</a:t>
              </a:r>
            </a:p>
            <a:p>
              <a:pPr>
                <a:lnSpc>
                  <a:spcPct val="65000"/>
                </a:lnSpc>
              </a:pPr>
              <a:r>
                <a:rPr lang="en-US" altLang="zh-TW" sz="1830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TypeError</a:t>
              </a:r>
              <a:r>
                <a:rPr lang="en-US" altLang="zh-TW" sz="200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:</a:t>
              </a:r>
              <a:r>
                <a:rPr lang="en-US" altLang="zh-TW" sz="2000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400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'&lt;' not supported between 	instances of '</a:t>
              </a:r>
              <a:r>
                <a:rPr lang="en-US" altLang="zh-TW" sz="2400" dirty="0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str</a:t>
              </a:r>
              <a:r>
                <a:rPr lang="en-US" altLang="zh-TW" sz="2400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' and '</a:t>
              </a:r>
              <a:r>
                <a:rPr lang="en-US" altLang="zh-TW" sz="2400" dirty="0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int</a:t>
              </a:r>
              <a:r>
                <a:rPr lang="en-US" altLang="zh-TW" sz="2400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'</a:t>
              </a:r>
              <a:endParaRPr lang="en-US" sz="2400" dirty="0">
                <a:solidFill>
                  <a:prstClr val="black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60369" y="4973263"/>
              <a:ext cx="5024062" cy="24340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BFBFBF"/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prstClr val="white">
                      <a:lumMod val="75000"/>
                    </a:prstClr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tuple(</a:t>
              </a:r>
              <a:r>
                <a:rPr lang="en-US" altLang="zh-TW" sz="219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"hello"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'h'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'e'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'l'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'l'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'o'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BFBFBF"/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list(</a:t>
              </a:r>
              <a:r>
                <a:rPr lang="en-US" altLang="zh-TW" sz="219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_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[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'h'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'e'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'l'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'l'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'o'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]</a:t>
              </a:r>
            </a:p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BFBFBF"/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set(</a:t>
              </a:r>
              <a:r>
                <a:rPr lang="en-US" altLang="zh-TW" sz="2191" dirty="0">
                  <a:solidFill>
                    <a:srgbClr val="FFC000"/>
                  </a:solidFill>
                  <a:latin typeface="Lucida Console" panose="020B0609040504020204" pitchFamily="49" charset="0"/>
                </a:rPr>
                <a:t>_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</a:p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{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'l'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'h'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'o'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'e'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}</a:t>
              </a:r>
            </a:p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BFBFBF"/>
                  </a:solidFill>
                  <a:latin typeface="Lucida Console" panose="020B0609040504020204" pitchFamily="49" charset="0"/>
                </a:rPr>
                <a:t>&gt;&gt;&gt;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TW" sz="2191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sorted(</a:t>
              </a:r>
              <a:r>
                <a:rPr lang="en-US" altLang="zh-TW" sz="2191" dirty="0" smtClean="0">
                  <a:solidFill>
                    <a:srgbClr val="FFC000"/>
                  </a:solidFill>
                  <a:latin typeface="Lucida Console" panose="020B0609040504020204" pitchFamily="49" charset="0"/>
                </a:rPr>
                <a:t>_</a:t>
              </a:r>
              <a:r>
                <a:rPr lang="en-US" altLang="zh-TW" sz="2191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)</a:t>
              </a:r>
              <a:endParaRPr lang="en-US" altLang="zh-TW" sz="2191" dirty="0">
                <a:solidFill>
                  <a:prstClr val="black"/>
                </a:solidFill>
                <a:latin typeface="Lucida Console" panose="020B0609040504020204" pitchFamily="49" charset="0"/>
              </a:endParaRPr>
            </a:p>
            <a:p>
              <a:pPr>
                <a:lnSpc>
                  <a:spcPct val="85000"/>
                </a:lnSpc>
              </a:pP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[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'e'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'h'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'l'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, </a:t>
              </a:r>
              <a:r>
                <a:rPr lang="en-US" altLang="zh-TW" sz="2191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'o'</a:t>
              </a:r>
              <a:r>
                <a:rPr lang="en-US" altLang="zh-TW" sz="2191" dirty="0">
                  <a:solidFill>
                    <a:srgbClr val="006600"/>
                  </a:solidFill>
                  <a:latin typeface="Lucida Console" panose="020B0609040504020204" pitchFamily="49" charset="0"/>
                </a:rPr>
                <a:t>]</a:t>
              </a:r>
            </a:p>
          </p:txBody>
        </p:sp>
      </p:grpSp>
      <p:sp>
        <p:nvSpPr>
          <p:cNvPr id="11" name="Rounded Rectangular Callout 10"/>
          <p:cNvSpPr/>
          <p:nvPr/>
        </p:nvSpPr>
        <p:spPr bwMode="auto">
          <a:xfrm>
            <a:off x="946" y="12989"/>
            <a:ext cx="6471720" cy="3190720"/>
          </a:xfrm>
          <a:prstGeom prst="wedgeRoundRectCallout">
            <a:avLst>
              <a:gd name="adj1" fmla="val -33175"/>
              <a:gd name="adj2" fmla="val 65153"/>
              <a:gd name="adj3" fmla="val 16667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45683" numCol="1" rtlCol="0" anchor="t" anchorCtr="0" compatLnSpc="1">
            <a:prstTxWarp prst="textNoShape">
              <a:avLst/>
            </a:prstTxWarp>
          </a:bodyPr>
          <a:lstStyle/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222222"/>
                </a:solidFill>
                <a:ea typeface="MS PGothic" pitchFamily="34" charset="-128"/>
              </a:rPr>
              <a:t>Returns a sorted list of the passed-in argument (which must be of one type):</a:t>
            </a:r>
            <a:br>
              <a:rPr lang="en-US" altLang="zh-TW" sz="2798" kern="0" dirty="0">
                <a:solidFill>
                  <a:srgbClr val="222222"/>
                </a:solidFill>
                <a:ea typeface="MS PGothic" pitchFamily="34" charset="-128"/>
              </a:rPr>
            </a:b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&gt;&gt;&gt; sorted(</a:t>
            </a:r>
            <a:r>
              <a:rPr lang="en-US" altLang="zh-TW" sz="2398" b="1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[</a:t>
            </a:r>
            <a:r>
              <a:rPr lang="pt-BR" altLang="zh-TW" sz="2398" b="1" kern="0" dirty="0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1</a:t>
            </a:r>
            <a:r>
              <a:rPr lang="pt-BR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lang="pt-BR" altLang="zh-TW" sz="2398" b="1" kern="0" dirty="0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2.0</a:t>
            </a:r>
            <a:r>
              <a:rPr lang="pt-BR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lang="pt-BR" altLang="zh-TW" sz="2398" b="1" kern="0" dirty="0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5</a:t>
            </a:r>
            <a:r>
              <a:rPr lang="pt-BR" altLang="zh-TW" sz="2398" kern="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lang="pt-BR" altLang="zh-TW" sz="2398" b="1" kern="0" dirty="0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3</a:t>
            </a:r>
            <a:r>
              <a:rPr lang="pt-BR" altLang="zh-TW" sz="2398" kern="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lang="pt-BR" altLang="zh-TW" sz="2398" b="1" kern="0" dirty="0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-1</a:t>
            </a:r>
            <a:r>
              <a:rPr lang="pt-BR" altLang="zh-TW" sz="2398" b="1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]</a:t>
            </a:r>
            <a:r>
              <a:rPr lang="pt-BR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)</a:t>
            </a:r>
          </a:p>
          <a:p>
            <a:pPr defTabSz="845864" eaLnBrk="0" fontAlgn="base" hangingPunct="0">
              <a:lnSpc>
                <a:spcPct val="94000"/>
              </a:lnSpc>
              <a:spcAft>
                <a:spcPct val="0"/>
              </a:spcAft>
              <a:buClr>
                <a:srgbClr val="2D2DB9"/>
              </a:buClr>
            </a:pPr>
            <a:r>
              <a:rPr lang="pt-BR" altLang="zh-TW" sz="2398" b="1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[</a:t>
            </a:r>
            <a:r>
              <a:rPr lang="pt-BR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-1</a:t>
            </a:r>
            <a:r>
              <a:rPr lang="pt-BR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lang="pt-BR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1</a:t>
            </a:r>
            <a:r>
              <a:rPr lang="pt-BR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lang="pt-BR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2.0</a:t>
            </a:r>
            <a:r>
              <a:rPr lang="pt-BR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lang="pt-BR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3</a:t>
            </a:r>
            <a:r>
              <a:rPr lang="pt-BR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lang="pt-BR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5</a:t>
            </a:r>
            <a:r>
              <a:rPr lang="pt-BR" altLang="zh-TW" sz="2398" b="1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]</a:t>
            </a:r>
          </a:p>
          <a:p>
            <a:pPr defTabSz="845864" eaLnBrk="0" fontAlgn="base" hangingPunct="0">
              <a:lnSpc>
                <a:spcPct val="94000"/>
              </a:lnSpc>
              <a:spcAft>
                <a:spcPct val="0"/>
              </a:spcAft>
              <a:buClr>
                <a:srgbClr val="2D2DB9"/>
              </a:buClr>
            </a:pP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&gt;&gt;&gt;sorted</a:t>
            </a:r>
            <a:r>
              <a:rPr lang="en-US" altLang="zh-TW" sz="2398" kern="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</a:rPr>
              <a:t>(</a:t>
            </a:r>
            <a:r>
              <a:rPr lang="en-US" altLang="zh-TW" sz="2398" b="1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{</a:t>
            </a:r>
            <a:r>
              <a:rPr lang="en-US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"Z"</a:t>
            </a:r>
            <a:r>
              <a:rPr lang="en-US" altLang="zh-TW" sz="2398" kern="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</a:rPr>
              <a:t>:"X",</a:t>
            </a:r>
            <a:r>
              <a:rPr lang="en-US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"B"</a:t>
            </a:r>
            <a:r>
              <a:rPr lang="en-US" altLang="zh-TW" sz="2398" kern="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</a:rPr>
              <a:t>:1,</a:t>
            </a:r>
            <a:r>
              <a:rPr lang="en-US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"F"</a:t>
            </a:r>
            <a:r>
              <a:rPr lang="en-US" altLang="zh-TW" sz="2398" kern="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</a:rPr>
              <a:t>:2</a:t>
            </a:r>
            <a:r>
              <a:rPr lang="en-US" altLang="zh-TW" sz="2398" b="1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}</a:t>
            </a:r>
            <a:r>
              <a:rPr lang="en-US" altLang="zh-TW" sz="2398" kern="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</a:rPr>
              <a:t>)</a:t>
            </a:r>
          </a:p>
          <a:p>
            <a:pPr defTabSz="845864" eaLnBrk="0" fontAlgn="base" hangingPunct="0">
              <a:lnSpc>
                <a:spcPct val="94000"/>
              </a:lnSpc>
              <a:spcAft>
                <a:spcPct val="0"/>
              </a:spcAft>
              <a:buClr>
                <a:srgbClr val="2D2DB9"/>
              </a:buClr>
            </a:pPr>
            <a:r>
              <a:rPr lang="en-US" altLang="zh-TW" sz="2398" b="1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[</a:t>
            </a:r>
            <a:r>
              <a:rPr lang="en-US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'B'</a:t>
            </a:r>
            <a:r>
              <a:rPr lang="en-US" altLang="zh-TW" sz="2398" kern="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lang="en-US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 'F'</a:t>
            </a:r>
            <a:r>
              <a:rPr lang="en-US" altLang="zh-TW" sz="2398" kern="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lang="en-US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 'Z'</a:t>
            </a:r>
            <a:r>
              <a:rPr lang="en-US" altLang="zh-TW" sz="2398" b="1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]</a:t>
            </a:r>
          </a:p>
          <a:p>
            <a:pPr defTabSz="845864" eaLnBrk="0" fontAlgn="base" hangingPunct="0">
              <a:lnSpc>
                <a:spcPct val="94000"/>
              </a:lnSpc>
              <a:spcAft>
                <a:spcPct val="0"/>
              </a:spcAft>
              <a:buClr>
                <a:srgbClr val="2D2DB9"/>
              </a:buClr>
            </a:pP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&gt;&gt;&gt; sorted(</a:t>
            </a:r>
            <a:r>
              <a:rPr lang="en-US" altLang="zh-TW" sz="2398" b="1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{</a:t>
            </a:r>
            <a:r>
              <a:rPr lang="pt-BR" altLang="zh-TW" sz="2398" b="1" kern="0" dirty="0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1</a:t>
            </a:r>
            <a:r>
              <a:rPr lang="pt-BR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lang="pt-BR" altLang="zh-TW" sz="2398" b="1" kern="0" dirty="0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5</a:t>
            </a:r>
            <a:r>
              <a:rPr lang="pt-BR" altLang="zh-TW" sz="2398" kern="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lang="pt-BR" altLang="zh-TW" sz="2398" b="1" kern="0" dirty="0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3</a:t>
            </a:r>
            <a:r>
              <a:rPr lang="pt-BR" altLang="zh-TW" sz="2398" b="1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}</a:t>
            </a:r>
            <a:r>
              <a:rPr lang="pt-BR" altLang="zh-TW" sz="2398" kern="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lang="pt-BR" altLang="zh-TW" sz="2398" b="1" kern="0" dirty="0">
                <a:solidFill>
                  <a:srgbClr val="3333CC">
                    <a:lumMod val="75000"/>
                  </a:srgbClr>
                </a:solidFill>
                <a:latin typeface="Lucida Console" panose="020B0609040504020204" pitchFamily="49" charset="0"/>
                <a:ea typeface="MS PGothic" pitchFamily="34" charset="-128"/>
              </a:rPr>
              <a:t>reverse</a:t>
            </a:r>
            <a:r>
              <a:rPr lang="pt-BR" altLang="zh-TW" sz="2398" b="1" kern="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</a:rPr>
              <a:t>=</a:t>
            </a:r>
            <a:r>
              <a:rPr lang="pt-BR" altLang="zh-TW" sz="2398" b="1" kern="0" dirty="0">
                <a:solidFill>
                  <a:srgbClr val="00DBD6"/>
                </a:solidFill>
                <a:latin typeface="Lucida Console" panose="020B0609040504020204" pitchFamily="49" charset="0"/>
                <a:ea typeface="MS PGothic" pitchFamily="34" charset="-128"/>
              </a:rPr>
              <a:t>True</a:t>
            </a:r>
            <a:r>
              <a:rPr lang="pt-BR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)</a:t>
            </a:r>
          </a:p>
          <a:p>
            <a:pPr defTabSz="845864" eaLnBrk="0" fontAlgn="base" hangingPunct="0">
              <a:lnSpc>
                <a:spcPct val="94000"/>
              </a:lnSpc>
              <a:spcAft>
                <a:spcPct val="0"/>
              </a:spcAft>
              <a:buClr>
                <a:srgbClr val="2D2DB9"/>
              </a:buClr>
            </a:pPr>
            <a:r>
              <a:rPr lang="pt-BR" altLang="zh-TW" sz="2398" b="1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[</a:t>
            </a:r>
            <a:r>
              <a:rPr lang="pt-BR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5</a:t>
            </a:r>
            <a:r>
              <a:rPr lang="pt-BR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lang="pt-BR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3</a:t>
            </a:r>
            <a:r>
              <a:rPr lang="pt-BR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lang="pt-BR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1</a:t>
            </a:r>
            <a:r>
              <a:rPr lang="pt-BR" altLang="zh-TW" sz="2398" b="1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143436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1958" y="1189211"/>
            <a:ext cx="9518694" cy="5665411"/>
          </a:xfrm>
        </p:spPr>
        <p:txBody>
          <a:bodyPr>
            <a:noAutofit/>
          </a:bodyPr>
          <a:lstStyle/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>
                <a:latin typeface="Lucida Console" panose="020B0609040504020204" pitchFamily="49" charset="0"/>
              </a:rPr>
              <a:t> T=(*"</a:t>
            </a:r>
            <a:r>
              <a:rPr lang="en-US" altLang="zh-TW" sz="2220" b="1" spc="-9" dirty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220" b="1" spc="-9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0" b="1" spc="-9" dirty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0" b="1" spc="-9" dirty="0">
                <a:latin typeface="Lucida Console" panose="020B0609040504020204" pitchFamily="49" charset="0"/>
              </a:rPr>
              <a:t> </a:t>
            </a:r>
            <a:r>
              <a:rPr lang="en-US" altLang="zh-TW" sz="2220" b="1" spc="-9" dirty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en-US" altLang="zh-TW" sz="2220" b="1" spc="-9" dirty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0" b="1" spc="-9" dirty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0" b="1" spc="-9" dirty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0" spc="-9" dirty="0">
                <a:latin typeface="Lucida Console" panose="020B0609040504020204" pitchFamily="49" charset="0"/>
              </a:rPr>
              <a:t>",); T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it-IT" altLang="zh-TW" sz="2220" spc="-9" dirty="0">
                <a:latin typeface="Lucida Console" panose="020B0609040504020204" pitchFamily="49" charset="0"/>
              </a:rPr>
              <a:t>('</a:t>
            </a:r>
            <a:r>
              <a:rPr lang="it-IT" altLang="zh-TW" sz="2220" b="1" spc="-9" dirty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 ', '</a:t>
            </a:r>
            <a:r>
              <a:rPr lang="it-IT" altLang="zh-TW" sz="2220" b="1" spc="-9" dirty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it-IT" altLang="zh-TW" sz="2220" spc="-9" dirty="0">
                <a:latin typeface="Lucida Console" panose="020B0609040504020204" pitchFamily="49" charset="0"/>
              </a:rPr>
              <a:t>')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>
                <a:latin typeface="Lucida Console" panose="020B0609040504020204" pitchFamily="49" charset="0"/>
              </a:rPr>
              <a:t> sorted(</a:t>
            </a:r>
            <a:r>
              <a:rPr lang="en-US" altLang="zh-TW" sz="2220" spc="-9" dirty="0" err="1">
                <a:latin typeface="Lucida Console" panose="020B0609040504020204" pitchFamily="49" charset="0"/>
              </a:rPr>
              <a:t>T,reverse</a:t>
            </a:r>
            <a:r>
              <a:rPr lang="en-US" altLang="zh-TW" sz="2220" spc="-9" dirty="0">
                <a:latin typeface="Lucida Console" panose="020B0609040504020204" pitchFamily="49" charset="0"/>
              </a:rPr>
              <a:t>=True)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it-IT" altLang="zh-TW" sz="2220" spc="-9" dirty="0">
                <a:latin typeface="Lucida Console" panose="020B0609040504020204" pitchFamily="49" charset="0"/>
              </a:rPr>
              <a:t>['</a:t>
            </a:r>
            <a:r>
              <a:rPr lang="it-IT" altLang="zh-TW" sz="2220" b="1" spc="-9" dirty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 ']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>
                <a:latin typeface="Lucida Console" panose="020B0609040504020204" pitchFamily="49" charset="0"/>
              </a:rPr>
              <a:t> [*reversed(T)]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it-IT" altLang="zh-TW" sz="2220" spc="-9" dirty="0">
                <a:latin typeface="Lucida Console" panose="020B0609040504020204" pitchFamily="49" charset="0"/>
              </a:rPr>
              <a:t>['</a:t>
            </a:r>
            <a:r>
              <a:rPr lang="it-IT" altLang="zh-TW" sz="2220" b="1" spc="-9" dirty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 ', '</a:t>
            </a:r>
            <a:r>
              <a:rPr lang="it-IT" altLang="zh-TW" sz="2220" b="1" spc="-9" dirty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220" spc="-9" dirty="0">
                <a:latin typeface="Lucida Console" panose="020B0609040504020204" pitchFamily="49" charset="0"/>
              </a:rPr>
              <a:t>']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>
                <a:latin typeface="Lucida Console" panose="020B0609040504020204" pitchFamily="49" charset="0"/>
              </a:rPr>
              <a:t> T[::-1]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it-IT" altLang="zh-TW" sz="2220" spc="-9" dirty="0">
                <a:latin typeface="Lucida Console" panose="020B0609040504020204" pitchFamily="49" charset="0"/>
              </a:rPr>
              <a:t>('</a:t>
            </a:r>
            <a:r>
              <a:rPr lang="it-IT" altLang="zh-TW" sz="2220" b="1" spc="-9" dirty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 ', '</a:t>
            </a:r>
            <a:r>
              <a:rPr lang="it-IT" altLang="zh-TW" sz="2220" b="1" spc="-9" dirty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220" spc="-9" dirty="0">
                <a:latin typeface="Lucida Console" panose="020B0609040504020204" pitchFamily="49" charset="0"/>
              </a:rPr>
              <a:t>')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>
                <a:latin typeface="Lucida Console" panose="020B0609040504020204" pitchFamily="49" charset="0"/>
              </a:rPr>
              <a:t> list(reversed("</a:t>
            </a:r>
            <a:r>
              <a:rPr lang="en-US" altLang="zh-TW" sz="2220" b="1" spc="-9" dirty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220" b="1" spc="-9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0" b="1" spc="-9" dirty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0" b="1" spc="-9" dirty="0">
                <a:latin typeface="Lucida Console" panose="020B0609040504020204" pitchFamily="49" charset="0"/>
              </a:rPr>
              <a:t> </a:t>
            </a:r>
            <a:r>
              <a:rPr lang="en-US" altLang="zh-TW" sz="2220" b="1" spc="-9" dirty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en-US" altLang="zh-TW" sz="2220" b="1" spc="-9" dirty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0" b="1" spc="-9" dirty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0" b="1" spc="-9" dirty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0" spc="-9" dirty="0">
                <a:latin typeface="Lucida Console" panose="020B0609040504020204" pitchFamily="49" charset="0"/>
              </a:rPr>
              <a:t>"))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it-IT" altLang="zh-TW" sz="2220" spc="-9" dirty="0">
                <a:latin typeface="Lucida Console" panose="020B0609040504020204" pitchFamily="49" charset="0"/>
              </a:rPr>
              <a:t>['</a:t>
            </a:r>
            <a:r>
              <a:rPr lang="it-IT" altLang="zh-TW" sz="2220" b="1" spc="-9" dirty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 ', '</a:t>
            </a:r>
            <a:r>
              <a:rPr lang="it-IT" altLang="zh-TW" sz="2220" b="1" spc="-9" dirty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220" spc="-9" dirty="0">
                <a:latin typeface="Lucida Console" panose="020B0609040504020204" pitchFamily="49" charset="0"/>
              </a:rPr>
              <a:t>']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>
                <a:latin typeface="Lucida Console" panose="020B0609040504020204" pitchFamily="49" charset="0"/>
              </a:rPr>
              <a:t> list(("</a:t>
            </a:r>
            <a:r>
              <a:rPr lang="en-US" altLang="zh-TW" sz="2220" b="1" spc="-9" dirty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220" b="1" spc="-9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0" b="1" spc="-9" dirty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0" b="1" spc="-9" dirty="0">
                <a:latin typeface="Lucida Console" panose="020B0609040504020204" pitchFamily="49" charset="0"/>
              </a:rPr>
              <a:t> </a:t>
            </a:r>
            <a:r>
              <a:rPr lang="en-US" altLang="zh-TW" sz="2220" b="1" spc="-9" dirty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en-US" altLang="zh-TW" sz="2220" b="1" spc="-9" dirty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0" b="1" spc="-9" dirty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0" b="1" spc="-9" dirty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0" b="1" spc="-9" dirty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0" spc="-9" dirty="0">
                <a:latin typeface="Lucida Console" panose="020B0609040504020204" pitchFamily="49" charset="0"/>
              </a:rPr>
              <a:t>"))[::-1]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it-IT" altLang="zh-TW" sz="2220" spc="-9" dirty="0">
                <a:latin typeface="Lucida Console" panose="020B0609040504020204" pitchFamily="49" charset="0"/>
              </a:rPr>
              <a:t>['</a:t>
            </a:r>
            <a:r>
              <a:rPr lang="it-IT" altLang="zh-TW" sz="2220" b="1" spc="-9" dirty="0">
                <a:solidFill>
                  <a:srgbClr val="7030A0"/>
                </a:solidFill>
                <a:latin typeface="Lucida Console" panose="020B0609040504020204" pitchFamily="49" charset="0"/>
              </a:rPr>
              <a:t>d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206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70C0"/>
                </a:solidFill>
                <a:latin typeface="Lucida Console" panose="020B0609040504020204" pitchFamily="49" charset="0"/>
              </a:rPr>
              <a:t>r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B0F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 ', '</a:t>
            </a:r>
            <a:r>
              <a:rPr lang="it-IT" altLang="zh-TW" sz="2220" b="1" spc="-9" dirty="0">
                <a:solidFill>
                  <a:srgbClr val="92D05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4F6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FC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220" spc="-9" dirty="0">
                <a:latin typeface="Lucida Console" panose="020B0609040504020204" pitchFamily="49" charset="0"/>
              </a:rPr>
              <a:t>', '</a:t>
            </a:r>
            <a:r>
              <a:rPr lang="it-IT" altLang="zh-TW" sz="2220" b="1" spc="-9" dirty="0">
                <a:solidFill>
                  <a:srgbClr val="C0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220" spc="-9" dirty="0">
                <a:latin typeface="Lucida Console" panose="020B0609040504020204" pitchFamily="49" charset="0"/>
              </a:rPr>
              <a:t>']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46" y="-93118"/>
            <a:ext cx="9727897" cy="1317775"/>
          </a:xfrm>
          <a:prstGeom prst="rect">
            <a:avLst/>
          </a:prstGeom>
        </p:spPr>
        <p:txBody>
          <a:bodyPr vert="horz" lIns="91365" tIns="45683" rIns="91365" bIns="45683" rtlCol="0" anchor="ctr">
            <a:normAutofit lnSpcReduction="10000"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4071" dirty="0">
                <a:solidFill>
                  <a:srgbClr val="0070C0"/>
                </a:solidFill>
              </a:rPr>
              <a:t>Know the difference: </a:t>
            </a:r>
            <a:br>
              <a:rPr lang="en-US" altLang="en-US" sz="4071" dirty="0">
                <a:solidFill>
                  <a:srgbClr val="0070C0"/>
                </a:solidFill>
              </a:rPr>
            </a:br>
            <a:r>
              <a:rPr lang="en-US" altLang="en-US" sz="3700" dirty="0">
                <a:solidFill>
                  <a:srgbClr val="000000"/>
                </a:solidFill>
                <a:latin typeface="Lucida Console" panose="020B0609040504020204" pitchFamily="49" charset="0"/>
              </a:rPr>
              <a:t>sorted</a:t>
            </a:r>
            <a:r>
              <a:rPr lang="en-US" altLang="en-US" sz="3700" dirty="0">
                <a:solidFill>
                  <a:srgbClr val="000000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3700" dirty="0">
                <a:solidFill>
                  <a:srgbClr val="000000"/>
                </a:solidFill>
                <a:latin typeface="Lucida Console" panose="020B0609040504020204" pitchFamily="49" charset="0"/>
              </a:rPr>
              <a:t>…,reverse=True</a:t>
            </a:r>
            <a:r>
              <a:rPr lang="en-US" altLang="en-US" sz="3700" dirty="0">
                <a:solidFill>
                  <a:srgbClr val="000000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071" dirty="0">
                <a:solidFill>
                  <a:srgbClr val="0070C0"/>
                </a:solidFill>
              </a:rPr>
              <a:t> vs </a:t>
            </a:r>
            <a:r>
              <a:rPr lang="en-US" altLang="en-US" sz="3700" dirty="0">
                <a:solidFill>
                  <a:srgbClr val="000000"/>
                </a:solidFill>
                <a:latin typeface="Lucida Console" panose="020B0609040504020204" pitchFamily="49" charset="0"/>
              </a:rPr>
              <a:t>reversed</a:t>
            </a:r>
            <a:r>
              <a:rPr lang="en-US" altLang="en-US" sz="4071" dirty="0">
                <a:solidFill>
                  <a:srgbClr val="000000"/>
                </a:solidFill>
                <a:latin typeface="Agency FB" panose="020B0503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1761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1957" y="869645"/>
            <a:ext cx="9649672" cy="5985564"/>
          </a:xfrm>
        </p:spPr>
        <p:txBody>
          <a:bodyPr>
            <a:noAutofit/>
          </a:bodyPr>
          <a:lstStyle/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>
                <a:latin typeface="Lucida Console" panose="020B0609040504020204" pitchFamily="49" charset="0"/>
              </a:rPr>
              <a:t> L=[*"hello world"];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>
                <a:latin typeface="Lucida Console" panose="020B0609040504020204" pitchFamily="49" charset="0"/>
              </a:rPr>
              <a:t> sorted(L) </a:t>
            </a:r>
            <a:r>
              <a:rPr lang="en-US" altLang="zh-TW" sz="2220" spc="-9" dirty="0">
                <a:solidFill>
                  <a:srgbClr val="FF6969"/>
                </a:solidFill>
                <a:latin typeface="Lucida Console" panose="020B0609040504020204" pitchFamily="49" charset="0"/>
              </a:rPr>
              <a:t># See the sorted output: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it-IT" altLang="zh-TW" sz="2220" spc="-9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[' ', 'd', 'e', 'h', 'l', 'l', 'l', 'o', 'o', 'r', 'w']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0" spc="-9" dirty="0">
                <a:latin typeface="Lucida Console" panose="020B0609040504020204" pitchFamily="49" charset="0"/>
              </a:rPr>
              <a:t> L </a:t>
            </a:r>
            <a:r>
              <a:rPr lang="en-US" altLang="zh-TW" sz="2220" spc="-9" dirty="0">
                <a:solidFill>
                  <a:srgbClr val="FF6969"/>
                </a:solidFill>
                <a:latin typeface="Lucida Console" panose="020B0609040504020204" pitchFamily="49" charset="0"/>
              </a:rPr>
              <a:t># But KNOW that sorted </a:t>
            </a:r>
            <a:r>
              <a:rPr lang="en-US" altLang="zh-TW" sz="2220" b="1" spc="-9" dirty="0">
                <a:solidFill>
                  <a:srgbClr val="FF6969"/>
                </a:solidFill>
                <a:latin typeface="Lucida Console" panose="020B0609040504020204" pitchFamily="49" charset="0"/>
              </a:rPr>
              <a:t>doesn’t change the object</a:t>
            </a:r>
            <a:r>
              <a:rPr lang="en-US" altLang="zh-TW" sz="2220" spc="-9" dirty="0">
                <a:solidFill>
                  <a:srgbClr val="FF6969"/>
                </a:solidFill>
                <a:latin typeface="Lucida Console" panose="020B0609040504020204" pitchFamily="49" charset="0"/>
              </a:rPr>
              <a:t>:</a:t>
            </a:r>
            <a:endParaRPr lang="en-US" altLang="zh-TW" sz="2220" spc="-9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it-IT" altLang="zh-TW" sz="2220" spc="-9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['h', 'e', 'l', 'l', 'o', ' ', 'w', 'o', 'r', 'l', 'd']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0" spc="-9" dirty="0">
                <a:latin typeface="Lucida Console" panose="020B0609040504020204" pitchFamily="49" charset="0"/>
              </a:rPr>
              <a:t> "</a:t>
            </a:r>
            <a:r>
              <a:rPr lang="en-US" altLang="zh-TW" sz="2220" spc="-9" dirty="0">
                <a:solidFill>
                  <a:srgbClr val="00B050"/>
                </a:solidFill>
                <a:latin typeface="Lucida Console" panose="020B0609040504020204" pitchFamily="49" charset="0"/>
              </a:rPr>
              <a:t>sort</a:t>
            </a:r>
            <a:r>
              <a:rPr lang="en-US" altLang="zh-TW" sz="2220" spc="-9" dirty="0">
                <a:latin typeface="Lucida Console" panose="020B0609040504020204" pitchFamily="49" charset="0"/>
              </a:rPr>
              <a:t>" </a:t>
            </a:r>
            <a:r>
              <a:rPr lang="en-US" altLang="zh-TW" sz="2220" spc="-9" dirty="0">
                <a:solidFill>
                  <a:srgbClr val="00B050"/>
                </a:solidFill>
                <a:latin typeface="Lucida Console" panose="020B0609040504020204" pitchFamily="49" charset="0"/>
              </a:rPr>
              <a:t>in</a:t>
            </a:r>
            <a:r>
              <a:rPr lang="en-US" altLang="zh-TW" sz="2220" spc="-9" dirty="0">
                <a:latin typeface="Lucida Console" panose="020B0609040504020204" pitchFamily="49" charset="0"/>
              </a:rPr>
              <a:t> </a:t>
            </a:r>
            <a:r>
              <a:rPr lang="en-US" altLang="zh-TW" sz="2220" spc="-9" dirty="0" err="1">
                <a:latin typeface="Lucida Console" panose="020B0609040504020204" pitchFamily="49" charset="0"/>
              </a:rPr>
              <a:t>dir</a:t>
            </a:r>
            <a:r>
              <a:rPr lang="en-US" altLang="zh-TW" sz="2220" spc="-9" dirty="0">
                <a:latin typeface="Lucida Console" panose="020B0609040504020204" pitchFamily="49" charset="0"/>
              </a:rPr>
              <a:t>(</a:t>
            </a:r>
            <a:r>
              <a:rPr lang="en-US" altLang="zh-TW" sz="2220" spc="-9" dirty="0">
                <a:solidFill>
                  <a:srgbClr val="00B050"/>
                </a:solidFill>
                <a:latin typeface="Lucida Console" panose="020B0609040504020204" pitchFamily="49" charset="0"/>
              </a:rPr>
              <a:t>list</a:t>
            </a:r>
            <a:r>
              <a:rPr lang="en-US" altLang="zh-TW" sz="2220" spc="-9" dirty="0">
                <a:latin typeface="Lucida Console" panose="020B0609040504020204" pitchFamily="49" charset="0"/>
              </a:rPr>
              <a:t>)</a:t>
            </a:r>
            <a:r>
              <a:rPr lang="en-US" altLang="zh-TW" sz="2220" spc="-9" dirty="0">
                <a:solidFill>
                  <a:srgbClr val="FF6969"/>
                </a:solidFill>
                <a:latin typeface="Lucida Console" panose="020B0609040504020204" pitchFamily="49" charset="0"/>
              </a:rPr>
              <a:t> # list also has a sort method:</a:t>
            </a:r>
            <a:endParaRPr lang="en-US" altLang="zh-TW" sz="2220" spc="-9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rgbClr val="00B05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0" spc="-9" dirty="0">
                <a:latin typeface="Lucida Console" panose="020B0609040504020204" pitchFamily="49" charset="0"/>
              </a:rPr>
              <a:t> </a:t>
            </a:r>
            <a:r>
              <a:rPr lang="en-US" altLang="zh-TW" sz="2220" spc="-9" dirty="0" err="1">
                <a:latin typeface="Lucida Console" panose="020B0609040504020204" pitchFamily="49" charset="0"/>
              </a:rPr>
              <a:t>L.sort</a:t>
            </a:r>
            <a:r>
              <a:rPr lang="en-US" altLang="zh-TW" sz="2220" spc="-9" dirty="0">
                <a:latin typeface="Lucida Console" panose="020B0609040504020204" pitchFamily="49" charset="0"/>
              </a:rPr>
              <a:t>() </a:t>
            </a:r>
            <a:r>
              <a:rPr lang="en-US" altLang="zh-TW" sz="2220" spc="-9" dirty="0">
                <a:solidFill>
                  <a:srgbClr val="FF6969"/>
                </a:solidFill>
                <a:latin typeface="Lucida Console" panose="020B0609040504020204" pitchFamily="49" charset="0"/>
              </a:rPr>
              <a:t># See that </a:t>
            </a:r>
            <a:r>
              <a:rPr lang="en-US" altLang="zh-TW" sz="2220" spc="-9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list.sort</a:t>
            </a:r>
            <a:r>
              <a:rPr lang="en-US" altLang="zh-TW" sz="2220" spc="-9" dirty="0">
                <a:solidFill>
                  <a:srgbClr val="FF6969"/>
                </a:solidFill>
                <a:latin typeface="Lucida Console" panose="020B0609040504020204" pitchFamily="49" charset="0"/>
              </a:rPr>
              <a:t>() gives no output:</a:t>
            </a:r>
            <a:endParaRPr lang="en-US" altLang="zh-TW" sz="2220" spc="-9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0" spc="-9" dirty="0">
                <a:latin typeface="Lucida Console" panose="020B0609040504020204" pitchFamily="49" charset="0"/>
              </a:rPr>
              <a:t> L </a:t>
            </a:r>
            <a:r>
              <a:rPr lang="en-US" altLang="zh-TW" sz="2220" spc="-9" dirty="0">
                <a:solidFill>
                  <a:srgbClr val="FF6969"/>
                </a:solidFill>
                <a:latin typeface="Lucida Console" panose="020B0609040504020204" pitchFamily="49" charset="0"/>
              </a:rPr>
              <a:t># Instead, it changes the object, in-place:</a:t>
            </a:r>
            <a:endParaRPr lang="en-US" altLang="zh-TW" sz="2220" spc="-9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it-IT" altLang="zh-TW" sz="2220" spc="-9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[' ', 'd', 'e', 'h', 'l', 'l', 'l', 'o', 'o', 'r', 'w']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0" spc="-9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spc="-9" dirty="0">
                <a:latin typeface="Lucida Console" panose="020B0609040504020204" pitchFamily="49" charset="0"/>
              </a:rPr>
              <a:t> T=(*"hello world",); T </a:t>
            </a:r>
            <a:r>
              <a:rPr lang="en-US" altLang="zh-TW" sz="2220" spc="-9" dirty="0">
                <a:solidFill>
                  <a:srgbClr val="FF6969"/>
                </a:solidFill>
                <a:latin typeface="Lucida Console" panose="020B0609040504020204" pitchFamily="49" charset="0"/>
              </a:rPr>
              <a:t># Let’s try with a tuple:</a:t>
            </a:r>
            <a:endParaRPr lang="en-US" altLang="zh-TW" sz="2220" spc="-9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it-IT" altLang="zh-TW" sz="2220" spc="-9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('h', 'e', 'l', 'l', 'o', ' ', 'w', 'o', 'r', 'l', 'd')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0" spc="-9" dirty="0">
                <a:latin typeface="Lucida Console" panose="020B0609040504020204" pitchFamily="49" charset="0"/>
              </a:rPr>
              <a:t> </a:t>
            </a:r>
            <a:r>
              <a:rPr lang="en-US" altLang="zh-TW" sz="2220" spc="-9" dirty="0" err="1">
                <a:latin typeface="Lucida Console" panose="020B0609040504020204" pitchFamily="49" charset="0"/>
              </a:rPr>
              <a:t>T.sort</a:t>
            </a:r>
            <a:r>
              <a:rPr lang="en-US" altLang="zh-TW" sz="2220" spc="-9" dirty="0">
                <a:latin typeface="Lucida Console" panose="020B0609040504020204" pitchFamily="49" charset="0"/>
              </a:rPr>
              <a:t>() </a:t>
            </a:r>
            <a:r>
              <a:rPr lang="en-US" altLang="zh-TW" sz="2220" spc="-9" dirty="0">
                <a:solidFill>
                  <a:srgbClr val="FF6969"/>
                </a:solidFill>
                <a:latin typeface="Lucida Console" panose="020B0609040504020204" pitchFamily="49" charset="0"/>
              </a:rPr>
              <a:t># Tuples are immutable, so:</a:t>
            </a:r>
            <a:endParaRPr lang="en-US" altLang="zh-TW" sz="2220" spc="-9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spc="-9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220" spc="-9" dirty="0">
                <a:solidFill>
                  <a:srgbClr val="FFCC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rgbClr val="FFCC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220" spc="-9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220" spc="-9" dirty="0">
                <a:solidFill>
                  <a:srgbClr val="FFCC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spc="-9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AttributeError</a:t>
            </a:r>
            <a:r>
              <a:rPr lang="en-US" altLang="zh-TW" sz="2220" spc="-9" dirty="0">
                <a:solidFill>
                  <a:srgbClr val="FFCCCC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spc="-9" dirty="0">
                <a:solidFill>
                  <a:srgbClr val="FF6969"/>
                </a:solidFill>
                <a:latin typeface="Lucida Console" panose="020B0609040504020204" pitchFamily="49" charset="0"/>
              </a:rPr>
              <a:t>'tuple' object has no attribute 'sort'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0" spc="-9" dirty="0">
                <a:latin typeface="Lucida Console" panose="020B0609040504020204" pitchFamily="49" charset="0"/>
              </a:rPr>
              <a:t> sorted(T)</a:t>
            </a:r>
            <a:r>
              <a:rPr lang="en-US" altLang="zh-TW" sz="2220" spc="-9" dirty="0">
                <a:solidFill>
                  <a:srgbClr val="FF6969"/>
                </a:solidFill>
                <a:latin typeface="Lucida Console" panose="020B0609040504020204" pitchFamily="49" charset="0"/>
              </a:rPr>
              <a:t> # Why does this work?</a:t>
            </a:r>
            <a:endParaRPr lang="en-US" altLang="zh-TW" sz="2220" spc="-9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it-IT" altLang="zh-TW" sz="2220" b="1" spc="-9" dirty="0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it-IT" altLang="zh-TW" sz="2220" spc="-9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 ', 'd', 'e', 'h', 'l', 'l', 'l', 'o', 'o', 'r', 'w'</a:t>
            </a:r>
            <a:r>
              <a:rPr lang="it-IT" altLang="zh-TW" sz="2220" b="1" spc="-9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spc="-9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0" b="1" spc="-9" dirty="0">
                <a:solidFill>
                  <a:schemeClr val="accent2"/>
                </a:solidFill>
                <a:latin typeface="Lucida Console" panose="020B0609040504020204" pitchFamily="49" charset="0"/>
              </a:rPr>
              <a:t>#sorted creates a </a:t>
            </a:r>
            <a:r>
              <a:rPr lang="en-US" altLang="zh-TW" sz="2220" b="1" spc="-9" dirty="0">
                <a:solidFill>
                  <a:srgbClr val="FF0000"/>
                </a:solidFill>
                <a:latin typeface="Lucida Console" panose="020B0609040504020204" pitchFamily="49" charset="0"/>
              </a:rPr>
              <a:t>list</a:t>
            </a:r>
            <a:r>
              <a:rPr lang="en-US" altLang="zh-TW" sz="2220" b="1" spc="-9" dirty="0">
                <a:solidFill>
                  <a:schemeClr val="accent2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sz="1851" b="1" spc="-9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0" b="1" spc="-9" dirty="0">
                <a:solidFill>
                  <a:schemeClr val="accent2"/>
                </a:solidFill>
                <a:latin typeface="Lucida Console" panose="020B0609040504020204" pitchFamily="49" charset="0"/>
              </a:rPr>
              <a:t>It does</a:t>
            </a:r>
            <a:r>
              <a:rPr lang="en-US" altLang="zh-TW" sz="2220" b="1" spc="-278" dirty="0">
                <a:solidFill>
                  <a:schemeClr val="accent2"/>
                </a:solidFill>
                <a:latin typeface="Lucida Console" panose="020B0609040504020204" pitchFamily="49" charset="0"/>
              </a:rPr>
              <a:t>n’</a:t>
            </a:r>
            <a:r>
              <a:rPr lang="en-US" altLang="zh-TW" sz="2220" b="1" spc="-9" dirty="0">
                <a:solidFill>
                  <a:schemeClr val="accent2"/>
                </a:solidFill>
                <a:latin typeface="Lucida Console" panose="020B0609040504020204" pitchFamily="49" charset="0"/>
              </a:rPr>
              <a:t>t change the objec</a:t>
            </a:r>
            <a:r>
              <a:rPr lang="en-US" altLang="zh-TW" sz="2220" b="1" spc="-185" dirty="0">
                <a:solidFill>
                  <a:schemeClr val="accent2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0" b="1" spc="-9" dirty="0">
                <a:solidFill>
                  <a:schemeClr val="accent2"/>
                </a:solidFill>
                <a:latin typeface="Lucida Console" panose="020B0609040504020204" pitchFamily="49" charset="0"/>
              </a:rPr>
              <a:t>.</a:t>
            </a:r>
            <a:endParaRPr lang="zh-TW" altLang="en-US" sz="2220" b="1" spc="-9" dirty="0">
              <a:solidFill>
                <a:schemeClr val="accent2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46" y="872"/>
            <a:ext cx="9727897" cy="811446"/>
          </a:xfrm>
          <a:prstGeom prst="rect">
            <a:avLst/>
          </a:prstGeom>
        </p:spPr>
        <p:txBody>
          <a:bodyPr vert="horz" lIns="91365" tIns="45683" rIns="91365" bIns="45683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71" dirty="0">
                <a:solidFill>
                  <a:srgbClr val="0070C0"/>
                </a:solidFill>
              </a:rPr>
              <a:t>Know the difference: </a:t>
            </a:r>
            <a:r>
              <a:rPr lang="en-US" altLang="en-US" sz="3700" dirty="0">
                <a:solidFill>
                  <a:srgbClr val="000000"/>
                </a:solidFill>
                <a:latin typeface="Lucida Console" panose="020B0609040504020204" pitchFamily="49" charset="0"/>
              </a:rPr>
              <a:t>sorted</a:t>
            </a:r>
            <a:r>
              <a:rPr lang="en-US" altLang="en-US" sz="4071" dirty="0">
                <a:solidFill>
                  <a:srgbClr val="0070C0"/>
                </a:solidFill>
              </a:rPr>
              <a:t>  vs </a:t>
            </a:r>
            <a:r>
              <a:rPr lang="en-US" altLang="en-US" sz="3700" dirty="0">
                <a:solidFill>
                  <a:srgbClr val="000000"/>
                </a:solidFill>
                <a:latin typeface="Lucida Console" panose="020B0609040504020204" pitchFamily="49" charset="0"/>
              </a:rPr>
              <a:t>.sort</a:t>
            </a:r>
            <a:endParaRPr lang="en-US" altLang="en-US" sz="4071" dirty="0">
              <a:solidFill>
                <a:srgbClr val="000000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內容版面配置區 2"/>
          <p:cNvSpPr txBox="1">
            <a:spLocks/>
          </p:cNvSpPr>
          <p:nvPr/>
        </p:nvSpPr>
        <p:spPr bwMode="auto">
          <a:xfrm>
            <a:off x="191957" y="869643"/>
            <a:ext cx="795877" cy="5985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590" tIns="42295" rIns="84590" bIns="42295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220" kern="0" spc="-9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220" kern="0" spc="-9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endParaRPr lang="it-IT" altLang="zh-TW" sz="2220" kern="0" spc="-9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kern="0" spc="-9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endParaRPr lang="it-IT" altLang="zh-TW" sz="2220" kern="0" spc="-9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0" kern="0" spc="-9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845864">
              <a:lnSpc>
                <a:spcPct val="90000"/>
              </a:lnSpc>
              <a:spcBef>
                <a:spcPts val="0"/>
              </a:spcBef>
              <a:buNone/>
            </a:pPr>
            <a:endParaRPr lang="en-US" altLang="zh-TW" sz="2220" kern="0" spc="-9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kern="0" spc="-9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kern="0" spc="-9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endParaRPr lang="it-IT" altLang="zh-TW" sz="2220" kern="0" spc="-9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endParaRPr lang="zh-TW" altLang="en-US" sz="2220" kern="0" spc="-9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220" kern="0" spc="-9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endParaRPr lang="it-IT" altLang="zh-TW" sz="2220" kern="0" spc="-9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kern="0" spc="-9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220" kern="0" spc="-9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220" kern="0" spc="-9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220" kern="0" spc="-9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kern="0" spc="-9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220" kern="0" spc="-9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220" kern="0" spc="-9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0" kern="0" spc="-9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45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'reversed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'sum'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_[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0:3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]+[_[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29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33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35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39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],_[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48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]]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abs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chemeClr val="bg1"/>
                </a:solidFill>
                <a:latin typeface="Consolas" panose="020B0609020204030204" pitchFamily="49" charset="0"/>
              </a:rPr>
              <a:t>pow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'sum']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functionsForStandardDataTypes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6694" y="228600"/>
            <a:ext cx="9372600" cy="335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40494" y="-762000"/>
            <a:ext cx="9372600" cy="259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40494" y="2895600"/>
            <a:ext cx="9372600" cy="403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40494" y="4648200"/>
            <a:ext cx="9372600" cy="2209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941094" y="3505200"/>
            <a:ext cx="4757738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4294" y="3352800"/>
            <a:ext cx="3386138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460240" y="3962400"/>
            <a:ext cx="4705192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73894" y="2819400"/>
            <a:ext cx="3386138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40494" y="3962400"/>
            <a:ext cx="452913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77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23071E-6 2.22222E-6 L -0.00392 0.1555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6" y="77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'reversed</a:t>
            </a:r>
            <a:r>
              <a:rPr lang="en-US" sz="2600" spc="-4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4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'slice</a:t>
            </a:r>
            <a:r>
              <a:rPr lang="en-US" sz="2600" spc="-4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4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, 'sum', 'super', 'type',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rgbClr val="BFBFBF"/>
                </a:solidFill>
                <a:latin typeface="Consolas" panose="020B0609020204030204" pitchFamily="49" charset="0"/>
              </a:rPr>
              <a:t>_[0:3]+[_[12],_[29],_[33],_[35],_[39],_[44],_[48]]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['abs', 'all', 'any',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'max', 'min',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'pow ', 'reversed', 'sum']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funct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ionsForStandardDataTypes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'enumerate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'exec',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'exit', 'filter',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'map',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sorted(set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(_)-{'</a:t>
            </a:r>
            <a:r>
              <a:rPr lang="en-US" sz="2600" b="1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','</a:t>
            </a:r>
            <a:r>
              <a:rPr lang="en-US" sz="2600" b="1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help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'})</a:t>
            </a:r>
            <a:endParaRPr lang="en-US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0078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78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'super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'type',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rgbClr val="BFBFBF"/>
                </a:solidFill>
                <a:latin typeface="Consolas" panose="020B0609020204030204" pitchFamily="49" charset="0"/>
              </a:rPr>
              <a:t>_[0:3]+[_[12],_[29],_[33],_[35],_[39],_[44],_[48]]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['abs', 'all', 'any',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'max', 'min',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'pow ', 'reversed', 'sum']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funct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ionsForStandardDataTypes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'enumerate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'exec',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'exit', 'filter',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'map',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sorted(set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(_)-{'</a:t>
            </a:r>
            <a:r>
              <a:rPr lang="en-US" sz="2600" b="1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','</a:t>
            </a:r>
            <a:r>
              <a:rPr lang="en-US" sz="2600" b="1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help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</a:t>
            </a:r>
            <a:endParaRPr lang="en-US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575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"/>
    </mc:Choice>
    <mc:Fallback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20" dirty="0">
                <a:solidFill>
                  <a:srgbClr val="BFBFBF"/>
                </a:solidFill>
                <a:latin typeface="Consolas" panose="020B0609020204030204" pitchFamily="49" charset="0"/>
              </a:rPr>
              <a:t>_[0:3]+[_[12],_[29],_[33],_[35],_[39],_[44],_[48]]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['abs', 'all', 'any',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'max', 'min',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'pow ', 'reversed', 'sum']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funct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ionsForStandardDataTypes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'enumerate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'exec',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'exit', 'filter',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'map',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sorted(set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(_)-{'</a:t>
            </a:r>
            <a:r>
              <a:rPr lang="en-US" sz="2600" b="1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','</a:t>
            </a:r>
            <a:r>
              <a:rPr lang="en-US" sz="2600" b="1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help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'exec', </a:t>
            </a:r>
            <a:endParaRPr lang="en-US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859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"/>
    </mc:Choice>
    <mc:Fallback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'abs', 'all', 'any',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divmod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'max', 'min', 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'pow ', 'reversed', 'sum']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funct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ionsForStandardDataTypes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'enumerate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'exec',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'exit', 'filter',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'map',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sorted(set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(_)-{'</a:t>
            </a:r>
            <a:r>
              <a:rPr lang="en-US" sz="2600" b="1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','</a:t>
            </a:r>
            <a:r>
              <a:rPr lang="en-US" sz="2600" b="1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help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endParaRPr lang="en-US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633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"/>
    </mc:Choice>
    <mc:Fallback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'pow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'reversed', 'sum']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funct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ionsForStandardDataTypes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'enumerate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'exec',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'exit', 'filter',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'map',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sorted(set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(_)-{'</a:t>
            </a:r>
            <a:r>
              <a:rPr lang="en-US" sz="2600" b="1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','</a:t>
            </a:r>
            <a:r>
              <a:rPr lang="en-US" sz="2600" b="1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help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endParaRPr lang="en-US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983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"/>
    </mc:Choice>
    <mc:Fallback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functionsForStandardDataTypes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 sorted({*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'enumerate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'exec',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'exit', 'filter',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'map',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sorted(set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(_)-{'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help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'})</a:t>
            </a:r>
            <a:endParaRPr lang="en-US" sz="260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'credits', 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281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"/>
    </mc:Choice>
    <mc:Fallback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sorted({*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builtins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}-{*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typeConversions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}-{*_})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'enumerate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'exec',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'exit', 'filter',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'map',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sorted(set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(_)-{'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help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'})</a:t>
            </a:r>
            <a:endParaRPr lang="en-US" sz="260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'credits', 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384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"/>
    </mc:Choice>
    <mc:Fallback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'callable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'enumerate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'exec',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'exit', 'filter',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'map',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sorted(set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(_)-{'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help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'})</a:t>
            </a:r>
            <a:endParaRPr lang="en-US" sz="260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'enumerate',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406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"/>
    </mc:Choice>
    <mc:Fallback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'credits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'enumerate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'exec',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'exit', 'filter',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'map',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sorted(set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(_)-{'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help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'})</a:t>
            </a:r>
            <a:endParaRPr lang="en-US" sz="260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'enumerate',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']</a:t>
            </a:r>
            <a:endParaRPr lang="en-US" sz="2600" spc="-100" dirty="0">
              <a:solidFill>
                <a:prstClr val="white">
                  <a:lumMod val="75000"/>
                </a:prst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15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"/>
    </mc:Choice>
    <mc:Fallback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'exec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'exit', 'filter',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'map',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sorted(set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(_)-{'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help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'})</a:t>
            </a:r>
            <a:endParaRPr lang="en-US" sz="260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'enumerate',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builtinsThatWeWillStillNeedToTalkAboutLater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prstClr val="black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7510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88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'map',</a:t>
            </a:r>
            <a:r>
              <a:rPr lang="en-US" sz="24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sorted(set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(_)-{'</a:t>
            </a:r>
            <a:r>
              <a:rPr lang="en-US" sz="2600" spc="-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help</a:t>
            </a:r>
            <a:r>
              <a:rPr lang="en-US" sz="260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'})</a:t>
            </a:r>
            <a:endParaRPr lang="en-US" sz="260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'enumerate',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 smtClean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 smtClean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builtinsThatWeWillStillNeedToTalkAboutLater</a:t>
            </a:r>
            <a:r>
              <a:rPr lang="en-US" sz="2600" spc="-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endParaRPr lang="en-US" sz="260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prstClr val="black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 smtClean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n</a:t>
            </a:r>
            <a:r>
              <a:rPr lang="en-US" altLang="en-US" sz="4200" spc="-100" dirty="0" smtClean="0">
                <a:solidFill>
                  <a:srgbClr val="0070C0"/>
                </a:solidFill>
              </a:rPr>
              <a:t>ct</a:t>
            </a:r>
            <a:r>
              <a:rPr lang="en-US" altLang="en-US" sz="4200" spc="-200" dirty="0" smtClean="0">
                <a:solidFill>
                  <a:srgbClr val="0070C0"/>
                </a:solidFill>
              </a:rPr>
              <a:t>ions</a:t>
            </a:r>
            <a:endParaRPr lang="en-US" altLang="en-US" sz="4200" spc="-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96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  <a:ln>
            <a:solidFill>
              <a:srgbClr val="417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600" dirty="0">
                <a:solidFill>
                  <a:prstClr val="black"/>
                </a:solidFill>
              </a:rPr>
              <a:t>% </a:t>
            </a:r>
            <a:r>
              <a:rPr lang="en-US" sz="2600" dirty="0">
                <a:solidFill>
                  <a:prstClr val="white"/>
                </a:solidFill>
              </a:rPr>
              <a:t>python3</a:t>
            </a:r>
          </a:p>
          <a:p>
            <a:r>
              <a:rPr lang="en-US" sz="2600" dirty="0">
                <a:solidFill>
                  <a:prstClr val="white"/>
                </a:solidFill>
              </a:rPr>
              <a:t>Python 3.6.1 (default, Mar 21 2017, 21:49:16)</a:t>
            </a:r>
          </a:p>
          <a:p>
            <a:r>
              <a:rPr lang="en-US" sz="2600" dirty="0">
                <a:solidFill>
                  <a:prstClr val="white"/>
                </a:solidFill>
              </a:rPr>
              <a:t>[GCC 5.4.0] on </a:t>
            </a:r>
            <a:r>
              <a:rPr lang="en-US" sz="2600" dirty="0" err="1">
                <a:solidFill>
                  <a:prstClr val="white"/>
                </a:solidFill>
              </a:rPr>
              <a:t>cygwin</a:t>
            </a:r>
            <a:endParaRPr lang="en-US" sz="2600" dirty="0">
              <a:solidFill>
                <a:prstClr val="white"/>
              </a:solidFill>
            </a:endParaRPr>
          </a:p>
          <a:p>
            <a:r>
              <a:rPr lang="en-US" sz="2600" dirty="0">
                <a:solidFill>
                  <a:prstClr val="white"/>
                </a:solidFill>
              </a:rPr>
              <a:t>Type "help", "copyright", or "license" for more information</a:t>
            </a:r>
          </a:p>
          <a:p>
            <a:r>
              <a:rPr lang="en-US" altLang="zh-TW" sz="2600" dirty="0">
                <a:solidFill>
                  <a:prstClr val="black"/>
                </a:solidFill>
              </a:rPr>
              <a:t>&gt;&gt;&gt; </a:t>
            </a:r>
            <a:r>
              <a:rPr lang="en-US" sz="2600" dirty="0">
                <a:solidFill>
                  <a:prstClr val="white"/>
                </a:solidFill>
              </a:rPr>
              <a:t>help </a:t>
            </a:r>
          </a:p>
          <a:p>
            <a:r>
              <a:rPr lang="en-US" sz="2600" dirty="0">
                <a:solidFill>
                  <a:prstClr val="white"/>
                </a:solidFill>
              </a:rPr>
              <a:t>Type help() for interactive help, or help(object) for help about object.</a:t>
            </a:r>
            <a:endParaRPr lang="en-US" altLang="zh-TW" sz="2600" dirty="0">
              <a:solidFill>
                <a:prstClr val="white"/>
              </a:solidFill>
            </a:endParaRPr>
          </a:p>
          <a:p>
            <a:r>
              <a:rPr lang="en-US" altLang="zh-TW" sz="2600" dirty="0">
                <a:solidFill>
                  <a:prstClr val="black"/>
                </a:solidFill>
              </a:rPr>
              <a:t>&gt;&gt;&gt; </a:t>
            </a:r>
            <a:r>
              <a:rPr lang="en-US" sz="2600" spc="-40" dirty="0">
                <a:solidFill>
                  <a:prstClr val="white"/>
                </a:solidFill>
              </a:rPr>
              <a:t>help (</a:t>
            </a:r>
            <a:r>
              <a:rPr lang="en-US" sz="2600" spc="-40" dirty="0" err="1">
                <a:solidFill>
                  <a:prstClr val="white"/>
                </a:solidFill>
              </a:rPr>
              <a:t>dir</a:t>
            </a:r>
            <a:r>
              <a:rPr lang="en-US" sz="2600" spc="-40" dirty="0">
                <a:solidFill>
                  <a:prstClr val="white"/>
                </a:solidFill>
              </a:rPr>
              <a:t>)</a:t>
            </a:r>
            <a:r>
              <a:rPr lang="en-US" sz="2600" spc="-4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When I hit enter, I will view the </a:t>
            </a:r>
            <a:r>
              <a:rPr lang="en-US" sz="2600" spc="-40" dirty="0" err="1">
                <a:solidFill>
                  <a:srgbClr val="FFC000">
                    <a:lumMod val="40000"/>
                    <a:lumOff val="60000"/>
                  </a:srgbClr>
                </a:solidFill>
              </a:rPr>
              <a:t>dir</a:t>
            </a:r>
            <a:r>
              <a:rPr lang="en-US" sz="2600" spc="-40" dirty="0">
                <a:solidFill>
                  <a:srgbClr val="FFC000">
                    <a:lumMod val="40000"/>
                    <a:lumOff val="60000"/>
                  </a:srgbClr>
                </a:solidFill>
              </a:rPr>
              <a:t>() function’s help page </a:t>
            </a:r>
            <a:endParaRPr lang="en-US" sz="2600" spc="-40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9" y="688770"/>
            <a:ext cx="640123" cy="6169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altLang="zh-TW" sz="2600" dirty="0">
                <a:solidFill>
                  <a:prstClr val="white">
                    <a:lumMod val="50000"/>
                  </a:prstClr>
                </a:solidFill>
              </a:rPr>
              <a:t>%</a:t>
            </a:r>
          </a:p>
          <a:p>
            <a:endParaRPr lang="en-US" altLang="zh-TW" sz="2600" dirty="0">
              <a:solidFill>
                <a:prstClr val="white">
                  <a:lumMod val="50000"/>
                </a:prstClr>
              </a:solidFill>
            </a:endParaRPr>
          </a:p>
          <a:p>
            <a:endParaRPr lang="en-US" altLang="zh-TW" sz="2600" dirty="0">
              <a:solidFill>
                <a:prstClr val="white">
                  <a:lumMod val="50000"/>
                </a:prstClr>
              </a:solidFill>
            </a:endParaRPr>
          </a:p>
          <a:p>
            <a:endParaRPr lang="en-US" altLang="zh-TW" sz="2600" dirty="0">
              <a:solidFill>
                <a:prstClr val="white">
                  <a:lumMod val="50000"/>
                </a:prstClr>
              </a:solidFill>
            </a:endParaRPr>
          </a:p>
          <a:p>
            <a:r>
              <a:rPr lang="en-US" altLang="zh-TW" sz="260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endParaRPr lang="en-US" sz="2600" dirty="0">
              <a:solidFill>
                <a:prstClr val="white"/>
              </a:solidFill>
            </a:endParaRPr>
          </a:p>
          <a:p>
            <a:endParaRPr lang="en-US" altLang="zh-TW" sz="2600" dirty="0">
              <a:solidFill>
                <a:prstClr val="white"/>
              </a:solidFill>
            </a:endParaRPr>
          </a:p>
          <a:p>
            <a:r>
              <a:rPr lang="en-US" altLang="zh-TW" sz="260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</a:p>
        </p:txBody>
      </p:sp>
      <p:sp>
        <p:nvSpPr>
          <p:cNvPr id="2" name="Oval 1"/>
          <p:cNvSpPr/>
          <p:nvPr/>
        </p:nvSpPr>
        <p:spPr>
          <a:xfrm>
            <a:off x="90309" y="1828802"/>
            <a:ext cx="1666875" cy="5955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4646852" y="2628902"/>
            <a:ext cx="1838426" cy="5955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The Built-in help</a:t>
            </a:r>
            <a:r>
              <a:rPr lang="en-US" altLang="en-US" sz="4400" b="1" dirty="0">
                <a:solidFill>
                  <a:srgbClr val="0070C0"/>
                </a:solidFill>
                <a:latin typeface="Bahnschrift" panose="020B0502040204020203" pitchFamily="34" charset="0"/>
              </a:rPr>
              <a:t>(</a:t>
            </a:r>
            <a:r>
              <a:rPr lang="en-US" altLang="en-US" sz="3200" b="1" dirty="0">
                <a:solidFill>
                  <a:srgbClr val="0070C0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4400" b="1" dirty="0">
                <a:solidFill>
                  <a:srgbClr val="0070C0"/>
                </a:solidFill>
                <a:latin typeface="Bahnschrift" panose="020B0502040204020203" pitchFamily="34" charset="0"/>
              </a:rPr>
              <a:t>)</a:t>
            </a:r>
            <a:r>
              <a:rPr lang="en-US" altLang="en-US" sz="4400" dirty="0">
                <a:solidFill>
                  <a:srgbClr val="0070C0"/>
                </a:solidFill>
              </a:rPr>
              <a:t> Function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71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8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600" spc="-30" dirty="0">
                <a:solidFill>
                  <a:prstClr val="white"/>
                </a:solidFill>
              </a:rPr>
              <a:t>Help on built-in function </a:t>
            </a:r>
            <a:r>
              <a:rPr lang="en-US" sz="2600" spc="-30" dirty="0" err="1">
                <a:solidFill>
                  <a:prstClr val="white"/>
                </a:solidFill>
              </a:rPr>
              <a:t>dir</a:t>
            </a:r>
            <a:r>
              <a:rPr lang="en-US" sz="2600" spc="-30" dirty="0">
                <a:solidFill>
                  <a:prstClr val="white"/>
                </a:solidFill>
              </a:rPr>
              <a:t> in module </a:t>
            </a:r>
            <a:r>
              <a:rPr lang="en-US" sz="2600" spc="-30" dirty="0" err="1">
                <a:solidFill>
                  <a:prstClr val="white"/>
                </a:solidFill>
              </a:rPr>
              <a:t>builtins</a:t>
            </a:r>
            <a:r>
              <a:rPr lang="en-US" sz="2600" spc="-30" dirty="0">
                <a:solidFill>
                  <a:prstClr val="white"/>
                </a:solidFill>
              </a:rPr>
              <a:t>:</a:t>
            </a:r>
          </a:p>
          <a:p>
            <a:endParaRPr lang="en-US" sz="2000" spc="-30" dirty="0">
              <a:solidFill>
                <a:prstClr val="white"/>
              </a:solidFill>
            </a:endParaRPr>
          </a:p>
          <a:p>
            <a:r>
              <a:rPr lang="en-US" sz="2600" b="1" spc="-30" dirty="0" err="1">
                <a:solidFill>
                  <a:prstClr val="white"/>
                </a:solidFill>
              </a:rPr>
              <a:t>dir</a:t>
            </a:r>
            <a:r>
              <a:rPr lang="en-US" sz="2600" spc="-30" dirty="0">
                <a:solidFill>
                  <a:prstClr val="white"/>
                </a:solidFill>
              </a:rPr>
              <a:t>(...)</a:t>
            </a:r>
          </a:p>
          <a:p>
            <a:r>
              <a:rPr lang="en-US" sz="2600" spc="-30" dirty="0">
                <a:solidFill>
                  <a:prstClr val="white"/>
                </a:solidFill>
              </a:rPr>
              <a:t>    </a:t>
            </a:r>
            <a:r>
              <a:rPr lang="en-US" sz="2600" spc="-30" dirty="0" err="1">
                <a:solidFill>
                  <a:prstClr val="white"/>
                </a:solidFill>
              </a:rPr>
              <a:t>dir</a:t>
            </a:r>
            <a:r>
              <a:rPr lang="en-US" sz="2600" spc="-30" dirty="0">
                <a:solidFill>
                  <a:prstClr val="white"/>
                </a:solidFill>
              </a:rPr>
              <a:t>([object]) -&gt; list of strings</a:t>
            </a:r>
          </a:p>
          <a:p>
            <a:endParaRPr lang="en-US" spc="-30" dirty="0">
              <a:solidFill>
                <a:prstClr val="white"/>
              </a:solidFill>
            </a:endParaRPr>
          </a:p>
          <a:p>
            <a:r>
              <a:rPr lang="en-US" sz="2600" spc="-30" dirty="0">
                <a:solidFill>
                  <a:prstClr val="white"/>
                </a:solidFill>
              </a:rPr>
              <a:t>    If called without an argument, return the names in the current scope.</a:t>
            </a:r>
          </a:p>
          <a:p>
            <a:r>
              <a:rPr lang="en-US" sz="2600" spc="-30" dirty="0">
                <a:solidFill>
                  <a:prstClr val="white"/>
                </a:solidFill>
              </a:rPr>
              <a:t>    Else, return an alphabetized list of names comprising (some of) the </a:t>
            </a:r>
            <a:br>
              <a:rPr lang="en-US" sz="2600" spc="-30" dirty="0">
                <a:solidFill>
                  <a:prstClr val="white"/>
                </a:solidFill>
              </a:rPr>
            </a:br>
            <a:r>
              <a:rPr lang="en-US" sz="2600" spc="-30" dirty="0">
                <a:solidFill>
                  <a:prstClr val="white"/>
                </a:solidFill>
              </a:rPr>
              <a:t>    attributes of the given object, and of attributes reachable from it.</a:t>
            </a:r>
          </a:p>
          <a:p>
            <a:r>
              <a:rPr lang="en-US" sz="2600" spc="-30" dirty="0">
                <a:solidFill>
                  <a:prstClr val="white"/>
                </a:solidFill>
              </a:rPr>
              <a:t>    If the object supplies a method named __</a:t>
            </a:r>
            <a:r>
              <a:rPr lang="en-US" sz="2600" spc="-30" dirty="0" err="1">
                <a:solidFill>
                  <a:prstClr val="white"/>
                </a:solidFill>
              </a:rPr>
              <a:t>dir</a:t>
            </a:r>
            <a:r>
              <a:rPr lang="en-US" sz="2600" spc="-30" dirty="0">
                <a:solidFill>
                  <a:prstClr val="white"/>
                </a:solidFill>
              </a:rPr>
              <a:t>__, it will be used;   </a:t>
            </a:r>
            <a:br>
              <a:rPr lang="en-US" sz="2600" spc="-30" dirty="0">
                <a:solidFill>
                  <a:prstClr val="white"/>
                </a:solidFill>
              </a:rPr>
            </a:br>
            <a:r>
              <a:rPr lang="en-US" sz="2600" spc="-30" dirty="0">
                <a:solidFill>
                  <a:prstClr val="white"/>
                </a:solidFill>
              </a:rPr>
              <a:t>    otherwise the default </a:t>
            </a:r>
            <a:r>
              <a:rPr lang="en-US" sz="2600" spc="-30" dirty="0" err="1">
                <a:solidFill>
                  <a:prstClr val="white"/>
                </a:solidFill>
              </a:rPr>
              <a:t>dir</a:t>
            </a:r>
            <a:r>
              <a:rPr lang="en-US" sz="2600" spc="-30" dirty="0">
                <a:solidFill>
                  <a:prstClr val="white"/>
                </a:solidFill>
              </a:rPr>
              <a:t>() logic is used and returns:</a:t>
            </a:r>
          </a:p>
          <a:p>
            <a:r>
              <a:rPr lang="en-US" sz="2600" spc="-30" dirty="0">
                <a:solidFill>
                  <a:prstClr val="white"/>
                </a:solidFill>
              </a:rPr>
              <a:t>       for a module object: the module's attributes.</a:t>
            </a:r>
          </a:p>
          <a:p>
            <a:r>
              <a:rPr lang="en-US" sz="2600" spc="-30" dirty="0">
                <a:solidFill>
                  <a:prstClr val="white"/>
                </a:solidFill>
              </a:rPr>
              <a:t>       for a </a:t>
            </a:r>
            <a:r>
              <a:rPr lang="en-US" sz="2600" spc="-30" dirty="0">
                <a:solidFill>
                  <a:srgbClr val="FFFFFF"/>
                </a:solidFill>
              </a:rPr>
              <a:t>class</a:t>
            </a:r>
            <a:r>
              <a:rPr lang="en-US" sz="2600" spc="-30" dirty="0">
                <a:solidFill>
                  <a:prstClr val="white"/>
                </a:solidFill>
              </a:rPr>
              <a:t> object:  its attributes, and recursively the attributes</a:t>
            </a:r>
          </a:p>
          <a:p>
            <a:r>
              <a:rPr lang="en-US" sz="2600" spc="-30" dirty="0">
                <a:solidFill>
                  <a:prstClr val="white"/>
                </a:solidFill>
              </a:rPr>
              <a:t>          of its bases.</a:t>
            </a:r>
          </a:p>
          <a:p>
            <a:r>
              <a:rPr lang="en-US" sz="2600" spc="-30" dirty="0">
                <a:solidFill>
                  <a:prstClr val="white"/>
                </a:solidFill>
              </a:rPr>
              <a:t>      for any other object: its attributes, its class's attributes, and</a:t>
            </a:r>
          </a:p>
          <a:p>
            <a:r>
              <a:rPr lang="en-US" sz="2600" spc="-30" dirty="0">
                <a:solidFill>
                  <a:prstClr val="white"/>
                </a:solidFill>
              </a:rPr>
              <a:t>         recursively the attributes of its class's base classes.</a:t>
            </a:r>
          </a:p>
          <a:p>
            <a:endParaRPr lang="en-US" sz="2600" spc="-30" dirty="0">
              <a:solidFill>
                <a:prstClr val="white">
                  <a:lumMod val="50000"/>
                </a:prstClr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4926" y="6475228"/>
            <a:ext cx="789468" cy="382772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600" spc="-50" dirty="0">
                <a:solidFill>
                  <a:prstClr val="black"/>
                </a:solidFill>
              </a:rPr>
              <a:t>(END)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The Built-in </a:t>
            </a:r>
            <a:r>
              <a:rPr lang="en-US" altLang="en-US" sz="4400" dirty="0" err="1">
                <a:solidFill>
                  <a:srgbClr val="0070C0"/>
                </a:solidFill>
              </a:rPr>
              <a:t>dir</a:t>
            </a:r>
            <a:r>
              <a:rPr lang="en-US" altLang="en-US" sz="4400" b="1" dirty="0">
                <a:solidFill>
                  <a:srgbClr val="0070C0"/>
                </a:solidFill>
                <a:latin typeface="Bahnschrift" panose="020B0502040204020203" pitchFamily="34" charset="0"/>
              </a:rPr>
              <a:t>(</a:t>
            </a:r>
            <a:r>
              <a:rPr lang="en-US" altLang="en-US" sz="3200" b="1" dirty="0">
                <a:solidFill>
                  <a:srgbClr val="0070C0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4400" b="1" dirty="0">
                <a:solidFill>
                  <a:srgbClr val="0070C0"/>
                </a:solidFill>
                <a:latin typeface="Bahnschrift" panose="020B0502040204020203" pitchFamily="34" charset="0"/>
              </a:rPr>
              <a:t>)</a:t>
            </a:r>
            <a:r>
              <a:rPr lang="en-US" altLang="en-US" sz="4400" dirty="0">
                <a:solidFill>
                  <a:srgbClr val="0070C0"/>
                </a:solidFill>
              </a:rPr>
              <a:t> Function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84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Help on built-in function </a:t>
            </a:r>
            <a:r>
              <a:rPr lang="en-US" sz="2600" spc="-3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dir</a:t>
            </a:r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 in module </a:t>
            </a:r>
            <a:r>
              <a:rPr lang="en-US" sz="2600" spc="-3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builtins</a:t>
            </a:r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:</a:t>
            </a:r>
          </a:p>
          <a:p>
            <a:endParaRPr lang="en-US" sz="2000" spc="-3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r>
              <a:rPr lang="en-US" sz="2600" b="1" spc="-3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dir</a:t>
            </a:r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(...)</a:t>
            </a:r>
          </a:p>
          <a:p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 </a:t>
            </a:r>
            <a:r>
              <a:rPr lang="en-US" sz="2600" spc="-3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dir</a:t>
            </a:r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([object]) -&gt; list of strings</a:t>
            </a:r>
          </a:p>
          <a:p>
            <a:endParaRPr lang="en-US" spc="-3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 If called without an argument, return the names in the current scope.</a:t>
            </a:r>
          </a:p>
          <a:p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 Else, </a:t>
            </a:r>
            <a:r>
              <a:rPr lang="en-US" sz="2600" spc="-30" dirty="0">
                <a:solidFill>
                  <a:prstClr val="white"/>
                </a:solidFill>
              </a:rPr>
              <a:t>return an alphabetized list of names comprising (some of) the </a:t>
            </a:r>
            <a:br>
              <a:rPr lang="en-US" sz="2600" spc="-30" dirty="0">
                <a:solidFill>
                  <a:prstClr val="white"/>
                </a:solidFill>
              </a:rPr>
            </a:br>
            <a:r>
              <a:rPr lang="en-US" sz="2600" spc="-30" dirty="0">
                <a:solidFill>
                  <a:prstClr val="white"/>
                </a:solidFill>
              </a:rPr>
              <a:t>    attributes of the given object</a:t>
            </a:r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and of attributes reachable from it.</a:t>
            </a:r>
          </a:p>
          <a:p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 If the object supplies a method named __</a:t>
            </a:r>
            <a:r>
              <a:rPr lang="en-US" sz="2600" spc="-3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dir</a:t>
            </a:r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__, it will be used;   </a:t>
            </a:r>
            <a:b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 otherwise the default </a:t>
            </a:r>
            <a:r>
              <a:rPr lang="en-US" sz="2600" spc="-3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dir</a:t>
            </a:r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logic is used and returns:</a:t>
            </a:r>
          </a:p>
          <a:p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    for a module object: the module's attributes.</a:t>
            </a:r>
          </a:p>
          <a:p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    for a class object:  its attributes, and recursively the attributes</a:t>
            </a:r>
          </a:p>
          <a:p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       of its bases.</a:t>
            </a:r>
          </a:p>
          <a:p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   for any other object: its attributes, its class's attributes, and</a:t>
            </a:r>
          </a:p>
          <a:p>
            <a:r>
              <a:rPr lang="en-US" sz="2600" spc="-3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      recursively the attributes of its class's base classes.</a:t>
            </a:r>
          </a:p>
          <a:p>
            <a:endParaRPr lang="en-US" sz="2600" spc="-30" dirty="0">
              <a:solidFill>
                <a:prstClr val="white">
                  <a:lumMod val="50000"/>
                </a:prstClr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4926" y="6475228"/>
            <a:ext cx="789468" cy="382772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600" spc="-50" dirty="0">
                <a:solidFill>
                  <a:prstClr val="black"/>
                </a:solidFill>
              </a:rPr>
              <a:t>(END)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The Built-in </a:t>
            </a:r>
            <a:r>
              <a:rPr lang="en-US" altLang="en-US" sz="4400" dirty="0" err="1">
                <a:solidFill>
                  <a:srgbClr val="0070C0"/>
                </a:solidFill>
              </a:rPr>
              <a:t>dir</a:t>
            </a:r>
            <a:r>
              <a:rPr lang="en-US" altLang="en-US" sz="4400" b="1" dirty="0">
                <a:solidFill>
                  <a:srgbClr val="0070C0"/>
                </a:solidFill>
                <a:latin typeface="Bahnschrift" panose="020B0502040204020203" pitchFamily="34" charset="0"/>
              </a:rPr>
              <a:t>(</a:t>
            </a:r>
            <a:r>
              <a:rPr lang="en-US" altLang="en-US" sz="3200" b="1" dirty="0">
                <a:solidFill>
                  <a:srgbClr val="0070C0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4400" b="1" dirty="0">
                <a:solidFill>
                  <a:srgbClr val="0070C0"/>
                </a:solidFill>
                <a:latin typeface="Bahnschrift" panose="020B0502040204020203" pitchFamily="34" charset="0"/>
              </a:rPr>
              <a:t>)</a:t>
            </a:r>
            <a:r>
              <a:rPr lang="en-US" altLang="en-US" sz="4400" dirty="0">
                <a:solidFill>
                  <a:srgbClr val="0070C0"/>
                </a:solidFill>
              </a:rPr>
              <a:t> Function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04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600" dirty="0">
                <a:solidFill>
                  <a:srgbClr val="7F7F7F"/>
                </a:solidFill>
              </a:rPr>
              <a:t>% python3</a:t>
            </a:r>
          </a:p>
          <a:p>
            <a:r>
              <a:rPr lang="en-US" sz="2600" dirty="0">
                <a:solidFill>
                  <a:srgbClr val="7F7F7F"/>
                </a:solidFill>
              </a:rPr>
              <a:t>Python 3.6.1 (default, Mar 21 2017, 21:49:16)</a:t>
            </a:r>
          </a:p>
          <a:p>
            <a:r>
              <a:rPr lang="en-US" sz="2600" dirty="0">
                <a:solidFill>
                  <a:srgbClr val="7F7F7F"/>
                </a:solidFill>
              </a:rPr>
              <a:t>[GCC 5.4.0] on </a:t>
            </a:r>
            <a:r>
              <a:rPr lang="en-US" sz="2600" dirty="0" err="1">
                <a:solidFill>
                  <a:srgbClr val="7F7F7F"/>
                </a:solidFill>
              </a:rPr>
              <a:t>cygwin</a:t>
            </a:r>
            <a:endParaRPr lang="en-US" sz="2600" dirty="0">
              <a:solidFill>
                <a:srgbClr val="7F7F7F"/>
              </a:solidFill>
            </a:endParaRPr>
          </a:p>
          <a:p>
            <a:r>
              <a:rPr lang="en-US" sz="2600" dirty="0">
                <a:solidFill>
                  <a:srgbClr val="7F7F7F"/>
                </a:solidFill>
              </a:rPr>
              <a:t>Type "help", "copyright", or "license" for more information</a:t>
            </a:r>
          </a:p>
          <a:p>
            <a:r>
              <a:rPr lang="en-US" altLang="zh-TW" sz="2600" dirty="0">
                <a:solidFill>
                  <a:srgbClr val="7F7F7F"/>
                </a:solidFill>
              </a:rPr>
              <a:t>&gt;&gt;&gt; </a:t>
            </a:r>
            <a:r>
              <a:rPr lang="en-US" sz="2600" dirty="0">
                <a:solidFill>
                  <a:srgbClr val="7F7F7F"/>
                </a:solidFill>
              </a:rPr>
              <a:t>help</a:t>
            </a:r>
          </a:p>
          <a:p>
            <a:r>
              <a:rPr lang="en-US" sz="2600" dirty="0">
                <a:solidFill>
                  <a:srgbClr val="7F7F7F"/>
                </a:solidFill>
              </a:rPr>
              <a:t>Type help() for interactive help, or help(object) for help about object.</a:t>
            </a:r>
            <a:endParaRPr lang="en-US" altLang="zh-TW" sz="2600" dirty="0">
              <a:solidFill>
                <a:srgbClr val="7F7F7F"/>
              </a:solidFill>
            </a:endParaRPr>
          </a:p>
          <a:p>
            <a:r>
              <a:rPr lang="en-US" altLang="zh-TW" sz="2600" dirty="0">
                <a:solidFill>
                  <a:srgbClr val="7F7F7F"/>
                </a:solidFill>
              </a:rPr>
              <a:t>&gt;&gt;&gt;</a:t>
            </a:r>
            <a:r>
              <a:rPr lang="en-US" altLang="zh-TW" sz="2600" dirty="0">
                <a:solidFill>
                  <a:prstClr val="white"/>
                </a:solidFill>
              </a:rPr>
              <a:t> </a:t>
            </a:r>
            <a:r>
              <a:rPr lang="en-US" sz="2600" spc="-40" dirty="0">
                <a:solidFill>
                  <a:srgbClr val="7F7F7F"/>
                </a:solidFill>
              </a:rPr>
              <a:t>help (</a:t>
            </a:r>
            <a:r>
              <a:rPr lang="en-US" sz="2600" spc="-40" dirty="0" err="1">
                <a:solidFill>
                  <a:srgbClr val="7F7F7F"/>
                </a:solidFill>
              </a:rPr>
              <a:t>dir</a:t>
            </a:r>
            <a:r>
              <a:rPr lang="en-US" sz="2600" spc="-40" dirty="0">
                <a:solidFill>
                  <a:srgbClr val="7F7F7F"/>
                </a:solidFill>
              </a:rPr>
              <a:t>)</a:t>
            </a:r>
            <a:r>
              <a:rPr lang="en-US" sz="2600" spc="-4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</a:t>
            </a:r>
            <a:r>
              <a:rPr lang="en-US" sz="2600" spc="-40" dirty="0">
                <a:solidFill>
                  <a:srgbClr val="967200"/>
                </a:solidFill>
              </a:rPr>
              <a:t># When I hit enter, I will view the </a:t>
            </a:r>
            <a:r>
              <a:rPr lang="en-US" sz="2600" spc="-40" dirty="0" err="1">
                <a:solidFill>
                  <a:srgbClr val="967200"/>
                </a:solidFill>
              </a:rPr>
              <a:t>dir</a:t>
            </a:r>
            <a:r>
              <a:rPr lang="en-US" sz="2600" spc="-40" dirty="0">
                <a:solidFill>
                  <a:srgbClr val="967200"/>
                </a:solidFill>
              </a:rPr>
              <a:t>() function’s help page</a:t>
            </a:r>
          </a:p>
          <a:p>
            <a:endParaRPr lang="en-US" sz="260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prstClr val="black"/>
                </a:solidFill>
              </a:rPr>
              <a:t>&gt;&gt;&gt;</a:t>
            </a:r>
            <a:r>
              <a:rPr lang="en-US" sz="260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50" dirty="0" err="1">
                <a:solidFill>
                  <a:srgbClr val="FFFFFF"/>
                </a:solidFill>
              </a:rPr>
              <a:t>dir</a:t>
            </a:r>
            <a:r>
              <a:rPr lang="en-US" sz="2600" spc="-50" dirty="0">
                <a:solidFill>
                  <a:srgbClr val="FFFFFF"/>
                </a:solidFill>
              </a:rPr>
              <a:t> (tuple) </a:t>
            </a:r>
            <a:r>
              <a:rPr lang="en-US" sz="2600" spc="-50" dirty="0">
                <a:solidFill>
                  <a:srgbClr val="FFC000">
                    <a:lumMod val="40000"/>
                    <a:lumOff val="60000"/>
                  </a:srgbClr>
                </a:solidFill>
              </a:rPr>
              <a:t>#</a:t>
            </a:r>
            <a:r>
              <a:rPr lang="en-US" sz="2600" spc="-60" dirty="0">
                <a:solidFill>
                  <a:srgbClr val="FFC000">
                    <a:lumMod val="40000"/>
                    <a:lumOff val="60000"/>
                  </a:srgbClr>
                </a:solidFill>
              </a:rPr>
              <a:t>This prints junk, but also tuple object methods at the end:</a:t>
            </a:r>
            <a:r>
              <a:rPr lang="en-US" sz="2600" spc="-60" dirty="0">
                <a:solidFill>
                  <a:srgbClr val="FFFFFF"/>
                </a:solidFill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2600" spc="-50" dirty="0">
                <a:solidFill>
                  <a:srgbClr val="FFFFFF"/>
                </a:solidFill>
              </a:rPr>
              <a:t>[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'__add__', '__class__', '__contains__',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delattr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dir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'__doc__',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eq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'__format__',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getattribute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getitem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getnewargs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gt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'__hash__',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init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init_subclass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iter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'__le__', '__len__',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lt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mul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'__ne__', '__new__', '__reduce__',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reduce_ex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repr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rmul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setattr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sizeof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str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subclasshook</a:t>
            </a:r>
            <a:r>
              <a:rPr lang="en-US" sz="2600" spc="-5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</a:t>
            </a:r>
            <a:r>
              <a:rPr lang="en-US" sz="2600" spc="-5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80000"/>
              </a:lnSpc>
            </a:pPr>
            <a:r>
              <a:rPr lang="en-US" sz="2600" spc="-50" dirty="0">
                <a:solidFill>
                  <a:prstClr val="black"/>
                </a:solidFill>
              </a:rPr>
              <a:t>&gt;&gt;&gt;</a:t>
            </a:r>
            <a:r>
              <a:rPr lang="en-US" sz="2600" spc="-5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60" dirty="0">
                <a:solidFill>
                  <a:srgbClr val="FFFFFF"/>
                </a:solidFill>
              </a:rPr>
              <a:t>help(</a:t>
            </a:r>
            <a:r>
              <a:rPr lang="en-US" sz="2600" spc="-60" dirty="0" err="1">
                <a:solidFill>
                  <a:srgbClr val="FFFFFF"/>
                </a:solidFill>
              </a:rPr>
              <a:t>tuple.count</a:t>
            </a:r>
            <a:r>
              <a:rPr lang="en-US" sz="2600" spc="-60" dirty="0">
                <a:solidFill>
                  <a:srgbClr val="FFFFFF"/>
                </a:solidFill>
              </a:rPr>
              <a:t>)</a:t>
            </a:r>
            <a:r>
              <a:rPr lang="en-US" sz="2600" spc="-60" dirty="0">
                <a:solidFill>
                  <a:srgbClr val="FFC000">
                    <a:lumMod val="40000"/>
                    <a:lumOff val="60000"/>
                  </a:srgbClr>
                </a:solidFill>
              </a:rPr>
              <a:t>#One of those 2 methods is count. Let’s see about it.</a:t>
            </a:r>
            <a:r>
              <a:rPr lang="en-US" sz="2600" spc="-6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9" y="688770"/>
            <a:ext cx="640123" cy="6169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altLang="zh-TW" sz="2600" dirty="0">
                <a:solidFill>
                  <a:prstClr val="white">
                    <a:lumMod val="50000"/>
                  </a:prstClr>
                </a:solidFill>
              </a:rPr>
              <a:t>%</a:t>
            </a:r>
          </a:p>
          <a:p>
            <a:endParaRPr lang="en-US" altLang="zh-TW" sz="2600" dirty="0">
              <a:solidFill>
                <a:prstClr val="white">
                  <a:lumMod val="50000"/>
                </a:prstClr>
              </a:solidFill>
            </a:endParaRPr>
          </a:p>
          <a:p>
            <a:endParaRPr lang="en-US" altLang="zh-TW" sz="2600" dirty="0">
              <a:solidFill>
                <a:prstClr val="white">
                  <a:lumMod val="50000"/>
                </a:prstClr>
              </a:solidFill>
            </a:endParaRPr>
          </a:p>
          <a:p>
            <a:endParaRPr lang="en-US" altLang="zh-TW" sz="2600" dirty="0">
              <a:solidFill>
                <a:prstClr val="white">
                  <a:lumMod val="50000"/>
                </a:prstClr>
              </a:solidFill>
            </a:endParaRPr>
          </a:p>
          <a:p>
            <a:r>
              <a:rPr lang="en-US" altLang="zh-TW" sz="260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endParaRPr lang="en-US" sz="2600" dirty="0">
              <a:solidFill>
                <a:prstClr val="white"/>
              </a:solidFill>
            </a:endParaRPr>
          </a:p>
          <a:p>
            <a:endParaRPr lang="en-US" altLang="zh-TW" sz="2600" dirty="0">
              <a:solidFill>
                <a:prstClr val="white"/>
              </a:solidFill>
            </a:endParaRPr>
          </a:p>
          <a:p>
            <a:r>
              <a:rPr lang="en-US" altLang="zh-TW" sz="260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</a:p>
          <a:p>
            <a:endParaRPr lang="en-US" altLang="zh-TW" sz="2000" dirty="0">
              <a:solidFill>
                <a:prstClr val="white"/>
              </a:solidFill>
            </a:endParaRPr>
          </a:p>
          <a:p>
            <a:r>
              <a:rPr lang="en-US" altLang="zh-TW" sz="260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endParaRPr lang="en-US" sz="2600" dirty="0">
              <a:solidFill>
                <a:prstClr val="white"/>
              </a:solidFill>
            </a:endParaRPr>
          </a:p>
          <a:p>
            <a:endParaRPr lang="en-US" altLang="zh-TW" sz="2600" dirty="0">
              <a:solidFill>
                <a:prstClr val="white"/>
              </a:solidFill>
            </a:endParaRPr>
          </a:p>
          <a:p>
            <a:endParaRPr lang="en-US" altLang="zh-TW" sz="2600" dirty="0">
              <a:solidFill>
                <a:prstClr val="white"/>
              </a:solidFill>
            </a:endParaRPr>
          </a:p>
          <a:p>
            <a:endParaRPr lang="en-US" altLang="zh-TW" sz="2600" dirty="0">
              <a:solidFill>
                <a:prstClr val="white"/>
              </a:solidFill>
            </a:endParaRPr>
          </a:p>
          <a:p>
            <a:endParaRPr lang="en-US" altLang="zh-TW" sz="2600" dirty="0">
              <a:solidFill>
                <a:prstClr val="white"/>
              </a:solidFill>
            </a:endParaRPr>
          </a:p>
          <a:p>
            <a:endParaRPr lang="en-US" altLang="zh-TW" sz="1600" dirty="0">
              <a:solidFill>
                <a:prstClr val="white"/>
              </a:solidFill>
            </a:endParaRPr>
          </a:p>
          <a:p>
            <a:r>
              <a:rPr lang="en-US" altLang="zh-TW" sz="260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endParaRPr lang="en-US" sz="2600" dirty="0">
              <a:solidFill>
                <a:prstClr val="white"/>
              </a:solidFill>
            </a:endParaRPr>
          </a:p>
          <a:p>
            <a:endParaRPr lang="en-US" altLang="zh-TW" sz="2600" dirty="0">
              <a:solidFill>
                <a:prstClr val="white"/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874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FFFFFF"/>
                </a:solidFill>
              </a:rPr>
              <a:t>Help on </a:t>
            </a:r>
            <a:r>
              <a:rPr lang="en-US" sz="2600" dirty="0" err="1">
                <a:solidFill>
                  <a:srgbClr val="FFFFFF"/>
                </a:solidFill>
              </a:rPr>
              <a:t>method_descriptor</a:t>
            </a:r>
            <a:r>
              <a:rPr lang="en-US" sz="2600" dirty="0">
                <a:solidFill>
                  <a:srgbClr val="FFFFFF"/>
                </a:solidFill>
              </a:rPr>
              <a:t>:</a:t>
            </a:r>
          </a:p>
          <a:p>
            <a:pPr>
              <a:lnSpc>
                <a:spcPct val="80000"/>
              </a:lnSpc>
            </a:pPr>
            <a:endParaRPr lang="en-US" sz="260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FFFFFF"/>
                </a:solidFill>
              </a:rPr>
              <a:t>count(...)</a:t>
            </a: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FFFFFF"/>
                </a:solidFill>
              </a:rPr>
              <a:t>    </a:t>
            </a:r>
            <a:r>
              <a:rPr lang="en-US" sz="2600" dirty="0" err="1">
                <a:solidFill>
                  <a:srgbClr val="FFFFFF"/>
                </a:solidFill>
              </a:rPr>
              <a:t>T.count</a:t>
            </a:r>
            <a:r>
              <a:rPr lang="en-US" sz="2600" dirty="0">
                <a:solidFill>
                  <a:srgbClr val="FFFFFF"/>
                </a:solidFill>
              </a:rPr>
              <a:t>(value) -&gt; integer -- return number of occurrences of value</a:t>
            </a:r>
          </a:p>
          <a:p>
            <a:pPr>
              <a:lnSpc>
                <a:spcPct val="80000"/>
              </a:lnSpc>
            </a:pP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26" y="6475228"/>
            <a:ext cx="789468" cy="382772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600" spc="-50" dirty="0">
                <a:solidFill>
                  <a:prstClr val="black"/>
                </a:solidFill>
              </a:rPr>
              <a:t>(END)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47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% python3</a:t>
            </a:r>
          </a:p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Python 3.6.1 (default, Mar 21 2017, 21:49:16)</a:t>
            </a:r>
          </a:p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[GCC 5.4.0] on </a:t>
            </a:r>
            <a:r>
              <a:rPr lang="en-US" sz="2600" spc="-70" dirty="0" err="1">
                <a:solidFill>
                  <a:srgbClr val="7F7F7F"/>
                </a:solidFill>
              </a:rPr>
              <a:t>cygwin</a:t>
            </a:r>
            <a:endParaRPr lang="en-US" sz="2600" spc="-70" dirty="0">
              <a:solidFill>
                <a:srgbClr val="7F7F7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Type "help", "copyright", or "license" for more information</a:t>
            </a:r>
          </a:p>
          <a:p>
            <a:pPr>
              <a:lnSpc>
                <a:spcPct val="90000"/>
              </a:lnSpc>
            </a:pPr>
            <a:r>
              <a:rPr lang="en-US" altLang="zh-TW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altLang="zh-TW" sz="26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srgbClr val="7F7F7F"/>
                </a:solidFill>
              </a:rPr>
              <a:t>help</a:t>
            </a:r>
          </a:p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Type help() for interactive help, or help(object) for help about object.</a:t>
            </a:r>
            <a:endParaRPr lang="en-US" altLang="zh-TW" sz="2600" spc="-70" dirty="0">
              <a:solidFill>
                <a:srgbClr val="7F7F7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TW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altLang="zh-TW" sz="26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help (</a:t>
            </a:r>
            <a:r>
              <a:rPr lang="en-US" sz="2600" spc="-70" dirty="0" err="1">
                <a:solidFill>
                  <a:prstClr val="white">
                    <a:lumMod val="50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) # When I hit enter, I will view the </a:t>
            </a:r>
            <a:r>
              <a:rPr lang="en-US" sz="2600" spc="-70" dirty="0" err="1">
                <a:solidFill>
                  <a:prstClr val="white">
                    <a:lumMod val="50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() function’s help page</a:t>
            </a:r>
          </a:p>
          <a:p>
            <a:endParaRPr lang="en-US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(tuple)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This prints junk, but also tuple object methods at the end:</a:t>
            </a:r>
            <a:endParaRPr lang="en-US" sz="2600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/>
                </a:solidFill>
              </a:rPr>
              <a:t>[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'__add__', '__class__', '__contains__',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delattr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'__doc__',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eq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'__format__',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getattribute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getitem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getnewargs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'__hash__',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init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init_subclass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iter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'__le__', '__len__',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mul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'__ne__', '__new__', '__reduce__',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 </a:t>
            </a:r>
            <a:r>
              <a:rPr lang="en-US" sz="2600" spc="-70" dirty="0">
                <a:solidFill>
                  <a:srgbClr val="705500"/>
                </a:solidFill>
              </a:rPr>
              <a:t># One of those 2 methods is count. Let’s see about it.</a:t>
            </a:r>
          </a:p>
          <a:p>
            <a:pPr>
              <a:lnSpc>
                <a:spcPct val="80000"/>
              </a:lnSpc>
            </a:pPr>
            <a:endParaRPr lang="en-US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black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(tuple)[-2:]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#Since the methods are at the end, let’s see just the end: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292" y="6139043"/>
            <a:ext cx="68480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solidFill>
                  <a:srgbClr val="7F7F7F"/>
                </a:solidFill>
              </a:rPr>
              <a:t>&gt;&gt;&gt;</a:t>
            </a:r>
            <a:endParaRPr lang="en-US" sz="2600" dirty="0">
              <a:solidFill>
                <a:prstClr val="black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23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% python3</a:t>
            </a:r>
          </a:p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Python 3.6.1 (default, Mar 21 2017, 21:49:16)</a:t>
            </a:r>
          </a:p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[GCC 5.4.0] on </a:t>
            </a:r>
            <a:r>
              <a:rPr lang="en-US" sz="2600" spc="-70" dirty="0" err="1">
                <a:solidFill>
                  <a:srgbClr val="7F7F7F"/>
                </a:solidFill>
              </a:rPr>
              <a:t>cygwin</a:t>
            </a:r>
            <a:endParaRPr lang="en-US" sz="2600" spc="-70" dirty="0">
              <a:solidFill>
                <a:srgbClr val="7F7F7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Type "help", "copyright", or "license" for more information</a:t>
            </a:r>
          </a:p>
          <a:p>
            <a:pPr>
              <a:lnSpc>
                <a:spcPct val="90000"/>
              </a:lnSpc>
            </a:pPr>
            <a:r>
              <a:rPr lang="en-US" altLang="zh-TW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altLang="zh-TW" sz="26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srgbClr val="7F7F7F"/>
                </a:solidFill>
              </a:rPr>
              <a:t>help</a:t>
            </a:r>
          </a:p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Type help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() for interactive help, or help(object) for help about object.</a:t>
            </a:r>
            <a:endParaRPr lang="en-US" altLang="zh-TW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TW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help (</a:t>
            </a:r>
            <a:r>
              <a:rPr lang="en-US" sz="2600" spc="-70" dirty="0" err="1">
                <a:solidFill>
                  <a:prstClr val="white">
                    <a:lumMod val="50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) # When I hit enter, I will view the </a:t>
            </a:r>
            <a:r>
              <a:rPr lang="en-US" sz="2600" spc="-70" dirty="0" err="1">
                <a:solidFill>
                  <a:prstClr val="white">
                    <a:lumMod val="50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() function’s help page</a:t>
            </a:r>
          </a:p>
          <a:p>
            <a:endParaRPr lang="en-US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(tuple)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This prints junk, but also tuple object methods at the end:</a:t>
            </a:r>
            <a:endParaRPr lang="en-US" sz="2600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/>
                </a:solidFill>
              </a:rPr>
              <a:t>[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'__add__', '__class__', '__contains__',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delattr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'__doc__',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eq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'__format__',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getattribute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getitem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getnewargs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'__hash__',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init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init_subclass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iter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'__le__', '__len__',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mul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'__ne__', '__new__', '__reduce__',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 </a:t>
            </a:r>
            <a:r>
              <a:rPr lang="en-US" sz="2600" spc="-70" dirty="0">
                <a:solidFill>
                  <a:srgbClr val="705500"/>
                </a:solidFill>
              </a:rPr>
              <a:t># One of those 2 methods is count. Let’s see about it.</a:t>
            </a:r>
          </a:p>
          <a:p>
            <a:pPr>
              <a:lnSpc>
                <a:spcPct val="80000"/>
              </a:lnSpc>
            </a:pPr>
            <a:endParaRPr lang="en-US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black"/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(tuple)[-2:]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#Since the methods are at the end, let’s see just the end: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92" y="6139043"/>
            <a:ext cx="68480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solidFill>
                  <a:srgbClr val="7F7F7F"/>
                </a:solidFill>
              </a:rPr>
              <a:t>&gt;&gt;&gt;</a:t>
            </a:r>
            <a:endParaRPr lang="en-US" sz="2600" dirty="0">
              <a:solidFill>
                <a:prstClr val="black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33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Python 3.6.1 (default, Mar 21 2017, 21:49:16)</a:t>
            </a:r>
          </a:p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[GCC 5.4.0] on </a:t>
            </a:r>
            <a:r>
              <a:rPr lang="en-US" sz="2600" spc="-70" dirty="0" err="1">
                <a:solidFill>
                  <a:srgbClr val="7F7F7F"/>
                </a:solidFill>
              </a:rPr>
              <a:t>cygwin</a:t>
            </a:r>
            <a:endParaRPr lang="en-US" sz="2600" spc="-70" dirty="0">
              <a:solidFill>
                <a:srgbClr val="7F7F7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Type "help", "copyright", or "license" for more information</a:t>
            </a:r>
          </a:p>
          <a:p>
            <a:pPr>
              <a:lnSpc>
                <a:spcPct val="90000"/>
              </a:lnSpc>
            </a:pPr>
            <a:r>
              <a:rPr lang="en-US" altLang="zh-TW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altLang="zh-TW" sz="26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srgbClr val="7F7F7F"/>
                </a:solidFill>
              </a:rPr>
              <a:t>help</a:t>
            </a:r>
          </a:p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Type help() for interactive help, or help(object) for help about object.</a:t>
            </a:r>
            <a:endParaRPr lang="en-US" altLang="zh-TW" sz="2600" spc="-70" dirty="0">
              <a:solidFill>
                <a:srgbClr val="7F7F7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TW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altLang="zh-TW" sz="26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srgbClr val="7F7F7F"/>
                </a:solidFill>
              </a:rPr>
              <a:t>help (</a:t>
            </a:r>
            <a:r>
              <a:rPr lang="en-US" sz="2600" spc="-70" dirty="0" err="1">
                <a:solidFill>
                  <a:srgbClr val="7F7F7F"/>
                </a:solidFill>
              </a:rPr>
              <a:t>dir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) # When I hit enter, I will view the </a:t>
            </a:r>
            <a:r>
              <a:rPr lang="en-US" sz="2600" spc="-70" dirty="0" err="1">
                <a:solidFill>
                  <a:prstClr val="white">
                    <a:lumMod val="50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() function’s help page</a:t>
            </a:r>
          </a:p>
          <a:p>
            <a:endParaRPr lang="en-US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(tuple)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This prints junk, but also tuple object methods at the end:</a:t>
            </a:r>
            <a:endParaRPr lang="en-US" sz="2600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/>
                </a:solidFill>
              </a:rPr>
              <a:t>[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'__add__', '__class__', '__contains__',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delattr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'__doc__',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eq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'__format__',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getattribute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getitem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getnewargs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'__hash__',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init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init_subclass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iter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'__le__', '__len__',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mul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'__ne__', '__new__', '__reduce__',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 </a:t>
            </a:r>
            <a:r>
              <a:rPr lang="en-US" sz="2600" spc="-70" dirty="0">
                <a:solidFill>
                  <a:srgbClr val="705500"/>
                </a:solidFill>
              </a:rPr>
              <a:t># One of those 2 methods is count. Let’s see about it.</a:t>
            </a:r>
          </a:p>
          <a:p>
            <a:pPr>
              <a:lnSpc>
                <a:spcPct val="80000"/>
              </a:lnSpc>
            </a:pPr>
            <a:endParaRPr lang="en-US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(tuple)[-2:]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#Since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/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 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# I happen to know that there are 11 list </a:t>
            </a:r>
            <a:r>
              <a:rPr lang="en-US" sz="2600" spc="-20" dirty="0">
                <a:solidFill>
                  <a:srgbClr val="FFC000">
                    <a:lumMod val="40000"/>
                    <a:lumOff val="60000"/>
                  </a:srgbClr>
                </a:solidFill>
              </a:rPr>
              <a:t>methods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292" y="6415978"/>
            <a:ext cx="684803" cy="398391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sz="2600" dirty="0">
                <a:solidFill>
                  <a:srgbClr val="7F7F7F"/>
                </a:solidFill>
              </a:rPr>
              <a:t>&gt;&gt;&gt;</a:t>
            </a:r>
            <a:endParaRPr lang="en-US" sz="2600" dirty="0">
              <a:solidFill>
                <a:prstClr val="black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72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[GCC 5.4.0] on </a:t>
            </a:r>
            <a:r>
              <a:rPr lang="en-US" sz="2600" spc="-70" dirty="0" err="1">
                <a:solidFill>
                  <a:srgbClr val="7F7F7F"/>
                </a:solidFill>
              </a:rPr>
              <a:t>cygwin</a:t>
            </a:r>
            <a:endParaRPr lang="en-US" sz="2600" spc="-70" dirty="0">
              <a:solidFill>
                <a:srgbClr val="7F7F7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Type "help", "copyright", or "license" for more information</a:t>
            </a:r>
          </a:p>
          <a:p>
            <a:pPr>
              <a:lnSpc>
                <a:spcPct val="90000"/>
              </a:lnSpc>
            </a:pPr>
            <a:r>
              <a:rPr lang="en-US" altLang="zh-TW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altLang="zh-TW" sz="26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srgbClr val="7F7F7F"/>
                </a:solidFill>
              </a:rPr>
              <a:t>help</a:t>
            </a:r>
          </a:p>
          <a:p>
            <a:pPr>
              <a:lnSpc>
                <a:spcPct val="9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Type help() for interactive help, or help(object) for help about object.</a:t>
            </a:r>
            <a:endParaRPr lang="en-US" altLang="zh-TW" sz="2600" spc="-70" dirty="0">
              <a:solidFill>
                <a:srgbClr val="7F7F7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TW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altLang="zh-TW" sz="26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srgbClr val="7F7F7F"/>
                </a:solidFill>
              </a:rPr>
              <a:t>help (</a:t>
            </a:r>
            <a:r>
              <a:rPr lang="en-US" sz="2600" spc="-70" dirty="0" err="1">
                <a:solidFill>
                  <a:srgbClr val="7F7F7F"/>
                </a:solidFill>
              </a:rPr>
              <a:t>dir</a:t>
            </a:r>
            <a:r>
              <a:rPr lang="en-US" sz="2600" spc="-70" dirty="0">
                <a:solidFill>
                  <a:srgbClr val="7F7F7F"/>
                </a:solidFill>
              </a:rPr>
              <a:t>)</a:t>
            </a:r>
            <a:r>
              <a:rPr lang="en-US" sz="2600" spc="-70" dirty="0">
                <a:solidFill>
                  <a:srgbClr val="967200"/>
                </a:solidFill>
              </a:rPr>
              <a:t> </a:t>
            </a:r>
            <a:r>
              <a:rPr lang="en-US" sz="2600" spc="-70" dirty="0">
                <a:solidFill>
                  <a:srgbClr val="705500"/>
                </a:solidFill>
              </a:rPr>
              <a:t># When I hit enter, I will view the </a:t>
            </a:r>
            <a:r>
              <a:rPr lang="en-US" sz="2600" spc="-70" dirty="0" err="1">
                <a:solidFill>
                  <a:srgbClr val="705500"/>
                </a:solidFill>
              </a:rPr>
              <a:t>dir</a:t>
            </a:r>
            <a:r>
              <a:rPr lang="en-US" sz="2600" spc="-70" dirty="0">
                <a:solidFill>
                  <a:srgbClr val="705500"/>
                </a:solidFill>
              </a:rPr>
              <a:t>() function’s help page</a:t>
            </a:r>
          </a:p>
          <a:p>
            <a:endParaRPr lang="en-US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(tuple)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This prints junk, but also tuple object methods at the end:</a:t>
            </a:r>
            <a:endParaRPr lang="en-US" sz="2600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/>
                </a:solidFill>
              </a:rPr>
              <a:t>[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'__add__', '__class__', '__contains__',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delattr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'__doc__',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eq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'__format__',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getattribute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getitem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getnewargs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'__hash__',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init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init_subclass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iter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'__le__', '__len__',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mul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'__ne__', '__new__', '__reduce__',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 </a:t>
            </a:r>
            <a:r>
              <a:rPr lang="en-US" sz="2600" spc="-70" dirty="0">
                <a:solidFill>
                  <a:srgbClr val="705500"/>
                </a:solidFill>
              </a:rPr>
              <a:t># One of those 2 methods is count. Let’s see about it.</a:t>
            </a:r>
          </a:p>
          <a:p>
            <a:pPr>
              <a:lnSpc>
                <a:spcPct val="80000"/>
              </a:lnSpc>
            </a:pPr>
            <a:endParaRPr lang="en-US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 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29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95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Type "help", "copyright", or "license" for more information</a:t>
            </a:r>
          </a:p>
          <a:p>
            <a:pPr>
              <a:lnSpc>
                <a:spcPct val="95000"/>
              </a:lnSpc>
            </a:pPr>
            <a:r>
              <a:rPr lang="en-US" altLang="zh-TW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altLang="zh-TW" sz="26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srgbClr val="7F7F7F"/>
                </a:solidFill>
              </a:rPr>
              <a:t>help</a:t>
            </a:r>
          </a:p>
          <a:p>
            <a:pPr>
              <a:lnSpc>
                <a:spcPct val="95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Type help() for interactive help, or help(object) for help about object.</a:t>
            </a:r>
            <a:endParaRPr lang="en-US" altLang="zh-TW" sz="2600" spc="-70" dirty="0">
              <a:solidFill>
                <a:srgbClr val="7F7F7F"/>
              </a:solidFill>
            </a:endParaRPr>
          </a:p>
          <a:p>
            <a:pPr>
              <a:lnSpc>
                <a:spcPct val="95000"/>
              </a:lnSpc>
            </a:pPr>
            <a:r>
              <a:rPr lang="en-US" altLang="zh-TW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altLang="zh-TW" sz="26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srgbClr val="7F7F7F"/>
                </a:solidFill>
              </a:rPr>
              <a:t>help (</a:t>
            </a:r>
            <a:r>
              <a:rPr lang="en-US" sz="2600" spc="-70" dirty="0" err="1">
                <a:solidFill>
                  <a:srgbClr val="7F7F7F"/>
                </a:solidFill>
              </a:rPr>
              <a:t>dir</a:t>
            </a:r>
            <a:r>
              <a:rPr lang="en-US" sz="2600" spc="-70" dirty="0">
                <a:solidFill>
                  <a:srgbClr val="7F7F7F"/>
                </a:solidFill>
              </a:rPr>
              <a:t>)</a:t>
            </a:r>
            <a:r>
              <a:rPr lang="en-US" sz="2600" spc="-70" dirty="0">
                <a:solidFill>
                  <a:srgbClr val="967200"/>
                </a:solidFill>
              </a:rPr>
              <a:t> </a:t>
            </a:r>
            <a:r>
              <a:rPr lang="en-US" sz="2600" spc="-70" dirty="0">
                <a:solidFill>
                  <a:srgbClr val="705500"/>
                </a:solidFill>
              </a:rPr>
              <a:t># When I hit enter, I will view the </a:t>
            </a:r>
            <a:r>
              <a:rPr lang="en-US" sz="2600" spc="-70" dirty="0" err="1">
                <a:solidFill>
                  <a:srgbClr val="705500"/>
                </a:solidFill>
              </a:rPr>
              <a:t>dir</a:t>
            </a:r>
            <a:r>
              <a:rPr lang="en-US" sz="2600" spc="-70" dirty="0">
                <a:solidFill>
                  <a:srgbClr val="705500"/>
                </a:solidFill>
              </a:rPr>
              <a:t>() function’s help page</a:t>
            </a:r>
          </a:p>
          <a:p>
            <a:endParaRPr lang="en-US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(tuple)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This prints junk, but also tuple object methods at the end:</a:t>
            </a:r>
            <a:endParaRPr lang="en-US" sz="2600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/>
                </a:solidFill>
              </a:rPr>
              <a:t>[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'__add__', '__class__', '__contains__',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delattr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'__doc__',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eq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'__format__',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getattribute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getitem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getnewargs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'__hash__',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init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init_subclass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iter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'__le__', '__len__',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mul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'__ne__', '__new__', '__reduce__',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 </a:t>
            </a:r>
            <a:r>
              <a:rPr lang="en-US" sz="2600" spc="-70" dirty="0">
                <a:solidFill>
                  <a:srgbClr val="705500"/>
                </a:solidFill>
              </a:rPr>
              <a:t># One of those 2 methods is count. Let’s see about it.</a:t>
            </a:r>
          </a:p>
          <a:p>
            <a:pPr>
              <a:lnSpc>
                <a:spcPct val="80000"/>
              </a:lnSpc>
            </a:pPr>
            <a:endParaRPr lang="en-US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 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17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98000"/>
              </a:lnSpc>
            </a:pPr>
            <a:r>
              <a:rPr lang="en-US" altLang="zh-TW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altLang="zh-TW" sz="26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srgbClr val="7F7F7F"/>
                </a:solidFill>
              </a:rPr>
              <a:t>help</a:t>
            </a:r>
          </a:p>
          <a:p>
            <a:pPr>
              <a:lnSpc>
                <a:spcPct val="9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Type help() for interactive help, or help(object) for help about object.</a:t>
            </a:r>
            <a:endParaRPr lang="en-US" altLang="zh-TW" sz="2600" spc="-70" dirty="0">
              <a:solidFill>
                <a:srgbClr val="7F7F7F"/>
              </a:solidFill>
            </a:endParaRPr>
          </a:p>
          <a:p>
            <a:r>
              <a:rPr lang="en-US" altLang="zh-TW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altLang="zh-TW" sz="26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srgbClr val="7F7F7F"/>
                </a:solidFill>
              </a:rPr>
              <a:t>help (</a:t>
            </a:r>
            <a:r>
              <a:rPr lang="en-US" sz="2600" spc="-70" dirty="0" err="1">
                <a:solidFill>
                  <a:srgbClr val="7F7F7F"/>
                </a:solidFill>
              </a:rPr>
              <a:t>dir</a:t>
            </a:r>
            <a:r>
              <a:rPr lang="en-US" sz="2600" spc="-70" dirty="0">
                <a:solidFill>
                  <a:srgbClr val="7F7F7F"/>
                </a:solidFill>
              </a:rPr>
              <a:t>)</a:t>
            </a:r>
            <a:r>
              <a:rPr lang="en-US" sz="2600" spc="-70" dirty="0">
                <a:solidFill>
                  <a:srgbClr val="967200"/>
                </a:solidFill>
              </a:rPr>
              <a:t> </a:t>
            </a:r>
            <a:r>
              <a:rPr lang="en-US" sz="2600" spc="-70" dirty="0">
                <a:solidFill>
                  <a:srgbClr val="705500"/>
                </a:solidFill>
              </a:rPr>
              <a:t># When I hit enter, I will view the </a:t>
            </a:r>
            <a:r>
              <a:rPr lang="en-US" sz="2600" spc="-70" dirty="0" err="1">
                <a:solidFill>
                  <a:srgbClr val="705500"/>
                </a:solidFill>
              </a:rPr>
              <a:t>dir</a:t>
            </a:r>
            <a:r>
              <a:rPr lang="en-US" sz="2600" spc="-70" dirty="0">
                <a:solidFill>
                  <a:srgbClr val="705500"/>
                </a:solidFill>
              </a:rPr>
              <a:t>() function’s help page</a:t>
            </a:r>
          </a:p>
          <a:p>
            <a:endParaRPr lang="en-US" sz="2000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(tuple)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This prints junk, but also tuple object methods at the end:</a:t>
            </a:r>
            <a:endParaRPr lang="en-US" sz="2600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/>
                </a:solidFill>
              </a:rPr>
              <a:t>[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'__add__', '__class__', '__contains__',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delattr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'__doc__',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eq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'__format__',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getattribute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getitem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getnewargs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'__hash__',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init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init_subclass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iter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'__le__', '__len__',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lt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mul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'__ne__', '__new__', '__reduce__',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75000"/>
                    <a:lumOff val="2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 </a:t>
            </a:r>
            <a:r>
              <a:rPr lang="en-US" sz="2600" spc="-70" dirty="0">
                <a:solidFill>
                  <a:srgbClr val="705500"/>
                </a:solidFill>
              </a:rPr>
              <a:t># One of those 2 methods is count. Let’s see about it.</a:t>
            </a:r>
          </a:p>
          <a:p>
            <a:pPr>
              <a:lnSpc>
                <a:spcPct val="80000"/>
              </a:lnSpc>
            </a:pPr>
            <a:endParaRPr lang="en-US" sz="20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 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black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92" y="6415978"/>
            <a:ext cx="684803" cy="398391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sz="2600" dirty="0">
                <a:solidFill>
                  <a:srgbClr val="7F7F7F"/>
                </a:solidFill>
              </a:rPr>
              <a:t>&gt;&gt;&gt;</a:t>
            </a:r>
            <a:endParaRPr lang="en-US" sz="26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30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9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Type help() for interactive help, or help(object) for help about object.</a:t>
            </a:r>
            <a:endParaRPr lang="en-US" altLang="zh-TW" sz="2600" spc="-70" dirty="0">
              <a:solidFill>
                <a:srgbClr val="7F7F7F"/>
              </a:solidFill>
            </a:endParaRPr>
          </a:p>
          <a:p>
            <a:r>
              <a:rPr lang="en-US" altLang="zh-TW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altLang="zh-TW" sz="26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srgbClr val="7F7F7F"/>
                </a:solidFill>
              </a:rPr>
              <a:t>help (</a:t>
            </a:r>
            <a:r>
              <a:rPr lang="en-US" sz="2600" spc="-70" dirty="0" err="1">
                <a:solidFill>
                  <a:srgbClr val="7F7F7F"/>
                </a:solidFill>
              </a:rPr>
              <a:t>dir</a:t>
            </a:r>
            <a:r>
              <a:rPr lang="en-US" sz="2600" spc="-70" dirty="0">
                <a:solidFill>
                  <a:srgbClr val="7F7F7F"/>
                </a:solidFill>
              </a:rPr>
              <a:t>)</a:t>
            </a:r>
            <a:r>
              <a:rPr lang="en-US" sz="2600" spc="-70" dirty="0">
                <a:solidFill>
                  <a:srgbClr val="967200"/>
                </a:solidFill>
              </a:rPr>
              <a:t> </a:t>
            </a:r>
            <a:r>
              <a:rPr lang="en-US" sz="2600" spc="-70" dirty="0">
                <a:solidFill>
                  <a:srgbClr val="705500"/>
                </a:solidFill>
              </a:rPr>
              <a:t># When I hit enter, I will view the </a:t>
            </a:r>
            <a:r>
              <a:rPr lang="en-US" sz="2600" spc="-70" dirty="0" err="1">
                <a:solidFill>
                  <a:srgbClr val="705500"/>
                </a:solidFill>
              </a:rPr>
              <a:t>dir</a:t>
            </a:r>
            <a:r>
              <a:rPr lang="en-US" sz="2600" spc="-70" dirty="0">
                <a:solidFill>
                  <a:srgbClr val="705500"/>
                </a:solidFill>
              </a:rPr>
              <a:t>() function’s help page</a:t>
            </a:r>
          </a:p>
          <a:p>
            <a:endParaRPr lang="en-US" sz="2000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(tuple)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This prints junk, but also tuple object methods at the end:</a:t>
            </a:r>
            <a:endParaRPr lang="en-US" sz="2600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/>
                </a:solidFill>
              </a:rPr>
              <a:t>[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'__add__', '__class__', '__contains__',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delattr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'__doc__',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eq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'__format__',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getattribute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getitem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getnewargs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'__hash__',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init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init_subclass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iter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'__le__', '__len__',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lt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'__ne__', '__new__', '__reduce__',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</a:t>
            </a:r>
            <a:r>
              <a:rPr lang="en-US" sz="2600" spc="-70" dirty="0">
                <a:solidFill>
                  <a:srgbClr val="705500"/>
                </a:solidFill>
              </a:rPr>
              <a:t> # One of those methods is count. Let’s see about it.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endParaRPr lang="en-US" sz="20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80" dirty="0">
                <a:solidFill>
                  <a:prstClr val="black"/>
                </a:solidFill>
              </a:rPr>
              <a:t>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 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srgbClr val="FFFFFF"/>
                </a:solidFill>
              </a:rPr>
              <a:t>['add',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'clear',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'copy',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'difference',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</a:t>
            </a:r>
            <a:r>
              <a:rPr lang="en-US" sz="2600" spc="-80" dirty="0" err="1">
                <a:solidFill>
                  <a:srgbClr val="FFFFFF"/>
                </a:solidFill>
              </a:rPr>
              <a:t>difference</a:t>
            </a:r>
            <a:r>
              <a:rPr lang="en-US" sz="2600" spc="-80" dirty="0" err="1">
                <a:solidFill>
                  <a:srgbClr val="FFFFFF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FFFFFF"/>
                </a:solidFill>
              </a:rPr>
              <a:t>update</a:t>
            </a:r>
            <a:r>
              <a:rPr lang="en-US" sz="2600" spc="-80" dirty="0">
                <a:solidFill>
                  <a:srgbClr val="FFFFFF"/>
                </a:solidFill>
              </a:rPr>
              <a:t>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'discard',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prstClr val="white"/>
                </a:solidFill>
              </a:rPr>
              <a:t>'intersection', </a:t>
            </a:r>
            <a:endParaRPr lang="en-US" sz="2600" spc="-8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64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TW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altLang="zh-TW" sz="26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srgbClr val="7F7F7F"/>
                </a:solidFill>
              </a:rPr>
              <a:t>help (</a:t>
            </a:r>
            <a:r>
              <a:rPr lang="en-US" sz="2600" spc="-70" dirty="0" err="1">
                <a:solidFill>
                  <a:srgbClr val="7F7F7F"/>
                </a:solidFill>
              </a:rPr>
              <a:t>dir</a:t>
            </a:r>
            <a:r>
              <a:rPr lang="en-US" sz="2600" spc="-70" dirty="0">
                <a:solidFill>
                  <a:srgbClr val="7F7F7F"/>
                </a:solidFill>
              </a:rPr>
              <a:t>)</a:t>
            </a:r>
            <a:r>
              <a:rPr lang="en-US" sz="2600" spc="-70" dirty="0">
                <a:solidFill>
                  <a:srgbClr val="967200"/>
                </a:solidFill>
              </a:rPr>
              <a:t> </a:t>
            </a:r>
            <a:r>
              <a:rPr lang="en-US" sz="2600" spc="-70" dirty="0">
                <a:solidFill>
                  <a:srgbClr val="705500"/>
                </a:solidFill>
              </a:rPr>
              <a:t># When I hit enter, I will view the </a:t>
            </a:r>
            <a:r>
              <a:rPr lang="en-US" sz="2600" spc="-70" dirty="0" err="1">
                <a:solidFill>
                  <a:srgbClr val="705500"/>
                </a:solidFill>
              </a:rPr>
              <a:t>dir</a:t>
            </a:r>
            <a:r>
              <a:rPr lang="en-US" sz="2600" spc="-70" dirty="0">
                <a:solidFill>
                  <a:srgbClr val="705500"/>
                </a:solidFill>
              </a:rPr>
              <a:t>() function’s help page</a:t>
            </a:r>
          </a:p>
          <a:p>
            <a:endParaRPr lang="en-US" sz="2000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(tuple)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This prints junk, but also tuple object methods at the end:</a:t>
            </a:r>
            <a:endParaRPr lang="en-US" sz="2600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/>
                </a:solidFill>
              </a:rPr>
              <a:t>[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'__add__', '__class__', '__contains__',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delattr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'__doc__',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eq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'__format__',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getattribute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getitem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getnewargs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'__hash__',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init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init_subclass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iter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'__le__', '__len__',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lt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'__ne__', '__new__', '__reduce__',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</a:t>
            </a:r>
            <a:r>
              <a:rPr lang="en-US" sz="2600" spc="-70" dirty="0">
                <a:solidFill>
                  <a:srgbClr val="705500"/>
                </a:solidFill>
              </a:rPr>
              <a:t> # One of those methods is count. Let’s see about it.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endParaRPr lang="en-US" sz="24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80" dirty="0">
                <a:solidFill>
                  <a:prstClr val="black"/>
                </a:solidFill>
              </a:rPr>
              <a:t>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 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srgbClr val="FFFFFF"/>
                </a:solidFill>
              </a:rPr>
              <a:t>['add',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'clear',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'copy',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'difference',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</a:t>
            </a:r>
            <a:r>
              <a:rPr lang="en-US" sz="2600" spc="-80" dirty="0" err="1">
                <a:solidFill>
                  <a:srgbClr val="FFFFFF"/>
                </a:solidFill>
              </a:rPr>
              <a:t>difference</a:t>
            </a:r>
            <a:r>
              <a:rPr lang="en-US" sz="2600" spc="-80" dirty="0" err="1">
                <a:solidFill>
                  <a:srgbClr val="FFFFFF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FFFFFF"/>
                </a:solidFill>
              </a:rPr>
              <a:t>update</a:t>
            </a:r>
            <a:r>
              <a:rPr lang="en-US" sz="2600" spc="-80" dirty="0">
                <a:solidFill>
                  <a:srgbClr val="FFFFFF"/>
                </a:solidFill>
              </a:rPr>
              <a:t>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'discard',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prstClr val="white"/>
                </a:solidFill>
              </a:rPr>
              <a:t>'intersection', </a:t>
            </a:r>
            <a:r>
              <a:rPr lang="en-US" sz="2600" spc="-70" dirty="0">
                <a:solidFill>
                  <a:prstClr val="white"/>
                </a:solidFill>
              </a:rPr>
              <a:t>'</a:t>
            </a:r>
            <a:r>
              <a:rPr lang="en-US" sz="2600" spc="-70" dirty="0" err="1">
                <a:solidFill>
                  <a:prstClr val="white"/>
                </a:solidFill>
              </a:rPr>
              <a:t>intersection_update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isdisjoint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issubset</a:t>
            </a:r>
            <a:r>
              <a:rPr lang="en-US" sz="2600" dirty="0">
                <a:solidFill>
                  <a:prstClr val="white"/>
                </a:solidFill>
              </a:rPr>
              <a:t>', '</a:t>
            </a:r>
            <a:r>
              <a:rPr lang="en-US" sz="2600" dirty="0" err="1">
                <a:solidFill>
                  <a:prstClr val="white"/>
                </a:solidFill>
              </a:rPr>
              <a:t>issuperset</a:t>
            </a:r>
            <a:r>
              <a:rPr lang="en-US" sz="2600" dirty="0">
                <a:solidFill>
                  <a:prstClr val="white"/>
                </a:solidFill>
              </a:rPr>
              <a:t>', 'pop', 'remove', </a:t>
            </a:r>
            <a:endParaRPr lang="en-US" sz="26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23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1600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(tuple)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This prints junk, but also tuple object methods at the end:</a:t>
            </a:r>
            <a:endParaRPr lang="en-US" sz="2600" spc="-70" dirty="0">
              <a:solidFill>
                <a:prstClr val="white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/>
                </a:solidFill>
              </a:rPr>
              <a:t>[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'__add__', '__class__', '__contains__',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delattr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'__doc__',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eq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'__format__',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getattribute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getitem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getnewargs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'__hash__',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init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init_subclass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iter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'__le__', '__len__',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lt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'__ne__', '__new__', '__reduce__',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</a:t>
            </a:r>
            <a:r>
              <a:rPr lang="en-US" sz="2600" spc="-70" dirty="0">
                <a:solidFill>
                  <a:srgbClr val="705500"/>
                </a:solidFill>
              </a:rPr>
              <a:t> # One of those methods is count. Let’s see about it.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endParaRPr lang="en-US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80" dirty="0">
                <a:solidFill>
                  <a:prstClr val="black"/>
                </a:solidFill>
              </a:rPr>
              <a:t>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srgbClr val="FFFFFF"/>
                </a:solidFill>
              </a:rPr>
              <a:t>['add',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'clear',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'copy',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'difference',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</a:t>
            </a:r>
            <a:r>
              <a:rPr lang="en-US" sz="2600" spc="-80" dirty="0" err="1">
                <a:solidFill>
                  <a:srgbClr val="FFFFFF"/>
                </a:solidFill>
              </a:rPr>
              <a:t>difference</a:t>
            </a:r>
            <a:r>
              <a:rPr lang="en-US" sz="2600" spc="-80" dirty="0" err="1">
                <a:solidFill>
                  <a:srgbClr val="FFFFFF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FFFFFF"/>
                </a:solidFill>
              </a:rPr>
              <a:t>update</a:t>
            </a:r>
            <a:r>
              <a:rPr lang="en-US" sz="2600" spc="-80" dirty="0">
                <a:solidFill>
                  <a:srgbClr val="FFFFFF"/>
                </a:solidFill>
              </a:rPr>
              <a:t>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'discard',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prstClr val="white"/>
                </a:solidFill>
              </a:rPr>
              <a:t>'intersection', </a:t>
            </a:r>
            <a:r>
              <a:rPr lang="en-US" sz="2600" spc="-70" dirty="0">
                <a:solidFill>
                  <a:prstClr val="white"/>
                </a:solidFill>
              </a:rPr>
              <a:t>'</a:t>
            </a:r>
            <a:r>
              <a:rPr lang="en-US" sz="2600" spc="-70" dirty="0" err="1">
                <a:solidFill>
                  <a:prstClr val="white"/>
                </a:solidFill>
              </a:rPr>
              <a:t>intersection_update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isdisjoint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issubset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issuperset</a:t>
            </a:r>
            <a:r>
              <a:rPr lang="en-US" sz="2600" spc="-70" dirty="0">
                <a:solidFill>
                  <a:prstClr val="white"/>
                </a:solidFill>
              </a:rPr>
              <a:t>', 'pop', 'remove',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symmetric_difference_update</a:t>
            </a:r>
            <a:r>
              <a:rPr lang="en-US" sz="2600" spc="-70" dirty="0">
                <a:solidFill>
                  <a:prstClr val="white"/>
                </a:solidFill>
              </a:rPr>
              <a:t>', 'union', 'update']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black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dict</a:t>
            </a:r>
            <a:r>
              <a:rPr lang="en-US" sz="2600" spc="-70" dirty="0">
                <a:solidFill>
                  <a:srgbClr val="FFFFFF"/>
                </a:solidFill>
              </a:rPr>
              <a:t>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11 dictionary methods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295" y="6486527"/>
            <a:ext cx="640123" cy="371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altLang="zh-TW" sz="260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endParaRPr lang="en-US" sz="2600" dirty="0">
              <a:solidFill>
                <a:prstClr val="white"/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14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(tuple)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This prints junk, but also tuple object methods at the end:</a:t>
            </a:r>
            <a:endParaRPr lang="en-US" sz="2600" spc="-70" dirty="0">
              <a:solidFill>
                <a:prstClr val="white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/>
                </a:solidFill>
              </a:rPr>
              <a:t>[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'__add__', '__class__', '__contains__',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delattr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'__doc__',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eq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'__format__',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getattribute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getitem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getnewargs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'__hash__',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init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init_subclass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iter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'__le__', '__len__',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lt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'__ne__', '__new__', '__reduce__',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</a:t>
            </a:r>
            <a:r>
              <a:rPr lang="en-US" sz="2600" spc="-70" dirty="0">
                <a:solidFill>
                  <a:srgbClr val="705500"/>
                </a:solidFill>
              </a:rPr>
              <a:t> # One of those methods is count. Let’s see about it.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endParaRPr lang="en-US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80" dirty="0">
                <a:solidFill>
                  <a:prstClr val="black"/>
                </a:solidFill>
              </a:rPr>
              <a:t>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srgbClr val="FFFFFF"/>
                </a:solidFill>
              </a:rPr>
              <a:t>['add',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'clear',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'copy',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'difference',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</a:t>
            </a:r>
            <a:r>
              <a:rPr lang="en-US" sz="2600" spc="-80" dirty="0" err="1">
                <a:solidFill>
                  <a:srgbClr val="FFFFFF"/>
                </a:solidFill>
              </a:rPr>
              <a:t>difference</a:t>
            </a:r>
            <a:r>
              <a:rPr lang="en-US" sz="2600" spc="-80" dirty="0" err="1">
                <a:solidFill>
                  <a:srgbClr val="FFFFFF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FFFFFF"/>
                </a:solidFill>
              </a:rPr>
              <a:t>update</a:t>
            </a:r>
            <a:r>
              <a:rPr lang="en-US" sz="2600" spc="-80" dirty="0">
                <a:solidFill>
                  <a:srgbClr val="FFFFFF"/>
                </a:solidFill>
              </a:rPr>
              <a:t>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'discard',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prstClr val="white"/>
                </a:solidFill>
              </a:rPr>
              <a:t>'intersection', </a:t>
            </a:r>
            <a:r>
              <a:rPr lang="en-US" sz="2600" spc="-70" dirty="0">
                <a:solidFill>
                  <a:prstClr val="white"/>
                </a:solidFill>
              </a:rPr>
              <a:t>'</a:t>
            </a:r>
            <a:r>
              <a:rPr lang="en-US" sz="2600" spc="-70" dirty="0" err="1">
                <a:solidFill>
                  <a:prstClr val="white"/>
                </a:solidFill>
              </a:rPr>
              <a:t>intersection_update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isdisjoint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issubset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issuperset</a:t>
            </a:r>
            <a:r>
              <a:rPr lang="en-US" sz="2600" spc="-70" dirty="0">
                <a:solidFill>
                  <a:prstClr val="white"/>
                </a:solidFill>
              </a:rPr>
              <a:t>', 'pop', 'remove',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symmetric_difference_update</a:t>
            </a:r>
            <a:r>
              <a:rPr lang="en-US" sz="2600" spc="-70" dirty="0">
                <a:solidFill>
                  <a:prstClr val="white"/>
                </a:solidFill>
              </a:rPr>
              <a:t>', 'union', 'update']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dict</a:t>
            </a:r>
            <a:r>
              <a:rPr lang="en-US" sz="2600" spc="-70" dirty="0">
                <a:solidFill>
                  <a:srgbClr val="FFFFFF"/>
                </a:solidFill>
              </a:rPr>
              <a:t>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11 dictionary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['clear', 'copy', '</a:t>
            </a:r>
            <a:r>
              <a:rPr lang="en-US" sz="2600" spc="-70" dirty="0" err="1">
                <a:solidFill>
                  <a:srgbClr val="FFFFFF"/>
                </a:solidFill>
              </a:rPr>
              <a:t>fromkeys</a:t>
            </a:r>
            <a:r>
              <a:rPr lang="en-US" sz="2600" spc="-70" dirty="0">
                <a:solidFill>
                  <a:srgbClr val="FFFFFF"/>
                </a:solidFill>
              </a:rPr>
              <a:t>', 'get', 'items', 'keys', 'pop', '</a:t>
            </a:r>
            <a:r>
              <a:rPr lang="en-US" sz="2600" spc="-70" dirty="0" err="1">
                <a:solidFill>
                  <a:srgbClr val="FFFFFF"/>
                </a:solidFill>
              </a:rPr>
              <a:t>popitem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setdefault</a:t>
            </a:r>
            <a:r>
              <a:rPr lang="en-US" sz="2600" spc="-70" dirty="0">
                <a:solidFill>
                  <a:srgbClr val="FFFFFF"/>
                </a:solidFill>
              </a:rPr>
              <a:t>', 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54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/>
                </a:solidFill>
              </a:rPr>
              <a:t>[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'__add__', '__class__', '__contains__',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delattr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'__doc__',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eq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'__format__',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getattribute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getitem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getnewargs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'__hash__',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init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init_subclass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iter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'__le__', '__len__',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lt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'__ne__', '__new__', '__reduce__',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</a:t>
            </a:r>
            <a:r>
              <a:rPr lang="en-US" sz="2600" spc="-70" dirty="0">
                <a:solidFill>
                  <a:srgbClr val="705500"/>
                </a:solidFill>
              </a:rPr>
              <a:t> # One of those methods is count. Let’s see about it.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endParaRPr lang="en-US" spc="-70" dirty="0">
              <a:solidFill>
                <a:srgbClr val="FFFFF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80" dirty="0">
                <a:solidFill>
                  <a:prstClr val="black"/>
                </a:solidFill>
              </a:rPr>
              <a:t>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srgbClr val="FFFFFF"/>
                </a:solidFill>
              </a:rPr>
              <a:t>['add',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'clear',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'copy',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'difference',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</a:t>
            </a:r>
            <a:r>
              <a:rPr lang="en-US" sz="2600" spc="-80" dirty="0" err="1">
                <a:solidFill>
                  <a:srgbClr val="FFFFFF"/>
                </a:solidFill>
              </a:rPr>
              <a:t>difference</a:t>
            </a:r>
            <a:r>
              <a:rPr lang="en-US" sz="2600" spc="-80" dirty="0" err="1">
                <a:solidFill>
                  <a:srgbClr val="FFFFFF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FFFFFF"/>
                </a:solidFill>
              </a:rPr>
              <a:t>update</a:t>
            </a:r>
            <a:r>
              <a:rPr lang="en-US" sz="2600" spc="-80" dirty="0">
                <a:solidFill>
                  <a:srgbClr val="FFFFFF"/>
                </a:solidFill>
              </a:rPr>
              <a:t>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'discard',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prstClr val="white"/>
                </a:solidFill>
              </a:rPr>
              <a:t>'intersection', </a:t>
            </a:r>
            <a:r>
              <a:rPr lang="en-US" sz="2600" spc="-70" dirty="0">
                <a:solidFill>
                  <a:prstClr val="white"/>
                </a:solidFill>
              </a:rPr>
              <a:t>'</a:t>
            </a:r>
            <a:r>
              <a:rPr lang="en-US" sz="2600" spc="-70" dirty="0" err="1">
                <a:solidFill>
                  <a:prstClr val="white"/>
                </a:solidFill>
              </a:rPr>
              <a:t>intersection_update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isdisjoint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issubset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issuperset</a:t>
            </a:r>
            <a:r>
              <a:rPr lang="en-US" sz="2600" spc="-70" dirty="0">
                <a:solidFill>
                  <a:prstClr val="white"/>
                </a:solidFill>
              </a:rPr>
              <a:t>', 'pop', 'remove',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symmetric_difference_update</a:t>
            </a:r>
            <a:r>
              <a:rPr lang="en-US" sz="2600" spc="-70" dirty="0">
                <a:solidFill>
                  <a:prstClr val="white"/>
                </a:solidFill>
              </a:rPr>
              <a:t>', 'union', 'update']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dict</a:t>
            </a:r>
            <a:r>
              <a:rPr lang="en-US" sz="2600" spc="-70" dirty="0">
                <a:solidFill>
                  <a:srgbClr val="FFFFFF"/>
                </a:solidFill>
              </a:rPr>
              <a:t>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11 dictionary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['clear', 'copy', '</a:t>
            </a:r>
            <a:r>
              <a:rPr lang="en-US" sz="2600" spc="-70" dirty="0" err="1">
                <a:solidFill>
                  <a:srgbClr val="FFFFFF"/>
                </a:solidFill>
              </a:rPr>
              <a:t>fromkeys</a:t>
            </a:r>
            <a:r>
              <a:rPr lang="en-US" sz="2600" spc="-70" dirty="0">
                <a:solidFill>
                  <a:srgbClr val="FFFFFF"/>
                </a:solidFill>
              </a:rPr>
              <a:t>', 'get', 'items', 'keys', 'pop', '</a:t>
            </a:r>
            <a:r>
              <a:rPr lang="en-US" sz="2600" spc="-70" dirty="0" err="1">
                <a:solidFill>
                  <a:srgbClr val="FFFFFF"/>
                </a:solidFill>
              </a:rPr>
              <a:t>popitem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setdefault</a:t>
            </a:r>
            <a:r>
              <a:rPr lang="en-US" sz="2600" spc="-70" dirty="0">
                <a:solidFill>
                  <a:srgbClr val="FFFFFF"/>
                </a:solidFill>
              </a:rPr>
              <a:t>', 'update', 'values']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83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eq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'__format__',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getattribute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getitem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getnewargs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'__hash__',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init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init_subclass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iter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'__le__', '__len__',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lt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'__ne__', '__new__', '__reduce__',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</a:t>
            </a:r>
            <a:r>
              <a:rPr lang="en-US" sz="2600" spc="-70" dirty="0">
                <a:solidFill>
                  <a:srgbClr val="705500"/>
                </a:solidFill>
              </a:rPr>
              <a:t> # One of those methods is count. Let’s see about it.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endParaRPr lang="en-US" spc="-7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80" dirty="0">
                <a:solidFill>
                  <a:prstClr val="black"/>
                </a:solidFill>
              </a:rPr>
              <a:t>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srgbClr val="FFFFFF"/>
                </a:solidFill>
              </a:rPr>
              <a:t>['add',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'clear',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'copy',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'difference',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</a:t>
            </a:r>
            <a:r>
              <a:rPr lang="en-US" sz="2600" spc="-80" dirty="0" err="1">
                <a:solidFill>
                  <a:srgbClr val="FFFFFF"/>
                </a:solidFill>
              </a:rPr>
              <a:t>difference</a:t>
            </a:r>
            <a:r>
              <a:rPr lang="en-US" sz="2600" spc="-80" dirty="0" err="1">
                <a:solidFill>
                  <a:srgbClr val="FFFFFF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FFFFFF"/>
                </a:solidFill>
              </a:rPr>
              <a:t>update</a:t>
            </a:r>
            <a:r>
              <a:rPr lang="en-US" sz="2600" spc="-80" dirty="0">
                <a:solidFill>
                  <a:srgbClr val="FFFFFF"/>
                </a:solidFill>
              </a:rPr>
              <a:t>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'discard',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prstClr val="white"/>
                </a:solidFill>
              </a:rPr>
              <a:t>'intersection', </a:t>
            </a:r>
            <a:r>
              <a:rPr lang="en-US" sz="2600" spc="-70" dirty="0">
                <a:solidFill>
                  <a:prstClr val="white"/>
                </a:solidFill>
              </a:rPr>
              <a:t>'</a:t>
            </a:r>
            <a:r>
              <a:rPr lang="en-US" sz="2600" spc="-70" dirty="0" err="1">
                <a:solidFill>
                  <a:prstClr val="white"/>
                </a:solidFill>
              </a:rPr>
              <a:t>intersection_update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isdisjoint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issubset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issuperset</a:t>
            </a:r>
            <a:r>
              <a:rPr lang="en-US" sz="2600" spc="-70" dirty="0">
                <a:solidFill>
                  <a:prstClr val="white"/>
                </a:solidFill>
              </a:rPr>
              <a:t>', 'pop', 'remove',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symmetric_difference_update</a:t>
            </a:r>
            <a:r>
              <a:rPr lang="en-US" sz="2600" spc="-70" dirty="0">
                <a:solidFill>
                  <a:prstClr val="white"/>
                </a:solidFill>
              </a:rPr>
              <a:t>', 'union', 'update']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dict</a:t>
            </a:r>
            <a:r>
              <a:rPr lang="en-US" sz="2600" spc="-70" dirty="0">
                <a:solidFill>
                  <a:srgbClr val="FFFFFF"/>
                </a:solidFill>
              </a:rPr>
              <a:t>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11 dictionary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['clear', 'copy', '</a:t>
            </a:r>
            <a:r>
              <a:rPr lang="en-US" sz="2600" spc="-70" dirty="0" err="1">
                <a:solidFill>
                  <a:srgbClr val="FFFFFF"/>
                </a:solidFill>
              </a:rPr>
              <a:t>fromkeys</a:t>
            </a:r>
            <a:r>
              <a:rPr lang="en-US" sz="2600" spc="-70" dirty="0">
                <a:solidFill>
                  <a:srgbClr val="FFFFFF"/>
                </a:solidFill>
              </a:rPr>
              <a:t>', 'get', 'items', 'keys', 'pop', '</a:t>
            </a:r>
            <a:r>
              <a:rPr lang="en-US" sz="2600" spc="-70" dirty="0" err="1">
                <a:solidFill>
                  <a:srgbClr val="FFFFFF"/>
                </a:solidFill>
              </a:rPr>
              <a:t>popitem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setdefault</a:t>
            </a:r>
            <a:r>
              <a:rPr lang="en-US" sz="2600" spc="-70" dirty="0">
                <a:solidFill>
                  <a:srgbClr val="FFFFFF"/>
                </a:solidFill>
              </a:rPr>
              <a:t>', </a:t>
            </a:r>
            <a:r>
              <a:rPr lang="en-US" sz="2600" spc="-70" dirty="0">
                <a:solidFill>
                  <a:prstClr val="white"/>
                </a:solidFill>
              </a:rPr>
              <a:t>'update', 'values']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black"/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str</a:t>
            </a:r>
            <a:r>
              <a:rPr lang="en-US" sz="2600" spc="-70" dirty="0">
                <a:solidFill>
                  <a:srgbClr val="FFFFFF"/>
                </a:solidFill>
              </a:rPr>
              <a:t>)[-44:]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44 string methods</a:t>
            </a:r>
            <a:endParaRPr lang="en-US" sz="2600" spc="-7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295" y="6459523"/>
            <a:ext cx="640123" cy="3984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US" altLang="zh-TW" sz="260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endParaRPr lang="en-US" sz="2600" dirty="0">
              <a:solidFill>
                <a:prstClr val="white"/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15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getnewargs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gt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'__hash__',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init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init_subclass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iter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'__le__', '__len__',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lt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'__ne__', '__new__', '__reduce__',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</a:t>
            </a:r>
            <a:r>
              <a:rPr lang="en-US" sz="2600" spc="-70" dirty="0">
                <a:solidFill>
                  <a:srgbClr val="705500"/>
                </a:solidFill>
              </a:rPr>
              <a:t> # One of those methods is count. Let’s see about it.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endParaRPr lang="en-US" spc="-7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80" dirty="0">
                <a:solidFill>
                  <a:prstClr val="black"/>
                </a:solidFill>
              </a:rPr>
              <a:t>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srgbClr val="FFFFFF"/>
                </a:solidFill>
              </a:rPr>
              <a:t>['add',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'clear',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'copy',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'difference',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</a:t>
            </a:r>
            <a:r>
              <a:rPr lang="en-US" sz="2600" spc="-80" dirty="0" err="1">
                <a:solidFill>
                  <a:srgbClr val="FFFFFF"/>
                </a:solidFill>
              </a:rPr>
              <a:t>difference</a:t>
            </a:r>
            <a:r>
              <a:rPr lang="en-US" sz="2600" spc="-80" dirty="0" err="1">
                <a:solidFill>
                  <a:srgbClr val="FFFFFF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FFFFFF"/>
                </a:solidFill>
              </a:rPr>
              <a:t>update</a:t>
            </a:r>
            <a:r>
              <a:rPr lang="en-US" sz="2600" spc="-80" dirty="0">
                <a:solidFill>
                  <a:srgbClr val="FFFFFF"/>
                </a:solidFill>
              </a:rPr>
              <a:t>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'discard',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prstClr val="white"/>
                </a:solidFill>
              </a:rPr>
              <a:t>'intersection', </a:t>
            </a:r>
            <a:r>
              <a:rPr lang="en-US" sz="2600" spc="-70" dirty="0">
                <a:solidFill>
                  <a:prstClr val="white"/>
                </a:solidFill>
              </a:rPr>
              <a:t>'</a:t>
            </a:r>
            <a:r>
              <a:rPr lang="en-US" sz="2600" spc="-70" dirty="0" err="1">
                <a:solidFill>
                  <a:prstClr val="white"/>
                </a:solidFill>
              </a:rPr>
              <a:t>intersection_update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isdisjoint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issubset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issuperset</a:t>
            </a:r>
            <a:r>
              <a:rPr lang="en-US" sz="2600" spc="-70" dirty="0">
                <a:solidFill>
                  <a:prstClr val="white"/>
                </a:solidFill>
              </a:rPr>
              <a:t>', 'pop', 'remove',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symmetric_difference_update</a:t>
            </a:r>
            <a:r>
              <a:rPr lang="en-US" sz="2600" spc="-70" dirty="0">
                <a:solidFill>
                  <a:prstClr val="white"/>
                </a:solidFill>
              </a:rPr>
              <a:t>', 'union', 'update']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dict</a:t>
            </a:r>
            <a:r>
              <a:rPr lang="en-US" sz="2600" spc="-70" dirty="0">
                <a:solidFill>
                  <a:srgbClr val="FFFFFF"/>
                </a:solidFill>
              </a:rPr>
              <a:t>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11 dictionary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['clear', 'copy', '</a:t>
            </a:r>
            <a:r>
              <a:rPr lang="en-US" sz="2600" spc="-70" dirty="0" err="1">
                <a:solidFill>
                  <a:srgbClr val="FFFFFF"/>
                </a:solidFill>
              </a:rPr>
              <a:t>fromkeys</a:t>
            </a:r>
            <a:r>
              <a:rPr lang="en-US" sz="2600" spc="-70" dirty="0">
                <a:solidFill>
                  <a:srgbClr val="FFFFFF"/>
                </a:solidFill>
              </a:rPr>
              <a:t>', 'get', 'items', 'keys', 'pop', '</a:t>
            </a:r>
            <a:r>
              <a:rPr lang="en-US" sz="2600" spc="-70" dirty="0" err="1">
                <a:solidFill>
                  <a:srgbClr val="FFFFFF"/>
                </a:solidFill>
              </a:rPr>
              <a:t>popitem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setdefault</a:t>
            </a:r>
            <a:r>
              <a:rPr lang="en-US" sz="2600" spc="-70" dirty="0">
                <a:solidFill>
                  <a:srgbClr val="FFFFFF"/>
                </a:solidFill>
              </a:rPr>
              <a:t>', 'update', 'values']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str</a:t>
            </a:r>
            <a:r>
              <a:rPr lang="en-US" sz="2600" spc="-70" dirty="0">
                <a:solidFill>
                  <a:srgbClr val="FFFFFF"/>
                </a:solidFill>
              </a:rPr>
              <a:t>)[-44:]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44 string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['capitalize', '</a:t>
            </a:r>
            <a:r>
              <a:rPr lang="en-US" sz="2600" spc="-70" dirty="0" err="1">
                <a:solidFill>
                  <a:srgbClr val="FFFFFF"/>
                </a:solidFill>
              </a:rPr>
              <a:t>casefold</a:t>
            </a:r>
            <a:r>
              <a:rPr lang="en-US" sz="2600" spc="-70" dirty="0">
                <a:solidFill>
                  <a:srgbClr val="FFFFFF"/>
                </a:solidFill>
              </a:rPr>
              <a:t>', 'center', 'count', 'encode', '</a:t>
            </a:r>
            <a:r>
              <a:rPr lang="en-US" sz="2600" spc="-70" dirty="0" err="1">
                <a:solidFill>
                  <a:srgbClr val="FFFFFF"/>
                </a:solidFill>
              </a:rPr>
              <a:t>endswith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expandtabs</a:t>
            </a:r>
            <a:r>
              <a:rPr lang="en-US" sz="2600" spc="-70" dirty="0">
                <a:solidFill>
                  <a:srgbClr val="FFFFFF"/>
                </a:solidFill>
              </a:rPr>
              <a:t>', 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77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iter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'__le__', '__len__',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lt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'__ne__', '__new__', '__reduce__',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</a:t>
            </a:r>
            <a:r>
              <a:rPr lang="en-US" sz="2600" spc="-70" dirty="0">
                <a:solidFill>
                  <a:srgbClr val="705500"/>
                </a:solidFill>
              </a:rPr>
              <a:t> # One of those methods is count. Let’s see about it.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endParaRPr lang="en-US" spc="-7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80" dirty="0">
                <a:solidFill>
                  <a:prstClr val="black"/>
                </a:solidFill>
              </a:rPr>
              <a:t>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srgbClr val="FFFFFF"/>
                </a:solidFill>
              </a:rPr>
              <a:t>['add',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'clear',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'copy',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'difference',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</a:t>
            </a:r>
            <a:r>
              <a:rPr lang="en-US" sz="2600" spc="-80" dirty="0" err="1">
                <a:solidFill>
                  <a:srgbClr val="FFFFFF"/>
                </a:solidFill>
              </a:rPr>
              <a:t>difference</a:t>
            </a:r>
            <a:r>
              <a:rPr lang="en-US" sz="2600" spc="-80" dirty="0" err="1">
                <a:solidFill>
                  <a:srgbClr val="FFFFFF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FFFFFF"/>
                </a:solidFill>
              </a:rPr>
              <a:t>update</a:t>
            </a:r>
            <a:r>
              <a:rPr lang="en-US" sz="2600" spc="-80" dirty="0">
                <a:solidFill>
                  <a:srgbClr val="FFFFFF"/>
                </a:solidFill>
              </a:rPr>
              <a:t>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'discard',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prstClr val="white"/>
                </a:solidFill>
              </a:rPr>
              <a:t>'intersection', </a:t>
            </a:r>
            <a:r>
              <a:rPr lang="en-US" sz="2600" spc="-70" dirty="0">
                <a:solidFill>
                  <a:prstClr val="white"/>
                </a:solidFill>
              </a:rPr>
              <a:t>'</a:t>
            </a:r>
            <a:r>
              <a:rPr lang="en-US" sz="2600" spc="-70" dirty="0" err="1">
                <a:solidFill>
                  <a:prstClr val="white"/>
                </a:solidFill>
              </a:rPr>
              <a:t>intersection_update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isdisjoint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issubset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issuperset</a:t>
            </a:r>
            <a:r>
              <a:rPr lang="en-US" sz="2600" spc="-70" dirty="0">
                <a:solidFill>
                  <a:prstClr val="white"/>
                </a:solidFill>
              </a:rPr>
              <a:t>', 'pop', 'remove',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symmetric_difference_update</a:t>
            </a:r>
            <a:r>
              <a:rPr lang="en-US" sz="2600" spc="-70" dirty="0">
                <a:solidFill>
                  <a:prstClr val="white"/>
                </a:solidFill>
              </a:rPr>
              <a:t>', 'union', 'update']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dict</a:t>
            </a:r>
            <a:r>
              <a:rPr lang="en-US" sz="2600" spc="-70" dirty="0">
                <a:solidFill>
                  <a:srgbClr val="FFFFFF"/>
                </a:solidFill>
              </a:rPr>
              <a:t>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11 dictionary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['clear', 'copy', '</a:t>
            </a:r>
            <a:r>
              <a:rPr lang="en-US" sz="2600" spc="-70" dirty="0" err="1">
                <a:solidFill>
                  <a:srgbClr val="FFFFFF"/>
                </a:solidFill>
              </a:rPr>
              <a:t>fromkeys</a:t>
            </a:r>
            <a:r>
              <a:rPr lang="en-US" sz="2600" spc="-70" dirty="0">
                <a:solidFill>
                  <a:srgbClr val="FFFFFF"/>
                </a:solidFill>
              </a:rPr>
              <a:t>', 'get', 'items', 'keys', 'pop', '</a:t>
            </a:r>
            <a:r>
              <a:rPr lang="en-US" sz="2600" spc="-70" dirty="0" err="1">
                <a:solidFill>
                  <a:srgbClr val="FFFFFF"/>
                </a:solidFill>
              </a:rPr>
              <a:t>popitem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setdefault</a:t>
            </a:r>
            <a:r>
              <a:rPr lang="en-US" sz="2600" spc="-70" dirty="0">
                <a:solidFill>
                  <a:srgbClr val="FFFFFF"/>
                </a:solidFill>
              </a:rPr>
              <a:t>', 'update', 'values']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str</a:t>
            </a:r>
            <a:r>
              <a:rPr lang="en-US" sz="2600" spc="-70" dirty="0">
                <a:solidFill>
                  <a:srgbClr val="FFFFFF"/>
                </a:solidFill>
              </a:rPr>
              <a:t>)[-44:]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44 string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['capitalize', '</a:t>
            </a:r>
            <a:r>
              <a:rPr lang="en-US" sz="2600" spc="-70" dirty="0" err="1">
                <a:solidFill>
                  <a:srgbClr val="FFFFFF"/>
                </a:solidFill>
              </a:rPr>
              <a:t>casefold</a:t>
            </a:r>
            <a:r>
              <a:rPr lang="en-US" sz="2600" spc="-70" dirty="0">
                <a:solidFill>
                  <a:srgbClr val="FFFFFF"/>
                </a:solidFill>
              </a:rPr>
              <a:t>', 'center', 'count', 'encode', '</a:t>
            </a:r>
            <a:r>
              <a:rPr lang="en-US" sz="2600" spc="-70" dirty="0" err="1">
                <a:solidFill>
                  <a:srgbClr val="FFFFFF"/>
                </a:solidFill>
              </a:rPr>
              <a:t>endswith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expandtabs</a:t>
            </a:r>
            <a:r>
              <a:rPr lang="en-US" sz="2600" spc="-70" dirty="0">
                <a:solidFill>
                  <a:srgbClr val="FFFFFF"/>
                </a:solidFill>
              </a:rPr>
              <a:t>', 'find', 'format', '</a:t>
            </a:r>
            <a:r>
              <a:rPr lang="en-US" sz="2600" spc="-70" dirty="0" err="1">
                <a:solidFill>
                  <a:srgbClr val="FFFFFF"/>
                </a:solidFill>
              </a:rPr>
              <a:t>format_map</a:t>
            </a:r>
            <a:r>
              <a:rPr lang="en-US" sz="2600" spc="-70" dirty="0">
                <a:solidFill>
                  <a:srgbClr val="FFFFFF"/>
                </a:solidFill>
              </a:rPr>
              <a:t>', 'index', '</a:t>
            </a:r>
            <a:r>
              <a:rPr lang="en-US" sz="2600" spc="-70" dirty="0" err="1">
                <a:solidFill>
                  <a:srgbClr val="FFFFFF"/>
                </a:solidFill>
              </a:rPr>
              <a:t>isalnum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isalpha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isdecimal</a:t>
            </a:r>
            <a:r>
              <a:rPr lang="en-US" sz="2600" spc="-70" dirty="0">
                <a:solidFill>
                  <a:srgbClr val="FFFFFF"/>
                </a:solidFill>
              </a:rPr>
              <a:t>', 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766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'__reduce__',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reduce_ex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repr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rmul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setattr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</a:t>
            </a:r>
            <a:r>
              <a:rPr lang="en-US" sz="2600" spc="-70" dirty="0">
                <a:solidFill>
                  <a:srgbClr val="705500"/>
                </a:solidFill>
              </a:rPr>
              <a:t> # One of those methods is count. Let’s see about it.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endParaRPr lang="en-US" spc="-7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80" dirty="0">
                <a:solidFill>
                  <a:prstClr val="black"/>
                </a:solidFill>
              </a:rPr>
              <a:t>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srgbClr val="FFFFFF"/>
                </a:solidFill>
              </a:rPr>
              <a:t>['add',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'clear',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'copy',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'difference',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</a:t>
            </a:r>
            <a:r>
              <a:rPr lang="en-US" sz="2600" spc="-80" dirty="0" err="1">
                <a:solidFill>
                  <a:srgbClr val="FFFFFF"/>
                </a:solidFill>
              </a:rPr>
              <a:t>difference</a:t>
            </a:r>
            <a:r>
              <a:rPr lang="en-US" sz="2600" spc="-80" dirty="0" err="1">
                <a:solidFill>
                  <a:srgbClr val="FFFFFF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FFFFFF"/>
                </a:solidFill>
              </a:rPr>
              <a:t>update</a:t>
            </a:r>
            <a:r>
              <a:rPr lang="en-US" sz="2600" spc="-80" dirty="0">
                <a:solidFill>
                  <a:srgbClr val="FFFFFF"/>
                </a:solidFill>
              </a:rPr>
              <a:t>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'discard',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prstClr val="white"/>
                </a:solidFill>
              </a:rPr>
              <a:t>'intersection', </a:t>
            </a:r>
            <a:r>
              <a:rPr lang="en-US" sz="2600" spc="-70" dirty="0">
                <a:solidFill>
                  <a:prstClr val="white"/>
                </a:solidFill>
              </a:rPr>
              <a:t>'</a:t>
            </a:r>
            <a:r>
              <a:rPr lang="en-US" sz="2600" spc="-70" dirty="0" err="1">
                <a:solidFill>
                  <a:prstClr val="white"/>
                </a:solidFill>
              </a:rPr>
              <a:t>intersection_update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isdisjoint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issubset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issuperset</a:t>
            </a:r>
            <a:r>
              <a:rPr lang="en-US" sz="2600" spc="-70" dirty="0">
                <a:solidFill>
                  <a:prstClr val="white"/>
                </a:solidFill>
              </a:rPr>
              <a:t>', 'pop', 'remove',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symmetric_difference_update</a:t>
            </a:r>
            <a:r>
              <a:rPr lang="en-US" sz="2600" spc="-70" dirty="0">
                <a:solidFill>
                  <a:prstClr val="white"/>
                </a:solidFill>
              </a:rPr>
              <a:t>', 'union', 'update']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dict</a:t>
            </a:r>
            <a:r>
              <a:rPr lang="en-US" sz="2600" spc="-70" dirty="0">
                <a:solidFill>
                  <a:srgbClr val="FFFFFF"/>
                </a:solidFill>
              </a:rPr>
              <a:t>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11 dictionary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['clear', 'copy', '</a:t>
            </a:r>
            <a:r>
              <a:rPr lang="en-US" sz="2600" spc="-70" dirty="0" err="1">
                <a:solidFill>
                  <a:srgbClr val="FFFFFF"/>
                </a:solidFill>
              </a:rPr>
              <a:t>fromkeys</a:t>
            </a:r>
            <a:r>
              <a:rPr lang="en-US" sz="2600" spc="-70" dirty="0">
                <a:solidFill>
                  <a:srgbClr val="FFFFFF"/>
                </a:solidFill>
              </a:rPr>
              <a:t>', 'get', 'items', 'keys', 'pop', '</a:t>
            </a:r>
            <a:r>
              <a:rPr lang="en-US" sz="2600" spc="-70" dirty="0" err="1">
                <a:solidFill>
                  <a:srgbClr val="FFFFFF"/>
                </a:solidFill>
              </a:rPr>
              <a:t>popitem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setdefault</a:t>
            </a:r>
            <a:r>
              <a:rPr lang="en-US" sz="2600" spc="-70" dirty="0">
                <a:solidFill>
                  <a:srgbClr val="FFFFFF"/>
                </a:solidFill>
              </a:rPr>
              <a:t>', 'update', 'values']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str</a:t>
            </a:r>
            <a:r>
              <a:rPr lang="en-US" sz="2600" spc="-70" dirty="0">
                <a:solidFill>
                  <a:srgbClr val="FFFFFF"/>
                </a:solidFill>
              </a:rPr>
              <a:t>)[-44:]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44 string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['capitalize', '</a:t>
            </a:r>
            <a:r>
              <a:rPr lang="en-US" sz="2600" spc="-70" dirty="0" err="1">
                <a:solidFill>
                  <a:srgbClr val="FFFFFF"/>
                </a:solidFill>
              </a:rPr>
              <a:t>casefold</a:t>
            </a:r>
            <a:r>
              <a:rPr lang="en-US" sz="2600" spc="-70" dirty="0">
                <a:solidFill>
                  <a:srgbClr val="FFFFFF"/>
                </a:solidFill>
              </a:rPr>
              <a:t>', 'center', 'count', 'encode', '</a:t>
            </a:r>
            <a:r>
              <a:rPr lang="en-US" sz="2600" spc="-70" dirty="0" err="1">
                <a:solidFill>
                  <a:srgbClr val="FFFFFF"/>
                </a:solidFill>
              </a:rPr>
              <a:t>endswith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expandtabs</a:t>
            </a:r>
            <a:r>
              <a:rPr lang="en-US" sz="2600" spc="-70" dirty="0">
                <a:solidFill>
                  <a:srgbClr val="FFFFFF"/>
                </a:solidFill>
              </a:rPr>
              <a:t>', 'find', 'format', '</a:t>
            </a:r>
            <a:r>
              <a:rPr lang="en-US" sz="2600" spc="-70" dirty="0" err="1">
                <a:solidFill>
                  <a:srgbClr val="FFFFFF"/>
                </a:solidFill>
              </a:rPr>
              <a:t>format_map</a:t>
            </a:r>
            <a:r>
              <a:rPr lang="en-US" sz="2600" spc="-70" dirty="0">
                <a:solidFill>
                  <a:srgbClr val="FFFFFF"/>
                </a:solidFill>
              </a:rPr>
              <a:t>', 'index', '</a:t>
            </a:r>
            <a:r>
              <a:rPr lang="en-US" sz="2600" spc="-70" dirty="0" err="1">
                <a:solidFill>
                  <a:srgbClr val="FFFFFF"/>
                </a:solidFill>
              </a:rPr>
              <a:t>isalnum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isalpha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isdecimal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isdigit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isidentifier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islower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isnumeric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isprintable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isspace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istitle</a:t>
            </a:r>
            <a:r>
              <a:rPr lang="en-US" sz="2600" spc="-70" dirty="0">
                <a:solidFill>
                  <a:srgbClr val="FFFFFF"/>
                </a:solidFill>
              </a:rPr>
              <a:t>', 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687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sizeof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'__</a:t>
            </a:r>
            <a:r>
              <a:rPr lang="en-US" sz="2600" spc="-7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subclasshook</a:t>
            </a:r>
            <a:r>
              <a:rPr lang="en-US" sz="2600" spc="-70" dirty="0">
                <a:solidFill>
                  <a:prstClr val="black">
                    <a:lumMod val="85000"/>
                    <a:lumOff val="15000"/>
                  </a:prstClr>
                </a:solidFill>
              </a:rPr>
              <a:t>__', </a:t>
            </a:r>
            <a:r>
              <a:rPr lang="en-US" sz="2600" spc="-70" dirty="0">
                <a:solidFill>
                  <a:srgbClr val="FFFFFF"/>
                </a:solidFill>
              </a:rPr>
              <a:t>'count', 'index']</a:t>
            </a:r>
          </a:p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</a:t>
            </a:r>
            <a:r>
              <a:rPr lang="en-US" sz="2600" spc="-70" dirty="0">
                <a:solidFill>
                  <a:srgbClr val="705500"/>
                </a:solidFill>
              </a:rPr>
              <a:t> # One of those methods is count. Let’s see about it.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endParaRPr lang="en-US" spc="-7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80" dirty="0">
                <a:solidFill>
                  <a:prstClr val="black"/>
                </a:solidFill>
              </a:rPr>
              <a:t>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srgbClr val="FFFFFF"/>
                </a:solidFill>
              </a:rPr>
              <a:t>['add',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'clear',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'copy',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'difference',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</a:t>
            </a:r>
            <a:r>
              <a:rPr lang="en-US" sz="2600" spc="-80" dirty="0" err="1">
                <a:solidFill>
                  <a:srgbClr val="FFFFFF"/>
                </a:solidFill>
              </a:rPr>
              <a:t>difference</a:t>
            </a:r>
            <a:r>
              <a:rPr lang="en-US" sz="2600" spc="-80" dirty="0" err="1">
                <a:solidFill>
                  <a:srgbClr val="FFFFFF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FFFFFF"/>
                </a:solidFill>
              </a:rPr>
              <a:t>update</a:t>
            </a:r>
            <a:r>
              <a:rPr lang="en-US" sz="2600" spc="-80" dirty="0">
                <a:solidFill>
                  <a:srgbClr val="FFFFFF"/>
                </a:solidFill>
              </a:rPr>
              <a:t>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'discard',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prstClr val="white"/>
                </a:solidFill>
              </a:rPr>
              <a:t>'intersection', </a:t>
            </a:r>
            <a:r>
              <a:rPr lang="en-US" sz="2600" spc="-70" dirty="0">
                <a:solidFill>
                  <a:prstClr val="white"/>
                </a:solidFill>
              </a:rPr>
              <a:t>'</a:t>
            </a:r>
            <a:r>
              <a:rPr lang="en-US" sz="2600" spc="-70" dirty="0" err="1">
                <a:solidFill>
                  <a:prstClr val="white"/>
                </a:solidFill>
              </a:rPr>
              <a:t>intersection_update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isdisjoint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issubset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issuperset</a:t>
            </a:r>
            <a:r>
              <a:rPr lang="en-US" sz="2600" spc="-70" dirty="0">
                <a:solidFill>
                  <a:prstClr val="white"/>
                </a:solidFill>
              </a:rPr>
              <a:t>', 'pop', 'remove',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symmetric_difference_update</a:t>
            </a:r>
            <a:r>
              <a:rPr lang="en-US" sz="2600" spc="-70" dirty="0">
                <a:solidFill>
                  <a:prstClr val="white"/>
                </a:solidFill>
              </a:rPr>
              <a:t>', 'union', 'update']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dict</a:t>
            </a:r>
            <a:r>
              <a:rPr lang="en-US" sz="2600" spc="-70" dirty="0">
                <a:solidFill>
                  <a:srgbClr val="FFFFFF"/>
                </a:solidFill>
              </a:rPr>
              <a:t>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11 dictionary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['clear', 'copy', '</a:t>
            </a:r>
            <a:r>
              <a:rPr lang="en-US" sz="2600" spc="-70" dirty="0" err="1">
                <a:solidFill>
                  <a:srgbClr val="FFFFFF"/>
                </a:solidFill>
              </a:rPr>
              <a:t>fromkeys</a:t>
            </a:r>
            <a:r>
              <a:rPr lang="en-US" sz="2600" spc="-70" dirty="0">
                <a:solidFill>
                  <a:srgbClr val="FFFFFF"/>
                </a:solidFill>
              </a:rPr>
              <a:t>', 'get', 'items', 'keys', 'pop', '</a:t>
            </a:r>
            <a:r>
              <a:rPr lang="en-US" sz="2600" spc="-70" dirty="0" err="1">
                <a:solidFill>
                  <a:srgbClr val="FFFFFF"/>
                </a:solidFill>
              </a:rPr>
              <a:t>popitem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setdefault</a:t>
            </a:r>
            <a:r>
              <a:rPr lang="en-US" sz="2600" spc="-70" dirty="0">
                <a:solidFill>
                  <a:srgbClr val="FFFFFF"/>
                </a:solidFill>
              </a:rPr>
              <a:t>', 'update', 'values']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str</a:t>
            </a:r>
            <a:r>
              <a:rPr lang="en-US" sz="2600" spc="-70" dirty="0">
                <a:solidFill>
                  <a:srgbClr val="FFFFFF"/>
                </a:solidFill>
              </a:rPr>
              <a:t>)[-44:]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44 string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['capitalize', '</a:t>
            </a:r>
            <a:r>
              <a:rPr lang="en-US" sz="2600" spc="-70" dirty="0" err="1">
                <a:solidFill>
                  <a:srgbClr val="FFFFFF"/>
                </a:solidFill>
              </a:rPr>
              <a:t>casefold</a:t>
            </a:r>
            <a:r>
              <a:rPr lang="en-US" sz="2600" spc="-70" dirty="0">
                <a:solidFill>
                  <a:srgbClr val="FFFFFF"/>
                </a:solidFill>
              </a:rPr>
              <a:t>', 'center', 'count', 'encode', '</a:t>
            </a:r>
            <a:r>
              <a:rPr lang="en-US" sz="2600" spc="-70" dirty="0" err="1">
                <a:solidFill>
                  <a:srgbClr val="FFFFFF"/>
                </a:solidFill>
              </a:rPr>
              <a:t>endswith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expandtabs</a:t>
            </a:r>
            <a:r>
              <a:rPr lang="en-US" sz="2600" spc="-70" dirty="0">
                <a:solidFill>
                  <a:srgbClr val="FFFFFF"/>
                </a:solidFill>
              </a:rPr>
              <a:t>', 'find', 'format', '</a:t>
            </a:r>
            <a:r>
              <a:rPr lang="en-US" sz="2600" spc="-70" dirty="0" err="1">
                <a:solidFill>
                  <a:srgbClr val="FFFFFF"/>
                </a:solidFill>
              </a:rPr>
              <a:t>format_map</a:t>
            </a:r>
            <a:r>
              <a:rPr lang="en-US" sz="2600" spc="-70" dirty="0">
                <a:solidFill>
                  <a:srgbClr val="FFFFFF"/>
                </a:solidFill>
              </a:rPr>
              <a:t>', 'index', '</a:t>
            </a:r>
            <a:r>
              <a:rPr lang="en-US" sz="2600" spc="-70" dirty="0" err="1">
                <a:solidFill>
                  <a:srgbClr val="FFFFFF"/>
                </a:solidFill>
              </a:rPr>
              <a:t>isalnum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isalpha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isdecimal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isdigit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isidentifier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islower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isnumeric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isprintable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isspace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istitle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isupper</a:t>
            </a:r>
            <a:r>
              <a:rPr lang="en-US" sz="2600" spc="-70" dirty="0">
                <a:solidFill>
                  <a:srgbClr val="FFFFFF"/>
                </a:solidFill>
              </a:rPr>
              <a:t>', 'join', '</a:t>
            </a:r>
            <a:r>
              <a:rPr lang="en-US" sz="2600" spc="-70" dirty="0" err="1">
                <a:solidFill>
                  <a:srgbClr val="FFFFFF"/>
                </a:solidFill>
              </a:rPr>
              <a:t>ljust</a:t>
            </a:r>
            <a:r>
              <a:rPr lang="en-US" sz="2600" spc="-70" dirty="0">
                <a:solidFill>
                  <a:srgbClr val="FFFFFF"/>
                </a:solidFill>
              </a:rPr>
              <a:t>', 'lower', '</a:t>
            </a:r>
            <a:r>
              <a:rPr lang="en-US" sz="2600" spc="-70" dirty="0" err="1">
                <a:solidFill>
                  <a:srgbClr val="FFFFFF"/>
                </a:solidFill>
              </a:rPr>
              <a:t>lstrip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maketrans</a:t>
            </a:r>
            <a:r>
              <a:rPr lang="en-US" sz="2600" spc="-70" dirty="0">
                <a:solidFill>
                  <a:srgbClr val="FFFFFF"/>
                </a:solidFill>
              </a:rPr>
              <a:t>', 'partition', 'replace', 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22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>
                <a:solidFill>
                  <a:srgbClr val="FFFFFF"/>
                </a:solidFill>
              </a:rPr>
              <a:t>help(</a:t>
            </a:r>
            <a:r>
              <a:rPr lang="en-US" sz="2600" spc="-70" dirty="0" err="1">
                <a:solidFill>
                  <a:srgbClr val="FFFFFF"/>
                </a:solidFill>
              </a:rPr>
              <a:t>tuple.count</a:t>
            </a:r>
            <a:r>
              <a:rPr lang="en-US" sz="2600" spc="-70" dirty="0">
                <a:solidFill>
                  <a:srgbClr val="FFFFFF"/>
                </a:solidFill>
              </a:rPr>
              <a:t>)</a:t>
            </a:r>
            <a:r>
              <a:rPr lang="en-US" sz="2600" spc="-70" dirty="0">
                <a:solidFill>
                  <a:srgbClr val="705500"/>
                </a:solidFill>
              </a:rPr>
              <a:t> # One of those methods is count. Let’s see about it.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endParaRPr lang="en-US" spc="-7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80" dirty="0">
                <a:solidFill>
                  <a:prstClr val="black"/>
                </a:solidFill>
              </a:rPr>
              <a:t>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srgbClr val="FFFFFF"/>
                </a:solidFill>
              </a:rPr>
              <a:t>['add',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'clear',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'copy',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'difference',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</a:t>
            </a:r>
            <a:r>
              <a:rPr lang="en-US" sz="2600" spc="-80" dirty="0" err="1">
                <a:solidFill>
                  <a:srgbClr val="FFFFFF"/>
                </a:solidFill>
              </a:rPr>
              <a:t>difference</a:t>
            </a:r>
            <a:r>
              <a:rPr lang="en-US" sz="2600" spc="-80" dirty="0" err="1">
                <a:solidFill>
                  <a:srgbClr val="FFFFFF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FFFFFF"/>
                </a:solidFill>
              </a:rPr>
              <a:t>update</a:t>
            </a:r>
            <a:r>
              <a:rPr lang="en-US" sz="2600" spc="-80" dirty="0">
                <a:solidFill>
                  <a:srgbClr val="FFFFFF"/>
                </a:solidFill>
              </a:rPr>
              <a:t>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'discard',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prstClr val="white"/>
                </a:solidFill>
              </a:rPr>
              <a:t>'intersection', </a:t>
            </a:r>
            <a:r>
              <a:rPr lang="en-US" sz="2600" spc="-70" dirty="0">
                <a:solidFill>
                  <a:prstClr val="white"/>
                </a:solidFill>
              </a:rPr>
              <a:t>'</a:t>
            </a:r>
            <a:r>
              <a:rPr lang="en-US" sz="2600" spc="-70" dirty="0" err="1">
                <a:solidFill>
                  <a:prstClr val="white"/>
                </a:solidFill>
              </a:rPr>
              <a:t>intersection_update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isdisjoint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issubset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issuperset</a:t>
            </a:r>
            <a:r>
              <a:rPr lang="en-US" sz="2600" spc="-70" dirty="0">
                <a:solidFill>
                  <a:prstClr val="white"/>
                </a:solidFill>
              </a:rPr>
              <a:t>', 'pop', 'remove',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symmetric_difference_update</a:t>
            </a:r>
            <a:r>
              <a:rPr lang="en-US" sz="2600" spc="-70" dirty="0">
                <a:solidFill>
                  <a:prstClr val="white"/>
                </a:solidFill>
              </a:rPr>
              <a:t>', 'union', 'update']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dict</a:t>
            </a:r>
            <a:r>
              <a:rPr lang="en-US" sz="2600" spc="-70" dirty="0">
                <a:solidFill>
                  <a:srgbClr val="FFFFFF"/>
                </a:solidFill>
              </a:rPr>
              <a:t>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11 dictionary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['clear', 'copy', '</a:t>
            </a:r>
            <a:r>
              <a:rPr lang="en-US" sz="2600" spc="-70" dirty="0" err="1">
                <a:solidFill>
                  <a:srgbClr val="FFFFFF"/>
                </a:solidFill>
              </a:rPr>
              <a:t>fromkeys</a:t>
            </a:r>
            <a:r>
              <a:rPr lang="en-US" sz="2600" spc="-70" dirty="0">
                <a:solidFill>
                  <a:srgbClr val="FFFFFF"/>
                </a:solidFill>
              </a:rPr>
              <a:t>', 'get', 'items', 'keys', 'pop', '</a:t>
            </a:r>
            <a:r>
              <a:rPr lang="en-US" sz="2600" spc="-70" dirty="0" err="1">
                <a:solidFill>
                  <a:srgbClr val="FFFFFF"/>
                </a:solidFill>
              </a:rPr>
              <a:t>popitem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setdefault</a:t>
            </a:r>
            <a:r>
              <a:rPr lang="en-US" sz="2600" spc="-70" dirty="0">
                <a:solidFill>
                  <a:srgbClr val="FFFFFF"/>
                </a:solidFill>
              </a:rPr>
              <a:t>', 'update', 'values']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str</a:t>
            </a:r>
            <a:r>
              <a:rPr lang="en-US" sz="2600" spc="-70" dirty="0">
                <a:solidFill>
                  <a:srgbClr val="FFFFFF"/>
                </a:solidFill>
              </a:rPr>
              <a:t>)[-44:]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44 string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['capitalize', '</a:t>
            </a:r>
            <a:r>
              <a:rPr lang="en-US" sz="2600" spc="-70" dirty="0" err="1">
                <a:solidFill>
                  <a:srgbClr val="FFFFFF"/>
                </a:solidFill>
              </a:rPr>
              <a:t>casefold</a:t>
            </a:r>
            <a:r>
              <a:rPr lang="en-US" sz="2600" spc="-70" dirty="0">
                <a:solidFill>
                  <a:srgbClr val="FFFFFF"/>
                </a:solidFill>
              </a:rPr>
              <a:t>', 'center', 'count', 'encode', '</a:t>
            </a:r>
            <a:r>
              <a:rPr lang="en-US" sz="2600" spc="-70" dirty="0" err="1">
                <a:solidFill>
                  <a:srgbClr val="FFFFFF"/>
                </a:solidFill>
              </a:rPr>
              <a:t>endswith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expandtabs</a:t>
            </a:r>
            <a:r>
              <a:rPr lang="en-US" sz="2600" spc="-70" dirty="0">
                <a:solidFill>
                  <a:srgbClr val="FFFFFF"/>
                </a:solidFill>
              </a:rPr>
              <a:t>', 'find', 'format', '</a:t>
            </a:r>
            <a:r>
              <a:rPr lang="en-US" sz="2600" spc="-70" dirty="0" err="1">
                <a:solidFill>
                  <a:srgbClr val="FFFFFF"/>
                </a:solidFill>
              </a:rPr>
              <a:t>format_map</a:t>
            </a:r>
            <a:r>
              <a:rPr lang="en-US" sz="2600" spc="-70" dirty="0">
                <a:solidFill>
                  <a:srgbClr val="FFFFFF"/>
                </a:solidFill>
              </a:rPr>
              <a:t>', 'index', '</a:t>
            </a:r>
            <a:r>
              <a:rPr lang="en-US" sz="2600" spc="-70" dirty="0" err="1">
                <a:solidFill>
                  <a:srgbClr val="FFFFFF"/>
                </a:solidFill>
              </a:rPr>
              <a:t>isalnum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isalpha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isdecimal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isdigit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isidentifier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islower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isnumeric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isprintable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isspace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istitle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isupper</a:t>
            </a:r>
            <a:r>
              <a:rPr lang="en-US" sz="2600" spc="-70" dirty="0">
                <a:solidFill>
                  <a:srgbClr val="FFFFFF"/>
                </a:solidFill>
              </a:rPr>
              <a:t>', 'join', '</a:t>
            </a:r>
            <a:r>
              <a:rPr lang="en-US" sz="2600" spc="-70" dirty="0" err="1">
                <a:solidFill>
                  <a:srgbClr val="FFFFFF"/>
                </a:solidFill>
              </a:rPr>
              <a:t>ljust</a:t>
            </a:r>
            <a:r>
              <a:rPr lang="en-US" sz="2600" spc="-70" dirty="0">
                <a:solidFill>
                  <a:srgbClr val="FFFFFF"/>
                </a:solidFill>
              </a:rPr>
              <a:t>', 'lower', '</a:t>
            </a:r>
            <a:r>
              <a:rPr lang="en-US" sz="2600" spc="-70" dirty="0" err="1">
                <a:solidFill>
                  <a:srgbClr val="FFFFFF"/>
                </a:solidFill>
              </a:rPr>
              <a:t>lstrip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maketrans</a:t>
            </a:r>
            <a:r>
              <a:rPr lang="en-US" sz="2600" spc="-70" dirty="0">
                <a:solidFill>
                  <a:srgbClr val="FFFFFF"/>
                </a:solidFill>
              </a:rPr>
              <a:t>', 'partition', 'replace', '</a:t>
            </a:r>
            <a:r>
              <a:rPr lang="en-US" sz="2600" spc="-70" dirty="0" err="1">
                <a:solidFill>
                  <a:srgbClr val="FFFFFF"/>
                </a:solidFill>
              </a:rPr>
              <a:t>rfind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rindex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rjust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rpartition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rsplit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rstrip</a:t>
            </a:r>
            <a:r>
              <a:rPr lang="en-US" sz="2600" spc="-70" dirty="0">
                <a:solidFill>
                  <a:srgbClr val="FFFFFF"/>
                </a:solidFill>
              </a:rPr>
              <a:t>', 'split', '</a:t>
            </a:r>
            <a:r>
              <a:rPr lang="en-US" sz="2600" spc="-70" dirty="0" err="1">
                <a:solidFill>
                  <a:srgbClr val="FFFFFF"/>
                </a:solidFill>
              </a:rPr>
              <a:t>splitlines</a:t>
            </a:r>
            <a:r>
              <a:rPr lang="en-US" sz="2600" spc="-70" dirty="0">
                <a:solidFill>
                  <a:srgbClr val="FFFFFF"/>
                </a:solidFill>
              </a:rPr>
              <a:t>', 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517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7000"/>
              </a:lnSpc>
            </a:pPr>
            <a:endParaRPr lang="en-US" sz="1600" spc="-7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80" dirty="0">
                <a:solidFill>
                  <a:prstClr val="black"/>
                </a:solidFill>
              </a:rPr>
              <a:t>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77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80" dirty="0">
                <a:solidFill>
                  <a:srgbClr val="FFFFFF"/>
                </a:solidFill>
              </a:rPr>
              <a:t>['add',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'clear',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'copy',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'difference',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</a:t>
            </a:r>
            <a:r>
              <a:rPr lang="en-US" sz="2600" spc="-80" dirty="0" err="1">
                <a:solidFill>
                  <a:srgbClr val="FFFFFF"/>
                </a:solidFill>
              </a:rPr>
              <a:t>difference</a:t>
            </a:r>
            <a:r>
              <a:rPr lang="en-US" sz="2600" spc="-80" dirty="0" err="1">
                <a:solidFill>
                  <a:srgbClr val="FFFFFF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FFFFFF"/>
                </a:solidFill>
              </a:rPr>
              <a:t>update</a:t>
            </a:r>
            <a:r>
              <a:rPr lang="en-US" sz="2600" spc="-80" dirty="0">
                <a:solidFill>
                  <a:srgbClr val="FFFFFF"/>
                </a:solidFill>
              </a:rPr>
              <a:t>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'discard',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prstClr val="white"/>
                </a:solidFill>
              </a:rPr>
              <a:t>'intersection', </a:t>
            </a:r>
            <a:r>
              <a:rPr lang="en-US" sz="2600" spc="-70" dirty="0">
                <a:solidFill>
                  <a:prstClr val="white"/>
                </a:solidFill>
              </a:rPr>
              <a:t>'</a:t>
            </a:r>
            <a:r>
              <a:rPr lang="en-US" sz="2600" spc="-70" dirty="0" err="1">
                <a:solidFill>
                  <a:prstClr val="white"/>
                </a:solidFill>
              </a:rPr>
              <a:t>intersection_update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isdisjoint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issubset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issuperset</a:t>
            </a:r>
            <a:r>
              <a:rPr lang="en-US" sz="2600" spc="-70" dirty="0">
                <a:solidFill>
                  <a:prstClr val="white"/>
                </a:solidFill>
              </a:rPr>
              <a:t>', 'pop', 'remove',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symmetric_difference_update</a:t>
            </a:r>
            <a:r>
              <a:rPr lang="en-US" sz="2600" spc="-70" dirty="0">
                <a:solidFill>
                  <a:prstClr val="white"/>
                </a:solidFill>
              </a:rPr>
              <a:t>', 'union', 'update']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dict</a:t>
            </a:r>
            <a:r>
              <a:rPr lang="en-US" sz="2600" spc="-70" dirty="0">
                <a:solidFill>
                  <a:srgbClr val="FFFFFF"/>
                </a:solidFill>
              </a:rPr>
              <a:t>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11 dictionary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['clear', 'copy', '</a:t>
            </a:r>
            <a:r>
              <a:rPr lang="en-US" sz="2600" spc="-70" dirty="0" err="1">
                <a:solidFill>
                  <a:srgbClr val="FFFFFF"/>
                </a:solidFill>
              </a:rPr>
              <a:t>fromkeys</a:t>
            </a:r>
            <a:r>
              <a:rPr lang="en-US" sz="2600" spc="-70" dirty="0">
                <a:solidFill>
                  <a:srgbClr val="FFFFFF"/>
                </a:solidFill>
              </a:rPr>
              <a:t>', 'get', 'items', 'keys', 'pop', '</a:t>
            </a:r>
            <a:r>
              <a:rPr lang="en-US" sz="2600" spc="-70" dirty="0" err="1">
                <a:solidFill>
                  <a:srgbClr val="FFFFFF"/>
                </a:solidFill>
              </a:rPr>
              <a:t>popitem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setdefault</a:t>
            </a:r>
            <a:r>
              <a:rPr lang="en-US" sz="2600" spc="-70" dirty="0">
                <a:solidFill>
                  <a:srgbClr val="FFFFFF"/>
                </a:solidFill>
              </a:rPr>
              <a:t>', 'update', 'values']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str</a:t>
            </a:r>
            <a:r>
              <a:rPr lang="en-US" sz="2600" spc="-70" dirty="0">
                <a:solidFill>
                  <a:srgbClr val="FFFFFF"/>
                </a:solidFill>
              </a:rPr>
              <a:t>)[-44:]</a:t>
            </a:r>
            <a:r>
              <a:rPr lang="en-US" sz="2600" spc="-70" dirty="0">
                <a:solidFill>
                  <a:srgbClr val="705500"/>
                </a:solidFill>
              </a:rPr>
              <a:t> 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# 44 string methods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['capitalize', '</a:t>
            </a:r>
            <a:r>
              <a:rPr lang="en-US" sz="2600" spc="-70" dirty="0" err="1">
                <a:solidFill>
                  <a:srgbClr val="FFFFFF"/>
                </a:solidFill>
              </a:rPr>
              <a:t>casefold</a:t>
            </a:r>
            <a:r>
              <a:rPr lang="en-US" sz="2600" spc="-70" dirty="0">
                <a:solidFill>
                  <a:srgbClr val="FFFFFF"/>
                </a:solidFill>
              </a:rPr>
              <a:t>', 'center', 'count', 'encode', '</a:t>
            </a:r>
            <a:r>
              <a:rPr lang="en-US" sz="2600" spc="-70" dirty="0" err="1">
                <a:solidFill>
                  <a:srgbClr val="FFFFFF"/>
                </a:solidFill>
              </a:rPr>
              <a:t>endswith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expandtabs</a:t>
            </a:r>
            <a:r>
              <a:rPr lang="en-US" sz="2600" spc="-70" dirty="0">
                <a:solidFill>
                  <a:srgbClr val="FFFFFF"/>
                </a:solidFill>
              </a:rPr>
              <a:t>', 'find', 'format', '</a:t>
            </a:r>
            <a:r>
              <a:rPr lang="en-US" sz="2600" spc="-70" dirty="0" err="1">
                <a:solidFill>
                  <a:srgbClr val="FFFFFF"/>
                </a:solidFill>
              </a:rPr>
              <a:t>format_map</a:t>
            </a:r>
            <a:r>
              <a:rPr lang="en-US" sz="2600" spc="-70" dirty="0">
                <a:solidFill>
                  <a:srgbClr val="FFFFFF"/>
                </a:solidFill>
              </a:rPr>
              <a:t>', 'index', '</a:t>
            </a:r>
            <a:r>
              <a:rPr lang="en-US" sz="2600" spc="-70" dirty="0" err="1">
                <a:solidFill>
                  <a:srgbClr val="FFFFFF"/>
                </a:solidFill>
              </a:rPr>
              <a:t>isalnum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isalpha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isdecimal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isdigit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isidentifier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islower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isnumeric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isprintable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isspace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istitle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isupper</a:t>
            </a:r>
            <a:r>
              <a:rPr lang="en-US" sz="2600" spc="-70" dirty="0">
                <a:solidFill>
                  <a:srgbClr val="FFFFFF"/>
                </a:solidFill>
              </a:rPr>
              <a:t>', 'join', '</a:t>
            </a:r>
            <a:r>
              <a:rPr lang="en-US" sz="2600" spc="-70" dirty="0" err="1">
                <a:solidFill>
                  <a:srgbClr val="FFFFFF"/>
                </a:solidFill>
              </a:rPr>
              <a:t>ljust</a:t>
            </a:r>
            <a:r>
              <a:rPr lang="en-US" sz="2600" spc="-70" dirty="0">
                <a:solidFill>
                  <a:srgbClr val="FFFFFF"/>
                </a:solidFill>
              </a:rPr>
              <a:t>', 'lower', '</a:t>
            </a:r>
            <a:r>
              <a:rPr lang="en-US" sz="2600" spc="-70" dirty="0" err="1">
                <a:solidFill>
                  <a:srgbClr val="FFFFFF"/>
                </a:solidFill>
              </a:rPr>
              <a:t>lstrip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maketrans</a:t>
            </a:r>
            <a:r>
              <a:rPr lang="en-US" sz="2600" spc="-70" dirty="0">
                <a:solidFill>
                  <a:srgbClr val="FFFFFF"/>
                </a:solidFill>
              </a:rPr>
              <a:t>', 'partition', 'replace', '</a:t>
            </a:r>
            <a:r>
              <a:rPr lang="en-US" sz="2600" spc="-70" dirty="0" err="1">
                <a:solidFill>
                  <a:srgbClr val="FFFFFF"/>
                </a:solidFill>
              </a:rPr>
              <a:t>rfind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rindex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rjust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rpartition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rsplit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rstrip</a:t>
            </a:r>
            <a:r>
              <a:rPr lang="en-US" sz="2600" spc="-70" dirty="0">
                <a:solidFill>
                  <a:srgbClr val="FFFFFF"/>
                </a:solidFill>
              </a:rPr>
              <a:t>', 'split', '</a:t>
            </a:r>
            <a:r>
              <a:rPr lang="en-US" sz="2600" spc="-70" dirty="0" err="1">
                <a:solidFill>
                  <a:srgbClr val="FFFFFF"/>
                </a:solidFill>
              </a:rPr>
              <a:t>splitlines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startswith</a:t>
            </a:r>
            <a:r>
              <a:rPr lang="en-US" sz="2600" spc="-70" dirty="0">
                <a:solidFill>
                  <a:srgbClr val="FFFFFF"/>
                </a:solidFill>
              </a:rPr>
              <a:t>', 'strip', '</a:t>
            </a:r>
            <a:r>
              <a:rPr lang="en-US" sz="2600" spc="-70" dirty="0" err="1">
                <a:solidFill>
                  <a:srgbClr val="FFFFFF"/>
                </a:solidFill>
              </a:rPr>
              <a:t>swapcase</a:t>
            </a:r>
            <a:r>
              <a:rPr lang="en-US" sz="2600" spc="-70" dirty="0">
                <a:solidFill>
                  <a:srgbClr val="FFFFFF"/>
                </a:solidFill>
              </a:rPr>
              <a:t>', 'title', 'translate', 'upper', '</a:t>
            </a:r>
            <a:r>
              <a:rPr lang="en-US" sz="2600" spc="-70" dirty="0" err="1">
                <a:solidFill>
                  <a:srgbClr val="FFFFFF"/>
                </a:solidFill>
              </a:rPr>
              <a:t>zfill</a:t>
            </a:r>
            <a:r>
              <a:rPr lang="en-US" sz="2600" spc="-70" dirty="0">
                <a:solidFill>
                  <a:srgbClr val="FFFFFF"/>
                </a:solidFill>
              </a:rPr>
              <a:t>']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35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80" dirty="0">
                <a:solidFill>
                  <a:prstClr val="black"/>
                </a:solidFill>
              </a:rPr>
              <a:t>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srgbClr val="FFFFFF"/>
                </a:solidFill>
              </a:rPr>
              <a:t>['add',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'clear',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'copy',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'difference',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</a:t>
            </a:r>
            <a:r>
              <a:rPr lang="en-US" sz="2600" spc="-80" dirty="0" err="1">
                <a:solidFill>
                  <a:srgbClr val="FFFFFF"/>
                </a:solidFill>
              </a:rPr>
              <a:t>difference</a:t>
            </a:r>
            <a:r>
              <a:rPr lang="en-US" sz="2600" spc="-80" dirty="0" err="1">
                <a:solidFill>
                  <a:srgbClr val="FFFFFF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FFFFFF"/>
                </a:solidFill>
              </a:rPr>
              <a:t>update</a:t>
            </a:r>
            <a:r>
              <a:rPr lang="en-US" sz="2600" spc="-80" dirty="0">
                <a:solidFill>
                  <a:srgbClr val="FFFFFF"/>
                </a:solidFill>
              </a:rPr>
              <a:t>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'discard',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prstClr val="white"/>
                </a:solidFill>
              </a:rPr>
              <a:t>'intersection', </a:t>
            </a:r>
            <a:r>
              <a:rPr lang="en-US" sz="2600" spc="-70" dirty="0">
                <a:solidFill>
                  <a:prstClr val="white"/>
                </a:solidFill>
              </a:rPr>
              <a:t>'</a:t>
            </a:r>
            <a:r>
              <a:rPr lang="en-US" sz="2600" spc="-70" dirty="0" err="1">
                <a:solidFill>
                  <a:prstClr val="white"/>
                </a:solidFill>
              </a:rPr>
              <a:t>intersection_update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isdisjoint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issubset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issuperset</a:t>
            </a:r>
            <a:r>
              <a:rPr lang="en-US" sz="2600" spc="-70" dirty="0">
                <a:solidFill>
                  <a:prstClr val="white"/>
                </a:solidFill>
              </a:rPr>
              <a:t>', 'pop', 'remove',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symmetric_difference_update</a:t>
            </a:r>
            <a:r>
              <a:rPr lang="en-US" sz="2600" spc="-70" dirty="0">
                <a:solidFill>
                  <a:prstClr val="white"/>
                </a:solidFill>
              </a:rPr>
              <a:t>', 'union', 'update']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dict</a:t>
            </a:r>
            <a:r>
              <a:rPr lang="en-US" sz="2600" spc="-70" dirty="0">
                <a:solidFill>
                  <a:srgbClr val="FFFFFF"/>
                </a:solidFill>
              </a:rPr>
              <a:t>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11 dictionary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['clear', 'copy', '</a:t>
            </a:r>
            <a:r>
              <a:rPr lang="en-US" sz="2600" spc="-70" dirty="0" err="1">
                <a:solidFill>
                  <a:srgbClr val="FFFFFF"/>
                </a:solidFill>
              </a:rPr>
              <a:t>fromkeys</a:t>
            </a:r>
            <a:r>
              <a:rPr lang="en-US" sz="2600" spc="-70" dirty="0">
                <a:solidFill>
                  <a:srgbClr val="FFFFFF"/>
                </a:solidFill>
              </a:rPr>
              <a:t>', 'get', 'items', 'keys', 'pop', '</a:t>
            </a:r>
            <a:r>
              <a:rPr lang="en-US" sz="2600" spc="-70" dirty="0" err="1">
                <a:solidFill>
                  <a:srgbClr val="FFFFFF"/>
                </a:solidFill>
              </a:rPr>
              <a:t>popitem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setdefault</a:t>
            </a:r>
            <a:r>
              <a:rPr lang="en-US" sz="2600" spc="-70" dirty="0">
                <a:solidFill>
                  <a:srgbClr val="FFFFFF"/>
                </a:solidFill>
              </a:rPr>
              <a:t>', 'update', 'values']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str</a:t>
            </a:r>
            <a:r>
              <a:rPr lang="en-US" sz="2600" spc="-70" dirty="0">
                <a:solidFill>
                  <a:srgbClr val="FFFFFF"/>
                </a:solidFill>
              </a:rPr>
              <a:t>)[-44:]</a:t>
            </a:r>
            <a:r>
              <a:rPr lang="en-US" sz="2600" spc="-70" dirty="0">
                <a:solidFill>
                  <a:srgbClr val="705500"/>
                </a:solidFill>
              </a:rPr>
              <a:t> 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# 44 string methods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['capitalize', '</a:t>
            </a:r>
            <a:r>
              <a:rPr lang="en-US" sz="2600" spc="-70" dirty="0" err="1">
                <a:solidFill>
                  <a:srgbClr val="FFFFFF"/>
                </a:solidFill>
              </a:rPr>
              <a:t>casefold</a:t>
            </a:r>
            <a:r>
              <a:rPr lang="en-US" sz="2600" spc="-70" dirty="0">
                <a:solidFill>
                  <a:srgbClr val="FFFFFF"/>
                </a:solidFill>
              </a:rPr>
              <a:t>', 'center', 'count', 'encode', '</a:t>
            </a:r>
            <a:r>
              <a:rPr lang="en-US" sz="2600" spc="-70" dirty="0" err="1">
                <a:solidFill>
                  <a:srgbClr val="FFFFFF"/>
                </a:solidFill>
              </a:rPr>
              <a:t>endswith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expandtabs</a:t>
            </a:r>
            <a:r>
              <a:rPr lang="en-US" sz="2600" spc="-70" dirty="0">
                <a:solidFill>
                  <a:srgbClr val="FFFFFF"/>
                </a:solidFill>
              </a:rPr>
              <a:t>', 'find', 'format', '</a:t>
            </a:r>
            <a:r>
              <a:rPr lang="en-US" sz="2600" spc="-70" dirty="0" err="1">
                <a:solidFill>
                  <a:srgbClr val="FFFFFF"/>
                </a:solidFill>
              </a:rPr>
              <a:t>format_map</a:t>
            </a:r>
            <a:r>
              <a:rPr lang="en-US" sz="2600" spc="-70" dirty="0">
                <a:solidFill>
                  <a:srgbClr val="FFFFFF"/>
                </a:solidFill>
              </a:rPr>
              <a:t>', 'index', '</a:t>
            </a:r>
            <a:r>
              <a:rPr lang="en-US" sz="2600" spc="-70" dirty="0" err="1">
                <a:solidFill>
                  <a:srgbClr val="FFFFFF"/>
                </a:solidFill>
              </a:rPr>
              <a:t>isalnum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isalpha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isdecimal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isdigit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isidentifier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islower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isnumeric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isprintable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isspace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istitle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isupper</a:t>
            </a:r>
            <a:r>
              <a:rPr lang="en-US" sz="2600" spc="-70" dirty="0">
                <a:solidFill>
                  <a:srgbClr val="FFFFFF"/>
                </a:solidFill>
              </a:rPr>
              <a:t>', 'join', '</a:t>
            </a:r>
            <a:r>
              <a:rPr lang="en-US" sz="2600" spc="-70" dirty="0" err="1">
                <a:solidFill>
                  <a:srgbClr val="FFFFFF"/>
                </a:solidFill>
              </a:rPr>
              <a:t>ljust</a:t>
            </a:r>
            <a:r>
              <a:rPr lang="en-US" sz="2600" spc="-70" dirty="0">
                <a:solidFill>
                  <a:srgbClr val="FFFFFF"/>
                </a:solidFill>
              </a:rPr>
              <a:t>', 'lower', '</a:t>
            </a:r>
            <a:r>
              <a:rPr lang="en-US" sz="2600" spc="-70" dirty="0" err="1">
                <a:solidFill>
                  <a:srgbClr val="FFFFFF"/>
                </a:solidFill>
              </a:rPr>
              <a:t>lstrip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maketrans</a:t>
            </a:r>
            <a:r>
              <a:rPr lang="en-US" sz="2600" spc="-70" dirty="0">
                <a:solidFill>
                  <a:srgbClr val="FFFFFF"/>
                </a:solidFill>
              </a:rPr>
              <a:t>', 'partition', 'replace', '</a:t>
            </a:r>
            <a:r>
              <a:rPr lang="en-US" sz="2600" spc="-70" dirty="0" err="1">
                <a:solidFill>
                  <a:srgbClr val="FFFFFF"/>
                </a:solidFill>
              </a:rPr>
              <a:t>rfind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rindex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rjust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rpartition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rsplit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rstrip</a:t>
            </a:r>
            <a:r>
              <a:rPr lang="en-US" sz="2600" spc="-70" dirty="0">
                <a:solidFill>
                  <a:srgbClr val="FFFFFF"/>
                </a:solidFill>
              </a:rPr>
              <a:t>', 'split', '</a:t>
            </a:r>
            <a:r>
              <a:rPr lang="en-US" sz="2600" spc="-70" dirty="0" err="1">
                <a:solidFill>
                  <a:srgbClr val="FFFFFF"/>
                </a:solidFill>
              </a:rPr>
              <a:t>splitlines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startswith</a:t>
            </a:r>
            <a:r>
              <a:rPr lang="en-US" sz="2600" spc="-70" dirty="0">
                <a:solidFill>
                  <a:srgbClr val="FFFFFF"/>
                </a:solidFill>
              </a:rPr>
              <a:t>', 'strip', '</a:t>
            </a:r>
            <a:r>
              <a:rPr lang="en-US" sz="2600" spc="-70" dirty="0" err="1">
                <a:solidFill>
                  <a:srgbClr val="FFFFFF"/>
                </a:solidFill>
              </a:rPr>
              <a:t>swapcase</a:t>
            </a:r>
            <a:r>
              <a:rPr lang="en-US" sz="2600" spc="-70" dirty="0">
                <a:solidFill>
                  <a:srgbClr val="FFFFFF"/>
                </a:solidFill>
              </a:rPr>
              <a:t>', 'title', 'translate', 'upper', '</a:t>
            </a:r>
            <a:r>
              <a:rPr lang="en-US" sz="2600" spc="-70" dirty="0" err="1">
                <a:solidFill>
                  <a:srgbClr val="FFFFFF"/>
                </a:solidFill>
              </a:rPr>
              <a:t>zfill</a:t>
            </a:r>
            <a:r>
              <a:rPr lang="en-US" sz="2600" spc="-70" dirty="0">
                <a:solidFill>
                  <a:srgbClr val="FFFFFF"/>
                </a:solidFill>
              </a:rPr>
              <a:t>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03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(tuple)[-2:] # Since the methods are at the end, let’s see just the end: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['count', 'index']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(list)[-11:] # I happen to know that there are 11 list methods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(set)[-17:] # I happen to know that there are 17 set methods</a:t>
            </a:r>
          </a:p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['add',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'clear',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'copy',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'difference',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difference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update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'discard',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'intersection',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intersection_update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isdisjoint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issubset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issuperset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'pop', 'remove',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'union', 'update']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dict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)[-11:] # 11 dictionary methods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['clear', 'copy',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fromkeys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'get', 'items', 'keys', 'pop',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popitem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setdefault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'update', 'values']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)[-44:] # 44 string methods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['capitalize',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casefold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'center', 'count', 'encode',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endswith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expandtabs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'find', 'format',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format_map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'index',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isalnum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isalpha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isdecimal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isdigit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isidentifier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islower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isnumeric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isprintable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isspace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istitle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isupper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'join',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ljust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'lower',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lstrip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maketrans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'partition', 'replace',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rfind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rindex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rjust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rpartition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rsplit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rstrip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'split',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splitlines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startswith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'strip',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swapcase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'title', 'translate', 'upper',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zfill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25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(tuple)[-2:] # Since the methods are at the end, let’s see just the end: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['count', 'index']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(list)[-11:] # I happen to know that there are 11 list methods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(set)[-17:] # I happen to know that there are 17 set methods</a:t>
            </a:r>
          </a:p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['add',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'clear',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'copy',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'difference',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difference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update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'discard',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'intersection',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intersection_update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isdisjoint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issubset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issuperset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'pop', 'remove',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'union', 'update']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dict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)[-11:] # 11 dictionary methods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['clear', 'copy',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fromkeys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'get', 'items', 'keys', 'pop',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popitem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setdefault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'update', 'values']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</a:t>
            </a:r>
            <a:r>
              <a:rPr lang="en-US" sz="2600" b="1" spc="-70" dirty="0" err="1">
                <a:solidFill>
                  <a:srgbClr val="FF1493"/>
                </a:solidFill>
              </a:rPr>
              <a:t>str</a:t>
            </a:r>
            <a:r>
              <a:rPr lang="en-US" sz="2600" spc="-70" dirty="0">
                <a:solidFill>
                  <a:prstClr val="white"/>
                </a:solidFill>
              </a:rPr>
              <a:t>)[-44:]</a:t>
            </a:r>
            <a:r>
              <a:rPr lang="en-US" sz="24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prstClr val="white"/>
                </a:solidFill>
              </a:rPr>
              <a:t># 16 string methods are important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480027"/>
                </a:solidFill>
              </a:rPr>
              <a:t>'capitalize',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casefold</a:t>
            </a:r>
            <a:r>
              <a:rPr lang="en-US" sz="2600" spc="-70" dirty="0">
                <a:solidFill>
                  <a:srgbClr val="480027"/>
                </a:solidFill>
              </a:rPr>
              <a:t>', 'center', '</a:t>
            </a:r>
            <a:r>
              <a:rPr lang="en-US" sz="2600" spc="-70" dirty="0">
                <a:solidFill>
                  <a:srgbClr val="FF1493"/>
                </a:solidFill>
              </a:rPr>
              <a:t>count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encode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endswith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expandtabs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find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'format', '</a:t>
            </a:r>
            <a:r>
              <a:rPr lang="en-US" sz="2600" spc="-70" dirty="0" err="1">
                <a:solidFill>
                  <a:srgbClr val="480027"/>
                </a:solidFill>
              </a:rPr>
              <a:t>format_map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index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isalnum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isalpha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isdecimal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isdigit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isidentifier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isnumeric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isprintable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isspace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istitle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join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ljust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lstrip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maketrans</a:t>
            </a:r>
            <a:r>
              <a:rPr lang="en-US" sz="2600" spc="-70" dirty="0">
                <a:solidFill>
                  <a:srgbClr val="480027"/>
                </a:solidFill>
              </a:rPr>
              <a:t>', 'partition', '</a:t>
            </a:r>
            <a:r>
              <a:rPr lang="en-US" sz="2600" spc="-70" dirty="0">
                <a:solidFill>
                  <a:srgbClr val="FF1493"/>
                </a:solidFill>
              </a:rPr>
              <a:t>replace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rfind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rindex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rjust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rpartition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rsplit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rstrip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split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splitlines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startswith</a:t>
            </a:r>
            <a:r>
              <a:rPr lang="en-US" sz="2600" spc="-70" dirty="0">
                <a:solidFill>
                  <a:srgbClr val="480027"/>
                </a:solidFill>
              </a:rPr>
              <a:t>', 'strip', '</a:t>
            </a:r>
            <a:r>
              <a:rPr lang="en-US" sz="2600" spc="-70" dirty="0" err="1">
                <a:solidFill>
                  <a:srgbClr val="480027"/>
                </a:solidFill>
              </a:rPr>
              <a:t>swapcase</a:t>
            </a:r>
            <a:r>
              <a:rPr lang="en-US" sz="2600" spc="-70" dirty="0">
                <a:solidFill>
                  <a:srgbClr val="480027"/>
                </a:solidFill>
              </a:rPr>
              <a:t>', 'title', 'translate', '</a:t>
            </a:r>
            <a:r>
              <a:rPr lang="en-US" sz="2600" spc="-70" dirty="0">
                <a:solidFill>
                  <a:srgbClr val="FF1493"/>
                </a:solidFill>
              </a:rPr>
              <a:t>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zfill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4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(tuple)[-2:] # Since the methods are at the end, let’s see just the end: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['count', 'index']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(list)[-11:] # I happen to know that there are 11 list methods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(set)[-17:] # I happen to know that there are 17 set methods</a:t>
            </a:r>
          </a:p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['add',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'clear',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'copy',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'difference',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difference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update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'discard',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'intersection',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intersection_update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isdisjoint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issubset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issuperset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'pop', 'remove',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'union', 'update']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dict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)[-11:] # 11 dictionary methods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['clear', 'copy',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fromkeys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'get', 'items', 'keys', 'pop',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popitem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setdefault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'update', 'values']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ImportantMethodsOf</a:t>
            </a:r>
            <a:r>
              <a:rPr lang="en-US" sz="2600" spc="-70" dirty="0">
                <a:solidFill>
                  <a:prstClr val="white"/>
                </a:solidFill>
              </a:rPr>
              <a:t>(</a:t>
            </a:r>
            <a:r>
              <a:rPr lang="en-US" sz="2600" b="1" spc="-70" dirty="0" err="1">
                <a:solidFill>
                  <a:srgbClr val="FF1493"/>
                </a:solidFill>
              </a:rPr>
              <a:t>str</a:t>
            </a:r>
            <a:r>
              <a:rPr lang="en-US" sz="2600" spc="-70" dirty="0">
                <a:solidFill>
                  <a:prstClr val="white"/>
                </a:solidFill>
              </a:rPr>
              <a:t>) #Assume I have written this function…</a:t>
            </a:r>
            <a:endParaRPr lang="en-US" sz="2600" spc="-70" dirty="0">
              <a:solidFill>
                <a:srgbClr val="7F7F7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count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encode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find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index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isalnum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isalpha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isdigit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isnumeric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join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lower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replace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split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startswith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upper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  <a:r>
              <a:rPr lang="en-US" sz="2600" spc="-70" dirty="0">
                <a:solidFill>
                  <a:srgbClr val="7F7F7F"/>
                </a:solidFill>
              </a:rPr>
              <a:t>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97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(tuple)[-2:] # Since the methods are at the end, let’s see just the end: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['count', 'index']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(list)[-11:] # I happen to know that there are 11 list methods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(set)[-17:] # I happen to know that there are 17 set methods</a:t>
            </a:r>
          </a:p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['add',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'clear',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'copy',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'difference',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difference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update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'discard',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'intersection',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intersection_update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isdisjoint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issubset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issuperset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'pop', 'remove',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'union', 'update']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</a:t>
            </a:r>
            <a:r>
              <a:rPr lang="en-US" sz="2600" spc="-70" dirty="0" err="1">
                <a:solidFill>
                  <a:srgbClr val="FF0000"/>
                </a:solidFill>
              </a:rPr>
              <a:t>dict</a:t>
            </a:r>
            <a:r>
              <a:rPr lang="en-US" sz="2600" spc="-70" dirty="0">
                <a:solidFill>
                  <a:prstClr val="white"/>
                </a:solidFill>
              </a:rPr>
              <a:t>)[-11:] # 9 dictionary methods are important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srgbClr val="FF0000"/>
                </a:solidFill>
              </a:rPr>
              <a:t>clear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copy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fromkeys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get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items</a:t>
            </a:r>
            <a:r>
              <a:rPr lang="en-US" sz="2600" spc="-70" dirty="0">
                <a:solidFill>
                  <a:srgbClr val="7A0000"/>
                </a:solidFill>
              </a:rPr>
              <a:t>', </a:t>
            </a:r>
            <a:r>
              <a:rPr lang="en-US" sz="2600" spc="-70" dirty="0">
                <a:solidFill>
                  <a:srgbClr val="FF0000"/>
                </a:solidFill>
              </a:rPr>
              <a:t>'keys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pop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popitem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7A0000"/>
                </a:solidFill>
              </a:rPr>
              <a:t>setdefault</a:t>
            </a:r>
            <a:r>
              <a:rPr lang="en-US" sz="2600" spc="-70" dirty="0">
                <a:solidFill>
                  <a:srgbClr val="7A0000"/>
                </a:solidFill>
              </a:rPr>
              <a:t>', 'update', '</a:t>
            </a:r>
            <a:r>
              <a:rPr lang="en-US" sz="2600" spc="-70" dirty="0">
                <a:solidFill>
                  <a:srgbClr val="FF0000"/>
                </a:solidFill>
              </a:rPr>
              <a:t>values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1493"/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 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count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encode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find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index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isalnum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isalpha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isdigit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isnumeric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join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lower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replace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split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startswith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upper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  <a:r>
              <a:rPr lang="en-US" sz="2600" spc="-70" dirty="0">
                <a:solidFill>
                  <a:srgbClr val="7F7F7F"/>
                </a:solidFill>
              </a:rPr>
              <a:t>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49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(tuple)[-2:] # Since the methods are at the end, let’s see just the end: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['count', 'index']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(list)[-11:] # I happen to know that there are 11 list methods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(set)[-17:] # I happen to know that there are 17 set methods</a:t>
            </a:r>
          </a:p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['add',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'clear',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'copy',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'difference',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difference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update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'discard',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'intersection',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intersection_update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isdisjoint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issubset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issuperset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'pop', 'remove',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'union', 'update']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ImportantMethodsOf</a:t>
            </a:r>
            <a:r>
              <a:rPr lang="en-US" sz="2600" spc="-70" dirty="0">
                <a:solidFill>
                  <a:prstClr val="white"/>
                </a:solidFill>
              </a:rPr>
              <a:t>(</a:t>
            </a:r>
            <a:r>
              <a:rPr lang="en-US" sz="2600" b="1" spc="-70" dirty="0" err="1">
                <a:solidFill>
                  <a:srgbClr val="FF0000"/>
                </a:solidFill>
              </a:rPr>
              <a:t>dict</a:t>
            </a:r>
            <a:r>
              <a:rPr lang="en-US" sz="2600" spc="-70" dirty="0">
                <a:solidFill>
                  <a:prstClr val="white"/>
                </a:solidFill>
              </a:rPr>
              <a:t>)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srgbClr val="FF0000"/>
                </a:solidFill>
              </a:rPr>
              <a:t>clear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copy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fromkeys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get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items</a:t>
            </a:r>
            <a:r>
              <a:rPr lang="en-US" sz="2600" spc="-70" dirty="0">
                <a:solidFill>
                  <a:srgbClr val="7A0000"/>
                </a:solidFill>
              </a:rPr>
              <a:t>', </a:t>
            </a:r>
            <a:r>
              <a:rPr lang="en-US" sz="2600" spc="-70" dirty="0">
                <a:solidFill>
                  <a:srgbClr val="FF0000"/>
                </a:solidFill>
              </a:rPr>
              <a:t>'keys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pop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popitem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values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1493"/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 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count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encode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find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index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isalnum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isalpha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isdigit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isnumeric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join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lower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replace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split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startswith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upper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  <a:r>
              <a:rPr lang="en-US" sz="2600" spc="-70" dirty="0">
                <a:solidFill>
                  <a:srgbClr val="7F7F7F"/>
                </a:solidFill>
              </a:rPr>
              <a:t>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25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(tuple)[-2:] # Since the methods are at the end, let’s see just the end: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['count', 'index']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(list)[-11:] # I happen to know that there are 11 list methods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prstClr val="white"/>
                </a:solidFill>
              </a:rPr>
              <a:t>dir</a:t>
            </a:r>
            <a:r>
              <a:rPr lang="en-US" sz="2600" spc="-80" dirty="0">
                <a:solidFill>
                  <a:prstClr val="white"/>
                </a:solidFill>
              </a:rPr>
              <a:t> (</a:t>
            </a:r>
            <a:r>
              <a:rPr lang="en-US" sz="2600" spc="-80" dirty="0">
                <a:solidFill>
                  <a:srgbClr val="92D050"/>
                </a:solidFill>
              </a:rPr>
              <a:t>set</a:t>
            </a:r>
            <a:r>
              <a:rPr lang="en-US" sz="2600" spc="-80" dirty="0">
                <a:solidFill>
                  <a:prstClr val="white"/>
                </a:solidFill>
              </a:rPr>
              <a:t>)[-17:]</a:t>
            </a:r>
            <a:r>
              <a:rPr lang="en-US" sz="2600" spc="-80" dirty="0">
                <a:solidFill>
                  <a:prstClr val="white"/>
                </a:solidFill>
                <a:latin typeface="Arial Narrow" panose="020B0606020202030204" pitchFamily="34" charset="0"/>
              </a:rPr>
              <a:t># 7 important methods (</a:t>
            </a:r>
            <a:r>
              <a:rPr lang="en-US" sz="2600" spc="-80" dirty="0" err="1">
                <a:solidFill>
                  <a:prstClr val="white"/>
                </a:solidFill>
                <a:latin typeface="Arial Narrow" panose="020B0606020202030204" pitchFamily="34" charset="0"/>
              </a:rPr>
              <a:t>eg</a:t>
            </a:r>
            <a:r>
              <a:rPr lang="en-US" sz="2600" spc="-80" dirty="0">
                <a:solidFill>
                  <a:prstClr val="white"/>
                </a:solidFill>
                <a:latin typeface="Arial Narrow" panose="020B0606020202030204" pitchFamily="34" charset="0"/>
              </a:rPr>
              <a:t>. ‘add’ is unimportant </a:t>
            </a:r>
            <a:r>
              <a:rPr lang="en-US" sz="2600" spc="-80" dirty="0" err="1">
                <a:solidFill>
                  <a:prstClr val="white"/>
                </a:solidFill>
                <a:latin typeface="Arial Narrow" panose="020B0606020202030204" pitchFamily="34" charset="0"/>
              </a:rPr>
              <a:t>bc</a:t>
            </a:r>
            <a:r>
              <a:rPr lang="en-US" sz="2600" spc="-80" dirty="0">
                <a:solidFill>
                  <a:prstClr val="white"/>
                </a:solidFill>
                <a:latin typeface="Arial Narrow" panose="020B0606020202030204" pitchFamily="34" charset="0"/>
              </a:rPr>
              <a:t> can just use ‘+’)</a:t>
            </a:r>
          </a:p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80" dirty="0">
                <a:solidFill>
                  <a:srgbClr val="293F11"/>
                </a:solidFill>
              </a:rPr>
              <a:t>'add',</a:t>
            </a:r>
            <a:r>
              <a:rPr lang="en-US" sz="2400" spc="-80" dirty="0">
                <a:solidFill>
                  <a:srgbClr val="92D050"/>
                </a:solidFill>
              </a:rPr>
              <a:t> </a:t>
            </a:r>
            <a:r>
              <a:rPr lang="en-US" sz="2600" spc="-80" dirty="0">
                <a:solidFill>
                  <a:srgbClr val="293F11"/>
                </a:solidFill>
              </a:rPr>
              <a:t>'</a:t>
            </a:r>
            <a:r>
              <a:rPr lang="en-US" sz="2600" spc="-80" dirty="0">
                <a:solidFill>
                  <a:srgbClr val="92D050"/>
                </a:solidFill>
              </a:rPr>
              <a:t>clear</a:t>
            </a:r>
            <a:r>
              <a:rPr lang="en-US" sz="2600" spc="-80" dirty="0">
                <a:solidFill>
                  <a:srgbClr val="293F11"/>
                </a:solidFill>
              </a:rPr>
              <a:t>',</a:t>
            </a:r>
            <a:r>
              <a:rPr lang="en-US" sz="2400" spc="-80" dirty="0">
                <a:solidFill>
                  <a:srgbClr val="293F11"/>
                </a:solidFill>
              </a:rPr>
              <a:t> </a:t>
            </a:r>
            <a:r>
              <a:rPr lang="en-US" sz="2600" spc="-80" dirty="0">
                <a:solidFill>
                  <a:srgbClr val="293F11"/>
                </a:solidFill>
              </a:rPr>
              <a:t>'</a:t>
            </a:r>
            <a:r>
              <a:rPr lang="en-US" sz="2600" spc="-80" dirty="0">
                <a:solidFill>
                  <a:srgbClr val="92D050"/>
                </a:solidFill>
              </a:rPr>
              <a:t>copy</a:t>
            </a:r>
            <a:r>
              <a:rPr lang="en-US" sz="2600" spc="-80" dirty="0">
                <a:solidFill>
                  <a:srgbClr val="293F11"/>
                </a:solidFill>
              </a:rPr>
              <a:t>',</a:t>
            </a:r>
            <a:r>
              <a:rPr lang="en-US" sz="2400" spc="-80" dirty="0">
                <a:solidFill>
                  <a:srgbClr val="293F11"/>
                </a:solidFill>
              </a:rPr>
              <a:t> </a:t>
            </a:r>
            <a:r>
              <a:rPr lang="en-US" sz="2600" spc="-80" dirty="0">
                <a:solidFill>
                  <a:srgbClr val="293F11"/>
                </a:solidFill>
              </a:rPr>
              <a:t>'difference',</a:t>
            </a:r>
            <a:r>
              <a:rPr lang="en-US" sz="2400" spc="-80" dirty="0">
                <a:solidFill>
                  <a:srgbClr val="293F11"/>
                </a:solidFill>
              </a:rPr>
              <a:t> </a:t>
            </a:r>
            <a:r>
              <a:rPr lang="en-US" sz="2600" spc="-80" dirty="0">
                <a:solidFill>
                  <a:srgbClr val="293F11"/>
                </a:solidFill>
              </a:rPr>
              <a:t>'</a:t>
            </a:r>
            <a:r>
              <a:rPr lang="en-US" sz="2600" spc="-80" dirty="0" err="1">
                <a:solidFill>
                  <a:srgbClr val="293F11"/>
                </a:solidFill>
              </a:rPr>
              <a:t>difference</a:t>
            </a:r>
            <a:r>
              <a:rPr lang="en-US" sz="2600" spc="-80" dirty="0" err="1">
                <a:solidFill>
                  <a:srgbClr val="293F11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293F11"/>
                </a:solidFill>
              </a:rPr>
              <a:t>update</a:t>
            </a:r>
            <a:r>
              <a:rPr lang="en-US" sz="2600" spc="-80" dirty="0">
                <a:solidFill>
                  <a:srgbClr val="293F11"/>
                </a:solidFill>
              </a:rPr>
              <a:t>',</a:t>
            </a:r>
            <a:r>
              <a:rPr lang="en-US" sz="2400" spc="-80" dirty="0">
                <a:solidFill>
                  <a:srgbClr val="293F11"/>
                </a:solidFill>
              </a:rPr>
              <a:t> </a:t>
            </a:r>
            <a:r>
              <a:rPr lang="en-US" sz="2600" spc="-80" dirty="0">
                <a:solidFill>
                  <a:srgbClr val="293F11"/>
                </a:solidFill>
              </a:rPr>
              <a:t>'discard',</a:t>
            </a:r>
            <a:r>
              <a:rPr lang="en-US" sz="2400" spc="-80" dirty="0">
                <a:solidFill>
                  <a:srgbClr val="293F11"/>
                </a:solidFill>
              </a:rPr>
              <a:t> </a:t>
            </a:r>
            <a:r>
              <a:rPr lang="en-US" sz="2600" spc="-80" dirty="0">
                <a:solidFill>
                  <a:srgbClr val="293F11"/>
                </a:solidFill>
              </a:rPr>
              <a:t>'intersection', 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 err="1">
                <a:solidFill>
                  <a:srgbClr val="293F11"/>
                </a:solidFill>
              </a:rPr>
              <a:t>intersection_update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isdisjoint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issubset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issuperset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>
                <a:solidFill>
                  <a:srgbClr val="92D050"/>
                </a:solidFill>
              </a:rPr>
              <a:t>pop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>
                <a:solidFill>
                  <a:srgbClr val="92D050"/>
                </a:solidFill>
              </a:rPr>
              <a:t>remove</a:t>
            </a:r>
            <a:r>
              <a:rPr lang="en-US" sz="2600" spc="-70" dirty="0">
                <a:solidFill>
                  <a:srgbClr val="293F11"/>
                </a:solidFill>
              </a:rPr>
              <a:t>',</a:t>
            </a:r>
            <a:r>
              <a:rPr lang="en-US" sz="2600" spc="-70" dirty="0">
                <a:solidFill>
                  <a:srgbClr val="92D050"/>
                </a:solidFill>
              </a:rPr>
              <a:t> 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 err="1">
                <a:solidFill>
                  <a:srgbClr val="293F11"/>
                </a:solidFill>
              </a:rPr>
              <a:t>symmetric_difference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293F11"/>
                </a:solidFill>
              </a:rPr>
              <a:t>symmetric_difference_update</a:t>
            </a:r>
            <a:r>
              <a:rPr lang="en-US" sz="2600" spc="-70" dirty="0">
                <a:solidFill>
                  <a:srgbClr val="293F11"/>
                </a:solidFill>
              </a:rPr>
              <a:t>', 'union', 'update'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0000"/>
                </a:solidFill>
              </a:rPr>
              <a:t>dict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srgbClr val="FF0000"/>
                </a:solidFill>
              </a:rPr>
              <a:t>clear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copy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fromkeys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get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items</a:t>
            </a:r>
            <a:r>
              <a:rPr lang="en-US" sz="2600" spc="-70" dirty="0">
                <a:solidFill>
                  <a:srgbClr val="7A0000"/>
                </a:solidFill>
              </a:rPr>
              <a:t>', </a:t>
            </a:r>
            <a:r>
              <a:rPr lang="en-US" sz="2600" spc="-70" dirty="0">
                <a:solidFill>
                  <a:srgbClr val="FF0000"/>
                </a:solidFill>
              </a:rPr>
              <a:t>'keys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pop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popitem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values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1493"/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 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count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encode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find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index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isalnum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isalpha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isdigit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isnumeric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join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lower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replace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split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startswith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upper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  <a:r>
              <a:rPr lang="en-US" sz="2600" spc="-70" dirty="0">
                <a:solidFill>
                  <a:srgbClr val="7F7F7F"/>
                </a:solidFill>
              </a:rPr>
              <a:t>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83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(tuple)[-2:] # Since the methods are at the end, let’s see just the end: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['count', 'index']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(list)[-11:] # I happen to know that there are 11 list methods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['append', 'clear', 'copy', 'count', 'extend', 'index', 'insert', 'pop', 'remove', 'reverse', 'sort']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ImportantMethodsOf</a:t>
            </a:r>
            <a:r>
              <a:rPr lang="en-US" sz="2600" spc="-70" dirty="0">
                <a:solidFill>
                  <a:prstClr val="white"/>
                </a:solidFill>
              </a:rPr>
              <a:t>(</a:t>
            </a:r>
            <a:r>
              <a:rPr lang="en-US" sz="2600" b="1" spc="-70" dirty="0">
                <a:solidFill>
                  <a:srgbClr val="92D050"/>
                </a:solidFill>
              </a:rPr>
              <a:t>set</a:t>
            </a:r>
            <a:r>
              <a:rPr lang="en-US" sz="2600" spc="-70" dirty="0">
                <a:solidFill>
                  <a:prstClr val="white"/>
                </a:solidFill>
              </a:rPr>
              <a:t>)</a:t>
            </a:r>
            <a:endParaRPr lang="en-US" sz="2600" spc="-70" dirty="0">
              <a:solidFill>
                <a:prstClr val="white"/>
              </a:solidFill>
              <a:latin typeface="Arial Narrow" panose="020B0606020202030204" pitchFamily="34" charset="0"/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srgbClr val="92D050"/>
                </a:solidFill>
              </a:rPr>
              <a:t>clear</a:t>
            </a:r>
            <a:r>
              <a:rPr lang="en-US" sz="2600" spc="-70" dirty="0">
                <a:solidFill>
                  <a:srgbClr val="293F11"/>
                </a:solidFill>
              </a:rPr>
              <a:t>',</a:t>
            </a:r>
            <a:r>
              <a:rPr lang="en-US" sz="2400" spc="-70" dirty="0">
                <a:solidFill>
                  <a:srgbClr val="293F11"/>
                </a:solidFill>
              </a:rPr>
              <a:t> 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srgbClr val="92D050"/>
                </a:solidFill>
              </a:rPr>
              <a:t>copy</a:t>
            </a:r>
            <a:r>
              <a:rPr lang="en-US" sz="2600" spc="-70" dirty="0">
                <a:solidFill>
                  <a:srgbClr val="293F11"/>
                </a:solidFill>
              </a:rPr>
              <a:t>',</a:t>
            </a:r>
            <a:r>
              <a:rPr lang="en-US" sz="2400" spc="-70" dirty="0">
                <a:solidFill>
                  <a:srgbClr val="293F11"/>
                </a:solidFill>
              </a:rPr>
              <a:t> 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 err="1">
                <a:solidFill>
                  <a:srgbClr val="92D050"/>
                </a:solidFill>
              </a:rPr>
              <a:t>isdisjoint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issubset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issuperset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>
                <a:solidFill>
                  <a:srgbClr val="92D050"/>
                </a:solidFill>
              </a:rPr>
              <a:t>pop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>
                <a:solidFill>
                  <a:srgbClr val="92D050"/>
                </a:solidFill>
              </a:rPr>
              <a:t>remove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 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0000"/>
                </a:solidFill>
              </a:rPr>
              <a:t>dict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srgbClr val="FF0000"/>
                </a:solidFill>
              </a:rPr>
              <a:t>clear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copy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fromkeys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get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items</a:t>
            </a:r>
            <a:r>
              <a:rPr lang="en-US" sz="2600" spc="-70" dirty="0">
                <a:solidFill>
                  <a:srgbClr val="7A0000"/>
                </a:solidFill>
              </a:rPr>
              <a:t>', </a:t>
            </a:r>
            <a:r>
              <a:rPr lang="en-US" sz="2600" spc="-70" dirty="0">
                <a:solidFill>
                  <a:srgbClr val="FF0000"/>
                </a:solidFill>
              </a:rPr>
              <a:t>'keys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pop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popitem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values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1493"/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 #Assume I have written this function…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count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encode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find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index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isalnum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isalpha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isdigit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isnumeric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join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lower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replace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split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startswith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upper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  <a:r>
              <a:rPr lang="en-US" sz="2600" spc="-70" dirty="0">
                <a:solidFill>
                  <a:srgbClr val="7F7F7F"/>
                </a:solidFill>
              </a:rPr>
              <a:t>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91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(tuple)[-2:] # Since the methods are at the end, let’s see just the end: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['count', 'index']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</a:t>
            </a:r>
            <a:r>
              <a:rPr lang="en-US" sz="2600" spc="-70" dirty="0">
                <a:solidFill>
                  <a:srgbClr val="00B0F0"/>
                </a:solidFill>
              </a:rPr>
              <a:t>list</a:t>
            </a:r>
            <a:r>
              <a:rPr lang="en-US" sz="2600" spc="-70" dirty="0">
                <a:solidFill>
                  <a:prstClr val="white"/>
                </a:solidFill>
              </a:rPr>
              <a:t>)[-11:] # All 11 are useful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50000"/>
                    <a:lumOff val="50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00506C"/>
                </a:solidFill>
              </a:rPr>
              <a:t>'</a:t>
            </a:r>
            <a:r>
              <a:rPr lang="en-US" sz="2600" spc="-70" dirty="0">
                <a:solidFill>
                  <a:srgbClr val="00B0F0"/>
                </a:solidFill>
              </a:rPr>
              <a:t>append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clear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copy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count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extend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index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insert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pop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remove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reverse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sort</a:t>
            </a:r>
            <a:r>
              <a:rPr lang="en-US" sz="2600" spc="-70" dirty="0">
                <a:solidFill>
                  <a:srgbClr val="00506C"/>
                </a:solidFill>
              </a:rPr>
              <a:t>'</a:t>
            </a:r>
            <a:r>
              <a:rPr lang="en-US" sz="2600" spc="-7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>
                <a:solidFill>
                  <a:srgbClr val="92D050"/>
                </a:solidFill>
              </a:rPr>
              <a:t>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  <a:endParaRPr lang="en-US" sz="2600" spc="-70" dirty="0">
              <a:solidFill>
                <a:prstClr val="black">
                  <a:lumMod val="65000"/>
                  <a:lumOff val="35000"/>
                </a:prstClr>
              </a:solidFill>
              <a:latin typeface="Arial Narrow" panose="020B0606020202030204" pitchFamily="34" charset="0"/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srgbClr val="92D050"/>
                </a:solidFill>
              </a:rPr>
              <a:t>clear</a:t>
            </a:r>
            <a:r>
              <a:rPr lang="en-US" sz="2600" spc="-70" dirty="0">
                <a:solidFill>
                  <a:srgbClr val="293F11"/>
                </a:solidFill>
              </a:rPr>
              <a:t>',</a:t>
            </a:r>
            <a:r>
              <a:rPr lang="en-US" sz="2400" spc="-70" dirty="0">
                <a:solidFill>
                  <a:srgbClr val="293F11"/>
                </a:solidFill>
              </a:rPr>
              <a:t> 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srgbClr val="92D050"/>
                </a:solidFill>
              </a:rPr>
              <a:t>copy</a:t>
            </a:r>
            <a:r>
              <a:rPr lang="en-US" sz="2600" spc="-70" dirty="0">
                <a:solidFill>
                  <a:srgbClr val="293F11"/>
                </a:solidFill>
              </a:rPr>
              <a:t>',</a:t>
            </a:r>
            <a:r>
              <a:rPr lang="en-US" sz="2400" spc="-70" dirty="0">
                <a:solidFill>
                  <a:srgbClr val="293F11"/>
                </a:solidFill>
              </a:rPr>
              <a:t> 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 err="1">
                <a:solidFill>
                  <a:srgbClr val="92D050"/>
                </a:solidFill>
              </a:rPr>
              <a:t>isdisjoint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issubset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issuperset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>
                <a:solidFill>
                  <a:srgbClr val="92D050"/>
                </a:solidFill>
              </a:rPr>
              <a:t>pop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>
                <a:solidFill>
                  <a:srgbClr val="92D050"/>
                </a:solidFill>
              </a:rPr>
              <a:t>remove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 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0000"/>
                </a:solidFill>
              </a:rPr>
              <a:t>dict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srgbClr val="FF0000"/>
                </a:solidFill>
              </a:rPr>
              <a:t>clear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copy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fromkeys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get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items</a:t>
            </a:r>
            <a:r>
              <a:rPr lang="en-US" sz="2600" spc="-70" dirty="0">
                <a:solidFill>
                  <a:srgbClr val="7A0000"/>
                </a:solidFill>
              </a:rPr>
              <a:t>', </a:t>
            </a:r>
            <a:r>
              <a:rPr lang="en-US" sz="2600" spc="-70" dirty="0">
                <a:solidFill>
                  <a:srgbClr val="FF0000"/>
                </a:solidFill>
              </a:rPr>
              <a:t>'keys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pop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popitem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values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1493"/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 #Assume I have written this function…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count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encode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find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index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isalnum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isalpha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isdigit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isnumeric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join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lower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replace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split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startswith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upper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  <a:r>
              <a:rPr lang="en-US" sz="2600" spc="-70" dirty="0">
                <a:solidFill>
                  <a:srgbClr val="7F7F7F"/>
                </a:solidFill>
              </a:rPr>
              <a:t>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34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(tuple)[-2:] # Since the methods are at the end, let’s see just the end: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['count', 'index']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ImportantMethodsOf</a:t>
            </a:r>
            <a:r>
              <a:rPr lang="en-US" sz="2600" spc="-70" dirty="0">
                <a:solidFill>
                  <a:prstClr val="white"/>
                </a:solidFill>
              </a:rPr>
              <a:t>(</a:t>
            </a:r>
            <a:r>
              <a:rPr lang="en-US" sz="2600" b="1" spc="-70" dirty="0">
                <a:solidFill>
                  <a:srgbClr val="00B0F0"/>
                </a:solidFill>
              </a:rPr>
              <a:t>list</a:t>
            </a:r>
            <a:r>
              <a:rPr lang="en-US" sz="2600" spc="-70" dirty="0">
                <a:solidFill>
                  <a:prstClr val="white"/>
                </a:solidFill>
              </a:rPr>
              <a:t>)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50000"/>
                    <a:lumOff val="50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00506C"/>
                </a:solidFill>
              </a:rPr>
              <a:t>'</a:t>
            </a:r>
            <a:r>
              <a:rPr lang="en-US" sz="2600" spc="-70" dirty="0">
                <a:solidFill>
                  <a:srgbClr val="00B0F0"/>
                </a:solidFill>
              </a:rPr>
              <a:t>append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clear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copy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count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extend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index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insert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pop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remove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reverse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sort</a:t>
            </a:r>
            <a:r>
              <a:rPr lang="en-US" sz="2600" spc="-70" dirty="0">
                <a:solidFill>
                  <a:srgbClr val="00506C"/>
                </a:solidFill>
              </a:rPr>
              <a:t>'</a:t>
            </a:r>
            <a:r>
              <a:rPr lang="en-US" sz="2600" spc="-7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>
                <a:solidFill>
                  <a:srgbClr val="92D050"/>
                </a:solidFill>
              </a:rPr>
              <a:t>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  <a:endParaRPr lang="en-US" sz="2600" spc="-70" dirty="0">
              <a:solidFill>
                <a:prstClr val="black">
                  <a:lumMod val="65000"/>
                  <a:lumOff val="35000"/>
                </a:prstClr>
              </a:solidFill>
              <a:latin typeface="Arial Narrow" panose="020B0606020202030204" pitchFamily="34" charset="0"/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srgbClr val="92D050"/>
                </a:solidFill>
              </a:rPr>
              <a:t>clear</a:t>
            </a:r>
            <a:r>
              <a:rPr lang="en-US" sz="2600" spc="-70" dirty="0">
                <a:solidFill>
                  <a:srgbClr val="293F11"/>
                </a:solidFill>
              </a:rPr>
              <a:t>',</a:t>
            </a:r>
            <a:r>
              <a:rPr lang="en-US" sz="2400" spc="-70" dirty="0">
                <a:solidFill>
                  <a:srgbClr val="293F11"/>
                </a:solidFill>
              </a:rPr>
              <a:t> 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srgbClr val="92D050"/>
                </a:solidFill>
              </a:rPr>
              <a:t>copy</a:t>
            </a:r>
            <a:r>
              <a:rPr lang="en-US" sz="2600" spc="-70" dirty="0">
                <a:solidFill>
                  <a:srgbClr val="293F11"/>
                </a:solidFill>
              </a:rPr>
              <a:t>',</a:t>
            </a:r>
            <a:r>
              <a:rPr lang="en-US" sz="2400" spc="-70" dirty="0">
                <a:solidFill>
                  <a:srgbClr val="293F11"/>
                </a:solidFill>
              </a:rPr>
              <a:t> 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 err="1">
                <a:solidFill>
                  <a:srgbClr val="92D050"/>
                </a:solidFill>
              </a:rPr>
              <a:t>isdisjoint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issubset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issuperset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>
                <a:solidFill>
                  <a:srgbClr val="92D050"/>
                </a:solidFill>
              </a:rPr>
              <a:t>pop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>
                <a:solidFill>
                  <a:srgbClr val="92D050"/>
                </a:solidFill>
              </a:rPr>
              <a:t>remove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 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0000"/>
                </a:solidFill>
              </a:rPr>
              <a:t>dict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srgbClr val="FF0000"/>
                </a:solidFill>
              </a:rPr>
              <a:t>clear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copy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fromkeys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get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items</a:t>
            </a:r>
            <a:r>
              <a:rPr lang="en-US" sz="2600" spc="-70" dirty="0">
                <a:solidFill>
                  <a:srgbClr val="7A0000"/>
                </a:solidFill>
              </a:rPr>
              <a:t>', </a:t>
            </a:r>
            <a:r>
              <a:rPr lang="en-US" sz="2600" spc="-70" dirty="0">
                <a:solidFill>
                  <a:srgbClr val="FF0000"/>
                </a:solidFill>
              </a:rPr>
              <a:t>'keys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pop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popitem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values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1493"/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 #Assume I have written this function…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count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encode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find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index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isalnum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isalpha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isdigit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isnumeric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join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lower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replace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split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startswith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upper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  <a:r>
              <a:rPr lang="en-US" sz="2600" spc="-70" dirty="0">
                <a:solidFill>
                  <a:srgbClr val="7F7F7F"/>
                </a:solidFill>
              </a:rPr>
              <a:t>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65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</a:t>
            </a:r>
            <a:r>
              <a:rPr lang="en-US" sz="2600" spc="-70" dirty="0">
                <a:solidFill>
                  <a:srgbClr val="FFFF00"/>
                </a:solidFill>
              </a:rPr>
              <a:t>tuple</a:t>
            </a:r>
            <a:r>
              <a:rPr lang="en-US" sz="2600" spc="-70" dirty="0">
                <a:solidFill>
                  <a:prstClr val="white"/>
                </a:solidFill>
              </a:rPr>
              <a:t>)[-2:] # Both the methods are useful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[</a:t>
            </a:r>
            <a:r>
              <a:rPr lang="en-US" sz="2600" spc="-70" dirty="0">
                <a:solidFill>
                  <a:srgbClr val="737000"/>
                </a:solidFill>
              </a:rPr>
              <a:t>'</a:t>
            </a:r>
            <a:r>
              <a:rPr lang="en-US" sz="2600" spc="-70" dirty="0">
                <a:solidFill>
                  <a:srgbClr val="FFFF00"/>
                </a:solidFill>
              </a:rPr>
              <a:t>count</a:t>
            </a:r>
            <a:r>
              <a:rPr lang="en-US" sz="2600" spc="-70" dirty="0">
                <a:solidFill>
                  <a:srgbClr val="737000"/>
                </a:solidFill>
              </a:rPr>
              <a:t>', '</a:t>
            </a:r>
            <a:r>
              <a:rPr lang="en-US" sz="2600" spc="-70" dirty="0">
                <a:solidFill>
                  <a:srgbClr val="FFFF00"/>
                </a:solidFill>
              </a:rPr>
              <a:t>index</a:t>
            </a:r>
            <a:r>
              <a:rPr lang="en-US" sz="2600" spc="-70" dirty="0">
                <a:solidFill>
                  <a:srgbClr val="737000"/>
                </a:solidFill>
              </a:rPr>
              <a:t>'</a:t>
            </a:r>
            <a:r>
              <a:rPr lang="en-US" sz="2600" spc="-7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>
                <a:solidFill>
                  <a:srgbClr val="00B0F0"/>
                </a:solidFill>
              </a:rPr>
              <a:t>list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50000"/>
                    <a:lumOff val="50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00506C"/>
                </a:solidFill>
              </a:rPr>
              <a:t>'</a:t>
            </a:r>
            <a:r>
              <a:rPr lang="en-US" sz="2600" spc="-70" dirty="0">
                <a:solidFill>
                  <a:srgbClr val="00B0F0"/>
                </a:solidFill>
              </a:rPr>
              <a:t>append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clear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copy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count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extend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index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insert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pop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remove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reverse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sort</a:t>
            </a:r>
            <a:r>
              <a:rPr lang="en-US" sz="2600" spc="-70" dirty="0">
                <a:solidFill>
                  <a:srgbClr val="00506C"/>
                </a:solidFill>
              </a:rPr>
              <a:t>'</a:t>
            </a:r>
            <a:r>
              <a:rPr lang="en-US" sz="2600" spc="-7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>
                <a:solidFill>
                  <a:srgbClr val="92D050"/>
                </a:solidFill>
              </a:rPr>
              <a:t>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  <a:endParaRPr lang="en-US" sz="2600" spc="-70" dirty="0">
              <a:solidFill>
                <a:prstClr val="black">
                  <a:lumMod val="65000"/>
                  <a:lumOff val="35000"/>
                </a:prstClr>
              </a:solidFill>
              <a:latin typeface="Arial Narrow" panose="020B0606020202030204" pitchFamily="34" charset="0"/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srgbClr val="92D050"/>
                </a:solidFill>
              </a:rPr>
              <a:t>clear</a:t>
            </a:r>
            <a:r>
              <a:rPr lang="en-US" sz="2600" spc="-70" dirty="0">
                <a:solidFill>
                  <a:srgbClr val="293F11"/>
                </a:solidFill>
              </a:rPr>
              <a:t>',</a:t>
            </a:r>
            <a:r>
              <a:rPr lang="en-US" sz="2400" spc="-70" dirty="0">
                <a:solidFill>
                  <a:srgbClr val="293F11"/>
                </a:solidFill>
              </a:rPr>
              <a:t> 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srgbClr val="92D050"/>
                </a:solidFill>
              </a:rPr>
              <a:t>copy</a:t>
            </a:r>
            <a:r>
              <a:rPr lang="en-US" sz="2600" spc="-70" dirty="0">
                <a:solidFill>
                  <a:srgbClr val="293F11"/>
                </a:solidFill>
              </a:rPr>
              <a:t>',</a:t>
            </a:r>
            <a:r>
              <a:rPr lang="en-US" sz="2400" spc="-70" dirty="0">
                <a:solidFill>
                  <a:srgbClr val="293F11"/>
                </a:solidFill>
              </a:rPr>
              <a:t> 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 err="1">
                <a:solidFill>
                  <a:srgbClr val="92D050"/>
                </a:solidFill>
              </a:rPr>
              <a:t>isdisjoint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issubset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issuperset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>
                <a:solidFill>
                  <a:srgbClr val="92D050"/>
                </a:solidFill>
              </a:rPr>
              <a:t>pop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>
                <a:solidFill>
                  <a:srgbClr val="92D050"/>
                </a:solidFill>
              </a:rPr>
              <a:t>remove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 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0000"/>
                </a:solidFill>
              </a:rPr>
              <a:t>dict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srgbClr val="FF0000"/>
                </a:solidFill>
              </a:rPr>
              <a:t>clear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copy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fromkeys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get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items</a:t>
            </a:r>
            <a:r>
              <a:rPr lang="en-US" sz="2600" spc="-70" dirty="0">
                <a:solidFill>
                  <a:srgbClr val="7A0000"/>
                </a:solidFill>
              </a:rPr>
              <a:t>', </a:t>
            </a:r>
            <a:r>
              <a:rPr lang="en-US" sz="2600" spc="-70" dirty="0">
                <a:solidFill>
                  <a:srgbClr val="FF0000"/>
                </a:solidFill>
              </a:rPr>
              <a:t>'keys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pop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popitem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values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1493"/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 #Assume I have written this function…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count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encode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find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index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isalnum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isalpha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isdigit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isnumeric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join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lower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replace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split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startswith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upper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  <a:r>
              <a:rPr lang="en-US" sz="2600" spc="-70" dirty="0">
                <a:solidFill>
                  <a:srgbClr val="7F7F7F"/>
                </a:solidFill>
              </a:rPr>
              <a:t>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348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prstClr val="white"/>
                </a:solidFill>
              </a:rPr>
              <a:t>ImportantMethodsOf</a:t>
            </a:r>
            <a:r>
              <a:rPr lang="en-US" sz="2600" spc="-70" dirty="0">
                <a:solidFill>
                  <a:prstClr val="white"/>
                </a:solidFill>
              </a:rPr>
              <a:t>(</a:t>
            </a:r>
            <a:r>
              <a:rPr lang="en-US" sz="2600" b="1" spc="-70" dirty="0">
                <a:solidFill>
                  <a:srgbClr val="FFFF00"/>
                </a:solidFill>
              </a:rPr>
              <a:t>tuple</a:t>
            </a:r>
            <a:r>
              <a:rPr lang="en-US" sz="2600" spc="-70" dirty="0">
                <a:solidFill>
                  <a:prstClr val="white"/>
                </a:solidFill>
              </a:rPr>
              <a:t>)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[</a:t>
            </a:r>
            <a:r>
              <a:rPr lang="en-US" sz="2600" spc="-70" dirty="0">
                <a:solidFill>
                  <a:srgbClr val="737000"/>
                </a:solidFill>
              </a:rPr>
              <a:t>'</a:t>
            </a:r>
            <a:r>
              <a:rPr lang="en-US" sz="2600" spc="-70" dirty="0">
                <a:solidFill>
                  <a:srgbClr val="FFFF00"/>
                </a:solidFill>
              </a:rPr>
              <a:t>count</a:t>
            </a:r>
            <a:r>
              <a:rPr lang="en-US" sz="2600" spc="-70" dirty="0">
                <a:solidFill>
                  <a:srgbClr val="737000"/>
                </a:solidFill>
              </a:rPr>
              <a:t>', '</a:t>
            </a:r>
            <a:r>
              <a:rPr lang="en-US" sz="2600" spc="-70" dirty="0">
                <a:solidFill>
                  <a:srgbClr val="FFFF00"/>
                </a:solidFill>
              </a:rPr>
              <a:t>index</a:t>
            </a:r>
            <a:r>
              <a:rPr lang="en-US" sz="2600" spc="-70" dirty="0">
                <a:solidFill>
                  <a:srgbClr val="737000"/>
                </a:solidFill>
              </a:rPr>
              <a:t>'</a:t>
            </a:r>
            <a:r>
              <a:rPr lang="en-US" sz="2600" spc="-7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>
                <a:solidFill>
                  <a:srgbClr val="00B0F0"/>
                </a:solidFill>
              </a:rPr>
              <a:t>list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50000"/>
                    <a:lumOff val="50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00506C"/>
                </a:solidFill>
              </a:rPr>
              <a:t>'</a:t>
            </a:r>
            <a:r>
              <a:rPr lang="en-US" sz="2600" spc="-70" dirty="0">
                <a:solidFill>
                  <a:srgbClr val="00B0F0"/>
                </a:solidFill>
              </a:rPr>
              <a:t>append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clear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copy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count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extend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index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insert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pop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remove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reverse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sort</a:t>
            </a:r>
            <a:r>
              <a:rPr lang="en-US" sz="2600" spc="-70" dirty="0">
                <a:solidFill>
                  <a:srgbClr val="00506C"/>
                </a:solidFill>
              </a:rPr>
              <a:t>'</a:t>
            </a:r>
            <a:r>
              <a:rPr lang="en-US" sz="2600" spc="-7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>
                <a:solidFill>
                  <a:srgbClr val="92D050"/>
                </a:solidFill>
              </a:rPr>
              <a:t>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  <a:endParaRPr lang="en-US" sz="2600" spc="-70" dirty="0">
              <a:solidFill>
                <a:prstClr val="black">
                  <a:lumMod val="65000"/>
                  <a:lumOff val="35000"/>
                </a:prstClr>
              </a:solidFill>
              <a:latin typeface="Arial Narrow" panose="020B0606020202030204" pitchFamily="34" charset="0"/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srgbClr val="92D050"/>
                </a:solidFill>
              </a:rPr>
              <a:t>clear</a:t>
            </a:r>
            <a:r>
              <a:rPr lang="en-US" sz="2600" spc="-70" dirty="0">
                <a:solidFill>
                  <a:srgbClr val="293F11"/>
                </a:solidFill>
              </a:rPr>
              <a:t>',</a:t>
            </a:r>
            <a:r>
              <a:rPr lang="en-US" sz="2400" spc="-70" dirty="0">
                <a:solidFill>
                  <a:srgbClr val="293F11"/>
                </a:solidFill>
              </a:rPr>
              <a:t> 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srgbClr val="92D050"/>
                </a:solidFill>
              </a:rPr>
              <a:t>copy</a:t>
            </a:r>
            <a:r>
              <a:rPr lang="en-US" sz="2600" spc="-70" dirty="0">
                <a:solidFill>
                  <a:srgbClr val="293F11"/>
                </a:solidFill>
              </a:rPr>
              <a:t>',</a:t>
            </a:r>
            <a:r>
              <a:rPr lang="en-US" sz="2400" spc="-70" dirty="0">
                <a:solidFill>
                  <a:srgbClr val="293F11"/>
                </a:solidFill>
              </a:rPr>
              <a:t> 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 err="1">
                <a:solidFill>
                  <a:srgbClr val="92D050"/>
                </a:solidFill>
              </a:rPr>
              <a:t>isdisjoint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issubset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issuperset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>
                <a:solidFill>
                  <a:srgbClr val="92D050"/>
                </a:solidFill>
              </a:rPr>
              <a:t>pop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>
                <a:solidFill>
                  <a:srgbClr val="92D050"/>
                </a:solidFill>
              </a:rPr>
              <a:t>remove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 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0000"/>
                </a:solidFill>
              </a:rPr>
              <a:t>dict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srgbClr val="FF0000"/>
                </a:solidFill>
              </a:rPr>
              <a:t>clear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copy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fromkeys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get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items</a:t>
            </a:r>
            <a:r>
              <a:rPr lang="en-US" sz="2600" spc="-70" dirty="0">
                <a:solidFill>
                  <a:srgbClr val="7A0000"/>
                </a:solidFill>
              </a:rPr>
              <a:t>', </a:t>
            </a:r>
            <a:r>
              <a:rPr lang="en-US" sz="2600" spc="-70" dirty="0">
                <a:solidFill>
                  <a:srgbClr val="FF0000"/>
                </a:solidFill>
              </a:rPr>
              <a:t>'keys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pop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popitem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values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1493"/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 #Assume I have written this function…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count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encode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find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index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isalnum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isalpha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isdigit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isnumeric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join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lower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replace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split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startswith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upper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  <a:r>
              <a:rPr lang="en-US" sz="2600" spc="-70" dirty="0">
                <a:solidFill>
                  <a:srgbClr val="7F7F7F"/>
                </a:solidFill>
              </a:rPr>
              <a:t>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066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>
                <a:solidFill>
                  <a:srgbClr val="FFFF00"/>
                </a:solidFill>
              </a:rPr>
              <a:t>tuple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[</a:t>
            </a:r>
            <a:r>
              <a:rPr lang="en-US" sz="2600" spc="-70" dirty="0">
                <a:solidFill>
                  <a:srgbClr val="737000"/>
                </a:solidFill>
              </a:rPr>
              <a:t>'</a:t>
            </a:r>
            <a:r>
              <a:rPr lang="en-US" sz="2600" spc="-70" dirty="0">
                <a:solidFill>
                  <a:srgbClr val="FFFF00"/>
                </a:solidFill>
              </a:rPr>
              <a:t>count</a:t>
            </a:r>
            <a:r>
              <a:rPr lang="en-US" sz="2600" spc="-70" dirty="0">
                <a:solidFill>
                  <a:srgbClr val="737000"/>
                </a:solidFill>
              </a:rPr>
              <a:t>', '</a:t>
            </a:r>
            <a:r>
              <a:rPr lang="en-US" sz="2600" spc="-70" dirty="0">
                <a:solidFill>
                  <a:srgbClr val="FFFF00"/>
                </a:solidFill>
              </a:rPr>
              <a:t>index</a:t>
            </a:r>
            <a:r>
              <a:rPr lang="en-US" sz="2600" spc="-70" dirty="0">
                <a:solidFill>
                  <a:srgbClr val="737000"/>
                </a:solidFill>
              </a:rPr>
              <a:t>'</a:t>
            </a:r>
            <a:r>
              <a:rPr lang="en-US" sz="2600" spc="-7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>
                <a:solidFill>
                  <a:srgbClr val="00B0F0"/>
                </a:solidFill>
              </a:rPr>
              <a:t>list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50000"/>
                    <a:lumOff val="50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00506C"/>
                </a:solidFill>
              </a:rPr>
              <a:t>'</a:t>
            </a:r>
            <a:r>
              <a:rPr lang="en-US" sz="2600" spc="-70" dirty="0">
                <a:solidFill>
                  <a:srgbClr val="00B0F0"/>
                </a:solidFill>
              </a:rPr>
              <a:t>append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clear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copy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count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extend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index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insert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pop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remove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reverse</a:t>
            </a:r>
            <a:r>
              <a:rPr lang="en-US" sz="2600" spc="-70" dirty="0">
                <a:solidFill>
                  <a:srgbClr val="00506C"/>
                </a:solidFill>
              </a:rPr>
              <a:t>', '</a:t>
            </a:r>
            <a:r>
              <a:rPr lang="en-US" sz="2600" spc="-70" dirty="0">
                <a:solidFill>
                  <a:srgbClr val="00B0F0"/>
                </a:solidFill>
              </a:rPr>
              <a:t>sort</a:t>
            </a:r>
            <a:r>
              <a:rPr lang="en-US" sz="2600" spc="-70" dirty="0">
                <a:solidFill>
                  <a:srgbClr val="00506C"/>
                </a:solidFill>
              </a:rPr>
              <a:t>'</a:t>
            </a:r>
            <a:r>
              <a:rPr lang="en-US" sz="2600" spc="-7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>
                <a:solidFill>
                  <a:srgbClr val="92D050"/>
                </a:solidFill>
              </a:rPr>
              <a:t>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  <a:endParaRPr lang="en-US" sz="2600" spc="-70" dirty="0">
              <a:solidFill>
                <a:prstClr val="black">
                  <a:lumMod val="65000"/>
                  <a:lumOff val="35000"/>
                </a:prstClr>
              </a:solidFill>
              <a:latin typeface="Arial Narrow" panose="020B0606020202030204" pitchFamily="34" charset="0"/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srgbClr val="92D050"/>
                </a:solidFill>
              </a:rPr>
              <a:t>clear</a:t>
            </a:r>
            <a:r>
              <a:rPr lang="en-US" sz="2600" spc="-70" dirty="0">
                <a:solidFill>
                  <a:srgbClr val="293F11"/>
                </a:solidFill>
              </a:rPr>
              <a:t>',</a:t>
            </a:r>
            <a:r>
              <a:rPr lang="en-US" sz="2400" spc="-70" dirty="0">
                <a:solidFill>
                  <a:srgbClr val="293F11"/>
                </a:solidFill>
              </a:rPr>
              <a:t> 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srgbClr val="92D050"/>
                </a:solidFill>
              </a:rPr>
              <a:t>copy</a:t>
            </a:r>
            <a:r>
              <a:rPr lang="en-US" sz="2600" spc="-70" dirty="0">
                <a:solidFill>
                  <a:srgbClr val="293F11"/>
                </a:solidFill>
              </a:rPr>
              <a:t>',</a:t>
            </a:r>
            <a:r>
              <a:rPr lang="en-US" sz="2400" spc="-70" dirty="0">
                <a:solidFill>
                  <a:srgbClr val="293F11"/>
                </a:solidFill>
              </a:rPr>
              <a:t> 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 err="1">
                <a:solidFill>
                  <a:srgbClr val="92D050"/>
                </a:solidFill>
              </a:rPr>
              <a:t>isdisjoint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issubset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 err="1">
                <a:solidFill>
                  <a:srgbClr val="92D050"/>
                </a:solidFill>
              </a:rPr>
              <a:t>issuperset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>
                <a:solidFill>
                  <a:srgbClr val="92D050"/>
                </a:solidFill>
              </a:rPr>
              <a:t>pop</a:t>
            </a:r>
            <a:r>
              <a:rPr lang="en-US" sz="2600" spc="-70" dirty="0">
                <a:solidFill>
                  <a:srgbClr val="293F11"/>
                </a:solidFill>
              </a:rPr>
              <a:t>', '</a:t>
            </a:r>
            <a:r>
              <a:rPr lang="en-US" sz="2600" spc="-70" dirty="0">
                <a:solidFill>
                  <a:srgbClr val="92D050"/>
                </a:solidFill>
              </a:rPr>
              <a:t>remove</a:t>
            </a:r>
            <a:r>
              <a:rPr lang="en-US" sz="2600" spc="-70" dirty="0">
                <a:solidFill>
                  <a:srgbClr val="293F11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 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0000"/>
                </a:solidFill>
              </a:rPr>
              <a:t>dict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srgbClr val="FF0000"/>
                </a:solidFill>
              </a:rPr>
              <a:t>clear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copy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fromkeys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get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items</a:t>
            </a:r>
            <a:r>
              <a:rPr lang="en-US" sz="2600" spc="-70" dirty="0">
                <a:solidFill>
                  <a:srgbClr val="7A0000"/>
                </a:solidFill>
              </a:rPr>
              <a:t>', </a:t>
            </a:r>
            <a:r>
              <a:rPr lang="en-US" sz="2600" spc="-70" dirty="0">
                <a:solidFill>
                  <a:srgbClr val="FF0000"/>
                </a:solidFill>
              </a:rPr>
              <a:t>'keys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pop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popitem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>
                <a:solidFill>
                  <a:srgbClr val="FF0000"/>
                </a:solidFill>
              </a:rPr>
              <a:t>values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ImportantMethodsOf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en-US" sz="2600" b="1" spc="-70" dirty="0" err="1">
                <a:solidFill>
                  <a:srgbClr val="FF1493"/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 #Assume I have written this function…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count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encode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find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index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isalnum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isalpha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isdigit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isnumeric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join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lower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replace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split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startswith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upper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  <a:r>
              <a:rPr lang="en-US" sz="2600" spc="-70" dirty="0">
                <a:solidFill>
                  <a:srgbClr val="7F7F7F"/>
                </a:solidFill>
              </a:rPr>
              <a:t>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0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/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(number)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#Now let’s look at the methods for the number data type: 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 err="1">
                <a:solidFill>
                  <a:srgbClr val="540000"/>
                </a:solidFill>
              </a:rPr>
              <a:t>Traceback</a:t>
            </a:r>
            <a:r>
              <a:rPr lang="en-US" sz="2600" spc="-70" dirty="0">
                <a:solidFill>
                  <a:srgbClr val="540000"/>
                </a:solidFill>
              </a:rPr>
              <a:t> (most recent call last):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540000"/>
                </a:solidFill>
              </a:rPr>
              <a:t>  File "&lt;</a:t>
            </a:r>
            <a:r>
              <a:rPr lang="en-US" sz="2600" spc="-70" dirty="0" err="1">
                <a:solidFill>
                  <a:srgbClr val="540000"/>
                </a:solidFill>
              </a:rPr>
              <a:t>stdin</a:t>
            </a:r>
            <a:r>
              <a:rPr lang="en-US" sz="2600" spc="-70" dirty="0">
                <a:solidFill>
                  <a:srgbClr val="540000"/>
                </a:solidFill>
              </a:rPr>
              <a:t>&gt;", line 1, in &lt;module&gt;</a:t>
            </a:r>
          </a:p>
          <a:p>
            <a:pPr>
              <a:lnSpc>
                <a:spcPct val="78000"/>
              </a:lnSpc>
            </a:pPr>
            <a:r>
              <a:rPr lang="en-US" sz="2600" spc="-70" dirty="0" err="1">
                <a:solidFill>
                  <a:srgbClr val="C00000"/>
                </a:solidFill>
              </a:rPr>
              <a:t>NameError</a:t>
            </a:r>
            <a:r>
              <a:rPr lang="en-US" sz="2600" spc="-70" dirty="0">
                <a:solidFill>
                  <a:srgbClr val="C00000"/>
                </a:solidFill>
              </a:rPr>
              <a:t>: name 'number' is not defined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/>
                </a:solidFill>
              </a:rPr>
              <a:t>&gt;&gt;&gt;</a:t>
            </a:r>
            <a:r>
              <a:rPr lang="en-US" sz="2600" spc="-70" dirty="0">
                <a:solidFill>
                  <a:srgbClr val="FFFFFF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(</a:t>
            </a:r>
            <a:r>
              <a:rPr lang="en-US" sz="2600" spc="-70" dirty="0" err="1">
                <a:solidFill>
                  <a:srgbClr val="FFFFFF"/>
                </a:solidFill>
              </a:rPr>
              <a:t>num</a:t>
            </a:r>
            <a:r>
              <a:rPr lang="en-US" sz="2600" spc="-70" dirty="0">
                <a:solidFill>
                  <a:srgbClr val="FFFFFF"/>
                </a:solidFill>
              </a:rPr>
              <a:t>)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Apparently, that’s not its name. maybe its name is </a:t>
            </a:r>
            <a:r>
              <a:rPr lang="en-US" sz="2600" spc="-70" dirty="0" err="1">
                <a:solidFill>
                  <a:srgbClr val="FFC000">
                    <a:lumMod val="40000"/>
                    <a:lumOff val="60000"/>
                  </a:srgbClr>
                </a:solidFill>
              </a:rPr>
              <a:t>num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?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 err="1">
                <a:solidFill>
                  <a:srgbClr val="540000"/>
                </a:solidFill>
              </a:rPr>
              <a:t>Traceback</a:t>
            </a:r>
            <a:r>
              <a:rPr lang="en-US" sz="2600" spc="-70" dirty="0">
                <a:solidFill>
                  <a:srgbClr val="540000"/>
                </a:solidFill>
              </a:rPr>
              <a:t> (most recent call last):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540000"/>
                </a:solidFill>
              </a:rPr>
              <a:t>  File "&lt;</a:t>
            </a:r>
            <a:r>
              <a:rPr lang="en-US" sz="2600" spc="-70" dirty="0" err="1">
                <a:solidFill>
                  <a:srgbClr val="540000"/>
                </a:solidFill>
              </a:rPr>
              <a:t>stdin</a:t>
            </a:r>
            <a:r>
              <a:rPr lang="en-US" sz="2600" spc="-70" dirty="0">
                <a:solidFill>
                  <a:srgbClr val="540000"/>
                </a:solidFill>
              </a:rPr>
              <a:t>&gt;", line 1, in &lt;module&gt;</a:t>
            </a:r>
          </a:p>
          <a:p>
            <a:pPr>
              <a:lnSpc>
                <a:spcPct val="78000"/>
              </a:lnSpc>
            </a:pPr>
            <a:r>
              <a:rPr lang="en-US" sz="2600" spc="-70" dirty="0" err="1">
                <a:solidFill>
                  <a:srgbClr val="C00000"/>
                </a:solidFill>
              </a:rPr>
              <a:t>NameError</a:t>
            </a:r>
            <a:r>
              <a:rPr lang="en-US" sz="2600" spc="-70" dirty="0">
                <a:solidFill>
                  <a:srgbClr val="C00000"/>
                </a:solidFill>
              </a:rPr>
              <a:t>: name '</a:t>
            </a:r>
            <a:r>
              <a:rPr lang="en-US" sz="2600" spc="-70" dirty="0" err="1">
                <a:solidFill>
                  <a:srgbClr val="C00000"/>
                </a:solidFill>
              </a:rPr>
              <a:t>num</a:t>
            </a:r>
            <a:r>
              <a:rPr lang="en-US" sz="2600" spc="-70" dirty="0">
                <a:solidFill>
                  <a:srgbClr val="C00000"/>
                </a:solidFill>
              </a:rPr>
              <a:t>' is not defined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prstClr val="black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int</a:t>
            </a:r>
            <a:r>
              <a:rPr lang="en-US" sz="2600" spc="-70" dirty="0">
                <a:solidFill>
                  <a:srgbClr val="FFFFFF"/>
                </a:solidFill>
              </a:rPr>
              <a:t>)[-8:]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Oh</a:t>
            </a:r>
            <a:r>
              <a:rPr lang="en-US" sz="2600" spc="-70" dirty="0" smtClean="0">
                <a:solidFill>
                  <a:srgbClr val="FFC000">
                    <a:lumMod val="40000"/>
                    <a:lumOff val="60000"/>
                  </a:srgbClr>
                </a:solidFill>
              </a:rPr>
              <a:t>, 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right. There  is no number type; there are 4 </a:t>
            </a:r>
            <a:r>
              <a:rPr lang="en-US" sz="2600" spc="-70" dirty="0" smtClean="0">
                <a:solidFill>
                  <a:srgbClr val="FFC000">
                    <a:lumMod val="40000"/>
                    <a:lumOff val="60000"/>
                  </a:srgbClr>
                </a:solidFill>
              </a:rPr>
              <a:t>types.</a:t>
            </a:r>
            <a:endParaRPr lang="en-US" sz="2600" spc="-70" dirty="0">
              <a:solidFill>
                <a:srgbClr val="FFFF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</a:t>
            </a:r>
            <a:r>
              <a:rPr lang="en-US" sz="2600" spc="-70" dirty="0" err="1">
                <a:solidFill>
                  <a:srgbClr val="FFFFFF"/>
                </a:solidFill>
              </a:rPr>
              <a:t>bit_length</a:t>
            </a:r>
            <a:r>
              <a:rPr lang="en-US" sz="2600" spc="-70" dirty="0">
                <a:solidFill>
                  <a:srgbClr val="FFFFFF"/>
                </a:solidFill>
              </a:rPr>
              <a:t>', 'conjugate', 'denominator', '</a:t>
            </a:r>
            <a:r>
              <a:rPr lang="en-US" sz="2600" spc="-70" dirty="0" err="1">
                <a:solidFill>
                  <a:srgbClr val="FFFFFF"/>
                </a:solidFill>
              </a:rPr>
              <a:t>from_bytes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imag</a:t>
            </a:r>
            <a:r>
              <a:rPr lang="en-US" sz="2600" spc="-70" dirty="0">
                <a:solidFill>
                  <a:srgbClr val="FFFFFF"/>
                </a:solidFill>
              </a:rPr>
              <a:t>', 'numerator', 'real', '</a:t>
            </a:r>
            <a:r>
              <a:rPr lang="en-US" sz="2600" spc="-70" dirty="0" err="1">
                <a:solidFill>
                  <a:srgbClr val="FFFFFF"/>
                </a:solidFill>
              </a:rPr>
              <a:t>to_bytes</a:t>
            </a:r>
            <a:r>
              <a:rPr lang="en-US" sz="2600" spc="-70" dirty="0">
                <a:solidFill>
                  <a:srgbClr val="FFFFFF"/>
                </a:solidFill>
              </a:rPr>
              <a:t>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black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(bool)[-8:]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</a:t>
            </a:r>
            <a:r>
              <a:rPr lang="en-US" sz="2600" spc="-70" dirty="0" err="1">
                <a:solidFill>
                  <a:srgbClr val="FFFFFF"/>
                </a:solidFill>
              </a:rPr>
              <a:t>bit_length</a:t>
            </a:r>
            <a:r>
              <a:rPr lang="en-US" sz="2600" spc="-70" dirty="0">
                <a:solidFill>
                  <a:srgbClr val="FFFFFF"/>
                </a:solidFill>
              </a:rPr>
              <a:t>', 'conjugate', 'denominator', '</a:t>
            </a:r>
            <a:r>
              <a:rPr lang="en-US" sz="2600" spc="-70" dirty="0" err="1">
                <a:solidFill>
                  <a:srgbClr val="FFFFFF"/>
                </a:solidFill>
              </a:rPr>
              <a:t>from_bytes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imag</a:t>
            </a:r>
            <a:r>
              <a:rPr lang="en-US" sz="2600" spc="-70" dirty="0">
                <a:solidFill>
                  <a:srgbClr val="FFFFFF"/>
                </a:solidFill>
              </a:rPr>
              <a:t>', 'numerator', 'real', '</a:t>
            </a:r>
            <a:r>
              <a:rPr lang="en-US" sz="2600" spc="-70" dirty="0" err="1">
                <a:solidFill>
                  <a:srgbClr val="FFFFFF"/>
                </a:solidFill>
              </a:rPr>
              <a:t>to_bytes</a:t>
            </a:r>
            <a:r>
              <a:rPr lang="en-US" sz="2600" spc="-70" dirty="0">
                <a:solidFill>
                  <a:srgbClr val="FFFFFF"/>
                </a:solidFill>
              </a:rPr>
              <a:t>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black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(float)[-7:]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</a:t>
            </a:r>
            <a:r>
              <a:rPr lang="en-US" sz="2600" spc="-70" dirty="0" err="1">
                <a:solidFill>
                  <a:srgbClr val="FFFFFF"/>
                </a:solidFill>
              </a:rPr>
              <a:t>as_integer_ratio</a:t>
            </a:r>
            <a:r>
              <a:rPr lang="en-US" sz="2600" spc="-70" dirty="0">
                <a:solidFill>
                  <a:srgbClr val="FFFFFF"/>
                </a:solidFill>
              </a:rPr>
              <a:t>', 'conjugate', '</a:t>
            </a:r>
            <a:r>
              <a:rPr lang="en-US" sz="2600" spc="-70" dirty="0" err="1">
                <a:solidFill>
                  <a:srgbClr val="FFFFFF"/>
                </a:solidFill>
              </a:rPr>
              <a:t>fromhex</a:t>
            </a:r>
            <a:r>
              <a:rPr lang="en-US" sz="2600" spc="-70" dirty="0">
                <a:solidFill>
                  <a:srgbClr val="FFFFFF"/>
                </a:solidFill>
              </a:rPr>
              <a:t>', 'hex', '</a:t>
            </a:r>
            <a:r>
              <a:rPr lang="en-US" sz="2600" spc="-70" dirty="0" err="1">
                <a:solidFill>
                  <a:srgbClr val="FFFFFF"/>
                </a:solidFill>
              </a:rPr>
              <a:t>imag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is_integer</a:t>
            </a:r>
            <a:r>
              <a:rPr lang="en-US" sz="2600" spc="-70" dirty="0">
                <a:solidFill>
                  <a:srgbClr val="FFFFFF"/>
                </a:solidFill>
              </a:rPr>
              <a:t>', 'real']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prstClr val="black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(complex)[-3:]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['conjugate', '</a:t>
            </a:r>
            <a:r>
              <a:rPr lang="en-US" sz="2600" spc="-70" dirty="0" err="1">
                <a:solidFill>
                  <a:srgbClr val="FFFFFF"/>
                </a:solidFill>
              </a:rPr>
              <a:t>imag</a:t>
            </a:r>
            <a:r>
              <a:rPr lang="en-US" sz="2600" spc="-70" dirty="0">
                <a:solidFill>
                  <a:srgbClr val="FFFFFF"/>
                </a:solidFill>
              </a:rPr>
              <a:t>', 'real']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</a:p>
          <a:p>
            <a:pPr>
              <a:lnSpc>
                <a:spcPct val="80000"/>
              </a:lnSpc>
            </a:pP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773" y="690244"/>
            <a:ext cx="700587" cy="57105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 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 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  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 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 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   </a:t>
            </a:r>
          </a:p>
          <a:p>
            <a:pPr>
              <a:lnSpc>
                <a:spcPct val="78000"/>
              </a:lnSpc>
            </a:pPr>
            <a:endParaRPr lang="en-US" sz="2600" spc="-70" dirty="0">
              <a:solidFill>
                <a:srgbClr val="7F7F7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 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 </a:t>
            </a:r>
            <a:br>
              <a:rPr lang="en-US" sz="2600" spc="-70" dirty="0">
                <a:solidFill>
                  <a:srgbClr val="7F7F7F"/>
                </a:solidFill>
              </a:rPr>
            </a:br>
            <a:endParaRPr lang="en-US" sz="2600" spc="-70" dirty="0">
              <a:solidFill>
                <a:srgbClr val="7F7F7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 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 </a:t>
            </a:r>
            <a:br>
              <a:rPr lang="en-US" sz="2600" spc="-70" dirty="0">
                <a:solidFill>
                  <a:srgbClr val="7F7F7F"/>
                </a:solidFill>
              </a:rPr>
            </a:br>
            <a:endParaRPr lang="en-US" sz="2600" spc="-70" dirty="0">
              <a:solidFill>
                <a:srgbClr val="7F7F7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 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3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 </a:t>
            </a:r>
            <a:r>
              <a:rPr lang="en-US" sz="2600" spc="-70" dirty="0" err="1">
                <a:solidFill>
                  <a:srgbClr val="7F7F7F"/>
                </a:solidFill>
              </a:rPr>
              <a:t>dir</a:t>
            </a:r>
            <a:r>
              <a:rPr lang="en-US" sz="2600" spc="-70" dirty="0">
                <a:solidFill>
                  <a:srgbClr val="7F7F7F"/>
                </a:solidFill>
              </a:rPr>
              <a:t>(number)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</a:t>
            </a:r>
            <a:r>
              <a:rPr lang="en-US" sz="2600" spc="-70" dirty="0">
                <a:solidFill>
                  <a:srgbClr val="705500"/>
                </a:solidFill>
              </a:rPr>
              <a:t>#Now let’s look at the methods for the number data type:</a:t>
            </a:r>
          </a:p>
          <a:p>
            <a:pPr>
              <a:lnSpc>
                <a:spcPct val="78000"/>
              </a:lnSpc>
            </a:pPr>
            <a:r>
              <a:rPr lang="en-US" sz="2600" spc="-70" dirty="0" err="1">
                <a:solidFill>
                  <a:srgbClr val="540000"/>
                </a:solidFill>
              </a:rPr>
              <a:t>Traceback</a:t>
            </a:r>
            <a:r>
              <a:rPr lang="en-US" sz="2600" spc="-70" dirty="0">
                <a:solidFill>
                  <a:srgbClr val="540000"/>
                </a:solidFill>
              </a:rPr>
              <a:t> (most recent call last):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540000"/>
                </a:solidFill>
              </a:rPr>
              <a:t>  File "&lt;</a:t>
            </a:r>
            <a:r>
              <a:rPr lang="en-US" sz="2600" spc="-70" dirty="0" err="1">
                <a:solidFill>
                  <a:srgbClr val="540000"/>
                </a:solidFill>
              </a:rPr>
              <a:t>stdin</a:t>
            </a:r>
            <a:r>
              <a:rPr lang="en-US" sz="2600" spc="-70" dirty="0">
                <a:solidFill>
                  <a:srgbClr val="540000"/>
                </a:solidFill>
              </a:rPr>
              <a:t>&gt;", line 1, in &lt;module&gt;</a:t>
            </a:r>
          </a:p>
          <a:p>
            <a:pPr>
              <a:lnSpc>
                <a:spcPct val="78000"/>
              </a:lnSpc>
            </a:pPr>
            <a:r>
              <a:rPr lang="en-US" sz="2600" spc="-70" dirty="0" err="1">
                <a:solidFill>
                  <a:srgbClr val="540000"/>
                </a:solidFill>
              </a:rPr>
              <a:t>NameError</a:t>
            </a:r>
            <a:r>
              <a:rPr lang="en-US" sz="2600" spc="-70" dirty="0">
                <a:solidFill>
                  <a:srgbClr val="540000"/>
                </a:solidFill>
              </a:rPr>
              <a:t>: name 'number' is not defined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 </a:t>
            </a:r>
            <a:r>
              <a:rPr lang="en-US" sz="2600" spc="-70" dirty="0" err="1">
                <a:solidFill>
                  <a:srgbClr val="7F7F7F"/>
                </a:solidFill>
              </a:rPr>
              <a:t>dir</a:t>
            </a:r>
            <a:r>
              <a:rPr lang="en-US" sz="2600" spc="-70" dirty="0">
                <a:solidFill>
                  <a:srgbClr val="7F7F7F"/>
                </a:solidFill>
              </a:rPr>
              <a:t>(</a:t>
            </a:r>
            <a:r>
              <a:rPr lang="en-US" sz="2600" spc="-70" dirty="0" err="1">
                <a:solidFill>
                  <a:srgbClr val="7F7F7F"/>
                </a:solidFill>
              </a:rPr>
              <a:t>num</a:t>
            </a:r>
            <a:r>
              <a:rPr lang="en-US" sz="2600" spc="-70" dirty="0">
                <a:solidFill>
                  <a:srgbClr val="7F7F7F"/>
                </a:solidFill>
              </a:rPr>
              <a:t>)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</a:t>
            </a:r>
            <a:r>
              <a:rPr lang="en-US" sz="2600" spc="-70" dirty="0">
                <a:solidFill>
                  <a:srgbClr val="705500"/>
                </a:solidFill>
              </a:rPr>
              <a:t># Apparently, that’s not its name. maybe its name is </a:t>
            </a:r>
            <a:r>
              <a:rPr lang="en-US" sz="2600" spc="-70" dirty="0" err="1">
                <a:solidFill>
                  <a:srgbClr val="705500"/>
                </a:solidFill>
              </a:rPr>
              <a:t>num</a:t>
            </a:r>
            <a:r>
              <a:rPr lang="en-US" sz="2600" spc="-70" dirty="0">
                <a:solidFill>
                  <a:srgbClr val="705500"/>
                </a:solidFill>
              </a:rPr>
              <a:t>?</a:t>
            </a:r>
          </a:p>
          <a:p>
            <a:pPr>
              <a:lnSpc>
                <a:spcPct val="78000"/>
              </a:lnSpc>
            </a:pPr>
            <a:r>
              <a:rPr lang="en-US" sz="2600" spc="-70" dirty="0" err="1">
                <a:solidFill>
                  <a:srgbClr val="540000"/>
                </a:solidFill>
              </a:rPr>
              <a:t>Traceback</a:t>
            </a:r>
            <a:r>
              <a:rPr lang="en-US" sz="2600" spc="-70" dirty="0">
                <a:solidFill>
                  <a:srgbClr val="540000"/>
                </a:solidFill>
              </a:rPr>
              <a:t> (most recent call last):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540000"/>
                </a:solidFill>
              </a:rPr>
              <a:t>  File "&lt;</a:t>
            </a:r>
            <a:r>
              <a:rPr lang="en-US" sz="2600" spc="-70" dirty="0" err="1">
                <a:solidFill>
                  <a:srgbClr val="540000"/>
                </a:solidFill>
              </a:rPr>
              <a:t>stdin</a:t>
            </a:r>
            <a:r>
              <a:rPr lang="en-US" sz="2600" spc="-70" dirty="0">
                <a:solidFill>
                  <a:srgbClr val="540000"/>
                </a:solidFill>
              </a:rPr>
              <a:t>&gt;", line 1, in &lt;module&gt;</a:t>
            </a:r>
          </a:p>
          <a:p>
            <a:pPr>
              <a:lnSpc>
                <a:spcPct val="78000"/>
              </a:lnSpc>
            </a:pPr>
            <a:r>
              <a:rPr lang="en-US" sz="2600" spc="-70" dirty="0" err="1">
                <a:solidFill>
                  <a:srgbClr val="540000"/>
                </a:solidFill>
              </a:rPr>
              <a:t>NameError</a:t>
            </a:r>
            <a:r>
              <a:rPr lang="en-US" sz="2600" spc="-70" dirty="0">
                <a:solidFill>
                  <a:srgbClr val="540000"/>
                </a:solidFill>
              </a:rPr>
              <a:t>: name '</a:t>
            </a:r>
            <a:r>
              <a:rPr lang="en-US" sz="2600" spc="-70" dirty="0" err="1">
                <a:solidFill>
                  <a:srgbClr val="540000"/>
                </a:solidFill>
              </a:rPr>
              <a:t>num</a:t>
            </a:r>
            <a:r>
              <a:rPr lang="en-US" sz="2600" spc="-70" dirty="0">
                <a:solidFill>
                  <a:srgbClr val="540000"/>
                </a:solidFill>
              </a:rPr>
              <a:t>' is not defined</a:t>
            </a:r>
          </a:p>
          <a:p>
            <a:pPr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 </a:t>
            </a:r>
            <a:r>
              <a:rPr lang="en-US" sz="2600" spc="-70" dirty="0" err="1">
                <a:solidFill>
                  <a:srgbClr val="7F7F7F"/>
                </a:solidFill>
              </a:rPr>
              <a:t>dir</a:t>
            </a:r>
            <a:r>
              <a:rPr lang="en-US" sz="2600" spc="-70" dirty="0">
                <a:solidFill>
                  <a:srgbClr val="7F7F7F"/>
                </a:solidFill>
              </a:rPr>
              <a:t> (</a:t>
            </a:r>
            <a:r>
              <a:rPr lang="en-US" sz="2600" b="1" spc="-70" dirty="0" err="1">
                <a:solidFill>
                  <a:srgbClr val="00B0F0"/>
                </a:solidFill>
              </a:rPr>
              <a:t>int</a:t>
            </a:r>
            <a:r>
              <a:rPr lang="en-US" sz="2600" spc="-70" dirty="0">
                <a:solidFill>
                  <a:srgbClr val="7F7F7F"/>
                </a:solidFill>
              </a:rPr>
              <a:t>)[-8:]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</a:t>
            </a:r>
            <a:r>
              <a:rPr lang="en-US" sz="2600" spc="-70" dirty="0">
                <a:solidFill>
                  <a:srgbClr val="705500"/>
                </a:solidFill>
              </a:rPr>
              <a:t># </a:t>
            </a:r>
            <a:r>
              <a:rPr lang="en-US" sz="2600" spc="-70" dirty="0" smtClean="0">
                <a:solidFill>
                  <a:srgbClr val="705500"/>
                </a:solidFill>
              </a:rPr>
              <a:t>Oh, right</a:t>
            </a:r>
            <a:r>
              <a:rPr lang="en-US" sz="2600" spc="-70" dirty="0">
                <a:solidFill>
                  <a:srgbClr val="705500"/>
                </a:solidFill>
              </a:rPr>
              <a:t>. There  is no number type; there are 4 types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[</a:t>
            </a:r>
            <a:r>
              <a:rPr lang="en-US" sz="2600" spc="-70" dirty="0">
                <a:solidFill>
                  <a:srgbClr val="00506C"/>
                </a:solidFill>
              </a:rPr>
              <a:t>'</a:t>
            </a:r>
            <a:r>
              <a:rPr lang="en-US" sz="2600" spc="-70" dirty="0" err="1">
                <a:solidFill>
                  <a:srgbClr val="00B0F0"/>
                </a:solidFill>
              </a:rPr>
              <a:t>bit_length</a:t>
            </a:r>
            <a:r>
              <a:rPr lang="en-US" sz="2600" spc="-70" dirty="0">
                <a:solidFill>
                  <a:srgbClr val="00506C"/>
                </a:solidFill>
              </a:rPr>
              <a:t>',</a:t>
            </a:r>
            <a:r>
              <a:rPr lang="en-US" sz="2600" spc="-70" dirty="0">
                <a:solidFill>
                  <a:srgbClr val="00B0F0"/>
                </a:solidFill>
              </a:rPr>
              <a:t> </a:t>
            </a:r>
            <a:r>
              <a:rPr lang="en-US" sz="2600" spc="-70" dirty="0">
                <a:solidFill>
                  <a:srgbClr val="7F7F7F"/>
                </a:solidFill>
              </a:rPr>
              <a:t>'conjugate', 'denominator', </a:t>
            </a:r>
            <a:r>
              <a:rPr lang="en-US" sz="2600" spc="-70" dirty="0">
                <a:solidFill>
                  <a:srgbClr val="00506C"/>
                </a:solidFill>
              </a:rPr>
              <a:t>'</a:t>
            </a:r>
            <a:r>
              <a:rPr lang="en-US" sz="2600" spc="-70" dirty="0" err="1">
                <a:solidFill>
                  <a:srgbClr val="00B0F0"/>
                </a:solidFill>
              </a:rPr>
              <a:t>from_bytes</a:t>
            </a:r>
            <a:r>
              <a:rPr lang="en-US" sz="2600" spc="-70" dirty="0">
                <a:solidFill>
                  <a:srgbClr val="00506C"/>
                </a:solidFill>
              </a:rPr>
              <a:t>',</a:t>
            </a:r>
            <a:r>
              <a:rPr lang="en-US" sz="2600" spc="-70" dirty="0">
                <a:solidFill>
                  <a:srgbClr val="00B0F0"/>
                </a:solidFill>
              </a:rPr>
              <a:t> </a:t>
            </a:r>
            <a:r>
              <a:rPr lang="en-US" sz="2600" spc="-70" dirty="0">
                <a:solidFill>
                  <a:srgbClr val="7F7F7F"/>
                </a:solidFill>
              </a:rPr>
              <a:t>'</a:t>
            </a:r>
            <a:r>
              <a:rPr lang="en-US" sz="2600" spc="-70" dirty="0" err="1">
                <a:solidFill>
                  <a:srgbClr val="7F7F7F"/>
                </a:solidFill>
              </a:rPr>
              <a:t>imag</a:t>
            </a:r>
            <a:r>
              <a:rPr lang="en-US" sz="2600" spc="-70" dirty="0">
                <a:solidFill>
                  <a:srgbClr val="7F7F7F"/>
                </a:solidFill>
              </a:rPr>
              <a:t>', 'numerator', 'real', </a:t>
            </a:r>
            <a:r>
              <a:rPr lang="en-US" sz="2600" spc="-70" dirty="0">
                <a:solidFill>
                  <a:srgbClr val="00506C"/>
                </a:solidFill>
              </a:rPr>
              <a:t>'</a:t>
            </a:r>
            <a:r>
              <a:rPr lang="en-US" sz="2600" spc="-70" dirty="0" err="1">
                <a:solidFill>
                  <a:srgbClr val="00B0F0"/>
                </a:solidFill>
              </a:rPr>
              <a:t>to_bytes</a:t>
            </a:r>
            <a:r>
              <a:rPr lang="en-US" sz="2600" spc="-70" dirty="0">
                <a:solidFill>
                  <a:srgbClr val="00506C"/>
                </a:solidFill>
              </a:rPr>
              <a:t>'</a:t>
            </a:r>
            <a:r>
              <a:rPr lang="en-US" sz="2600" spc="-7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 </a:t>
            </a:r>
            <a:r>
              <a:rPr lang="en-US" sz="2600" spc="-70" dirty="0" err="1">
                <a:solidFill>
                  <a:srgbClr val="7F7F7F"/>
                </a:solidFill>
              </a:rPr>
              <a:t>dir</a:t>
            </a:r>
            <a:r>
              <a:rPr lang="en-US" sz="2600" spc="-70" dirty="0">
                <a:solidFill>
                  <a:srgbClr val="7F7F7F"/>
                </a:solidFill>
              </a:rPr>
              <a:t> (</a:t>
            </a:r>
            <a:r>
              <a:rPr lang="en-US" sz="2600" b="1" spc="-70" dirty="0">
                <a:solidFill>
                  <a:srgbClr val="92D050"/>
                </a:solidFill>
              </a:rPr>
              <a:t>bool</a:t>
            </a:r>
            <a:r>
              <a:rPr lang="en-US" sz="2600" spc="-70" dirty="0">
                <a:solidFill>
                  <a:srgbClr val="7F7F7F"/>
                </a:solidFill>
              </a:rPr>
              <a:t>)[-8:]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['</a:t>
            </a:r>
            <a:r>
              <a:rPr lang="en-US" sz="2600" spc="-70" dirty="0" err="1">
                <a:solidFill>
                  <a:srgbClr val="7F7F7F"/>
                </a:solidFill>
              </a:rPr>
              <a:t>bit_length</a:t>
            </a:r>
            <a:r>
              <a:rPr lang="en-US" sz="2600" spc="-70" dirty="0">
                <a:solidFill>
                  <a:srgbClr val="7F7F7F"/>
                </a:solidFill>
              </a:rPr>
              <a:t>', 'conjugate', 'denominator', '</a:t>
            </a:r>
            <a:r>
              <a:rPr lang="en-US" sz="2600" spc="-70" dirty="0" err="1">
                <a:solidFill>
                  <a:srgbClr val="7F7F7F"/>
                </a:solidFill>
              </a:rPr>
              <a:t>from_bytes</a:t>
            </a:r>
            <a:r>
              <a:rPr lang="en-US" sz="2600" spc="-70" dirty="0">
                <a:solidFill>
                  <a:srgbClr val="7F7F7F"/>
                </a:solidFill>
              </a:rPr>
              <a:t>', '</a:t>
            </a:r>
            <a:r>
              <a:rPr lang="en-US" sz="2600" spc="-70" dirty="0" err="1">
                <a:solidFill>
                  <a:srgbClr val="7F7F7F"/>
                </a:solidFill>
              </a:rPr>
              <a:t>imag</a:t>
            </a:r>
            <a:r>
              <a:rPr lang="en-US" sz="2600" spc="-70" dirty="0">
                <a:solidFill>
                  <a:srgbClr val="7F7F7F"/>
                </a:solidFill>
              </a:rPr>
              <a:t>', 'numerator', 'real', '</a:t>
            </a:r>
            <a:r>
              <a:rPr lang="en-US" sz="2600" spc="-70" dirty="0" err="1">
                <a:solidFill>
                  <a:srgbClr val="7F7F7F"/>
                </a:solidFill>
              </a:rPr>
              <a:t>to_bytes</a:t>
            </a:r>
            <a:r>
              <a:rPr lang="en-US" sz="2600" spc="-70" dirty="0">
                <a:solidFill>
                  <a:srgbClr val="7F7F7F"/>
                </a:solidFill>
              </a:rPr>
              <a:t>']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 </a:t>
            </a:r>
            <a:r>
              <a:rPr lang="en-US" sz="2600" spc="-70" dirty="0" err="1">
                <a:solidFill>
                  <a:srgbClr val="7F7F7F"/>
                </a:solidFill>
              </a:rPr>
              <a:t>dir</a:t>
            </a:r>
            <a:r>
              <a:rPr lang="en-US" sz="2600" spc="-70" dirty="0">
                <a:solidFill>
                  <a:srgbClr val="7F7F7F"/>
                </a:solidFill>
              </a:rPr>
              <a:t> (</a:t>
            </a:r>
            <a:r>
              <a:rPr lang="en-US" sz="2600" b="1" spc="-70" dirty="0">
                <a:solidFill>
                  <a:srgbClr val="FF0000"/>
                </a:solidFill>
              </a:rPr>
              <a:t>float</a:t>
            </a:r>
            <a:r>
              <a:rPr lang="en-US" sz="2600" spc="-70" dirty="0">
                <a:solidFill>
                  <a:srgbClr val="7F7F7F"/>
                </a:solidFill>
              </a:rPr>
              <a:t>)[-7:]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[</a:t>
            </a:r>
            <a:r>
              <a:rPr lang="en-US" sz="2600" spc="-70" dirty="0">
                <a:solidFill>
                  <a:srgbClr val="7A0000"/>
                </a:solidFill>
              </a:rPr>
              <a:t>'</a:t>
            </a:r>
            <a:r>
              <a:rPr lang="en-US" sz="2600" spc="-70" dirty="0" err="1">
                <a:solidFill>
                  <a:srgbClr val="7A0000"/>
                </a:solidFill>
              </a:rPr>
              <a:t>as_integer_ratio</a:t>
            </a:r>
            <a:r>
              <a:rPr lang="en-US" sz="2600" spc="-70" dirty="0">
                <a:solidFill>
                  <a:srgbClr val="7A0000"/>
                </a:solidFill>
              </a:rPr>
              <a:t>', 'conjugate', '</a:t>
            </a:r>
            <a:r>
              <a:rPr lang="en-US" sz="2600" spc="-70" dirty="0" err="1">
                <a:solidFill>
                  <a:srgbClr val="7A0000"/>
                </a:solidFill>
              </a:rPr>
              <a:t>fromhex</a:t>
            </a:r>
            <a:r>
              <a:rPr lang="en-US" sz="2600" spc="-70" dirty="0">
                <a:solidFill>
                  <a:srgbClr val="7A0000"/>
                </a:solidFill>
              </a:rPr>
              <a:t>', 'hex', '</a:t>
            </a:r>
            <a:r>
              <a:rPr lang="en-US" sz="2600" spc="-70" dirty="0" err="1">
                <a:solidFill>
                  <a:srgbClr val="7A0000"/>
                </a:solidFill>
              </a:rPr>
              <a:t>imag</a:t>
            </a:r>
            <a:r>
              <a:rPr lang="en-US" sz="2600" spc="-70" dirty="0">
                <a:solidFill>
                  <a:srgbClr val="7A0000"/>
                </a:solidFill>
              </a:rPr>
              <a:t>', '</a:t>
            </a:r>
            <a:r>
              <a:rPr lang="en-US" sz="2600" spc="-70" dirty="0" err="1">
                <a:solidFill>
                  <a:srgbClr val="FF0000"/>
                </a:solidFill>
              </a:rPr>
              <a:t>is_integer</a:t>
            </a:r>
            <a:r>
              <a:rPr lang="en-US" sz="2600" spc="-70" dirty="0">
                <a:solidFill>
                  <a:srgbClr val="7A0000"/>
                </a:solidFill>
              </a:rPr>
              <a:t>', 'real'</a:t>
            </a:r>
            <a:r>
              <a:rPr lang="en-US" sz="2600" spc="-7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 </a:t>
            </a:r>
            <a:r>
              <a:rPr lang="en-US" sz="2600" spc="-70" dirty="0" err="1">
                <a:solidFill>
                  <a:srgbClr val="7F7F7F"/>
                </a:solidFill>
              </a:rPr>
              <a:t>dir</a:t>
            </a:r>
            <a:r>
              <a:rPr lang="en-US" sz="2600" spc="-70" dirty="0">
                <a:solidFill>
                  <a:srgbClr val="7F7F7F"/>
                </a:solidFill>
              </a:rPr>
              <a:t> (</a:t>
            </a:r>
            <a:r>
              <a:rPr lang="en-US" sz="2600" b="1" spc="-70" dirty="0">
                <a:solidFill>
                  <a:srgbClr val="FF1493"/>
                </a:solidFill>
              </a:rPr>
              <a:t>complex</a:t>
            </a:r>
            <a:r>
              <a:rPr lang="en-US" sz="2600" spc="-70" dirty="0">
                <a:solidFill>
                  <a:srgbClr val="7F7F7F"/>
                </a:solidFill>
              </a:rPr>
              <a:t>)[-3:]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[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conjugate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imag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real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80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</a:p>
          <a:p>
            <a:pPr>
              <a:lnSpc>
                <a:spcPct val="80000"/>
              </a:lnSpc>
            </a:pPr>
            <a:endParaRPr lang="en-US" sz="2600" spc="-70" dirty="0">
              <a:solidFill>
                <a:srgbClr val="7F7F7F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2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dirty="0">
                <a:solidFill>
                  <a:srgbClr val="7F7F7F"/>
                </a:solidFill>
              </a:rPr>
              <a:t> </a:t>
            </a:r>
          </a:p>
          <a:p>
            <a:pPr>
              <a:lnSpc>
                <a:spcPct val="78000"/>
              </a:lnSpc>
            </a:pPr>
            <a:r>
              <a:rPr lang="en-US" sz="2600" dirty="0">
                <a:solidFill>
                  <a:srgbClr val="7F7F7F"/>
                </a:solidFill>
              </a:rPr>
              <a:t> </a:t>
            </a:r>
          </a:p>
          <a:p>
            <a:pPr>
              <a:lnSpc>
                <a:spcPct val="78000"/>
              </a:lnSpc>
            </a:pPr>
            <a:r>
              <a:rPr lang="en-US" sz="2600" dirty="0">
                <a:solidFill>
                  <a:srgbClr val="7F7F7F"/>
                </a:solidFill>
              </a:rPr>
              <a:t>  </a:t>
            </a:r>
          </a:p>
          <a:p>
            <a:pPr>
              <a:lnSpc>
                <a:spcPct val="78000"/>
              </a:lnSpc>
            </a:pPr>
            <a:endParaRPr lang="en-US" sz="2600" dirty="0">
              <a:solidFill>
                <a:srgbClr val="7F7F7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dirty="0">
                <a:solidFill>
                  <a:srgbClr val="7F7F7F"/>
                </a:solidFill>
              </a:rPr>
              <a:t> </a:t>
            </a:r>
          </a:p>
          <a:p>
            <a:pPr>
              <a:lnSpc>
                <a:spcPct val="78000"/>
              </a:lnSpc>
            </a:pPr>
            <a:endParaRPr lang="en-US" sz="2600" dirty="0">
              <a:solidFill>
                <a:srgbClr val="7F7F7F"/>
              </a:solidFill>
            </a:endParaRPr>
          </a:p>
          <a:p>
            <a:pPr>
              <a:lnSpc>
                <a:spcPct val="78000"/>
              </a:lnSpc>
            </a:pPr>
            <a:endParaRPr lang="en-US" sz="2600" dirty="0">
              <a:solidFill>
                <a:srgbClr val="7F7F7F"/>
              </a:solidFill>
            </a:endParaRPr>
          </a:p>
          <a:p>
            <a:pPr>
              <a:lnSpc>
                <a:spcPct val="78000"/>
              </a:lnSpc>
            </a:pPr>
            <a:endParaRPr lang="en-US" sz="2600" dirty="0">
              <a:solidFill>
                <a:srgbClr val="7F7F7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dirty="0">
                <a:solidFill>
                  <a:srgbClr val="7F7F7F"/>
                </a:solidFill>
              </a:rPr>
              <a:t>&gt;&gt;&gt; </a:t>
            </a:r>
            <a:r>
              <a:rPr lang="en-US" sz="2600" dirty="0" err="1">
                <a:solidFill>
                  <a:srgbClr val="7F7F7F"/>
                </a:solidFill>
              </a:rPr>
              <a:t>ImportantMethodsOf</a:t>
            </a:r>
            <a:r>
              <a:rPr lang="en-US" sz="2600" dirty="0">
                <a:solidFill>
                  <a:srgbClr val="7F7F7F"/>
                </a:solidFill>
              </a:rPr>
              <a:t>(</a:t>
            </a:r>
            <a:r>
              <a:rPr lang="en-US" sz="2600" b="1" dirty="0" err="1">
                <a:solidFill>
                  <a:srgbClr val="00B0F0"/>
                </a:solidFill>
              </a:rPr>
              <a:t>int</a:t>
            </a:r>
            <a:r>
              <a:rPr lang="en-US" sz="260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[</a:t>
            </a:r>
            <a:r>
              <a:rPr lang="en-US" sz="2600" dirty="0">
                <a:solidFill>
                  <a:srgbClr val="00506C"/>
                </a:solidFill>
              </a:rPr>
              <a:t>'</a:t>
            </a:r>
            <a:r>
              <a:rPr lang="en-US" sz="2600" dirty="0" err="1">
                <a:solidFill>
                  <a:srgbClr val="00B0F0"/>
                </a:solidFill>
              </a:rPr>
              <a:t>bit_length</a:t>
            </a:r>
            <a:r>
              <a:rPr lang="en-US" sz="2600" dirty="0">
                <a:solidFill>
                  <a:srgbClr val="00506C"/>
                </a:solidFill>
              </a:rPr>
              <a:t>',</a:t>
            </a:r>
            <a:r>
              <a:rPr lang="en-US" sz="2600" dirty="0">
                <a:solidFill>
                  <a:srgbClr val="7F7F7F"/>
                </a:solidFill>
              </a:rPr>
              <a:t> </a:t>
            </a:r>
            <a:r>
              <a:rPr lang="en-US" sz="2600" dirty="0">
                <a:solidFill>
                  <a:srgbClr val="00506C"/>
                </a:solidFill>
              </a:rPr>
              <a:t>'</a:t>
            </a:r>
            <a:r>
              <a:rPr lang="en-US" sz="2600" dirty="0" err="1">
                <a:solidFill>
                  <a:srgbClr val="00B0F0"/>
                </a:solidFill>
              </a:rPr>
              <a:t>from_bytes</a:t>
            </a:r>
            <a:r>
              <a:rPr lang="en-US" sz="2600" dirty="0">
                <a:solidFill>
                  <a:srgbClr val="00506C"/>
                </a:solidFill>
              </a:rPr>
              <a:t>',</a:t>
            </a:r>
            <a:r>
              <a:rPr lang="en-US" sz="2600" dirty="0">
                <a:solidFill>
                  <a:srgbClr val="7F7F7F"/>
                </a:solidFill>
              </a:rPr>
              <a:t> </a:t>
            </a:r>
            <a:r>
              <a:rPr lang="en-US" sz="2600" dirty="0">
                <a:solidFill>
                  <a:srgbClr val="00506C"/>
                </a:solidFill>
              </a:rPr>
              <a:t>'</a:t>
            </a:r>
            <a:r>
              <a:rPr lang="en-US" sz="2600" dirty="0" err="1">
                <a:solidFill>
                  <a:srgbClr val="00B0F0"/>
                </a:solidFill>
              </a:rPr>
              <a:t>to_bytes</a:t>
            </a:r>
            <a:r>
              <a:rPr lang="en-US" sz="2600" dirty="0">
                <a:solidFill>
                  <a:srgbClr val="00506C"/>
                </a:solidFill>
              </a:rPr>
              <a:t>'</a:t>
            </a:r>
            <a:r>
              <a:rPr lang="en-US" sz="2600" dirty="0">
                <a:solidFill>
                  <a:srgbClr val="7F7F7F"/>
                </a:solidFill>
              </a:rPr>
              <a:t>]</a:t>
            </a:r>
            <a:br>
              <a:rPr lang="en-US" sz="2600" dirty="0">
                <a:solidFill>
                  <a:srgbClr val="7F7F7F"/>
                </a:solidFill>
              </a:rPr>
            </a:br>
            <a:endParaRPr lang="en-US" sz="2600" dirty="0">
              <a:solidFill>
                <a:srgbClr val="7F7F7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&gt;&gt;&gt; </a:t>
            </a:r>
            <a:r>
              <a:rPr lang="en-US" sz="2600" dirty="0" err="1">
                <a:solidFill>
                  <a:srgbClr val="7F7F7F"/>
                </a:solidFill>
              </a:rPr>
              <a:t>ImportantMethodsOf</a:t>
            </a:r>
            <a:r>
              <a:rPr lang="en-US" sz="2600" dirty="0">
                <a:solidFill>
                  <a:srgbClr val="7F7F7F"/>
                </a:solidFill>
              </a:rPr>
              <a:t>(</a:t>
            </a:r>
            <a:r>
              <a:rPr lang="en-US" sz="2600" b="1" dirty="0">
                <a:solidFill>
                  <a:srgbClr val="92D050"/>
                </a:solidFill>
              </a:rPr>
              <a:t>bool</a:t>
            </a:r>
            <a:r>
              <a:rPr lang="en-US" sz="260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[]</a:t>
            </a:r>
            <a:br>
              <a:rPr lang="en-US" sz="2600" dirty="0">
                <a:solidFill>
                  <a:srgbClr val="7F7F7F"/>
                </a:solidFill>
              </a:rPr>
            </a:br>
            <a:endParaRPr lang="en-US" sz="2600" dirty="0">
              <a:solidFill>
                <a:srgbClr val="7F7F7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&gt;&gt;&gt; </a:t>
            </a:r>
            <a:r>
              <a:rPr lang="en-US" sz="2600" dirty="0" err="1">
                <a:solidFill>
                  <a:srgbClr val="7F7F7F"/>
                </a:solidFill>
              </a:rPr>
              <a:t>ImportantMethodsOf</a:t>
            </a:r>
            <a:r>
              <a:rPr lang="en-US" sz="2600" dirty="0">
                <a:solidFill>
                  <a:srgbClr val="7F7F7F"/>
                </a:solidFill>
              </a:rPr>
              <a:t>(</a:t>
            </a:r>
            <a:r>
              <a:rPr lang="en-US" sz="2600" b="1" dirty="0">
                <a:solidFill>
                  <a:srgbClr val="FF0000"/>
                </a:solidFill>
              </a:rPr>
              <a:t>float</a:t>
            </a:r>
            <a:r>
              <a:rPr lang="en-US" sz="260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[</a:t>
            </a:r>
            <a:r>
              <a:rPr lang="en-US" sz="2600" dirty="0">
                <a:solidFill>
                  <a:srgbClr val="7A0000"/>
                </a:solidFill>
              </a:rPr>
              <a:t>'</a:t>
            </a:r>
            <a:r>
              <a:rPr lang="en-US" sz="2600" dirty="0" err="1">
                <a:solidFill>
                  <a:srgbClr val="FF0000"/>
                </a:solidFill>
              </a:rPr>
              <a:t>is_integer</a:t>
            </a:r>
            <a:r>
              <a:rPr lang="en-US" sz="2600" dirty="0">
                <a:solidFill>
                  <a:srgbClr val="7A0000"/>
                </a:solidFill>
              </a:rPr>
              <a:t>'</a:t>
            </a:r>
            <a:r>
              <a:rPr lang="en-US" sz="260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&gt;&gt;&gt; </a:t>
            </a:r>
            <a:r>
              <a:rPr lang="en-US" sz="2600" dirty="0" err="1">
                <a:solidFill>
                  <a:srgbClr val="7F7F7F"/>
                </a:solidFill>
              </a:rPr>
              <a:t>ImportantMethodsOf</a:t>
            </a:r>
            <a:r>
              <a:rPr lang="en-US" sz="2600" dirty="0">
                <a:solidFill>
                  <a:srgbClr val="7F7F7F"/>
                </a:solidFill>
              </a:rPr>
              <a:t>(</a:t>
            </a:r>
            <a:r>
              <a:rPr lang="en-US" sz="2600" b="1" dirty="0">
                <a:solidFill>
                  <a:srgbClr val="FF1493"/>
                </a:solidFill>
              </a:rPr>
              <a:t>complex</a:t>
            </a:r>
            <a:r>
              <a:rPr lang="en-US" sz="260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[</a:t>
            </a:r>
            <a:r>
              <a:rPr lang="en-US" sz="2600" dirty="0">
                <a:solidFill>
                  <a:srgbClr val="480027"/>
                </a:solidFill>
              </a:rPr>
              <a:t>'</a:t>
            </a:r>
            <a:r>
              <a:rPr lang="en-US" sz="2600" dirty="0">
                <a:solidFill>
                  <a:srgbClr val="FF1493"/>
                </a:solidFill>
              </a:rPr>
              <a:t>conjugate</a:t>
            </a:r>
            <a:r>
              <a:rPr lang="en-US" sz="2600" dirty="0">
                <a:solidFill>
                  <a:srgbClr val="480027"/>
                </a:solidFill>
              </a:rPr>
              <a:t>', '</a:t>
            </a:r>
            <a:r>
              <a:rPr lang="en-US" sz="2600" dirty="0" err="1">
                <a:solidFill>
                  <a:srgbClr val="FF1493"/>
                </a:solidFill>
              </a:rPr>
              <a:t>imag</a:t>
            </a:r>
            <a:r>
              <a:rPr lang="en-US" sz="2600" dirty="0">
                <a:solidFill>
                  <a:srgbClr val="480027"/>
                </a:solidFill>
              </a:rPr>
              <a:t>', '</a:t>
            </a:r>
            <a:r>
              <a:rPr lang="en-US" sz="2600" dirty="0">
                <a:solidFill>
                  <a:srgbClr val="FF1493"/>
                </a:solidFill>
              </a:rPr>
              <a:t>real</a:t>
            </a:r>
            <a:r>
              <a:rPr lang="en-US" sz="2600" dirty="0">
                <a:solidFill>
                  <a:srgbClr val="480027"/>
                </a:solidFill>
              </a:rPr>
              <a:t>'</a:t>
            </a:r>
            <a:r>
              <a:rPr lang="en-US" sz="260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&gt;&gt;&gt;</a:t>
            </a:r>
          </a:p>
          <a:p>
            <a:pPr>
              <a:lnSpc>
                <a:spcPct val="80000"/>
              </a:lnSpc>
            </a:pPr>
            <a:endParaRPr lang="en-US" sz="2600" dirty="0">
              <a:solidFill>
                <a:srgbClr val="7F7F7F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34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"/>
    </mc:Choice>
    <mc:Fallback xmlns="">
      <p:transition spd="slow" advTm="400"/>
    </mc:Fallback>
  </mc:AlternateContent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8000"/>
              </a:lnSpc>
            </a:pPr>
            <a:r>
              <a:rPr lang="en-US" sz="2600" dirty="0">
                <a:solidFill>
                  <a:srgbClr val="7F7F7F"/>
                </a:solidFill>
              </a:rPr>
              <a:t> </a:t>
            </a:r>
          </a:p>
          <a:p>
            <a:pPr>
              <a:lnSpc>
                <a:spcPct val="78000"/>
              </a:lnSpc>
            </a:pPr>
            <a:r>
              <a:rPr lang="en-US" sz="2600" dirty="0">
                <a:solidFill>
                  <a:srgbClr val="7F7F7F"/>
                </a:solidFill>
              </a:rPr>
              <a:t> </a:t>
            </a:r>
            <a:endParaRPr lang="en-US" sz="3600" dirty="0">
              <a:solidFill>
                <a:srgbClr val="7F7F7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3600" dirty="0">
                <a:solidFill>
                  <a:srgbClr val="7F7F7F"/>
                </a:solidFill>
              </a:rPr>
              <a:t>  </a:t>
            </a:r>
          </a:p>
          <a:p>
            <a:pPr>
              <a:lnSpc>
                <a:spcPct val="78000"/>
              </a:lnSpc>
            </a:pPr>
            <a:endParaRPr lang="en-US" sz="3600" dirty="0">
              <a:solidFill>
                <a:srgbClr val="7F7F7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3600" dirty="0">
                <a:solidFill>
                  <a:srgbClr val="7F7F7F"/>
                </a:solidFill>
              </a:rPr>
              <a:t> </a:t>
            </a:r>
          </a:p>
          <a:p>
            <a:pPr>
              <a:lnSpc>
                <a:spcPct val="78000"/>
              </a:lnSpc>
            </a:pPr>
            <a:endParaRPr lang="en-US" sz="2000" dirty="0">
              <a:solidFill>
                <a:srgbClr val="7F7F7F"/>
              </a:solidFill>
            </a:endParaRPr>
          </a:p>
          <a:p>
            <a:pPr>
              <a:lnSpc>
                <a:spcPct val="78000"/>
              </a:lnSpc>
            </a:pPr>
            <a:endParaRPr lang="en-US" sz="2600" dirty="0">
              <a:solidFill>
                <a:srgbClr val="7F7F7F"/>
              </a:solidFill>
            </a:endParaRPr>
          </a:p>
          <a:p>
            <a:pPr>
              <a:lnSpc>
                <a:spcPct val="78000"/>
              </a:lnSpc>
            </a:pPr>
            <a:endParaRPr lang="en-US" sz="2600" dirty="0">
              <a:solidFill>
                <a:srgbClr val="7F7F7F"/>
              </a:solidFill>
            </a:endParaRPr>
          </a:p>
          <a:p>
            <a:pPr>
              <a:lnSpc>
                <a:spcPct val="78000"/>
              </a:lnSpc>
            </a:pPr>
            <a:endParaRPr lang="en-US" sz="2600" dirty="0">
              <a:solidFill>
                <a:srgbClr val="7F7F7F"/>
              </a:solidFill>
            </a:endParaRPr>
          </a:p>
          <a:p>
            <a:pPr>
              <a:lnSpc>
                <a:spcPct val="78000"/>
              </a:lnSpc>
            </a:pPr>
            <a:r>
              <a:rPr lang="en-US" sz="2600" dirty="0">
                <a:solidFill>
                  <a:srgbClr val="7F7F7F"/>
                </a:solidFill>
              </a:rPr>
              <a:t>&gt;&gt;&gt; </a:t>
            </a:r>
            <a:r>
              <a:rPr lang="en-US" sz="2600" dirty="0" err="1">
                <a:solidFill>
                  <a:srgbClr val="7F7F7F"/>
                </a:solidFill>
              </a:rPr>
              <a:t>ImportantMethodsOf</a:t>
            </a:r>
            <a:r>
              <a:rPr lang="en-US" sz="2600" dirty="0">
                <a:solidFill>
                  <a:srgbClr val="7F7F7F"/>
                </a:solidFill>
              </a:rPr>
              <a:t>(</a:t>
            </a:r>
            <a:r>
              <a:rPr lang="en-US" sz="2600" b="1" dirty="0" err="1">
                <a:solidFill>
                  <a:srgbClr val="00B0F0"/>
                </a:solidFill>
              </a:rPr>
              <a:t>int</a:t>
            </a:r>
            <a:r>
              <a:rPr lang="en-US" sz="260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[</a:t>
            </a:r>
            <a:r>
              <a:rPr lang="en-US" sz="2600" dirty="0">
                <a:solidFill>
                  <a:srgbClr val="00506C"/>
                </a:solidFill>
              </a:rPr>
              <a:t>'</a:t>
            </a:r>
            <a:r>
              <a:rPr lang="en-US" sz="2600" dirty="0" err="1">
                <a:solidFill>
                  <a:srgbClr val="00B0F0"/>
                </a:solidFill>
              </a:rPr>
              <a:t>bit_length</a:t>
            </a:r>
            <a:r>
              <a:rPr lang="en-US" sz="2600" dirty="0">
                <a:solidFill>
                  <a:srgbClr val="00506C"/>
                </a:solidFill>
              </a:rPr>
              <a:t>',</a:t>
            </a:r>
            <a:r>
              <a:rPr lang="en-US" sz="2600" dirty="0">
                <a:solidFill>
                  <a:srgbClr val="7F7F7F"/>
                </a:solidFill>
              </a:rPr>
              <a:t> </a:t>
            </a:r>
            <a:r>
              <a:rPr lang="en-US" sz="2600" dirty="0">
                <a:solidFill>
                  <a:srgbClr val="00506C"/>
                </a:solidFill>
              </a:rPr>
              <a:t>'</a:t>
            </a:r>
            <a:r>
              <a:rPr lang="en-US" sz="2600" dirty="0" err="1">
                <a:solidFill>
                  <a:srgbClr val="00B0F0"/>
                </a:solidFill>
              </a:rPr>
              <a:t>from_bytes</a:t>
            </a:r>
            <a:r>
              <a:rPr lang="en-US" sz="2600" dirty="0">
                <a:solidFill>
                  <a:srgbClr val="00506C"/>
                </a:solidFill>
              </a:rPr>
              <a:t>',</a:t>
            </a:r>
            <a:r>
              <a:rPr lang="en-US" sz="2600" dirty="0">
                <a:solidFill>
                  <a:srgbClr val="7F7F7F"/>
                </a:solidFill>
              </a:rPr>
              <a:t> </a:t>
            </a:r>
            <a:r>
              <a:rPr lang="en-US" sz="2600" dirty="0">
                <a:solidFill>
                  <a:srgbClr val="00506C"/>
                </a:solidFill>
              </a:rPr>
              <a:t>'</a:t>
            </a:r>
            <a:r>
              <a:rPr lang="en-US" sz="2600" dirty="0" err="1">
                <a:solidFill>
                  <a:srgbClr val="00B0F0"/>
                </a:solidFill>
              </a:rPr>
              <a:t>to_bytes</a:t>
            </a:r>
            <a:r>
              <a:rPr lang="en-US" sz="2600" dirty="0">
                <a:solidFill>
                  <a:srgbClr val="00506C"/>
                </a:solidFill>
              </a:rPr>
              <a:t>'</a:t>
            </a:r>
            <a:r>
              <a:rPr lang="en-US" sz="2600" dirty="0">
                <a:solidFill>
                  <a:srgbClr val="7F7F7F"/>
                </a:solidFill>
              </a:rPr>
              <a:t>]</a:t>
            </a:r>
            <a:br>
              <a:rPr lang="en-US" sz="2600" dirty="0">
                <a:solidFill>
                  <a:srgbClr val="7F7F7F"/>
                </a:solidFill>
              </a:rPr>
            </a:br>
            <a:endParaRPr lang="en-US" sz="1400" dirty="0">
              <a:solidFill>
                <a:srgbClr val="7F7F7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&gt;&gt;&gt; </a:t>
            </a:r>
            <a:r>
              <a:rPr lang="en-US" sz="2600" dirty="0" err="1">
                <a:solidFill>
                  <a:srgbClr val="7F7F7F"/>
                </a:solidFill>
              </a:rPr>
              <a:t>ImportantMethodsOf</a:t>
            </a:r>
            <a:r>
              <a:rPr lang="en-US" sz="2600" dirty="0">
                <a:solidFill>
                  <a:srgbClr val="7F7F7F"/>
                </a:solidFill>
              </a:rPr>
              <a:t>(</a:t>
            </a:r>
            <a:r>
              <a:rPr lang="en-US" sz="2600" b="1" dirty="0">
                <a:solidFill>
                  <a:srgbClr val="92D050"/>
                </a:solidFill>
              </a:rPr>
              <a:t>bool</a:t>
            </a:r>
            <a:r>
              <a:rPr lang="en-US" sz="260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[]</a:t>
            </a:r>
            <a:br>
              <a:rPr lang="en-US" sz="2600" dirty="0">
                <a:solidFill>
                  <a:srgbClr val="7F7F7F"/>
                </a:solidFill>
              </a:rPr>
            </a:br>
            <a:endParaRPr lang="en-US" sz="1400" dirty="0">
              <a:solidFill>
                <a:srgbClr val="7F7F7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&gt;&gt;&gt; </a:t>
            </a:r>
            <a:r>
              <a:rPr lang="en-US" sz="2600" dirty="0" err="1">
                <a:solidFill>
                  <a:srgbClr val="7F7F7F"/>
                </a:solidFill>
              </a:rPr>
              <a:t>ImportantMethodsOf</a:t>
            </a:r>
            <a:r>
              <a:rPr lang="en-US" sz="2600" dirty="0">
                <a:solidFill>
                  <a:srgbClr val="7F7F7F"/>
                </a:solidFill>
              </a:rPr>
              <a:t>(</a:t>
            </a:r>
            <a:r>
              <a:rPr lang="en-US" sz="2600" b="1" dirty="0">
                <a:solidFill>
                  <a:srgbClr val="FF0000"/>
                </a:solidFill>
              </a:rPr>
              <a:t>float</a:t>
            </a:r>
            <a:r>
              <a:rPr lang="en-US" sz="260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[</a:t>
            </a:r>
            <a:r>
              <a:rPr lang="en-US" sz="2600" dirty="0">
                <a:solidFill>
                  <a:srgbClr val="7A0000"/>
                </a:solidFill>
              </a:rPr>
              <a:t>'</a:t>
            </a:r>
            <a:r>
              <a:rPr lang="en-US" sz="2600" dirty="0" err="1">
                <a:solidFill>
                  <a:srgbClr val="FF0000"/>
                </a:solidFill>
              </a:rPr>
              <a:t>is_integer</a:t>
            </a:r>
            <a:r>
              <a:rPr lang="en-US" sz="2600" dirty="0">
                <a:solidFill>
                  <a:srgbClr val="7A0000"/>
                </a:solidFill>
              </a:rPr>
              <a:t>'</a:t>
            </a:r>
            <a:r>
              <a:rPr lang="en-US" sz="260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&gt;&gt;&gt; </a:t>
            </a:r>
            <a:r>
              <a:rPr lang="en-US" sz="2600" dirty="0" err="1">
                <a:solidFill>
                  <a:srgbClr val="7F7F7F"/>
                </a:solidFill>
              </a:rPr>
              <a:t>ImportantMethodsOf</a:t>
            </a:r>
            <a:r>
              <a:rPr lang="en-US" sz="2600" dirty="0">
                <a:solidFill>
                  <a:srgbClr val="7F7F7F"/>
                </a:solidFill>
              </a:rPr>
              <a:t>(</a:t>
            </a:r>
            <a:r>
              <a:rPr lang="en-US" sz="2600" b="1" dirty="0">
                <a:solidFill>
                  <a:srgbClr val="FF1493"/>
                </a:solidFill>
              </a:rPr>
              <a:t>complex</a:t>
            </a:r>
            <a:r>
              <a:rPr lang="en-US" sz="260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7F7F7F"/>
                </a:solidFill>
              </a:rPr>
              <a:t>[</a:t>
            </a:r>
            <a:r>
              <a:rPr lang="en-US" sz="2600" dirty="0">
                <a:solidFill>
                  <a:srgbClr val="480027"/>
                </a:solidFill>
              </a:rPr>
              <a:t>'</a:t>
            </a:r>
            <a:r>
              <a:rPr lang="en-US" sz="2600" dirty="0">
                <a:solidFill>
                  <a:srgbClr val="FF1493"/>
                </a:solidFill>
              </a:rPr>
              <a:t>conjugate</a:t>
            </a:r>
            <a:r>
              <a:rPr lang="en-US" sz="2600" dirty="0">
                <a:solidFill>
                  <a:srgbClr val="480027"/>
                </a:solidFill>
              </a:rPr>
              <a:t>', '</a:t>
            </a:r>
            <a:r>
              <a:rPr lang="en-US" sz="2600" dirty="0" err="1">
                <a:solidFill>
                  <a:srgbClr val="FF1493"/>
                </a:solidFill>
              </a:rPr>
              <a:t>imag</a:t>
            </a:r>
            <a:r>
              <a:rPr lang="en-US" sz="2600" dirty="0">
                <a:solidFill>
                  <a:srgbClr val="480027"/>
                </a:solidFill>
              </a:rPr>
              <a:t>', '</a:t>
            </a:r>
            <a:r>
              <a:rPr lang="en-US" sz="2600" dirty="0">
                <a:solidFill>
                  <a:srgbClr val="FF1493"/>
                </a:solidFill>
              </a:rPr>
              <a:t>real</a:t>
            </a:r>
            <a:r>
              <a:rPr lang="en-US" sz="2600" dirty="0">
                <a:solidFill>
                  <a:srgbClr val="480027"/>
                </a:solidFill>
              </a:rPr>
              <a:t>'</a:t>
            </a:r>
            <a:r>
              <a:rPr lang="en-US" sz="260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80000"/>
              </a:lnSpc>
            </a:pPr>
            <a:endParaRPr lang="en-US" sz="2600" dirty="0">
              <a:solidFill>
                <a:srgbClr val="7F7F7F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892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"/>
    </mc:Choice>
    <mc:Fallback xmlns="">
      <p:transition spd="slow" advTm="400"/>
    </mc:Fallback>
  </mc:AlternateContent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8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77000"/>
              </a:lnSpc>
            </a:pPr>
            <a:r>
              <a:rPr lang="en-US" sz="2600" spc="-1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10" dirty="0">
                <a:solidFill>
                  <a:prstClr val="black"/>
                </a:solidFill>
              </a:rPr>
              <a:t> </a:t>
            </a:r>
            <a:r>
              <a:rPr lang="en-US" sz="2600" spc="-10" dirty="0" err="1">
                <a:solidFill>
                  <a:srgbClr val="7F7F7F"/>
                </a:solidFill>
              </a:rPr>
              <a:t>ImportantMethodsOf</a:t>
            </a:r>
            <a:r>
              <a:rPr lang="en-US" sz="2600" spc="-10" dirty="0">
                <a:solidFill>
                  <a:srgbClr val="7F7F7F"/>
                </a:solidFill>
              </a:rPr>
              <a:t>(</a:t>
            </a:r>
            <a:r>
              <a:rPr lang="en-US" sz="2600" b="1" spc="-10" dirty="0">
                <a:solidFill>
                  <a:srgbClr val="FFFF00"/>
                </a:solidFill>
              </a:rPr>
              <a:t>tuple</a:t>
            </a:r>
            <a:r>
              <a:rPr lang="en-US" sz="2600" spc="-1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77000"/>
              </a:lnSpc>
            </a:pPr>
            <a:r>
              <a:rPr lang="en-US" sz="2600" spc="-10" dirty="0">
                <a:solidFill>
                  <a:srgbClr val="7F7F7F"/>
                </a:solidFill>
              </a:rPr>
              <a:t>[</a:t>
            </a:r>
            <a:r>
              <a:rPr lang="en-US" sz="2600" spc="-10" dirty="0">
                <a:solidFill>
                  <a:srgbClr val="737000"/>
                </a:solidFill>
              </a:rPr>
              <a:t>'</a:t>
            </a:r>
            <a:r>
              <a:rPr lang="en-US" sz="2600" spc="-10" dirty="0">
                <a:solidFill>
                  <a:srgbClr val="FFFF00"/>
                </a:solidFill>
              </a:rPr>
              <a:t>count</a:t>
            </a:r>
            <a:r>
              <a:rPr lang="en-US" sz="2600" spc="-10" dirty="0">
                <a:solidFill>
                  <a:srgbClr val="737000"/>
                </a:solidFill>
              </a:rPr>
              <a:t>', '</a:t>
            </a:r>
            <a:r>
              <a:rPr lang="en-US" sz="2600" spc="-10" dirty="0">
                <a:solidFill>
                  <a:srgbClr val="FFFF00"/>
                </a:solidFill>
              </a:rPr>
              <a:t>index</a:t>
            </a:r>
            <a:r>
              <a:rPr lang="en-US" sz="2600" spc="-10" dirty="0">
                <a:solidFill>
                  <a:srgbClr val="737000"/>
                </a:solidFill>
              </a:rPr>
              <a:t>'</a:t>
            </a:r>
            <a:r>
              <a:rPr lang="en-US" sz="2600" spc="-1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77000"/>
              </a:lnSpc>
            </a:pPr>
            <a:r>
              <a:rPr lang="en-US" sz="2600" spc="-10" dirty="0">
                <a:solidFill>
                  <a:srgbClr val="7F7F7F"/>
                </a:solidFill>
              </a:rPr>
              <a:t>&gt;&gt;&gt; </a:t>
            </a:r>
            <a:r>
              <a:rPr lang="en-US" sz="2600" spc="-10" dirty="0" err="1">
                <a:solidFill>
                  <a:srgbClr val="7F7F7F"/>
                </a:solidFill>
              </a:rPr>
              <a:t>ImportantMethodsOf</a:t>
            </a:r>
            <a:r>
              <a:rPr lang="en-US" sz="2600" spc="-10" dirty="0">
                <a:solidFill>
                  <a:srgbClr val="7F7F7F"/>
                </a:solidFill>
              </a:rPr>
              <a:t>(</a:t>
            </a:r>
            <a:r>
              <a:rPr lang="en-US" sz="2600" b="1" spc="-10" dirty="0">
                <a:solidFill>
                  <a:srgbClr val="00B0F0"/>
                </a:solidFill>
              </a:rPr>
              <a:t>list</a:t>
            </a:r>
            <a:r>
              <a:rPr lang="en-US" sz="2600" spc="-1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77000"/>
              </a:lnSpc>
            </a:pPr>
            <a:r>
              <a:rPr lang="en-US" sz="2600" spc="-10" dirty="0">
                <a:solidFill>
                  <a:prstClr val="black">
                    <a:lumMod val="50000"/>
                    <a:lumOff val="50000"/>
                  </a:prstClr>
                </a:solidFill>
              </a:rPr>
              <a:t>[</a:t>
            </a:r>
            <a:r>
              <a:rPr lang="en-US" sz="2600" spc="-10" dirty="0">
                <a:solidFill>
                  <a:srgbClr val="00506C"/>
                </a:solidFill>
              </a:rPr>
              <a:t>'</a:t>
            </a:r>
            <a:r>
              <a:rPr lang="en-US" sz="2600" spc="-10" dirty="0">
                <a:solidFill>
                  <a:srgbClr val="00B0F0"/>
                </a:solidFill>
              </a:rPr>
              <a:t>append</a:t>
            </a:r>
            <a:r>
              <a:rPr lang="en-US" sz="2600" spc="-10" dirty="0">
                <a:solidFill>
                  <a:srgbClr val="00506C"/>
                </a:solidFill>
              </a:rPr>
              <a:t>', '</a:t>
            </a:r>
            <a:r>
              <a:rPr lang="en-US" sz="2600" spc="-10" dirty="0">
                <a:solidFill>
                  <a:srgbClr val="00B0F0"/>
                </a:solidFill>
              </a:rPr>
              <a:t>clear</a:t>
            </a:r>
            <a:r>
              <a:rPr lang="en-US" sz="2600" spc="-10" dirty="0">
                <a:solidFill>
                  <a:srgbClr val="00506C"/>
                </a:solidFill>
              </a:rPr>
              <a:t>', '</a:t>
            </a:r>
            <a:r>
              <a:rPr lang="en-US" sz="2600" spc="-10" dirty="0">
                <a:solidFill>
                  <a:srgbClr val="00B0F0"/>
                </a:solidFill>
              </a:rPr>
              <a:t>copy</a:t>
            </a:r>
            <a:r>
              <a:rPr lang="en-US" sz="2600" spc="-10" dirty="0">
                <a:solidFill>
                  <a:srgbClr val="00506C"/>
                </a:solidFill>
              </a:rPr>
              <a:t>', '</a:t>
            </a:r>
            <a:r>
              <a:rPr lang="en-US" sz="2600" spc="-10" dirty="0">
                <a:solidFill>
                  <a:srgbClr val="00B0F0"/>
                </a:solidFill>
              </a:rPr>
              <a:t>count</a:t>
            </a:r>
            <a:r>
              <a:rPr lang="en-US" sz="2600" spc="-10" dirty="0">
                <a:solidFill>
                  <a:srgbClr val="00506C"/>
                </a:solidFill>
              </a:rPr>
              <a:t>', '</a:t>
            </a:r>
            <a:r>
              <a:rPr lang="en-US" sz="2600" spc="-10" dirty="0">
                <a:solidFill>
                  <a:srgbClr val="00B0F0"/>
                </a:solidFill>
              </a:rPr>
              <a:t>extend</a:t>
            </a:r>
            <a:r>
              <a:rPr lang="en-US" sz="2600" spc="-10" dirty="0">
                <a:solidFill>
                  <a:srgbClr val="00506C"/>
                </a:solidFill>
              </a:rPr>
              <a:t>', '</a:t>
            </a:r>
            <a:r>
              <a:rPr lang="en-US" sz="2600" spc="-10" dirty="0">
                <a:solidFill>
                  <a:srgbClr val="00B0F0"/>
                </a:solidFill>
              </a:rPr>
              <a:t>index</a:t>
            </a:r>
            <a:r>
              <a:rPr lang="en-US" sz="2600" spc="-10" dirty="0">
                <a:solidFill>
                  <a:srgbClr val="00506C"/>
                </a:solidFill>
              </a:rPr>
              <a:t>', '</a:t>
            </a:r>
            <a:r>
              <a:rPr lang="en-US" sz="2600" spc="-10" dirty="0">
                <a:solidFill>
                  <a:srgbClr val="00B0F0"/>
                </a:solidFill>
              </a:rPr>
              <a:t>insert</a:t>
            </a:r>
            <a:r>
              <a:rPr lang="en-US" sz="2600" spc="-10" dirty="0">
                <a:solidFill>
                  <a:srgbClr val="00506C"/>
                </a:solidFill>
              </a:rPr>
              <a:t>', '</a:t>
            </a:r>
            <a:r>
              <a:rPr lang="en-US" sz="2600" spc="-10" dirty="0">
                <a:solidFill>
                  <a:srgbClr val="00B0F0"/>
                </a:solidFill>
              </a:rPr>
              <a:t>pop</a:t>
            </a:r>
            <a:r>
              <a:rPr lang="en-US" sz="2600" spc="-10" dirty="0">
                <a:solidFill>
                  <a:srgbClr val="00506C"/>
                </a:solidFill>
              </a:rPr>
              <a:t>', '</a:t>
            </a:r>
            <a:r>
              <a:rPr lang="en-US" sz="2600" spc="-10" dirty="0">
                <a:solidFill>
                  <a:srgbClr val="00B0F0"/>
                </a:solidFill>
              </a:rPr>
              <a:t>remove</a:t>
            </a:r>
            <a:r>
              <a:rPr lang="en-US" sz="2600" spc="-10" dirty="0">
                <a:solidFill>
                  <a:srgbClr val="00506C"/>
                </a:solidFill>
              </a:rPr>
              <a:t>', '</a:t>
            </a:r>
            <a:r>
              <a:rPr lang="en-US" sz="2600" spc="-10" dirty="0">
                <a:solidFill>
                  <a:srgbClr val="00B0F0"/>
                </a:solidFill>
              </a:rPr>
              <a:t>reverse</a:t>
            </a:r>
            <a:r>
              <a:rPr lang="en-US" sz="2600" spc="-10" dirty="0">
                <a:solidFill>
                  <a:srgbClr val="00506C"/>
                </a:solidFill>
              </a:rPr>
              <a:t>', '</a:t>
            </a:r>
            <a:r>
              <a:rPr lang="en-US" sz="2600" spc="-10" dirty="0">
                <a:solidFill>
                  <a:srgbClr val="00B0F0"/>
                </a:solidFill>
              </a:rPr>
              <a:t>sort</a:t>
            </a:r>
            <a:r>
              <a:rPr lang="en-US" sz="2600" spc="-10" dirty="0">
                <a:solidFill>
                  <a:srgbClr val="00506C"/>
                </a:solidFill>
              </a:rPr>
              <a:t>'</a:t>
            </a:r>
            <a:r>
              <a:rPr lang="en-US" sz="2600" spc="-1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77000"/>
              </a:lnSpc>
            </a:pPr>
            <a:r>
              <a:rPr lang="en-US" sz="2600" spc="-10" dirty="0">
                <a:solidFill>
                  <a:srgbClr val="7F7F7F"/>
                </a:solidFill>
              </a:rPr>
              <a:t>&gt;&gt;&gt; </a:t>
            </a:r>
            <a:r>
              <a:rPr lang="en-US" sz="2600" spc="-10" dirty="0" err="1">
                <a:solidFill>
                  <a:srgbClr val="7F7F7F"/>
                </a:solidFill>
              </a:rPr>
              <a:t>ImportantMethodsOf</a:t>
            </a:r>
            <a:r>
              <a:rPr lang="en-US" sz="2600" spc="-10" dirty="0">
                <a:solidFill>
                  <a:srgbClr val="7F7F7F"/>
                </a:solidFill>
              </a:rPr>
              <a:t>(</a:t>
            </a:r>
            <a:r>
              <a:rPr lang="en-US" sz="2600" b="1" spc="-10" dirty="0">
                <a:solidFill>
                  <a:srgbClr val="92D050"/>
                </a:solidFill>
              </a:rPr>
              <a:t>set</a:t>
            </a:r>
            <a:r>
              <a:rPr lang="en-US" sz="2600" spc="-1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77000"/>
              </a:lnSpc>
            </a:pPr>
            <a:r>
              <a:rPr lang="en-US" sz="2600" spc="-10" dirty="0">
                <a:solidFill>
                  <a:srgbClr val="7F7F7F"/>
                </a:solidFill>
              </a:rPr>
              <a:t>[</a:t>
            </a:r>
            <a:r>
              <a:rPr lang="en-US" sz="2600" spc="-10" dirty="0">
                <a:solidFill>
                  <a:srgbClr val="293F11"/>
                </a:solidFill>
              </a:rPr>
              <a:t>'</a:t>
            </a:r>
            <a:r>
              <a:rPr lang="en-US" sz="2600" spc="-10" dirty="0">
                <a:solidFill>
                  <a:srgbClr val="92D050"/>
                </a:solidFill>
              </a:rPr>
              <a:t>clear</a:t>
            </a:r>
            <a:r>
              <a:rPr lang="en-US" sz="2600" spc="-10" dirty="0">
                <a:solidFill>
                  <a:srgbClr val="293F11"/>
                </a:solidFill>
              </a:rPr>
              <a:t>',</a:t>
            </a:r>
            <a:r>
              <a:rPr lang="en-US" sz="2400" spc="-10" dirty="0">
                <a:solidFill>
                  <a:srgbClr val="293F11"/>
                </a:solidFill>
              </a:rPr>
              <a:t> </a:t>
            </a:r>
            <a:r>
              <a:rPr lang="en-US" sz="2600" spc="-10" dirty="0">
                <a:solidFill>
                  <a:srgbClr val="293F11"/>
                </a:solidFill>
              </a:rPr>
              <a:t>'</a:t>
            </a:r>
            <a:r>
              <a:rPr lang="en-US" sz="2600" spc="-10" dirty="0">
                <a:solidFill>
                  <a:srgbClr val="92D050"/>
                </a:solidFill>
              </a:rPr>
              <a:t>copy</a:t>
            </a:r>
            <a:r>
              <a:rPr lang="en-US" sz="2600" spc="-10" dirty="0">
                <a:solidFill>
                  <a:srgbClr val="293F11"/>
                </a:solidFill>
              </a:rPr>
              <a:t>',</a:t>
            </a:r>
            <a:r>
              <a:rPr lang="en-US" sz="2400" spc="-10" dirty="0">
                <a:solidFill>
                  <a:srgbClr val="293F11"/>
                </a:solidFill>
              </a:rPr>
              <a:t> </a:t>
            </a:r>
            <a:r>
              <a:rPr lang="en-US" sz="2600" spc="-10" dirty="0">
                <a:solidFill>
                  <a:srgbClr val="293F11"/>
                </a:solidFill>
              </a:rPr>
              <a:t>'</a:t>
            </a:r>
            <a:r>
              <a:rPr lang="en-US" sz="2600" spc="-10" dirty="0" err="1">
                <a:solidFill>
                  <a:srgbClr val="92D050"/>
                </a:solidFill>
              </a:rPr>
              <a:t>isdisjoint</a:t>
            </a:r>
            <a:r>
              <a:rPr lang="en-US" sz="2600" spc="-10" dirty="0">
                <a:solidFill>
                  <a:srgbClr val="293F11"/>
                </a:solidFill>
              </a:rPr>
              <a:t>', '</a:t>
            </a:r>
            <a:r>
              <a:rPr lang="en-US" sz="2600" spc="-10" dirty="0" err="1">
                <a:solidFill>
                  <a:srgbClr val="92D050"/>
                </a:solidFill>
              </a:rPr>
              <a:t>issubset</a:t>
            </a:r>
            <a:r>
              <a:rPr lang="en-US" sz="2600" spc="-10" dirty="0">
                <a:solidFill>
                  <a:srgbClr val="293F11"/>
                </a:solidFill>
              </a:rPr>
              <a:t>', '</a:t>
            </a:r>
            <a:r>
              <a:rPr lang="en-US" sz="2600" spc="-10" dirty="0" err="1">
                <a:solidFill>
                  <a:srgbClr val="92D050"/>
                </a:solidFill>
              </a:rPr>
              <a:t>issuperset</a:t>
            </a:r>
            <a:r>
              <a:rPr lang="en-US" sz="2600" spc="-10" dirty="0">
                <a:solidFill>
                  <a:srgbClr val="293F11"/>
                </a:solidFill>
              </a:rPr>
              <a:t>', '</a:t>
            </a:r>
            <a:r>
              <a:rPr lang="en-US" sz="2600" spc="-10" dirty="0">
                <a:solidFill>
                  <a:srgbClr val="92D050"/>
                </a:solidFill>
              </a:rPr>
              <a:t>pop</a:t>
            </a:r>
            <a:r>
              <a:rPr lang="en-US" sz="2600" spc="-10" dirty="0">
                <a:solidFill>
                  <a:srgbClr val="293F11"/>
                </a:solidFill>
              </a:rPr>
              <a:t>', '</a:t>
            </a:r>
            <a:r>
              <a:rPr lang="en-US" sz="2600" spc="-10" dirty="0">
                <a:solidFill>
                  <a:srgbClr val="92D050"/>
                </a:solidFill>
              </a:rPr>
              <a:t>remove</a:t>
            </a:r>
            <a:r>
              <a:rPr lang="en-US" sz="2600" spc="-10" dirty="0">
                <a:solidFill>
                  <a:srgbClr val="293F11"/>
                </a:solidFill>
              </a:rPr>
              <a:t>'</a:t>
            </a:r>
            <a:r>
              <a:rPr lang="en-US" sz="2600" spc="-1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77000"/>
              </a:lnSpc>
            </a:pPr>
            <a:r>
              <a:rPr lang="en-US" sz="2600" spc="-10" dirty="0">
                <a:solidFill>
                  <a:srgbClr val="7F7F7F"/>
                </a:solidFill>
              </a:rPr>
              <a:t>&gt;&gt;&gt; </a:t>
            </a:r>
            <a:r>
              <a:rPr lang="en-US" sz="2600" spc="-10" dirty="0" err="1">
                <a:solidFill>
                  <a:srgbClr val="7F7F7F"/>
                </a:solidFill>
              </a:rPr>
              <a:t>ImportantMethodsOf</a:t>
            </a:r>
            <a:r>
              <a:rPr lang="en-US" sz="2600" spc="-10" dirty="0">
                <a:solidFill>
                  <a:srgbClr val="7F7F7F"/>
                </a:solidFill>
              </a:rPr>
              <a:t>(</a:t>
            </a:r>
            <a:r>
              <a:rPr lang="en-US" sz="2600" b="1" spc="-10" dirty="0" err="1">
                <a:solidFill>
                  <a:srgbClr val="FF0000"/>
                </a:solidFill>
              </a:rPr>
              <a:t>dict</a:t>
            </a:r>
            <a:r>
              <a:rPr lang="en-US" sz="2600" spc="-1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77000"/>
              </a:lnSpc>
            </a:pPr>
            <a:r>
              <a:rPr lang="en-US" sz="2600" spc="-10" dirty="0">
                <a:solidFill>
                  <a:srgbClr val="7F7F7F"/>
                </a:solidFill>
              </a:rPr>
              <a:t>[</a:t>
            </a:r>
            <a:r>
              <a:rPr lang="en-US" sz="2600" spc="-10" dirty="0">
                <a:solidFill>
                  <a:srgbClr val="7A0000"/>
                </a:solidFill>
              </a:rPr>
              <a:t>'</a:t>
            </a:r>
            <a:r>
              <a:rPr lang="en-US" sz="2600" spc="-10" dirty="0">
                <a:solidFill>
                  <a:srgbClr val="FF0000"/>
                </a:solidFill>
              </a:rPr>
              <a:t>clear</a:t>
            </a:r>
            <a:r>
              <a:rPr lang="en-US" sz="2600" spc="-10" dirty="0">
                <a:solidFill>
                  <a:srgbClr val="7A0000"/>
                </a:solidFill>
              </a:rPr>
              <a:t>', '</a:t>
            </a:r>
            <a:r>
              <a:rPr lang="en-US" sz="2600" spc="-10" dirty="0">
                <a:solidFill>
                  <a:srgbClr val="FF0000"/>
                </a:solidFill>
              </a:rPr>
              <a:t>copy</a:t>
            </a:r>
            <a:r>
              <a:rPr lang="en-US" sz="2600" spc="-10" dirty="0">
                <a:solidFill>
                  <a:srgbClr val="7A0000"/>
                </a:solidFill>
              </a:rPr>
              <a:t>', '</a:t>
            </a:r>
            <a:r>
              <a:rPr lang="en-US" sz="2600" spc="-10" dirty="0" err="1">
                <a:solidFill>
                  <a:srgbClr val="FF0000"/>
                </a:solidFill>
              </a:rPr>
              <a:t>fromkeys</a:t>
            </a:r>
            <a:r>
              <a:rPr lang="en-US" sz="2600" spc="-10" dirty="0">
                <a:solidFill>
                  <a:srgbClr val="7A0000"/>
                </a:solidFill>
              </a:rPr>
              <a:t>', '</a:t>
            </a:r>
            <a:r>
              <a:rPr lang="en-US" sz="2600" spc="-10" dirty="0">
                <a:solidFill>
                  <a:srgbClr val="FF0000"/>
                </a:solidFill>
              </a:rPr>
              <a:t>get</a:t>
            </a:r>
            <a:r>
              <a:rPr lang="en-US" sz="2600" spc="-10" dirty="0">
                <a:solidFill>
                  <a:srgbClr val="7A0000"/>
                </a:solidFill>
              </a:rPr>
              <a:t>', '</a:t>
            </a:r>
            <a:r>
              <a:rPr lang="en-US" sz="2600" spc="-10" dirty="0">
                <a:solidFill>
                  <a:srgbClr val="FF0000"/>
                </a:solidFill>
              </a:rPr>
              <a:t>items</a:t>
            </a:r>
            <a:r>
              <a:rPr lang="en-US" sz="2600" spc="-10" dirty="0">
                <a:solidFill>
                  <a:srgbClr val="7A0000"/>
                </a:solidFill>
              </a:rPr>
              <a:t>', </a:t>
            </a:r>
            <a:r>
              <a:rPr lang="en-US" sz="2600" spc="-10" dirty="0">
                <a:solidFill>
                  <a:srgbClr val="FF0000"/>
                </a:solidFill>
              </a:rPr>
              <a:t>'keys</a:t>
            </a:r>
            <a:r>
              <a:rPr lang="en-US" sz="2600" spc="-10" dirty="0">
                <a:solidFill>
                  <a:srgbClr val="7A0000"/>
                </a:solidFill>
              </a:rPr>
              <a:t>', '</a:t>
            </a:r>
            <a:r>
              <a:rPr lang="en-US" sz="2600" spc="-10" dirty="0">
                <a:solidFill>
                  <a:srgbClr val="FF0000"/>
                </a:solidFill>
              </a:rPr>
              <a:t>pop</a:t>
            </a:r>
            <a:r>
              <a:rPr lang="en-US" sz="2600" spc="-10" dirty="0">
                <a:solidFill>
                  <a:srgbClr val="7A0000"/>
                </a:solidFill>
              </a:rPr>
              <a:t>', '</a:t>
            </a:r>
            <a:r>
              <a:rPr lang="en-US" sz="2600" spc="-10" dirty="0" err="1">
                <a:solidFill>
                  <a:srgbClr val="FF0000"/>
                </a:solidFill>
              </a:rPr>
              <a:t>popitem</a:t>
            </a:r>
            <a:r>
              <a:rPr lang="en-US" sz="2600" spc="-10" dirty="0">
                <a:solidFill>
                  <a:srgbClr val="7A0000"/>
                </a:solidFill>
              </a:rPr>
              <a:t>', '</a:t>
            </a:r>
            <a:r>
              <a:rPr lang="en-US" sz="2600" spc="-10" dirty="0">
                <a:solidFill>
                  <a:srgbClr val="FF0000"/>
                </a:solidFill>
              </a:rPr>
              <a:t>values</a:t>
            </a:r>
            <a:r>
              <a:rPr lang="en-US" sz="2600" spc="-10" dirty="0">
                <a:solidFill>
                  <a:srgbClr val="7A0000"/>
                </a:solidFill>
              </a:rPr>
              <a:t>'</a:t>
            </a:r>
            <a:r>
              <a:rPr lang="en-US" sz="2600" spc="-1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77000"/>
              </a:lnSpc>
            </a:pPr>
            <a:r>
              <a:rPr lang="en-US" sz="2600" spc="-10" dirty="0">
                <a:solidFill>
                  <a:srgbClr val="7F7F7F"/>
                </a:solidFill>
              </a:rPr>
              <a:t>&gt;&gt;&gt; </a:t>
            </a:r>
            <a:r>
              <a:rPr lang="en-US" sz="2600" spc="-10" dirty="0" err="1">
                <a:solidFill>
                  <a:srgbClr val="7F7F7F"/>
                </a:solidFill>
              </a:rPr>
              <a:t>ImportantMethodsOf</a:t>
            </a:r>
            <a:r>
              <a:rPr lang="en-US" sz="2600" spc="-10" dirty="0">
                <a:solidFill>
                  <a:srgbClr val="7F7F7F"/>
                </a:solidFill>
              </a:rPr>
              <a:t>(</a:t>
            </a:r>
            <a:r>
              <a:rPr lang="en-US" sz="2600" b="1" spc="-10" dirty="0" err="1">
                <a:solidFill>
                  <a:srgbClr val="FF1493"/>
                </a:solidFill>
              </a:rPr>
              <a:t>str</a:t>
            </a:r>
            <a:r>
              <a:rPr lang="en-US" sz="2600" spc="-1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77000"/>
              </a:lnSpc>
            </a:pPr>
            <a:r>
              <a:rPr lang="en-US" sz="2600" spc="-10" dirty="0">
                <a:solidFill>
                  <a:srgbClr val="7F7F7F"/>
                </a:solidFill>
              </a:rPr>
              <a:t>[</a:t>
            </a:r>
            <a:r>
              <a:rPr lang="en-US" sz="2600" spc="-10" dirty="0">
                <a:solidFill>
                  <a:srgbClr val="480027"/>
                </a:solidFill>
              </a:rPr>
              <a:t>'</a:t>
            </a:r>
            <a:r>
              <a:rPr lang="en-US" sz="2600" spc="-10" dirty="0">
                <a:solidFill>
                  <a:srgbClr val="FF1493"/>
                </a:solidFill>
              </a:rPr>
              <a:t>count</a:t>
            </a:r>
            <a:r>
              <a:rPr lang="en-US" sz="2600" spc="-10" dirty="0">
                <a:solidFill>
                  <a:srgbClr val="480027"/>
                </a:solidFill>
              </a:rPr>
              <a:t>',</a:t>
            </a:r>
            <a:r>
              <a:rPr lang="en-US" sz="2600" spc="-10" dirty="0">
                <a:solidFill>
                  <a:srgbClr val="FF1493"/>
                </a:solidFill>
              </a:rPr>
              <a:t> </a:t>
            </a:r>
            <a:r>
              <a:rPr lang="en-US" sz="2600" spc="-10" dirty="0">
                <a:solidFill>
                  <a:srgbClr val="480027"/>
                </a:solidFill>
              </a:rPr>
              <a:t>'</a:t>
            </a:r>
            <a:r>
              <a:rPr lang="en-US" sz="2600" spc="-10" dirty="0">
                <a:solidFill>
                  <a:srgbClr val="FF1493"/>
                </a:solidFill>
              </a:rPr>
              <a:t>encode</a:t>
            </a:r>
            <a:r>
              <a:rPr lang="en-US" sz="2600" spc="-10" dirty="0">
                <a:solidFill>
                  <a:srgbClr val="480027"/>
                </a:solidFill>
              </a:rPr>
              <a:t>',</a:t>
            </a:r>
            <a:r>
              <a:rPr lang="en-US" sz="2600" spc="-10" dirty="0">
                <a:solidFill>
                  <a:srgbClr val="FF1493"/>
                </a:solidFill>
              </a:rPr>
              <a:t> </a:t>
            </a:r>
            <a:r>
              <a:rPr lang="en-US" sz="2600" spc="-10" dirty="0">
                <a:solidFill>
                  <a:srgbClr val="480027"/>
                </a:solidFill>
              </a:rPr>
              <a:t>'</a:t>
            </a:r>
            <a:r>
              <a:rPr lang="en-US" sz="2600" spc="-10" dirty="0">
                <a:solidFill>
                  <a:srgbClr val="FF1493"/>
                </a:solidFill>
              </a:rPr>
              <a:t>find</a:t>
            </a:r>
            <a:r>
              <a:rPr lang="en-US" sz="2600" spc="-10" dirty="0">
                <a:solidFill>
                  <a:srgbClr val="480027"/>
                </a:solidFill>
              </a:rPr>
              <a:t>', '</a:t>
            </a:r>
            <a:r>
              <a:rPr lang="en-US" sz="2600" spc="-10" dirty="0">
                <a:solidFill>
                  <a:srgbClr val="FF1493"/>
                </a:solidFill>
              </a:rPr>
              <a:t>index</a:t>
            </a:r>
            <a:r>
              <a:rPr lang="en-US" sz="2600" spc="-10" dirty="0">
                <a:solidFill>
                  <a:srgbClr val="480027"/>
                </a:solidFill>
              </a:rPr>
              <a:t>',</a:t>
            </a:r>
            <a:r>
              <a:rPr lang="en-US" sz="2600" spc="-10" dirty="0">
                <a:solidFill>
                  <a:srgbClr val="FF1493"/>
                </a:solidFill>
              </a:rPr>
              <a:t> </a:t>
            </a:r>
            <a:r>
              <a:rPr lang="en-US" sz="2600" spc="-10" dirty="0">
                <a:solidFill>
                  <a:srgbClr val="480027"/>
                </a:solidFill>
              </a:rPr>
              <a:t>'</a:t>
            </a:r>
            <a:r>
              <a:rPr lang="en-US" sz="2600" spc="-10" dirty="0" err="1">
                <a:solidFill>
                  <a:srgbClr val="FF1493"/>
                </a:solidFill>
              </a:rPr>
              <a:t>isalnum</a:t>
            </a:r>
            <a:r>
              <a:rPr lang="en-US" sz="2600" spc="-10" dirty="0">
                <a:solidFill>
                  <a:srgbClr val="480027"/>
                </a:solidFill>
              </a:rPr>
              <a:t>',</a:t>
            </a:r>
            <a:r>
              <a:rPr lang="en-US" sz="2600" spc="-10" dirty="0">
                <a:solidFill>
                  <a:srgbClr val="FF1493"/>
                </a:solidFill>
              </a:rPr>
              <a:t> </a:t>
            </a:r>
            <a:r>
              <a:rPr lang="en-US" sz="2600" spc="-10" dirty="0">
                <a:solidFill>
                  <a:srgbClr val="480027"/>
                </a:solidFill>
              </a:rPr>
              <a:t>'</a:t>
            </a:r>
            <a:r>
              <a:rPr lang="en-US" sz="2600" spc="-10" dirty="0" err="1">
                <a:solidFill>
                  <a:srgbClr val="FF1493"/>
                </a:solidFill>
              </a:rPr>
              <a:t>isalpha</a:t>
            </a:r>
            <a:r>
              <a:rPr lang="en-US" sz="2600" spc="-10" dirty="0">
                <a:solidFill>
                  <a:srgbClr val="480027"/>
                </a:solidFill>
              </a:rPr>
              <a:t>', '</a:t>
            </a:r>
            <a:r>
              <a:rPr lang="en-US" sz="2600" spc="-10" dirty="0" err="1">
                <a:solidFill>
                  <a:srgbClr val="FF1493"/>
                </a:solidFill>
              </a:rPr>
              <a:t>isdigit</a:t>
            </a:r>
            <a:r>
              <a:rPr lang="en-US" sz="2600" spc="-10" dirty="0">
                <a:solidFill>
                  <a:srgbClr val="480027"/>
                </a:solidFill>
              </a:rPr>
              <a:t>', '</a:t>
            </a:r>
            <a:r>
              <a:rPr lang="en-US" sz="2600" spc="-10" dirty="0" err="1">
                <a:solidFill>
                  <a:srgbClr val="FF1493"/>
                </a:solidFill>
              </a:rPr>
              <a:t>islower</a:t>
            </a:r>
            <a:r>
              <a:rPr lang="en-US" sz="2600" spc="-10" dirty="0">
                <a:solidFill>
                  <a:srgbClr val="480027"/>
                </a:solidFill>
              </a:rPr>
              <a:t>',</a:t>
            </a:r>
            <a:r>
              <a:rPr lang="en-US" sz="2600" spc="-10" dirty="0">
                <a:solidFill>
                  <a:srgbClr val="FF1493"/>
                </a:solidFill>
              </a:rPr>
              <a:t> </a:t>
            </a:r>
            <a:r>
              <a:rPr lang="en-US" sz="2600" spc="-20" dirty="0">
                <a:solidFill>
                  <a:srgbClr val="480027"/>
                </a:solidFill>
              </a:rPr>
              <a:t>'</a:t>
            </a:r>
            <a:r>
              <a:rPr lang="en-US" sz="2600" spc="-20" dirty="0" err="1">
                <a:solidFill>
                  <a:srgbClr val="FF1493"/>
                </a:solidFill>
              </a:rPr>
              <a:t>isnumeric</a:t>
            </a:r>
            <a:r>
              <a:rPr lang="en-US" sz="2600" spc="-20" dirty="0">
                <a:solidFill>
                  <a:srgbClr val="480027"/>
                </a:solidFill>
              </a:rPr>
              <a:t>', '</a:t>
            </a:r>
            <a:r>
              <a:rPr lang="en-US" sz="2600" spc="-20" dirty="0" err="1">
                <a:solidFill>
                  <a:srgbClr val="FF1493"/>
                </a:solidFill>
              </a:rPr>
              <a:t>isupper</a:t>
            </a:r>
            <a:r>
              <a:rPr lang="en-US" sz="2600" spc="-20" dirty="0">
                <a:solidFill>
                  <a:srgbClr val="480027"/>
                </a:solidFill>
              </a:rPr>
              <a:t>',</a:t>
            </a:r>
            <a:r>
              <a:rPr lang="en-US" sz="2600" spc="-20" dirty="0">
                <a:solidFill>
                  <a:srgbClr val="FF1493"/>
                </a:solidFill>
              </a:rPr>
              <a:t> </a:t>
            </a:r>
            <a:r>
              <a:rPr lang="en-US" sz="2600" spc="-20" dirty="0">
                <a:solidFill>
                  <a:srgbClr val="480027"/>
                </a:solidFill>
              </a:rPr>
              <a:t>'</a:t>
            </a:r>
            <a:r>
              <a:rPr lang="en-US" sz="2600" spc="-20" dirty="0">
                <a:solidFill>
                  <a:srgbClr val="FF1493"/>
                </a:solidFill>
              </a:rPr>
              <a:t>join</a:t>
            </a:r>
            <a:r>
              <a:rPr lang="en-US" sz="2600" spc="-20" dirty="0">
                <a:solidFill>
                  <a:srgbClr val="480027"/>
                </a:solidFill>
              </a:rPr>
              <a:t>', '</a:t>
            </a:r>
            <a:r>
              <a:rPr lang="en-US" sz="2600" spc="-20" dirty="0">
                <a:solidFill>
                  <a:srgbClr val="FF1493"/>
                </a:solidFill>
              </a:rPr>
              <a:t>lower</a:t>
            </a:r>
            <a:r>
              <a:rPr lang="en-US" sz="2600" spc="-20" dirty="0">
                <a:solidFill>
                  <a:srgbClr val="480027"/>
                </a:solidFill>
              </a:rPr>
              <a:t>', '</a:t>
            </a:r>
            <a:r>
              <a:rPr lang="en-US" sz="2600" spc="-20" dirty="0">
                <a:solidFill>
                  <a:srgbClr val="FF1493"/>
                </a:solidFill>
              </a:rPr>
              <a:t>replace</a:t>
            </a:r>
            <a:r>
              <a:rPr lang="en-US" sz="2600" spc="-20" dirty="0">
                <a:solidFill>
                  <a:srgbClr val="480027"/>
                </a:solidFill>
              </a:rPr>
              <a:t>', '</a:t>
            </a:r>
            <a:r>
              <a:rPr lang="en-US" sz="2600" spc="-20" dirty="0">
                <a:solidFill>
                  <a:srgbClr val="FF1493"/>
                </a:solidFill>
              </a:rPr>
              <a:t>split</a:t>
            </a:r>
            <a:r>
              <a:rPr lang="en-US" sz="2600" spc="-20" dirty="0">
                <a:solidFill>
                  <a:srgbClr val="480027"/>
                </a:solidFill>
              </a:rPr>
              <a:t>', '</a:t>
            </a:r>
            <a:r>
              <a:rPr lang="en-US" sz="2600" spc="-20" dirty="0" err="1">
                <a:solidFill>
                  <a:srgbClr val="FF1493"/>
                </a:solidFill>
              </a:rPr>
              <a:t>startswith</a:t>
            </a:r>
            <a:r>
              <a:rPr lang="en-US" sz="2600" spc="-20" dirty="0">
                <a:solidFill>
                  <a:srgbClr val="480027"/>
                </a:solidFill>
              </a:rPr>
              <a:t>', '</a:t>
            </a:r>
            <a:r>
              <a:rPr lang="en-US" sz="2600" spc="-20" dirty="0">
                <a:solidFill>
                  <a:srgbClr val="FF1493"/>
                </a:solidFill>
              </a:rPr>
              <a:t>upper</a:t>
            </a:r>
            <a:r>
              <a:rPr lang="en-US" sz="2600" spc="-20" dirty="0">
                <a:solidFill>
                  <a:srgbClr val="480027"/>
                </a:solidFill>
              </a:rPr>
              <a:t>'</a:t>
            </a:r>
            <a:r>
              <a:rPr lang="en-US" sz="2600" spc="-2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77000"/>
              </a:lnSpc>
            </a:pPr>
            <a:r>
              <a:rPr lang="en-US" sz="2600" dirty="0">
                <a:solidFill>
                  <a:srgbClr val="7F7F7F"/>
                </a:solidFill>
              </a:rPr>
              <a:t>&gt;&gt;&gt; </a:t>
            </a:r>
            <a:r>
              <a:rPr lang="en-US" sz="2600" dirty="0" err="1">
                <a:solidFill>
                  <a:srgbClr val="7F7F7F"/>
                </a:solidFill>
              </a:rPr>
              <a:t>ImportantMethodsOf</a:t>
            </a:r>
            <a:r>
              <a:rPr lang="en-US" sz="2600" dirty="0">
                <a:solidFill>
                  <a:srgbClr val="7F7F7F"/>
                </a:solidFill>
              </a:rPr>
              <a:t>(</a:t>
            </a:r>
            <a:r>
              <a:rPr lang="en-US" sz="2600" b="1" dirty="0" err="1">
                <a:solidFill>
                  <a:srgbClr val="00B0F0"/>
                </a:solidFill>
              </a:rPr>
              <a:t>int</a:t>
            </a:r>
            <a:r>
              <a:rPr lang="en-US" sz="260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77000"/>
              </a:lnSpc>
            </a:pPr>
            <a:r>
              <a:rPr lang="en-US" sz="2600" dirty="0">
                <a:solidFill>
                  <a:srgbClr val="7F7F7F"/>
                </a:solidFill>
              </a:rPr>
              <a:t>[</a:t>
            </a:r>
            <a:r>
              <a:rPr lang="en-US" sz="2600" dirty="0">
                <a:solidFill>
                  <a:srgbClr val="00506C"/>
                </a:solidFill>
              </a:rPr>
              <a:t>'</a:t>
            </a:r>
            <a:r>
              <a:rPr lang="en-US" sz="2600" dirty="0" err="1">
                <a:solidFill>
                  <a:srgbClr val="00B0F0"/>
                </a:solidFill>
              </a:rPr>
              <a:t>bit_length</a:t>
            </a:r>
            <a:r>
              <a:rPr lang="en-US" sz="2600" dirty="0">
                <a:solidFill>
                  <a:srgbClr val="00506C"/>
                </a:solidFill>
              </a:rPr>
              <a:t>',</a:t>
            </a:r>
            <a:r>
              <a:rPr lang="en-US" sz="2600" dirty="0">
                <a:solidFill>
                  <a:srgbClr val="7F7F7F"/>
                </a:solidFill>
              </a:rPr>
              <a:t> </a:t>
            </a:r>
            <a:r>
              <a:rPr lang="en-US" sz="2600" dirty="0">
                <a:solidFill>
                  <a:srgbClr val="00506C"/>
                </a:solidFill>
              </a:rPr>
              <a:t>'</a:t>
            </a:r>
            <a:r>
              <a:rPr lang="en-US" sz="2600" dirty="0" err="1">
                <a:solidFill>
                  <a:srgbClr val="00B0F0"/>
                </a:solidFill>
              </a:rPr>
              <a:t>from_bytes</a:t>
            </a:r>
            <a:r>
              <a:rPr lang="en-US" sz="2600" dirty="0">
                <a:solidFill>
                  <a:srgbClr val="00506C"/>
                </a:solidFill>
              </a:rPr>
              <a:t>',</a:t>
            </a:r>
            <a:r>
              <a:rPr lang="en-US" sz="2600" dirty="0">
                <a:solidFill>
                  <a:srgbClr val="7F7F7F"/>
                </a:solidFill>
              </a:rPr>
              <a:t> </a:t>
            </a:r>
            <a:r>
              <a:rPr lang="en-US" sz="2600" dirty="0">
                <a:solidFill>
                  <a:srgbClr val="00506C"/>
                </a:solidFill>
              </a:rPr>
              <a:t>'</a:t>
            </a:r>
            <a:r>
              <a:rPr lang="en-US" sz="2600" dirty="0" err="1">
                <a:solidFill>
                  <a:srgbClr val="00B0F0"/>
                </a:solidFill>
              </a:rPr>
              <a:t>to_bytes</a:t>
            </a:r>
            <a:r>
              <a:rPr lang="en-US" sz="2600" dirty="0">
                <a:solidFill>
                  <a:srgbClr val="00506C"/>
                </a:solidFill>
              </a:rPr>
              <a:t>'</a:t>
            </a:r>
            <a:r>
              <a:rPr lang="en-US" sz="2600" dirty="0">
                <a:solidFill>
                  <a:srgbClr val="7F7F7F"/>
                </a:solidFill>
              </a:rPr>
              <a:t>]</a:t>
            </a:r>
            <a:br>
              <a:rPr lang="en-US" sz="2600" dirty="0">
                <a:solidFill>
                  <a:srgbClr val="7F7F7F"/>
                </a:solidFill>
              </a:rPr>
            </a:br>
            <a:r>
              <a:rPr lang="en-US" sz="2600" dirty="0">
                <a:solidFill>
                  <a:srgbClr val="7F7F7F"/>
                </a:solidFill>
              </a:rPr>
              <a:t>&gt;&gt;&gt; </a:t>
            </a:r>
            <a:r>
              <a:rPr lang="en-US" sz="2600" dirty="0" err="1">
                <a:solidFill>
                  <a:srgbClr val="7F7F7F"/>
                </a:solidFill>
              </a:rPr>
              <a:t>ImportantMethodsOf</a:t>
            </a:r>
            <a:r>
              <a:rPr lang="en-US" sz="2600" dirty="0">
                <a:solidFill>
                  <a:srgbClr val="7F7F7F"/>
                </a:solidFill>
              </a:rPr>
              <a:t>(</a:t>
            </a:r>
            <a:r>
              <a:rPr lang="en-US" sz="2600" b="1" dirty="0">
                <a:solidFill>
                  <a:srgbClr val="92D050"/>
                </a:solidFill>
              </a:rPr>
              <a:t>bool</a:t>
            </a:r>
            <a:r>
              <a:rPr lang="en-US" sz="260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77000"/>
              </a:lnSpc>
            </a:pPr>
            <a:r>
              <a:rPr lang="en-US" sz="2600" dirty="0">
                <a:solidFill>
                  <a:srgbClr val="7F7F7F"/>
                </a:solidFill>
              </a:rPr>
              <a:t>[]</a:t>
            </a:r>
          </a:p>
          <a:p>
            <a:pPr>
              <a:lnSpc>
                <a:spcPct val="77000"/>
              </a:lnSpc>
            </a:pPr>
            <a:r>
              <a:rPr lang="en-US" sz="2600" dirty="0">
                <a:solidFill>
                  <a:srgbClr val="7F7F7F"/>
                </a:solidFill>
              </a:rPr>
              <a:t>&gt;&gt;&gt; </a:t>
            </a:r>
            <a:r>
              <a:rPr lang="en-US" sz="2600" dirty="0" err="1">
                <a:solidFill>
                  <a:srgbClr val="7F7F7F"/>
                </a:solidFill>
              </a:rPr>
              <a:t>ImportantMethodsOf</a:t>
            </a:r>
            <a:r>
              <a:rPr lang="en-US" sz="2600" dirty="0">
                <a:solidFill>
                  <a:srgbClr val="7F7F7F"/>
                </a:solidFill>
              </a:rPr>
              <a:t>(</a:t>
            </a:r>
            <a:r>
              <a:rPr lang="en-US" sz="2600" b="1" dirty="0">
                <a:solidFill>
                  <a:srgbClr val="FF0000"/>
                </a:solidFill>
              </a:rPr>
              <a:t>float</a:t>
            </a:r>
            <a:r>
              <a:rPr lang="en-US" sz="260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77000"/>
              </a:lnSpc>
            </a:pPr>
            <a:r>
              <a:rPr lang="en-US" sz="2600" dirty="0">
                <a:solidFill>
                  <a:srgbClr val="7F7F7F"/>
                </a:solidFill>
              </a:rPr>
              <a:t>[</a:t>
            </a:r>
            <a:r>
              <a:rPr lang="en-US" sz="2600" dirty="0">
                <a:solidFill>
                  <a:srgbClr val="7A0000"/>
                </a:solidFill>
              </a:rPr>
              <a:t>'</a:t>
            </a:r>
            <a:r>
              <a:rPr lang="en-US" sz="2600" dirty="0" err="1">
                <a:solidFill>
                  <a:srgbClr val="FF0000"/>
                </a:solidFill>
              </a:rPr>
              <a:t>is_integer</a:t>
            </a:r>
            <a:r>
              <a:rPr lang="en-US" sz="2600" dirty="0">
                <a:solidFill>
                  <a:srgbClr val="7A0000"/>
                </a:solidFill>
              </a:rPr>
              <a:t>'</a:t>
            </a:r>
            <a:r>
              <a:rPr lang="en-US" sz="2600" dirty="0">
                <a:solidFill>
                  <a:srgbClr val="7F7F7F"/>
                </a:solidFill>
              </a:rPr>
              <a:t>]</a:t>
            </a:r>
          </a:p>
          <a:p>
            <a:pPr>
              <a:lnSpc>
                <a:spcPct val="77000"/>
              </a:lnSpc>
            </a:pPr>
            <a:r>
              <a:rPr lang="en-US" sz="2600" dirty="0">
                <a:solidFill>
                  <a:srgbClr val="7F7F7F"/>
                </a:solidFill>
              </a:rPr>
              <a:t>&gt;&gt;&gt; </a:t>
            </a:r>
            <a:r>
              <a:rPr lang="en-US" sz="2600" dirty="0" err="1">
                <a:solidFill>
                  <a:srgbClr val="7F7F7F"/>
                </a:solidFill>
              </a:rPr>
              <a:t>ImportantMethodsOf</a:t>
            </a:r>
            <a:r>
              <a:rPr lang="en-US" sz="2600" dirty="0">
                <a:solidFill>
                  <a:srgbClr val="7F7F7F"/>
                </a:solidFill>
              </a:rPr>
              <a:t>(</a:t>
            </a:r>
            <a:r>
              <a:rPr lang="en-US" sz="2600" b="1" dirty="0">
                <a:solidFill>
                  <a:srgbClr val="FF1493"/>
                </a:solidFill>
              </a:rPr>
              <a:t>complex</a:t>
            </a:r>
            <a:r>
              <a:rPr lang="en-US" sz="2600" dirty="0">
                <a:solidFill>
                  <a:srgbClr val="7F7F7F"/>
                </a:solidFill>
              </a:rPr>
              <a:t>)</a:t>
            </a:r>
          </a:p>
          <a:p>
            <a:pPr>
              <a:lnSpc>
                <a:spcPct val="77000"/>
              </a:lnSpc>
            </a:pPr>
            <a:r>
              <a:rPr lang="en-US" sz="2600" dirty="0">
                <a:solidFill>
                  <a:srgbClr val="7F7F7F"/>
                </a:solidFill>
              </a:rPr>
              <a:t>[</a:t>
            </a:r>
            <a:r>
              <a:rPr lang="en-US" sz="2600" dirty="0">
                <a:solidFill>
                  <a:srgbClr val="480027"/>
                </a:solidFill>
              </a:rPr>
              <a:t>'</a:t>
            </a:r>
            <a:r>
              <a:rPr lang="en-US" sz="2600" dirty="0">
                <a:solidFill>
                  <a:srgbClr val="FF1493"/>
                </a:solidFill>
              </a:rPr>
              <a:t>conjugate</a:t>
            </a:r>
            <a:r>
              <a:rPr lang="en-US" sz="2600" dirty="0">
                <a:solidFill>
                  <a:srgbClr val="480027"/>
                </a:solidFill>
              </a:rPr>
              <a:t>', '</a:t>
            </a:r>
            <a:r>
              <a:rPr lang="en-US" sz="2600" dirty="0" err="1">
                <a:solidFill>
                  <a:srgbClr val="FF1493"/>
                </a:solidFill>
              </a:rPr>
              <a:t>imag</a:t>
            </a:r>
            <a:r>
              <a:rPr lang="en-US" sz="2600" dirty="0">
                <a:solidFill>
                  <a:srgbClr val="480027"/>
                </a:solidFill>
              </a:rPr>
              <a:t>', '</a:t>
            </a:r>
            <a:r>
              <a:rPr lang="en-US" sz="2600" dirty="0">
                <a:solidFill>
                  <a:srgbClr val="FF1493"/>
                </a:solidFill>
              </a:rPr>
              <a:t>real</a:t>
            </a:r>
            <a:r>
              <a:rPr lang="en-US" sz="2600" dirty="0">
                <a:solidFill>
                  <a:srgbClr val="480027"/>
                </a:solidFill>
              </a:rPr>
              <a:t>'</a:t>
            </a:r>
            <a:r>
              <a:rPr lang="en-US" sz="2600" dirty="0">
                <a:solidFill>
                  <a:srgbClr val="7F7F7F"/>
                </a:solidFill>
              </a:rPr>
              <a:t>]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4294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53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78594" y="819390"/>
          <a:ext cx="9372600" cy="5769452"/>
        </p:xfrm>
        <a:graphic>
          <a:graphicData uri="http://schemas.openxmlformats.org/drawingml/2006/table">
            <a:tbl>
              <a:tblPr/>
              <a:tblGrid>
                <a:gridCol w="6074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651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co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3"/>
                        </a:rPr>
                        <a:t>m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ple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5"/>
                        </a:rPr>
                        <a:t>x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6"/>
                        </a:rPr>
                        <a:t>re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al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()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real part of the </a:t>
                      </a:r>
                      <a:r>
                        <a:rPr kumimoji="0" lang="en-US" alt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complex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number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2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co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3"/>
                        </a:rPr>
                        <a:t>m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ple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5"/>
                        </a:rPr>
                        <a:t>x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5"/>
                        </a:rPr>
                        <a:t>i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3"/>
                        </a:rPr>
                        <a:t>m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a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8"/>
                        </a:rPr>
                        <a:t>g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()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imaginary part of the </a:t>
                      </a:r>
                      <a:r>
                        <a:rPr kumimoji="0" lang="en-US" alt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complex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number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3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co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3"/>
                        </a:rPr>
                        <a:t>m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ple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5"/>
                        </a:rPr>
                        <a:t>x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.co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3"/>
                        </a:rPr>
                        <a:t>n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9"/>
                        </a:rPr>
                        <a:t>ju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8"/>
                        </a:rPr>
                        <a:t>g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a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9"/>
                        </a:rPr>
                        <a:t>t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e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()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</a:t>
                      </a:r>
                      <a:r>
                        <a:rPr kumimoji="0" lang="en-US" alt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complex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number with the imaginary part negated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24115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4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fl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o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a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8"/>
                        </a:rPr>
                        <a:t>t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8"/>
                        </a:rPr>
                        <a:t>i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0"/>
                        </a:rPr>
                        <a:t>s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8"/>
                        </a:rPr>
                        <a:t>_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1"/>
                        </a:rPr>
                        <a:t>in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9"/>
                        </a:rPr>
                        <a:t>t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e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8"/>
                        </a:rPr>
                        <a:t>ger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()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483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the </a:t>
                      </a:r>
                      <a:r>
                        <a:rPr kumimoji="0" lang="en-US" alt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float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’s value is an integer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723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2"/>
                        </a:rPr>
                        <a:t>int.bit_length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2"/>
                        </a:rPr>
                        <a:t>()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53728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number of bits necessary to represent </a:t>
                      </a:r>
                      <a:r>
                        <a:rPr kumimoji="0" lang="en-US" alt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int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in binary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036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6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3"/>
                        </a:rPr>
                        <a:t>int.from_bytes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3"/>
                        </a:rPr>
                        <a:t>(bytes, 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3"/>
                        </a:rPr>
                        <a:t>byteorder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3"/>
                        </a:rPr>
                        <a:t>, *, signed=False)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4849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 the integer represented by the </a:t>
                      </a:r>
                      <a:r>
                        <a:rPr kumimoji="0" lang="en-US" alt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byte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array. The </a:t>
                      </a:r>
                      <a:r>
                        <a:rPr kumimoji="0" lang="en-US" alt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byteorder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determines endianness. Two’s complement used if </a:t>
                      </a:r>
                      <a:r>
                        <a:rPr kumimoji="0" lang="en-US" alt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signed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.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14505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7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3"/>
                        </a:rPr>
                        <a:t>int.to_bytes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3"/>
                        </a:rPr>
                        <a:t>(length, 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3"/>
                        </a:rPr>
                        <a:t>byteorder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3"/>
                        </a:rPr>
                        <a:t>, *, signed=False)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394504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a byte array representation of </a:t>
                      </a:r>
                      <a:r>
                        <a:rPr kumimoji="0" lang="en-US" altLang="en-US" sz="2000" b="0" i="1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int</a:t>
                      </a:r>
                      <a:r>
                        <a:rPr kumimoji="0" lang="en-US" altLang="en-US" sz="20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. Must give the array length. 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</a:t>
                      </a:r>
                      <a:r>
                        <a:rPr kumimoji="0" lang="en-US" altLang="en-US" sz="2000" b="0" i="1" u="none" strike="noStrike" cap="none" spc="-7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byteorder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determines endianness. Two’s complement used if </a:t>
                      </a:r>
                      <a:r>
                        <a:rPr kumimoji="0" lang="en-US" altLang="en-US" sz="2000" b="0" i="1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signed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. </a:t>
                      </a:r>
                      <a:endParaRPr kumimoji="0" lang="en-US" altLang="en-US" sz="2000" b="0" i="0" u="none" strike="noStrike" cap="none" spc="-7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4295" y="2"/>
            <a:ext cx="9601200" cy="800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dirty="0">
                <a:solidFill>
                  <a:srgbClr val="0070C0"/>
                </a:solidFill>
              </a:rPr>
              <a:t>Built-in Number Methods:</a:t>
            </a:r>
          </a:p>
        </p:txBody>
      </p:sp>
    </p:spTree>
    <p:extLst>
      <p:ext uri="{BB962C8B-B14F-4D97-AF65-F5344CB8AC3E}">
        <p14:creationId xmlns:p14="http://schemas.microsoft.com/office/powerpoint/2010/main" val="261710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78594" y="819392"/>
          <a:ext cx="9372600" cy="5860169"/>
        </p:xfrm>
        <a:graphic>
          <a:graphicData uri="http://schemas.openxmlformats.org/drawingml/2006/table">
            <a:tbl>
              <a:tblPr/>
              <a:tblGrid>
                <a:gridCol w="6074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651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list.append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(</a:t>
                      </a: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obj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Appends object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obj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to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2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list.count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(</a:t>
                      </a: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obj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count of how many times 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obj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occurs in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3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4"/>
                        </a:rPr>
                        <a:t>list.extend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4"/>
                        </a:rPr>
                        <a:t>(</a:t>
                      </a: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4"/>
                        </a:rPr>
                        <a:t>seq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4"/>
                        </a:rPr>
                        <a:t>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Appends the contents of 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seq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to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4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5"/>
                        </a:rPr>
                        <a:t>list.index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5"/>
                        </a:rPr>
                        <a:t>(</a:t>
                      </a: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5"/>
                        </a:rPr>
                        <a:t>obj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5"/>
                        </a:rPr>
                        <a:t>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the lowest index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in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where the given 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obj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appears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5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6"/>
                        </a:rPr>
                        <a:t>list.insert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6"/>
                        </a:rPr>
                        <a:t>(index, </a:t>
                      </a: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6"/>
                        </a:rPr>
                        <a:t>obj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6"/>
                        </a:rPr>
                        <a:t>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483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Inserts 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obj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into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at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the position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index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4282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6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list.pop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([position])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995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Removes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from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and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last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element (or the one at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position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)</a:t>
                      </a:r>
                      <a:endParaRPr kumimoji="0" lang="en-US" sz="20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723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7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8"/>
                        </a:rPr>
                        <a:t>list.remove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8"/>
                        </a:rPr>
                        <a:t>(</a:t>
                      </a: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8"/>
                        </a:rPr>
                        <a:t>obj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8"/>
                        </a:rPr>
                        <a:t>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53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Removes object 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obj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from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036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8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9"/>
                        </a:rPr>
                        <a:t>list.reverse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9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484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Reverses objects of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in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place (meaning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becomes flipped)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14505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9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10"/>
                        </a:rPr>
                        <a:t>list.sort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10"/>
                        </a:rPr>
                        <a:t>([</a:t>
                      </a: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10"/>
                        </a:rPr>
                        <a:t>func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10"/>
                        </a:rPr>
                        <a:t>])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3945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Sorts objects of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in place. Use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compare 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func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if given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4295" y="2"/>
            <a:ext cx="9601200" cy="800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dirty="0">
                <a:solidFill>
                  <a:srgbClr val="0070C0"/>
                </a:solidFill>
              </a:rPr>
              <a:t>Built-in List Methods:</a:t>
            </a:r>
          </a:p>
        </p:txBody>
      </p:sp>
    </p:spTree>
    <p:extLst>
      <p:ext uri="{BB962C8B-B14F-4D97-AF65-F5344CB8AC3E}">
        <p14:creationId xmlns:p14="http://schemas.microsoft.com/office/powerpoint/2010/main" val="208933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78594" y="819392"/>
          <a:ext cx="9372600" cy="5860169"/>
        </p:xfrm>
        <a:graphic>
          <a:graphicData uri="http://schemas.openxmlformats.org/drawingml/2006/table">
            <a:tbl>
              <a:tblPr/>
              <a:tblGrid>
                <a:gridCol w="6074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651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sngStrike" cap="none" normalizeH="0" baseline="0" dirty="0" err="1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list.append</a:t>
                      </a:r>
                      <a:r>
                        <a:rPr kumimoji="0" lang="en-US" sz="2000" b="0" i="0" u="sng" strike="sngStrike" cap="none" normalizeH="0" baseline="0" dirty="0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(</a:t>
                      </a:r>
                      <a:r>
                        <a:rPr kumimoji="0" lang="en-US" sz="2000" b="0" i="0" u="sng" strike="sngStrike" cap="none" normalizeH="0" baseline="0" dirty="0" err="1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obj</a:t>
                      </a:r>
                      <a:r>
                        <a:rPr kumimoji="0" lang="en-US" sz="2000" b="0" i="0" u="sng" strike="sngStrike" cap="none" normalizeH="0" baseline="0" dirty="0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)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Appends object </a:t>
                      </a:r>
                      <a:r>
                        <a:rPr kumimoji="0" lang="en-US" sz="2000" b="0" i="1" u="none" strike="sngStrike" cap="none" normalizeH="0" baseline="0" dirty="0" err="1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obj</a:t>
                      </a:r>
                      <a:r>
                        <a:rPr kumimoji="0" lang="en-US" sz="20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to </a:t>
                      </a:r>
                      <a:r>
                        <a:rPr kumimoji="0" lang="en-US" sz="2000" b="0" i="1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tuple.count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(</a:t>
                      </a: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obj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count of how many times 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obj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occurs in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tuple</a:t>
                      </a:r>
                      <a:endParaRPr kumimoji="0" lang="en-US" sz="20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sngStrike" cap="none" normalizeH="0" baseline="0" dirty="0" err="1" smtClean="0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list.extend</a:t>
                      </a:r>
                      <a:r>
                        <a:rPr kumimoji="0" lang="en-US" sz="2000" b="0" i="0" u="sng" strike="sngStrike" cap="none" normalizeH="0" baseline="0" dirty="0" smtClean="0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(</a:t>
                      </a:r>
                      <a:r>
                        <a:rPr kumimoji="0" lang="en-US" sz="2000" b="0" i="0" u="sng" strike="sngStrike" cap="none" normalizeH="0" baseline="0" dirty="0" err="1" smtClean="0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seq</a:t>
                      </a:r>
                      <a:r>
                        <a:rPr kumimoji="0" lang="en-US" sz="2000" b="0" i="0" u="sng" strike="sngStrike" cap="none" normalizeH="0" baseline="0" dirty="0" smtClean="0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)</a:t>
                      </a:r>
                      <a:endParaRPr kumimoji="0" lang="en-US" sz="2000" b="0" i="0" u="sng" strike="sngStrike" cap="none" normalizeH="0" baseline="0" dirty="0">
                        <a:ln>
                          <a:noFill/>
                        </a:ln>
                        <a:solidFill>
                          <a:srgbClr val="C3DBE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Appends the contents of </a:t>
                      </a:r>
                      <a:r>
                        <a:rPr kumimoji="0" lang="en-US" sz="2000" b="0" i="1" u="none" strike="sngStrike" cap="none" normalizeH="0" baseline="0" dirty="0" err="1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seq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to </a:t>
                      </a:r>
                      <a:r>
                        <a:rPr kumimoji="0" lang="en-US" sz="2000" b="0" i="1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tuple.index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(</a:t>
                      </a: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obj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the lowest index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in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tuple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where the given 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obj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appears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sngStrike" cap="none" normalizeH="0" baseline="0" dirty="0">
                        <a:ln>
                          <a:noFill/>
                        </a:ln>
                        <a:solidFill>
                          <a:srgbClr val="E7F3F5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sngStrike" cap="none" normalizeH="0" baseline="0" dirty="0" err="1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list.insert</a:t>
                      </a:r>
                      <a:r>
                        <a:rPr kumimoji="0" lang="en-US" sz="2000" b="0" i="0" u="sng" strike="sngStrike" cap="none" normalizeH="0" baseline="0" dirty="0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(index, </a:t>
                      </a:r>
                      <a:r>
                        <a:rPr kumimoji="0" lang="en-US" sz="2000" b="0" i="0" u="sng" strike="sngStrike" cap="none" normalizeH="0" baseline="0" dirty="0" err="1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obj</a:t>
                      </a:r>
                      <a:r>
                        <a:rPr kumimoji="0" lang="en-US" sz="2000" b="0" i="0" u="sng" strike="sngStrike" cap="none" normalizeH="0" baseline="0" dirty="0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)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483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Inserts </a:t>
                      </a:r>
                      <a:r>
                        <a:rPr kumimoji="0" lang="en-US" sz="2000" b="0" i="1" u="none" strike="sngStrike" cap="none" normalizeH="0" baseline="0" dirty="0" err="1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obj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into </a:t>
                      </a:r>
                      <a:r>
                        <a:rPr kumimoji="0" lang="en-US" sz="2000" b="0" i="1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at </a:t>
                      </a:r>
                      <a:r>
                        <a:rPr kumimoji="0" lang="en-US" sz="20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the position </a:t>
                      </a:r>
                      <a:r>
                        <a:rPr kumimoji="0" lang="en-US" sz="2000" b="0" i="1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index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4282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sngStrike" cap="none" normalizeH="0" baseline="0" dirty="0">
                        <a:ln>
                          <a:noFill/>
                        </a:ln>
                        <a:solidFill>
                          <a:srgbClr val="E7F3F5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sngStrike" cap="none" normalizeH="0" baseline="0" dirty="0" err="1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list.pop</a:t>
                      </a:r>
                      <a:r>
                        <a:rPr kumimoji="0" lang="en-US" sz="2000" b="0" i="0" u="sng" strike="sngStrike" cap="none" normalizeH="0" baseline="0" dirty="0" smtClean="0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([position])</a:t>
                      </a:r>
                      <a:endParaRPr kumimoji="0" lang="en-US" sz="2000" b="0" i="0" u="sng" strike="sngStrike" cap="none" normalizeH="0" baseline="0" dirty="0">
                        <a:ln>
                          <a:noFill/>
                        </a:ln>
                        <a:solidFill>
                          <a:srgbClr val="C3DBE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995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Removes </a:t>
                      </a:r>
                      <a:r>
                        <a:rPr kumimoji="0" lang="en-US" sz="20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from </a:t>
                      </a:r>
                      <a:r>
                        <a:rPr kumimoji="0" lang="en-US" sz="2000" b="0" i="1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 </a:t>
                      </a:r>
                      <a:r>
                        <a:rPr kumimoji="0" lang="en-US" sz="20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and 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last </a:t>
                      </a:r>
                      <a:r>
                        <a:rPr kumimoji="0" lang="en-US" sz="20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item (or the one at </a:t>
                      </a:r>
                      <a:r>
                        <a:rPr kumimoji="0" lang="en-US" sz="2000" b="0" i="1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position</a:t>
                      </a:r>
                      <a:r>
                        <a:rPr kumimoji="0" lang="en-US" sz="20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)</a:t>
                      </a:r>
                      <a:endParaRPr kumimoji="0" lang="en-US" sz="2000" b="0" i="1" u="none" strike="sngStrike" cap="none" normalizeH="0" baseline="0" dirty="0">
                        <a:ln>
                          <a:noFill/>
                        </a:ln>
                        <a:solidFill>
                          <a:srgbClr val="D2DCDD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723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sngStrike" cap="none" normalizeH="0" baseline="0" dirty="0">
                        <a:ln>
                          <a:noFill/>
                        </a:ln>
                        <a:solidFill>
                          <a:srgbClr val="E7F3F5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sngStrike" cap="none" normalizeH="0" baseline="0" dirty="0" err="1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list.remove</a:t>
                      </a:r>
                      <a:r>
                        <a:rPr kumimoji="0" lang="en-US" sz="2000" b="0" i="0" u="sng" strike="sngStrike" cap="none" normalizeH="0" baseline="0" dirty="0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(</a:t>
                      </a:r>
                      <a:r>
                        <a:rPr kumimoji="0" lang="en-US" sz="2000" b="0" i="0" u="sng" strike="sngStrike" cap="none" normalizeH="0" baseline="0" dirty="0" err="1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obj</a:t>
                      </a:r>
                      <a:r>
                        <a:rPr kumimoji="0" lang="en-US" sz="2000" b="0" i="0" u="sng" strike="sngStrike" cap="none" normalizeH="0" baseline="0" dirty="0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)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53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Removes object </a:t>
                      </a:r>
                      <a:r>
                        <a:rPr kumimoji="0" lang="en-US" sz="2000" b="0" i="1" u="none" strike="sngStrike" cap="none" normalizeH="0" baseline="0" dirty="0" err="1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obj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from </a:t>
                      </a:r>
                      <a:r>
                        <a:rPr kumimoji="0" lang="en-US" sz="2000" b="0" i="1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036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E7F3F5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8</a:t>
                      </a:r>
                      <a:endParaRPr kumimoji="0" lang="en-US" sz="2000" b="0" i="0" u="none" strike="sngStrike" cap="none" normalizeH="0" baseline="0" dirty="0">
                        <a:ln>
                          <a:noFill/>
                        </a:ln>
                        <a:solidFill>
                          <a:srgbClr val="E7F3F5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sngStrike" cap="none" normalizeH="0" baseline="0" dirty="0" err="1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list.reverse</a:t>
                      </a:r>
                      <a:r>
                        <a:rPr kumimoji="0" lang="en-US" sz="2000" b="0" i="0" u="sng" strike="sngStrike" cap="none" normalizeH="0" baseline="0" dirty="0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()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484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Reverses objects of </a:t>
                      </a:r>
                      <a:r>
                        <a:rPr kumimoji="0" lang="en-US" sz="2000" b="0" i="1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  <a:r>
                        <a:rPr kumimoji="0" lang="en-US" sz="20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, 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in </a:t>
                      </a:r>
                      <a:r>
                        <a:rPr kumimoji="0" lang="en-US" sz="20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place (meaning </a:t>
                      </a:r>
                      <a:r>
                        <a:rPr kumimoji="0" lang="en-US" sz="2000" b="0" i="1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  <a:r>
                        <a:rPr kumimoji="0" lang="en-US" sz="20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becomes flipped)</a:t>
                      </a:r>
                      <a:endParaRPr kumimoji="0" lang="en-US" sz="2000" b="0" i="0" u="none" strike="sngStrike" cap="none" normalizeH="0" baseline="0" dirty="0">
                        <a:ln>
                          <a:noFill/>
                        </a:ln>
                        <a:solidFill>
                          <a:srgbClr val="D2DCDD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14505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sngStrike" cap="none" normalizeH="0" baseline="0" dirty="0">
                        <a:ln>
                          <a:noFill/>
                        </a:ln>
                        <a:solidFill>
                          <a:srgbClr val="E7F3F5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sngStrike" cap="none" normalizeH="0" baseline="0" dirty="0" err="1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list.sort</a:t>
                      </a:r>
                      <a:r>
                        <a:rPr kumimoji="0" lang="en-US" sz="2000" b="0" i="0" u="sng" strike="sngStrike" cap="none" normalizeH="0" baseline="0" dirty="0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([</a:t>
                      </a:r>
                      <a:r>
                        <a:rPr kumimoji="0" lang="en-US" sz="2000" b="0" i="0" u="sng" strike="sngStrike" cap="none" normalizeH="0" baseline="0" dirty="0" err="1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func</a:t>
                      </a:r>
                      <a:r>
                        <a:rPr kumimoji="0" lang="en-US" sz="2000" b="0" i="0" u="sng" strike="sngStrike" cap="none" normalizeH="0" baseline="0" dirty="0">
                          <a:ln>
                            <a:noFill/>
                          </a:ln>
                          <a:solidFill>
                            <a:srgbClr val="C3DBE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])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3945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Sorts objects of </a:t>
                      </a:r>
                      <a:r>
                        <a:rPr kumimoji="0" lang="en-US" sz="2000" b="0" i="1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list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, </a:t>
                      </a:r>
                      <a:r>
                        <a:rPr kumimoji="0" lang="en-US" sz="20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in place. Use 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compare </a:t>
                      </a:r>
                      <a:r>
                        <a:rPr kumimoji="0" lang="en-US" sz="2000" b="0" i="1" u="none" strike="sngStrike" cap="none" normalizeH="0" baseline="0" dirty="0" err="1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func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D2DCDD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if given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4295" y="2"/>
            <a:ext cx="9601200" cy="800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dirty="0">
                <a:solidFill>
                  <a:srgbClr val="0070C0"/>
                </a:solidFill>
              </a:rPr>
              <a:t>Built-in Tuple Methods:</a:t>
            </a:r>
          </a:p>
        </p:txBody>
      </p:sp>
    </p:spTree>
    <p:extLst>
      <p:ext uri="{BB962C8B-B14F-4D97-AF65-F5344CB8AC3E}">
        <p14:creationId xmlns:p14="http://schemas.microsoft.com/office/powerpoint/2010/main" val="72223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78594" y="819392"/>
          <a:ext cx="9372600" cy="5860169"/>
        </p:xfrm>
        <a:graphic>
          <a:graphicData uri="http://schemas.openxmlformats.org/drawingml/2006/table">
            <a:tbl>
              <a:tblPr/>
              <a:tblGrid>
                <a:gridCol w="6074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651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3"/>
                        </a:rPr>
                        <a:t>count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3"/>
                        </a:rPr>
                        <a:t>(str2, 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3"/>
                        </a:rPr>
                        <a:t>beg= 0,end=</a:t>
                      </a:r>
                      <a:r>
                        <a:rPr kumimoji="0" lang="en-US" alt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3"/>
                        </a:rPr>
                        <a:t>len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3"/>
                        </a:rPr>
                        <a:t>(string))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7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Counts how many times </a:t>
                      </a:r>
                      <a:r>
                        <a:rPr kumimoji="0" lang="en-US" altLang="en-US" sz="2000" b="0" i="1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str2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0" u="none" strike="noStrike" cap="none" spc="-7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occurs in </a:t>
                      </a:r>
                      <a:r>
                        <a:rPr kumimoji="0" lang="en-US" altLang="en-US" sz="2000" b="0" i="1" u="none" strike="noStrike" cap="none" spc="-7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(or </a:t>
                      </a:r>
                      <a:r>
                        <a:rPr kumimoji="0" lang="en-US" altLang="en-US" sz="2000" b="0" i="0" u="none" strike="noStrike" cap="none" spc="-7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a 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given substring range)</a:t>
                      </a:r>
                      <a:endParaRPr kumimoji="0" lang="en-US" altLang="en-US" sz="2000" b="0" i="0" u="none" strike="noStrike" cap="none" spc="-7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2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encode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(encoding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='UTF-8',errors='strict')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encoded-string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version of </a:t>
                      </a:r>
                      <a:r>
                        <a:rPr kumimoji="0" lang="en-US" alt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; raises an error otherwise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3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5"/>
                        </a:rPr>
                        <a:t>find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5"/>
                        </a:rPr>
                        <a:t>(str2, 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5"/>
                        </a:rPr>
                        <a:t>beg=0 end=</a:t>
                      </a:r>
                      <a:r>
                        <a:rPr kumimoji="0" lang="en-US" alt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5"/>
                        </a:rPr>
                        <a:t>len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5"/>
                        </a:rPr>
                        <a:t>(string))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1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</a:t>
                      </a:r>
                      <a:r>
                        <a:rPr kumimoji="0" lang="en-US" altLang="en-US" sz="20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eturns start index</a:t>
                      </a:r>
                      <a:r>
                        <a:rPr kumimoji="0" lang="en-US" altLang="en-US" sz="16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of</a:t>
                      </a:r>
                      <a:r>
                        <a:rPr kumimoji="0" lang="en-US" altLang="en-US" sz="16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1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</a:t>
                      </a:r>
                      <a:r>
                        <a:rPr kumimoji="0" lang="en-US" altLang="en-US" sz="2000" b="0" i="1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</a:t>
                      </a:r>
                      <a:r>
                        <a:rPr kumimoji="0" lang="en-US" altLang="en-US" sz="2000" b="0" i="1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</a:t>
                      </a:r>
                      <a:r>
                        <a:rPr kumimoji="0" lang="en-US" altLang="en-US" sz="16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occurring</a:t>
                      </a:r>
                      <a:r>
                        <a:rPr kumimoji="0" lang="en-US" altLang="en-US" sz="18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  <a:r>
                        <a:rPr kumimoji="0" lang="en-US" altLang="en-US" sz="14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1" u="none" strike="noStrike" cap="none" spc="-5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</a:t>
                      </a:r>
                      <a:r>
                        <a:rPr kumimoji="0" lang="en-US" altLang="en-US" sz="2000" b="0" i="0" u="none" strike="noStrike" cap="none" spc="-2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0" u="none" strike="noStrike" cap="none" spc="-30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</a:t>
                      </a:r>
                      <a:r>
                        <a:rPr kumimoji="0" lang="en-US" altLang="en-US" sz="20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or</a:t>
                      </a:r>
                      <a:r>
                        <a:rPr kumimoji="0" lang="en-US" altLang="en-US" sz="18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  <a:r>
                        <a:rPr kumimoji="0" lang="en-US" altLang="en-US" sz="18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</a:t>
                      </a:r>
                      <a:r>
                        <a:rPr kumimoji="0" lang="en-US" altLang="en-US" sz="18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subrang</a:t>
                      </a:r>
                      <a:r>
                        <a:rPr kumimoji="0" lang="en-US" altLang="en-US" sz="2000" b="0" i="0" u="none" strike="noStrike" cap="none" spc="-2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r>
                        <a:rPr kumimoji="0" lang="en-US" altLang="en-US" sz="2000" b="0" i="0" u="none" strike="noStrike" cap="none" spc="-29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  <a:r>
                        <a:rPr kumimoji="0" lang="en-US" altLang="en-US" sz="2000" b="0" i="0" u="none" strike="noStrike" cap="none" spc="-2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;</a:t>
                      </a:r>
                      <a:r>
                        <a:rPr kumimoji="0" lang="en-US" altLang="en-US" sz="18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0" u="none" strike="noStrike" cap="none" spc="-30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</a:t>
                      </a:r>
                      <a:r>
                        <a:rPr kumimoji="0" lang="en-US" altLang="en-US" sz="2000" b="0" i="0" u="none" strike="noStrike" cap="none" spc="-25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</a:t>
                      </a:r>
                      <a:r>
                        <a:rPr kumimoji="0" lang="en-US" altLang="en-US" sz="1800" b="0" i="0" u="none" strike="noStrike" cap="none" spc="-25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ot</a:t>
                      </a:r>
                      <a:r>
                        <a:rPr kumimoji="0" lang="en-US" altLang="en-US" sz="2000" b="0" i="0" u="none" strike="noStrike" cap="none" spc="-7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he</a:t>
                      </a:r>
                      <a:r>
                        <a:rPr kumimoji="0" lang="en-US" altLang="en-US" sz="20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rwise</a:t>
                      </a: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4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6"/>
                        </a:rPr>
                        <a:t>index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6"/>
                        </a:rPr>
                        <a:t>(str2, 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6"/>
                        </a:rPr>
                        <a:t>beg=0, end=</a:t>
                      </a:r>
                      <a:r>
                        <a:rPr kumimoji="0" lang="en-US" alt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6"/>
                        </a:rPr>
                        <a:t>len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6"/>
                        </a:rPr>
                        <a:t>(string))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Same as find(), but raises an exception if </a:t>
                      </a:r>
                      <a:r>
                        <a:rPr kumimoji="0" lang="en-US" alt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str2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is not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found</a:t>
                      </a: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5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isalnum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()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483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 </a:t>
                      </a:r>
                      <a:r>
                        <a:rPr kumimoji="0" lang="en-US" altLang="en-US" sz="20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</a:t>
                      </a:r>
                      <a:r>
                        <a:rPr kumimoji="0" lang="en-US" altLang="en-US" sz="2000" b="0" i="1" u="none" strike="noStrike" cap="none" spc="-1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in non-empty </a:t>
                      </a:r>
                      <a:r>
                        <a:rPr kumimoji="0" lang="en-US" altLang="en-US" sz="20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 all characters are alphanumeric </a:t>
                      </a: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4282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6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8"/>
                        </a:rPr>
                        <a:t>isalpha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8"/>
                        </a:rPr>
                        <a:t>()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995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</a:t>
                      </a:r>
                      <a:r>
                        <a:rPr kumimoji="0" lang="en-US" alt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in non-empty and all characters are alphabetic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723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7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9"/>
                        </a:rPr>
                        <a:t>isdigit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9"/>
                        </a:rPr>
                        <a:t>()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53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</a:t>
                      </a:r>
                      <a:r>
                        <a:rPr kumimoji="0" lang="en-US" alt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in non-empty and all characters are numerals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036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8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0"/>
                        </a:rPr>
                        <a:t>islower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0"/>
                        </a:rPr>
                        <a:t>()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484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</a:t>
                      </a:r>
                      <a:r>
                        <a:rPr kumimoji="0" lang="en-US" alt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in non-empty and all characters are lower case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14505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9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1"/>
                        </a:rPr>
                        <a:t>isnumeric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11"/>
                        </a:rPr>
                        <a:t>()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3945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Same as </a:t>
                      </a:r>
                      <a:r>
                        <a:rPr kumimoji="0" lang="en-US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isdigit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(), but allows other language digits (</a:t>
                      </a:r>
                      <a:r>
                        <a:rPr kumimoji="0" lang="en-US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eg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</a:t>
                      </a:r>
                      <a:r>
                        <a:rPr kumimoji="0" lang="zh-TW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一二三四五</a:t>
                      </a: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4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dirty="0">
                <a:solidFill>
                  <a:srgbClr val="0070C0"/>
                </a:solidFill>
              </a:rPr>
              <a:t>Built-in String Methods </a:t>
            </a:r>
            <a:r>
              <a:rPr lang="en-US" altLang="en-US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(1/2)</a:t>
            </a:r>
            <a:r>
              <a:rPr lang="en-US" altLang="en-US" sz="12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:</a:t>
            </a:r>
            <a:endParaRPr lang="en-US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46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78594" y="819390"/>
          <a:ext cx="9372601" cy="5383480"/>
        </p:xfrm>
        <a:graphic>
          <a:graphicData uri="http://schemas.openxmlformats.org/drawingml/2006/table">
            <a:tbl>
              <a:tblPr/>
              <a:tblGrid>
                <a:gridCol w="6074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651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3"/>
                        </a:rPr>
                        <a:t>isupper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3"/>
                        </a:rPr>
                        <a:t>()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</a:t>
                      </a:r>
                      <a:r>
                        <a:rPr kumimoji="0" lang="en-US" alt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in non-empty and all characters are upper case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join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(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seq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4"/>
                        </a:rPr>
                        <a:t>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new string by separating each character of string </a:t>
                      </a:r>
                      <a:r>
                        <a:rPr kumimoji="0" lang="en-US" alt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seq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with the string sequence</a:t>
                      </a:r>
                      <a:r>
                        <a:rPr kumimoji="0" lang="en-US" alt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</a:t>
                      </a:r>
                      <a:r>
                        <a:rPr kumimoji="0" lang="en-US" alt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</a:t>
                      </a:r>
                      <a:r>
                        <a:rPr kumimoji="0" lang="en-US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Eg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</a:t>
                      </a:r>
                      <a:r>
                        <a:rPr kumimoji="0" lang="fi-FI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 ".join("12345")=='1 2 3 4 5'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5"/>
                        </a:rPr>
                        <a:t>lower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5"/>
                        </a:rPr>
                        <a:t>()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8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</a:t>
                      </a:r>
                      <a:r>
                        <a:rPr kumimoji="0" lang="en-US" altLang="en-US" sz="20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</a:t>
                      </a:r>
                      <a:r>
                        <a:rPr kumimoji="0" lang="en-US" altLang="en-US" sz="2000" b="0" i="0" u="none" strike="noStrike" cap="none" spc="-8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u</a:t>
                      </a:r>
                      <a:r>
                        <a:rPr kumimoji="0" lang="en-US" altLang="en-US" sz="2000" b="0" i="0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</a:t>
                      </a:r>
                      <a:r>
                        <a:rPr kumimoji="0" lang="en-US" alt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</a:t>
                      </a: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 a c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</a:t>
                      </a: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 of </a:t>
                      </a:r>
                      <a:r>
                        <a:rPr kumimoji="0" lang="en-US" altLang="en-US" sz="2000" b="0" i="1" u="none" strike="noStrike" cap="none" spc="-2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</a:t>
                      </a:r>
                      <a:r>
                        <a:rPr kumimoji="0" lang="en-US" altLang="en-US" sz="2000" b="0" i="1" u="none" strike="noStrike" cap="none" spc="-40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</a:t>
                      </a: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</a:t>
                      </a:r>
                      <a:r>
                        <a:rPr kumimoji="0" lang="en-US" altLang="en-US" sz="20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ut with all </a:t>
                      </a:r>
                      <a:r>
                        <a:rPr kumimoji="0" lang="en-US" altLang="en-US" sz="2000" b="0" i="0" u="none" strike="noStrike" cap="none" spc="-8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upp</a:t>
                      </a:r>
                      <a:r>
                        <a:rPr kumimoji="0" lang="en-US" altLang="en-US" sz="20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er-case 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</a:t>
                      </a:r>
                      <a:r>
                        <a:rPr kumimoji="0" lang="en-US" altLang="en-US" sz="20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ett</a:t>
                      </a:r>
                      <a:r>
                        <a:rPr kumimoji="0" lang="en-US" altLang="en-US" sz="2000" b="0" i="0" u="none" strike="noStrike" cap="none" spc="-8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r>
                        <a:rPr kumimoji="0" lang="en-US" altLang="en-US" sz="20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rs c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</a:t>
                      </a:r>
                      <a:r>
                        <a:rPr kumimoji="0" lang="en-US" altLang="en-US" sz="2000" b="0" i="0" u="none" strike="noStrike" cap="none" spc="-1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nv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r>
                        <a:rPr kumimoji="0" lang="en-US" altLang="en-US" sz="2000" b="0" i="0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</a:t>
                      </a:r>
                      <a:r>
                        <a:rPr kumimoji="0" lang="en-US" altLang="en-US" sz="20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ted to 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</a:t>
                      </a:r>
                      <a:r>
                        <a:rPr kumimoji="0" lang="en-US" altLang="en-US" sz="2000" b="0" i="0" u="none" strike="noStrike" cap="none" spc="-9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ow</a:t>
                      </a:r>
                      <a:r>
                        <a:rPr kumimoji="0" lang="en-US" altLang="en-US" sz="2000" b="0" i="0" u="none" strike="noStrike" cap="none" spc="-8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r>
                        <a:rPr kumimoji="0" lang="en-US" altLang="en-US" sz="20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</a:t>
                      </a:r>
                      <a:endParaRPr kumimoji="0" lang="en-US" altLang="en-US" sz="2000" b="0" i="0" u="none" strike="noStrike" cap="none" spc="-3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6"/>
                        </a:rPr>
                        <a:t>replace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6"/>
                        </a:rPr>
                        <a:t>(old, new [, max])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a copy of </a:t>
                      </a:r>
                      <a:r>
                        <a:rPr kumimoji="0" lang="en-US" altLang="en-US" sz="2000" b="0" i="1" u="none" strike="noStrike" cap="none" spc="-2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</a:t>
                      </a: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but with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all occurrences of the substring </a:t>
                      </a:r>
                      <a:r>
                        <a:rPr kumimoji="0" lang="en-US" alt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old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replaced with the substring </a:t>
                      </a:r>
                      <a:r>
                        <a:rPr kumimoji="0" lang="en-US" alt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new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(or at most </a:t>
                      </a:r>
                      <a:r>
                        <a:rPr kumimoji="0" lang="en-US" alt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max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replacements) 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split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(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str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="", </a:t>
                      </a:r>
                      <a:r>
                        <a:rPr kumimoji="0" lang="en-US" alt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num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=</a:t>
                      </a:r>
                      <a:r>
                        <a:rPr kumimoji="0" lang="en-US" alt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string.count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(</a:t>
                      </a:r>
                      <a:r>
                        <a:rPr kumimoji="0" lang="en-US" alt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str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7"/>
                        </a:rPr>
                        <a:t>))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483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Splits string according to delimiter </a:t>
                      </a:r>
                      <a:r>
                        <a:rPr kumimoji="0" lang="en-US" alt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(space if not provided) and </a:t>
                      </a:r>
                      <a:r>
                        <a:rPr kumimoji="0" lang="en-US" altLang="en-US" sz="20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list of substrings; 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splits </a:t>
                      </a:r>
                      <a:r>
                        <a:rPr kumimoji="0" lang="en-US" altLang="en-US" sz="20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into at most </a:t>
                      </a:r>
                      <a:r>
                        <a:rPr kumimoji="0" lang="en-US" altLang="en-US" sz="2000" b="0" i="1" u="none" strike="noStrike" cap="none" spc="-10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num</a:t>
                      </a:r>
                      <a:r>
                        <a:rPr kumimoji="0" lang="en-US" altLang="en-US" sz="2000" b="0" i="1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substrings, </a:t>
                      </a:r>
                      <a:r>
                        <a:rPr kumimoji="0" lang="en-US" altLang="en-US" sz="20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given</a:t>
                      </a: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4282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8"/>
                        </a:rPr>
                        <a:t>startswith</a:t>
                      </a:r>
                      <a:r>
                        <a:rPr kumimoji="0" lang="en-US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8"/>
                        </a:rPr>
                        <a:t>(str2, 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8"/>
                        </a:rPr>
                        <a:t>beg=0,end=</a:t>
                      </a:r>
                      <a:r>
                        <a:rPr kumimoji="0" lang="en-US" alt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8"/>
                        </a:rPr>
                        <a:t>len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8"/>
                        </a:rPr>
                        <a:t>(string))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995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Determines if </a:t>
                      </a:r>
                      <a:r>
                        <a:rPr kumimoji="0" lang="en-US" altLang="en-US" sz="2000" b="0" i="1" u="none" strike="noStrike" cap="none" spc="-1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(or a substring range of it </a:t>
                      </a:r>
                      <a:r>
                        <a:rPr kumimoji="0" lang="en-US" altLang="en-US" sz="20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starts with substring </a:t>
                      </a:r>
                      <a:r>
                        <a:rPr kumimoji="0" lang="en-US" altLang="en-US" sz="2000" b="0" i="1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str2</a:t>
                      </a:r>
                      <a:endParaRPr kumimoji="0" lang="en-US" altLang="en-US" sz="2000" b="0" i="1" u="none" strike="noStrike" cap="none" spc="-1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723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16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2"/>
                        </a:rPr>
                        <a:t>str.</a:t>
                      </a:r>
                      <a:r>
                        <a:rPr kumimoji="0" lang="en-US" alt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9"/>
                        </a:rPr>
                        <a:t>upper</a:t>
                      </a:r>
                      <a:r>
                        <a:rPr kumimoji="0" lang="en-US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9"/>
                        </a:rPr>
                        <a:t>()</a:t>
                      </a:r>
                      <a:endParaRPr kumimoji="0" lang="en-US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53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8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</a:t>
                      </a:r>
                      <a:r>
                        <a:rPr kumimoji="0" lang="en-US" altLang="en-US" sz="2000" b="0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</a:t>
                      </a:r>
                      <a:r>
                        <a:rPr kumimoji="0" lang="en-US" altLang="en-US" sz="2000" b="0" i="0" u="none" strike="noStrike" cap="none" spc="-8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u</a:t>
                      </a:r>
                      <a:r>
                        <a:rPr kumimoji="0" lang="en-US" altLang="en-US" sz="2000" b="0" i="0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</a:t>
                      </a:r>
                      <a:r>
                        <a:rPr kumimoji="0" lang="en-US" alt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</a:t>
                      </a: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 a c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</a:t>
                      </a: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 of </a:t>
                      </a:r>
                      <a:r>
                        <a:rPr kumimoji="0" lang="en-US" altLang="en-US" sz="2000" b="0" i="1" u="none" strike="noStrike" cap="none" spc="-2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</a:t>
                      </a:r>
                      <a:r>
                        <a:rPr kumimoji="0" lang="en-US" altLang="en-US" sz="2000" b="0" i="1" u="none" strike="noStrike" cap="none" spc="-400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</a:t>
                      </a: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</a:t>
                      </a:r>
                      <a:r>
                        <a:rPr kumimoji="0" lang="en-US" altLang="en-US" sz="20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ut with all 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</a:t>
                      </a:r>
                      <a:r>
                        <a:rPr kumimoji="0" lang="en-US" altLang="en-US" sz="2000" b="0" i="0" u="none" strike="noStrike" cap="none" spc="-9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ow</a:t>
                      </a:r>
                      <a:r>
                        <a:rPr kumimoji="0" lang="en-US" altLang="en-US" sz="20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er-case 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</a:t>
                      </a:r>
                      <a:r>
                        <a:rPr kumimoji="0" lang="en-US" altLang="en-US" sz="20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ett</a:t>
                      </a:r>
                      <a:r>
                        <a:rPr kumimoji="0" lang="en-US" altLang="en-US" sz="2000" b="0" i="0" u="none" strike="noStrike" cap="none" spc="-8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r>
                        <a:rPr kumimoji="0" lang="en-US" altLang="en-US" sz="20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rs c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</a:t>
                      </a:r>
                      <a:r>
                        <a:rPr kumimoji="0" lang="en-US" altLang="en-US" sz="2000" b="0" i="0" u="none" strike="noStrike" cap="none" spc="-11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nv</a:t>
                      </a:r>
                      <a:r>
                        <a:rPr kumimoji="0" lang="en-US" alt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r>
                        <a:rPr kumimoji="0" lang="en-US" altLang="en-US" sz="2000" b="0" i="0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</a:t>
                      </a:r>
                      <a:r>
                        <a:rPr kumimoji="0" lang="en-US" altLang="en-US" sz="20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ted to </a:t>
                      </a:r>
                      <a:r>
                        <a:rPr kumimoji="0" lang="en-US" altLang="en-US" sz="2000" b="0" i="0" u="none" strike="noStrike" cap="none" spc="-8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uppe</a:t>
                      </a:r>
                      <a:r>
                        <a:rPr kumimoji="0" lang="en-US" altLang="en-US" sz="20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</a:t>
                      </a:r>
                      <a:endParaRPr kumimoji="0" lang="en-US" altLang="en-US" sz="2000" b="0" i="0" u="none" strike="noStrike" cap="none" spc="-3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4295" y="1"/>
            <a:ext cx="9601200" cy="804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dirty="0">
                <a:solidFill>
                  <a:srgbClr val="0070C0"/>
                </a:solidFill>
              </a:rPr>
              <a:t>Built-in String Methods </a:t>
            </a:r>
            <a:r>
              <a:rPr lang="en-US" altLang="en-US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(2/2)</a:t>
            </a:r>
            <a:r>
              <a:rPr lang="en-US" altLang="en-US" sz="12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:</a:t>
            </a:r>
            <a:endParaRPr lang="en-US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34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78594" y="819390"/>
          <a:ext cx="9372600" cy="4522690"/>
        </p:xfrm>
        <a:graphic>
          <a:graphicData uri="http://schemas.openxmlformats.org/drawingml/2006/table">
            <a:tbl>
              <a:tblPr/>
              <a:tblGrid>
                <a:gridCol w="6074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651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set.clear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Removes all elements of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2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set.copy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a shallow copy of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dict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3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4"/>
                        </a:rPr>
                        <a:t>set.isdisjoint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4"/>
                        </a:rPr>
                        <a:t>(set2)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 True if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and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set2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have a null intersection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4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5"/>
                        </a:rPr>
                        <a:t>set.issubset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5"/>
                        </a:rPr>
                        <a:t>(set2)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True if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is a subset of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set2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5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6"/>
                        </a:rPr>
                        <a:t>set.issuperset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6"/>
                        </a:rPr>
                        <a:t>(set2)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483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True if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is a superset of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4282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6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set.pop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995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spc="-9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es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and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an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arbitrary</a:t>
                      </a:r>
                      <a:r>
                        <a:rPr kumimoji="0" lang="en-US" sz="16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elemen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t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from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 </a:t>
                      </a:r>
                      <a:r>
                        <a:rPr kumimoji="0" lang="en-US" sz="2000" b="0" i="1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</a:t>
                      </a:r>
                      <a:r>
                        <a:rPr kumimoji="0" lang="en-US" sz="2000" b="0" i="1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;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kern="1200" cap="none" spc="-6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raise error if empty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723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7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set.remove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(</a:t>
                      </a: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elem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53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Removes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elem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from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; raise an error if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elem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is not in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4295" y="2"/>
            <a:ext cx="9601200" cy="800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dirty="0">
                <a:solidFill>
                  <a:srgbClr val="0070C0"/>
                </a:solidFill>
              </a:rPr>
              <a:t>Built-in Set Methods:</a:t>
            </a:r>
          </a:p>
        </p:txBody>
      </p:sp>
    </p:spTree>
    <p:extLst>
      <p:ext uri="{BB962C8B-B14F-4D97-AF65-F5344CB8AC3E}">
        <p14:creationId xmlns:p14="http://schemas.microsoft.com/office/powerpoint/2010/main" val="167732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78594" y="819390"/>
          <a:ext cx="9372600" cy="4522690"/>
        </p:xfrm>
        <a:graphic>
          <a:graphicData uri="http://schemas.openxmlformats.org/drawingml/2006/table">
            <a:tbl>
              <a:tblPr/>
              <a:tblGrid>
                <a:gridCol w="6074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651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set.clear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Removes all elements of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2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set.copy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a shallow copy of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dict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3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4"/>
                        </a:rPr>
                        <a:t>set.isdisjoint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4"/>
                        </a:rPr>
                        <a:t>(set2)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 True if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and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set2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have a null intersection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4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5"/>
                        </a:rPr>
                        <a:t>set.issubset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5"/>
                        </a:rPr>
                        <a:t>(set2)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True if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is a subset of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set2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5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6"/>
                        </a:rPr>
                        <a:t>set.issuperset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6"/>
                        </a:rPr>
                        <a:t>(set2)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483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True if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is a superset of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4282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6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set.pop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995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spc="-9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es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and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an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arbitrary</a:t>
                      </a:r>
                      <a:r>
                        <a:rPr kumimoji="0" lang="en-US" sz="16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elemen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t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from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 </a:t>
                      </a:r>
                      <a:r>
                        <a:rPr kumimoji="0" lang="en-US" sz="2000" b="0" i="1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</a:t>
                      </a:r>
                      <a:r>
                        <a:rPr kumimoji="0" lang="en-US" sz="2000" b="0" i="1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;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kern="1200" cap="none" spc="-6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raise error if empty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723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7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set.remove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(</a:t>
                      </a: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elem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53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Removes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elem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from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; raise an error if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elem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is not in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4295" y="2"/>
            <a:ext cx="9601200" cy="800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dirty="0">
                <a:solidFill>
                  <a:srgbClr val="0070C0"/>
                </a:solidFill>
              </a:rPr>
              <a:t>Built-in Set Methods: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64294" y="5908828"/>
            <a:ext cx="9601200" cy="935571"/>
          </a:xfrm>
          <a:prstGeom prst="wedgeRoundRectCallout">
            <a:avLst>
              <a:gd name="adj1" fmla="val -37019"/>
              <a:gd name="adj2" fmla="val -21795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176" tIns="45088" rIns="90176" bIns="4508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With lists, </a:t>
            </a:r>
            <a:r>
              <a:rPr lang="en-US" altLang="zh-TW" sz="3155" dirty="0">
                <a:solidFill>
                  <a:srgbClr val="FF0000"/>
                </a:solidFill>
                <a:latin typeface="Times New Roman" charset="0"/>
              </a:rPr>
              <a:t>pop()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 got the </a:t>
            </a:r>
            <a:r>
              <a:rPr lang="en-US" altLang="zh-TW" sz="3155" b="1" i="1" dirty="0">
                <a:solidFill>
                  <a:srgbClr val="7030A0"/>
                </a:solidFill>
                <a:latin typeface="Times New Roman" charset="0"/>
              </a:rPr>
              <a:t>last element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. </a:t>
            </a:r>
            <a:b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But sets are unordered, so it gets </a:t>
            </a:r>
            <a:r>
              <a:rPr lang="en-US" altLang="zh-TW" sz="3155" b="1" i="1" dirty="0">
                <a:solidFill>
                  <a:srgbClr val="7030A0"/>
                </a:solidFill>
                <a:latin typeface="Times New Roman" charset="0"/>
              </a:rPr>
              <a:t>an arbitrary element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.</a:t>
            </a:r>
            <a:endParaRPr lang="zh-TW" altLang="en-US" sz="3155" dirty="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 flipH="1" flipV="1">
            <a:off x="4864894" y="4686300"/>
            <a:ext cx="1939940" cy="177068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2D2DB9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ounded Rectangular Callout 7"/>
          <p:cNvSpPr/>
          <p:nvPr/>
        </p:nvSpPr>
        <p:spPr bwMode="auto">
          <a:xfrm>
            <a:off x="2502694" y="304800"/>
            <a:ext cx="7162800" cy="3467100"/>
          </a:xfrm>
          <a:prstGeom prst="wedgeRoundRectCallout">
            <a:avLst>
              <a:gd name="adj1" fmla="val 13580"/>
              <a:gd name="adj2" fmla="val 12933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088" rIns="0" bIns="4508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But ‘</a:t>
            </a:r>
            <a:r>
              <a:rPr lang="en-US" altLang="zh-TW" sz="3155" dirty="0">
                <a:solidFill>
                  <a:srgbClr val="7030A0"/>
                </a:solidFill>
                <a:latin typeface="Times New Roman" charset="0"/>
              </a:rPr>
              <a:t>arbitrary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’ (</a:t>
            </a:r>
            <a:r>
              <a:rPr lang="zh-TW" altLang="en-US" sz="2800" dirty="0">
                <a:solidFill>
                  <a:srgbClr val="000000"/>
                </a:solidFill>
                <a:latin typeface="Times New Roman" charset="0"/>
              </a:rPr>
              <a:t>任意的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) doesn’t mean ‘</a:t>
            </a:r>
            <a:r>
              <a:rPr lang="en-US" altLang="zh-TW" sz="3155" dirty="0">
                <a:solidFill>
                  <a:srgbClr val="FF0000"/>
                </a:solidFill>
                <a:latin typeface="Times New Roman" charset="0"/>
              </a:rPr>
              <a:t>random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’ (</a:t>
            </a:r>
            <a:r>
              <a:rPr lang="zh-TW" altLang="en-US" sz="2800" dirty="0">
                <a:solidFill>
                  <a:srgbClr val="000000"/>
                </a:solidFill>
                <a:latin typeface="Times New Roman" charset="0"/>
              </a:rPr>
              <a:t>隨機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). Recall </a:t>
            </a:r>
            <a:r>
              <a:rPr lang="en-US" altLang="zh-TW" sz="3155" dirty="0" smtClean="0">
                <a:solidFill>
                  <a:srgbClr val="000000"/>
                </a:solidFill>
                <a:latin typeface="Times New Roman" charset="0"/>
              </a:rPr>
              <a:t>slide #33, where a student was confused by 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an apparent pattern in the printed order of set elements. </a:t>
            </a:r>
            <a:b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3155" dirty="0">
                <a:solidFill>
                  <a:srgbClr val="FFC000"/>
                </a:solidFill>
                <a:latin typeface="Times New Roman" charset="0"/>
              </a:rPr>
              <a:t>So: you may </a:t>
            </a:r>
            <a:r>
              <a:rPr lang="en-US" altLang="zh-TW" sz="3155" i="1" dirty="0">
                <a:solidFill>
                  <a:srgbClr val="FFC000"/>
                </a:solidFill>
                <a:latin typeface="Times New Roman" charset="0"/>
              </a:rPr>
              <a:t>think</a:t>
            </a:r>
            <a:r>
              <a:rPr lang="en-US" altLang="zh-TW" sz="3155" dirty="0">
                <a:solidFill>
                  <a:srgbClr val="FFC000"/>
                </a:solidFill>
                <a:latin typeface="Times New Roman" charset="0"/>
              </a:rPr>
              <a:t> you see a pattern in the pop order, but you can’t depend on that pattern (</a:t>
            </a:r>
            <a:r>
              <a:rPr lang="zh-TW" altLang="en-US" sz="2800" dirty="0">
                <a:solidFill>
                  <a:srgbClr val="FFC000"/>
                </a:solidFill>
                <a:latin typeface="Times New Roman" charset="0"/>
              </a:rPr>
              <a:t>但是您不能依靠這種順序</a:t>
            </a:r>
            <a:r>
              <a:rPr lang="en-US" altLang="zh-TW" sz="3155" dirty="0">
                <a:solidFill>
                  <a:srgbClr val="FFC000"/>
                </a:solidFill>
                <a:latin typeface="Times New Roman" charset="0"/>
              </a:rPr>
              <a:t>).</a:t>
            </a:r>
            <a:endParaRPr lang="zh-TW" altLang="en-US" sz="3155" dirty="0">
              <a:solidFill>
                <a:srgbClr val="FFC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09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2129"/>
            <a:ext cx="3970039" cy="685374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endParaRPr lang="en-US" altLang="zh-TW" sz="2798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1517" y="2129"/>
            <a:ext cx="3899728" cy="68537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“See? The items </a:t>
            </a:r>
            <a: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br>
              <a:rPr lang="en-US" altLang="zh-TW" sz="2798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spc="-46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798" spc="-9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lang="en-US" altLang="zh-TW" sz="2798" spc="-46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 in t</a:t>
            </a:r>
            <a:r>
              <a:rPr lang="en-US" altLang="zh-TW" sz="2798" spc="-13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t</a:t>
            </a:r>
            <a:r>
              <a:rPr lang="en-US" altLang="zh-TW" sz="2798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created them.”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“Yes.”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“So a student asked me: 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‘How can I add a new </a:t>
            </a:r>
            <a:b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 at the beginning </a:t>
            </a:r>
            <a:b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i="1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the</a:t>
            </a:r>
            <a:r>
              <a:rPr lang="en-US" altLang="zh-TW" sz="222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set? </a:t>
            </a:r>
            <a:r>
              <a:rPr lang="en-US" altLang="zh-TW" sz="2798" i="1" spc="-46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i="1" spc="-74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798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I add 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element, it al</a:t>
            </a:r>
            <a:r>
              <a:rPr lang="en-US" altLang="zh-TW" sz="2798" i="1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i="1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sz="2798" i="1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lang="en-US" altLang="zh-TW" sz="2798" i="1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to t</a:t>
            </a:r>
            <a:r>
              <a:rPr lang="en-US" altLang="zh-TW" sz="2798" i="1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798" i="1" spc="-46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i="1" spc="-9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798" i="1" spc="-463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798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en-US" altLang="zh-TW" sz="2798" spc="-1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’’</a:t>
            </a:r>
          </a:p>
          <a:p>
            <a:pPr marL="169764" indent="-169764">
              <a:lnSpc>
                <a:spcPct val="95000"/>
              </a:lnSpc>
            </a:pP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 see. The question does not make sense because </a:t>
            </a:r>
            <a:r>
              <a:rPr lang="en-US" altLang="zh-TW" sz="2798" spc="-83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r>
              <a:rPr lang="en-US" altLang="zh-TW" sz="2798" spc="-9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798" spc="-56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798" spc="-83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798" spc="-37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2798" spc="-11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798" spc="-83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</a:t>
            </a:r>
            <a:r>
              <a:rPr lang="en-US" altLang="zh-TW" sz="2798" spc="-65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altLang="zh-TW" sz="2798" spc="-83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regardless of whether </a:t>
            </a:r>
            <a:b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in which they print seems </a:t>
            </a:r>
            <a:r>
              <a:rPr lang="en-US" altLang="zh-TW" sz="2798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predictable</a:t>
            </a:r>
            <a:r>
              <a:rPr lang="en-US" altLang="zh-TW" sz="2798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3991180" y="489"/>
            <a:ext cx="5738609" cy="3501287"/>
          </a:xfrm>
          <a:prstGeom prst="rect">
            <a:avLst/>
          </a:prstGeom>
          <a:solidFill>
            <a:srgbClr val="C5E0B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&gt;&gt;&gt; S={1,2,3,4}</a:t>
            </a: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&gt;&gt;&gt; print (S)</a:t>
            </a: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{1, 2, 3, 4}</a:t>
            </a: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&gt;&gt;&gt; S|={5}</a:t>
            </a: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798" dirty="0">
                <a:solidFill>
                  <a:prstClr val="black"/>
                </a:solidFill>
                <a:latin typeface="Lucida Console" panose="020B0609040504020204" pitchFamily="49" charset="0"/>
              </a:rPr>
              <a:t>print </a:t>
            </a:r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(S)</a:t>
            </a:r>
            <a:endParaRPr lang="en-US" altLang="zh-TW" sz="2798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{1, 2, 3, 4, 5}</a:t>
            </a:r>
          </a:p>
          <a:p>
            <a:r>
              <a:rPr lang="en-US" altLang="zh-TW" sz="2798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798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Trapezoid 6"/>
          <p:cNvSpPr/>
          <p:nvPr/>
        </p:nvSpPr>
        <p:spPr bwMode="auto">
          <a:xfrm rot="2700000" flipH="1">
            <a:off x="7351365" y="435836"/>
            <a:ext cx="3125129" cy="783857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Remember</a:t>
            </a:r>
            <a:br>
              <a:rPr kumimoji="1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</a:br>
            <a:r>
              <a:rPr kumimoji="1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this</a:t>
            </a:r>
            <a:r>
              <a:rPr kumimoji="1" lang="en-US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 slide?</a:t>
            </a:r>
            <a:endParaRPr kumimoji="1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621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78594" y="819390"/>
          <a:ext cx="9372600" cy="4522690"/>
        </p:xfrm>
        <a:graphic>
          <a:graphicData uri="http://schemas.openxmlformats.org/drawingml/2006/table">
            <a:tbl>
              <a:tblPr/>
              <a:tblGrid>
                <a:gridCol w="6074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651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set.clear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Removes all elements of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2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set.copy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a shallow copy of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dict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3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4"/>
                        </a:rPr>
                        <a:t>set.isdisjoint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4"/>
                        </a:rPr>
                        <a:t>(set2)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 True if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and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set2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have a null intersection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4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5"/>
                        </a:rPr>
                        <a:t>set.issubset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5"/>
                        </a:rPr>
                        <a:t>(set2)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True if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is a subset of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set2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5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6"/>
                        </a:rPr>
                        <a:t>set.issuperset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6"/>
                        </a:rPr>
                        <a:t>(set2)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483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True if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is a superset of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4282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6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set.pop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995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spc="-9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es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and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an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arbitrary</a:t>
                      </a:r>
                      <a:r>
                        <a:rPr kumimoji="0" lang="en-US" sz="16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70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elemen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t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from</a:t>
                      </a:r>
                      <a:r>
                        <a:rPr kumimoji="0" lang="en-US" sz="1800" b="0" i="0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 </a:t>
                      </a:r>
                      <a:r>
                        <a:rPr kumimoji="0" lang="en-US" sz="2000" b="0" i="1" u="none" strike="noStrike" cap="none" spc="-4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</a:t>
                      </a:r>
                      <a:r>
                        <a:rPr kumimoji="0" lang="en-US" sz="2000" b="0" i="1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;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kern="1200" cap="none" spc="-6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raise error if empty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723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7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set.remove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(</a:t>
                      </a: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elem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53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Removes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elem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from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; raise an error if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elem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is not in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set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4295" y="2"/>
            <a:ext cx="9601200" cy="800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dirty="0">
                <a:solidFill>
                  <a:srgbClr val="0070C0"/>
                </a:solidFill>
              </a:rPr>
              <a:t>Built-in Set Methods: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64294" y="5908828"/>
            <a:ext cx="9601200" cy="935571"/>
          </a:xfrm>
          <a:prstGeom prst="wedgeRoundRectCallout">
            <a:avLst>
              <a:gd name="adj1" fmla="val -37019"/>
              <a:gd name="adj2" fmla="val -21795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176" tIns="45088" rIns="90176" bIns="4508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With lists, </a:t>
            </a:r>
            <a:r>
              <a:rPr lang="en-US" altLang="zh-TW" sz="3155" dirty="0">
                <a:solidFill>
                  <a:srgbClr val="FF0000"/>
                </a:solidFill>
                <a:latin typeface="Times New Roman" charset="0"/>
              </a:rPr>
              <a:t>pop()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 got the </a:t>
            </a:r>
            <a:r>
              <a:rPr lang="en-US" altLang="zh-TW" sz="3155" b="1" i="1" dirty="0">
                <a:solidFill>
                  <a:srgbClr val="7030A0"/>
                </a:solidFill>
                <a:latin typeface="Times New Roman" charset="0"/>
              </a:rPr>
              <a:t>last element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. </a:t>
            </a:r>
            <a:b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But sets are unordered, so it gets </a:t>
            </a:r>
            <a:r>
              <a:rPr lang="en-US" altLang="zh-TW" sz="3155" b="1" i="1" dirty="0">
                <a:solidFill>
                  <a:srgbClr val="7030A0"/>
                </a:solidFill>
                <a:latin typeface="Times New Roman" charset="0"/>
              </a:rPr>
              <a:t>an arbitrary element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.</a:t>
            </a:r>
            <a:endParaRPr lang="zh-TW" altLang="en-US" sz="3155" dirty="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 flipH="1" flipV="1">
            <a:off x="4864894" y="4686300"/>
            <a:ext cx="1939940" cy="177068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2D2DB9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ounded Rectangular Callout 7"/>
          <p:cNvSpPr/>
          <p:nvPr/>
        </p:nvSpPr>
        <p:spPr bwMode="auto">
          <a:xfrm>
            <a:off x="2502694" y="304800"/>
            <a:ext cx="7162800" cy="3467100"/>
          </a:xfrm>
          <a:prstGeom prst="wedgeRoundRectCallout">
            <a:avLst>
              <a:gd name="adj1" fmla="val 13580"/>
              <a:gd name="adj2" fmla="val 12933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088" rIns="0" bIns="4508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But ‘</a:t>
            </a:r>
            <a:r>
              <a:rPr lang="en-US" altLang="zh-TW" sz="3155" dirty="0">
                <a:solidFill>
                  <a:srgbClr val="7030A0"/>
                </a:solidFill>
                <a:latin typeface="Times New Roman" charset="0"/>
              </a:rPr>
              <a:t>arbitrary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’ (</a:t>
            </a:r>
            <a:r>
              <a:rPr lang="zh-TW" altLang="en-US" sz="2800" dirty="0">
                <a:solidFill>
                  <a:srgbClr val="000000"/>
                </a:solidFill>
                <a:latin typeface="Times New Roman" charset="0"/>
              </a:rPr>
              <a:t>任意的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) doesn’t mean ‘</a:t>
            </a:r>
            <a:r>
              <a:rPr lang="en-US" altLang="zh-TW" sz="3155" dirty="0">
                <a:solidFill>
                  <a:srgbClr val="FF0000"/>
                </a:solidFill>
                <a:latin typeface="Times New Roman" charset="0"/>
              </a:rPr>
              <a:t>random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’ (</a:t>
            </a:r>
            <a:r>
              <a:rPr lang="zh-TW" altLang="en-US" sz="2800" dirty="0">
                <a:solidFill>
                  <a:srgbClr val="000000"/>
                </a:solidFill>
                <a:latin typeface="Times New Roman" charset="0"/>
              </a:rPr>
              <a:t>隨機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). Recall </a:t>
            </a:r>
            <a:r>
              <a:rPr lang="en-US" altLang="zh-TW" sz="3155" dirty="0" smtClean="0">
                <a:solidFill>
                  <a:srgbClr val="000000"/>
                </a:solidFill>
                <a:latin typeface="Times New Roman" charset="0"/>
              </a:rPr>
              <a:t>slide #33, where a student was confused by </a:t>
            </a:r>
            <a:r>
              <a:rPr lang="en-US" altLang="zh-TW" sz="3155" dirty="0">
                <a:solidFill>
                  <a:srgbClr val="000000"/>
                </a:solidFill>
                <a:latin typeface="Times New Roman" charset="0"/>
              </a:rPr>
              <a:t>an apparent pattern in the printed order of set elements. </a:t>
            </a:r>
            <a:endParaRPr lang="en-US" altLang="zh-TW" sz="3155" dirty="0" smtClean="0">
              <a:solidFill>
                <a:srgbClr val="000000"/>
              </a:solidFill>
              <a:latin typeface="Times New Roman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155" dirty="0" smtClean="0">
                <a:solidFill>
                  <a:srgbClr val="FF0000"/>
                </a:solidFill>
                <a:latin typeface="Times New Roman" charset="0"/>
              </a:rPr>
              <a:t>So</a:t>
            </a:r>
            <a:r>
              <a:rPr lang="en-US" altLang="zh-TW" sz="3155" dirty="0">
                <a:solidFill>
                  <a:srgbClr val="FF0000"/>
                </a:solidFill>
                <a:latin typeface="Times New Roman" charset="0"/>
              </a:rPr>
              <a:t>: you may </a:t>
            </a:r>
            <a:r>
              <a:rPr lang="en-US" altLang="zh-TW" sz="3155" i="1" dirty="0">
                <a:solidFill>
                  <a:srgbClr val="FF0000"/>
                </a:solidFill>
                <a:latin typeface="Times New Roman" charset="0"/>
              </a:rPr>
              <a:t>think</a:t>
            </a:r>
            <a:r>
              <a:rPr lang="en-US" altLang="zh-TW" sz="3155" dirty="0">
                <a:solidFill>
                  <a:srgbClr val="FF0000"/>
                </a:solidFill>
                <a:latin typeface="Times New Roman" charset="0"/>
              </a:rPr>
              <a:t> you see a pattern in the pop order, but you can’t depend on that pattern (</a:t>
            </a:r>
            <a:r>
              <a:rPr lang="zh-TW" altLang="en-US" sz="2800" dirty="0">
                <a:solidFill>
                  <a:srgbClr val="FF0000"/>
                </a:solidFill>
                <a:latin typeface="Times New Roman" charset="0"/>
              </a:rPr>
              <a:t>但是您不能依靠這種順序</a:t>
            </a:r>
            <a:r>
              <a:rPr lang="en-US" altLang="zh-TW" sz="3155" dirty="0">
                <a:solidFill>
                  <a:srgbClr val="FF0000"/>
                </a:solidFill>
                <a:latin typeface="Times New Roman" charset="0"/>
              </a:rPr>
              <a:t>).</a:t>
            </a:r>
            <a:endParaRPr lang="zh-TW" altLang="en-US" sz="3155" dirty="0">
              <a:solidFill>
                <a:srgbClr val="FF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158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3462909"/>
              </p:ext>
            </p:extLst>
          </p:nvPr>
        </p:nvGraphicFramePr>
        <p:xfrm>
          <a:off x="178594" y="819390"/>
          <a:ext cx="9372600" cy="6044954"/>
        </p:xfrm>
        <a:graphic>
          <a:graphicData uri="http://schemas.openxmlformats.org/drawingml/2006/table">
            <a:tbl>
              <a:tblPr/>
              <a:tblGrid>
                <a:gridCol w="6074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651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1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dict.clear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2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Removes all elements of dictionary 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dict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2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dict.copy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3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a shallow copy of dictionary 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dict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3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4"/>
                        </a:rPr>
                        <a:t>dict.fromkeys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4"/>
                        </a:rPr>
                        <a:t>(</a:t>
                      </a: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4"/>
                        </a:rPr>
                        <a:t>seq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4"/>
                        </a:rPr>
                        <a:t>, values)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Creates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 new dictionary with keys from 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seq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and values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from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values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4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5"/>
                        </a:rPr>
                        <a:t>dict.get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5"/>
                        </a:rPr>
                        <a:t>(key, default=None)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241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the value for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key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, or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default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if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key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not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found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41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5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6"/>
                        </a:rPr>
                        <a:t>dict.items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6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483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a list of 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dict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's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(key, value) tuple pairs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4282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6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dict.keys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995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list of dictionary 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dict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's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keys</a:t>
                      </a: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723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7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dict.pop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7"/>
                        </a:rPr>
                        <a:t>(key[,d])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53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Remove &amp; return the value for the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key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. If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key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isn’t found but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is given, then return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d</a:t>
                      </a:r>
                      <a:endParaRPr kumimoji="0" lang="en-US" sz="20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036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8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dict.popitem</a:t>
                      </a:r>
                      <a:r>
                        <a:rPr kumimoji="0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484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</a:t>
                      </a:r>
                      <a:r>
                        <a:rPr kumimoji="0" lang="en-US" sz="2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mov</a:t>
                      </a:r>
                      <a:r>
                        <a:rPr kumimoji="0" lang="en-US" sz="20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</a:t>
                      </a:r>
                      <a:r>
                        <a:rPr kumimoji="0" lang="en-US" sz="18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&amp;</a:t>
                      </a:r>
                      <a:r>
                        <a:rPr kumimoji="0" lang="en-US" sz="18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 some </a:t>
                      </a:r>
                      <a:r>
                        <a:rPr kumimoji="0" lang="en-US" sz="2000" b="0" i="0" u="none" strike="noStrike" cap="none" spc="-26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(</a:t>
                      </a:r>
                      <a:r>
                        <a:rPr kumimoji="0" lang="en-US" sz="2000" b="0" i="0" u="none" strike="noStrike" cap="none" spc="-9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ke</a:t>
                      </a:r>
                      <a:r>
                        <a:rPr kumimoji="0" lang="en-US" sz="2000" b="0" i="0" u="none" strike="noStrike" cap="none" spc="-36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y</a:t>
                      </a:r>
                      <a:r>
                        <a:rPr kumimoji="0" lang="en-US" sz="1800" b="0" i="0" u="none" strike="noStrike" cap="none" spc="-26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,</a:t>
                      </a:r>
                      <a:r>
                        <a:rPr kumimoji="0" lang="en-US" sz="16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spc="-9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v</a:t>
                      </a:r>
                      <a:r>
                        <a:rPr kumimoji="0" lang="en-US" sz="2000" b="0" i="0" u="none" strike="noStrike" cap="none" spc="-8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al</a:t>
                      </a:r>
                      <a:r>
                        <a:rPr kumimoji="0" lang="en-US" sz="20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u</a:t>
                      </a:r>
                      <a:r>
                        <a:rPr kumimoji="0" lang="en-US" sz="2000" b="0" i="0" u="none" strike="noStrike" cap="none" spc="-30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</a:t>
                      </a:r>
                      <a:r>
                        <a:rPr kumimoji="0" lang="en-US" sz="20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) pair as a </a:t>
                      </a:r>
                      <a:r>
                        <a:rPr kumimoji="0" lang="en-US" sz="2000" b="0" i="0" u="none" strike="noStrike" cap="none" spc="-17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2</a:t>
                      </a:r>
                      <a:r>
                        <a:rPr kumimoji="0" lang="en-US" sz="20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-tuple; raise error if empty</a:t>
                      </a:r>
                    </a:p>
                  </a:txBody>
                  <a:tcPr marL="11050" marR="1105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14505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9</a:t>
                      </a:r>
                    </a:p>
                  </a:txBody>
                  <a:tcPr marL="0" marR="0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8"/>
                        </a:rPr>
                        <a:t>dict.values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Lucida Sans Unicode" pitchFamily="34" charset="0"/>
                          <a:cs typeface="Lucida Sans Unicode" pitchFamily="34" charset="0"/>
                          <a:hlinkClick r:id="rId8"/>
                        </a:rPr>
                        <a:t>()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11050" marR="1105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3945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Returns list of dictionary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dict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's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values</a:t>
                      </a:r>
                    </a:p>
                  </a:txBody>
                  <a:tcPr marL="11050" marR="1105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4295" y="2"/>
            <a:ext cx="9601200" cy="800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dirty="0">
                <a:solidFill>
                  <a:srgbClr val="0070C0"/>
                </a:solidFill>
              </a:rPr>
              <a:t>Built-in Dictionary Methods: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3218974" y="6370321"/>
            <a:ext cx="4541520" cy="487680"/>
          </a:xfrm>
          <a:prstGeom prst="wedgeRoundRectCallout">
            <a:avLst>
              <a:gd name="adj1" fmla="val -72495"/>
              <a:gd name="adj2" fmla="val -16757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176" tIns="45088" rIns="90176" bIns="4508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155" dirty="0" smtClean="0">
                <a:solidFill>
                  <a:srgbClr val="000000"/>
                </a:solidFill>
                <a:latin typeface="Times New Roman" charset="0"/>
              </a:rPr>
              <a:t>This is similarly</a:t>
            </a:r>
            <a:r>
              <a:rPr lang="en-US" altLang="zh-TW" sz="3155" b="1" i="1" dirty="0" smtClean="0">
                <a:solidFill>
                  <a:srgbClr val="7030A0"/>
                </a:solidFill>
                <a:latin typeface="Times New Roman" charset="0"/>
              </a:rPr>
              <a:t> arbitrary</a:t>
            </a:r>
            <a:r>
              <a:rPr lang="en-US" altLang="zh-TW" sz="3155" dirty="0" smtClean="0">
                <a:solidFill>
                  <a:srgbClr val="000000"/>
                </a:solidFill>
                <a:latin typeface="Times New Roman" charset="0"/>
              </a:rPr>
              <a:t>.</a:t>
            </a:r>
            <a:endParaRPr lang="zh-TW" altLang="en-US" sz="3155" dirty="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32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8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9177</TotalTime>
  <Words>26820</Words>
  <Application>Microsoft Office PowerPoint</Application>
  <PresentationFormat>Custom</PresentationFormat>
  <Paragraphs>2928</Paragraphs>
  <Slides>179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29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179</vt:i4>
      </vt:variant>
    </vt:vector>
  </HeadingPairs>
  <TitlesOfParts>
    <vt:vector size="218" baseType="lpstr">
      <vt:lpstr>MS Gothic</vt:lpstr>
      <vt:lpstr>MS PGothic</vt:lpstr>
      <vt:lpstr>MS PGothic</vt:lpstr>
      <vt:lpstr>NSimSun</vt:lpstr>
      <vt:lpstr>PMingLiU</vt:lpstr>
      <vt:lpstr>PMingLiU</vt:lpstr>
      <vt:lpstr>Agency FB</vt:lpstr>
      <vt:lpstr>Arial</vt:lpstr>
      <vt:lpstr>Arial Narrow</vt:lpstr>
      <vt:lpstr>Bahnschrift</vt:lpstr>
      <vt:lpstr>Bahnschrift Light</vt:lpstr>
      <vt:lpstr>Bookman Old Style</vt:lpstr>
      <vt:lpstr>Brush Script MT</vt:lpstr>
      <vt:lpstr>Calibri</vt:lpstr>
      <vt:lpstr>Calibri Light</vt:lpstr>
      <vt:lpstr>Century Schoolbook</vt:lpstr>
      <vt:lpstr>Consolas</vt:lpstr>
      <vt:lpstr>Courier New</vt:lpstr>
      <vt:lpstr>Elephant</vt:lpstr>
      <vt:lpstr>Lucida Bright</vt:lpstr>
      <vt:lpstr>Lucida Console</vt:lpstr>
      <vt:lpstr>Lucida Fax</vt:lpstr>
      <vt:lpstr>Lucida Sans</vt:lpstr>
      <vt:lpstr>Lucida Sans Typewriter</vt:lpstr>
      <vt:lpstr>Lucida Sans Unicode</vt:lpstr>
      <vt:lpstr>times</vt:lpstr>
      <vt:lpstr>Times New Roman</vt:lpstr>
      <vt:lpstr>Verdana</vt:lpstr>
      <vt:lpstr>Wingdings</vt:lpstr>
      <vt:lpstr>4_Office Theme</vt:lpstr>
      <vt:lpstr>5_Office Theme</vt:lpstr>
      <vt:lpstr>8_Office Theme</vt:lpstr>
      <vt:lpstr>2_Default Design</vt:lpstr>
      <vt:lpstr>3_Default Design</vt:lpstr>
      <vt:lpstr>6_Office Theme</vt:lpstr>
      <vt:lpstr>1_Office Theme</vt:lpstr>
      <vt:lpstr>7_Office Theme</vt:lpstr>
      <vt:lpstr>9_Office Theme</vt:lpstr>
      <vt:lpstr>Office Theme</vt:lpstr>
      <vt:lpstr>Data Types: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Union with |</vt:lpstr>
      <vt:lpstr>Union with |</vt:lpstr>
      <vt:lpstr>Intersection with &amp;</vt:lpstr>
      <vt:lpstr>Remove shared items, with -</vt:lpstr>
      <vt:lpstr>Exclusively in just one set, with ^</vt:lpstr>
      <vt:lpstr>Sets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Types: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</dc:creator>
  <cp:lastModifiedBy>Me</cp:lastModifiedBy>
  <cp:revision>368</cp:revision>
  <dcterms:created xsi:type="dcterms:W3CDTF">2020-02-17T11:23:09Z</dcterms:created>
  <dcterms:modified xsi:type="dcterms:W3CDTF">2021-03-22T17:33:35Z</dcterms:modified>
</cp:coreProperties>
</file>