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  <p:sldMasterId id="2147483696" r:id="rId2"/>
    <p:sldMasterId id="2147483708" r:id="rId3"/>
    <p:sldMasterId id="2147483720" r:id="rId4"/>
    <p:sldMasterId id="2147483780" r:id="rId5"/>
  </p:sldMasterIdLst>
  <p:notesMasterIdLst>
    <p:notesMasterId r:id="rId137"/>
  </p:notesMasterIdLst>
  <p:sldIdLst>
    <p:sldId id="276" r:id="rId6"/>
    <p:sldId id="279" r:id="rId7"/>
    <p:sldId id="715" r:id="rId8"/>
    <p:sldId id="672" r:id="rId9"/>
    <p:sldId id="671" r:id="rId10"/>
    <p:sldId id="280" r:id="rId11"/>
    <p:sldId id="627" r:id="rId12"/>
    <p:sldId id="716" r:id="rId13"/>
    <p:sldId id="665" r:id="rId14"/>
    <p:sldId id="667" r:id="rId15"/>
    <p:sldId id="511" r:id="rId16"/>
    <p:sldId id="517" r:id="rId17"/>
    <p:sldId id="708" r:id="rId18"/>
    <p:sldId id="675" r:id="rId19"/>
    <p:sldId id="709" r:id="rId20"/>
    <p:sldId id="725" r:id="rId21"/>
    <p:sldId id="626" r:id="rId22"/>
    <p:sldId id="710" r:id="rId23"/>
    <p:sldId id="717" r:id="rId24"/>
    <p:sldId id="711" r:id="rId25"/>
    <p:sldId id="639" r:id="rId26"/>
    <p:sldId id="712" r:id="rId27"/>
    <p:sldId id="642" r:id="rId28"/>
    <p:sldId id="723" r:id="rId29"/>
    <p:sldId id="724" r:id="rId30"/>
    <p:sldId id="526" r:id="rId31"/>
    <p:sldId id="308" r:id="rId32"/>
    <p:sldId id="309" r:id="rId33"/>
    <p:sldId id="648" r:id="rId34"/>
    <p:sldId id="539" r:id="rId35"/>
    <p:sldId id="718" r:id="rId36"/>
    <p:sldId id="542" r:id="rId37"/>
    <p:sldId id="719" r:id="rId38"/>
    <p:sldId id="543" r:id="rId39"/>
    <p:sldId id="720" r:id="rId40"/>
    <p:sldId id="316" r:id="rId41"/>
    <p:sldId id="721" r:id="rId42"/>
    <p:sldId id="644" r:id="rId43"/>
    <p:sldId id="722" r:id="rId44"/>
    <p:sldId id="545" r:id="rId45"/>
    <p:sldId id="646" r:id="rId46"/>
    <p:sldId id="645" r:id="rId47"/>
    <p:sldId id="647" r:id="rId48"/>
    <p:sldId id="550" r:id="rId49"/>
    <p:sldId id="552" r:id="rId50"/>
    <p:sldId id="676" r:id="rId51"/>
    <p:sldId id="678" r:id="rId52"/>
    <p:sldId id="677" r:id="rId53"/>
    <p:sldId id="328" r:id="rId54"/>
    <p:sldId id="551" r:id="rId55"/>
    <p:sldId id="687" r:id="rId56"/>
    <p:sldId id="688" r:id="rId57"/>
    <p:sldId id="689" r:id="rId58"/>
    <p:sldId id="690" r:id="rId59"/>
    <p:sldId id="691" r:id="rId60"/>
    <p:sldId id="692" r:id="rId61"/>
    <p:sldId id="693" r:id="rId62"/>
    <p:sldId id="331" r:id="rId63"/>
    <p:sldId id="332" r:id="rId64"/>
    <p:sldId id="333" r:id="rId65"/>
    <p:sldId id="714" r:id="rId66"/>
    <p:sldId id="334" r:id="rId67"/>
    <p:sldId id="335" r:id="rId68"/>
    <p:sldId id="336" r:id="rId69"/>
    <p:sldId id="337" r:id="rId70"/>
    <p:sldId id="338" r:id="rId71"/>
    <p:sldId id="685" r:id="rId72"/>
    <p:sldId id="681" r:id="rId73"/>
    <p:sldId id="682" r:id="rId74"/>
    <p:sldId id="683" r:id="rId75"/>
    <p:sldId id="343" r:id="rId76"/>
    <p:sldId id="555" r:id="rId77"/>
    <p:sldId id="345" r:id="rId78"/>
    <p:sldId id="346" r:id="rId79"/>
    <p:sldId id="556" r:id="rId80"/>
    <p:sldId id="557" r:id="rId81"/>
    <p:sldId id="558" r:id="rId82"/>
    <p:sldId id="560" r:id="rId83"/>
    <p:sldId id="347" r:id="rId84"/>
    <p:sldId id="654" r:id="rId85"/>
    <p:sldId id="669" r:id="rId86"/>
    <p:sldId id="655" r:id="rId87"/>
    <p:sldId id="656" r:id="rId88"/>
    <p:sldId id="657" r:id="rId89"/>
    <p:sldId id="659" r:id="rId90"/>
    <p:sldId id="660" r:id="rId91"/>
    <p:sldId id="662" r:id="rId92"/>
    <p:sldId id="670" r:id="rId93"/>
    <p:sldId id="663" r:id="rId94"/>
    <p:sldId id="664" r:id="rId95"/>
    <p:sldId id="349" r:id="rId96"/>
    <p:sldId id="609" r:id="rId97"/>
    <p:sldId id="351" r:id="rId98"/>
    <p:sldId id="352" r:id="rId99"/>
    <p:sldId id="353" r:id="rId100"/>
    <p:sldId id="354" r:id="rId101"/>
    <p:sldId id="355" r:id="rId102"/>
    <p:sldId id="356" r:id="rId103"/>
    <p:sldId id="357" r:id="rId104"/>
    <p:sldId id="358" r:id="rId105"/>
    <p:sldId id="359" r:id="rId106"/>
    <p:sldId id="579" r:id="rId107"/>
    <p:sldId id="584" r:id="rId108"/>
    <p:sldId id="581" r:id="rId109"/>
    <p:sldId id="585" r:id="rId110"/>
    <p:sldId id="586" r:id="rId111"/>
    <p:sldId id="611" r:id="rId112"/>
    <p:sldId id="613" r:id="rId113"/>
    <p:sldId id="734" r:id="rId114"/>
    <p:sldId id="735" r:id="rId115"/>
    <p:sldId id="736" r:id="rId116"/>
    <p:sldId id="737" r:id="rId117"/>
    <p:sldId id="738" r:id="rId118"/>
    <p:sldId id="739" r:id="rId119"/>
    <p:sldId id="740" r:id="rId120"/>
    <p:sldId id="741" r:id="rId121"/>
    <p:sldId id="742" r:id="rId122"/>
    <p:sldId id="743" r:id="rId123"/>
    <p:sldId id="744" r:id="rId124"/>
    <p:sldId id="745" r:id="rId125"/>
    <p:sldId id="746" r:id="rId126"/>
    <p:sldId id="747" r:id="rId127"/>
    <p:sldId id="615" r:id="rId128"/>
    <p:sldId id="726" r:id="rId129"/>
    <p:sldId id="727" r:id="rId130"/>
    <p:sldId id="729" r:id="rId131"/>
    <p:sldId id="733" r:id="rId132"/>
    <p:sldId id="730" r:id="rId133"/>
    <p:sldId id="731" r:id="rId134"/>
    <p:sldId id="728" r:id="rId135"/>
    <p:sldId id="732" r:id="rId136"/>
  </p:sldIdLst>
  <p:sldSz cx="9729788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D2DB9"/>
    <a:srgbClr val="F3F9FA"/>
    <a:srgbClr val="E7F3F4"/>
    <a:srgbClr val="0070C0"/>
    <a:srgbClr val="ED7D31"/>
    <a:srgbClr val="5B9BD5"/>
    <a:srgbClr val="BFBFBF"/>
    <a:srgbClr val="FF3300"/>
    <a:srgbClr val="B2B2B2"/>
    <a:srgbClr val="00B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103" autoAdjust="0"/>
  </p:normalViewPr>
  <p:slideViewPr>
    <p:cSldViewPr>
      <p:cViewPr>
        <p:scale>
          <a:sx n="63" d="100"/>
          <a:sy n="63" d="100"/>
        </p:scale>
        <p:origin x="1200" y="-3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2.xml"/><Relationship Id="rId21" Type="http://schemas.openxmlformats.org/officeDocument/2006/relationships/slide" Target="slides/slide16.xml"/><Relationship Id="rId42" Type="http://schemas.openxmlformats.org/officeDocument/2006/relationships/slide" Target="slides/slide37.xml"/><Relationship Id="rId63" Type="http://schemas.openxmlformats.org/officeDocument/2006/relationships/slide" Target="slides/slide58.xml"/><Relationship Id="rId84" Type="http://schemas.openxmlformats.org/officeDocument/2006/relationships/slide" Target="slides/slide79.xml"/><Relationship Id="rId138" Type="http://schemas.openxmlformats.org/officeDocument/2006/relationships/presProps" Target="presProps.xml"/><Relationship Id="rId107" Type="http://schemas.openxmlformats.org/officeDocument/2006/relationships/slide" Target="slides/slide102.xml"/><Relationship Id="rId11" Type="http://schemas.openxmlformats.org/officeDocument/2006/relationships/slide" Target="slides/slide6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53" Type="http://schemas.openxmlformats.org/officeDocument/2006/relationships/slide" Target="slides/slide48.xml"/><Relationship Id="rId58" Type="http://schemas.openxmlformats.org/officeDocument/2006/relationships/slide" Target="slides/slide53.xml"/><Relationship Id="rId74" Type="http://schemas.openxmlformats.org/officeDocument/2006/relationships/slide" Target="slides/slide69.xml"/><Relationship Id="rId79" Type="http://schemas.openxmlformats.org/officeDocument/2006/relationships/slide" Target="slides/slide74.xml"/><Relationship Id="rId102" Type="http://schemas.openxmlformats.org/officeDocument/2006/relationships/slide" Target="slides/slide97.xml"/><Relationship Id="rId123" Type="http://schemas.openxmlformats.org/officeDocument/2006/relationships/slide" Target="slides/slide118.xml"/><Relationship Id="rId128" Type="http://schemas.openxmlformats.org/officeDocument/2006/relationships/slide" Target="slides/slide123.xml"/><Relationship Id="rId5" Type="http://schemas.openxmlformats.org/officeDocument/2006/relationships/slideMaster" Target="slideMasters/slideMaster5.xml"/><Relationship Id="rId90" Type="http://schemas.openxmlformats.org/officeDocument/2006/relationships/slide" Target="slides/slide85.xml"/><Relationship Id="rId95" Type="http://schemas.openxmlformats.org/officeDocument/2006/relationships/slide" Target="slides/slide90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64" Type="http://schemas.openxmlformats.org/officeDocument/2006/relationships/slide" Target="slides/slide59.xml"/><Relationship Id="rId69" Type="http://schemas.openxmlformats.org/officeDocument/2006/relationships/slide" Target="slides/slide64.xml"/><Relationship Id="rId113" Type="http://schemas.openxmlformats.org/officeDocument/2006/relationships/slide" Target="slides/slide108.xml"/><Relationship Id="rId118" Type="http://schemas.openxmlformats.org/officeDocument/2006/relationships/slide" Target="slides/slide113.xml"/><Relationship Id="rId134" Type="http://schemas.openxmlformats.org/officeDocument/2006/relationships/slide" Target="slides/slide129.xml"/><Relationship Id="rId139" Type="http://schemas.openxmlformats.org/officeDocument/2006/relationships/viewProps" Target="viewProps.xml"/><Relationship Id="rId80" Type="http://schemas.openxmlformats.org/officeDocument/2006/relationships/slide" Target="slides/slide75.xml"/><Relationship Id="rId85" Type="http://schemas.openxmlformats.org/officeDocument/2006/relationships/slide" Target="slides/slide80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59" Type="http://schemas.openxmlformats.org/officeDocument/2006/relationships/slide" Target="slides/slide54.xml"/><Relationship Id="rId103" Type="http://schemas.openxmlformats.org/officeDocument/2006/relationships/slide" Target="slides/slide98.xml"/><Relationship Id="rId108" Type="http://schemas.openxmlformats.org/officeDocument/2006/relationships/slide" Target="slides/slide103.xml"/><Relationship Id="rId124" Type="http://schemas.openxmlformats.org/officeDocument/2006/relationships/slide" Target="slides/slide119.xml"/><Relationship Id="rId129" Type="http://schemas.openxmlformats.org/officeDocument/2006/relationships/slide" Target="slides/slide124.xml"/><Relationship Id="rId54" Type="http://schemas.openxmlformats.org/officeDocument/2006/relationships/slide" Target="slides/slide49.xml"/><Relationship Id="rId70" Type="http://schemas.openxmlformats.org/officeDocument/2006/relationships/slide" Target="slides/slide65.xml"/><Relationship Id="rId75" Type="http://schemas.openxmlformats.org/officeDocument/2006/relationships/slide" Target="slides/slide70.xml"/><Relationship Id="rId91" Type="http://schemas.openxmlformats.org/officeDocument/2006/relationships/slide" Target="slides/slide86.xml"/><Relationship Id="rId96" Type="http://schemas.openxmlformats.org/officeDocument/2006/relationships/slide" Target="slides/slide91.xml"/><Relationship Id="rId14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49" Type="http://schemas.openxmlformats.org/officeDocument/2006/relationships/slide" Target="slides/slide44.xml"/><Relationship Id="rId114" Type="http://schemas.openxmlformats.org/officeDocument/2006/relationships/slide" Target="slides/slide109.xml"/><Relationship Id="rId119" Type="http://schemas.openxmlformats.org/officeDocument/2006/relationships/slide" Target="slides/slide114.xml"/><Relationship Id="rId44" Type="http://schemas.openxmlformats.org/officeDocument/2006/relationships/slide" Target="slides/slide39.xml"/><Relationship Id="rId60" Type="http://schemas.openxmlformats.org/officeDocument/2006/relationships/slide" Target="slides/slide55.xml"/><Relationship Id="rId65" Type="http://schemas.openxmlformats.org/officeDocument/2006/relationships/slide" Target="slides/slide60.xml"/><Relationship Id="rId81" Type="http://schemas.openxmlformats.org/officeDocument/2006/relationships/slide" Target="slides/slide76.xml"/><Relationship Id="rId86" Type="http://schemas.openxmlformats.org/officeDocument/2006/relationships/slide" Target="slides/slide81.xml"/><Relationship Id="rId130" Type="http://schemas.openxmlformats.org/officeDocument/2006/relationships/slide" Target="slides/slide125.xml"/><Relationship Id="rId135" Type="http://schemas.openxmlformats.org/officeDocument/2006/relationships/slide" Target="slides/slide130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9" Type="http://schemas.openxmlformats.org/officeDocument/2006/relationships/slide" Target="slides/slide34.xml"/><Relationship Id="rId109" Type="http://schemas.openxmlformats.org/officeDocument/2006/relationships/slide" Target="slides/slide104.xml"/><Relationship Id="rId34" Type="http://schemas.openxmlformats.org/officeDocument/2006/relationships/slide" Target="slides/slide29.xml"/><Relationship Id="rId50" Type="http://schemas.openxmlformats.org/officeDocument/2006/relationships/slide" Target="slides/slide45.xml"/><Relationship Id="rId55" Type="http://schemas.openxmlformats.org/officeDocument/2006/relationships/slide" Target="slides/slide50.xml"/><Relationship Id="rId76" Type="http://schemas.openxmlformats.org/officeDocument/2006/relationships/slide" Target="slides/slide71.xml"/><Relationship Id="rId97" Type="http://schemas.openxmlformats.org/officeDocument/2006/relationships/slide" Target="slides/slide92.xml"/><Relationship Id="rId104" Type="http://schemas.openxmlformats.org/officeDocument/2006/relationships/slide" Target="slides/slide99.xml"/><Relationship Id="rId120" Type="http://schemas.openxmlformats.org/officeDocument/2006/relationships/slide" Target="slides/slide115.xml"/><Relationship Id="rId125" Type="http://schemas.openxmlformats.org/officeDocument/2006/relationships/slide" Target="slides/slide120.xml"/><Relationship Id="rId141" Type="http://schemas.openxmlformats.org/officeDocument/2006/relationships/tableStyles" Target="tableStyles.xml"/><Relationship Id="rId7" Type="http://schemas.openxmlformats.org/officeDocument/2006/relationships/slide" Target="slides/slide2.xml"/><Relationship Id="rId71" Type="http://schemas.openxmlformats.org/officeDocument/2006/relationships/slide" Target="slides/slide66.xml"/><Relationship Id="rId92" Type="http://schemas.openxmlformats.org/officeDocument/2006/relationships/slide" Target="slides/slide87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4.xml"/><Relationship Id="rId24" Type="http://schemas.openxmlformats.org/officeDocument/2006/relationships/slide" Target="slides/slide19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66" Type="http://schemas.openxmlformats.org/officeDocument/2006/relationships/slide" Target="slides/slide61.xml"/><Relationship Id="rId87" Type="http://schemas.openxmlformats.org/officeDocument/2006/relationships/slide" Target="slides/slide82.xml"/><Relationship Id="rId110" Type="http://schemas.openxmlformats.org/officeDocument/2006/relationships/slide" Target="slides/slide105.xml"/><Relationship Id="rId115" Type="http://schemas.openxmlformats.org/officeDocument/2006/relationships/slide" Target="slides/slide110.xml"/><Relationship Id="rId131" Type="http://schemas.openxmlformats.org/officeDocument/2006/relationships/slide" Target="slides/slide126.xml"/><Relationship Id="rId136" Type="http://schemas.openxmlformats.org/officeDocument/2006/relationships/slide" Target="slides/slide131.xml"/><Relationship Id="rId61" Type="http://schemas.openxmlformats.org/officeDocument/2006/relationships/slide" Target="slides/slide56.xml"/><Relationship Id="rId82" Type="http://schemas.openxmlformats.org/officeDocument/2006/relationships/slide" Target="slides/slide77.xml"/><Relationship Id="rId19" Type="http://schemas.openxmlformats.org/officeDocument/2006/relationships/slide" Target="slides/slide14.xml"/><Relationship Id="rId14" Type="http://schemas.openxmlformats.org/officeDocument/2006/relationships/slide" Target="slides/slide9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56" Type="http://schemas.openxmlformats.org/officeDocument/2006/relationships/slide" Target="slides/slide51.xml"/><Relationship Id="rId77" Type="http://schemas.openxmlformats.org/officeDocument/2006/relationships/slide" Target="slides/slide72.xml"/><Relationship Id="rId100" Type="http://schemas.openxmlformats.org/officeDocument/2006/relationships/slide" Target="slides/slide95.xml"/><Relationship Id="rId105" Type="http://schemas.openxmlformats.org/officeDocument/2006/relationships/slide" Target="slides/slide100.xml"/><Relationship Id="rId126" Type="http://schemas.openxmlformats.org/officeDocument/2006/relationships/slide" Target="slides/slide121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72" Type="http://schemas.openxmlformats.org/officeDocument/2006/relationships/slide" Target="slides/slide67.xml"/><Relationship Id="rId93" Type="http://schemas.openxmlformats.org/officeDocument/2006/relationships/slide" Target="slides/slide88.xml"/><Relationship Id="rId98" Type="http://schemas.openxmlformats.org/officeDocument/2006/relationships/slide" Target="slides/slide93.xml"/><Relationship Id="rId121" Type="http://schemas.openxmlformats.org/officeDocument/2006/relationships/slide" Target="slides/slide116.xml"/><Relationship Id="rId3" Type="http://schemas.openxmlformats.org/officeDocument/2006/relationships/slideMaster" Target="slideMasters/slideMaster3.xml"/><Relationship Id="rId25" Type="http://schemas.openxmlformats.org/officeDocument/2006/relationships/slide" Target="slides/slide20.xml"/><Relationship Id="rId46" Type="http://schemas.openxmlformats.org/officeDocument/2006/relationships/slide" Target="slides/slide41.xml"/><Relationship Id="rId67" Type="http://schemas.openxmlformats.org/officeDocument/2006/relationships/slide" Target="slides/slide62.xml"/><Relationship Id="rId116" Type="http://schemas.openxmlformats.org/officeDocument/2006/relationships/slide" Target="slides/slide111.xml"/><Relationship Id="rId137" Type="http://schemas.openxmlformats.org/officeDocument/2006/relationships/notesMaster" Target="notesMasters/notesMaster1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62" Type="http://schemas.openxmlformats.org/officeDocument/2006/relationships/slide" Target="slides/slide57.xml"/><Relationship Id="rId83" Type="http://schemas.openxmlformats.org/officeDocument/2006/relationships/slide" Target="slides/slide78.xml"/><Relationship Id="rId88" Type="http://schemas.openxmlformats.org/officeDocument/2006/relationships/slide" Target="slides/slide83.xml"/><Relationship Id="rId111" Type="http://schemas.openxmlformats.org/officeDocument/2006/relationships/slide" Target="slides/slide106.xml"/><Relationship Id="rId132" Type="http://schemas.openxmlformats.org/officeDocument/2006/relationships/slide" Target="slides/slide127.xml"/><Relationship Id="rId15" Type="http://schemas.openxmlformats.org/officeDocument/2006/relationships/slide" Target="slides/slide10.xml"/><Relationship Id="rId36" Type="http://schemas.openxmlformats.org/officeDocument/2006/relationships/slide" Target="slides/slide31.xml"/><Relationship Id="rId57" Type="http://schemas.openxmlformats.org/officeDocument/2006/relationships/slide" Target="slides/slide52.xml"/><Relationship Id="rId106" Type="http://schemas.openxmlformats.org/officeDocument/2006/relationships/slide" Target="slides/slide101.xml"/><Relationship Id="rId127" Type="http://schemas.openxmlformats.org/officeDocument/2006/relationships/slide" Target="slides/slide122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52" Type="http://schemas.openxmlformats.org/officeDocument/2006/relationships/slide" Target="slides/slide47.xml"/><Relationship Id="rId73" Type="http://schemas.openxmlformats.org/officeDocument/2006/relationships/slide" Target="slides/slide68.xml"/><Relationship Id="rId78" Type="http://schemas.openxmlformats.org/officeDocument/2006/relationships/slide" Target="slides/slide73.xml"/><Relationship Id="rId94" Type="http://schemas.openxmlformats.org/officeDocument/2006/relationships/slide" Target="slides/slide89.xml"/><Relationship Id="rId99" Type="http://schemas.openxmlformats.org/officeDocument/2006/relationships/slide" Target="slides/slide94.xml"/><Relationship Id="rId101" Type="http://schemas.openxmlformats.org/officeDocument/2006/relationships/slide" Target="slides/slide96.xml"/><Relationship Id="rId122" Type="http://schemas.openxmlformats.org/officeDocument/2006/relationships/slide" Target="slides/slide117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47" Type="http://schemas.openxmlformats.org/officeDocument/2006/relationships/slide" Target="slides/slide42.xml"/><Relationship Id="rId68" Type="http://schemas.openxmlformats.org/officeDocument/2006/relationships/slide" Target="slides/slide63.xml"/><Relationship Id="rId89" Type="http://schemas.openxmlformats.org/officeDocument/2006/relationships/slide" Target="slides/slide84.xml"/><Relationship Id="rId112" Type="http://schemas.openxmlformats.org/officeDocument/2006/relationships/slide" Target="slides/slide107.xml"/><Relationship Id="rId133" Type="http://schemas.openxmlformats.org/officeDocument/2006/relationships/slide" Target="slides/slide128.xml"/><Relationship Id="rId16" Type="http://schemas.openxmlformats.org/officeDocument/2006/relationships/slide" Target="slides/slide1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B1D515-082A-498F-B97E-C01F86933917}" type="datetimeFigureOut">
              <a:rPr lang="en-US" smtClean="0"/>
              <a:t>3/2/2021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39838" y="1143000"/>
            <a:ext cx="43783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14C728-3C1E-41FA-9A18-EC48E43261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852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386" name="Rectangle 25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14352F07-876D-47FC-ADEF-DA8BBACCB2DA}" type="slidenum">
              <a:rPr lang="en-GB" altLang="en-US" sz="1200" smtClean="0">
                <a:solidFill>
                  <a:prstClr val="black"/>
                </a:solidFill>
              </a:rPr>
              <a:pPr eaLnBrk="1" hangingPunct="1"/>
              <a:t>110</a:t>
            </a:fld>
            <a:endParaRPr lang="en-GB" altLang="en-US" sz="1200" smtClean="0">
              <a:solidFill>
                <a:prstClr val="black"/>
              </a:solidFill>
            </a:endParaRPr>
          </a:p>
        </p:txBody>
      </p:sp>
      <p:sp>
        <p:nvSpPr>
          <p:cNvPr id="272387" name="Text Box 1"/>
          <p:cNvSpPr txBox="1">
            <a:spLocks noChangeArrowheads="1"/>
          </p:cNvSpPr>
          <p:nvPr/>
        </p:nvSpPr>
        <p:spPr bwMode="auto">
          <a:xfrm>
            <a:off x="1209675" y="693738"/>
            <a:ext cx="4424363" cy="34147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058" tIns="41029" rIns="82058" bIns="41029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272388" name="Rectangle 2"/>
          <p:cNvSpPr>
            <a:spLocks noGrp="1" noChangeArrowheads="1"/>
          </p:cNvSpPr>
          <p:nvPr>
            <p:ph type="body"/>
          </p:nvPr>
        </p:nvSpPr>
        <p:spPr bwMode="auto">
          <a:xfrm>
            <a:off x="685800" y="4341813"/>
            <a:ext cx="5461000" cy="40878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numCol="1" anchor="ctr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9952477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386" name="Rectangle 25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14352F07-876D-47FC-ADEF-DA8BBACCB2DA}" type="slidenum">
              <a:rPr lang="en-GB" altLang="en-US" sz="1200" smtClean="0">
                <a:solidFill>
                  <a:prstClr val="black"/>
                </a:solidFill>
              </a:rPr>
              <a:pPr eaLnBrk="1" hangingPunct="1"/>
              <a:t>111</a:t>
            </a:fld>
            <a:endParaRPr lang="en-GB" altLang="en-US" sz="1200" smtClean="0">
              <a:solidFill>
                <a:prstClr val="black"/>
              </a:solidFill>
            </a:endParaRPr>
          </a:p>
        </p:txBody>
      </p:sp>
      <p:sp>
        <p:nvSpPr>
          <p:cNvPr id="272387" name="Text Box 1"/>
          <p:cNvSpPr txBox="1">
            <a:spLocks noChangeArrowheads="1"/>
          </p:cNvSpPr>
          <p:nvPr/>
        </p:nvSpPr>
        <p:spPr bwMode="auto">
          <a:xfrm>
            <a:off x="1209675" y="693738"/>
            <a:ext cx="4424363" cy="34147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058" tIns="41029" rIns="82058" bIns="41029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272388" name="Rectangle 2"/>
          <p:cNvSpPr>
            <a:spLocks noGrp="1" noChangeArrowheads="1"/>
          </p:cNvSpPr>
          <p:nvPr>
            <p:ph type="body"/>
          </p:nvPr>
        </p:nvSpPr>
        <p:spPr bwMode="auto">
          <a:xfrm>
            <a:off x="685800" y="4341813"/>
            <a:ext cx="5461000" cy="40878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numCol="1" anchor="ctr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7816208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386" name="Rectangle 25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14352F07-876D-47FC-ADEF-DA8BBACCB2DA}" type="slidenum">
              <a:rPr lang="en-GB" altLang="en-US" sz="1200" smtClean="0">
                <a:solidFill>
                  <a:prstClr val="black"/>
                </a:solidFill>
              </a:rPr>
              <a:pPr eaLnBrk="1" hangingPunct="1"/>
              <a:t>112</a:t>
            </a:fld>
            <a:endParaRPr lang="en-GB" altLang="en-US" sz="1200" smtClean="0">
              <a:solidFill>
                <a:prstClr val="black"/>
              </a:solidFill>
            </a:endParaRPr>
          </a:p>
        </p:txBody>
      </p:sp>
      <p:sp>
        <p:nvSpPr>
          <p:cNvPr id="272387" name="Text Box 1"/>
          <p:cNvSpPr txBox="1">
            <a:spLocks noChangeArrowheads="1"/>
          </p:cNvSpPr>
          <p:nvPr/>
        </p:nvSpPr>
        <p:spPr bwMode="auto">
          <a:xfrm>
            <a:off x="1209675" y="693738"/>
            <a:ext cx="4424363" cy="34147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058" tIns="41029" rIns="82058" bIns="41029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272388" name="Rectangle 2"/>
          <p:cNvSpPr>
            <a:spLocks noGrp="1" noChangeArrowheads="1"/>
          </p:cNvSpPr>
          <p:nvPr>
            <p:ph type="body"/>
          </p:nvPr>
        </p:nvSpPr>
        <p:spPr bwMode="auto">
          <a:xfrm>
            <a:off x="685800" y="4341813"/>
            <a:ext cx="5461000" cy="40878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numCol="1" anchor="ctr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690142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386" name="Rectangle 25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14352F07-876D-47FC-ADEF-DA8BBACCB2DA}" type="slidenum">
              <a:rPr lang="en-GB" altLang="en-US" sz="1200" smtClean="0">
                <a:solidFill>
                  <a:prstClr val="black"/>
                </a:solidFill>
              </a:rPr>
              <a:pPr eaLnBrk="1" hangingPunct="1"/>
              <a:t>113</a:t>
            </a:fld>
            <a:endParaRPr lang="en-GB" altLang="en-US" sz="1200" smtClean="0">
              <a:solidFill>
                <a:prstClr val="black"/>
              </a:solidFill>
            </a:endParaRPr>
          </a:p>
        </p:txBody>
      </p:sp>
      <p:sp>
        <p:nvSpPr>
          <p:cNvPr id="272387" name="Text Box 1"/>
          <p:cNvSpPr txBox="1">
            <a:spLocks noChangeArrowheads="1"/>
          </p:cNvSpPr>
          <p:nvPr/>
        </p:nvSpPr>
        <p:spPr bwMode="auto">
          <a:xfrm>
            <a:off x="1209675" y="693738"/>
            <a:ext cx="4424363" cy="34147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058" tIns="41029" rIns="82058" bIns="41029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272388" name="Rectangle 2"/>
          <p:cNvSpPr>
            <a:spLocks noGrp="1" noChangeArrowheads="1"/>
          </p:cNvSpPr>
          <p:nvPr>
            <p:ph type="body"/>
          </p:nvPr>
        </p:nvSpPr>
        <p:spPr bwMode="auto">
          <a:xfrm>
            <a:off x="685800" y="4341813"/>
            <a:ext cx="5461000" cy="40878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numCol="1" anchor="ctr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1548018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386" name="Rectangle 25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14352F07-876D-47FC-ADEF-DA8BBACCB2DA}" type="slidenum">
              <a:rPr lang="en-GB" altLang="en-US" sz="1200" smtClean="0">
                <a:solidFill>
                  <a:prstClr val="black"/>
                </a:solidFill>
              </a:rPr>
              <a:pPr eaLnBrk="1" hangingPunct="1"/>
              <a:t>114</a:t>
            </a:fld>
            <a:endParaRPr lang="en-GB" altLang="en-US" sz="1200" smtClean="0">
              <a:solidFill>
                <a:prstClr val="black"/>
              </a:solidFill>
            </a:endParaRPr>
          </a:p>
        </p:txBody>
      </p:sp>
      <p:sp>
        <p:nvSpPr>
          <p:cNvPr id="272387" name="Text Box 1"/>
          <p:cNvSpPr txBox="1">
            <a:spLocks noChangeArrowheads="1"/>
          </p:cNvSpPr>
          <p:nvPr/>
        </p:nvSpPr>
        <p:spPr bwMode="auto">
          <a:xfrm>
            <a:off x="1209675" y="693738"/>
            <a:ext cx="4424363" cy="34147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058" tIns="41029" rIns="82058" bIns="41029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272388" name="Rectangle 2"/>
          <p:cNvSpPr>
            <a:spLocks noGrp="1" noChangeArrowheads="1"/>
          </p:cNvSpPr>
          <p:nvPr>
            <p:ph type="body"/>
          </p:nvPr>
        </p:nvSpPr>
        <p:spPr bwMode="auto">
          <a:xfrm>
            <a:off x="685800" y="4341813"/>
            <a:ext cx="5461000" cy="40878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numCol="1" anchor="ctr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7052680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386" name="Rectangle 25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14352F07-876D-47FC-ADEF-DA8BBACCB2DA}" type="slidenum">
              <a:rPr lang="en-GB" altLang="en-US" sz="1200" smtClean="0">
                <a:solidFill>
                  <a:prstClr val="black"/>
                </a:solidFill>
              </a:rPr>
              <a:pPr eaLnBrk="1" hangingPunct="1"/>
              <a:t>120</a:t>
            </a:fld>
            <a:endParaRPr lang="en-GB" altLang="en-US" sz="1200" smtClean="0">
              <a:solidFill>
                <a:prstClr val="black"/>
              </a:solidFill>
            </a:endParaRPr>
          </a:p>
        </p:txBody>
      </p:sp>
      <p:sp>
        <p:nvSpPr>
          <p:cNvPr id="272387" name="Text Box 1"/>
          <p:cNvSpPr txBox="1">
            <a:spLocks noChangeArrowheads="1"/>
          </p:cNvSpPr>
          <p:nvPr/>
        </p:nvSpPr>
        <p:spPr bwMode="auto">
          <a:xfrm>
            <a:off x="1209675" y="693738"/>
            <a:ext cx="4424363" cy="34147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058" tIns="41029" rIns="82058" bIns="41029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272388" name="Rectangle 2"/>
          <p:cNvSpPr>
            <a:spLocks noGrp="1" noChangeArrowheads="1"/>
          </p:cNvSpPr>
          <p:nvPr>
            <p:ph type="body"/>
          </p:nvPr>
        </p:nvSpPr>
        <p:spPr bwMode="auto">
          <a:xfrm>
            <a:off x="685800" y="4341813"/>
            <a:ext cx="5461000" cy="40878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numCol="1" anchor="ctr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2647029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16224" y="1122363"/>
            <a:ext cx="7297341" cy="2387600"/>
          </a:xfrm>
        </p:spPr>
        <p:txBody>
          <a:bodyPr anchor="b"/>
          <a:lstStyle>
            <a:lvl1pPr algn="ctr">
              <a:defRPr sz="4789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6224" y="3602038"/>
            <a:ext cx="7297341" cy="1655762"/>
          </a:xfrm>
        </p:spPr>
        <p:txBody>
          <a:bodyPr/>
          <a:lstStyle>
            <a:lvl1pPr marL="0" indent="0" algn="ctr">
              <a:buNone/>
              <a:defRPr sz="1915"/>
            </a:lvl1pPr>
            <a:lvl2pPr marL="364871" indent="0" algn="ctr">
              <a:buNone/>
              <a:defRPr sz="1596"/>
            </a:lvl2pPr>
            <a:lvl3pPr marL="729742" indent="0" algn="ctr">
              <a:buNone/>
              <a:defRPr sz="1436"/>
            </a:lvl3pPr>
            <a:lvl4pPr marL="1094613" indent="0" algn="ctr">
              <a:buNone/>
              <a:defRPr sz="1277"/>
            </a:lvl4pPr>
            <a:lvl5pPr marL="1459484" indent="0" algn="ctr">
              <a:buNone/>
              <a:defRPr sz="1277"/>
            </a:lvl5pPr>
            <a:lvl6pPr marL="1824356" indent="0" algn="ctr">
              <a:buNone/>
              <a:defRPr sz="1277"/>
            </a:lvl6pPr>
            <a:lvl7pPr marL="2189226" indent="0" algn="ctr">
              <a:buNone/>
              <a:defRPr sz="1277"/>
            </a:lvl7pPr>
            <a:lvl8pPr marL="2554097" indent="0" algn="ctr">
              <a:buNone/>
              <a:defRPr sz="1277"/>
            </a:lvl8pPr>
            <a:lvl9pPr marL="2918969" indent="0" algn="ctr">
              <a:buNone/>
              <a:defRPr sz="1277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68924" y="6356352"/>
            <a:ext cx="2189202" cy="365125"/>
          </a:xfrm>
          <a:prstGeom prst="rect">
            <a:avLst/>
          </a:prstGeom>
        </p:spPr>
        <p:txBody>
          <a:bodyPr/>
          <a:lstStyle/>
          <a:p>
            <a:fld id="{375BA7AC-D5B2-4EAB-A1FF-2BEE77A7CE74}" type="datetimeFigureOut">
              <a:rPr lang="en-US">
                <a:solidFill>
                  <a:prstClr val="black"/>
                </a:solidFill>
              </a:rPr>
              <a:pPr/>
              <a:t>3/2/2021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22993" y="6356352"/>
            <a:ext cx="3283803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1663" y="6356352"/>
            <a:ext cx="2189202" cy="365125"/>
          </a:xfrm>
          <a:prstGeom prst="rect">
            <a:avLst/>
          </a:prstGeom>
        </p:spPr>
        <p:txBody>
          <a:bodyPr/>
          <a:lstStyle/>
          <a:p>
            <a:fld id="{D192214B-8AB3-47AC-8DCC-1843CB75F973}" type="slidenum">
              <a:rPr lang="en-US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09410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68924" y="6356352"/>
            <a:ext cx="2189202" cy="365125"/>
          </a:xfrm>
          <a:prstGeom prst="rect">
            <a:avLst/>
          </a:prstGeom>
        </p:spPr>
        <p:txBody>
          <a:bodyPr/>
          <a:lstStyle/>
          <a:p>
            <a:fld id="{375BA7AC-D5B2-4EAB-A1FF-2BEE77A7CE74}" type="datetimeFigureOut">
              <a:rPr lang="en-US">
                <a:solidFill>
                  <a:prstClr val="black"/>
                </a:solidFill>
              </a:rPr>
              <a:pPr/>
              <a:t>3/2/2021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22993" y="6356352"/>
            <a:ext cx="3283803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1663" y="6356352"/>
            <a:ext cx="2189202" cy="365125"/>
          </a:xfrm>
          <a:prstGeom prst="rect">
            <a:avLst/>
          </a:prstGeom>
        </p:spPr>
        <p:txBody>
          <a:bodyPr/>
          <a:lstStyle/>
          <a:p>
            <a:fld id="{D192214B-8AB3-47AC-8DCC-1843CB75F973}" type="slidenum">
              <a:rPr lang="en-US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10121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3856" y="1709740"/>
            <a:ext cx="8391942" cy="2852737"/>
          </a:xfrm>
        </p:spPr>
        <p:txBody>
          <a:bodyPr anchor="b"/>
          <a:lstStyle>
            <a:lvl1pPr>
              <a:defRPr sz="4789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3856" y="4589465"/>
            <a:ext cx="8391942" cy="1500187"/>
          </a:xfrm>
        </p:spPr>
        <p:txBody>
          <a:bodyPr/>
          <a:lstStyle>
            <a:lvl1pPr marL="0" indent="0">
              <a:buNone/>
              <a:defRPr sz="1915">
                <a:solidFill>
                  <a:schemeClr val="tx1">
                    <a:tint val="75000"/>
                  </a:schemeClr>
                </a:solidFill>
              </a:defRPr>
            </a:lvl1pPr>
            <a:lvl2pPr marL="364871" indent="0">
              <a:buNone/>
              <a:defRPr sz="1596">
                <a:solidFill>
                  <a:schemeClr val="tx1">
                    <a:tint val="75000"/>
                  </a:schemeClr>
                </a:solidFill>
              </a:defRPr>
            </a:lvl2pPr>
            <a:lvl3pPr marL="729742" indent="0">
              <a:buNone/>
              <a:defRPr sz="1436">
                <a:solidFill>
                  <a:schemeClr val="tx1">
                    <a:tint val="75000"/>
                  </a:schemeClr>
                </a:solidFill>
              </a:defRPr>
            </a:lvl3pPr>
            <a:lvl4pPr marL="1094613" indent="0">
              <a:buNone/>
              <a:defRPr sz="1277">
                <a:solidFill>
                  <a:schemeClr val="tx1">
                    <a:tint val="75000"/>
                  </a:schemeClr>
                </a:solidFill>
              </a:defRPr>
            </a:lvl4pPr>
            <a:lvl5pPr marL="1459484" indent="0">
              <a:buNone/>
              <a:defRPr sz="1277">
                <a:solidFill>
                  <a:schemeClr val="tx1">
                    <a:tint val="75000"/>
                  </a:schemeClr>
                </a:solidFill>
              </a:defRPr>
            </a:lvl5pPr>
            <a:lvl6pPr marL="1824356" indent="0">
              <a:buNone/>
              <a:defRPr sz="1277">
                <a:solidFill>
                  <a:schemeClr val="tx1">
                    <a:tint val="75000"/>
                  </a:schemeClr>
                </a:solidFill>
              </a:defRPr>
            </a:lvl6pPr>
            <a:lvl7pPr marL="2189226" indent="0">
              <a:buNone/>
              <a:defRPr sz="1277">
                <a:solidFill>
                  <a:schemeClr val="tx1">
                    <a:tint val="75000"/>
                  </a:schemeClr>
                </a:solidFill>
              </a:defRPr>
            </a:lvl7pPr>
            <a:lvl8pPr marL="2554097" indent="0">
              <a:buNone/>
              <a:defRPr sz="1277">
                <a:solidFill>
                  <a:schemeClr val="tx1">
                    <a:tint val="75000"/>
                  </a:schemeClr>
                </a:solidFill>
              </a:defRPr>
            </a:lvl8pPr>
            <a:lvl9pPr marL="2918969" indent="0">
              <a:buNone/>
              <a:defRPr sz="127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68924" y="6356352"/>
            <a:ext cx="2189202" cy="365125"/>
          </a:xfrm>
          <a:prstGeom prst="rect">
            <a:avLst/>
          </a:prstGeom>
        </p:spPr>
        <p:txBody>
          <a:bodyPr/>
          <a:lstStyle/>
          <a:p>
            <a:fld id="{375BA7AC-D5B2-4EAB-A1FF-2BEE77A7CE74}" type="datetimeFigureOut">
              <a:rPr lang="en-US">
                <a:solidFill>
                  <a:prstClr val="black"/>
                </a:solidFill>
              </a:rPr>
              <a:pPr/>
              <a:t>3/2/2021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22993" y="6356352"/>
            <a:ext cx="3283803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1663" y="6356352"/>
            <a:ext cx="2189202" cy="365125"/>
          </a:xfrm>
          <a:prstGeom prst="rect">
            <a:avLst/>
          </a:prstGeom>
        </p:spPr>
        <p:txBody>
          <a:bodyPr/>
          <a:lstStyle/>
          <a:p>
            <a:fld id="{D192214B-8AB3-47AC-8DCC-1843CB75F973}" type="slidenum">
              <a:rPr lang="en-US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4122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68923" y="1825625"/>
            <a:ext cx="413516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25705" y="1825625"/>
            <a:ext cx="413516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68924" y="6356352"/>
            <a:ext cx="2189202" cy="365125"/>
          </a:xfrm>
          <a:prstGeom prst="rect">
            <a:avLst/>
          </a:prstGeom>
        </p:spPr>
        <p:txBody>
          <a:bodyPr/>
          <a:lstStyle/>
          <a:p>
            <a:fld id="{375BA7AC-D5B2-4EAB-A1FF-2BEE77A7CE74}" type="datetimeFigureOut">
              <a:rPr lang="en-US">
                <a:solidFill>
                  <a:prstClr val="black"/>
                </a:solidFill>
              </a:rPr>
              <a:pPr/>
              <a:t>3/2/2021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222993" y="6356352"/>
            <a:ext cx="3283803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871663" y="6356352"/>
            <a:ext cx="2189202" cy="365125"/>
          </a:xfrm>
          <a:prstGeom prst="rect">
            <a:avLst/>
          </a:prstGeom>
        </p:spPr>
        <p:txBody>
          <a:bodyPr/>
          <a:lstStyle/>
          <a:p>
            <a:fld id="{D192214B-8AB3-47AC-8DCC-1843CB75F973}" type="slidenum">
              <a:rPr lang="en-US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34450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0190" y="365127"/>
            <a:ext cx="8391942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0191" y="1681163"/>
            <a:ext cx="4116156" cy="823912"/>
          </a:xfrm>
        </p:spPr>
        <p:txBody>
          <a:bodyPr anchor="b"/>
          <a:lstStyle>
            <a:lvl1pPr marL="0" indent="0">
              <a:buNone/>
              <a:defRPr sz="1915" b="1"/>
            </a:lvl1pPr>
            <a:lvl2pPr marL="364871" indent="0">
              <a:buNone/>
              <a:defRPr sz="1596" b="1"/>
            </a:lvl2pPr>
            <a:lvl3pPr marL="729742" indent="0">
              <a:buNone/>
              <a:defRPr sz="1436" b="1"/>
            </a:lvl3pPr>
            <a:lvl4pPr marL="1094613" indent="0">
              <a:buNone/>
              <a:defRPr sz="1277" b="1"/>
            </a:lvl4pPr>
            <a:lvl5pPr marL="1459484" indent="0">
              <a:buNone/>
              <a:defRPr sz="1277" b="1"/>
            </a:lvl5pPr>
            <a:lvl6pPr marL="1824356" indent="0">
              <a:buNone/>
              <a:defRPr sz="1277" b="1"/>
            </a:lvl6pPr>
            <a:lvl7pPr marL="2189226" indent="0">
              <a:buNone/>
              <a:defRPr sz="1277" b="1"/>
            </a:lvl7pPr>
            <a:lvl8pPr marL="2554097" indent="0">
              <a:buNone/>
              <a:defRPr sz="1277" b="1"/>
            </a:lvl8pPr>
            <a:lvl9pPr marL="2918969" indent="0">
              <a:buNone/>
              <a:defRPr sz="1277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0191" y="2505075"/>
            <a:ext cx="4116156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25705" y="1681163"/>
            <a:ext cx="4136428" cy="823912"/>
          </a:xfrm>
        </p:spPr>
        <p:txBody>
          <a:bodyPr anchor="b"/>
          <a:lstStyle>
            <a:lvl1pPr marL="0" indent="0">
              <a:buNone/>
              <a:defRPr sz="1915" b="1"/>
            </a:lvl1pPr>
            <a:lvl2pPr marL="364871" indent="0">
              <a:buNone/>
              <a:defRPr sz="1596" b="1"/>
            </a:lvl2pPr>
            <a:lvl3pPr marL="729742" indent="0">
              <a:buNone/>
              <a:defRPr sz="1436" b="1"/>
            </a:lvl3pPr>
            <a:lvl4pPr marL="1094613" indent="0">
              <a:buNone/>
              <a:defRPr sz="1277" b="1"/>
            </a:lvl4pPr>
            <a:lvl5pPr marL="1459484" indent="0">
              <a:buNone/>
              <a:defRPr sz="1277" b="1"/>
            </a:lvl5pPr>
            <a:lvl6pPr marL="1824356" indent="0">
              <a:buNone/>
              <a:defRPr sz="1277" b="1"/>
            </a:lvl6pPr>
            <a:lvl7pPr marL="2189226" indent="0">
              <a:buNone/>
              <a:defRPr sz="1277" b="1"/>
            </a:lvl7pPr>
            <a:lvl8pPr marL="2554097" indent="0">
              <a:buNone/>
              <a:defRPr sz="1277" b="1"/>
            </a:lvl8pPr>
            <a:lvl9pPr marL="2918969" indent="0">
              <a:buNone/>
              <a:defRPr sz="1277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25705" y="2505075"/>
            <a:ext cx="413642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68924" y="6356352"/>
            <a:ext cx="2189202" cy="365125"/>
          </a:xfrm>
          <a:prstGeom prst="rect">
            <a:avLst/>
          </a:prstGeom>
        </p:spPr>
        <p:txBody>
          <a:bodyPr/>
          <a:lstStyle/>
          <a:p>
            <a:fld id="{375BA7AC-D5B2-4EAB-A1FF-2BEE77A7CE74}" type="datetimeFigureOut">
              <a:rPr lang="en-US">
                <a:solidFill>
                  <a:prstClr val="black"/>
                </a:solidFill>
              </a:rPr>
              <a:pPr/>
              <a:t>3/2/2021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222993" y="6356352"/>
            <a:ext cx="3283803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871663" y="6356352"/>
            <a:ext cx="2189202" cy="365125"/>
          </a:xfrm>
          <a:prstGeom prst="rect">
            <a:avLst/>
          </a:prstGeom>
        </p:spPr>
        <p:txBody>
          <a:bodyPr/>
          <a:lstStyle/>
          <a:p>
            <a:fld id="{D192214B-8AB3-47AC-8DCC-1843CB75F973}" type="slidenum">
              <a:rPr lang="en-US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83907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68924" y="6356352"/>
            <a:ext cx="2189202" cy="365125"/>
          </a:xfrm>
          <a:prstGeom prst="rect">
            <a:avLst/>
          </a:prstGeom>
        </p:spPr>
        <p:txBody>
          <a:bodyPr/>
          <a:lstStyle/>
          <a:p>
            <a:fld id="{375BA7AC-D5B2-4EAB-A1FF-2BEE77A7CE74}" type="datetimeFigureOut">
              <a:rPr lang="en-US">
                <a:solidFill>
                  <a:prstClr val="black"/>
                </a:solidFill>
              </a:rPr>
              <a:pPr/>
              <a:t>3/2/2021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222993" y="6356352"/>
            <a:ext cx="3283803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871663" y="6356352"/>
            <a:ext cx="2189202" cy="365125"/>
          </a:xfrm>
          <a:prstGeom prst="rect">
            <a:avLst/>
          </a:prstGeom>
        </p:spPr>
        <p:txBody>
          <a:bodyPr/>
          <a:lstStyle/>
          <a:p>
            <a:fld id="{D192214B-8AB3-47AC-8DCC-1843CB75F973}" type="slidenum">
              <a:rPr lang="en-US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72927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68924" y="6356352"/>
            <a:ext cx="2189202" cy="365125"/>
          </a:xfrm>
          <a:prstGeom prst="rect">
            <a:avLst/>
          </a:prstGeom>
        </p:spPr>
        <p:txBody>
          <a:bodyPr/>
          <a:lstStyle/>
          <a:p>
            <a:fld id="{375BA7AC-D5B2-4EAB-A1FF-2BEE77A7CE74}" type="datetimeFigureOut">
              <a:rPr lang="en-US">
                <a:solidFill>
                  <a:prstClr val="black"/>
                </a:solidFill>
              </a:rPr>
              <a:pPr/>
              <a:t>3/2/2021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222993" y="6356352"/>
            <a:ext cx="3283803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871663" y="6356352"/>
            <a:ext cx="2189202" cy="365125"/>
          </a:xfrm>
          <a:prstGeom prst="rect">
            <a:avLst/>
          </a:prstGeom>
        </p:spPr>
        <p:txBody>
          <a:bodyPr/>
          <a:lstStyle/>
          <a:p>
            <a:fld id="{D192214B-8AB3-47AC-8DCC-1843CB75F973}" type="slidenum">
              <a:rPr lang="en-US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81782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0191" y="457200"/>
            <a:ext cx="3138110" cy="1600200"/>
          </a:xfrm>
        </p:spPr>
        <p:txBody>
          <a:bodyPr anchor="b"/>
          <a:lstStyle>
            <a:lvl1pPr>
              <a:defRPr sz="2553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36428" y="987427"/>
            <a:ext cx="4925705" cy="4873625"/>
          </a:xfrm>
        </p:spPr>
        <p:txBody>
          <a:bodyPr/>
          <a:lstStyle>
            <a:lvl1pPr>
              <a:defRPr sz="2553"/>
            </a:lvl1pPr>
            <a:lvl2pPr>
              <a:defRPr sz="2234"/>
            </a:lvl2pPr>
            <a:lvl3pPr>
              <a:defRPr sz="1915"/>
            </a:lvl3pPr>
            <a:lvl4pPr>
              <a:defRPr sz="1596"/>
            </a:lvl4pPr>
            <a:lvl5pPr>
              <a:defRPr sz="1596"/>
            </a:lvl5pPr>
            <a:lvl6pPr>
              <a:defRPr sz="1596"/>
            </a:lvl6pPr>
            <a:lvl7pPr>
              <a:defRPr sz="1596"/>
            </a:lvl7pPr>
            <a:lvl8pPr>
              <a:defRPr sz="1596"/>
            </a:lvl8pPr>
            <a:lvl9pPr>
              <a:defRPr sz="1596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0191" y="2057400"/>
            <a:ext cx="3138110" cy="3811588"/>
          </a:xfrm>
        </p:spPr>
        <p:txBody>
          <a:bodyPr/>
          <a:lstStyle>
            <a:lvl1pPr marL="0" indent="0">
              <a:buNone/>
              <a:defRPr sz="1277"/>
            </a:lvl1pPr>
            <a:lvl2pPr marL="364871" indent="0">
              <a:buNone/>
              <a:defRPr sz="1117"/>
            </a:lvl2pPr>
            <a:lvl3pPr marL="729742" indent="0">
              <a:buNone/>
              <a:defRPr sz="958"/>
            </a:lvl3pPr>
            <a:lvl4pPr marL="1094613" indent="0">
              <a:buNone/>
              <a:defRPr sz="798"/>
            </a:lvl4pPr>
            <a:lvl5pPr marL="1459484" indent="0">
              <a:buNone/>
              <a:defRPr sz="798"/>
            </a:lvl5pPr>
            <a:lvl6pPr marL="1824356" indent="0">
              <a:buNone/>
              <a:defRPr sz="798"/>
            </a:lvl6pPr>
            <a:lvl7pPr marL="2189226" indent="0">
              <a:buNone/>
              <a:defRPr sz="798"/>
            </a:lvl7pPr>
            <a:lvl8pPr marL="2554097" indent="0">
              <a:buNone/>
              <a:defRPr sz="798"/>
            </a:lvl8pPr>
            <a:lvl9pPr marL="2918969" indent="0">
              <a:buNone/>
              <a:defRPr sz="798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68924" y="6356352"/>
            <a:ext cx="2189202" cy="365125"/>
          </a:xfrm>
          <a:prstGeom prst="rect">
            <a:avLst/>
          </a:prstGeom>
        </p:spPr>
        <p:txBody>
          <a:bodyPr/>
          <a:lstStyle/>
          <a:p>
            <a:fld id="{375BA7AC-D5B2-4EAB-A1FF-2BEE77A7CE74}" type="datetimeFigureOut">
              <a:rPr lang="en-US">
                <a:solidFill>
                  <a:prstClr val="black"/>
                </a:solidFill>
              </a:rPr>
              <a:pPr/>
              <a:t>3/2/2021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222993" y="6356352"/>
            <a:ext cx="3283803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871663" y="6356352"/>
            <a:ext cx="2189202" cy="365125"/>
          </a:xfrm>
          <a:prstGeom prst="rect">
            <a:avLst/>
          </a:prstGeom>
        </p:spPr>
        <p:txBody>
          <a:bodyPr/>
          <a:lstStyle/>
          <a:p>
            <a:fld id="{D192214B-8AB3-47AC-8DCC-1843CB75F973}" type="slidenum">
              <a:rPr lang="en-US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68592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0191" y="457200"/>
            <a:ext cx="3138110" cy="1600200"/>
          </a:xfrm>
        </p:spPr>
        <p:txBody>
          <a:bodyPr anchor="b"/>
          <a:lstStyle>
            <a:lvl1pPr>
              <a:defRPr sz="2553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136428" y="987427"/>
            <a:ext cx="4925705" cy="4873625"/>
          </a:xfrm>
        </p:spPr>
        <p:txBody>
          <a:bodyPr/>
          <a:lstStyle>
            <a:lvl1pPr marL="0" indent="0">
              <a:buNone/>
              <a:defRPr sz="2553"/>
            </a:lvl1pPr>
            <a:lvl2pPr marL="364871" indent="0">
              <a:buNone/>
              <a:defRPr sz="2234"/>
            </a:lvl2pPr>
            <a:lvl3pPr marL="729742" indent="0">
              <a:buNone/>
              <a:defRPr sz="1915"/>
            </a:lvl3pPr>
            <a:lvl4pPr marL="1094613" indent="0">
              <a:buNone/>
              <a:defRPr sz="1596"/>
            </a:lvl4pPr>
            <a:lvl5pPr marL="1459484" indent="0">
              <a:buNone/>
              <a:defRPr sz="1596"/>
            </a:lvl5pPr>
            <a:lvl6pPr marL="1824356" indent="0">
              <a:buNone/>
              <a:defRPr sz="1596"/>
            </a:lvl6pPr>
            <a:lvl7pPr marL="2189226" indent="0">
              <a:buNone/>
              <a:defRPr sz="1596"/>
            </a:lvl7pPr>
            <a:lvl8pPr marL="2554097" indent="0">
              <a:buNone/>
              <a:defRPr sz="1596"/>
            </a:lvl8pPr>
            <a:lvl9pPr marL="2918969" indent="0">
              <a:buNone/>
              <a:defRPr sz="1596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0191" y="2057400"/>
            <a:ext cx="3138110" cy="3811588"/>
          </a:xfrm>
        </p:spPr>
        <p:txBody>
          <a:bodyPr/>
          <a:lstStyle>
            <a:lvl1pPr marL="0" indent="0">
              <a:buNone/>
              <a:defRPr sz="1277"/>
            </a:lvl1pPr>
            <a:lvl2pPr marL="364871" indent="0">
              <a:buNone/>
              <a:defRPr sz="1117"/>
            </a:lvl2pPr>
            <a:lvl3pPr marL="729742" indent="0">
              <a:buNone/>
              <a:defRPr sz="958"/>
            </a:lvl3pPr>
            <a:lvl4pPr marL="1094613" indent="0">
              <a:buNone/>
              <a:defRPr sz="798"/>
            </a:lvl4pPr>
            <a:lvl5pPr marL="1459484" indent="0">
              <a:buNone/>
              <a:defRPr sz="798"/>
            </a:lvl5pPr>
            <a:lvl6pPr marL="1824356" indent="0">
              <a:buNone/>
              <a:defRPr sz="798"/>
            </a:lvl6pPr>
            <a:lvl7pPr marL="2189226" indent="0">
              <a:buNone/>
              <a:defRPr sz="798"/>
            </a:lvl7pPr>
            <a:lvl8pPr marL="2554097" indent="0">
              <a:buNone/>
              <a:defRPr sz="798"/>
            </a:lvl8pPr>
            <a:lvl9pPr marL="2918969" indent="0">
              <a:buNone/>
              <a:defRPr sz="798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68924" y="6356352"/>
            <a:ext cx="2189202" cy="365125"/>
          </a:xfrm>
          <a:prstGeom prst="rect">
            <a:avLst/>
          </a:prstGeom>
        </p:spPr>
        <p:txBody>
          <a:bodyPr/>
          <a:lstStyle/>
          <a:p>
            <a:fld id="{375BA7AC-D5B2-4EAB-A1FF-2BEE77A7CE74}" type="datetimeFigureOut">
              <a:rPr lang="en-US">
                <a:solidFill>
                  <a:prstClr val="black"/>
                </a:solidFill>
              </a:rPr>
              <a:pPr/>
              <a:t>3/2/2021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222993" y="6356352"/>
            <a:ext cx="3283803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871663" y="6356352"/>
            <a:ext cx="2189202" cy="365125"/>
          </a:xfrm>
          <a:prstGeom prst="rect">
            <a:avLst/>
          </a:prstGeom>
        </p:spPr>
        <p:txBody>
          <a:bodyPr/>
          <a:lstStyle/>
          <a:p>
            <a:fld id="{D192214B-8AB3-47AC-8DCC-1843CB75F973}" type="slidenum">
              <a:rPr lang="en-US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94785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68924" y="6356352"/>
            <a:ext cx="2189202" cy="365125"/>
          </a:xfrm>
          <a:prstGeom prst="rect">
            <a:avLst/>
          </a:prstGeom>
        </p:spPr>
        <p:txBody>
          <a:bodyPr/>
          <a:lstStyle/>
          <a:p>
            <a:fld id="{375BA7AC-D5B2-4EAB-A1FF-2BEE77A7CE74}" type="datetimeFigureOut">
              <a:rPr lang="en-US">
                <a:solidFill>
                  <a:prstClr val="black"/>
                </a:solidFill>
              </a:rPr>
              <a:pPr/>
              <a:t>3/2/2021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22993" y="6356352"/>
            <a:ext cx="3283803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1663" y="6356352"/>
            <a:ext cx="2189202" cy="365125"/>
          </a:xfrm>
          <a:prstGeom prst="rect">
            <a:avLst/>
          </a:prstGeom>
        </p:spPr>
        <p:txBody>
          <a:bodyPr/>
          <a:lstStyle/>
          <a:p>
            <a:fld id="{D192214B-8AB3-47AC-8DCC-1843CB75F973}" type="slidenum">
              <a:rPr lang="en-US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89549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62879" y="365125"/>
            <a:ext cx="2097986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68923" y="365125"/>
            <a:ext cx="6172334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68924" y="6356352"/>
            <a:ext cx="2189202" cy="365125"/>
          </a:xfrm>
          <a:prstGeom prst="rect">
            <a:avLst/>
          </a:prstGeom>
        </p:spPr>
        <p:txBody>
          <a:bodyPr/>
          <a:lstStyle/>
          <a:p>
            <a:fld id="{375BA7AC-D5B2-4EAB-A1FF-2BEE77A7CE74}" type="datetimeFigureOut">
              <a:rPr lang="en-US">
                <a:solidFill>
                  <a:prstClr val="black"/>
                </a:solidFill>
              </a:rPr>
              <a:pPr/>
              <a:t>3/2/2021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22993" y="6356352"/>
            <a:ext cx="3283803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1663" y="6356352"/>
            <a:ext cx="2189202" cy="365125"/>
          </a:xfrm>
          <a:prstGeom prst="rect">
            <a:avLst/>
          </a:prstGeom>
        </p:spPr>
        <p:txBody>
          <a:bodyPr/>
          <a:lstStyle/>
          <a:p>
            <a:fld id="{D192214B-8AB3-47AC-8DCC-1843CB75F973}" type="slidenum">
              <a:rPr lang="en-US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37260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16224" y="1122363"/>
            <a:ext cx="7297341" cy="2387600"/>
          </a:xfrm>
        </p:spPr>
        <p:txBody>
          <a:bodyPr anchor="b"/>
          <a:lstStyle>
            <a:lvl1pPr algn="ctr">
              <a:defRPr sz="5503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6224" y="3602038"/>
            <a:ext cx="7297341" cy="1655762"/>
          </a:xfrm>
        </p:spPr>
        <p:txBody>
          <a:bodyPr/>
          <a:lstStyle>
            <a:lvl1pPr marL="0" indent="0" algn="ctr">
              <a:buNone/>
              <a:defRPr sz="2201"/>
            </a:lvl1pPr>
            <a:lvl2pPr marL="419344" indent="0" algn="ctr">
              <a:buNone/>
              <a:defRPr sz="1834"/>
            </a:lvl2pPr>
            <a:lvl3pPr marL="838688" indent="0" algn="ctr">
              <a:buNone/>
              <a:defRPr sz="1651"/>
            </a:lvl3pPr>
            <a:lvl4pPr marL="1258032" indent="0" algn="ctr">
              <a:buNone/>
              <a:defRPr sz="1468"/>
            </a:lvl4pPr>
            <a:lvl5pPr marL="1677375" indent="0" algn="ctr">
              <a:buNone/>
              <a:defRPr sz="1468"/>
            </a:lvl5pPr>
            <a:lvl6pPr marL="2096719" indent="0" algn="ctr">
              <a:buNone/>
              <a:defRPr sz="1468"/>
            </a:lvl6pPr>
            <a:lvl7pPr marL="2516063" indent="0" algn="ctr">
              <a:buNone/>
              <a:defRPr sz="1468"/>
            </a:lvl7pPr>
            <a:lvl8pPr marL="2935407" indent="0" algn="ctr">
              <a:buNone/>
              <a:defRPr sz="1468"/>
            </a:lvl8pPr>
            <a:lvl9pPr marL="3354751" indent="0" algn="ctr">
              <a:buNone/>
              <a:defRPr sz="1468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68924" y="6356352"/>
            <a:ext cx="2189202" cy="365125"/>
          </a:xfrm>
          <a:prstGeom prst="rect">
            <a:avLst/>
          </a:prstGeom>
        </p:spPr>
        <p:txBody>
          <a:bodyPr/>
          <a:lstStyle/>
          <a:p>
            <a:fld id="{375BA7AC-D5B2-4EAB-A1FF-2BEE77A7CE74}" type="datetimeFigureOut">
              <a:rPr lang="en-US">
                <a:solidFill>
                  <a:prstClr val="black"/>
                </a:solidFill>
              </a:rPr>
              <a:pPr/>
              <a:t>3/2/2021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22993" y="6356352"/>
            <a:ext cx="3283803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1663" y="6356352"/>
            <a:ext cx="2189202" cy="365125"/>
          </a:xfrm>
          <a:prstGeom prst="rect">
            <a:avLst/>
          </a:prstGeom>
        </p:spPr>
        <p:txBody>
          <a:bodyPr/>
          <a:lstStyle/>
          <a:p>
            <a:fld id="{D192214B-8AB3-47AC-8DCC-1843CB75F973}" type="slidenum">
              <a:rPr lang="en-US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19167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68924" y="6356352"/>
            <a:ext cx="2189202" cy="365125"/>
          </a:xfrm>
          <a:prstGeom prst="rect">
            <a:avLst/>
          </a:prstGeom>
        </p:spPr>
        <p:txBody>
          <a:bodyPr/>
          <a:lstStyle/>
          <a:p>
            <a:fld id="{375BA7AC-D5B2-4EAB-A1FF-2BEE77A7CE74}" type="datetimeFigureOut">
              <a:rPr lang="en-US">
                <a:solidFill>
                  <a:prstClr val="black"/>
                </a:solidFill>
              </a:rPr>
              <a:pPr/>
              <a:t>3/2/2021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22993" y="6356352"/>
            <a:ext cx="3283803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1663" y="6356352"/>
            <a:ext cx="2189202" cy="365125"/>
          </a:xfrm>
          <a:prstGeom prst="rect">
            <a:avLst/>
          </a:prstGeom>
        </p:spPr>
        <p:txBody>
          <a:bodyPr/>
          <a:lstStyle/>
          <a:p>
            <a:fld id="{D192214B-8AB3-47AC-8DCC-1843CB75F973}" type="slidenum">
              <a:rPr lang="en-US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22720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3856" y="1709740"/>
            <a:ext cx="8391942" cy="2852737"/>
          </a:xfrm>
        </p:spPr>
        <p:txBody>
          <a:bodyPr anchor="b"/>
          <a:lstStyle>
            <a:lvl1pPr>
              <a:defRPr sz="5503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3856" y="4589465"/>
            <a:ext cx="8391942" cy="1500187"/>
          </a:xfrm>
        </p:spPr>
        <p:txBody>
          <a:bodyPr/>
          <a:lstStyle>
            <a:lvl1pPr marL="0" indent="0">
              <a:buNone/>
              <a:defRPr sz="2201">
                <a:solidFill>
                  <a:schemeClr val="tx1">
                    <a:tint val="75000"/>
                  </a:schemeClr>
                </a:solidFill>
              </a:defRPr>
            </a:lvl1pPr>
            <a:lvl2pPr marL="419344" indent="0">
              <a:buNone/>
              <a:defRPr sz="1834">
                <a:solidFill>
                  <a:schemeClr val="tx1">
                    <a:tint val="75000"/>
                  </a:schemeClr>
                </a:solidFill>
              </a:defRPr>
            </a:lvl2pPr>
            <a:lvl3pPr marL="838688" indent="0">
              <a:buNone/>
              <a:defRPr sz="1651">
                <a:solidFill>
                  <a:schemeClr val="tx1">
                    <a:tint val="75000"/>
                  </a:schemeClr>
                </a:solidFill>
              </a:defRPr>
            </a:lvl3pPr>
            <a:lvl4pPr marL="1258032" indent="0">
              <a:buNone/>
              <a:defRPr sz="1468">
                <a:solidFill>
                  <a:schemeClr val="tx1">
                    <a:tint val="75000"/>
                  </a:schemeClr>
                </a:solidFill>
              </a:defRPr>
            </a:lvl4pPr>
            <a:lvl5pPr marL="1677375" indent="0">
              <a:buNone/>
              <a:defRPr sz="1468">
                <a:solidFill>
                  <a:schemeClr val="tx1">
                    <a:tint val="75000"/>
                  </a:schemeClr>
                </a:solidFill>
              </a:defRPr>
            </a:lvl5pPr>
            <a:lvl6pPr marL="2096719" indent="0">
              <a:buNone/>
              <a:defRPr sz="1468">
                <a:solidFill>
                  <a:schemeClr val="tx1">
                    <a:tint val="75000"/>
                  </a:schemeClr>
                </a:solidFill>
              </a:defRPr>
            </a:lvl6pPr>
            <a:lvl7pPr marL="2516063" indent="0">
              <a:buNone/>
              <a:defRPr sz="1468">
                <a:solidFill>
                  <a:schemeClr val="tx1">
                    <a:tint val="75000"/>
                  </a:schemeClr>
                </a:solidFill>
              </a:defRPr>
            </a:lvl7pPr>
            <a:lvl8pPr marL="2935407" indent="0">
              <a:buNone/>
              <a:defRPr sz="1468">
                <a:solidFill>
                  <a:schemeClr val="tx1">
                    <a:tint val="75000"/>
                  </a:schemeClr>
                </a:solidFill>
              </a:defRPr>
            </a:lvl8pPr>
            <a:lvl9pPr marL="3354751" indent="0">
              <a:buNone/>
              <a:defRPr sz="146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68924" y="6356352"/>
            <a:ext cx="2189202" cy="365125"/>
          </a:xfrm>
          <a:prstGeom prst="rect">
            <a:avLst/>
          </a:prstGeom>
        </p:spPr>
        <p:txBody>
          <a:bodyPr/>
          <a:lstStyle/>
          <a:p>
            <a:fld id="{375BA7AC-D5B2-4EAB-A1FF-2BEE77A7CE74}" type="datetimeFigureOut">
              <a:rPr lang="en-US">
                <a:solidFill>
                  <a:prstClr val="black"/>
                </a:solidFill>
              </a:rPr>
              <a:pPr/>
              <a:t>3/2/2021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22993" y="6356352"/>
            <a:ext cx="3283803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1663" y="6356352"/>
            <a:ext cx="2189202" cy="365125"/>
          </a:xfrm>
          <a:prstGeom prst="rect">
            <a:avLst/>
          </a:prstGeom>
        </p:spPr>
        <p:txBody>
          <a:bodyPr/>
          <a:lstStyle/>
          <a:p>
            <a:fld id="{D192214B-8AB3-47AC-8DCC-1843CB75F973}" type="slidenum">
              <a:rPr lang="en-US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91798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68923" y="1825625"/>
            <a:ext cx="413516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25705" y="1825625"/>
            <a:ext cx="413516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68924" y="6356352"/>
            <a:ext cx="2189202" cy="365125"/>
          </a:xfrm>
          <a:prstGeom prst="rect">
            <a:avLst/>
          </a:prstGeom>
        </p:spPr>
        <p:txBody>
          <a:bodyPr/>
          <a:lstStyle/>
          <a:p>
            <a:fld id="{375BA7AC-D5B2-4EAB-A1FF-2BEE77A7CE74}" type="datetimeFigureOut">
              <a:rPr lang="en-US">
                <a:solidFill>
                  <a:prstClr val="black"/>
                </a:solidFill>
              </a:rPr>
              <a:pPr/>
              <a:t>3/2/2021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222993" y="6356352"/>
            <a:ext cx="3283803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871663" y="6356352"/>
            <a:ext cx="2189202" cy="365125"/>
          </a:xfrm>
          <a:prstGeom prst="rect">
            <a:avLst/>
          </a:prstGeom>
        </p:spPr>
        <p:txBody>
          <a:bodyPr/>
          <a:lstStyle/>
          <a:p>
            <a:fld id="{D192214B-8AB3-47AC-8DCC-1843CB75F973}" type="slidenum">
              <a:rPr lang="en-US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15131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0190" y="365127"/>
            <a:ext cx="8391942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0191" y="1681163"/>
            <a:ext cx="4116156" cy="823912"/>
          </a:xfrm>
        </p:spPr>
        <p:txBody>
          <a:bodyPr anchor="b"/>
          <a:lstStyle>
            <a:lvl1pPr marL="0" indent="0">
              <a:buNone/>
              <a:defRPr sz="2201" b="1"/>
            </a:lvl1pPr>
            <a:lvl2pPr marL="419344" indent="0">
              <a:buNone/>
              <a:defRPr sz="1834" b="1"/>
            </a:lvl2pPr>
            <a:lvl3pPr marL="838688" indent="0">
              <a:buNone/>
              <a:defRPr sz="1651" b="1"/>
            </a:lvl3pPr>
            <a:lvl4pPr marL="1258032" indent="0">
              <a:buNone/>
              <a:defRPr sz="1468" b="1"/>
            </a:lvl4pPr>
            <a:lvl5pPr marL="1677375" indent="0">
              <a:buNone/>
              <a:defRPr sz="1468" b="1"/>
            </a:lvl5pPr>
            <a:lvl6pPr marL="2096719" indent="0">
              <a:buNone/>
              <a:defRPr sz="1468" b="1"/>
            </a:lvl6pPr>
            <a:lvl7pPr marL="2516063" indent="0">
              <a:buNone/>
              <a:defRPr sz="1468" b="1"/>
            </a:lvl7pPr>
            <a:lvl8pPr marL="2935407" indent="0">
              <a:buNone/>
              <a:defRPr sz="1468" b="1"/>
            </a:lvl8pPr>
            <a:lvl9pPr marL="3354751" indent="0">
              <a:buNone/>
              <a:defRPr sz="146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0191" y="2505075"/>
            <a:ext cx="411615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25705" y="1681163"/>
            <a:ext cx="4136428" cy="823912"/>
          </a:xfrm>
        </p:spPr>
        <p:txBody>
          <a:bodyPr anchor="b"/>
          <a:lstStyle>
            <a:lvl1pPr marL="0" indent="0">
              <a:buNone/>
              <a:defRPr sz="2201" b="1"/>
            </a:lvl1pPr>
            <a:lvl2pPr marL="419344" indent="0">
              <a:buNone/>
              <a:defRPr sz="1834" b="1"/>
            </a:lvl2pPr>
            <a:lvl3pPr marL="838688" indent="0">
              <a:buNone/>
              <a:defRPr sz="1651" b="1"/>
            </a:lvl3pPr>
            <a:lvl4pPr marL="1258032" indent="0">
              <a:buNone/>
              <a:defRPr sz="1468" b="1"/>
            </a:lvl4pPr>
            <a:lvl5pPr marL="1677375" indent="0">
              <a:buNone/>
              <a:defRPr sz="1468" b="1"/>
            </a:lvl5pPr>
            <a:lvl6pPr marL="2096719" indent="0">
              <a:buNone/>
              <a:defRPr sz="1468" b="1"/>
            </a:lvl6pPr>
            <a:lvl7pPr marL="2516063" indent="0">
              <a:buNone/>
              <a:defRPr sz="1468" b="1"/>
            </a:lvl7pPr>
            <a:lvl8pPr marL="2935407" indent="0">
              <a:buNone/>
              <a:defRPr sz="1468" b="1"/>
            </a:lvl8pPr>
            <a:lvl9pPr marL="3354751" indent="0">
              <a:buNone/>
              <a:defRPr sz="146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25705" y="2505075"/>
            <a:ext cx="413642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68924" y="6356352"/>
            <a:ext cx="2189202" cy="365125"/>
          </a:xfrm>
          <a:prstGeom prst="rect">
            <a:avLst/>
          </a:prstGeom>
        </p:spPr>
        <p:txBody>
          <a:bodyPr/>
          <a:lstStyle/>
          <a:p>
            <a:fld id="{375BA7AC-D5B2-4EAB-A1FF-2BEE77A7CE74}" type="datetimeFigureOut">
              <a:rPr lang="en-US">
                <a:solidFill>
                  <a:prstClr val="black"/>
                </a:solidFill>
              </a:rPr>
              <a:pPr/>
              <a:t>3/2/2021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222993" y="6356352"/>
            <a:ext cx="3283803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871663" y="6356352"/>
            <a:ext cx="2189202" cy="365125"/>
          </a:xfrm>
          <a:prstGeom prst="rect">
            <a:avLst/>
          </a:prstGeom>
        </p:spPr>
        <p:txBody>
          <a:bodyPr/>
          <a:lstStyle/>
          <a:p>
            <a:fld id="{D192214B-8AB3-47AC-8DCC-1843CB75F973}" type="slidenum">
              <a:rPr lang="en-US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870300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68924" y="6356352"/>
            <a:ext cx="2189202" cy="365125"/>
          </a:xfrm>
          <a:prstGeom prst="rect">
            <a:avLst/>
          </a:prstGeom>
        </p:spPr>
        <p:txBody>
          <a:bodyPr/>
          <a:lstStyle/>
          <a:p>
            <a:fld id="{375BA7AC-D5B2-4EAB-A1FF-2BEE77A7CE74}" type="datetimeFigureOut">
              <a:rPr lang="en-US">
                <a:solidFill>
                  <a:prstClr val="black"/>
                </a:solidFill>
              </a:rPr>
              <a:pPr/>
              <a:t>3/2/2021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222993" y="6356352"/>
            <a:ext cx="3283803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871663" y="6356352"/>
            <a:ext cx="2189202" cy="365125"/>
          </a:xfrm>
          <a:prstGeom prst="rect">
            <a:avLst/>
          </a:prstGeom>
        </p:spPr>
        <p:txBody>
          <a:bodyPr/>
          <a:lstStyle/>
          <a:p>
            <a:fld id="{D192214B-8AB3-47AC-8DCC-1843CB75F973}" type="slidenum">
              <a:rPr lang="en-US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116088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68924" y="6356352"/>
            <a:ext cx="2189202" cy="365125"/>
          </a:xfrm>
          <a:prstGeom prst="rect">
            <a:avLst/>
          </a:prstGeom>
        </p:spPr>
        <p:txBody>
          <a:bodyPr/>
          <a:lstStyle/>
          <a:p>
            <a:fld id="{375BA7AC-D5B2-4EAB-A1FF-2BEE77A7CE74}" type="datetimeFigureOut">
              <a:rPr lang="en-US">
                <a:solidFill>
                  <a:prstClr val="black"/>
                </a:solidFill>
              </a:rPr>
              <a:pPr/>
              <a:t>3/2/2021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222993" y="6356352"/>
            <a:ext cx="3283803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871663" y="6356352"/>
            <a:ext cx="2189202" cy="365125"/>
          </a:xfrm>
          <a:prstGeom prst="rect">
            <a:avLst/>
          </a:prstGeom>
        </p:spPr>
        <p:txBody>
          <a:bodyPr/>
          <a:lstStyle/>
          <a:p>
            <a:fld id="{D192214B-8AB3-47AC-8DCC-1843CB75F973}" type="slidenum">
              <a:rPr lang="en-US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939553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0191" y="457200"/>
            <a:ext cx="3138110" cy="1600200"/>
          </a:xfrm>
        </p:spPr>
        <p:txBody>
          <a:bodyPr anchor="b"/>
          <a:lstStyle>
            <a:lvl1pPr>
              <a:defRPr sz="293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36428" y="987427"/>
            <a:ext cx="4925705" cy="4873625"/>
          </a:xfrm>
        </p:spPr>
        <p:txBody>
          <a:bodyPr/>
          <a:lstStyle>
            <a:lvl1pPr>
              <a:defRPr sz="2935"/>
            </a:lvl1pPr>
            <a:lvl2pPr>
              <a:defRPr sz="2568"/>
            </a:lvl2pPr>
            <a:lvl3pPr>
              <a:defRPr sz="2201"/>
            </a:lvl3pPr>
            <a:lvl4pPr>
              <a:defRPr sz="1834"/>
            </a:lvl4pPr>
            <a:lvl5pPr>
              <a:defRPr sz="1834"/>
            </a:lvl5pPr>
            <a:lvl6pPr>
              <a:defRPr sz="1834"/>
            </a:lvl6pPr>
            <a:lvl7pPr>
              <a:defRPr sz="1834"/>
            </a:lvl7pPr>
            <a:lvl8pPr>
              <a:defRPr sz="1834"/>
            </a:lvl8pPr>
            <a:lvl9pPr>
              <a:defRPr sz="183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0191" y="2057400"/>
            <a:ext cx="3138110" cy="3811588"/>
          </a:xfrm>
        </p:spPr>
        <p:txBody>
          <a:bodyPr/>
          <a:lstStyle>
            <a:lvl1pPr marL="0" indent="0">
              <a:buNone/>
              <a:defRPr sz="1468"/>
            </a:lvl1pPr>
            <a:lvl2pPr marL="419344" indent="0">
              <a:buNone/>
              <a:defRPr sz="1284"/>
            </a:lvl2pPr>
            <a:lvl3pPr marL="838688" indent="0">
              <a:buNone/>
              <a:defRPr sz="1101"/>
            </a:lvl3pPr>
            <a:lvl4pPr marL="1258032" indent="0">
              <a:buNone/>
              <a:defRPr sz="917"/>
            </a:lvl4pPr>
            <a:lvl5pPr marL="1677375" indent="0">
              <a:buNone/>
              <a:defRPr sz="917"/>
            </a:lvl5pPr>
            <a:lvl6pPr marL="2096719" indent="0">
              <a:buNone/>
              <a:defRPr sz="917"/>
            </a:lvl6pPr>
            <a:lvl7pPr marL="2516063" indent="0">
              <a:buNone/>
              <a:defRPr sz="917"/>
            </a:lvl7pPr>
            <a:lvl8pPr marL="2935407" indent="0">
              <a:buNone/>
              <a:defRPr sz="917"/>
            </a:lvl8pPr>
            <a:lvl9pPr marL="3354751" indent="0">
              <a:buNone/>
              <a:defRPr sz="91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68924" y="6356352"/>
            <a:ext cx="2189202" cy="365125"/>
          </a:xfrm>
          <a:prstGeom prst="rect">
            <a:avLst/>
          </a:prstGeom>
        </p:spPr>
        <p:txBody>
          <a:bodyPr/>
          <a:lstStyle/>
          <a:p>
            <a:fld id="{375BA7AC-D5B2-4EAB-A1FF-2BEE77A7CE74}" type="datetimeFigureOut">
              <a:rPr lang="en-US">
                <a:solidFill>
                  <a:prstClr val="black"/>
                </a:solidFill>
              </a:rPr>
              <a:pPr/>
              <a:t>3/2/2021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222993" y="6356352"/>
            <a:ext cx="3283803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871663" y="6356352"/>
            <a:ext cx="2189202" cy="365125"/>
          </a:xfrm>
          <a:prstGeom prst="rect">
            <a:avLst/>
          </a:prstGeom>
        </p:spPr>
        <p:txBody>
          <a:bodyPr/>
          <a:lstStyle/>
          <a:p>
            <a:fld id="{D192214B-8AB3-47AC-8DCC-1843CB75F973}" type="slidenum">
              <a:rPr lang="en-US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776933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0191" y="457200"/>
            <a:ext cx="3138110" cy="1600200"/>
          </a:xfrm>
        </p:spPr>
        <p:txBody>
          <a:bodyPr anchor="b"/>
          <a:lstStyle>
            <a:lvl1pPr>
              <a:defRPr sz="293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136428" y="987427"/>
            <a:ext cx="4925705" cy="4873625"/>
          </a:xfrm>
        </p:spPr>
        <p:txBody>
          <a:bodyPr/>
          <a:lstStyle>
            <a:lvl1pPr marL="0" indent="0">
              <a:buNone/>
              <a:defRPr sz="2935"/>
            </a:lvl1pPr>
            <a:lvl2pPr marL="419344" indent="0">
              <a:buNone/>
              <a:defRPr sz="2568"/>
            </a:lvl2pPr>
            <a:lvl3pPr marL="838688" indent="0">
              <a:buNone/>
              <a:defRPr sz="2201"/>
            </a:lvl3pPr>
            <a:lvl4pPr marL="1258032" indent="0">
              <a:buNone/>
              <a:defRPr sz="1834"/>
            </a:lvl4pPr>
            <a:lvl5pPr marL="1677375" indent="0">
              <a:buNone/>
              <a:defRPr sz="1834"/>
            </a:lvl5pPr>
            <a:lvl6pPr marL="2096719" indent="0">
              <a:buNone/>
              <a:defRPr sz="1834"/>
            </a:lvl6pPr>
            <a:lvl7pPr marL="2516063" indent="0">
              <a:buNone/>
              <a:defRPr sz="1834"/>
            </a:lvl7pPr>
            <a:lvl8pPr marL="2935407" indent="0">
              <a:buNone/>
              <a:defRPr sz="1834"/>
            </a:lvl8pPr>
            <a:lvl9pPr marL="3354751" indent="0">
              <a:buNone/>
              <a:defRPr sz="1834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0191" y="2057400"/>
            <a:ext cx="3138110" cy="3811588"/>
          </a:xfrm>
        </p:spPr>
        <p:txBody>
          <a:bodyPr/>
          <a:lstStyle>
            <a:lvl1pPr marL="0" indent="0">
              <a:buNone/>
              <a:defRPr sz="1468"/>
            </a:lvl1pPr>
            <a:lvl2pPr marL="419344" indent="0">
              <a:buNone/>
              <a:defRPr sz="1284"/>
            </a:lvl2pPr>
            <a:lvl3pPr marL="838688" indent="0">
              <a:buNone/>
              <a:defRPr sz="1101"/>
            </a:lvl3pPr>
            <a:lvl4pPr marL="1258032" indent="0">
              <a:buNone/>
              <a:defRPr sz="917"/>
            </a:lvl4pPr>
            <a:lvl5pPr marL="1677375" indent="0">
              <a:buNone/>
              <a:defRPr sz="917"/>
            </a:lvl5pPr>
            <a:lvl6pPr marL="2096719" indent="0">
              <a:buNone/>
              <a:defRPr sz="917"/>
            </a:lvl6pPr>
            <a:lvl7pPr marL="2516063" indent="0">
              <a:buNone/>
              <a:defRPr sz="917"/>
            </a:lvl7pPr>
            <a:lvl8pPr marL="2935407" indent="0">
              <a:buNone/>
              <a:defRPr sz="917"/>
            </a:lvl8pPr>
            <a:lvl9pPr marL="3354751" indent="0">
              <a:buNone/>
              <a:defRPr sz="91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68924" y="6356352"/>
            <a:ext cx="2189202" cy="365125"/>
          </a:xfrm>
          <a:prstGeom prst="rect">
            <a:avLst/>
          </a:prstGeom>
        </p:spPr>
        <p:txBody>
          <a:bodyPr/>
          <a:lstStyle/>
          <a:p>
            <a:fld id="{375BA7AC-D5B2-4EAB-A1FF-2BEE77A7CE74}" type="datetimeFigureOut">
              <a:rPr lang="en-US">
                <a:solidFill>
                  <a:prstClr val="black"/>
                </a:solidFill>
              </a:rPr>
              <a:pPr/>
              <a:t>3/2/2021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222993" y="6356352"/>
            <a:ext cx="3283803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871663" y="6356352"/>
            <a:ext cx="2189202" cy="365125"/>
          </a:xfrm>
          <a:prstGeom prst="rect">
            <a:avLst/>
          </a:prstGeom>
        </p:spPr>
        <p:txBody>
          <a:bodyPr/>
          <a:lstStyle/>
          <a:p>
            <a:fld id="{D192214B-8AB3-47AC-8DCC-1843CB75F973}" type="slidenum">
              <a:rPr lang="en-US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763805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68924" y="6356352"/>
            <a:ext cx="2189202" cy="365125"/>
          </a:xfrm>
          <a:prstGeom prst="rect">
            <a:avLst/>
          </a:prstGeom>
        </p:spPr>
        <p:txBody>
          <a:bodyPr/>
          <a:lstStyle/>
          <a:p>
            <a:fld id="{375BA7AC-D5B2-4EAB-A1FF-2BEE77A7CE74}" type="datetimeFigureOut">
              <a:rPr lang="en-US">
                <a:solidFill>
                  <a:prstClr val="black"/>
                </a:solidFill>
              </a:rPr>
              <a:pPr/>
              <a:t>3/2/2021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22993" y="6356352"/>
            <a:ext cx="3283803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1663" y="6356352"/>
            <a:ext cx="2189202" cy="365125"/>
          </a:xfrm>
          <a:prstGeom prst="rect">
            <a:avLst/>
          </a:prstGeom>
        </p:spPr>
        <p:txBody>
          <a:bodyPr/>
          <a:lstStyle/>
          <a:p>
            <a:fld id="{D192214B-8AB3-47AC-8DCC-1843CB75F973}" type="slidenum">
              <a:rPr lang="en-US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83639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62879" y="365125"/>
            <a:ext cx="2097986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68923" y="365125"/>
            <a:ext cx="6172334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68924" y="6356352"/>
            <a:ext cx="2189202" cy="365125"/>
          </a:xfrm>
          <a:prstGeom prst="rect">
            <a:avLst/>
          </a:prstGeom>
        </p:spPr>
        <p:txBody>
          <a:bodyPr/>
          <a:lstStyle/>
          <a:p>
            <a:fld id="{375BA7AC-D5B2-4EAB-A1FF-2BEE77A7CE74}" type="datetimeFigureOut">
              <a:rPr lang="en-US">
                <a:solidFill>
                  <a:prstClr val="black"/>
                </a:solidFill>
              </a:rPr>
              <a:pPr/>
              <a:t>3/2/2021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22993" y="6356352"/>
            <a:ext cx="3283803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1663" y="6356352"/>
            <a:ext cx="2189202" cy="365125"/>
          </a:xfrm>
          <a:prstGeom prst="rect">
            <a:avLst/>
          </a:prstGeom>
        </p:spPr>
        <p:txBody>
          <a:bodyPr/>
          <a:lstStyle/>
          <a:p>
            <a:fld id="{D192214B-8AB3-47AC-8DCC-1843CB75F973}" type="slidenum">
              <a:rPr lang="en-US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030684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16224" y="1122363"/>
            <a:ext cx="7297341" cy="2387600"/>
          </a:xfrm>
        </p:spPr>
        <p:txBody>
          <a:bodyPr anchor="b"/>
          <a:lstStyle>
            <a:lvl1pPr algn="ctr">
              <a:defRPr sz="5503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6224" y="3602038"/>
            <a:ext cx="7297341" cy="1655762"/>
          </a:xfrm>
        </p:spPr>
        <p:txBody>
          <a:bodyPr/>
          <a:lstStyle>
            <a:lvl1pPr marL="0" indent="0" algn="ctr">
              <a:buNone/>
              <a:defRPr sz="2201"/>
            </a:lvl1pPr>
            <a:lvl2pPr marL="419344" indent="0" algn="ctr">
              <a:buNone/>
              <a:defRPr sz="1834"/>
            </a:lvl2pPr>
            <a:lvl3pPr marL="838688" indent="0" algn="ctr">
              <a:buNone/>
              <a:defRPr sz="1651"/>
            </a:lvl3pPr>
            <a:lvl4pPr marL="1258032" indent="0" algn="ctr">
              <a:buNone/>
              <a:defRPr sz="1468"/>
            </a:lvl4pPr>
            <a:lvl5pPr marL="1677375" indent="0" algn="ctr">
              <a:buNone/>
              <a:defRPr sz="1468"/>
            </a:lvl5pPr>
            <a:lvl6pPr marL="2096719" indent="0" algn="ctr">
              <a:buNone/>
              <a:defRPr sz="1468"/>
            </a:lvl6pPr>
            <a:lvl7pPr marL="2516063" indent="0" algn="ctr">
              <a:buNone/>
              <a:defRPr sz="1468"/>
            </a:lvl7pPr>
            <a:lvl8pPr marL="2935407" indent="0" algn="ctr">
              <a:buNone/>
              <a:defRPr sz="1468"/>
            </a:lvl8pPr>
            <a:lvl9pPr marL="3354751" indent="0" algn="ctr">
              <a:buNone/>
              <a:defRPr sz="1468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68924" y="6356352"/>
            <a:ext cx="2189202" cy="365125"/>
          </a:xfrm>
          <a:prstGeom prst="rect">
            <a:avLst/>
          </a:prstGeom>
        </p:spPr>
        <p:txBody>
          <a:bodyPr/>
          <a:lstStyle/>
          <a:p>
            <a:fld id="{375BA7AC-D5B2-4EAB-A1FF-2BEE77A7CE74}" type="datetimeFigureOut">
              <a:rPr lang="en-US">
                <a:solidFill>
                  <a:prstClr val="black"/>
                </a:solidFill>
              </a:rPr>
              <a:pPr/>
              <a:t>3/2/2021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22993" y="6356352"/>
            <a:ext cx="3283803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1663" y="6356352"/>
            <a:ext cx="2189202" cy="365125"/>
          </a:xfrm>
          <a:prstGeom prst="rect">
            <a:avLst/>
          </a:prstGeom>
        </p:spPr>
        <p:txBody>
          <a:bodyPr/>
          <a:lstStyle/>
          <a:p>
            <a:fld id="{D192214B-8AB3-47AC-8DCC-1843CB75F973}" type="slidenum">
              <a:rPr lang="en-US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673120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68924" y="6356352"/>
            <a:ext cx="2189202" cy="365125"/>
          </a:xfrm>
          <a:prstGeom prst="rect">
            <a:avLst/>
          </a:prstGeom>
        </p:spPr>
        <p:txBody>
          <a:bodyPr/>
          <a:lstStyle/>
          <a:p>
            <a:fld id="{375BA7AC-D5B2-4EAB-A1FF-2BEE77A7CE74}" type="datetimeFigureOut">
              <a:rPr lang="en-US">
                <a:solidFill>
                  <a:prstClr val="black"/>
                </a:solidFill>
              </a:rPr>
              <a:pPr/>
              <a:t>3/2/2021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22993" y="6356352"/>
            <a:ext cx="3283803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1663" y="6356352"/>
            <a:ext cx="2189202" cy="365125"/>
          </a:xfrm>
          <a:prstGeom prst="rect">
            <a:avLst/>
          </a:prstGeom>
        </p:spPr>
        <p:txBody>
          <a:bodyPr/>
          <a:lstStyle/>
          <a:p>
            <a:fld id="{D192214B-8AB3-47AC-8DCC-1843CB75F973}" type="slidenum">
              <a:rPr lang="en-US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071127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3856" y="1709740"/>
            <a:ext cx="8391942" cy="2852737"/>
          </a:xfrm>
        </p:spPr>
        <p:txBody>
          <a:bodyPr anchor="b"/>
          <a:lstStyle>
            <a:lvl1pPr>
              <a:defRPr sz="5503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3856" y="4589465"/>
            <a:ext cx="8391942" cy="1500187"/>
          </a:xfrm>
        </p:spPr>
        <p:txBody>
          <a:bodyPr/>
          <a:lstStyle>
            <a:lvl1pPr marL="0" indent="0">
              <a:buNone/>
              <a:defRPr sz="2201">
                <a:solidFill>
                  <a:schemeClr val="tx1">
                    <a:tint val="75000"/>
                  </a:schemeClr>
                </a:solidFill>
              </a:defRPr>
            </a:lvl1pPr>
            <a:lvl2pPr marL="419344" indent="0">
              <a:buNone/>
              <a:defRPr sz="1834">
                <a:solidFill>
                  <a:schemeClr val="tx1">
                    <a:tint val="75000"/>
                  </a:schemeClr>
                </a:solidFill>
              </a:defRPr>
            </a:lvl2pPr>
            <a:lvl3pPr marL="838688" indent="0">
              <a:buNone/>
              <a:defRPr sz="1651">
                <a:solidFill>
                  <a:schemeClr val="tx1">
                    <a:tint val="75000"/>
                  </a:schemeClr>
                </a:solidFill>
              </a:defRPr>
            </a:lvl3pPr>
            <a:lvl4pPr marL="1258032" indent="0">
              <a:buNone/>
              <a:defRPr sz="1468">
                <a:solidFill>
                  <a:schemeClr val="tx1">
                    <a:tint val="75000"/>
                  </a:schemeClr>
                </a:solidFill>
              </a:defRPr>
            </a:lvl4pPr>
            <a:lvl5pPr marL="1677375" indent="0">
              <a:buNone/>
              <a:defRPr sz="1468">
                <a:solidFill>
                  <a:schemeClr val="tx1">
                    <a:tint val="75000"/>
                  </a:schemeClr>
                </a:solidFill>
              </a:defRPr>
            </a:lvl5pPr>
            <a:lvl6pPr marL="2096719" indent="0">
              <a:buNone/>
              <a:defRPr sz="1468">
                <a:solidFill>
                  <a:schemeClr val="tx1">
                    <a:tint val="75000"/>
                  </a:schemeClr>
                </a:solidFill>
              </a:defRPr>
            </a:lvl6pPr>
            <a:lvl7pPr marL="2516063" indent="0">
              <a:buNone/>
              <a:defRPr sz="1468">
                <a:solidFill>
                  <a:schemeClr val="tx1">
                    <a:tint val="75000"/>
                  </a:schemeClr>
                </a:solidFill>
              </a:defRPr>
            </a:lvl7pPr>
            <a:lvl8pPr marL="2935407" indent="0">
              <a:buNone/>
              <a:defRPr sz="1468">
                <a:solidFill>
                  <a:schemeClr val="tx1">
                    <a:tint val="75000"/>
                  </a:schemeClr>
                </a:solidFill>
              </a:defRPr>
            </a:lvl8pPr>
            <a:lvl9pPr marL="3354751" indent="0">
              <a:buNone/>
              <a:defRPr sz="146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68924" y="6356352"/>
            <a:ext cx="2189202" cy="365125"/>
          </a:xfrm>
          <a:prstGeom prst="rect">
            <a:avLst/>
          </a:prstGeom>
        </p:spPr>
        <p:txBody>
          <a:bodyPr/>
          <a:lstStyle/>
          <a:p>
            <a:fld id="{375BA7AC-D5B2-4EAB-A1FF-2BEE77A7CE74}" type="datetimeFigureOut">
              <a:rPr lang="en-US">
                <a:solidFill>
                  <a:prstClr val="black"/>
                </a:solidFill>
              </a:rPr>
              <a:pPr/>
              <a:t>3/2/2021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22993" y="6356352"/>
            <a:ext cx="3283803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1663" y="6356352"/>
            <a:ext cx="2189202" cy="365125"/>
          </a:xfrm>
          <a:prstGeom prst="rect">
            <a:avLst/>
          </a:prstGeom>
        </p:spPr>
        <p:txBody>
          <a:bodyPr/>
          <a:lstStyle/>
          <a:p>
            <a:fld id="{D192214B-8AB3-47AC-8DCC-1843CB75F973}" type="slidenum">
              <a:rPr lang="en-US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104490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68923" y="1825625"/>
            <a:ext cx="413516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25705" y="1825625"/>
            <a:ext cx="413516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68924" y="6356352"/>
            <a:ext cx="2189202" cy="365125"/>
          </a:xfrm>
          <a:prstGeom prst="rect">
            <a:avLst/>
          </a:prstGeom>
        </p:spPr>
        <p:txBody>
          <a:bodyPr/>
          <a:lstStyle/>
          <a:p>
            <a:fld id="{375BA7AC-D5B2-4EAB-A1FF-2BEE77A7CE74}" type="datetimeFigureOut">
              <a:rPr lang="en-US">
                <a:solidFill>
                  <a:prstClr val="black"/>
                </a:solidFill>
              </a:rPr>
              <a:pPr/>
              <a:t>3/2/2021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222993" y="6356352"/>
            <a:ext cx="3283803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871663" y="6356352"/>
            <a:ext cx="2189202" cy="365125"/>
          </a:xfrm>
          <a:prstGeom prst="rect">
            <a:avLst/>
          </a:prstGeom>
        </p:spPr>
        <p:txBody>
          <a:bodyPr/>
          <a:lstStyle/>
          <a:p>
            <a:fld id="{D192214B-8AB3-47AC-8DCC-1843CB75F973}" type="slidenum">
              <a:rPr lang="en-US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170544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0190" y="365127"/>
            <a:ext cx="8391942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0191" y="1681163"/>
            <a:ext cx="4116156" cy="823912"/>
          </a:xfrm>
        </p:spPr>
        <p:txBody>
          <a:bodyPr anchor="b"/>
          <a:lstStyle>
            <a:lvl1pPr marL="0" indent="0">
              <a:buNone/>
              <a:defRPr sz="2201" b="1"/>
            </a:lvl1pPr>
            <a:lvl2pPr marL="419344" indent="0">
              <a:buNone/>
              <a:defRPr sz="1834" b="1"/>
            </a:lvl2pPr>
            <a:lvl3pPr marL="838688" indent="0">
              <a:buNone/>
              <a:defRPr sz="1651" b="1"/>
            </a:lvl3pPr>
            <a:lvl4pPr marL="1258032" indent="0">
              <a:buNone/>
              <a:defRPr sz="1468" b="1"/>
            </a:lvl4pPr>
            <a:lvl5pPr marL="1677375" indent="0">
              <a:buNone/>
              <a:defRPr sz="1468" b="1"/>
            </a:lvl5pPr>
            <a:lvl6pPr marL="2096719" indent="0">
              <a:buNone/>
              <a:defRPr sz="1468" b="1"/>
            </a:lvl6pPr>
            <a:lvl7pPr marL="2516063" indent="0">
              <a:buNone/>
              <a:defRPr sz="1468" b="1"/>
            </a:lvl7pPr>
            <a:lvl8pPr marL="2935407" indent="0">
              <a:buNone/>
              <a:defRPr sz="1468" b="1"/>
            </a:lvl8pPr>
            <a:lvl9pPr marL="3354751" indent="0">
              <a:buNone/>
              <a:defRPr sz="146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0191" y="2505075"/>
            <a:ext cx="411615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25705" y="1681163"/>
            <a:ext cx="4136428" cy="823912"/>
          </a:xfrm>
        </p:spPr>
        <p:txBody>
          <a:bodyPr anchor="b"/>
          <a:lstStyle>
            <a:lvl1pPr marL="0" indent="0">
              <a:buNone/>
              <a:defRPr sz="2201" b="1"/>
            </a:lvl1pPr>
            <a:lvl2pPr marL="419344" indent="0">
              <a:buNone/>
              <a:defRPr sz="1834" b="1"/>
            </a:lvl2pPr>
            <a:lvl3pPr marL="838688" indent="0">
              <a:buNone/>
              <a:defRPr sz="1651" b="1"/>
            </a:lvl3pPr>
            <a:lvl4pPr marL="1258032" indent="0">
              <a:buNone/>
              <a:defRPr sz="1468" b="1"/>
            </a:lvl4pPr>
            <a:lvl5pPr marL="1677375" indent="0">
              <a:buNone/>
              <a:defRPr sz="1468" b="1"/>
            </a:lvl5pPr>
            <a:lvl6pPr marL="2096719" indent="0">
              <a:buNone/>
              <a:defRPr sz="1468" b="1"/>
            </a:lvl6pPr>
            <a:lvl7pPr marL="2516063" indent="0">
              <a:buNone/>
              <a:defRPr sz="1468" b="1"/>
            </a:lvl7pPr>
            <a:lvl8pPr marL="2935407" indent="0">
              <a:buNone/>
              <a:defRPr sz="1468" b="1"/>
            </a:lvl8pPr>
            <a:lvl9pPr marL="3354751" indent="0">
              <a:buNone/>
              <a:defRPr sz="146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25705" y="2505075"/>
            <a:ext cx="413642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68924" y="6356352"/>
            <a:ext cx="2189202" cy="365125"/>
          </a:xfrm>
          <a:prstGeom prst="rect">
            <a:avLst/>
          </a:prstGeom>
        </p:spPr>
        <p:txBody>
          <a:bodyPr/>
          <a:lstStyle/>
          <a:p>
            <a:fld id="{375BA7AC-D5B2-4EAB-A1FF-2BEE77A7CE74}" type="datetimeFigureOut">
              <a:rPr lang="en-US">
                <a:solidFill>
                  <a:prstClr val="black"/>
                </a:solidFill>
              </a:rPr>
              <a:pPr/>
              <a:t>3/2/2021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222993" y="6356352"/>
            <a:ext cx="3283803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871663" y="6356352"/>
            <a:ext cx="2189202" cy="365125"/>
          </a:xfrm>
          <a:prstGeom prst="rect">
            <a:avLst/>
          </a:prstGeom>
        </p:spPr>
        <p:txBody>
          <a:bodyPr/>
          <a:lstStyle/>
          <a:p>
            <a:fld id="{D192214B-8AB3-47AC-8DCC-1843CB75F973}" type="slidenum">
              <a:rPr lang="en-US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967389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68924" y="6356352"/>
            <a:ext cx="2189202" cy="365125"/>
          </a:xfrm>
          <a:prstGeom prst="rect">
            <a:avLst/>
          </a:prstGeom>
        </p:spPr>
        <p:txBody>
          <a:bodyPr/>
          <a:lstStyle/>
          <a:p>
            <a:fld id="{375BA7AC-D5B2-4EAB-A1FF-2BEE77A7CE74}" type="datetimeFigureOut">
              <a:rPr lang="en-US">
                <a:solidFill>
                  <a:prstClr val="black"/>
                </a:solidFill>
              </a:rPr>
              <a:pPr/>
              <a:t>3/2/2021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222993" y="6356352"/>
            <a:ext cx="3283803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871663" y="6356352"/>
            <a:ext cx="2189202" cy="365125"/>
          </a:xfrm>
          <a:prstGeom prst="rect">
            <a:avLst/>
          </a:prstGeom>
        </p:spPr>
        <p:txBody>
          <a:bodyPr/>
          <a:lstStyle/>
          <a:p>
            <a:fld id="{D192214B-8AB3-47AC-8DCC-1843CB75F973}" type="slidenum">
              <a:rPr lang="en-US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75780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68924" y="6356352"/>
            <a:ext cx="2189202" cy="365125"/>
          </a:xfrm>
          <a:prstGeom prst="rect">
            <a:avLst/>
          </a:prstGeom>
        </p:spPr>
        <p:txBody>
          <a:bodyPr/>
          <a:lstStyle/>
          <a:p>
            <a:fld id="{375BA7AC-D5B2-4EAB-A1FF-2BEE77A7CE74}" type="datetimeFigureOut">
              <a:rPr lang="en-US">
                <a:solidFill>
                  <a:prstClr val="black"/>
                </a:solidFill>
              </a:rPr>
              <a:pPr/>
              <a:t>3/2/2021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222993" y="6356352"/>
            <a:ext cx="3283803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871663" y="6356352"/>
            <a:ext cx="2189202" cy="365125"/>
          </a:xfrm>
          <a:prstGeom prst="rect">
            <a:avLst/>
          </a:prstGeom>
        </p:spPr>
        <p:txBody>
          <a:bodyPr/>
          <a:lstStyle/>
          <a:p>
            <a:fld id="{D192214B-8AB3-47AC-8DCC-1843CB75F973}" type="slidenum">
              <a:rPr lang="en-US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130555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0191" y="457200"/>
            <a:ext cx="3138110" cy="1600200"/>
          </a:xfrm>
        </p:spPr>
        <p:txBody>
          <a:bodyPr anchor="b"/>
          <a:lstStyle>
            <a:lvl1pPr>
              <a:defRPr sz="293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36428" y="987427"/>
            <a:ext cx="4925705" cy="4873625"/>
          </a:xfrm>
        </p:spPr>
        <p:txBody>
          <a:bodyPr/>
          <a:lstStyle>
            <a:lvl1pPr>
              <a:defRPr sz="2935"/>
            </a:lvl1pPr>
            <a:lvl2pPr>
              <a:defRPr sz="2568"/>
            </a:lvl2pPr>
            <a:lvl3pPr>
              <a:defRPr sz="2201"/>
            </a:lvl3pPr>
            <a:lvl4pPr>
              <a:defRPr sz="1834"/>
            </a:lvl4pPr>
            <a:lvl5pPr>
              <a:defRPr sz="1834"/>
            </a:lvl5pPr>
            <a:lvl6pPr>
              <a:defRPr sz="1834"/>
            </a:lvl6pPr>
            <a:lvl7pPr>
              <a:defRPr sz="1834"/>
            </a:lvl7pPr>
            <a:lvl8pPr>
              <a:defRPr sz="1834"/>
            </a:lvl8pPr>
            <a:lvl9pPr>
              <a:defRPr sz="183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0191" y="2057400"/>
            <a:ext cx="3138110" cy="3811588"/>
          </a:xfrm>
        </p:spPr>
        <p:txBody>
          <a:bodyPr/>
          <a:lstStyle>
            <a:lvl1pPr marL="0" indent="0">
              <a:buNone/>
              <a:defRPr sz="1468"/>
            </a:lvl1pPr>
            <a:lvl2pPr marL="419344" indent="0">
              <a:buNone/>
              <a:defRPr sz="1284"/>
            </a:lvl2pPr>
            <a:lvl3pPr marL="838688" indent="0">
              <a:buNone/>
              <a:defRPr sz="1101"/>
            </a:lvl3pPr>
            <a:lvl4pPr marL="1258032" indent="0">
              <a:buNone/>
              <a:defRPr sz="917"/>
            </a:lvl4pPr>
            <a:lvl5pPr marL="1677375" indent="0">
              <a:buNone/>
              <a:defRPr sz="917"/>
            </a:lvl5pPr>
            <a:lvl6pPr marL="2096719" indent="0">
              <a:buNone/>
              <a:defRPr sz="917"/>
            </a:lvl6pPr>
            <a:lvl7pPr marL="2516063" indent="0">
              <a:buNone/>
              <a:defRPr sz="917"/>
            </a:lvl7pPr>
            <a:lvl8pPr marL="2935407" indent="0">
              <a:buNone/>
              <a:defRPr sz="917"/>
            </a:lvl8pPr>
            <a:lvl9pPr marL="3354751" indent="0">
              <a:buNone/>
              <a:defRPr sz="91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68924" y="6356352"/>
            <a:ext cx="2189202" cy="365125"/>
          </a:xfrm>
          <a:prstGeom prst="rect">
            <a:avLst/>
          </a:prstGeom>
        </p:spPr>
        <p:txBody>
          <a:bodyPr/>
          <a:lstStyle/>
          <a:p>
            <a:fld id="{375BA7AC-D5B2-4EAB-A1FF-2BEE77A7CE74}" type="datetimeFigureOut">
              <a:rPr lang="en-US">
                <a:solidFill>
                  <a:prstClr val="black"/>
                </a:solidFill>
              </a:rPr>
              <a:pPr/>
              <a:t>3/2/2021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222993" y="6356352"/>
            <a:ext cx="3283803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871663" y="6356352"/>
            <a:ext cx="2189202" cy="365125"/>
          </a:xfrm>
          <a:prstGeom prst="rect">
            <a:avLst/>
          </a:prstGeom>
        </p:spPr>
        <p:txBody>
          <a:bodyPr/>
          <a:lstStyle/>
          <a:p>
            <a:fld id="{D192214B-8AB3-47AC-8DCC-1843CB75F973}" type="slidenum">
              <a:rPr lang="en-US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814796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0191" y="457200"/>
            <a:ext cx="3138110" cy="1600200"/>
          </a:xfrm>
        </p:spPr>
        <p:txBody>
          <a:bodyPr anchor="b"/>
          <a:lstStyle>
            <a:lvl1pPr>
              <a:defRPr sz="293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136428" y="987427"/>
            <a:ext cx="4925705" cy="4873625"/>
          </a:xfrm>
        </p:spPr>
        <p:txBody>
          <a:bodyPr/>
          <a:lstStyle>
            <a:lvl1pPr marL="0" indent="0">
              <a:buNone/>
              <a:defRPr sz="2935"/>
            </a:lvl1pPr>
            <a:lvl2pPr marL="419344" indent="0">
              <a:buNone/>
              <a:defRPr sz="2568"/>
            </a:lvl2pPr>
            <a:lvl3pPr marL="838688" indent="0">
              <a:buNone/>
              <a:defRPr sz="2201"/>
            </a:lvl3pPr>
            <a:lvl4pPr marL="1258032" indent="0">
              <a:buNone/>
              <a:defRPr sz="1834"/>
            </a:lvl4pPr>
            <a:lvl5pPr marL="1677375" indent="0">
              <a:buNone/>
              <a:defRPr sz="1834"/>
            </a:lvl5pPr>
            <a:lvl6pPr marL="2096719" indent="0">
              <a:buNone/>
              <a:defRPr sz="1834"/>
            </a:lvl6pPr>
            <a:lvl7pPr marL="2516063" indent="0">
              <a:buNone/>
              <a:defRPr sz="1834"/>
            </a:lvl7pPr>
            <a:lvl8pPr marL="2935407" indent="0">
              <a:buNone/>
              <a:defRPr sz="1834"/>
            </a:lvl8pPr>
            <a:lvl9pPr marL="3354751" indent="0">
              <a:buNone/>
              <a:defRPr sz="1834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0191" y="2057400"/>
            <a:ext cx="3138110" cy="3811588"/>
          </a:xfrm>
        </p:spPr>
        <p:txBody>
          <a:bodyPr/>
          <a:lstStyle>
            <a:lvl1pPr marL="0" indent="0">
              <a:buNone/>
              <a:defRPr sz="1468"/>
            </a:lvl1pPr>
            <a:lvl2pPr marL="419344" indent="0">
              <a:buNone/>
              <a:defRPr sz="1284"/>
            </a:lvl2pPr>
            <a:lvl3pPr marL="838688" indent="0">
              <a:buNone/>
              <a:defRPr sz="1101"/>
            </a:lvl3pPr>
            <a:lvl4pPr marL="1258032" indent="0">
              <a:buNone/>
              <a:defRPr sz="917"/>
            </a:lvl4pPr>
            <a:lvl5pPr marL="1677375" indent="0">
              <a:buNone/>
              <a:defRPr sz="917"/>
            </a:lvl5pPr>
            <a:lvl6pPr marL="2096719" indent="0">
              <a:buNone/>
              <a:defRPr sz="917"/>
            </a:lvl6pPr>
            <a:lvl7pPr marL="2516063" indent="0">
              <a:buNone/>
              <a:defRPr sz="917"/>
            </a:lvl7pPr>
            <a:lvl8pPr marL="2935407" indent="0">
              <a:buNone/>
              <a:defRPr sz="917"/>
            </a:lvl8pPr>
            <a:lvl9pPr marL="3354751" indent="0">
              <a:buNone/>
              <a:defRPr sz="91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68924" y="6356352"/>
            <a:ext cx="2189202" cy="365125"/>
          </a:xfrm>
          <a:prstGeom prst="rect">
            <a:avLst/>
          </a:prstGeom>
        </p:spPr>
        <p:txBody>
          <a:bodyPr/>
          <a:lstStyle/>
          <a:p>
            <a:fld id="{375BA7AC-D5B2-4EAB-A1FF-2BEE77A7CE74}" type="datetimeFigureOut">
              <a:rPr lang="en-US">
                <a:solidFill>
                  <a:prstClr val="black"/>
                </a:solidFill>
              </a:rPr>
              <a:pPr/>
              <a:t>3/2/2021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222993" y="6356352"/>
            <a:ext cx="3283803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871663" y="6356352"/>
            <a:ext cx="2189202" cy="365125"/>
          </a:xfrm>
          <a:prstGeom prst="rect">
            <a:avLst/>
          </a:prstGeom>
        </p:spPr>
        <p:txBody>
          <a:bodyPr/>
          <a:lstStyle/>
          <a:p>
            <a:fld id="{D192214B-8AB3-47AC-8DCC-1843CB75F973}" type="slidenum">
              <a:rPr lang="en-US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220044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68924" y="6356352"/>
            <a:ext cx="2189202" cy="365125"/>
          </a:xfrm>
          <a:prstGeom prst="rect">
            <a:avLst/>
          </a:prstGeom>
        </p:spPr>
        <p:txBody>
          <a:bodyPr/>
          <a:lstStyle/>
          <a:p>
            <a:fld id="{375BA7AC-D5B2-4EAB-A1FF-2BEE77A7CE74}" type="datetimeFigureOut">
              <a:rPr lang="en-US">
                <a:solidFill>
                  <a:prstClr val="black"/>
                </a:solidFill>
              </a:rPr>
              <a:pPr/>
              <a:t>3/2/2021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22993" y="6356352"/>
            <a:ext cx="3283803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1663" y="6356352"/>
            <a:ext cx="2189202" cy="365125"/>
          </a:xfrm>
          <a:prstGeom prst="rect">
            <a:avLst/>
          </a:prstGeom>
        </p:spPr>
        <p:txBody>
          <a:bodyPr/>
          <a:lstStyle/>
          <a:p>
            <a:fld id="{D192214B-8AB3-47AC-8DCC-1843CB75F973}" type="slidenum">
              <a:rPr lang="en-US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35555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62879" y="365125"/>
            <a:ext cx="2097986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68923" y="365125"/>
            <a:ext cx="6172334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68924" y="6356352"/>
            <a:ext cx="2189202" cy="365125"/>
          </a:xfrm>
          <a:prstGeom prst="rect">
            <a:avLst/>
          </a:prstGeom>
        </p:spPr>
        <p:txBody>
          <a:bodyPr/>
          <a:lstStyle/>
          <a:p>
            <a:fld id="{375BA7AC-D5B2-4EAB-A1FF-2BEE77A7CE74}" type="datetimeFigureOut">
              <a:rPr lang="en-US">
                <a:solidFill>
                  <a:prstClr val="black"/>
                </a:solidFill>
              </a:rPr>
              <a:pPr/>
              <a:t>3/2/2021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22993" y="6356352"/>
            <a:ext cx="3283803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1663" y="6356352"/>
            <a:ext cx="2189202" cy="365125"/>
          </a:xfrm>
          <a:prstGeom prst="rect">
            <a:avLst/>
          </a:prstGeom>
        </p:spPr>
        <p:txBody>
          <a:bodyPr/>
          <a:lstStyle/>
          <a:p>
            <a:fld id="{D192214B-8AB3-47AC-8DCC-1843CB75F973}" type="slidenum">
              <a:rPr lang="en-US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581612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16224" y="1122363"/>
            <a:ext cx="7297341" cy="2387600"/>
          </a:xfrm>
        </p:spPr>
        <p:txBody>
          <a:bodyPr anchor="b"/>
          <a:lstStyle>
            <a:lvl1pPr algn="ctr">
              <a:defRPr sz="4789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6224" y="3602038"/>
            <a:ext cx="7297341" cy="1655762"/>
          </a:xfrm>
        </p:spPr>
        <p:txBody>
          <a:bodyPr/>
          <a:lstStyle>
            <a:lvl1pPr marL="0" indent="0" algn="ctr">
              <a:buNone/>
              <a:defRPr sz="1915"/>
            </a:lvl1pPr>
            <a:lvl2pPr marL="364871" indent="0" algn="ctr">
              <a:buNone/>
              <a:defRPr sz="1596"/>
            </a:lvl2pPr>
            <a:lvl3pPr marL="729742" indent="0" algn="ctr">
              <a:buNone/>
              <a:defRPr sz="1436"/>
            </a:lvl3pPr>
            <a:lvl4pPr marL="1094613" indent="0" algn="ctr">
              <a:buNone/>
              <a:defRPr sz="1277"/>
            </a:lvl4pPr>
            <a:lvl5pPr marL="1459484" indent="0" algn="ctr">
              <a:buNone/>
              <a:defRPr sz="1277"/>
            </a:lvl5pPr>
            <a:lvl6pPr marL="1824356" indent="0" algn="ctr">
              <a:buNone/>
              <a:defRPr sz="1277"/>
            </a:lvl6pPr>
            <a:lvl7pPr marL="2189226" indent="0" algn="ctr">
              <a:buNone/>
              <a:defRPr sz="1277"/>
            </a:lvl7pPr>
            <a:lvl8pPr marL="2554097" indent="0" algn="ctr">
              <a:buNone/>
              <a:defRPr sz="1277"/>
            </a:lvl8pPr>
            <a:lvl9pPr marL="2918969" indent="0" algn="ctr">
              <a:buNone/>
              <a:defRPr sz="1277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68924" y="6356352"/>
            <a:ext cx="2189202" cy="365125"/>
          </a:xfrm>
          <a:prstGeom prst="rect">
            <a:avLst/>
          </a:prstGeom>
        </p:spPr>
        <p:txBody>
          <a:bodyPr/>
          <a:lstStyle/>
          <a:p>
            <a:fld id="{375BA7AC-D5B2-4EAB-A1FF-2BEE77A7CE74}" type="datetimeFigureOut">
              <a:rPr lang="en-US">
                <a:solidFill>
                  <a:prstClr val="black"/>
                </a:solidFill>
              </a:rPr>
              <a:pPr/>
              <a:t>3/2/2021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22993" y="6356352"/>
            <a:ext cx="3283803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1663" y="6356352"/>
            <a:ext cx="2189202" cy="365125"/>
          </a:xfrm>
          <a:prstGeom prst="rect">
            <a:avLst/>
          </a:prstGeom>
        </p:spPr>
        <p:txBody>
          <a:bodyPr/>
          <a:lstStyle/>
          <a:p>
            <a:fld id="{D192214B-8AB3-47AC-8DCC-1843CB75F973}" type="slidenum">
              <a:rPr lang="en-US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706449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68924" y="6356352"/>
            <a:ext cx="2189202" cy="365125"/>
          </a:xfrm>
          <a:prstGeom prst="rect">
            <a:avLst/>
          </a:prstGeom>
        </p:spPr>
        <p:txBody>
          <a:bodyPr/>
          <a:lstStyle/>
          <a:p>
            <a:fld id="{375BA7AC-D5B2-4EAB-A1FF-2BEE77A7CE74}" type="datetimeFigureOut">
              <a:rPr lang="en-US">
                <a:solidFill>
                  <a:prstClr val="black"/>
                </a:solidFill>
              </a:rPr>
              <a:pPr/>
              <a:t>3/2/2021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22993" y="6356352"/>
            <a:ext cx="3283803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1663" y="6356352"/>
            <a:ext cx="2189202" cy="365125"/>
          </a:xfrm>
          <a:prstGeom prst="rect">
            <a:avLst/>
          </a:prstGeom>
        </p:spPr>
        <p:txBody>
          <a:bodyPr/>
          <a:lstStyle/>
          <a:p>
            <a:fld id="{D192214B-8AB3-47AC-8DCC-1843CB75F973}" type="slidenum">
              <a:rPr lang="en-US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469394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3856" y="1709740"/>
            <a:ext cx="8391942" cy="2852737"/>
          </a:xfrm>
        </p:spPr>
        <p:txBody>
          <a:bodyPr anchor="b"/>
          <a:lstStyle>
            <a:lvl1pPr>
              <a:defRPr sz="4789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3856" y="4589465"/>
            <a:ext cx="8391942" cy="1500187"/>
          </a:xfrm>
        </p:spPr>
        <p:txBody>
          <a:bodyPr/>
          <a:lstStyle>
            <a:lvl1pPr marL="0" indent="0">
              <a:buNone/>
              <a:defRPr sz="1915">
                <a:solidFill>
                  <a:schemeClr val="tx1">
                    <a:tint val="75000"/>
                  </a:schemeClr>
                </a:solidFill>
              </a:defRPr>
            </a:lvl1pPr>
            <a:lvl2pPr marL="364871" indent="0">
              <a:buNone/>
              <a:defRPr sz="1596">
                <a:solidFill>
                  <a:schemeClr val="tx1">
                    <a:tint val="75000"/>
                  </a:schemeClr>
                </a:solidFill>
              </a:defRPr>
            </a:lvl2pPr>
            <a:lvl3pPr marL="729742" indent="0">
              <a:buNone/>
              <a:defRPr sz="1436">
                <a:solidFill>
                  <a:schemeClr val="tx1">
                    <a:tint val="75000"/>
                  </a:schemeClr>
                </a:solidFill>
              </a:defRPr>
            </a:lvl3pPr>
            <a:lvl4pPr marL="1094613" indent="0">
              <a:buNone/>
              <a:defRPr sz="1277">
                <a:solidFill>
                  <a:schemeClr val="tx1">
                    <a:tint val="75000"/>
                  </a:schemeClr>
                </a:solidFill>
              </a:defRPr>
            </a:lvl4pPr>
            <a:lvl5pPr marL="1459484" indent="0">
              <a:buNone/>
              <a:defRPr sz="1277">
                <a:solidFill>
                  <a:schemeClr val="tx1">
                    <a:tint val="75000"/>
                  </a:schemeClr>
                </a:solidFill>
              </a:defRPr>
            </a:lvl5pPr>
            <a:lvl6pPr marL="1824356" indent="0">
              <a:buNone/>
              <a:defRPr sz="1277">
                <a:solidFill>
                  <a:schemeClr val="tx1">
                    <a:tint val="75000"/>
                  </a:schemeClr>
                </a:solidFill>
              </a:defRPr>
            </a:lvl6pPr>
            <a:lvl7pPr marL="2189226" indent="0">
              <a:buNone/>
              <a:defRPr sz="1277">
                <a:solidFill>
                  <a:schemeClr val="tx1">
                    <a:tint val="75000"/>
                  </a:schemeClr>
                </a:solidFill>
              </a:defRPr>
            </a:lvl7pPr>
            <a:lvl8pPr marL="2554097" indent="0">
              <a:buNone/>
              <a:defRPr sz="1277">
                <a:solidFill>
                  <a:schemeClr val="tx1">
                    <a:tint val="75000"/>
                  </a:schemeClr>
                </a:solidFill>
              </a:defRPr>
            </a:lvl8pPr>
            <a:lvl9pPr marL="2918969" indent="0">
              <a:buNone/>
              <a:defRPr sz="127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68924" y="6356352"/>
            <a:ext cx="2189202" cy="365125"/>
          </a:xfrm>
          <a:prstGeom prst="rect">
            <a:avLst/>
          </a:prstGeom>
        </p:spPr>
        <p:txBody>
          <a:bodyPr/>
          <a:lstStyle/>
          <a:p>
            <a:fld id="{375BA7AC-D5B2-4EAB-A1FF-2BEE77A7CE74}" type="datetimeFigureOut">
              <a:rPr lang="en-US">
                <a:solidFill>
                  <a:prstClr val="black"/>
                </a:solidFill>
              </a:rPr>
              <a:pPr/>
              <a:t>3/2/2021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22993" y="6356352"/>
            <a:ext cx="3283803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1663" y="6356352"/>
            <a:ext cx="2189202" cy="365125"/>
          </a:xfrm>
          <a:prstGeom prst="rect">
            <a:avLst/>
          </a:prstGeom>
        </p:spPr>
        <p:txBody>
          <a:bodyPr/>
          <a:lstStyle/>
          <a:p>
            <a:fld id="{D192214B-8AB3-47AC-8DCC-1843CB75F973}" type="slidenum">
              <a:rPr lang="en-US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801071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68923" y="1825625"/>
            <a:ext cx="413516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25705" y="1825625"/>
            <a:ext cx="413516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68924" y="6356352"/>
            <a:ext cx="2189202" cy="365125"/>
          </a:xfrm>
          <a:prstGeom prst="rect">
            <a:avLst/>
          </a:prstGeom>
        </p:spPr>
        <p:txBody>
          <a:bodyPr/>
          <a:lstStyle/>
          <a:p>
            <a:fld id="{375BA7AC-D5B2-4EAB-A1FF-2BEE77A7CE74}" type="datetimeFigureOut">
              <a:rPr lang="en-US">
                <a:solidFill>
                  <a:prstClr val="black"/>
                </a:solidFill>
              </a:rPr>
              <a:pPr/>
              <a:t>3/2/2021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222993" y="6356352"/>
            <a:ext cx="3283803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871663" y="6356352"/>
            <a:ext cx="2189202" cy="365125"/>
          </a:xfrm>
          <a:prstGeom prst="rect">
            <a:avLst/>
          </a:prstGeom>
        </p:spPr>
        <p:txBody>
          <a:bodyPr/>
          <a:lstStyle/>
          <a:p>
            <a:fld id="{D192214B-8AB3-47AC-8DCC-1843CB75F973}" type="slidenum">
              <a:rPr lang="en-US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286716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0190" y="365127"/>
            <a:ext cx="8391942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0191" y="1681163"/>
            <a:ext cx="4116156" cy="823912"/>
          </a:xfrm>
        </p:spPr>
        <p:txBody>
          <a:bodyPr anchor="b"/>
          <a:lstStyle>
            <a:lvl1pPr marL="0" indent="0">
              <a:buNone/>
              <a:defRPr sz="1915" b="1"/>
            </a:lvl1pPr>
            <a:lvl2pPr marL="364871" indent="0">
              <a:buNone/>
              <a:defRPr sz="1596" b="1"/>
            </a:lvl2pPr>
            <a:lvl3pPr marL="729742" indent="0">
              <a:buNone/>
              <a:defRPr sz="1436" b="1"/>
            </a:lvl3pPr>
            <a:lvl4pPr marL="1094613" indent="0">
              <a:buNone/>
              <a:defRPr sz="1277" b="1"/>
            </a:lvl4pPr>
            <a:lvl5pPr marL="1459484" indent="0">
              <a:buNone/>
              <a:defRPr sz="1277" b="1"/>
            </a:lvl5pPr>
            <a:lvl6pPr marL="1824356" indent="0">
              <a:buNone/>
              <a:defRPr sz="1277" b="1"/>
            </a:lvl6pPr>
            <a:lvl7pPr marL="2189226" indent="0">
              <a:buNone/>
              <a:defRPr sz="1277" b="1"/>
            </a:lvl7pPr>
            <a:lvl8pPr marL="2554097" indent="0">
              <a:buNone/>
              <a:defRPr sz="1277" b="1"/>
            </a:lvl8pPr>
            <a:lvl9pPr marL="2918969" indent="0">
              <a:buNone/>
              <a:defRPr sz="1277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0191" y="2505075"/>
            <a:ext cx="4116156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25705" y="1681163"/>
            <a:ext cx="4136428" cy="823912"/>
          </a:xfrm>
        </p:spPr>
        <p:txBody>
          <a:bodyPr anchor="b"/>
          <a:lstStyle>
            <a:lvl1pPr marL="0" indent="0">
              <a:buNone/>
              <a:defRPr sz="1915" b="1"/>
            </a:lvl1pPr>
            <a:lvl2pPr marL="364871" indent="0">
              <a:buNone/>
              <a:defRPr sz="1596" b="1"/>
            </a:lvl2pPr>
            <a:lvl3pPr marL="729742" indent="0">
              <a:buNone/>
              <a:defRPr sz="1436" b="1"/>
            </a:lvl3pPr>
            <a:lvl4pPr marL="1094613" indent="0">
              <a:buNone/>
              <a:defRPr sz="1277" b="1"/>
            </a:lvl4pPr>
            <a:lvl5pPr marL="1459484" indent="0">
              <a:buNone/>
              <a:defRPr sz="1277" b="1"/>
            </a:lvl5pPr>
            <a:lvl6pPr marL="1824356" indent="0">
              <a:buNone/>
              <a:defRPr sz="1277" b="1"/>
            </a:lvl6pPr>
            <a:lvl7pPr marL="2189226" indent="0">
              <a:buNone/>
              <a:defRPr sz="1277" b="1"/>
            </a:lvl7pPr>
            <a:lvl8pPr marL="2554097" indent="0">
              <a:buNone/>
              <a:defRPr sz="1277" b="1"/>
            </a:lvl8pPr>
            <a:lvl9pPr marL="2918969" indent="0">
              <a:buNone/>
              <a:defRPr sz="1277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25705" y="2505075"/>
            <a:ext cx="413642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68924" y="6356352"/>
            <a:ext cx="2189202" cy="365125"/>
          </a:xfrm>
          <a:prstGeom prst="rect">
            <a:avLst/>
          </a:prstGeom>
        </p:spPr>
        <p:txBody>
          <a:bodyPr/>
          <a:lstStyle/>
          <a:p>
            <a:fld id="{375BA7AC-D5B2-4EAB-A1FF-2BEE77A7CE74}" type="datetimeFigureOut">
              <a:rPr lang="en-US">
                <a:solidFill>
                  <a:prstClr val="black"/>
                </a:solidFill>
              </a:rPr>
              <a:pPr/>
              <a:t>3/2/2021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222993" y="6356352"/>
            <a:ext cx="3283803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871663" y="6356352"/>
            <a:ext cx="2189202" cy="365125"/>
          </a:xfrm>
          <a:prstGeom prst="rect">
            <a:avLst/>
          </a:prstGeom>
        </p:spPr>
        <p:txBody>
          <a:bodyPr/>
          <a:lstStyle/>
          <a:p>
            <a:fld id="{D192214B-8AB3-47AC-8DCC-1843CB75F973}" type="slidenum">
              <a:rPr lang="en-US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18792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68924" y="6356352"/>
            <a:ext cx="2189202" cy="365125"/>
          </a:xfrm>
          <a:prstGeom prst="rect">
            <a:avLst/>
          </a:prstGeom>
        </p:spPr>
        <p:txBody>
          <a:bodyPr/>
          <a:lstStyle/>
          <a:p>
            <a:fld id="{375BA7AC-D5B2-4EAB-A1FF-2BEE77A7CE74}" type="datetimeFigureOut">
              <a:rPr lang="en-US">
                <a:solidFill>
                  <a:prstClr val="black"/>
                </a:solidFill>
              </a:rPr>
              <a:pPr/>
              <a:t>3/2/2021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222993" y="6356352"/>
            <a:ext cx="3283803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871663" y="6356352"/>
            <a:ext cx="2189202" cy="365125"/>
          </a:xfrm>
          <a:prstGeom prst="rect">
            <a:avLst/>
          </a:prstGeom>
        </p:spPr>
        <p:txBody>
          <a:bodyPr/>
          <a:lstStyle/>
          <a:p>
            <a:fld id="{D192214B-8AB3-47AC-8DCC-1843CB75F973}" type="slidenum">
              <a:rPr lang="en-US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642629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68924" y="6356352"/>
            <a:ext cx="2189202" cy="365125"/>
          </a:xfrm>
          <a:prstGeom prst="rect">
            <a:avLst/>
          </a:prstGeom>
        </p:spPr>
        <p:txBody>
          <a:bodyPr/>
          <a:lstStyle/>
          <a:p>
            <a:fld id="{375BA7AC-D5B2-4EAB-A1FF-2BEE77A7CE74}" type="datetimeFigureOut">
              <a:rPr lang="en-US">
                <a:solidFill>
                  <a:prstClr val="black"/>
                </a:solidFill>
              </a:rPr>
              <a:pPr/>
              <a:t>3/2/2021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222993" y="6356352"/>
            <a:ext cx="3283803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871663" y="6356352"/>
            <a:ext cx="2189202" cy="365125"/>
          </a:xfrm>
          <a:prstGeom prst="rect">
            <a:avLst/>
          </a:prstGeom>
        </p:spPr>
        <p:txBody>
          <a:bodyPr/>
          <a:lstStyle/>
          <a:p>
            <a:fld id="{D192214B-8AB3-47AC-8DCC-1843CB75F973}" type="slidenum">
              <a:rPr lang="en-US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913669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0191" y="457200"/>
            <a:ext cx="3138110" cy="1600200"/>
          </a:xfrm>
        </p:spPr>
        <p:txBody>
          <a:bodyPr anchor="b"/>
          <a:lstStyle>
            <a:lvl1pPr>
              <a:defRPr sz="2553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36428" y="987427"/>
            <a:ext cx="4925705" cy="4873625"/>
          </a:xfrm>
        </p:spPr>
        <p:txBody>
          <a:bodyPr/>
          <a:lstStyle>
            <a:lvl1pPr>
              <a:defRPr sz="2553"/>
            </a:lvl1pPr>
            <a:lvl2pPr>
              <a:defRPr sz="2234"/>
            </a:lvl2pPr>
            <a:lvl3pPr>
              <a:defRPr sz="1915"/>
            </a:lvl3pPr>
            <a:lvl4pPr>
              <a:defRPr sz="1596"/>
            </a:lvl4pPr>
            <a:lvl5pPr>
              <a:defRPr sz="1596"/>
            </a:lvl5pPr>
            <a:lvl6pPr>
              <a:defRPr sz="1596"/>
            </a:lvl6pPr>
            <a:lvl7pPr>
              <a:defRPr sz="1596"/>
            </a:lvl7pPr>
            <a:lvl8pPr>
              <a:defRPr sz="1596"/>
            </a:lvl8pPr>
            <a:lvl9pPr>
              <a:defRPr sz="1596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0191" y="2057400"/>
            <a:ext cx="3138110" cy="3811588"/>
          </a:xfrm>
        </p:spPr>
        <p:txBody>
          <a:bodyPr/>
          <a:lstStyle>
            <a:lvl1pPr marL="0" indent="0">
              <a:buNone/>
              <a:defRPr sz="1277"/>
            </a:lvl1pPr>
            <a:lvl2pPr marL="364871" indent="0">
              <a:buNone/>
              <a:defRPr sz="1117"/>
            </a:lvl2pPr>
            <a:lvl3pPr marL="729742" indent="0">
              <a:buNone/>
              <a:defRPr sz="958"/>
            </a:lvl3pPr>
            <a:lvl4pPr marL="1094613" indent="0">
              <a:buNone/>
              <a:defRPr sz="798"/>
            </a:lvl4pPr>
            <a:lvl5pPr marL="1459484" indent="0">
              <a:buNone/>
              <a:defRPr sz="798"/>
            </a:lvl5pPr>
            <a:lvl6pPr marL="1824356" indent="0">
              <a:buNone/>
              <a:defRPr sz="798"/>
            </a:lvl6pPr>
            <a:lvl7pPr marL="2189226" indent="0">
              <a:buNone/>
              <a:defRPr sz="798"/>
            </a:lvl7pPr>
            <a:lvl8pPr marL="2554097" indent="0">
              <a:buNone/>
              <a:defRPr sz="798"/>
            </a:lvl8pPr>
            <a:lvl9pPr marL="2918969" indent="0">
              <a:buNone/>
              <a:defRPr sz="798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68924" y="6356352"/>
            <a:ext cx="2189202" cy="365125"/>
          </a:xfrm>
          <a:prstGeom prst="rect">
            <a:avLst/>
          </a:prstGeom>
        </p:spPr>
        <p:txBody>
          <a:bodyPr/>
          <a:lstStyle/>
          <a:p>
            <a:fld id="{375BA7AC-D5B2-4EAB-A1FF-2BEE77A7CE74}" type="datetimeFigureOut">
              <a:rPr lang="en-US">
                <a:solidFill>
                  <a:prstClr val="black"/>
                </a:solidFill>
              </a:rPr>
              <a:pPr/>
              <a:t>3/2/2021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222993" y="6356352"/>
            <a:ext cx="3283803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871663" y="6356352"/>
            <a:ext cx="2189202" cy="365125"/>
          </a:xfrm>
          <a:prstGeom prst="rect">
            <a:avLst/>
          </a:prstGeom>
        </p:spPr>
        <p:txBody>
          <a:bodyPr/>
          <a:lstStyle/>
          <a:p>
            <a:fld id="{D192214B-8AB3-47AC-8DCC-1843CB75F973}" type="slidenum">
              <a:rPr lang="en-US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771742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0191" y="457200"/>
            <a:ext cx="3138110" cy="1600200"/>
          </a:xfrm>
        </p:spPr>
        <p:txBody>
          <a:bodyPr anchor="b"/>
          <a:lstStyle>
            <a:lvl1pPr>
              <a:defRPr sz="2553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136428" y="987427"/>
            <a:ext cx="4925705" cy="4873625"/>
          </a:xfrm>
        </p:spPr>
        <p:txBody>
          <a:bodyPr/>
          <a:lstStyle>
            <a:lvl1pPr marL="0" indent="0">
              <a:buNone/>
              <a:defRPr sz="2553"/>
            </a:lvl1pPr>
            <a:lvl2pPr marL="364871" indent="0">
              <a:buNone/>
              <a:defRPr sz="2234"/>
            </a:lvl2pPr>
            <a:lvl3pPr marL="729742" indent="0">
              <a:buNone/>
              <a:defRPr sz="1915"/>
            </a:lvl3pPr>
            <a:lvl4pPr marL="1094613" indent="0">
              <a:buNone/>
              <a:defRPr sz="1596"/>
            </a:lvl4pPr>
            <a:lvl5pPr marL="1459484" indent="0">
              <a:buNone/>
              <a:defRPr sz="1596"/>
            </a:lvl5pPr>
            <a:lvl6pPr marL="1824356" indent="0">
              <a:buNone/>
              <a:defRPr sz="1596"/>
            </a:lvl6pPr>
            <a:lvl7pPr marL="2189226" indent="0">
              <a:buNone/>
              <a:defRPr sz="1596"/>
            </a:lvl7pPr>
            <a:lvl8pPr marL="2554097" indent="0">
              <a:buNone/>
              <a:defRPr sz="1596"/>
            </a:lvl8pPr>
            <a:lvl9pPr marL="2918969" indent="0">
              <a:buNone/>
              <a:defRPr sz="1596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0191" y="2057400"/>
            <a:ext cx="3138110" cy="3811588"/>
          </a:xfrm>
        </p:spPr>
        <p:txBody>
          <a:bodyPr/>
          <a:lstStyle>
            <a:lvl1pPr marL="0" indent="0">
              <a:buNone/>
              <a:defRPr sz="1277"/>
            </a:lvl1pPr>
            <a:lvl2pPr marL="364871" indent="0">
              <a:buNone/>
              <a:defRPr sz="1117"/>
            </a:lvl2pPr>
            <a:lvl3pPr marL="729742" indent="0">
              <a:buNone/>
              <a:defRPr sz="958"/>
            </a:lvl3pPr>
            <a:lvl4pPr marL="1094613" indent="0">
              <a:buNone/>
              <a:defRPr sz="798"/>
            </a:lvl4pPr>
            <a:lvl5pPr marL="1459484" indent="0">
              <a:buNone/>
              <a:defRPr sz="798"/>
            </a:lvl5pPr>
            <a:lvl6pPr marL="1824356" indent="0">
              <a:buNone/>
              <a:defRPr sz="798"/>
            </a:lvl6pPr>
            <a:lvl7pPr marL="2189226" indent="0">
              <a:buNone/>
              <a:defRPr sz="798"/>
            </a:lvl7pPr>
            <a:lvl8pPr marL="2554097" indent="0">
              <a:buNone/>
              <a:defRPr sz="798"/>
            </a:lvl8pPr>
            <a:lvl9pPr marL="2918969" indent="0">
              <a:buNone/>
              <a:defRPr sz="798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68924" y="6356352"/>
            <a:ext cx="2189202" cy="365125"/>
          </a:xfrm>
          <a:prstGeom prst="rect">
            <a:avLst/>
          </a:prstGeom>
        </p:spPr>
        <p:txBody>
          <a:bodyPr/>
          <a:lstStyle/>
          <a:p>
            <a:fld id="{375BA7AC-D5B2-4EAB-A1FF-2BEE77A7CE74}" type="datetimeFigureOut">
              <a:rPr lang="en-US">
                <a:solidFill>
                  <a:prstClr val="black"/>
                </a:solidFill>
              </a:rPr>
              <a:pPr/>
              <a:t>3/2/2021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222993" y="6356352"/>
            <a:ext cx="3283803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871663" y="6356352"/>
            <a:ext cx="2189202" cy="365125"/>
          </a:xfrm>
          <a:prstGeom prst="rect">
            <a:avLst/>
          </a:prstGeom>
        </p:spPr>
        <p:txBody>
          <a:bodyPr/>
          <a:lstStyle/>
          <a:p>
            <a:fld id="{D192214B-8AB3-47AC-8DCC-1843CB75F973}" type="slidenum">
              <a:rPr lang="en-US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114465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68924" y="6356352"/>
            <a:ext cx="2189202" cy="365125"/>
          </a:xfrm>
          <a:prstGeom prst="rect">
            <a:avLst/>
          </a:prstGeom>
        </p:spPr>
        <p:txBody>
          <a:bodyPr/>
          <a:lstStyle/>
          <a:p>
            <a:fld id="{375BA7AC-D5B2-4EAB-A1FF-2BEE77A7CE74}" type="datetimeFigureOut">
              <a:rPr lang="en-US">
                <a:solidFill>
                  <a:prstClr val="black"/>
                </a:solidFill>
              </a:rPr>
              <a:pPr/>
              <a:t>3/2/2021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22993" y="6356352"/>
            <a:ext cx="3283803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1663" y="6356352"/>
            <a:ext cx="2189202" cy="365125"/>
          </a:xfrm>
          <a:prstGeom prst="rect">
            <a:avLst/>
          </a:prstGeom>
        </p:spPr>
        <p:txBody>
          <a:bodyPr/>
          <a:lstStyle/>
          <a:p>
            <a:fld id="{D192214B-8AB3-47AC-8DCC-1843CB75F973}" type="slidenum">
              <a:rPr lang="en-US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026755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62879" y="365125"/>
            <a:ext cx="2097986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68923" y="365125"/>
            <a:ext cx="6172334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68924" y="6356352"/>
            <a:ext cx="2189202" cy="365125"/>
          </a:xfrm>
          <a:prstGeom prst="rect">
            <a:avLst/>
          </a:prstGeom>
        </p:spPr>
        <p:txBody>
          <a:bodyPr/>
          <a:lstStyle/>
          <a:p>
            <a:fld id="{375BA7AC-D5B2-4EAB-A1FF-2BEE77A7CE74}" type="datetimeFigureOut">
              <a:rPr lang="en-US">
                <a:solidFill>
                  <a:prstClr val="black"/>
                </a:solidFill>
              </a:rPr>
              <a:pPr/>
              <a:t>3/2/2021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22993" y="6356352"/>
            <a:ext cx="3283803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1663" y="6356352"/>
            <a:ext cx="2189202" cy="365125"/>
          </a:xfrm>
          <a:prstGeom prst="rect">
            <a:avLst/>
          </a:prstGeom>
        </p:spPr>
        <p:txBody>
          <a:bodyPr/>
          <a:lstStyle/>
          <a:p>
            <a:fld id="{D192214B-8AB3-47AC-8DCC-1843CB75F973}" type="slidenum">
              <a:rPr lang="en-US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911922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29734" y="3124200"/>
            <a:ext cx="8270320" cy="838200"/>
          </a:xfrm>
        </p:spPr>
        <p:txBody>
          <a:bodyPr/>
          <a:lstStyle>
            <a:lvl1pPr>
              <a:defRPr sz="4397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59468" y="4191000"/>
            <a:ext cx="6648688" cy="990600"/>
          </a:xfrm>
        </p:spPr>
        <p:txBody>
          <a:bodyPr/>
          <a:lstStyle>
            <a:lvl1pPr marL="0" indent="0" algn="ctr">
              <a:buFontTx/>
              <a:buNone/>
              <a:defRPr sz="4297" b="1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729734" y="6248400"/>
            <a:ext cx="2027039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399">
                <a:solidFill>
                  <a:srgbClr val="222222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/>
              <a:t>Linux+ Guide to Linux Certification, Second Edition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324344" y="6248400"/>
            <a:ext cx="3081100" cy="457200"/>
          </a:xfrm>
        </p:spPr>
        <p:txBody>
          <a:bodyPr/>
          <a:lstStyle>
            <a:lvl1pPr algn="ctr">
              <a:defRPr>
                <a:latin typeface="Times New Roman" charset="0"/>
              </a:defRPr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973015" y="6248400"/>
            <a:ext cx="2027039" cy="457200"/>
          </a:xfrm>
        </p:spPr>
        <p:txBody>
          <a:bodyPr/>
          <a:lstStyle>
            <a:lvl1pPr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6BD07A6F-49B2-46CC-8694-78742046637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4168228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9126062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586" y="4406901"/>
            <a:ext cx="8270320" cy="1362075"/>
          </a:xfrm>
        </p:spPr>
        <p:txBody>
          <a:bodyPr anchor="t"/>
          <a:lstStyle>
            <a:lvl1pPr algn="l">
              <a:defRPr sz="3997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586" y="2906714"/>
            <a:ext cx="8270320" cy="1500187"/>
          </a:xfrm>
        </p:spPr>
        <p:txBody>
          <a:bodyPr anchor="b"/>
          <a:lstStyle>
            <a:lvl1pPr marL="0" indent="0">
              <a:buNone/>
              <a:defRPr sz="1999"/>
            </a:lvl1pPr>
            <a:lvl2pPr marL="456933" indent="0">
              <a:buNone/>
              <a:defRPr sz="1799"/>
            </a:lvl2pPr>
            <a:lvl3pPr marL="913866" indent="0">
              <a:buNone/>
              <a:defRPr sz="1599"/>
            </a:lvl3pPr>
            <a:lvl4pPr marL="1370800" indent="0">
              <a:buNone/>
              <a:defRPr sz="1399"/>
            </a:lvl4pPr>
            <a:lvl5pPr marL="1827733" indent="0">
              <a:buNone/>
              <a:defRPr sz="1399"/>
            </a:lvl5pPr>
            <a:lvl6pPr marL="2284667" indent="0">
              <a:buNone/>
              <a:defRPr sz="1399"/>
            </a:lvl6pPr>
            <a:lvl7pPr marL="2741599" indent="0">
              <a:buNone/>
              <a:defRPr sz="1399"/>
            </a:lvl7pPr>
            <a:lvl8pPr marL="3198533" indent="0">
              <a:buNone/>
              <a:defRPr sz="1399"/>
            </a:lvl8pPr>
            <a:lvl9pPr marL="3655466" indent="0">
              <a:buNone/>
              <a:defRPr sz="139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D51563-9516-4805-BE0A-0F87CCE5BAE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1523102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67571" y="1676400"/>
            <a:ext cx="4216241" cy="4572000"/>
          </a:xfrm>
        </p:spPr>
        <p:txBody>
          <a:bodyPr/>
          <a:lstStyle>
            <a:lvl1pPr>
              <a:defRPr sz="2798"/>
            </a:lvl1pPr>
            <a:lvl2pPr>
              <a:defRPr sz="2398"/>
            </a:lvl2pPr>
            <a:lvl3pPr>
              <a:defRPr sz="1999"/>
            </a:lvl3pPr>
            <a:lvl4pPr>
              <a:defRPr sz="1799"/>
            </a:lvl4pPr>
            <a:lvl5pPr>
              <a:defRPr sz="1799"/>
            </a:lvl5pPr>
            <a:lvl6pPr>
              <a:defRPr sz="1799"/>
            </a:lvl6pPr>
            <a:lvl7pPr>
              <a:defRPr sz="1799"/>
            </a:lvl7pPr>
            <a:lvl8pPr>
              <a:defRPr sz="1799"/>
            </a:lvl8pPr>
            <a:lvl9pPr>
              <a:defRPr sz="17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45976" y="1676400"/>
            <a:ext cx="4216241" cy="4572000"/>
          </a:xfrm>
        </p:spPr>
        <p:txBody>
          <a:bodyPr/>
          <a:lstStyle>
            <a:lvl1pPr>
              <a:defRPr sz="2798"/>
            </a:lvl1pPr>
            <a:lvl2pPr>
              <a:defRPr sz="2398"/>
            </a:lvl2pPr>
            <a:lvl3pPr>
              <a:defRPr sz="1999"/>
            </a:lvl3pPr>
            <a:lvl4pPr>
              <a:defRPr sz="1799"/>
            </a:lvl4pPr>
            <a:lvl5pPr>
              <a:defRPr sz="1799"/>
            </a:lvl5pPr>
            <a:lvl6pPr>
              <a:defRPr sz="1799"/>
            </a:lvl6pPr>
            <a:lvl7pPr>
              <a:defRPr sz="1799"/>
            </a:lvl7pPr>
            <a:lvl8pPr>
              <a:defRPr sz="1799"/>
            </a:lvl8pPr>
            <a:lvl9pPr>
              <a:defRPr sz="17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BC43D5-2C6B-4F34-8BE0-B2269FA1DDE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33785956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490" y="274638"/>
            <a:ext cx="8756809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6489" y="1535113"/>
            <a:ext cx="4299013" cy="639762"/>
          </a:xfrm>
        </p:spPr>
        <p:txBody>
          <a:bodyPr anchor="b"/>
          <a:lstStyle>
            <a:lvl1pPr marL="0" indent="0">
              <a:buNone/>
              <a:defRPr sz="2398" b="1"/>
            </a:lvl1pPr>
            <a:lvl2pPr marL="456933" indent="0">
              <a:buNone/>
              <a:defRPr sz="1999" b="1"/>
            </a:lvl2pPr>
            <a:lvl3pPr marL="913866" indent="0">
              <a:buNone/>
              <a:defRPr sz="1799" b="1"/>
            </a:lvl3pPr>
            <a:lvl4pPr marL="1370800" indent="0">
              <a:buNone/>
              <a:defRPr sz="1599" b="1"/>
            </a:lvl4pPr>
            <a:lvl5pPr marL="1827733" indent="0">
              <a:buNone/>
              <a:defRPr sz="1599" b="1"/>
            </a:lvl5pPr>
            <a:lvl6pPr marL="2284667" indent="0">
              <a:buNone/>
              <a:defRPr sz="1599" b="1"/>
            </a:lvl6pPr>
            <a:lvl7pPr marL="2741599" indent="0">
              <a:buNone/>
              <a:defRPr sz="1599" b="1"/>
            </a:lvl7pPr>
            <a:lvl8pPr marL="3198533" indent="0">
              <a:buNone/>
              <a:defRPr sz="1599" b="1"/>
            </a:lvl8pPr>
            <a:lvl9pPr marL="3655466" indent="0">
              <a:buNone/>
              <a:defRPr sz="159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6489" y="2174875"/>
            <a:ext cx="4299013" cy="3951288"/>
          </a:xfrm>
        </p:spPr>
        <p:txBody>
          <a:bodyPr/>
          <a:lstStyle>
            <a:lvl1pPr>
              <a:defRPr sz="2398"/>
            </a:lvl1pPr>
            <a:lvl2pPr>
              <a:defRPr sz="1999"/>
            </a:lvl2pPr>
            <a:lvl3pPr>
              <a:defRPr sz="1799"/>
            </a:lvl3pPr>
            <a:lvl4pPr>
              <a:defRPr sz="1599"/>
            </a:lvl4pPr>
            <a:lvl5pPr>
              <a:defRPr sz="1599"/>
            </a:lvl5pPr>
            <a:lvl6pPr>
              <a:defRPr sz="1599"/>
            </a:lvl6pPr>
            <a:lvl7pPr>
              <a:defRPr sz="1599"/>
            </a:lvl7pPr>
            <a:lvl8pPr>
              <a:defRPr sz="1599"/>
            </a:lvl8pPr>
            <a:lvl9pPr>
              <a:defRPr sz="15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42598" y="1535113"/>
            <a:ext cx="4300701" cy="639762"/>
          </a:xfrm>
        </p:spPr>
        <p:txBody>
          <a:bodyPr anchor="b"/>
          <a:lstStyle>
            <a:lvl1pPr marL="0" indent="0">
              <a:buNone/>
              <a:defRPr sz="2398" b="1"/>
            </a:lvl1pPr>
            <a:lvl2pPr marL="456933" indent="0">
              <a:buNone/>
              <a:defRPr sz="1999" b="1"/>
            </a:lvl2pPr>
            <a:lvl3pPr marL="913866" indent="0">
              <a:buNone/>
              <a:defRPr sz="1799" b="1"/>
            </a:lvl3pPr>
            <a:lvl4pPr marL="1370800" indent="0">
              <a:buNone/>
              <a:defRPr sz="1599" b="1"/>
            </a:lvl4pPr>
            <a:lvl5pPr marL="1827733" indent="0">
              <a:buNone/>
              <a:defRPr sz="1599" b="1"/>
            </a:lvl5pPr>
            <a:lvl6pPr marL="2284667" indent="0">
              <a:buNone/>
              <a:defRPr sz="1599" b="1"/>
            </a:lvl6pPr>
            <a:lvl7pPr marL="2741599" indent="0">
              <a:buNone/>
              <a:defRPr sz="1599" b="1"/>
            </a:lvl7pPr>
            <a:lvl8pPr marL="3198533" indent="0">
              <a:buNone/>
              <a:defRPr sz="1599" b="1"/>
            </a:lvl8pPr>
            <a:lvl9pPr marL="3655466" indent="0">
              <a:buNone/>
              <a:defRPr sz="159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42598" y="2174875"/>
            <a:ext cx="4300701" cy="3951288"/>
          </a:xfrm>
        </p:spPr>
        <p:txBody>
          <a:bodyPr/>
          <a:lstStyle>
            <a:lvl1pPr>
              <a:defRPr sz="2398"/>
            </a:lvl1pPr>
            <a:lvl2pPr>
              <a:defRPr sz="1999"/>
            </a:lvl2pPr>
            <a:lvl3pPr>
              <a:defRPr sz="1799"/>
            </a:lvl3pPr>
            <a:lvl4pPr>
              <a:defRPr sz="1599"/>
            </a:lvl4pPr>
            <a:lvl5pPr>
              <a:defRPr sz="1599"/>
            </a:lvl5pPr>
            <a:lvl6pPr>
              <a:defRPr sz="1599"/>
            </a:lvl6pPr>
            <a:lvl7pPr>
              <a:defRPr sz="1599"/>
            </a:lvl7pPr>
            <a:lvl8pPr>
              <a:defRPr sz="1599"/>
            </a:lvl8pPr>
            <a:lvl9pPr>
              <a:defRPr sz="15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EA570E-81C1-4C02-A389-471327DFF66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1787757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392C82-554D-4A9F-B6FC-AEA270041AA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91565713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9EB730-830B-4C2E-9CAC-497C9C0C71B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12021826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490" y="273050"/>
            <a:ext cx="3201033" cy="1162050"/>
          </a:xfrm>
        </p:spPr>
        <p:txBody>
          <a:bodyPr anchor="b"/>
          <a:lstStyle>
            <a:lvl1pPr algn="l">
              <a:defRPr sz="1999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04077" y="273051"/>
            <a:ext cx="5439222" cy="5853113"/>
          </a:xfrm>
        </p:spPr>
        <p:txBody>
          <a:bodyPr/>
          <a:lstStyle>
            <a:lvl1pPr>
              <a:defRPr sz="3198"/>
            </a:lvl1pPr>
            <a:lvl2pPr>
              <a:defRPr sz="2798"/>
            </a:lvl2pPr>
            <a:lvl3pPr>
              <a:defRPr sz="2398"/>
            </a:lvl3pPr>
            <a:lvl4pPr>
              <a:defRPr sz="1999"/>
            </a:lvl4pPr>
            <a:lvl5pPr>
              <a:defRPr sz="1999"/>
            </a:lvl5pPr>
            <a:lvl6pPr>
              <a:defRPr sz="1999"/>
            </a:lvl6pPr>
            <a:lvl7pPr>
              <a:defRPr sz="1999"/>
            </a:lvl7pPr>
            <a:lvl8pPr>
              <a:defRPr sz="1999"/>
            </a:lvl8pPr>
            <a:lvl9pPr>
              <a:defRPr sz="19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6490" y="1435101"/>
            <a:ext cx="3201033" cy="4691063"/>
          </a:xfrm>
        </p:spPr>
        <p:txBody>
          <a:bodyPr/>
          <a:lstStyle>
            <a:lvl1pPr marL="0" indent="0">
              <a:buNone/>
              <a:defRPr sz="1399"/>
            </a:lvl1pPr>
            <a:lvl2pPr marL="456933" indent="0">
              <a:buNone/>
              <a:defRPr sz="1199"/>
            </a:lvl2pPr>
            <a:lvl3pPr marL="913866" indent="0">
              <a:buNone/>
              <a:defRPr sz="999"/>
            </a:lvl3pPr>
            <a:lvl4pPr marL="1370800" indent="0">
              <a:buNone/>
              <a:defRPr sz="899"/>
            </a:lvl4pPr>
            <a:lvl5pPr marL="1827733" indent="0">
              <a:buNone/>
              <a:defRPr sz="899"/>
            </a:lvl5pPr>
            <a:lvl6pPr marL="2284667" indent="0">
              <a:buNone/>
              <a:defRPr sz="899"/>
            </a:lvl6pPr>
            <a:lvl7pPr marL="2741599" indent="0">
              <a:buNone/>
              <a:defRPr sz="899"/>
            </a:lvl7pPr>
            <a:lvl8pPr marL="3198533" indent="0">
              <a:buNone/>
              <a:defRPr sz="899"/>
            </a:lvl8pPr>
            <a:lvl9pPr marL="3655466" indent="0">
              <a:buNone/>
              <a:defRPr sz="89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DC2BE9-C3A0-4A31-B6F8-4D3141C1FFA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18564509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7106" y="4800600"/>
            <a:ext cx="5837873" cy="566738"/>
          </a:xfrm>
        </p:spPr>
        <p:txBody>
          <a:bodyPr anchor="b"/>
          <a:lstStyle>
            <a:lvl1pPr algn="l">
              <a:defRPr sz="1999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07106" y="612776"/>
            <a:ext cx="5837873" cy="4114800"/>
          </a:xfrm>
        </p:spPr>
        <p:txBody>
          <a:bodyPr/>
          <a:lstStyle>
            <a:lvl1pPr marL="0" indent="0">
              <a:buNone/>
              <a:defRPr sz="3198"/>
            </a:lvl1pPr>
            <a:lvl2pPr marL="456933" indent="0">
              <a:buNone/>
              <a:defRPr sz="2798"/>
            </a:lvl2pPr>
            <a:lvl3pPr marL="913866" indent="0">
              <a:buNone/>
              <a:defRPr sz="2398"/>
            </a:lvl3pPr>
            <a:lvl4pPr marL="1370800" indent="0">
              <a:buNone/>
              <a:defRPr sz="1999"/>
            </a:lvl4pPr>
            <a:lvl5pPr marL="1827733" indent="0">
              <a:buNone/>
              <a:defRPr sz="1999"/>
            </a:lvl5pPr>
            <a:lvl6pPr marL="2284667" indent="0">
              <a:buNone/>
              <a:defRPr sz="1999"/>
            </a:lvl6pPr>
            <a:lvl7pPr marL="2741599" indent="0">
              <a:buNone/>
              <a:defRPr sz="1999"/>
            </a:lvl7pPr>
            <a:lvl8pPr marL="3198533" indent="0">
              <a:buNone/>
              <a:defRPr sz="1999"/>
            </a:lvl8pPr>
            <a:lvl9pPr marL="3655466" indent="0">
              <a:buNone/>
              <a:defRPr sz="1999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07106" y="5367338"/>
            <a:ext cx="5837873" cy="804862"/>
          </a:xfrm>
        </p:spPr>
        <p:txBody>
          <a:bodyPr/>
          <a:lstStyle>
            <a:lvl1pPr marL="0" indent="0">
              <a:buNone/>
              <a:defRPr sz="1399"/>
            </a:lvl1pPr>
            <a:lvl2pPr marL="456933" indent="0">
              <a:buNone/>
              <a:defRPr sz="1199"/>
            </a:lvl2pPr>
            <a:lvl3pPr marL="913866" indent="0">
              <a:buNone/>
              <a:defRPr sz="999"/>
            </a:lvl3pPr>
            <a:lvl4pPr marL="1370800" indent="0">
              <a:buNone/>
              <a:defRPr sz="899"/>
            </a:lvl4pPr>
            <a:lvl5pPr marL="1827733" indent="0">
              <a:buNone/>
              <a:defRPr sz="899"/>
            </a:lvl5pPr>
            <a:lvl6pPr marL="2284667" indent="0">
              <a:buNone/>
              <a:defRPr sz="899"/>
            </a:lvl6pPr>
            <a:lvl7pPr marL="2741599" indent="0">
              <a:buNone/>
              <a:defRPr sz="899"/>
            </a:lvl7pPr>
            <a:lvl8pPr marL="3198533" indent="0">
              <a:buNone/>
              <a:defRPr sz="899"/>
            </a:lvl8pPr>
            <a:lvl9pPr marL="3655466" indent="0">
              <a:buNone/>
              <a:defRPr sz="89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A5D563-7C76-4E75-87F1-430831F83A0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5367263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054E59-0785-479E-97CA-D3C26E97C43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41136056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13556" y="381000"/>
            <a:ext cx="2148662" cy="5867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67572" y="381000"/>
            <a:ext cx="6283821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2C385D-0273-440B-8A17-C776D5F9732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451281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1"/>
            <a:ext cx="9729788" cy="11611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9076" y="1161143"/>
            <a:ext cx="9034803" cy="50158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93637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729742" rtl="0" eaLnBrk="1" latinLnBrk="0" hangingPunct="1">
        <a:lnSpc>
          <a:spcPct val="90000"/>
        </a:lnSpc>
        <a:spcBef>
          <a:spcPct val="0"/>
        </a:spcBef>
        <a:buNone/>
        <a:defRPr sz="3511" kern="1200">
          <a:solidFill>
            <a:srgbClr val="002060"/>
          </a:solidFill>
          <a:latin typeface="Elephant" panose="02020904090505020303" pitchFamily="18" charset="0"/>
          <a:ea typeface="+mj-ea"/>
          <a:cs typeface="+mj-cs"/>
        </a:defRPr>
      </a:lvl1pPr>
    </p:titleStyle>
    <p:bodyStyle>
      <a:lvl1pPr marL="182436" indent="-182436" algn="l" defTabSz="729742" rtl="0" eaLnBrk="1" latinLnBrk="0" hangingPunct="1">
        <a:lnSpc>
          <a:spcPct val="90000"/>
        </a:lnSpc>
        <a:spcBef>
          <a:spcPts val="798"/>
        </a:spcBef>
        <a:buFont typeface="Arial" panose="020B0604020202020204" pitchFamily="34" charset="0"/>
        <a:buChar char="•"/>
        <a:defRPr sz="3192" kern="1200">
          <a:solidFill>
            <a:schemeClr val="tx1"/>
          </a:solidFill>
          <a:latin typeface="+mn-lt"/>
          <a:ea typeface="+mn-ea"/>
          <a:cs typeface="+mn-cs"/>
        </a:defRPr>
      </a:lvl1pPr>
      <a:lvl2pPr marL="547307" indent="-182436" algn="l" defTabSz="729742" rtl="0" eaLnBrk="1" latinLnBrk="0" hangingPunct="1">
        <a:lnSpc>
          <a:spcPct val="90000"/>
        </a:lnSpc>
        <a:spcBef>
          <a:spcPts val="399"/>
        </a:spcBef>
        <a:buFont typeface="Arial" panose="020B0604020202020204" pitchFamily="34" charset="0"/>
        <a:buChar char="•"/>
        <a:defRPr sz="2873" kern="1200">
          <a:solidFill>
            <a:schemeClr val="tx1"/>
          </a:solidFill>
          <a:latin typeface="+mn-lt"/>
          <a:ea typeface="+mn-ea"/>
          <a:cs typeface="+mn-cs"/>
        </a:defRPr>
      </a:lvl2pPr>
      <a:lvl3pPr marL="912177" indent="-182436" algn="l" defTabSz="729742" rtl="0" eaLnBrk="1" latinLnBrk="0" hangingPunct="1">
        <a:lnSpc>
          <a:spcPct val="90000"/>
        </a:lnSpc>
        <a:spcBef>
          <a:spcPts val="399"/>
        </a:spcBef>
        <a:buFont typeface="Arial" panose="020B0604020202020204" pitchFamily="34" charset="0"/>
        <a:buChar char="•"/>
        <a:defRPr sz="2553" kern="1200">
          <a:solidFill>
            <a:schemeClr val="tx1"/>
          </a:solidFill>
          <a:latin typeface="+mn-lt"/>
          <a:ea typeface="+mn-ea"/>
          <a:cs typeface="+mn-cs"/>
        </a:defRPr>
      </a:lvl3pPr>
      <a:lvl4pPr marL="1277049" indent="-182436" algn="l" defTabSz="729742" rtl="0" eaLnBrk="1" latinLnBrk="0" hangingPunct="1">
        <a:lnSpc>
          <a:spcPct val="90000"/>
        </a:lnSpc>
        <a:spcBef>
          <a:spcPts val="399"/>
        </a:spcBef>
        <a:buFont typeface="Arial" panose="020B0604020202020204" pitchFamily="34" charset="0"/>
        <a:buChar char="•"/>
        <a:defRPr sz="2234" kern="1200">
          <a:solidFill>
            <a:schemeClr val="tx1"/>
          </a:solidFill>
          <a:latin typeface="+mn-lt"/>
          <a:ea typeface="+mn-ea"/>
          <a:cs typeface="+mn-cs"/>
        </a:defRPr>
      </a:lvl4pPr>
      <a:lvl5pPr marL="1641920" indent="-182436" algn="l" defTabSz="729742" rtl="0" eaLnBrk="1" latinLnBrk="0" hangingPunct="1">
        <a:lnSpc>
          <a:spcPct val="90000"/>
        </a:lnSpc>
        <a:spcBef>
          <a:spcPts val="399"/>
        </a:spcBef>
        <a:buFont typeface="Arial" panose="020B0604020202020204" pitchFamily="34" charset="0"/>
        <a:buChar char="•"/>
        <a:defRPr sz="2234" kern="1200">
          <a:solidFill>
            <a:schemeClr val="tx1"/>
          </a:solidFill>
          <a:latin typeface="+mn-lt"/>
          <a:ea typeface="+mn-ea"/>
          <a:cs typeface="+mn-cs"/>
        </a:defRPr>
      </a:lvl5pPr>
      <a:lvl6pPr marL="2006790" indent="-182436" algn="l" defTabSz="729742" rtl="0" eaLnBrk="1" latinLnBrk="0" hangingPunct="1">
        <a:lnSpc>
          <a:spcPct val="90000"/>
        </a:lnSpc>
        <a:spcBef>
          <a:spcPts val="399"/>
        </a:spcBef>
        <a:buFont typeface="Arial" panose="020B0604020202020204" pitchFamily="34" charset="0"/>
        <a:buChar char="•"/>
        <a:defRPr sz="1436" kern="1200">
          <a:solidFill>
            <a:schemeClr val="tx1"/>
          </a:solidFill>
          <a:latin typeface="+mn-lt"/>
          <a:ea typeface="+mn-ea"/>
          <a:cs typeface="+mn-cs"/>
        </a:defRPr>
      </a:lvl6pPr>
      <a:lvl7pPr marL="2371662" indent="-182436" algn="l" defTabSz="729742" rtl="0" eaLnBrk="1" latinLnBrk="0" hangingPunct="1">
        <a:lnSpc>
          <a:spcPct val="90000"/>
        </a:lnSpc>
        <a:spcBef>
          <a:spcPts val="399"/>
        </a:spcBef>
        <a:buFont typeface="Arial" panose="020B0604020202020204" pitchFamily="34" charset="0"/>
        <a:buChar char="•"/>
        <a:defRPr sz="1436" kern="1200">
          <a:solidFill>
            <a:schemeClr val="tx1"/>
          </a:solidFill>
          <a:latin typeface="+mn-lt"/>
          <a:ea typeface="+mn-ea"/>
          <a:cs typeface="+mn-cs"/>
        </a:defRPr>
      </a:lvl7pPr>
      <a:lvl8pPr marL="2736533" indent="-182436" algn="l" defTabSz="729742" rtl="0" eaLnBrk="1" latinLnBrk="0" hangingPunct="1">
        <a:lnSpc>
          <a:spcPct val="90000"/>
        </a:lnSpc>
        <a:spcBef>
          <a:spcPts val="399"/>
        </a:spcBef>
        <a:buFont typeface="Arial" panose="020B0604020202020204" pitchFamily="34" charset="0"/>
        <a:buChar char="•"/>
        <a:defRPr sz="1436" kern="1200">
          <a:solidFill>
            <a:schemeClr val="tx1"/>
          </a:solidFill>
          <a:latin typeface="+mn-lt"/>
          <a:ea typeface="+mn-ea"/>
          <a:cs typeface="+mn-cs"/>
        </a:defRPr>
      </a:lvl8pPr>
      <a:lvl9pPr marL="3101404" indent="-182436" algn="l" defTabSz="729742" rtl="0" eaLnBrk="1" latinLnBrk="0" hangingPunct="1">
        <a:lnSpc>
          <a:spcPct val="90000"/>
        </a:lnSpc>
        <a:spcBef>
          <a:spcPts val="399"/>
        </a:spcBef>
        <a:buFont typeface="Arial" panose="020B0604020202020204" pitchFamily="34" charset="0"/>
        <a:buChar char="•"/>
        <a:defRPr sz="143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29742" rtl="0" eaLnBrk="1" latinLnBrk="0" hangingPunct="1">
        <a:defRPr sz="1436" kern="1200">
          <a:solidFill>
            <a:schemeClr val="tx1"/>
          </a:solidFill>
          <a:latin typeface="+mn-lt"/>
          <a:ea typeface="+mn-ea"/>
          <a:cs typeface="+mn-cs"/>
        </a:defRPr>
      </a:lvl1pPr>
      <a:lvl2pPr marL="364871" algn="l" defTabSz="729742" rtl="0" eaLnBrk="1" latinLnBrk="0" hangingPunct="1">
        <a:defRPr sz="1436" kern="1200">
          <a:solidFill>
            <a:schemeClr val="tx1"/>
          </a:solidFill>
          <a:latin typeface="+mn-lt"/>
          <a:ea typeface="+mn-ea"/>
          <a:cs typeface="+mn-cs"/>
        </a:defRPr>
      </a:lvl2pPr>
      <a:lvl3pPr marL="729742" algn="l" defTabSz="729742" rtl="0" eaLnBrk="1" latinLnBrk="0" hangingPunct="1">
        <a:defRPr sz="1436" kern="1200">
          <a:solidFill>
            <a:schemeClr val="tx1"/>
          </a:solidFill>
          <a:latin typeface="+mn-lt"/>
          <a:ea typeface="+mn-ea"/>
          <a:cs typeface="+mn-cs"/>
        </a:defRPr>
      </a:lvl3pPr>
      <a:lvl4pPr marL="1094613" algn="l" defTabSz="729742" rtl="0" eaLnBrk="1" latinLnBrk="0" hangingPunct="1">
        <a:defRPr sz="1436" kern="1200">
          <a:solidFill>
            <a:schemeClr val="tx1"/>
          </a:solidFill>
          <a:latin typeface="+mn-lt"/>
          <a:ea typeface="+mn-ea"/>
          <a:cs typeface="+mn-cs"/>
        </a:defRPr>
      </a:lvl4pPr>
      <a:lvl5pPr marL="1459484" algn="l" defTabSz="729742" rtl="0" eaLnBrk="1" latinLnBrk="0" hangingPunct="1">
        <a:defRPr sz="1436" kern="1200">
          <a:solidFill>
            <a:schemeClr val="tx1"/>
          </a:solidFill>
          <a:latin typeface="+mn-lt"/>
          <a:ea typeface="+mn-ea"/>
          <a:cs typeface="+mn-cs"/>
        </a:defRPr>
      </a:lvl5pPr>
      <a:lvl6pPr marL="1824356" algn="l" defTabSz="729742" rtl="0" eaLnBrk="1" latinLnBrk="0" hangingPunct="1">
        <a:defRPr sz="1436" kern="1200">
          <a:solidFill>
            <a:schemeClr val="tx1"/>
          </a:solidFill>
          <a:latin typeface="+mn-lt"/>
          <a:ea typeface="+mn-ea"/>
          <a:cs typeface="+mn-cs"/>
        </a:defRPr>
      </a:lvl6pPr>
      <a:lvl7pPr marL="2189226" algn="l" defTabSz="729742" rtl="0" eaLnBrk="1" latinLnBrk="0" hangingPunct="1">
        <a:defRPr sz="1436" kern="1200">
          <a:solidFill>
            <a:schemeClr val="tx1"/>
          </a:solidFill>
          <a:latin typeface="+mn-lt"/>
          <a:ea typeface="+mn-ea"/>
          <a:cs typeface="+mn-cs"/>
        </a:defRPr>
      </a:lvl7pPr>
      <a:lvl8pPr marL="2554097" algn="l" defTabSz="729742" rtl="0" eaLnBrk="1" latinLnBrk="0" hangingPunct="1">
        <a:defRPr sz="1436" kern="1200">
          <a:solidFill>
            <a:schemeClr val="tx1"/>
          </a:solidFill>
          <a:latin typeface="+mn-lt"/>
          <a:ea typeface="+mn-ea"/>
          <a:cs typeface="+mn-cs"/>
        </a:defRPr>
      </a:lvl8pPr>
      <a:lvl9pPr marL="2918969" algn="l" defTabSz="729742" rtl="0" eaLnBrk="1" latinLnBrk="0" hangingPunct="1">
        <a:defRPr sz="143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1"/>
            <a:ext cx="9729788" cy="11611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9076" y="1161143"/>
            <a:ext cx="9034803" cy="50158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40179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ctr" defTabSz="838688" rtl="0" eaLnBrk="1" latinLnBrk="0" hangingPunct="1">
        <a:lnSpc>
          <a:spcPct val="90000"/>
        </a:lnSpc>
        <a:spcBef>
          <a:spcPct val="0"/>
        </a:spcBef>
        <a:buNone/>
        <a:defRPr sz="4036" kern="1200">
          <a:solidFill>
            <a:srgbClr val="002060"/>
          </a:solidFill>
          <a:latin typeface="Elephant" panose="02020904090505020303" pitchFamily="18" charset="0"/>
          <a:ea typeface="+mj-ea"/>
          <a:cs typeface="+mj-cs"/>
        </a:defRPr>
      </a:lvl1pPr>
    </p:titleStyle>
    <p:bodyStyle>
      <a:lvl1pPr marL="209672" indent="-209672" algn="l" defTabSz="838688" rtl="0" eaLnBrk="1" latinLnBrk="0" hangingPunct="1">
        <a:lnSpc>
          <a:spcPct val="90000"/>
        </a:lnSpc>
        <a:spcBef>
          <a:spcPts val="917"/>
        </a:spcBef>
        <a:buFont typeface="Arial" panose="020B0604020202020204" pitchFamily="34" charset="0"/>
        <a:buChar char="•"/>
        <a:defRPr sz="3669" kern="1200">
          <a:solidFill>
            <a:schemeClr val="tx1"/>
          </a:solidFill>
          <a:latin typeface="+mn-lt"/>
          <a:ea typeface="+mn-ea"/>
          <a:cs typeface="+mn-cs"/>
        </a:defRPr>
      </a:lvl1pPr>
      <a:lvl2pPr marL="629016" indent="-209672" algn="l" defTabSz="838688" rtl="0" eaLnBrk="1" latinLnBrk="0" hangingPunct="1">
        <a:lnSpc>
          <a:spcPct val="90000"/>
        </a:lnSpc>
        <a:spcBef>
          <a:spcPts val="459"/>
        </a:spcBef>
        <a:buFont typeface="Arial" panose="020B0604020202020204" pitchFamily="34" charset="0"/>
        <a:buChar char="•"/>
        <a:defRPr sz="3302" kern="1200">
          <a:solidFill>
            <a:schemeClr val="tx1"/>
          </a:solidFill>
          <a:latin typeface="+mn-lt"/>
          <a:ea typeface="+mn-ea"/>
          <a:cs typeface="+mn-cs"/>
        </a:defRPr>
      </a:lvl2pPr>
      <a:lvl3pPr marL="1048360" indent="-209672" algn="l" defTabSz="838688" rtl="0" eaLnBrk="1" latinLnBrk="0" hangingPunct="1">
        <a:lnSpc>
          <a:spcPct val="90000"/>
        </a:lnSpc>
        <a:spcBef>
          <a:spcPts val="459"/>
        </a:spcBef>
        <a:buFont typeface="Arial" panose="020B0604020202020204" pitchFamily="34" charset="0"/>
        <a:buChar char="•"/>
        <a:defRPr sz="2935" kern="1200">
          <a:solidFill>
            <a:schemeClr val="tx1"/>
          </a:solidFill>
          <a:latin typeface="+mn-lt"/>
          <a:ea typeface="+mn-ea"/>
          <a:cs typeface="+mn-cs"/>
        </a:defRPr>
      </a:lvl3pPr>
      <a:lvl4pPr marL="1467703" indent="-209672" algn="l" defTabSz="838688" rtl="0" eaLnBrk="1" latinLnBrk="0" hangingPunct="1">
        <a:lnSpc>
          <a:spcPct val="90000"/>
        </a:lnSpc>
        <a:spcBef>
          <a:spcPts val="459"/>
        </a:spcBef>
        <a:buFont typeface="Arial" panose="020B0604020202020204" pitchFamily="34" charset="0"/>
        <a:buChar char="•"/>
        <a:defRPr sz="2568" kern="1200">
          <a:solidFill>
            <a:schemeClr val="tx1"/>
          </a:solidFill>
          <a:latin typeface="+mn-lt"/>
          <a:ea typeface="+mn-ea"/>
          <a:cs typeface="+mn-cs"/>
        </a:defRPr>
      </a:lvl4pPr>
      <a:lvl5pPr marL="1887047" indent="-209672" algn="l" defTabSz="838688" rtl="0" eaLnBrk="1" latinLnBrk="0" hangingPunct="1">
        <a:lnSpc>
          <a:spcPct val="90000"/>
        </a:lnSpc>
        <a:spcBef>
          <a:spcPts val="459"/>
        </a:spcBef>
        <a:buFont typeface="Arial" panose="020B0604020202020204" pitchFamily="34" charset="0"/>
        <a:buChar char="•"/>
        <a:defRPr sz="2568" kern="1200">
          <a:solidFill>
            <a:schemeClr val="tx1"/>
          </a:solidFill>
          <a:latin typeface="+mn-lt"/>
          <a:ea typeface="+mn-ea"/>
          <a:cs typeface="+mn-cs"/>
        </a:defRPr>
      </a:lvl5pPr>
      <a:lvl6pPr marL="2306391" indent="-209672" algn="l" defTabSz="838688" rtl="0" eaLnBrk="1" latinLnBrk="0" hangingPunct="1">
        <a:lnSpc>
          <a:spcPct val="90000"/>
        </a:lnSpc>
        <a:spcBef>
          <a:spcPts val="459"/>
        </a:spcBef>
        <a:buFont typeface="Arial" panose="020B0604020202020204" pitchFamily="34" charset="0"/>
        <a:buChar char="•"/>
        <a:defRPr sz="1651" kern="1200">
          <a:solidFill>
            <a:schemeClr val="tx1"/>
          </a:solidFill>
          <a:latin typeface="+mn-lt"/>
          <a:ea typeface="+mn-ea"/>
          <a:cs typeface="+mn-cs"/>
        </a:defRPr>
      </a:lvl6pPr>
      <a:lvl7pPr marL="2725735" indent="-209672" algn="l" defTabSz="838688" rtl="0" eaLnBrk="1" latinLnBrk="0" hangingPunct="1">
        <a:lnSpc>
          <a:spcPct val="90000"/>
        </a:lnSpc>
        <a:spcBef>
          <a:spcPts val="459"/>
        </a:spcBef>
        <a:buFont typeface="Arial" panose="020B0604020202020204" pitchFamily="34" charset="0"/>
        <a:buChar char="•"/>
        <a:defRPr sz="1651" kern="1200">
          <a:solidFill>
            <a:schemeClr val="tx1"/>
          </a:solidFill>
          <a:latin typeface="+mn-lt"/>
          <a:ea typeface="+mn-ea"/>
          <a:cs typeface="+mn-cs"/>
        </a:defRPr>
      </a:lvl7pPr>
      <a:lvl8pPr marL="3145079" indent="-209672" algn="l" defTabSz="838688" rtl="0" eaLnBrk="1" latinLnBrk="0" hangingPunct="1">
        <a:lnSpc>
          <a:spcPct val="90000"/>
        </a:lnSpc>
        <a:spcBef>
          <a:spcPts val="459"/>
        </a:spcBef>
        <a:buFont typeface="Arial" panose="020B0604020202020204" pitchFamily="34" charset="0"/>
        <a:buChar char="•"/>
        <a:defRPr sz="1651" kern="1200">
          <a:solidFill>
            <a:schemeClr val="tx1"/>
          </a:solidFill>
          <a:latin typeface="+mn-lt"/>
          <a:ea typeface="+mn-ea"/>
          <a:cs typeface="+mn-cs"/>
        </a:defRPr>
      </a:lvl8pPr>
      <a:lvl9pPr marL="3564423" indent="-209672" algn="l" defTabSz="838688" rtl="0" eaLnBrk="1" latinLnBrk="0" hangingPunct="1">
        <a:lnSpc>
          <a:spcPct val="90000"/>
        </a:lnSpc>
        <a:spcBef>
          <a:spcPts val="459"/>
        </a:spcBef>
        <a:buFont typeface="Arial" panose="020B0604020202020204" pitchFamily="34" charset="0"/>
        <a:buChar char="•"/>
        <a:defRPr sz="165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38688" rtl="0" eaLnBrk="1" latinLnBrk="0" hangingPunct="1">
        <a:defRPr sz="1651" kern="1200">
          <a:solidFill>
            <a:schemeClr val="tx1"/>
          </a:solidFill>
          <a:latin typeface="+mn-lt"/>
          <a:ea typeface="+mn-ea"/>
          <a:cs typeface="+mn-cs"/>
        </a:defRPr>
      </a:lvl1pPr>
      <a:lvl2pPr marL="419344" algn="l" defTabSz="838688" rtl="0" eaLnBrk="1" latinLnBrk="0" hangingPunct="1">
        <a:defRPr sz="1651" kern="1200">
          <a:solidFill>
            <a:schemeClr val="tx1"/>
          </a:solidFill>
          <a:latin typeface="+mn-lt"/>
          <a:ea typeface="+mn-ea"/>
          <a:cs typeface="+mn-cs"/>
        </a:defRPr>
      </a:lvl2pPr>
      <a:lvl3pPr marL="838688" algn="l" defTabSz="838688" rtl="0" eaLnBrk="1" latinLnBrk="0" hangingPunct="1">
        <a:defRPr sz="1651" kern="1200">
          <a:solidFill>
            <a:schemeClr val="tx1"/>
          </a:solidFill>
          <a:latin typeface="+mn-lt"/>
          <a:ea typeface="+mn-ea"/>
          <a:cs typeface="+mn-cs"/>
        </a:defRPr>
      </a:lvl3pPr>
      <a:lvl4pPr marL="1258032" algn="l" defTabSz="838688" rtl="0" eaLnBrk="1" latinLnBrk="0" hangingPunct="1">
        <a:defRPr sz="1651" kern="1200">
          <a:solidFill>
            <a:schemeClr val="tx1"/>
          </a:solidFill>
          <a:latin typeface="+mn-lt"/>
          <a:ea typeface="+mn-ea"/>
          <a:cs typeface="+mn-cs"/>
        </a:defRPr>
      </a:lvl4pPr>
      <a:lvl5pPr marL="1677375" algn="l" defTabSz="838688" rtl="0" eaLnBrk="1" latinLnBrk="0" hangingPunct="1">
        <a:defRPr sz="1651" kern="1200">
          <a:solidFill>
            <a:schemeClr val="tx1"/>
          </a:solidFill>
          <a:latin typeface="+mn-lt"/>
          <a:ea typeface="+mn-ea"/>
          <a:cs typeface="+mn-cs"/>
        </a:defRPr>
      </a:lvl5pPr>
      <a:lvl6pPr marL="2096719" algn="l" defTabSz="838688" rtl="0" eaLnBrk="1" latinLnBrk="0" hangingPunct="1">
        <a:defRPr sz="1651" kern="1200">
          <a:solidFill>
            <a:schemeClr val="tx1"/>
          </a:solidFill>
          <a:latin typeface="+mn-lt"/>
          <a:ea typeface="+mn-ea"/>
          <a:cs typeface="+mn-cs"/>
        </a:defRPr>
      </a:lvl6pPr>
      <a:lvl7pPr marL="2516063" algn="l" defTabSz="838688" rtl="0" eaLnBrk="1" latinLnBrk="0" hangingPunct="1">
        <a:defRPr sz="1651" kern="1200">
          <a:solidFill>
            <a:schemeClr val="tx1"/>
          </a:solidFill>
          <a:latin typeface="+mn-lt"/>
          <a:ea typeface="+mn-ea"/>
          <a:cs typeface="+mn-cs"/>
        </a:defRPr>
      </a:lvl7pPr>
      <a:lvl8pPr marL="2935407" algn="l" defTabSz="838688" rtl="0" eaLnBrk="1" latinLnBrk="0" hangingPunct="1">
        <a:defRPr sz="1651" kern="1200">
          <a:solidFill>
            <a:schemeClr val="tx1"/>
          </a:solidFill>
          <a:latin typeface="+mn-lt"/>
          <a:ea typeface="+mn-ea"/>
          <a:cs typeface="+mn-cs"/>
        </a:defRPr>
      </a:lvl8pPr>
      <a:lvl9pPr marL="3354751" algn="l" defTabSz="838688" rtl="0" eaLnBrk="1" latinLnBrk="0" hangingPunct="1">
        <a:defRPr sz="16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1"/>
            <a:ext cx="9729788" cy="11611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9076" y="1161143"/>
            <a:ext cx="9034803" cy="50158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656270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defTabSz="838688" rtl="0" eaLnBrk="1" latinLnBrk="0" hangingPunct="1">
        <a:lnSpc>
          <a:spcPct val="90000"/>
        </a:lnSpc>
        <a:spcBef>
          <a:spcPct val="0"/>
        </a:spcBef>
        <a:buNone/>
        <a:defRPr sz="4036" kern="1200">
          <a:solidFill>
            <a:srgbClr val="002060"/>
          </a:solidFill>
          <a:latin typeface="Elephant" panose="02020904090505020303" pitchFamily="18" charset="0"/>
          <a:ea typeface="+mj-ea"/>
          <a:cs typeface="+mj-cs"/>
        </a:defRPr>
      </a:lvl1pPr>
    </p:titleStyle>
    <p:bodyStyle>
      <a:lvl1pPr marL="209672" indent="-209672" algn="l" defTabSz="838688" rtl="0" eaLnBrk="1" latinLnBrk="0" hangingPunct="1">
        <a:lnSpc>
          <a:spcPct val="90000"/>
        </a:lnSpc>
        <a:spcBef>
          <a:spcPts val="917"/>
        </a:spcBef>
        <a:buFont typeface="Arial" panose="020B0604020202020204" pitchFamily="34" charset="0"/>
        <a:buChar char="•"/>
        <a:defRPr sz="3669" kern="1200">
          <a:solidFill>
            <a:schemeClr val="tx1"/>
          </a:solidFill>
          <a:latin typeface="+mn-lt"/>
          <a:ea typeface="+mn-ea"/>
          <a:cs typeface="+mn-cs"/>
        </a:defRPr>
      </a:lvl1pPr>
      <a:lvl2pPr marL="629016" indent="-209672" algn="l" defTabSz="838688" rtl="0" eaLnBrk="1" latinLnBrk="0" hangingPunct="1">
        <a:lnSpc>
          <a:spcPct val="90000"/>
        </a:lnSpc>
        <a:spcBef>
          <a:spcPts val="459"/>
        </a:spcBef>
        <a:buFont typeface="Arial" panose="020B0604020202020204" pitchFamily="34" charset="0"/>
        <a:buChar char="•"/>
        <a:defRPr sz="3302" kern="1200">
          <a:solidFill>
            <a:schemeClr val="tx1"/>
          </a:solidFill>
          <a:latin typeface="+mn-lt"/>
          <a:ea typeface="+mn-ea"/>
          <a:cs typeface="+mn-cs"/>
        </a:defRPr>
      </a:lvl2pPr>
      <a:lvl3pPr marL="1048360" indent="-209672" algn="l" defTabSz="838688" rtl="0" eaLnBrk="1" latinLnBrk="0" hangingPunct="1">
        <a:lnSpc>
          <a:spcPct val="90000"/>
        </a:lnSpc>
        <a:spcBef>
          <a:spcPts val="459"/>
        </a:spcBef>
        <a:buFont typeface="Arial" panose="020B0604020202020204" pitchFamily="34" charset="0"/>
        <a:buChar char="•"/>
        <a:defRPr sz="2935" kern="1200">
          <a:solidFill>
            <a:schemeClr val="tx1"/>
          </a:solidFill>
          <a:latin typeface="+mn-lt"/>
          <a:ea typeface="+mn-ea"/>
          <a:cs typeface="+mn-cs"/>
        </a:defRPr>
      </a:lvl3pPr>
      <a:lvl4pPr marL="1467703" indent="-209672" algn="l" defTabSz="838688" rtl="0" eaLnBrk="1" latinLnBrk="0" hangingPunct="1">
        <a:lnSpc>
          <a:spcPct val="90000"/>
        </a:lnSpc>
        <a:spcBef>
          <a:spcPts val="459"/>
        </a:spcBef>
        <a:buFont typeface="Arial" panose="020B0604020202020204" pitchFamily="34" charset="0"/>
        <a:buChar char="•"/>
        <a:defRPr sz="2568" kern="1200">
          <a:solidFill>
            <a:schemeClr val="tx1"/>
          </a:solidFill>
          <a:latin typeface="+mn-lt"/>
          <a:ea typeface="+mn-ea"/>
          <a:cs typeface="+mn-cs"/>
        </a:defRPr>
      </a:lvl4pPr>
      <a:lvl5pPr marL="1887047" indent="-209672" algn="l" defTabSz="838688" rtl="0" eaLnBrk="1" latinLnBrk="0" hangingPunct="1">
        <a:lnSpc>
          <a:spcPct val="90000"/>
        </a:lnSpc>
        <a:spcBef>
          <a:spcPts val="459"/>
        </a:spcBef>
        <a:buFont typeface="Arial" panose="020B0604020202020204" pitchFamily="34" charset="0"/>
        <a:buChar char="•"/>
        <a:defRPr sz="2568" kern="1200">
          <a:solidFill>
            <a:schemeClr val="tx1"/>
          </a:solidFill>
          <a:latin typeface="+mn-lt"/>
          <a:ea typeface="+mn-ea"/>
          <a:cs typeface="+mn-cs"/>
        </a:defRPr>
      </a:lvl5pPr>
      <a:lvl6pPr marL="2306391" indent="-209672" algn="l" defTabSz="838688" rtl="0" eaLnBrk="1" latinLnBrk="0" hangingPunct="1">
        <a:lnSpc>
          <a:spcPct val="90000"/>
        </a:lnSpc>
        <a:spcBef>
          <a:spcPts val="459"/>
        </a:spcBef>
        <a:buFont typeface="Arial" panose="020B0604020202020204" pitchFamily="34" charset="0"/>
        <a:buChar char="•"/>
        <a:defRPr sz="1651" kern="1200">
          <a:solidFill>
            <a:schemeClr val="tx1"/>
          </a:solidFill>
          <a:latin typeface="+mn-lt"/>
          <a:ea typeface="+mn-ea"/>
          <a:cs typeface="+mn-cs"/>
        </a:defRPr>
      </a:lvl6pPr>
      <a:lvl7pPr marL="2725735" indent="-209672" algn="l" defTabSz="838688" rtl="0" eaLnBrk="1" latinLnBrk="0" hangingPunct="1">
        <a:lnSpc>
          <a:spcPct val="90000"/>
        </a:lnSpc>
        <a:spcBef>
          <a:spcPts val="459"/>
        </a:spcBef>
        <a:buFont typeface="Arial" panose="020B0604020202020204" pitchFamily="34" charset="0"/>
        <a:buChar char="•"/>
        <a:defRPr sz="1651" kern="1200">
          <a:solidFill>
            <a:schemeClr val="tx1"/>
          </a:solidFill>
          <a:latin typeface="+mn-lt"/>
          <a:ea typeface="+mn-ea"/>
          <a:cs typeface="+mn-cs"/>
        </a:defRPr>
      </a:lvl7pPr>
      <a:lvl8pPr marL="3145079" indent="-209672" algn="l" defTabSz="838688" rtl="0" eaLnBrk="1" latinLnBrk="0" hangingPunct="1">
        <a:lnSpc>
          <a:spcPct val="90000"/>
        </a:lnSpc>
        <a:spcBef>
          <a:spcPts val="459"/>
        </a:spcBef>
        <a:buFont typeface="Arial" panose="020B0604020202020204" pitchFamily="34" charset="0"/>
        <a:buChar char="•"/>
        <a:defRPr sz="1651" kern="1200">
          <a:solidFill>
            <a:schemeClr val="tx1"/>
          </a:solidFill>
          <a:latin typeface="+mn-lt"/>
          <a:ea typeface="+mn-ea"/>
          <a:cs typeface="+mn-cs"/>
        </a:defRPr>
      </a:lvl8pPr>
      <a:lvl9pPr marL="3564423" indent="-209672" algn="l" defTabSz="838688" rtl="0" eaLnBrk="1" latinLnBrk="0" hangingPunct="1">
        <a:lnSpc>
          <a:spcPct val="90000"/>
        </a:lnSpc>
        <a:spcBef>
          <a:spcPts val="459"/>
        </a:spcBef>
        <a:buFont typeface="Arial" panose="020B0604020202020204" pitchFamily="34" charset="0"/>
        <a:buChar char="•"/>
        <a:defRPr sz="165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38688" rtl="0" eaLnBrk="1" latinLnBrk="0" hangingPunct="1">
        <a:defRPr sz="1651" kern="1200">
          <a:solidFill>
            <a:schemeClr val="tx1"/>
          </a:solidFill>
          <a:latin typeface="+mn-lt"/>
          <a:ea typeface="+mn-ea"/>
          <a:cs typeface="+mn-cs"/>
        </a:defRPr>
      </a:lvl1pPr>
      <a:lvl2pPr marL="419344" algn="l" defTabSz="838688" rtl="0" eaLnBrk="1" latinLnBrk="0" hangingPunct="1">
        <a:defRPr sz="1651" kern="1200">
          <a:solidFill>
            <a:schemeClr val="tx1"/>
          </a:solidFill>
          <a:latin typeface="+mn-lt"/>
          <a:ea typeface="+mn-ea"/>
          <a:cs typeface="+mn-cs"/>
        </a:defRPr>
      </a:lvl2pPr>
      <a:lvl3pPr marL="838688" algn="l" defTabSz="838688" rtl="0" eaLnBrk="1" latinLnBrk="0" hangingPunct="1">
        <a:defRPr sz="1651" kern="1200">
          <a:solidFill>
            <a:schemeClr val="tx1"/>
          </a:solidFill>
          <a:latin typeface="+mn-lt"/>
          <a:ea typeface="+mn-ea"/>
          <a:cs typeface="+mn-cs"/>
        </a:defRPr>
      </a:lvl3pPr>
      <a:lvl4pPr marL="1258032" algn="l" defTabSz="838688" rtl="0" eaLnBrk="1" latinLnBrk="0" hangingPunct="1">
        <a:defRPr sz="1651" kern="1200">
          <a:solidFill>
            <a:schemeClr val="tx1"/>
          </a:solidFill>
          <a:latin typeface="+mn-lt"/>
          <a:ea typeface="+mn-ea"/>
          <a:cs typeface="+mn-cs"/>
        </a:defRPr>
      </a:lvl4pPr>
      <a:lvl5pPr marL="1677375" algn="l" defTabSz="838688" rtl="0" eaLnBrk="1" latinLnBrk="0" hangingPunct="1">
        <a:defRPr sz="1651" kern="1200">
          <a:solidFill>
            <a:schemeClr val="tx1"/>
          </a:solidFill>
          <a:latin typeface="+mn-lt"/>
          <a:ea typeface="+mn-ea"/>
          <a:cs typeface="+mn-cs"/>
        </a:defRPr>
      </a:lvl5pPr>
      <a:lvl6pPr marL="2096719" algn="l" defTabSz="838688" rtl="0" eaLnBrk="1" latinLnBrk="0" hangingPunct="1">
        <a:defRPr sz="1651" kern="1200">
          <a:solidFill>
            <a:schemeClr val="tx1"/>
          </a:solidFill>
          <a:latin typeface="+mn-lt"/>
          <a:ea typeface="+mn-ea"/>
          <a:cs typeface="+mn-cs"/>
        </a:defRPr>
      </a:lvl6pPr>
      <a:lvl7pPr marL="2516063" algn="l" defTabSz="838688" rtl="0" eaLnBrk="1" latinLnBrk="0" hangingPunct="1">
        <a:defRPr sz="1651" kern="1200">
          <a:solidFill>
            <a:schemeClr val="tx1"/>
          </a:solidFill>
          <a:latin typeface="+mn-lt"/>
          <a:ea typeface="+mn-ea"/>
          <a:cs typeface="+mn-cs"/>
        </a:defRPr>
      </a:lvl7pPr>
      <a:lvl8pPr marL="2935407" algn="l" defTabSz="838688" rtl="0" eaLnBrk="1" latinLnBrk="0" hangingPunct="1">
        <a:defRPr sz="1651" kern="1200">
          <a:solidFill>
            <a:schemeClr val="tx1"/>
          </a:solidFill>
          <a:latin typeface="+mn-lt"/>
          <a:ea typeface="+mn-ea"/>
          <a:cs typeface="+mn-cs"/>
        </a:defRPr>
      </a:lvl8pPr>
      <a:lvl9pPr marL="3354751" algn="l" defTabSz="838688" rtl="0" eaLnBrk="1" latinLnBrk="0" hangingPunct="1">
        <a:defRPr sz="16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1"/>
            <a:ext cx="9729788" cy="11611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9076" y="1161143"/>
            <a:ext cx="9034803" cy="50158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61729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ctr" defTabSz="729742" rtl="0" eaLnBrk="1" latinLnBrk="0" hangingPunct="1">
        <a:lnSpc>
          <a:spcPct val="90000"/>
        </a:lnSpc>
        <a:spcBef>
          <a:spcPct val="0"/>
        </a:spcBef>
        <a:buNone/>
        <a:defRPr sz="3511" kern="1200">
          <a:solidFill>
            <a:srgbClr val="002060"/>
          </a:solidFill>
          <a:latin typeface="Elephant" panose="02020904090505020303" pitchFamily="18" charset="0"/>
          <a:ea typeface="+mj-ea"/>
          <a:cs typeface="+mj-cs"/>
        </a:defRPr>
      </a:lvl1pPr>
    </p:titleStyle>
    <p:bodyStyle>
      <a:lvl1pPr marL="182436" indent="-182436" algn="l" defTabSz="729742" rtl="0" eaLnBrk="1" latinLnBrk="0" hangingPunct="1">
        <a:lnSpc>
          <a:spcPct val="90000"/>
        </a:lnSpc>
        <a:spcBef>
          <a:spcPts val="798"/>
        </a:spcBef>
        <a:buFont typeface="Arial" panose="020B0604020202020204" pitchFamily="34" charset="0"/>
        <a:buChar char="•"/>
        <a:defRPr sz="3192" kern="1200">
          <a:solidFill>
            <a:schemeClr val="tx1"/>
          </a:solidFill>
          <a:latin typeface="+mn-lt"/>
          <a:ea typeface="+mn-ea"/>
          <a:cs typeface="+mn-cs"/>
        </a:defRPr>
      </a:lvl1pPr>
      <a:lvl2pPr marL="547307" indent="-182436" algn="l" defTabSz="729742" rtl="0" eaLnBrk="1" latinLnBrk="0" hangingPunct="1">
        <a:lnSpc>
          <a:spcPct val="90000"/>
        </a:lnSpc>
        <a:spcBef>
          <a:spcPts val="399"/>
        </a:spcBef>
        <a:buFont typeface="Arial" panose="020B0604020202020204" pitchFamily="34" charset="0"/>
        <a:buChar char="•"/>
        <a:defRPr sz="2873" kern="1200">
          <a:solidFill>
            <a:schemeClr val="tx1"/>
          </a:solidFill>
          <a:latin typeface="+mn-lt"/>
          <a:ea typeface="+mn-ea"/>
          <a:cs typeface="+mn-cs"/>
        </a:defRPr>
      </a:lvl2pPr>
      <a:lvl3pPr marL="912177" indent="-182436" algn="l" defTabSz="729742" rtl="0" eaLnBrk="1" latinLnBrk="0" hangingPunct="1">
        <a:lnSpc>
          <a:spcPct val="90000"/>
        </a:lnSpc>
        <a:spcBef>
          <a:spcPts val="399"/>
        </a:spcBef>
        <a:buFont typeface="Arial" panose="020B0604020202020204" pitchFamily="34" charset="0"/>
        <a:buChar char="•"/>
        <a:defRPr sz="2553" kern="1200">
          <a:solidFill>
            <a:schemeClr val="tx1"/>
          </a:solidFill>
          <a:latin typeface="+mn-lt"/>
          <a:ea typeface="+mn-ea"/>
          <a:cs typeface="+mn-cs"/>
        </a:defRPr>
      </a:lvl3pPr>
      <a:lvl4pPr marL="1277049" indent="-182436" algn="l" defTabSz="729742" rtl="0" eaLnBrk="1" latinLnBrk="0" hangingPunct="1">
        <a:lnSpc>
          <a:spcPct val="90000"/>
        </a:lnSpc>
        <a:spcBef>
          <a:spcPts val="399"/>
        </a:spcBef>
        <a:buFont typeface="Arial" panose="020B0604020202020204" pitchFamily="34" charset="0"/>
        <a:buChar char="•"/>
        <a:defRPr sz="2234" kern="1200">
          <a:solidFill>
            <a:schemeClr val="tx1"/>
          </a:solidFill>
          <a:latin typeface="+mn-lt"/>
          <a:ea typeface="+mn-ea"/>
          <a:cs typeface="+mn-cs"/>
        </a:defRPr>
      </a:lvl4pPr>
      <a:lvl5pPr marL="1641920" indent="-182436" algn="l" defTabSz="729742" rtl="0" eaLnBrk="1" latinLnBrk="0" hangingPunct="1">
        <a:lnSpc>
          <a:spcPct val="90000"/>
        </a:lnSpc>
        <a:spcBef>
          <a:spcPts val="399"/>
        </a:spcBef>
        <a:buFont typeface="Arial" panose="020B0604020202020204" pitchFamily="34" charset="0"/>
        <a:buChar char="•"/>
        <a:defRPr sz="2234" kern="1200">
          <a:solidFill>
            <a:schemeClr val="tx1"/>
          </a:solidFill>
          <a:latin typeface="+mn-lt"/>
          <a:ea typeface="+mn-ea"/>
          <a:cs typeface="+mn-cs"/>
        </a:defRPr>
      </a:lvl5pPr>
      <a:lvl6pPr marL="2006790" indent="-182436" algn="l" defTabSz="729742" rtl="0" eaLnBrk="1" latinLnBrk="0" hangingPunct="1">
        <a:lnSpc>
          <a:spcPct val="90000"/>
        </a:lnSpc>
        <a:spcBef>
          <a:spcPts val="399"/>
        </a:spcBef>
        <a:buFont typeface="Arial" panose="020B0604020202020204" pitchFamily="34" charset="0"/>
        <a:buChar char="•"/>
        <a:defRPr sz="1436" kern="1200">
          <a:solidFill>
            <a:schemeClr val="tx1"/>
          </a:solidFill>
          <a:latin typeface="+mn-lt"/>
          <a:ea typeface="+mn-ea"/>
          <a:cs typeface="+mn-cs"/>
        </a:defRPr>
      </a:lvl6pPr>
      <a:lvl7pPr marL="2371662" indent="-182436" algn="l" defTabSz="729742" rtl="0" eaLnBrk="1" latinLnBrk="0" hangingPunct="1">
        <a:lnSpc>
          <a:spcPct val="90000"/>
        </a:lnSpc>
        <a:spcBef>
          <a:spcPts val="399"/>
        </a:spcBef>
        <a:buFont typeface="Arial" panose="020B0604020202020204" pitchFamily="34" charset="0"/>
        <a:buChar char="•"/>
        <a:defRPr sz="1436" kern="1200">
          <a:solidFill>
            <a:schemeClr val="tx1"/>
          </a:solidFill>
          <a:latin typeface="+mn-lt"/>
          <a:ea typeface="+mn-ea"/>
          <a:cs typeface="+mn-cs"/>
        </a:defRPr>
      </a:lvl7pPr>
      <a:lvl8pPr marL="2736533" indent="-182436" algn="l" defTabSz="729742" rtl="0" eaLnBrk="1" latinLnBrk="0" hangingPunct="1">
        <a:lnSpc>
          <a:spcPct val="90000"/>
        </a:lnSpc>
        <a:spcBef>
          <a:spcPts val="399"/>
        </a:spcBef>
        <a:buFont typeface="Arial" panose="020B0604020202020204" pitchFamily="34" charset="0"/>
        <a:buChar char="•"/>
        <a:defRPr sz="1436" kern="1200">
          <a:solidFill>
            <a:schemeClr val="tx1"/>
          </a:solidFill>
          <a:latin typeface="+mn-lt"/>
          <a:ea typeface="+mn-ea"/>
          <a:cs typeface="+mn-cs"/>
        </a:defRPr>
      </a:lvl8pPr>
      <a:lvl9pPr marL="3101404" indent="-182436" algn="l" defTabSz="729742" rtl="0" eaLnBrk="1" latinLnBrk="0" hangingPunct="1">
        <a:lnSpc>
          <a:spcPct val="90000"/>
        </a:lnSpc>
        <a:spcBef>
          <a:spcPts val="399"/>
        </a:spcBef>
        <a:buFont typeface="Arial" panose="020B0604020202020204" pitchFamily="34" charset="0"/>
        <a:buChar char="•"/>
        <a:defRPr sz="143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29742" rtl="0" eaLnBrk="1" latinLnBrk="0" hangingPunct="1">
        <a:defRPr sz="1436" kern="1200">
          <a:solidFill>
            <a:schemeClr val="tx1"/>
          </a:solidFill>
          <a:latin typeface="+mn-lt"/>
          <a:ea typeface="+mn-ea"/>
          <a:cs typeface="+mn-cs"/>
        </a:defRPr>
      </a:lvl1pPr>
      <a:lvl2pPr marL="364871" algn="l" defTabSz="729742" rtl="0" eaLnBrk="1" latinLnBrk="0" hangingPunct="1">
        <a:defRPr sz="1436" kern="1200">
          <a:solidFill>
            <a:schemeClr val="tx1"/>
          </a:solidFill>
          <a:latin typeface="+mn-lt"/>
          <a:ea typeface="+mn-ea"/>
          <a:cs typeface="+mn-cs"/>
        </a:defRPr>
      </a:lvl2pPr>
      <a:lvl3pPr marL="729742" algn="l" defTabSz="729742" rtl="0" eaLnBrk="1" latinLnBrk="0" hangingPunct="1">
        <a:defRPr sz="1436" kern="1200">
          <a:solidFill>
            <a:schemeClr val="tx1"/>
          </a:solidFill>
          <a:latin typeface="+mn-lt"/>
          <a:ea typeface="+mn-ea"/>
          <a:cs typeface="+mn-cs"/>
        </a:defRPr>
      </a:lvl3pPr>
      <a:lvl4pPr marL="1094613" algn="l" defTabSz="729742" rtl="0" eaLnBrk="1" latinLnBrk="0" hangingPunct="1">
        <a:defRPr sz="1436" kern="1200">
          <a:solidFill>
            <a:schemeClr val="tx1"/>
          </a:solidFill>
          <a:latin typeface="+mn-lt"/>
          <a:ea typeface="+mn-ea"/>
          <a:cs typeface="+mn-cs"/>
        </a:defRPr>
      </a:lvl4pPr>
      <a:lvl5pPr marL="1459484" algn="l" defTabSz="729742" rtl="0" eaLnBrk="1" latinLnBrk="0" hangingPunct="1">
        <a:defRPr sz="1436" kern="1200">
          <a:solidFill>
            <a:schemeClr val="tx1"/>
          </a:solidFill>
          <a:latin typeface="+mn-lt"/>
          <a:ea typeface="+mn-ea"/>
          <a:cs typeface="+mn-cs"/>
        </a:defRPr>
      </a:lvl5pPr>
      <a:lvl6pPr marL="1824356" algn="l" defTabSz="729742" rtl="0" eaLnBrk="1" latinLnBrk="0" hangingPunct="1">
        <a:defRPr sz="1436" kern="1200">
          <a:solidFill>
            <a:schemeClr val="tx1"/>
          </a:solidFill>
          <a:latin typeface="+mn-lt"/>
          <a:ea typeface="+mn-ea"/>
          <a:cs typeface="+mn-cs"/>
        </a:defRPr>
      </a:lvl6pPr>
      <a:lvl7pPr marL="2189226" algn="l" defTabSz="729742" rtl="0" eaLnBrk="1" latinLnBrk="0" hangingPunct="1">
        <a:defRPr sz="1436" kern="1200">
          <a:solidFill>
            <a:schemeClr val="tx1"/>
          </a:solidFill>
          <a:latin typeface="+mn-lt"/>
          <a:ea typeface="+mn-ea"/>
          <a:cs typeface="+mn-cs"/>
        </a:defRPr>
      </a:lvl7pPr>
      <a:lvl8pPr marL="2554097" algn="l" defTabSz="729742" rtl="0" eaLnBrk="1" latinLnBrk="0" hangingPunct="1">
        <a:defRPr sz="1436" kern="1200">
          <a:solidFill>
            <a:schemeClr val="tx1"/>
          </a:solidFill>
          <a:latin typeface="+mn-lt"/>
          <a:ea typeface="+mn-ea"/>
          <a:cs typeface="+mn-cs"/>
        </a:defRPr>
      </a:lvl8pPr>
      <a:lvl9pPr marL="2918969" algn="l" defTabSz="729742" rtl="0" eaLnBrk="1" latinLnBrk="0" hangingPunct="1">
        <a:defRPr sz="143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67571" y="381000"/>
            <a:ext cx="8594646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67571" y="1295401"/>
            <a:ext cx="8594646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67571" y="6324601"/>
            <a:ext cx="6243281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399">
                <a:solidFill>
                  <a:srgbClr val="222222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73015" y="6324601"/>
            <a:ext cx="2189202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399">
                <a:solidFill>
                  <a:srgbClr val="222222"/>
                </a:solidFill>
                <a:latin typeface="Arial" pitchFamily="34" charset="0"/>
                <a:ea typeface="MS PGothic" pitchFamily="34" charset="-128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EECBAB90-F380-4A7C-A3EC-C9AFA9EB0263}" type="slidenum">
              <a:rPr lang="en-US" altLang="en-US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375621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598">
          <a:solidFill>
            <a:srgbClr val="2D2DB9"/>
          </a:solidFill>
          <a:latin typeface="+mj-lt"/>
          <a:ea typeface="MS PGothic" pitchFamily="34" charset="-128"/>
          <a:cs typeface="ＭＳ Ｐゴシック" pitchFamily="-65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598">
          <a:solidFill>
            <a:srgbClr val="2D2DB9"/>
          </a:solidFill>
          <a:latin typeface="Arial" charset="0"/>
          <a:ea typeface="MS PGothic" pitchFamily="34" charset="-128"/>
          <a:cs typeface="ＭＳ Ｐゴシック" pitchFamily="-65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598">
          <a:solidFill>
            <a:srgbClr val="2D2DB9"/>
          </a:solidFill>
          <a:latin typeface="Arial" charset="0"/>
          <a:ea typeface="MS PGothic" pitchFamily="34" charset="-128"/>
          <a:cs typeface="ＭＳ Ｐゴシック" pitchFamily="-65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598">
          <a:solidFill>
            <a:srgbClr val="2D2DB9"/>
          </a:solidFill>
          <a:latin typeface="Arial" charset="0"/>
          <a:ea typeface="MS PGothic" pitchFamily="34" charset="-128"/>
          <a:cs typeface="ＭＳ Ｐゴシック" pitchFamily="-65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598">
          <a:solidFill>
            <a:srgbClr val="2D2DB9"/>
          </a:solidFill>
          <a:latin typeface="Arial" charset="0"/>
          <a:ea typeface="MS PGothic" pitchFamily="34" charset="-128"/>
          <a:cs typeface="ＭＳ Ｐゴシック" pitchFamily="-65" charset="-128"/>
        </a:defRPr>
      </a:lvl5pPr>
      <a:lvl6pPr marL="456933" algn="ctr" rtl="0" eaLnBrk="1" fontAlgn="base" hangingPunct="1">
        <a:spcBef>
          <a:spcPct val="0"/>
        </a:spcBef>
        <a:spcAft>
          <a:spcPct val="0"/>
        </a:spcAft>
        <a:defRPr sz="3598">
          <a:solidFill>
            <a:srgbClr val="222222"/>
          </a:solidFill>
          <a:latin typeface="Arial" charset="0"/>
        </a:defRPr>
      </a:lvl6pPr>
      <a:lvl7pPr marL="913866" algn="ctr" rtl="0" eaLnBrk="1" fontAlgn="base" hangingPunct="1">
        <a:spcBef>
          <a:spcPct val="0"/>
        </a:spcBef>
        <a:spcAft>
          <a:spcPct val="0"/>
        </a:spcAft>
        <a:defRPr sz="3598">
          <a:solidFill>
            <a:srgbClr val="222222"/>
          </a:solidFill>
          <a:latin typeface="Arial" charset="0"/>
        </a:defRPr>
      </a:lvl7pPr>
      <a:lvl8pPr marL="1370800" algn="ctr" rtl="0" eaLnBrk="1" fontAlgn="base" hangingPunct="1">
        <a:spcBef>
          <a:spcPct val="0"/>
        </a:spcBef>
        <a:spcAft>
          <a:spcPct val="0"/>
        </a:spcAft>
        <a:defRPr sz="3598">
          <a:solidFill>
            <a:srgbClr val="222222"/>
          </a:solidFill>
          <a:latin typeface="Arial" charset="0"/>
        </a:defRPr>
      </a:lvl8pPr>
      <a:lvl9pPr marL="1827733" algn="ctr" rtl="0" eaLnBrk="1" fontAlgn="base" hangingPunct="1">
        <a:spcBef>
          <a:spcPct val="0"/>
        </a:spcBef>
        <a:spcAft>
          <a:spcPct val="0"/>
        </a:spcAft>
        <a:defRPr sz="3598">
          <a:solidFill>
            <a:srgbClr val="222222"/>
          </a:solidFill>
          <a:latin typeface="Arial" charset="0"/>
        </a:defRPr>
      </a:lvl9pPr>
    </p:titleStyle>
    <p:bodyStyle>
      <a:lvl1pPr marL="342700" indent="-342700" algn="l" rtl="0" eaLnBrk="0" fontAlgn="base" hangingPunct="0">
        <a:spcBef>
          <a:spcPct val="20000"/>
        </a:spcBef>
        <a:spcAft>
          <a:spcPct val="0"/>
        </a:spcAft>
        <a:buClr>
          <a:srgbClr val="2D2DB9"/>
        </a:buClr>
        <a:buFont typeface="Wingdings" pitchFamily="2" charset="2"/>
        <a:buChar char="§"/>
        <a:defRPr sz="2598">
          <a:solidFill>
            <a:srgbClr val="222222"/>
          </a:solidFill>
          <a:latin typeface="+mn-lt"/>
          <a:ea typeface="MS PGothic" pitchFamily="34" charset="-128"/>
          <a:cs typeface="ＭＳ Ｐゴシック" pitchFamily="-65" charset="-128"/>
        </a:defRPr>
      </a:lvl1pPr>
      <a:lvl2pPr marL="742516" indent="-285584" algn="l" rtl="0" eaLnBrk="0" fontAlgn="base" hangingPunct="0">
        <a:spcBef>
          <a:spcPct val="20000"/>
        </a:spcBef>
        <a:spcAft>
          <a:spcPct val="0"/>
        </a:spcAft>
        <a:buChar char="–"/>
        <a:defRPr sz="2398">
          <a:solidFill>
            <a:srgbClr val="222222"/>
          </a:solidFill>
          <a:latin typeface="+mn-lt"/>
          <a:ea typeface="MS PGothic" pitchFamily="34" charset="-128"/>
        </a:defRPr>
      </a:lvl2pPr>
      <a:lvl3pPr marL="1142333" indent="-228467" algn="l" rtl="0" eaLnBrk="0" fontAlgn="base" hangingPunct="0">
        <a:spcBef>
          <a:spcPct val="20000"/>
        </a:spcBef>
        <a:spcAft>
          <a:spcPct val="0"/>
        </a:spcAft>
        <a:buChar char="•"/>
        <a:defRPr sz="2199">
          <a:solidFill>
            <a:srgbClr val="222222"/>
          </a:solidFill>
          <a:latin typeface="+mn-lt"/>
          <a:ea typeface="MS PGothic" pitchFamily="34" charset="-128"/>
        </a:defRPr>
      </a:lvl3pPr>
      <a:lvl4pPr marL="1599266" indent="-228467" algn="l" rtl="0" eaLnBrk="0" fontAlgn="base" hangingPunct="0">
        <a:spcBef>
          <a:spcPct val="20000"/>
        </a:spcBef>
        <a:spcAft>
          <a:spcPct val="0"/>
        </a:spcAft>
        <a:buChar char="–"/>
        <a:defRPr sz="2199">
          <a:solidFill>
            <a:srgbClr val="222222"/>
          </a:solidFill>
          <a:latin typeface="+mn-lt"/>
          <a:ea typeface="MS PGothic" pitchFamily="34" charset="-128"/>
        </a:defRPr>
      </a:lvl4pPr>
      <a:lvl5pPr marL="2056200" indent="-228467" algn="l" rtl="0" eaLnBrk="0" fontAlgn="base" hangingPunct="0">
        <a:spcBef>
          <a:spcPct val="20000"/>
        </a:spcBef>
        <a:spcAft>
          <a:spcPct val="0"/>
        </a:spcAft>
        <a:buChar char="»"/>
        <a:defRPr sz="1999">
          <a:solidFill>
            <a:schemeClr val="tx1"/>
          </a:solidFill>
          <a:latin typeface="Times New Roman" charset="0"/>
          <a:ea typeface="MS PGothic" pitchFamily="34" charset="-128"/>
        </a:defRPr>
      </a:lvl5pPr>
      <a:lvl6pPr marL="2513132" indent="-228467" algn="l" rtl="0" eaLnBrk="1" fontAlgn="base" hangingPunct="1">
        <a:spcBef>
          <a:spcPct val="20000"/>
        </a:spcBef>
        <a:spcAft>
          <a:spcPct val="0"/>
        </a:spcAft>
        <a:buChar char="»"/>
        <a:defRPr sz="1999">
          <a:solidFill>
            <a:schemeClr val="tx1"/>
          </a:solidFill>
          <a:latin typeface="Times New Roman" charset="0"/>
        </a:defRPr>
      </a:lvl6pPr>
      <a:lvl7pPr marL="2970066" indent="-228467" algn="l" rtl="0" eaLnBrk="1" fontAlgn="base" hangingPunct="1">
        <a:spcBef>
          <a:spcPct val="20000"/>
        </a:spcBef>
        <a:spcAft>
          <a:spcPct val="0"/>
        </a:spcAft>
        <a:buChar char="»"/>
        <a:defRPr sz="1999">
          <a:solidFill>
            <a:schemeClr val="tx1"/>
          </a:solidFill>
          <a:latin typeface="Times New Roman" charset="0"/>
        </a:defRPr>
      </a:lvl7pPr>
      <a:lvl8pPr marL="3426999" indent="-228467" algn="l" rtl="0" eaLnBrk="1" fontAlgn="base" hangingPunct="1">
        <a:spcBef>
          <a:spcPct val="20000"/>
        </a:spcBef>
        <a:spcAft>
          <a:spcPct val="0"/>
        </a:spcAft>
        <a:buChar char="»"/>
        <a:defRPr sz="1999">
          <a:solidFill>
            <a:schemeClr val="tx1"/>
          </a:solidFill>
          <a:latin typeface="Times New Roman" charset="0"/>
        </a:defRPr>
      </a:lvl8pPr>
      <a:lvl9pPr marL="3883933" indent="-228467" algn="l" rtl="0" eaLnBrk="1" fontAlgn="base" hangingPunct="1">
        <a:spcBef>
          <a:spcPct val="20000"/>
        </a:spcBef>
        <a:spcAft>
          <a:spcPct val="0"/>
        </a:spcAft>
        <a:buChar char="»"/>
        <a:defRPr sz="1999">
          <a:solidFill>
            <a:schemeClr val="tx1"/>
          </a:solidFill>
          <a:latin typeface="Times New Roman" charset="0"/>
        </a:defRPr>
      </a:lvl9pPr>
    </p:bodyStyle>
    <p:otherStyle>
      <a:defPPr>
        <a:defRPr lang="en-US"/>
      </a:defPPr>
      <a:lvl1pPr marL="0" algn="l" defTabSz="91386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6933" algn="l" defTabSz="91386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3866" algn="l" defTabSz="91386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0800" algn="l" defTabSz="91386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7733" algn="l" defTabSz="91386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4667" algn="l" defTabSz="91386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1599" algn="l" defTabSz="91386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8533" algn="l" defTabSz="91386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5466" algn="l" defTabSz="91386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6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6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6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6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6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6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4400" dirty="0" smtClean="0">
                <a:solidFill>
                  <a:srgbClr val="0070C0"/>
                </a:solidFill>
              </a:rPr>
              <a:t>How Variables Are Stored</a:t>
            </a:r>
          </a:p>
        </p:txBody>
      </p:sp>
      <p:sp>
        <p:nvSpPr>
          <p:cNvPr id="16387" name="Content Placeholder 2"/>
          <p:cNvSpPr>
            <a:spLocks noGrp="1"/>
          </p:cNvSpPr>
          <p:nvPr>
            <p:ph idx="1"/>
          </p:nvPr>
        </p:nvSpPr>
        <p:spPr>
          <a:xfrm>
            <a:off x="196066" y="1166699"/>
            <a:ext cx="9324003" cy="5410335"/>
          </a:xfrm>
        </p:spPr>
        <p:txBody>
          <a:bodyPr>
            <a:noAutofit/>
          </a:bodyPr>
          <a:lstStyle/>
          <a:p>
            <a:r>
              <a:rPr lang="en-US" altLang="en-US" sz="3600" dirty="0">
                <a:solidFill>
                  <a:srgbClr val="FF0000"/>
                </a:solidFill>
              </a:rPr>
              <a:t>Variables are nothing more than reserved memory locations to store values. </a:t>
            </a:r>
          </a:p>
          <a:p>
            <a:pPr marL="0" indent="0">
              <a:spcBef>
                <a:spcPts val="1651"/>
              </a:spcBef>
              <a:buNone/>
            </a:pPr>
            <a:r>
              <a:rPr lang="en-US" altLang="en-US" sz="3027" dirty="0" smtClean="0">
                <a:solidFill>
                  <a:schemeClr val="bg1">
                    <a:lumMod val="95000"/>
                  </a:schemeClr>
                </a:solidFill>
              </a:rPr>
              <a:t> </a:t>
            </a:r>
            <a:endParaRPr lang="en-US" altLang="en-US" sz="3027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16303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4400" dirty="0">
                <a:solidFill>
                  <a:srgbClr val="0070C0"/>
                </a:solidFill>
              </a:rPr>
              <a:t>How Variables Are Stored</a:t>
            </a:r>
            <a:endParaRPr lang="en-US" altLang="en-US" sz="4400" dirty="0" smtClean="0">
              <a:solidFill>
                <a:srgbClr val="0070C0"/>
              </a:solidFill>
            </a:endParaRPr>
          </a:p>
        </p:txBody>
      </p:sp>
      <p:sp>
        <p:nvSpPr>
          <p:cNvPr id="16387" name="Content Placeholder 2"/>
          <p:cNvSpPr>
            <a:spLocks noGrp="1"/>
          </p:cNvSpPr>
          <p:nvPr>
            <p:ph idx="1"/>
          </p:nvPr>
        </p:nvSpPr>
        <p:spPr>
          <a:xfrm>
            <a:off x="196066" y="1166699"/>
            <a:ext cx="9324003" cy="5410335"/>
          </a:xfrm>
        </p:spPr>
        <p:txBody>
          <a:bodyPr>
            <a:noAutofit/>
          </a:bodyPr>
          <a:lstStyle/>
          <a:p>
            <a:r>
              <a:rPr lang="en-US" altLang="en-US" sz="3600" dirty="0">
                <a:solidFill>
                  <a:schemeClr val="bg1">
                    <a:lumMod val="75000"/>
                  </a:schemeClr>
                </a:solidFill>
              </a:rPr>
              <a:t>Variables are nothing more than reserved memory locations to store values. </a:t>
            </a:r>
          </a:p>
          <a:p>
            <a:pPr>
              <a:spcBef>
                <a:spcPts val="1651"/>
              </a:spcBef>
            </a:pPr>
            <a:r>
              <a:rPr lang="en-US" altLang="en-US" sz="3600" dirty="0">
                <a:solidFill>
                  <a:srgbClr val="00B050"/>
                </a:solidFill>
              </a:rPr>
              <a:t>In languages that use declarations (</a:t>
            </a:r>
            <a:r>
              <a:rPr lang="en-US" altLang="en-US" sz="3600" dirty="0" err="1">
                <a:solidFill>
                  <a:srgbClr val="00B050"/>
                </a:solidFill>
              </a:rPr>
              <a:t>eg</a:t>
            </a:r>
            <a:r>
              <a:rPr lang="en-US" altLang="en-US" sz="3600" dirty="0">
                <a:solidFill>
                  <a:srgbClr val="00B050"/>
                </a:solidFill>
              </a:rPr>
              <a:t>, C++):</a:t>
            </a:r>
            <a:endParaRPr lang="en-US" altLang="en-US" sz="3302" dirty="0">
              <a:solidFill>
                <a:srgbClr val="00B050"/>
              </a:solidFill>
            </a:endParaRPr>
          </a:p>
          <a:p>
            <a:pPr lvl="1">
              <a:spcBef>
                <a:spcPts val="0"/>
              </a:spcBef>
            </a:pPr>
            <a:r>
              <a:rPr lang="en-US" altLang="en-US" sz="3200" b="1" u="sng" dirty="0">
                <a:solidFill>
                  <a:srgbClr val="FF0000"/>
                </a:solidFill>
              </a:rPr>
              <a:t>Declaring</a:t>
            </a:r>
            <a:r>
              <a:rPr lang="en-US" altLang="en-US" sz="3027" dirty="0">
                <a:solidFill>
                  <a:srgbClr val="FF0000"/>
                </a:solidFill>
              </a:rPr>
              <a:t> a variable reserves a space in memory.</a:t>
            </a:r>
          </a:p>
          <a:p>
            <a:pPr lvl="1"/>
            <a:r>
              <a:rPr lang="en-US" altLang="en-US" sz="3027" dirty="0">
                <a:solidFill>
                  <a:schemeClr val="bg1"/>
                </a:solidFill>
              </a:rPr>
              <a:t>The declared data type of the variable determines how much memory will be allocated. </a:t>
            </a:r>
          </a:p>
          <a:p>
            <a:pPr>
              <a:spcBef>
                <a:spcPts val="1651"/>
              </a:spcBef>
            </a:pPr>
            <a:r>
              <a:rPr lang="en-US" altLang="en-US" sz="3600" dirty="0">
                <a:solidFill>
                  <a:srgbClr val="00B050"/>
                </a:solidFill>
              </a:rPr>
              <a:t>In languages without declarations (</a:t>
            </a:r>
            <a:r>
              <a:rPr lang="en-US" altLang="en-US" sz="3600" dirty="0" err="1">
                <a:solidFill>
                  <a:srgbClr val="00B050"/>
                </a:solidFill>
              </a:rPr>
              <a:t>eg</a:t>
            </a:r>
            <a:r>
              <a:rPr lang="en-US" altLang="en-US" sz="3600" dirty="0">
                <a:solidFill>
                  <a:srgbClr val="00B050"/>
                </a:solidFill>
              </a:rPr>
              <a:t>, Python):</a:t>
            </a:r>
          </a:p>
          <a:p>
            <a:pPr lvl="1">
              <a:spcBef>
                <a:spcPts val="0"/>
              </a:spcBef>
            </a:pPr>
            <a:r>
              <a:rPr lang="en-US" altLang="en-US" sz="3200" b="1" u="sng" dirty="0" smtClean="0">
                <a:solidFill>
                  <a:srgbClr val="FF0000"/>
                </a:solidFill>
              </a:rPr>
              <a:t>Assigning</a:t>
            </a:r>
            <a:r>
              <a:rPr lang="en-US" altLang="en-US" sz="3027" dirty="0" smtClean="0">
                <a:solidFill>
                  <a:srgbClr val="FF0000"/>
                </a:solidFill>
              </a:rPr>
              <a:t> </a:t>
            </a:r>
            <a:r>
              <a:rPr lang="en-US" altLang="en-US" sz="3027" dirty="0">
                <a:solidFill>
                  <a:srgbClr val="FF0000"/>
                </a:solidFill>
              </a:rPr>
              <a:t>to a variable reserves </a:t>
            </a:r>
            <a:r>
              <a:rPr lang="en-US" altLang="en-US" sz="3027" dirty="0" smtClean="0">
                <a:solidFill>
                  <a:srgbClr val="FF0000"/>
                </a:solidFill>
              </a:rPr>
              <a:t>its </a:t>
            </a:r>
            <a:r>
              <a:rPr lang="en-US" altLang="en-US" sz="3027" dirty="0">
                <a:solidFill>
                  <a:srgbClr val="FF0000"/>
                </a:solidFill>
              </a:rPr>
              <a:t>space in memory.</a:t>
            </a:r>
          </a:p>
          <a:p>
            <a:pPr lvl="1"/>
            <a:r>
              <a:rPr lang="en-US" altLang="en-US" sz="3027" dirty="0" smtClean="0">
                <a:solidFill>
                  <a:schemeClr val="bg1"/>
                </a:solidFill>
              </a:rPr>
              <a:t>What is being assigned </a:t>
            </a:r>
            <a:r>
              <a:rPr lang="en-US" altLang="en-US" sz="3027" dirty="0">
                <a:solidFill>
                  <a:schemeClr val="bg1"/>
                </a:solidFill>
              </a:rPr>
              <a:t>determines </a:t>
            </a:r>
            <a:r>
              <a:rPr lang="en-US" altLang="en-US" sz="3027" dirty="0" smtClean="0">
                <a:solidFill>
                  <a:schemeClr val="bg1"/>
                </a:solidFill>
              </a:rPr>
              <a:t>its type and size.</a:t>
            </a:r>
            <a:endParaRPr lang="en-US" altLang="en-US" sz="3027" dirty="0">
              <a:solidFill>
                <a:schemeClr val="bg1"/>
              </a:solidFill>
            </a:endParaRPr>
          </a:p>
        </p:txBody>
      </p:sp>
      <p:sp>
        <p:nvSpPr>
          <p:cNvPr id="4" name="Rounded Rectangular Callout 3"/>
          <p:cNvSpPr/>
          <p:nvPr/>
        </p:nvSpPr>
        <p:spPr>
          <a:xfrm>
            <a:off x="1205182" y="1128666"/>
            <a:ext cx="7305769" cy="2743200"/>
          </a:xfrm>
          <a:prstGeom prst="wedgeRoundRectCallout">
            <a:avLst>
              <a:gd name="adj1" fmla="val 25902"/>
              <a:gd name="adj2" fmla="val 90333"/>
              <a:gd name="adj3" fmla="val 16667"/>
            </a:avLst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>
              <a:lnSpc>
                <a:spcPct val="95000"/>
              </a:lnSpc>
            </a:pPr>
            <a:r>
              <a:rPr lang="en-US" sz="3200" dirty="0">
                <a:solidFill>
                  <a:srgbClr val="0033CC"/>
                </a:solidFill>
              </a:rPr>
              <a:t>At least we choose to </a:t>
            </a:r>
            <a:r>
              <a:rPr lang="en-US" sz="3200" i="1" dirty="0" smtClean="0">
                <a:solidFill>
                  <a:srgbClr val="0033CC"/>
                </a:solidFill>
              </a:rPr>
              <a:t>think </a:t>
            </a:r>
            <a:r>
              <a:rPr lang="en-US" sz="3200" dirty="0" smtClean="0">
                <a:solidFill>
                  <a:srgbClr val="0033CC"/>
                </a:solidFill>
              </a:rPr>
              <a:t>of </a:t>
            </a:r>
            <a:r>
              <a:rPr lang="en-US" sz="3200" dirty="0">
                <a:solidFill>
                  <a:srgbClr val="0033CC"/>
                </a:solidFill>
              </a:rPr>
              <a:t>it this way. </a:t>
            </a:r>
            <a:br>
              <a:rPr lang="en-US" sz="3200" dirty="0">
                <a:solidFill>
                  <a:srgbClr val="0033CC"/>
                </a:solidFill>
              </a:rPr>
            </a:br>
            <a:r>
              <a:rPr lang="en-US" sz="3200" dirty="0">
                <a:solidFill>
                  <a:srgbClr val="0033CC"/>
                </a:solidFill>
              </a:rPr>
              <a:t>If we </a:t>
            </a:r>
            <a:r>
              <a:rPr lang="en-US" sz="3200" dirty="0" smtClean="0">
                <a:solidFill>
                  <a:srgbClr val="0033CC"/>
                </a:solidFill>
              </a:rPr>
              <a:t>looked </a:t>
            </a:r>
            <a:r>
              <a:rPr lang="en-US" sz="3200" dirty="0">
                <a:solidFill>
                  <a:srgbClr val="0033CC"/>
                </a:solidFill>
              </a:rPr>
              <a:t>at the technical </a:t>
            </a:r>
            <a:r>
              <a:rPr lang="en-US" sz="3200" dirty="0" smtClean="0">
                <a:solidFill>
                  <a:srgbClr val="0033CC"/>
                </a:solidFill>
              </a:rPr>
              <a:t>details,</a:t>
            </a:r>
          </a:p>
          <a:p>
            <a:pPr algn="ctr">
              <a:lnSpc>
                <a:spcPct val="95000"/>
              </a:lnSpc>
            </a:pPr>
            <a:r>
              <a:rPr lang="en-US" sz="3200" dirty="0" smtClean="0">
                <a:solidFill>
                  <a:srgbClr val="0033CC"/>
                </a:solidFill>
              </a:rPr>
              <a:t> </a:t>
            </a:r>
            <a:r>
              <a:rPr lang="en-US" sz="3200" dirty="0">
                <a:solidFill>
                  <a:srgbClr val="0033CC"/>
                </a:solidFill>
              </a:rPr>
              <a:t>we </a:t>
            </a:r>
            <a:r>
              <a:rPr lang="en-US" sz="3200" i="1" dirty="0">
                <a:solidFill>
                  <a:srgbClr val="0033CC"/>
                </a:solidFill>
              </a:rPr>
              <a:t>might</a:t>
            </a:r>
            <a:r>
              <a:rPr lang="en-US" sz="3200" dirty="0">
                <a:solidFill>
                  <a:srgbClr val="0033CC"/>
                </a:solidFill>
              </a:rPr>
              <a:t> find that </a:t>
            </a:r>
            <a:r>
              <a:rPr lang="en-US" sz="3200" dirty="0" smtClean="0">
                <a:solidFill>
                  <a:srgbClr val="0033CC"/>
                </a:solidFill>
              </a:rPr>
              <a:t>the </a:t>
            </a:r>
            <a:r>
              <a:rPr lang="en-US" sz="3200" dirty="0">
                <a:solidFill>
                  <a:srgbClr val="0033CC"/>
                </a:solidFill>
              </a:rPr>
              <a:t>interpreter </a:t>
            </a:r>
            <a:endParaRPr lang="en-US" sz="3200" dirty="0" smtClean="0">
              <a:solidFill>
                <a:srgbClr val="0033CC"/>
              </a:solidFill>
            </a:endParaRPr>
          </a:p>
          <a:p>
            <a:pPr algn="ctr">
              <a:lnSpc>
                <a:spcPct val="95000"/>
              </a:lnSpc>
            </a:pPr>
            <a:r>
              <a:rPr lang="en-US" sz="3200" dirty="0" smtClean="0">
                <a:solidFill>
                  <a:srgbClr val="0033CC"/>
                </a:solidFill>
              </a:rPr>
              <a:t>saves time by </a:t>
            </a:r>
            <a:r>
              <a:rPr lang="en-US" sz="3200" i="1" dirty="0">
                <a:solidFill>
                  <a:srgbClr val="0033CC"/>
                </a:solidFill>
              </a:rPr>
              <a:t>reusing</a:t>
            </a:r>
            <a:r>
              <a:rPr lang="en-US" sz="3200" dirty="0">
                <a:solidFill>
                  <a:srgbClr val="0033CC"/>
                </a:solidFill>
              </a:rPr>
              <a:t> </a:t>
            </a:r>
            <a:r>
              <a:rPr lang="en-US" sz="3200" dirty="0" smtClean="0">
                <a:solidFill>
                  <a:srgbClr val="0033CC"/>
                </a:solidFill>
              </a:rPr>
              <a:t>the </a:t>
            </a:r>
            <a:r>
              <a:rPr lang="en-US" sz="3200" dirty="0">
                <a:solidFill>
                  <a:srgbClr val="0033CC"/>
                </a:solidFill>
              </a:rPr>
              <a:t>memory </a:t>
            </a:r>
            <a:endParaRPr lang="en-US" sz="3200" dirty="0" smtClean="0">
              <a:solidFill>
                <a:srgbClr val="0033CC"/>
              </a:solidFill>
            </a:endParaRPr>
          </a:p>
          <a:p>
            <a:pPr algn="ctr">
              <a:lnSpc>
                <a:spcPct val="95000"/>
              </a:lnSpc>
            </a:pPr>
            <a:r>
              <a:rPr lang="en-US" sz="3200" dirty="0" smtClean="0">
                <a:solidFill>
                  <a:srgbClr val="0033CC"/>
                </a:solidFill>
              </a:rPr>
              <a:t>space that a </a:t>
            </a:r>
            <a:r>
              <a:rPr lang="en-US" sz="3200" dirty="0">
                <a:solidFill>
                  <a:srgbClr val="0033CC"/>
                </a:solidFill>
              </a:rPr>
              <a:t>variable previously </a:t>
            </a:r>
            <a:r>
              <a:rPr lang="en-US" sz="3200" dirty="0" smtClean="0">
                <a:solidFill>
                  <a:srgbClr val="0033CC"/>
                </a:solidFill>
              </a:rPr>
              <a:t>had.</a:t>
            </a:r>
            <a:endParaRPr lang="en-US" sz="3200" dirty="0">
              <a:solidFill>
                <a:srgbClr val="0033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4688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1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4400" dirty="0">
                <a:solidFill>
                  <a:srgbClr val="0070C0"/>
                </a:solidFill>
              </a:rPr>
              <a:t>How Variables Are Stored</a:t>
            </a:r>
            <a:endParaRPr lang="en-US" altLang="en-US" sz="4400" dirty="0" smtClean="0">
              <a:solidFill>
                <a:srgbClr val="0070C0"/>
              </a:solidFill>
            </a:endParaRPr>
          </a:p>
        </p:txBody>
      </p:sp>
      <p:sp>
        <p:nvSpPr>
          <p:cNvPr id="16387" name="Content Placeholder 2"/>
          <p:cNvSpPr>
            <a:spLocks noGrp="1"/>
          </p:cNvSpPr>
          <p:nvPr>
            <p:ph idx="1"/>
          </p:nvPr>
        </p:nvSpPr>
        <p:spPr>
          <a:xfrm>
            <a:off x="196066" y="1166699"/>
            <a:ext cx="9324003" cy="5410335"/>
          </a:xfrm>
        </p:spPr>
        <p:txBody>
          <a:bodyPr>
            <a:noAutofit/>
          </a:bodyPr>
          <a:lstStyle/>
          <a:p>
            <a:r>
              <a:rPr lang="en-US" altLang="en-US" sz="3600" dirty="0">
                <a:solidFill>
                  <a:schemeClr val="bg1">
                    <a:lumMod val="75000"/>
                  </a:schemeClr>
                </a:solidFill>
              </a:rPr>
              <a:t>Variables are nothing more than reserved memory locations to store values. </a:t>
            </a:r>
          </a:p>
          <a:p>
            <a:pPr>
              <a:spcBef>
                <a:spcPts val="1651"/>
              </a:spcBef>
            </a:pPr>
            <a:r>
              <a:rPr lang="en-US" altLang="en-US" sz="3600" dirty="0">
                <a:solidFill>
                  <a:srgbClr val="00B050"/>
                </a:solidFill>
              </a:rPr>
              <a:t>In languages that use declarations (</a:t>
            </a:r>
            <a:r>
              <a:rPr lang="en-US" altLang="en-US" sz="3600" dirty="0" err="1">
                <a:solidFill>
                  <a:srgbClr val="00B050"/>
                </a:solidFill>
              </a:rPr>
              <a:t>eg</a:t>
            </a:r>
            <a:r>
              <a:rPr lang="en-US" altLang="en-US" sz="3600" dirty="0">
                <a:solidFill>
                  <a:srgbClr val="00B050"/>
                </a:solidFill>
              </a:rPr>
              <a:t>, C++):</a:t>
            </a:r>
            <a:endParaRPr lang="en-US" altLang="en-US" sz="3302" dirty="0">
              <a:solidFill>
                <a:srgbClr val="00B050"/>
              </a:solidFill>
            </a:endParaRPr>
          </a:p>
          <a:p>
            <a:pPr lvl="1">
              <a:spcBef>
                <a:spcPts val="0"/>
              </a:spcBef>
            </a:pPr>
            <a:r>
              <a:rPr lang="en-US" altLang="en-US" sz="3200" b="1" u="sng" dirty="0">
                <a:solidFill>
                  <a:srgbClr val="FF0000"/>
                </a:solidFill>
              </a:rPr>
              <a:t>Declaring</a:t>
            </a:r>
            <a:r>
              <a:rPr lang="en-US" altLang="en-US" sz="3027" dirty="0">
                <a:solidFill>
                  <a:srgbClr val="FF0000"/>
                </a:solidFill>
              </a:rPr>
              <a:t> a variable reserves a space in memory.</a:t>
            </a:r>
          </a:p>
          <a:p>
            <a:pPr lvl="1"/>
            <a:r>
              <a:rPr lang="en-US" altLang="en-US" sz="3027" dirty="0">
                <a:solidFill>
                  <a:schemeClr val="bg1"/>
                </a:solidFill>
              </a:rPr>
              <a:t>The declared data type of the variable determines how much memory will be allocated. </a:t>
            </a:r>
          </a:p>
          <a:p>
            <a:pPr>
              <a:spcBef>
                <a:spcPts val="1651"/>
              </a:spcBef>
            </a:pPr>
            <a:r>
              <a:rPr lang="en-US" altLang="en-US" sz="3600" dirty="0">
                <a:solidFill>
                  <a:srgbClr val="00B050"/>
                </a:solidFill>
              </a:rPr>
              <a:t>In languages without declarations (</a:t>
            </a:r>
            <a:r>
              <a:rPr lang="en-US" altLang="en-US" sz="3600" dirty="0" err="1">
                <a:solidFill>
                  <a:srgbClr val="00B050"/>
                </a:solidFill>
              </a:rPr>
              <a:t>eg</a:t>
            </a:r>
            <a:r>
              <a:rPr lang="en-US" altLang="en-US" sz="3600" dirty="0">
                <a:solidFill>
                  <a:srgbClr val="00B050"/>
                </a:solidFill>
              </a:rPr>
              <a:t>, Python):</a:t>
            </a:r>
          </a:p>
          <a:p>
            <a:pPr lvl="1">
              <a:spcBef>
                <a:spcPts val="0"/>
              </a:spcBef>
            </a:pPr>
            <a:r>
              <a:rPr lang="en-US" altLang="en-US" sz="3200" b="1" u="sng" dirty="0" smtClean="0">
                <a:solidFill>
                  <a:srgbClr val="FF0000"/>
                </a:solidFill>
              </a:rPr>
              <a:t>Assigning</a:t>
            </a:r>
            <a:r>
              <a:rPr lang="en-US" altLang="en-US" sz="3027" dirty="0" smtClean="0">
                <a:solidFill>
                  <a:srgbClr val="FF0000"/>
                </a:solidFill>
              </a:rPr>
              <a:t> </a:t>
            </a:r>
            <a:r>
              <a:rPr lang="en-US" altLang="en-US" sz="3027" dirty="0">
                <a:solidFill>
                  <a:srgbClr val="FF0000"/>
                </a:solidFill>
              </a:rPr>
              <a:t>to a variable reserves </a:t>
            </a:r>
            <a:r>
              <a:rPr lang="en-US" altLang="en-US" sz="3027" dirty="0" smtClean="0">
                <a:solidFill>
                  <a:srgbClr val="FF0000"/>
                </a:solidFill>
              </a:rPr>
              <a:t>its </a:t>
            </a:r>
            <a:r>
              <a:rPr lang="en-US" altLang="en-US" sz="3027" dirty="0">
                <a:solidFill>
                  <a:srgbClr val="FF0000"/>
                </a:solidFill>
              </a:rPr>
              <a:t>space in memory.</a:t>
            </a:r>
          </a:p>
          <a:p>
            <a:pPr lvl="1"/>
            <a:r>
              <a:rPr lang="en-US" altLang="en-US" sz="3027" dirty="0" smtClean="0">
                <a:solidFill>
                  <a:schemeClr val="bg1"/>
                </a:solidFill>
              </a:rPr>
              <a:t>What is being assigned </a:t>
            </a:r>
            <a:r>
              <a:rPr lang="en-US" altLang="en-US" sz="3027" dirty="0">
                <a:solidFill>
                  <a:schemeClr val="bg1"/>
                </a:solidFill>
              </a:rPr>
              <a:t>determines </a:t>
            </a:r>
            <a:r>
              <a:rPr lang="en-US" altLang="en-US" sz="3027" dirty="0" smtClean="0">
                <a:solidFill>
                  <a:schemeClr val="bg1"/>
                </a:solidFill>
              </a:rPr>
              <a:t>its type and size.</a:t>
            </a:r>
            <a:endParaRPr lang="en-US" altLang="en-US" sz="3027" dirty="0">
              <a:solidFill>
                <a:schemeClr val="bg1"/>
              </a:solidFill>
            </a:endParaRPr>
          </a:p>
        </p:txBody>
      </p:sp>
      <p:sp>
        <p:nvSpPr>
          <p:cNvPr id="4" name="Rounded Rectangular Callout 3"/>
          <p:cNvSpPr/>
          <p:nvPr/>
        </p:nvSpPr>
        <p:spPr>
          <a:xfrm>
            <a:off x="1205182" y="1128666"/>
            <a:ext cx="7305769" cy="2743200"/>
          </a:xfrm>
          <a:prstGeom prst="wedgeRoundRectCallout">
            <a:avLst>
              <a:gd name="adj1" fmla="val 25902"/>
              <a:gd name="adj2" fmla="val 90333"/>
              <a:gd name="adj3" fmla="val 16667"/>
            </a:avLst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>
              <a:lnSpc>
                <a:spcPct val="95000"/>
              </a:lnSpc>
            </a:pPr>
            <a:r>
              <a:rPr lang="en-US" sz="3200" dirty="0">
                <a:solidFill>
                  <a:srgbClr val="0033CC"/>
                </a:solidFill>
              </a:rPr>
              <a:t>At least we choose to </a:t>
            </a:r>
            <a:r>
              <a:rPr lang="en-US" sz="3200" i="1" dirty="0" smtClean="0">
                <a:solidFill>
                  <a:srgbClr val="0033CC"/>
                </a:solidFill>
              </a:rPr>
              <a:t>think </a:t>
            </a:r>
            <a:r>
              <a:rPr lang="en-US" sz="3200" dirty="0" smtClean="0">
                <a:solidFill>
                  <a:srgbClr val="0033CC"/>
                </a:solidFill>
              </a:rPr>
              <a:t>of </a:t>
            </a:r>
            <a:r>
              <a:rPr lang="en-US" sz="3200" dirty="0">
                <a:solidFill>
                  <a:srgbClr val="0033CC"/>
                </a:solidFill>
              </a:rPr>
              <a:t>it this way. </a:t>
            </a:r>
            <a:br>
              <a:rPr lang="en-US" sz="3200" dirty="0">
                <a:solidFill>
                  <a:srgbClr val="0033CC"/>
                </a:solidFill>
              </a:rPr>
            </a:br>
            <a:r>
              <a:rPr lang="en-US" sz="3200" strike="sngStrike" dirty="0">
                <a:solidFill>
                  <a:srgbClr val="C3B17C"/>
                </a:solidFill>
              </a:rPr>
              <a:t>If we </a:t>
            </a:r>
            <a:r>
              <a:rPr lang="en-US" sz="3200" strike="sngStrike" dirty="0" smtClean="0">
                <a:solidFill>
                  <a:srgbClr val="C3B17C"/>
                </a:solidFill>
              </a:rPr>
              <a:t>looked </a:t>
            </a:r>
            <a:r>
              <a:rPr lang="en-US" sz="3200" strike="sngStrike" dirty="0">
                <a:solidFill>
                  <a:srgbClr val="C3B17C"/>
                </a:solidFill>
              </a:rPr>
              <a:t>at the technical </a:t>
            </a:r>
            <a:r>
              <a:rPr lang="en-US" sz="3200" strike="sngStrike" dirty="0" smtClean="0">
                <a:solidFill>
                  <a:srgbClr val="C3B17C"/>
                </a:solidFill>
              </a:rPr>
              <a:t>details,</a:t>
            </a:r>
          </a:p>
          <a:p>
            <a:pPr algn="ctr">
              <a:lnSpc>
                <a:spcPct val="95000"/>
              </a:lnSpc>
            </a:pPr>
            <a:r>
              <a:rPr lang="en-US" sz="3200" strike="sngStrike" dirty="0" smtClean="0">
                <a:solidFill>
                  <a:srgbClr val="C3B17C"/>
                </a:solidFill>
              </a:rPr>
              <a:t> </a:t>
            </a:r>
            <a:r>
              <a:rPr lang="en-US" sz="3200" strike="sngStrike" dirty="0">
                <a:solidFill>
                  <a:srgbClr val="C3B17C"/>
                </a:solidFill>
              </a:rPr>
              <a:t>we </a:t>
            </a:r>
            <a:r>
              <a:rPr lang="en-US" sz="3200" i="1" strike="sngStrike" dirty="0">
                <a:solidFill>
                  <a:srgbClr val="C3B17C"/>
                </a:solidFill>
              </a:rPr>
              <a:t>might</a:t>
            </a:r>
            <a:r>
              <a:rPr lang="en-US" sz="3200" strike="sngStrike" dirty="0">
                <a:solidFill>
                  <a:srgbClr val="C3B17C"/>
                </a:solidFill>
              </a:rPr>
              <a:t> find that </a:t>
            </a:r>
            <a:r>
              <a:rPr lang="en-US" sz="3200" strike="sngStrike" dirty="0" smtClean="0">
                <a:solidFill>
                  <a:srgbClr val="C3B17C"/>
                </a:solidFill>
              </a:rPr>
              <a:t>the </a:t>
            </a:r>
            <a:r>
              <a:rPr lang="en-US" sz="3200" strike="sngStrike" dirty="0">
                <a:solidFill>
                  <a:srgbClr val="C3B17C"/>
                </a:solidFill>
              </a:rPr>
              <a:t>interpreter </a:t>
            </a:r>
            <a:endParaRPr lang="en-US" sz="3200" strike="sngStrike" dirty="0" smtClean="0">
              <a:solidFill>
                <a:srgbClr val="C3B17C"/>
              </a:solidFill>
            </a:endParaRPr>
          </a:p>
          <a:p>
            <a:pPr algn="ctr">
              <a:lnSpc>
                <a:spcPct val="95000"/>
              </a:lnSpc>
            </a:pPr>
            <a:r>
              <a:rPr lang="en-US" sz="3200" strike="sngStrike" dirty="0" smtClean="0">
                <a:solidFill>
                  <a:srgbClr val="808699"/>
                </a:solidFill>
              </a:rPr>
              <a:t>saves time by </a:t>
            </a:r>
            <a:r>
              <a:rPr lang="en-US" sz="3200" i="1" strike="sngStrike" dirty="0">
                <a:solidFill>
                  <a:srgbClr val="808699"/>
                </a:solidFill>
              </a:rPr>
              <a:t>reusing</a:t>
            </a:r>
            <a:r>
              <a:rPr lang="en-US" sz="3200" strike="sngStrike" dirty="0">
                <a:solidFill>
                  <a:srgbClr val="808699"/>
                </a:solidFill>
              </a:rPr>
              <a:t> </a:t>
            </a:r>
            <a:r>
              <a:rPr lang="en-US" sz="3200" strike="sngStrike" dirty="0" smtClean="0">
                <a:solidFill>
                  <a:srgbClr val="C3B17C"/>
                </a:solidFill>
              </a:rPr>
              <a:t>the </a:t>
            </a:r>
            <a:r>
              <a:rPr lang="en-US" sz="3200" strike="sngStrike" dirty="0">
                <a:solidFill>
                  <a:srgbClr val="C3B17C"/>
                </a:solidFill>
              </a:rPr>
              <a:t>memory </a:t>
            </a:r>
            <a:endParaRPr lang="en-US" sz="3200" strike="sngStrike" dirty="0" smtClean="0">
              <a:solidFill>
                <a:srgbClr val="C3B17C"/>
              </a:solidFill>
            </a:endParaRPr>
          </a:p>
          <a:p>
            <a:pPr algn="ctr">
              <a:lnSpc>
                <a:spcPct val="95000"/>
              </a:lnSpc>
            </a:pPr>
            <a:r>
              <a:rPr lang="en-US" sz="3200" strike="sngStrike" dirty="0" smtClean="0">
                <a:solidFill>
                  <a:srgbClr val="C3B17C"/>
                </a:solidFill>
              </a:rPr>
              <a:t>space that a </a:t>
            </a:r>
            <a:r>
              <a:rPr lang="en-US" sz="3200" strike="sngStrike" dirty="0">
                <a:solidFill>
                  <a:srgbClr val="C3B17C"/>
                </a:solidFill>
              </a:rPr>
              <a:t>variable previously </a:t>
            </a:r>
            <a:r>
              <a:rPr lang="en-US" sz="3200" strike="sngStrike" dirty="0" smtClean="0">
                <a:solidFill>
                  <a:srgbClr val="C3B17C"/>
                </a:solidFill>
              </a:rPr>
              <a:t>had.</a:t>
            </a:r>
            <a:endParaRPr lang="en-US" sz="3200" strike="sngStrike" dirty="0">
              <a:solidFill>
                <a:srgbClr val="C3B17C"/>
              </a:solidFill>
            </a:endParaRPr>
          </a:p>
        </p:txBody>
      </p:sp>
      <p:sp>
        <p:nvSpPr>
          <p:cNvPr id="6" name="Rounded Rectangular Callout 5"/>
          <p:cNvSpPr/>
          <p:nvPr/>
        </p:nvSpPr>
        <p:spPr>
          <a:xfrm>
            <a:off x="1207294" y="3581400"/>
            <a:ext cx="7305769" cy="1447800"/>
          </a:xfrm>
          <a:prstGeom prst="wedgeRoundRectCallout">
            <a:avLst>
              <a:gd name="adj1" fmla="val -25078"/>
              <a:gd name="adj2" fmla="val -89868"/>
              <a:gd name="adj3" fmla="val 16667"/>
            </a:avLst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>
              <a:lnSpc>
                <a:spcPct val="95000"/>
              </a:lnSpc>
            </a:pPr>
            <a:r>
              <a:rPr lang="en-US" sz="3200" dirty="0" smtClean="0">
                <a:solidFill>
                  <a:srgbClr val="0033CC"/>
                </a:solidFill>
              </a:rPr>
              <a:t>Maybe the </a:t>
            </a:r>
            <a:r>
              <a:rPr lang="en-US" sz="3200" dirty="0">
                <a:solidFill>
                  <a:srgbClr val="0033CC"/>
                </a:solidFill>
              </a:rPr>
              <a:t>interpreter </a:t>
            </a:r>
            <a:r>
              <a:rPr lang="en-US" sz="3200" dirty="0" smtClean="0">
                <a:solidFill>
                  <a:srgbClr val="0033CC"/>
                </a:solidFill>
              </a:rPr>
              <a:t>saves time this way.</a:t>
            </a:r>
            <a:br>
              <a:rPr lang="en-US" sz="3200" dirty="0" smtClean="0">
                <a:solidFill>
                  <a:srgbClr val="0033CC"/>
                </a:solidFill>
              </a:rPr>
            </a:br>
            <a:r>
              <a:rPr lang="en-US" sz="3200" dirty="0" smtClean="0">
                <a:solidFill>
                  <a:srgbClr val="0033CC"/>
                </a:solidFill>
              </a:rPr>
              <a:t>But we choose to think of each assignment</a:t>
            </a:r>
            <a:br>
              <a:rPr lang="en-US" sz="3200" dirty="0" smtClean="0">
                <a:solidFill>
                  <a:srgbClr val="0033CC"/>
                </a:solidFill>
              </a:rPr>
            </a:br>
            <a:r>
              <a:rPr lang="en-US" sz="3200" dirty="0" smtClean="0">
                <a:solidFill>
                  <a:srgbClr val="0033CC"/>
                </a:solidFill>
              </a:rPr>
              <a:t>as reserving a </a:t>
            </a:r>
            <a:r>
              <a:rPr lang="en-US" sz="3200" dirty="0">
                <a:solidFill>
                  <a:srgbClr val="0033CC"/>
                </a:solidFill>
              </a:rPr>
              <a:t>new </a:t>
            </a:r>
            <a:r>
              <a:rPr lang="en-US" sz="3200" dirty="0" smtClean="0">
                <a:solidFill>
                  <a:srgbClr val="0033CC"/>
                </a:solidFill>
              </a:rPr>
              <a:t>space in memory</a:t>
            </a:r>
            <a:r>
              <a:rPr lang="en-US" sz="3200" dirty="0">
                <a:solidFill>
                  <a:srgbClr val="0033CC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19594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6" grpId="1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4400" dirty="0">
                <a:solidFill>
                  <a:srgbClr val="0070C0"/>
                </a:solidFill>
              </a:rPr>
              <a:t>How Variables Are Stored</a:t>
            </a:r>
            <a:endParaRPr lang="en-US" altLang="en-US" sz="4400" dirty="0" smtClean="0">
              <a:solidFill>
                <a:srgbClr val="0070C0"/>
              </a:solidFill>
            </a:endParaRPr>
          </a:p>
        </p:txBody>
      </p:sp>
      <p:sp>
        <p:nvSpPr>
          <p:cNvPr id="16387" name="Content Placeholder 2"/>
          <p:cNvSpPr>
            <a:spLocks noGrp="1"/>
          </p:cNvSpPr>
          <p:nvPr>
            <p:ph idx="1"/>
          </p:nvPr>
        </p:nvSpPr>
        <p:spPr>
          <a:xfrm>
            <a:off x="196066" y="1166699"/>
            <a:ext cx="9324003" cy="5410335"/>
          </a:xfrm>
        </p:spPr>
        <p:txBody>
          <a:bodyPr>
            <a:noAutofit/>
          </a:bodyPr>
          <a:lstStyle/>
          <a:p>
            <a:r>
              <a:rPr lang="en-US" altLang="en-US" sz="3600" dirty="0">
                <a:solidFill>
                  <a:schemeClr val="bg1">
                    <a:lumMod val="75000"/>
                  </a:schemeClr>
                </a:solidFill>
              </a:rPr>
              <a:t>Variables are nothing more than reserved memory locations to store values. </a:t>
            </a:r>
          </a:p>
          <a:p>
            <a:pPr>
              <a:spcBef>
                <a:spcPts val="1651"/>
              </a:spcBef>
            </a:pPr>
            <a:r>
              <a:rPr lang="en-US" altLang="en-US" sz="3600" dirty="0">
                <a:solidFill>
                  <a:srgbClr val="00B050"/>
                </a:solidFill>
              </a:rPr>
              <a:t>In languages that use declarations (</a:t>
            </a:r>
            <a:r>
              <a:rPr lang="en-US" altLang="en-US" sz="3600" dirty="0" err="1">
                <a:solidFill>
                  <a:srgbClr val="00B050"/>
                </a:solidFill>
              </a:rPr>
              <a:t>eg</a:t>
            </a:r>
            <a:r>
              <a:rPr lang="en-US" altLang="en-US" sz="3600" dirty="0">
                <a:solidFill>
                  <a:srgbClr val="00B050"/>
                </a:solidFill>
              </a:rPr>
              <a:t>, C++):</a:t>
            </a:r>
            <a:endParaRPr lang="en-US" altLang="en-US" sz="3302" dirty="0">
              <a:solidFill>
                <a:srgbClr val="00B050"/>
              </a:solidFill>
            </a:endParaRPr>
          </a:p>
          <a:p>
            <a:pPr lvl="1">
              <a:spcBef>
                <a:spcPts val="0"/>
              </a:spcBef>
            </a:pPr>
            <a:r>
              <a:rPr lang="en-US" altLang="en-US" sz="3200" b="1" u="sng" dirty="0">
                <a:solidFill>
                  <a:schemeClr val="bg1">
                    <a:lumMod val="50000"/>
                  </a:schemeClr>
                </a:solidFill>
              </a:rPr>
              <a:t>Declaring</a:t>
            </a:r>
            <a:r>
              <a:rPr lang="en-US" altLang="en-US" sz="3027" dirty="0">
                <a:solidFill>
                  <a:schemeClr val="bg1">
                    <a:lumMod val="50000"/>
                  </a:schemeClr>
                </a:solidFill>
              </a:rPr>
              <a:t> a variable reserves a space in memory.</a:t>
            </a:r>
          </a:p>
          <a:p>
            <a:pPr lvl="1"/>
            <a:r>
              <a:rPr lang="en-US" altLang="en-US" sz="3027" dirty="0">
                <a:solidFill>
                  <a:srgbClr val="FF0000"/>
                </a:solidFill>
              </a:rPr>
              <a:t>The declared data type of the variable determines how much memory will be allocated. </a:t>
            </a:r>
          </a:p>
          <a:p>
            <a:pPr>
              <a:spcBef>
                <a:spcPts val="1651"/>
              </a:spcBef>
            </a:pPr>
            <a:r>
              <a:rPr lang="en-US" altLang="en-US" sz="3600" dirty="0">
                <a:solidFill>
                  <a:srgbClr val="00B050"/>
                </a:solidFill>
              </a:rPr>
              <a:t>In languages without declarations (</a:t>
            </a:r>
            <a:r>
              <a:rPr lang="en-US" altLang="en-US" sz="3600" dirty="0" err="1">
                <a:solidFill>
                  <a:srgbClr val="00B050"/>
                </a:solidFill>
              </a:rPr>
              <a:t>eg</a:t>
            </a:r>
            <a:r>
              <a:rPr lang="en-US" altLang="en-US" sz="3600" dirty="0">
                <a:solidFill>
                  <a:srgbClr val="00B050"/>
                </a:solidFill>
              </a:rPr>
              <a:t>, Python):</a:t>
            </a:r>
          </a:p>
          <a:p>
            <a:pPr lvl="1">
              <a:spcBef>
                <a:spcPts val="0"/>
              </a:spcBef>
            </a:pPr>
            <a:r>
              <a:rPr lang="en-US" altLang="en-US" sz="3200" b="1" u="sng" dirty="0" smtClean="0">
                <a:solidFill>
                  <a:schemeClr val="bg1">
                    <a:lumMod val="50000"/>
                  </a:schemeClr>
                </a:solidFill>
              </a:rPr>
              <a:t>Assigning</a:t>
            </a:r>
            <a:r>
              <a:rPr lang="en-US" altLang="en-US" sz="3027" dirty="0" smtClean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altLang="en-US" sz="3027" dirty="0">
                <a:solidFill>
                  <a:schemeClr val="bg1">
                    <a:lumMod val="50000"/>
                  </a:schemeClr>
                </a:solidFill>
              </a:rPr>
              <a:t>to a variable reserves </a:t>
            </a:r>
            <a:r>
              <a:rPr lang="en-US" altLang="en-US" sz="3027" dirty="0" smtClean="0">
                <a:solidFill>
                  <a:schemeClr val="bg1">
                    <a:lumMod val="50000"/>
                  </a:schemeClr>
                </a:solidFill>
              </a:rPr>
              <a:t>its </a:t>
            </a:r>
            <a:r>
              <a:rPr lang="en-US" altLang="en-US" sz="3027" dirty="0">
                <a:solidFill>
                  <a:schemeClr val="bg1">
                    <a:lumMod val="50000"/>
                  </a:schemeClr>
                </a:solidFill>
              </a:rPr>
              <a:t>space in memory.</a:t>
            </a:r>
          </a:p>
          <a:p>
            <a:pPr lvl="1"/>
            <a:r>
              <a:rPr lang="en-US" altLang="en-US" sz="3027" dirty="0" smtClean="0">
                <a:solidFill>
                  <a:srgbClr val="FF0000"/>
                </a:solidFill>
              </a:rPr>
              <a:t>W</a:t>
            </a:r>
            <a:r>
              <a:rPr lang="en-US" altLang="en-US" sz="3027" spc="-100" dirty="0" smtClean="0">
                <a:solidFill>
                  <a:srgbClr val="FF0000"/>
                </a:solidFill>
              </a:rPr>
              <a:t>h</a:t>
            </a:r>
            <a:r>
              <a:rPr lang="en-US" altLang="en-US" sz="3027" dirty="0" smtClean="0">
                <a:solidFill>
                  <a:srgbClr val="FF0000"/>
                </a:solidFill>
              </a:rPr>
              <a:t>a</a:t>
            </a:r>
            <a:r>
              <a:rPr lang="en-US" altLang="en-US" sz="3027" spc="-100" dirty="0" smtClean="0">
                <a:solidFill>
                  <a:srgbClr val="FF0000"/>
                </a:solidFill>
              </a:rPr>
              <a:t>t’</a:t>
            </a:r>
            <a:r>
              <a:rPr lang="en-US" altLang="en-US" sz="3027" dirty="0" smtClean="0">
                <a:solidFill>
                  <a:srgbClr val="FF0000"/>
                </a:solidFill>
              </a:rPr>
              <a:t>s</a:t>
            </a:r>
            <a:r>
              <a:rPr lang="en-US" altLang="en-US" sz="2800" dirty="0" smtClean="0">
                <a:solidFill>
                  <a:srgbClr val="FF0000"/>
                </a:solidFill>
              </a:rPr>
              <a:t> </a:t>
            </a:r>
            <a:r>
              <a:rPr lang="en-US" altLang="en-US" sz="3027" spc="-70" dirty="0" smtClean="0">
                <a:solidFill>
                  <a:srgbClr val="FF0000"/>
                </a:solidFill>
              </a:rPr>
              <a:t>bein</a:t>
            </a:r>
            <a:r>
              <a:rPr lang="en-US" altLang="en-US" sz="3027" dirty="0" smtClean="0">
                <a:solidFill>
                  <a:srgbClr val="FF0000"/>
                </a:solidFill>
              </a:rPr>
              <a:t>g</a:t>
            </a:r>
            <a:r>
              <a:rPr lang="en-US" altLang="en-US" sz="2800" dirty="0" smtClean="0">
                <a:solidFill>
                  <a:srgbClr val="FF0000"/>
                </a:solidFill>
              </a:rPr>
              <a:t> </a:t>
            </a:r>
            <a:r>
              <a:rPr lang="en-US" altLang="en-US" sz="3027" dirty="0" smtClean="0">
                <a:solidFill>
                  <a:srgbClr val="FF0000"/>
                </a:solidFill>
              </a:rPr>
              <a:t>assi</a:t>
            </a:r>
            <a:r>
              <a:rPr lang="en-US" altLang="en-US" sz="3027" spc="-40" dirty="0" smtClean="0">
                <a:solidFill>
                  <a:srgbClr val="FF0000"/>
                </a:solidFill>
              </a:rPr>
              <a:t>gned</a:t>
            </a:r>
            <a:r>
              <a:rPr lang="en-US" altLang="en-US" sz="2800" spc="-40" dirty="0" smtClean="0">
                <a:solidFill>
                  <a:srgbClr val="FF0000"/>
                </a:solidFill>
              </a:rPr>
              <a:t> </a:t>
            </a:r>
            <a:r>
              <a:rPr lang="en-US" altLang="en-US" sz="3027" spc="-40" dirty="0">
                <a:solidFill>
                  <a:srgbClr val="FF0000"/>
                </a:solidFill>
              </a:rPr>
              <a:t>d</a:t>
            </a:r>
            <a:r>
              <a:rPr lang="en-US" altLang="en-US" sz="3027" dirty="0">
                <a:solidFill>
                  <a:srgbClr val="FF0000"/>
                </a:solidFill>
              </a:rPr>
              <a:t>et</a:t>
            </a:r>
            <a:r>
              <a:rPr lang="en-US" altLang="en-US" sz="3027" spc="-40" dirty="0">
                <a:solidFill>
                  <a:srgbClr val="FF0000"/>
                </a:solidFill>
              </a:rPr>
              <a:t>e</a:t>
            </a:r>
            <a:r>
              <a:rPr lang="en-US" altLang="en-US" sz="3027" dirty="0">
                <a:solidFill>
                  <a:srgbClr val="FF0000"/>
                </a:solidFill>
              </a:rPr>
              <a:t>r</a:t>
            </a:r>
            <a:r>
              <a:rPr lang="en-US" altLang="en-US" sz="3027" spc="-40" dirty="0">
                <a:solidFill>
                  <a:srgbClr val="FF0000"/>
                </a:solidFill>
              </a:rPr>
              <a:t>min</a:t>
            </a:r>
            <a:r>
              <a:rPr lang="en-US" altLang="en-US" sz="3027" dirty="0">
                <a:solidFill>
                  <a:srgbClr val="FF0000"/>
                </a:solidFill>
              </a:rPr>
              <a:t>es</a:t>
            </a:r>
            <a:r>
              <a:rPr lang="en-US" altLang="en-US" sz="2800" dirty="0">
                <a:solidFill>
                  <a:srgbClr val="FF0000"/>
                </a:solidFill>
              </a:rPr>
              <a:t> </a:t>
            </a:r>
            <a:r>
              <a:rPr lang="en-US" altLang="en-US" sz="3027" dirty="0" smtClean="0">
                <a:solidFill>
                  <a:srgbClr val="FF0000"/>
                </a:solidFill>
              </a:rPr>
              <a:t>its</a:t>
            </a:r>
            <a:r>
              <a:rPr lang="en-US" altLang="en-US" sz="2800" dirty="0" smtClean="0">
                <a:solidFill>
                  <a:srgbClr val="FF0000"/>
                </a:solidFill>
              </a:rPr>
              <a:t> </a:t>
            </a:r>
            <a:r>
              <a:rPr lang="en-US" altLang="en-US" sz="3027" dirty="0" smtClean="0">
                <a:solidFill>
                  <a:srgbClr val="FF0000"/>
                </a:solidFill>
              </a:rPr>
              <a:t>t</a:t>
            </a:r>
            <a:r>
              <a:rPr lang="en-US" altLang="en-US" sz="3027" spc="-40" dirty="0" smtClean="0">
                <a:solidFill>
                  <a:srgbClr val="FF0000"/>
                </a:solidFill>
              </a:rPr>
              <a:t>ype</a:t>
            </a:r>
            <a:r>
              <a:rPr lang="en-US" altLang="en-US" sz="2800" spc="-40" dirty="0" smtClean="0">
                <a:solidFill>
                  <a:srgbClr val="FF0000"/>
                </a:solidFill>
              </a:rPr>
              <a:t> </a:t>
            </a:r>
            <a:r>
              <a:rPr lang="en-US" altLang="en-US" sz="3027" spc="-40" dirty="0" smtClean="0">
                <a:solidFill>
                  <a:srgbClr val="FF0000"/>
                </a:solidFill>
              </a:rPr>
              <a:t>an</a:t>
            </a:r>
            <a:r>
              <a:rPr lang="en-US" altLang="en-US" sz="3027" dirty="0" smtClean="0">
                <a:solidFill>
                  <a:srgbClr val="FF0000"/>
                </a:solidFill>
              </a:rPr>
              <a:t>d</a:t>
            </a:r>
            <a:r>
              <a:rPr lang="en-US" altLang="en-US" sz="2800" dirty="0" smtClean="0">
                <a:solidFill>
                  <a:srgbClr val="FF0000"/>
                </a:solidFill>
              </a:rPr>
              <a:t> </a:t>
            </a:r>
            <a:r>
              <a:rPr lang="en-US" altLang="en-US" sz="3027" dirty="0" smtClean="0">
                <a:solidFill>
                  <a:srgbClr val="FF0000"/>
                </a:solidFill>
              </a:rPr>
              <a:t>t</a:t>
            </a:r>
            <a:r>
              <a:rPr lang="en-US" altLang="en-US" sz="3027" spc="-100" dirty="0" smtClean="0">
                <a:solidFill>
                  <a:srgbClr val="FF0000"/>
                </a:solidFill>
              </a:rPr>
              <a:t>h</a:t>
            </a:r>
            <a:r>
              <a:rPr lang="en-US" altLang="en-US" sz="3027" dirty="0" smtClean="0">
                <a:solidFill>
                  <a:srgbClr val="FF0000"/>
                </a:solidFill>
              </a:rPr>
              <a:t>u</a:t>
            </a:r>
            <a:r>
              <a:rPr lang="en-US" altLang="en-US" sz="3027" spc="-200" dirty="0" smtClean="0">
                <a:solidFill>
                  <a:srgbClr val="FF0000"/>
                </a:solidFill>
              </a:rPr>
              <a:t>s</a:t>
            </a:r>
            <a:r>
              <a:rPr lang="en-US" altLang="en-US" sz="3027" dirty="0" smtClean="0">
                <a:solidFill>
                  <a:srgbClr val="FF0000"/>
                </a:solidFill>
              </a:rPr>
              <a:t>,</a:t>
            </a:r>
            <a:r>
              <a:rPr lang="en-US" altLang="en-US" sz="2400" dirty="0" smtClean="0">
                <a:solidFill>
                  <a:srgbClr val="FF0000"/>
                </a:solidFill>
              </a:rPr>
              <a:t> </a:t>
            </a:r>
            <a:r>
              <a:rPr lang="en-US" altLang="en-US" sz="3027" dirty="0" smtClean="0">
                <a:solidFill>
                  <a:srgbClr val="FF0000"/>
                </a:solidFill>
              </a:rPr>
              <a:t>siz</a:t>
            </a:r>
            <a:r>
              <a:rPr lang="en-US" altLang="en-US" sz="3027" spc="-200" dirty="0" smtClean="0">
                <a:solidFill>
                  <a:srgbClr val="FF0000"/>
                </a:solidFill>
              </a:rPr>
              <a:t>e.</a:t>
            </a:r>
            <a:endParaRPr lang="en-US" altLang="en-US" sz="3027" spc="-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5170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4400" dirty="0">
                <a:solidFill>
                  <a:srgbClr val="0070C0"/>
                </a:solidFill>
              </a:rPr>
              <a:t>How Variables Are Stored</a:t>
            </a:r>
            <a:endParaRPr lang="en-US" altLang="en-US" sz="4400" dirty="0" smtClean="0">
              <a:solidFill>
                <a:srgbClr val="0070C0"/>
              </a:solidFill>
            </a:endParaRPr>
          </a:p>
        </p:txBody>
      </p:sp>
      <p:sp>
        <p:nvSpPr>
          <p:cNvPr id="16387" name="Content Placeholder 2"/>
          <p:cNvSpPr>
            <a:spLocks noGrp="1"/>
          </p:cNvSpPr>
          <p:nvPr>
            <p:ph idx="1"/>
          </p:nvPr>
        </p:nvSpPr>
        <p:spPr>
          <a:xfrm>
            <a:off x="196066" y="1166699"/>
            <a:ext cx="9324003" cy="5410335"/>
          </a:xfrm>
        </p:spPr>
        <p:txBody>
          <a:bodyPr>
            <a:noAutofit/>
          </a:bodyPr>
          <a:lstStyle/>
          <a:p>
            <a:r>
              <a:rPr lang="en-US" altLang="en-US" sz="3600" dirty="0">
                <a:solidFill>
                  <a:schemeClr val="bg1">
                    <a:lumMod val="75000"/>
                  </a:schemeClr>
                </a:solidFill>
              </a:rPr>
              <a:t>Variables are nothing more than reserved memory locations to store values. </a:t>
            </a:r>
          </a:p>
          <a:p>
            <a:pPr>
              <a:spcBef>
                <a:spcPts val="1651"/>
              </a:spcBef>
            </a:pPr>
            <a:r>
              <a:rPr lang="en-US" altLang="en-US" sz="3600" dirty="0">
                <a:solidFill>
                  <a:schemeClr val="bg1">
                    <a:lumMod val="75000"/>
                  </a:schemeClr>
                </a:solidFill>
              </a:rPr>
              <a:t>In languages that use declarations (</a:t>
            </a:r>
            <a:r>
              <a:rPr lang="en-US" altLang="en-US" sz="3600" dirty="0" err="1">
                <a:solidFill>
                  <a:schemeClr val="bg1">
                    <a:lumMod val="75000"/>
                  </a:schemeClr>
                </a:solidFill>
              </a:rPr>
              <a:t>eg</a:t>
            </a:r>
            <a:r>
              <a:rPr lang="en-US" altLang="en-US" sz="3600" dirty="0">
                <a:solidFill>
                  <a:schemeClr val="bg1">
                    <a:lumMod val="75000"/>
                  </a:schemeClr>
                </a:solidFill>
              </a:rPr>
              <a:t>, C++):</a:t>
            </a:r>
            <a:endParaRPr lang="en-US" altLang="en-US" sz="3302" dirty="0">
              <a:solidFill>
                <a:schemeClr val="bg1">
                  <a:lumMod val="75000"/>
                </a:schemeClr>
              </a:solidFill>
            </a:endParaRPr>
          </a:p>
          <a:p>
            <a:pPr lvl="1">
              <a:spcBef>
                <a:spcPts val="0"/>
              </a:spcBef>
            </a:pPr>
            <a:r>
              <a:rPr lang="en-US" altLang="en-US" sz="3200" b="1" u="sng" dirty="0">
                <a:solidFill>
                  <a:schemeClr val="bg1">
                    <a:lumMod val="75000"/>
                  </a:schemeClr>
                </a:solidFill>
              </a:rPr>
              <a:t>Declaring</a:t>
            </a:r>
            <a:r>
              <a:rPr lang="en-US" altLang="en-US" sz="3027" dirty="0">
                <a:solidFill>
                  <a:schemeClr val="bg1">
                    <a:lumMod val="75000"/>
                  </a:schemeClr>
                </a:solidFill>
              </a:rPr>
              <a:t> a variable reserves a space in memory.</a:t>
            </a:r>
          </a:p>
          <a:p>
            <a:pPr lvl="1"/>
            <a:r>
              <a:rPr lang="en-US" altLang="en-US" sz="3027" dirty="0">
                <a:solidFill>
                  <a:schemeClr val="bg1">
                    <a:lumMod val="75000"/>
                  </a:schemeClr>
                </a:solidFill>
              </a:rPr>
              <a:t>The declared data type of the variable determines how much memory will be allocated. </a:t>
            </a:r>
          </a:p>
          <a:p>
            <a:pPr>
              <a:spcBef>
                <a:spcPts val="1651"/>
              </a:spcBef>
            </a:pPr>
            <a:r>
              <a:rPr lang="en-US" altLang="en-US" sz="3600" dirty="0">
                <a:solidFill>
                  <a:srgbClr val="00B050"/>
                </a:solidFill>
              </a:rPr>
              <a:t>In languages without declarations (</a:t>
            </a:r>
            <a:r>
              <a:rPr lang="en-US" altLang="en-US" sz="3600" dirty="0" err="1">
                <a:solidFill>
                  <a:srgbClr val="00B050"/>
                </a:solidFill>
              </a:rPr>
              <a:t>eg</a:t>
            </a:r>
            <a:r>
              <a:rPr lang="en-US" altLang="en-US" sz="3600" dirty="0">
                <a:solidFill>
                  <a:srgbClr val="00B050"/>
                </a:solidFill>
              </a:rPr>
              <a:t>, Python):</a:t>
            </a:r>
          </a:p>
          <a:p>
            <a:pPr lvl="1">
              <a:spcBef>
                <a:spcPts val="0"/>
              </a:spcBef>
            </a:pPr>
            <a:r>
              <a:rPr lang="en-US" altLang="en-US" sz="3200" b="1" u="sng" dirty="0" smtClean="0">
                <a:solidFill>
                  <a:schemeClr val="bg1">
                    <a:lumMod val="50000"/>
                  </a:schemeClr>
                </a:solidFill>
              </a:rPr>
              <a:t>Assigning</a:t>
            </a:r>
            <a:r>
              <a:rPr lang="en-US" altLang="en-US" sz="3027" dirty="0" smtClean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altLang="en-US" sz="3027" dirty="0">
                <a:solidFill>
                  <a:schemeClr val="bg1">
                    <a:lumMod val="50000"/>
                  </a:schemeClr>
                </a:solidFill>
              </a:rPr>
              <a:t>to a variable reserves </a:t>
            </a:r>
            <a:r>
              <a:rPr lang="en-US" altLang="en-US" sz="3027" dirty="0" smtClean="0">
                <a:solidFill>
                  <a:schemeClr val="bg1">
                    <a:lumMod val="50000"/>
                  </a:schemeClr>
                </a:solidFill>
              </a:rPr>
              <a:t>its </a:t>
            </a:r>
            <a:r>
              <a:rPr lang="en-US" altLang="en-US" sz="3027" dirty="0">
                <a:solidFill>
                  <a:schemeClr val="bg1">
                    <a:lumMod val="50000"/>
                  </a:schemeClr>
                </a:solidFill>
              </a:rPr>
              <a:t>space in memory.</a:t>
            </a:r>
          </a:p>
          <a:p>
            <a:pPr lvl="1"/>
            <a:r>
              <a:rPr lang="en-US" altLang="en-US" sz="3027" dirty="0">
                <a:solidFill>
                  <a:srgbClr val="FF0000"/>
                </a:solidFill>
              </a:rPr>
              <a:t>W</a:t>
            </a:r>
            <a:r>
              <a:rPr lang="en-US" altLang="en-US" sz="3027" spc="-100" dirty="0">
                <a:solidFill>
                  <a:srgbClr val="FF0000"/>
                </a:solidFill>
              </a:rPr>
              <a:t>h</a:t>
            </a:r>
            <a:r>
              <a:rPr lang="en-US" altLang="en-US" sz="3027" dirty="0">
                <a:solidFill>
                  <a:srgbClr val="FF0000"/>
                </a:solidFill>
              </a:rPr>
              <a:t>a</a:t>
            </a:r>
            <a:r>
              <a:rPr lang="en-US" altLang="en-US" sz="3027" spc="-100" dirty="0">
                <a:solidFill>
                  <a:srgbClr val="FF0000"/>
                </a:solidFill>
              </a:rPr>
              <a:t>t’</a:t>
            </a:r>
            <a:r>
              <a:rPr lang="en-US" altLang="en-US" sz="3027" dirty="0">
                <a:solidFill>
                  <a:srgbClr val="FF0000"/>
                </a:solidFill>
              </a:rPr>
              <a:t>s</a:t>
            </a:r>
            <a:r>
              <a:rPr lang="en-US" altLang="en-US" sz="2800" dirty="0">
                <a:solidFill>
                  <a:srgbClr val="FF0000"/>
                </a:solidFill>
              </a:rPr>
              <a:t> </a:t>
            </a:r>
            <a:r>
              <a:rPr lang="en-US" altLang="en-US" sz="3027" spc="-70" dirty="0">
                <a:solidFill>
                  <a:srgbClr val="FF0000"/>
                </a:solidFill>
              </a:rPr>
              <a:t>bein</a:t>
            </a:r>
            <a:r>
              <a:rPr lang="en-US" altLang="en-US" sz="3027" dirty="0">
                <a:solidFill>
                  <a:srgbClr val="FF0000"/>
                </a:solidFill>
              </a:rPr>
              <a:t>g</a:t>
            </a:r>
            <a:r>
              <a:rPr lang="en-US" altLang="en-US" sz="2800" dirty="0">
                <a:solidFill>
                  <a:srgbClr val="FF0000"/>
                </a:solidFill>
              </a:rPr>
              <a:t> </a:t>
            </a:r>
            <a:r>
              <a:rPr lang="en-US" altLang="en-US" sz="3027" dirty="0">
                <a:solidFill>
                  <a:srgbClr val="FF0000"/>
                </a:solidFill>
              </a:rPr>
              <a:t>assi</a:t>
            </a:r>
            <a:r>
              <a:rPr lang="en-US" altLang="en-US" sz="3027" spc="-40" dirty="0">
                <a:solidFill>
                  <a:srgbClr val="FF0000"/>
                </a:solidFill>
              </a:rPr>
              <a:t>gned</a:t>
            </a:r>
            <a:r>
              <a:rPr lang="en-US" altLang="en-US" sz="2800" spc="-40" dirty="0">
                <a:solidFill>
                  <a:srgbClr val="FF0000"/>
                </a:solidFill>
              </a:rPr>
              <a:t> </a:t>
            </a:r>
            <a:r>
              <a:rPr lang="en-US" altLang="en-US" sz="3027" spc="-40" dirty="0">
                <a:solidFill>
                  <a:srgbClr val="FF0000"/>
                </a:solidFill>
              </a:rPr>
              <a:t>d</a:t>
            </a:r>
            <a:r>
              <a:rPr lang="en-US" altLang="en-US" sz="3027" dirty="0">
                <a:solidFill>
                  <a:srgbClr val="FF0000"/>
                </a:solidFill>
              </a:rPr>
              <a:t>et</a:t>
            </a:r>
            <a:r>
              <a:rPr lang="en-US" altLang="en-US" sz="3027" spc="-40" dirty="0">
                <a:solidFill>
                  <a:srgbClr val="FF0000"/>
                </a:solidFill>
              </a:rPr>
              <a:t>e</a:t>
            </a:r>
            <a:r>
              <a:rPr lang="en-US" altLang="en-US" sz="3027" dirty="0">
                <a:solidFill>
                  <a:srgbClr val="FF0000"/>
                </a:solidFill>
              </a:rPr>
              <a:t>r</a:t>
            </a:r>
            <a:r>
              <a:rPr lang="en-US" altLang="en-US" sz="3027" spc="-40" dirty="0">
                <a:solidFill>
                  <a:srgbClr val="FF0000"/>
                </a:solidFill>
              </a:rPr>
              <a:t>min</a:t>
            </a:r>
            <a:r>
              <a:rPr lang="en-US" altLang="en-US" sz="3027" dirty="0">
                <a:solidFill>
                  <a:srgbClr val="FF0000"/>
                </a:solidFill>
              </a:rPr>
              <a:t>es</a:t>
            </a:r>
            <a:r>
              <a:rPr lang="en-US" altLang="en-US" sz="2800" dirty="0">
                <a:solidFill>
                  <a:srgbClr val="FF0000"/>
                </a:solidFill>
              </a:rPr>
              <a:t> </a:t>
            </a:r>
            <a:r>
              <a:rPr lang="en-US" altLang="en-US" sz="3027" dirty="0">
                <a:solidFill>
                  <a:srgbClr val="FF0000"/>
                </a:solidFill>
              </a:rPr>
              <a:t>its</a:t>
            </a:r>
            <a:r>
              <a:rPr lang="en-US" altLang="en-US" sz="2800" dirty="0">
                <a:solidFill>
                  <a:srgbClr val="FF0000"/>
                </a:solidFill>
              </a:rPr>
              <a:t> </a:t>
            </a:r>
            <a:r>
              <a:rPr lang="en-US" altLang="en-US" sz="3027" dirty="0">
                <a:solidFill>
                  <a:srgbClr val="FF0000"/>
                </a:solidFill>
              </a:rPr>
              <a:t>t</a:t>
            </a:r>
            <a:r>
              <a:rPr lang="en-US" altLang="en-US" sz="3027" spc="-40" dirty="0">
                <a:solidFill>
                  <a:srgbClr val="FF0000"/>
                </a:solidFill>
              </a:rPr>
              <a:t>ype</a:t>
            </a:r>
            <a:r>
              <a:rPr lang="en-US" altLang="en-US" sz="2800" spc="-40" dirty="0">
                <a:solidFill>
                  <a:srgbClr val="FF0000"/>
                </a:solidFill>
              </a:rPr>
              <a:t> </a:t>
            </a:r>
            <a:r>
              <a:rPr lang="en-US" altLang="en-US" sz="3027" spc="-40" dirty="0">
                <a:solidFill>
                  <a:srgbClr val="FF0000"/>
                </a:solidFill>
              </a:rPr>
              <a:t>an</a:t>
            </a:r>
            <a:r>
              <a:rPr lang="en-US" altLang="en-US" sz="3027" dirty="0">
                <a:solidFill>
                  <a:srgbClr val="FF0000"/>
                </a:solidFill>
              </a:rPr>
              <a:t>d</a:t>
            </a:r>
            <a:r>
              <a:rPr lang="en-US" altLang="en-US" sz="2800" dirty="0">
                <a:solidFill>
                  <a:srgbClr val="FF0000"/>
                </a:solidFill>
              </a:rPr>
              <a:t> </a:t>
            </a:r>
            <a:r>
              <a:rPr lang="en-US" altLang="en-US" sz="3027" dirty="0">
                <a:solidFill>
                  <a:srgbClr val="FF0000"/>
                </a:solidFill>
              </a:rPr>
              <a:t>t</a:t>
            </a:r>
            <a:r>
              <a:rPr lang="en-US" altLang="en-US" sz="3027" spc="-100" dirty="0">
                <a:solidFill>
                  <a:srgbClr val="FF0000"/>
                </a:solidFill>
              </a:rPr>
              <a:t>h</a:t>
            </a:r>
            <a:r>
              <a:rPr lang="en-US" altLang="en-US" sz="3027" dirty="0">
                <a:solidFill>
                  <a:srgbClr val="FF0000"/>
                </a:solidFill>
              </a:rPr>
              <a:t>u</a:t>
            </a:r>
            <a:r>
              <a:rPr lang="en-US" altLang="en-US" sz="3027" spc="-200" dirty="0">
                <a:solidFill>
                  <a:srgbClr val="FF0000"/>
                </a:solidFill>
              </a:rPr>
              <a:t>s</a:t>
            </a:r>
            <a:r>
              <a:rPr lang="en-US" altLang="en-US" sz="3027" dirty="0">
                <a:solidFill>
                  <a:srgbClr val="FF0000"/>
                </a:solidFill>
              </a:rPr>
              <a:t>,</a:t>
            </a:r>
            <a:r>
              <a:rPr lang="en-US" altLang="en-US" sz="2400" dirty="0">
                <a:solidFill>
                  <a:srgbClr val="FF0000"/>
                </a:solidFill>
              </a:rPr>
              <a:t> </a:t>
            </a:r>
            <a:r>
              <a:rPr lang="en-US" altLang="en-US" sz="3027" dirty="0">
                <a:solidFill>
                  <a:srgbClr val="FF0000"/>
                </a:solidFill>
              </a:rPr>
              <a:t>siz</a:t>
            </a:r>
            <a:r>
              <a:rPr lang="en-US" altLang="en-US" sz="3027" spc="-200" dirty="0">
                <a:solidFill>
                  <a:srgbClr val="FF0000"/>
                </a:solidFill>
              </a:rPr>
              <a:t>e</a:t>
            </a:r>
            <a:r>
              <a:rPr lang="en-US" altLang="en-US" sz="3027" spc="-200" dirty="0" smtClean="0">
                <a:solidFill>
                  <a:srgbClr val="FF0000"/>
                </a:solidFill>
              </a:rPr>
              <a:t>.</a:t>
            </a:r>
            <a:endParaRPr lang="en-US" altLang="en-US" sz="3027" dirty="0">
              <a:solidFill>
                <a:srgbClr val="FF0000"/>
              </a:solidFill>
            </a:endParaRPr>
          </a:p>
          <a:p>
            <a:pPr lvl="2"/>
            <a:r>
              <a:rPr lang="en-US" altLang="en-US" sz="3000" dirty="0">
                <a:solidFill>
                  <a:srgbClr val="7030A0"/>
                </a:solidFill>
              </a:rPr>
              <a:t>This means the interpreter analyzes the right-hand side (RHS) of the equals sign to determine the type.</a:t>
            </a:r>
          </a:p>
        </p:txBody>
      </p:sp>
    </p:spTree>
    <p:extLst>
      <p:ext uri="{BB962C8B-B14F-4D97-AF65-F5344CB8AC3E}">
        <p14:creationId xmlns:p14="http://schemas.microsoft.com/office/powerpoint/2010/main" val="41899410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4400" dirty="0" smtClean="0">
                <a:solidFill>
                  <a:srgbClr val="00B0F0"/>
                </a:solidFill>
              </a:rPr>
              <a:t>Assigning </a:t>
            </a:r>
            <a:r>
              <a:rPr lang="en-US" altLang="en-US" sz="4400" dirty="0" smtClean="0">
                <a:solidFill>
                  <a:srgbClr val="0070C0"/>
                </a:solidFill>
              </a:rPr>
              <a:t>Values to Variables</a:t>
            </a:r>
          </a:p>
        </p:txBody>
      </p:sp>
      <p:sp>
        <p:nvSpPr>
          <p:cNvPr id="17411" name="Content Placeholder 2"/>
          <p:cNvSpPr>
            <a:spLocks noGrp="1"/>
          </p:cNvSpPr>
          <p:nvPr>
            <p:ph idx="1"/>
          </p:nvPr>
        </p:nvSpPr>
        <p:spPr>
          <a:xfrm>
            <a:off x="292608" y="1161143"/>
            <a:ext cx="9345168" cy="5015820"/>
          </a:xfrm>
        </p:spPr>
        <p:txBody>
          <a:bodyPr>
            <a:noAutofit/>
          </a:bodyPr>
          <a:lstStyle/>
          <a:p>
            <a:pPr>
              <a:buClr>
                <a:schemeClr val="bg1"/>
              </a:buClr>
            </a:pPr>
            <a:r>
              <a:rPr lang="en-US" altLang="en-US" sz="3200" dirty="0"/>
              <a:t>Python variables do not have to be explicitly declared to reserve memory space. </a:t>
            </a:r>
            <a:r>
              <a:rPr lang="en-US" altLang="en-US" sz="3200" dirty="0" smtClean="0"/>
              <a:t/>
            </a:r>
            <a:br>
              <a:rPr lang="en-US" altLang="en-US" sz="3200" dirty="0" smtClean="0"/>
            </a:br>
            <a:r>
              <a:rPr lang="en-US" altLang="en-US" sz="3200" dirty="0" smtClean="0"/>
              <a:t>The </a:t>
            </a:r>
            <a:r>
              <a:rPr lang="en-US" altLang="en-US" sz="3200" dirty="0"/>
              <a:t>declaration happens automatically when you assign a value to a variable. </a:t>
            </a:r>
            <a:r>
              <a:rPr lang="en-US" altLang="en-US" sz="3200" dirty="0" smtClean="0"/>
              <a:t/>
            </a:r>
            <a:br>
              <a:rPr lang="en-US" altLang="en-US" sz="3200" dirty="0" smtClean="0"/>
            </a:br>
            <a:r>
              <a:rPr lang="en-US" altLang="en-US" sz="3200" dirty="0" smtClean="0"/>
              <a:t>The </a:t>
            </a:r>
            <a:r>
              <a:rPr lang="en-US" altLang="en-US" sz="3200" dirty="0"/>
              <a:t>equal sign (</a:t>
            </a:r>
            <a:r>
              <a:rPr lang="en-US" altLang="en-US" sz="3200" dirty="0">
                <a:solidFill>
                  <a:srgbClr val="00B0F0"/>
                </a:solidFill>
              </a:rPr>
              <a:t>=</a:t>
            </a:r>
            <a:r>
              <a:rPr lang="en-US" altLang="en-US" sz="3200" dirty="0"/>
              <a:t>) is used to assign values to </a:t>
            </a:r>
            <a:r>
              <a:rPr lang="en-US" altLang="en-US" sz="3200" dirty="0" smtClean="0"/>
              <a:t>variables:</a:t>
            </a:r>
            <a:endParaRPr lang="en-US" altLang="en-US" sz="3200" dirty="0"/>
          </a:p>
          <a:p>
            <a:pPr lvl="1">
              <a:buFontTx/>
              <a:buNone/>
            </a:pPr>
            <a:endParaRPr lang="en-US" altLang="en-US" sz="1400" b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buFontTx/>
              <a:buNone/>
            </a:pPr>
            <a:r>
              <a:rPr lang="en-US" altLang="en-US" sz="2800" b="1" dirty="0" smtClean="0">
                <a:latin typeface="Lucida Console" panose="020B0609040504020204" pitchFamily="49" charset="0"/>
                <a:cs typeface="Courier New" panose="02070309020205020404" pitchFamily="49" charset="0"/>
              </a:rPr>
              <a:t>counter </a:t>
            </a:r>
            <a:r>
              <a:rPr lang="en-US" altLang="en-US" sz="2800" b="1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</a:t>
            </a:r>
            <a:r>
              <a:rPr lang="en-US" altLang="en-US" sz="2800" b="1" dirty="0">
                <a:latin typeface="Lucida Console" panose="020B0609040504020204" pitchFamily="49" charset="0"/>
                <a:cs typeface="Courier New" panose="02070309020205020404" pitchFamily="49" charset="0"/>
              </a:rPr>
              <a:t> 100 </a:t>
            </a:r>
            <a:r>
              <a:rPr lang="en-US" altLang="en-US" sz="2800" b="1" dirty="0" smtClean="0">
                <a:latin typeface="Lucida Console" panose="020B0609040504020204" pitchFamily="49" charset="0"/>
                <a:cs typeface="Courier New" panose="02070309020205020404" pitchFamily="49" charset="0"/>
              </a:rPr>
              <a:t> # </a:t>
            </a:r>
            <a:r>
              <a:rPr lang="en-US" altLang="en-US" sz="2800" b="1" dirty="0">
                <a:latin typeface="Lucida Console" panose="020B0609040504020204" pitchFamily="49" charset="0"/>
                <a:cs typeface="Courier New" panose="02070309020205020404" pitchFamily="49" charset="0"/>
              </a:rPr>
              <a:t>An integer assignment </a:t>
            </a:r>
          </a:p>
          <a:p>
            <a:pPr lvl="1">
              <a:buFontTx/>
              <a:buNone/>
            </a:pPr>
            <a:r>
              <a:rPr lang="en-US" altLang="en-US" sz="2800" b="1" dirty="0">
                <a:latin typeface="Lucida Console" panose="020B0609040504020204" pitchFamily="49" charset="0"/>
                <a:cs typeface="Courier New" panose="02070309020205020404" pitchFamily="49" charset="0"/>
              </a:rPr>
              <a:t>miles </a:t>
            </a:r>
            <a:r>
              <a:rPr lang="en-US" altLang="en-US" sz="2800" b="1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</a:t>
            </a:r>
            <a:r>
              <a:rPr lang="en-US" altLang="en-US" sz="2800" b="1" dirty="0">
                <a:latin typeface="Lucida Console" panose="020B0609040504020204" pitchFamily="49" charset="0"/>
                <a:cs typeface="Courier New" panose="02070309020205020404" pitchFamily="49" charset="0"/>
              </a:rPr>
              <a:t> 1000.0 # A floating point </a:t>
            </a:r>
          </a:p>
          <a:p>
            <a:pPr lvl="1">
              <a:buFontTx/>
              <a:buNone/>
            </a:pPr>
            <a:r>
              <a:rPr lang="en-US" altLang="en-US" sz="2800" b="1" dirty="0">
                <a:latin typeface="Lucida Console" panose="020B0609040504020204" pitchFamily="49" charset="0"/>
                <a:cs typeface="Courier New" panose="02070309020205020404" pitchFamily="49" charset="0"/>
              </a:rPr>
              <a:t>name </a:t>
            </a:r>
            <a:r>
              <a:rPr lang="en-US" altLang="en-US" sz="2800" b="1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</a:t>
            </a:r>
            <a:r>
              <a:rPr lang="en-US" altLang="en-US" sz="2800" b="1" dirty="0">
                <a:latin typeface="Lucida Console" panose="020B0609040504020204" pitchFamily="49" charset="0"/>
                <a:cs typeface="Courier New" panose="02070309020205020404" pitchFamily="49" charset="0"/>
              </a:rPr>
              <a:t> "John" </a:t>
            </a:r>
            <a:r>
              <a:rPr lang="en-US" altLang="en-US" sz="2800" b="1" dirty="0" smtClean="0">
                <a:latin typeface="Lucida Console" panose="020B0609040504020204" pitchFamily="49" charset="0"/>
                <a:cs typeface="Courier New" panose="02070309020205020404" pitchFamily="49" charset="0"/>
              </a:rPr>
              <a:t> # </a:t>
            </a:r>
            <a:r>
              <a:rPr lang="en-US" altLang="en-US" sz="2800" b="1" dirty="0">
                <a:latin typeface="Lucida Console" panose="020B0609040504020204" pitchFamily="49" charset="0"/>
                <a:cs typeface="Courier New" panose="02070309020205020404" pitchFamily="49" charset="0"/>
              </a:rPr>
              <a:t>A string </a:t>
            </a:r>
          </a:p>
          <a:p>
            <a:pPr lvl="1">
              <a:buFontTx/>
              <a:buNone/>
            </a:pPr>
            <a:r>
              <a:rPr lang="en-US" altLang="en-US" sz="2800" b="1" dirty="0">
                <a:latin typeface="Lucida Console" panose="020B0609040504020204" pitchFamily="49" charset="0"/>
                <a:cs typeface="Courier New" panose="02070309020205020404" pitchFamily="49" charset="0"/>
              </a:rPr>
              <a:t>print (counter) </a:t>
            </a:r>
          </a:p>
          <a:p>
            <a:pPr lvl="1">
              <a:buFontTx/>
              <a:buNone/>
            </a:pPr>
            <a:r>
              <a:rPr lang="en-US" altLang="en-US" sz="2800" b="1" dirty="0">
                <a:latin typeface="Lucida Console" panose="020B0609040504020204" pitchFamily="49" charset="0"/>
                <a:cs typeface="Courier New" panose="02070309020205020404" pitchFamily="49" charset="0"/>
              </a:rPr>
              <a:t>print (miles) </a:t>
            </a:r>
          </a:p>
          <a:p>
            <a:pPr lvl="1">
              <a:buFontTx/>
              <a:buNone/>
            </a:pPr>
            <a:r>
              <a:rPr lang="en-US" altLang="en-US" sz="2800" b="1" dirty="0">
                <a:latin typeface="Lucida Console" panose="020B0609040504020204" pitchFamily="49" charset="0"/>
                <a:cs typeface="Courier New" panose="02070309020205020404" pitchFamily="49" charset="0"/>
              </a:rPr>
              <a:t>print (name) </a:t>
            </a:r>
          </a:p>
        </p:txBody>
      </p:sp>
    </p:spTree>
    <p:extLst>
      <p:ext uri="{BB962C8B-B14F-4D97-AF65-F5344CB8AC3E}">
        <p14:creationId xmlns:p14="http://schemas.microsoft.com/office/powerpoint/2010/main" val="27736866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0" y="1"/>
            <a:ext cx="9729788" cy="11611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729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511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400" dirty="0">
                <a:solidFill>
                  <a:srgbClr val="00B0F0"/>
                </a:solidFill>
              </a:rPr>
              <a:t>Updating</a:t>
            </a:r>
            <a:r>
              <a:rPr lang="en-US" altLang="en-US" sz="4400" dirty="0">
                <a:solidFill>
                  <a:srgbClr val="0070C0"/>
                </a:solidFill>
              </a:rPr>
              <a:t> the Values of </a:t>
            </a:r>
            <a:r>
              <a:rPr lang="en-US" altLang="en-US" sz="4400" dirty="0" smtClean="0">
                <a:solidFill>
                  <a:srgbClr val="0070C0"/>
                </a:solidFill>
              </a:rPr>
              <a:t>Variables</a:t>
            </a:r>
          </a:p>
        </p:txBody>
      </p:sp>
      <p:sp>
        <p:nvSpPr>
          <p:cNvPr id="22531" name="Content Placeholder 2"/>
          <p:cNvSpPr>
            <a:spLocks noGrp="1"/>
          </p:cNvSpPr>
          <p:nvPr>
            <p:ph idx="1"/>
          </p:nvPr>
        </p:nvSpPr>
        <p:spPr>
          <a:xfrm>
            <a:off x="359076" y="1143000"/>
            <a:ext cx="9077818" cy="5225387"/>
          </a:xfrm>
        </p:spPr>
        <p:txBody>
          <a:bodyPr>
            <a:noAutofit/>
          </a:bodyPr>
          <a:lstStyle/>
          <a:p>
            <a:r>
              <a:rPr lang="en-US" altLang="en-US" sz="3200" dirty="0"/>
              <a:t>Assigning a </a:t>
            </a:r>
            <a:r>
              <a:rPr lang="en-US" altLang="en-US" sz="3200" dirty="0" smtClean="0"/>
              <a:t>new value </a:t>
            </a:r>
            <a:r>
              <a:rPr lang="en-US" altLang="en-US" sz="3200" dirty="0"/>
              <a:t>to </a:t>
            </a:r>
            <a:r>
              <a:rPr lang="en-US" altLang="en-US" sz="3200" dirty="0" smtClean="0"/>
              <a:t>an existing </a:t>
            </a:r>
            <a:r>
              <a:rPr lang="en-US" altLang="en-US" sz="3200" dirty="0"/>
              <a:t>variable does not update it, instead it creates a new variable.</a:t>
            </a:r>
          </a:p>
          <a:p>
            <a:pPr lvl="1"/>
            <a:r>
              <a:rPr lang="en-US" altLang="en-US" sz="2800" dirty="0" smtClean="0"/>
              <a:t>Even if it is </a:t>
            </a:r>
            <a:r>
              <a:rPr lang="en-US" altLang="en-US" sz="2800" dirty="0"/>
              <a:t>the same </a:t>
            </a:r>
            <a:r>
              <a:rPr lang="en-US" altLang="en-US" sz="2800" dirty="0" smtClean="0"/>
              <a:t>type, </a:t>
            </a:r>
            <a:r>
              <a:rPr lang="en-US" altLang="en-US" sz="2800" dirty="0"/>
              <a:t>it is a new variable.</a:t>
            </a:r>
          </a:p>
          <a:p>
            <a:pPr>
              <a:spcBef>
                <a:spcPts val="2400"/>
              </a:spcBef>
            </a:pPr>
            <a:r>
              <a:rPr lang="en-US" altLang="en-US" sz="3200" dirty="0" smtClean="0">
                <a:solidFill>
                  <a:srgbClr val="FF0000"/>
                </a:solidFill>
              </a:rPr>
              <a:t>But, </a:t>
            </a:r>
            <a:r>
              <a:rPr lang="en-US" altLang="en-US" sz="3200" i="1" dirty="0" smtClean="0">
                <a:solidFill>
                  <a:srgbClr val="FF0000"/>
                </a:solidFill>
              </a:rPr>
              <a:t>for</a:t>
            </a:r>
            <a:r>
              <a:rPr lang="en-US" altLang="en-US" sz="3200" dirty="0" smtClean="0">
                <a:solidFill>
                  <a:srgbClr val="FF0000"/>
                </a:solidFill>
              </a:rPr>
              <a:t> </a:t>
            </a:r>
            <a:r>
              <a:rPr lang="en-US" altLang="en-US" sz="3200" i="1" dirty="0">
                <a:solidFill>
                  <a:srgbClr val="FF0000"/>
                </a:solidFill>
              </a:rPr>
              <a:t>multi-value </a:t>
            </a:r>
            <a:r>
              <a:rPr lang="en-US" altLang="en-US" sz="3200" dirty="0" smtClean="0">
                <a:solidFill>
                  <a:srgbClr val="FF0000"/>
                </a:solidFill>
              </a:rPr>
              <a:t>variables, assigning to </a:t>
            </a:r>
            <a:r>
              <a:rPr lang="en-US" altLang="en-US" sz="3200" i="1" dirty="0" smtClean="0">
                <a:solidFill>
                  <a:srgbClr val="00B0F0"/>
                </a:solidFill>
              </a:rPr>
              <a:t>one </a:t>
            </a:r>
            <a:r>
              <a:rPr lang="en-US" altLang="en-US" sz="3200" i="1" dirty="0">
                <a:solidFill>
                  <a:srgbClr val="00B0F0"/>
                </a:solidFill>
              </a:rPr>
              <a:t>value</a:t>
            </a:r>
            <a:r>
              <a:rPr lang="en-US" altLang="en-US" sz="3200" dirty="0">
                <a:solidFill>
                  <a:srgbClr val="FF0000"/>
                </a:solidFill>
              </a:rPr>
              <a:t> is </a:t>
            </a:r>
            <a:r>
              <a:rPr lang="en-US" altLang="en-US" sz="3200" i="1" dirty="0">
                <a:solidFill>
                  <a:srgbClr val="FF0000"/>
                </a:solidFill>
              </a:rPr>
              <a:t>different</a:t>
            </a:r>
            <a:r>
              <a:rPr lang="en-US" altLang="en-US" sz="3200" dirty="0">
                <a:solidFill>
                  <a:srgbClr val="FF0000"/>
                </a:solidFill>
              </a:rPr>
              <a:t> than assigning </a:t>
            </a:r>
            <a:r>
              <a:rPr lang="en-US" altLang="en-US" sz="3200" dirty="0" smtClean="0">
                <a:solidFill>
                  <a:srgbClr val="FF0000"/>
                </a:solidFill>
              </a:rPr>
              <a:t>to the </a:t>
            </a:r>
            <a:r>
              <a:rPr lang="en-US" altLang="en-US" sz="3200" b="1" i="1" dirty="0" smtClean="0">
                <a:solidFill>
                  <a:srgbClr val="FF0000"/>
                </a:solidFill>
              </a:rPr>
              <a:t>whole variable</a:t>
            </a:r>
            <a:r>
              <a:rPr lang="en-US" altLang="en-US" sz="3200" dirty="0">
                <a:solidFill>
                  <a:srgbClr val="FF0000"/>
                </a:solidFill>
              </a:rPr>
              <a:t>.</a:t>
            </a:r>
          </a:p>
          <a:p>
            <a:pPr>
              <a:spcBef>
                <a:spcPts val="2400"/>
              </a:spcBef>
            </a:pPr>
            <a:r>
              <a:rPr lang="en-US" altLang="en-US" sz="3200" dirty="0">
                <a:solidFill>
                  <a:srgbClr val="FF0000"/>
                </a:solidFill>
              </a:rPr>
              <a:t>Python divides its types into two categories:</a:t>
            </a:r>
          </a:p>
          <a:p>
            <a:pPr marL="836633" lvl="1" indent="-471762">
              <a:buFont typeface="+mj-lt"/>
              <a:buAutoNum type="arabicPeriod"/>
            </a:pPr>
            <a:r>
              <a:rPr lang="en-US" altLang="en-US" sz="3200" dirty="0" smtClean="0">
                <a:solidFill>
                  <a:srgbClr val="FF0000"/>
                </a:solidFill>
              </a:rPr>
              <a:t>Numbers, strings, </a:t>
            </a:r>
            <a:r>
              <a:rPr lang="en-US" altLang="en-US" sz="3200" dirty="0">
                <a:solidFill>
                  <a:srgbClr val="FF0000"/>
                </a:solidFill>
              </a:rPr>
              <a:t>and tuples are </a:t>
            </a:r>
            <a:r>
              <a:rPr lang="en-US" altLang="en-US" sz="3200" b="1" dirty="0">
                <a:solidFill>
                  <a:srgbClr val="FF0000"/>
                </a:solidFill>
              </a:rPr>
              <a:t>immutable</a:t>
            </a:r>
            <a:r>
              <a:rPr lang="en-US" altLang="en-US" sz="3200" dirty="0" smtClean="0">
                <a:solidFill>
                  <a:srgbClr val="FF0000"/>
                </a:solidFill>
              </a:rPr>
              <a:t>.</a:t>
            </a:r>
            <a:endParaRPr lang="en-US" altLang="en-US" sz="3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1876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2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22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0" y="1"/>
            <a:ext cx="9729788" cy="11611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729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511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400" dirty="0">
                <a:solidFill>
                  <a:srgbClr val="00B0F0"/>
                </a:solidFill>
              </a:rPr>
              <a:t>Updating</a:t>
            </a:r>
            <a:r>
              <a:rPr lang="en-US" altLang="en-US" sz="4400" dirty="0">
                <a:solidFill>
                  <a:srgbClr val="0070C0"/>
                </a:solidFill>
              </a:rPr>
              <a:t> the Values of </a:t>
            </a:r>
            <a:r>
              <a:rPr lang="en-US" altLang="en-US" sz="4400" dirty="0" smtClean="0">
                <a:solidFill>
                  <a:srgbClr val="0070C0"/>
                </a:solidFill>
              </a:rPr>
              <a:t>Variables</a:t>
            </a:r>
          </a:p>
        </p:txBody>
      </p:sp>
      <p:sp>
        <p:nvSpPr>
          <p:cNvPr id="22531" name="Content Placeholder 2"/>
          <p:cNvSpPr>
            <a:spLocks noGrp="1"/>
          </p:cNvSpPr>
          <p:nvPr>
            <p:ph idx="1"/>
          </p:nvPr>
        </p:nvSpPr>
        <p:spPr>
          <a:xfrm>
            <a:off x="359076" y="1143000"/>
            <a:ext cx="9077818" cy="5225387"/>
          </a:xfrm>
        </p:spPr>
        <p:txBody>
          <a:bodyPr>
            <a:noAutofit/>
          </a:bodyPr>
          <a:lstStyle/>
          <a:p>
            <a:r>
              <a:rPr lang="en-US" altLang="en-US" sz="3200" dirty="0"/>
              <a:t>Assigning a </a:t>
            </a:r>
            <a:r>
              <a:rPr lang="en-US" altLang="en-US" sz="3200" dirty="0" smtClean="0"/>
              <a:t>new value </a:t>
            </a:r>
            <a:r>
              <a:rPr lang="en-US" altLang="en-US" sz="3200" dirty="0"/>
              <a:t>to </a:t>
            </a:r>
            <a:r>
              <a:rPr lang="en-US" altLang="en-US" sz="3200" dirty="0" smtClean="0"/>
              <a:t>an existing </a:t>
            </a:r>
            <a:r>
              <a:rPr lang="en-US" altLang="en-US" sz="3200" dirty="0"/>
              <a:t>variable does not update it, instead it creates a new variable.</a:t>
            </a:r>
          </a:p>
          <a:p>
            <a:pPr lvl="1"/>
            <a:r>
              <a:rPr lang="en-US" altLang="en-US" sz="2800" dirty="0" smtClean="0"/>
              <a:t>Even if it is </a:t>
            </a:r>
            <a:r>
              <a:rPr lang="en-US" altLang="en-US" sz="2800" dirty="0"/>
              <a:t>the same </a:t>
            </a:r>
            <a:r>
              <a:rPr lang="en-US" altLang="en-US" sz="2800" dirty="0" smtClean="0"/>
              <a:t>type, </a:t>
            </a:r>
            <a:r>
              <a:rPr lang="en-US" altLang="en-US" sz="2800" dirty="0"/>
              <a:t>it is a new variable.</a:t>
            </a:r>
          </a:p>
          <a:p>
            <a:pPr>
              <a:spcBef>
                <a:spcPts val="2400"/>
              </a:spcBef>
            </a:pPr>
            <a:r>
              <a:rPr lang="en-US" altLang="en-US" sz="3200" dirty="0" smtClean="0">
                <a:solidFill>
                  <a:srgbClr val="FF0000"/>
                </a:solidFill>
              </a:rPr>
              <a:t>But, </a:t>
            </a:r>
            <a:r>
              <a:rPr lang="en-US" altLang="en-US" sz="3200" i="1" dirty="0" smtClean="0">
                <a:solidFill>
                  <a:srgbClr val="FF0000"/>
                </a:solidFill>
              </a:rPr>
              <a:t>for</a:t>
            </a:r>
            <a:r>
              <a:rPr lang="en-US" altLang="en-US" sz="3200" dirty="0" smtClean="0">
                <a:solidFill>
                  <a:srgbClr val="FF0000"/>
                </a:solidFill>
              </a:rPr>
              <a:t> </a:t>
            </a:r>
            <a:r>
              <a:rPr lang="en-US" altLang="en-US" sz="3200" i="1" dirty="0">
                <a:solidFill>
                  <a:srgbClr val="FF0000"/>
                </a:solidFill>
              </a:rPr>
              <a:t>multi-value </a:t>
            </a:r>
            <a:r>
              <a:rPr lang="en-US" altLang="en-US" sz="3200" dirty="0" smtClean="0">
                <a:solidFill>
                  <a:srgbClr val="FF0000"/>
                </a:solidFill>
              </a:rPr>
              <a:t>variables, assigning to </a:t>
            </a:r>
            <a:r>
              <a:rPr lang="en-US" altLang="en-US" sz="3200" i="1" dirty="0" smtClean="0">
                <a:solidFill>
                  <a:srgbClr val="00B0F0"/>
                </a:solidFill>
              </a:rPr>
              <a:t>one </a:t>
            </a:r>
            <a:r>
              <a:rPr lang="en-US" altLang="en-US" sz="3200" i="1" dirty="0">
                <a:solidFill>
                  <a:srgbClr val="00B0F0"/>
                </a:solidFill>
              </a:rPr>
              <a:t>value</a:t>
            </a:r>
            <a:r>
              <a:rPr lang="en-US" altLang="en-US" sz="3200" dirty="0">
                <a:solidFill>
                  <a:srgbClr val="FF0000"/>
                </a:solidFill>
              </a:rPr>
              <a:t> is </a:t>
            </a:r>
            <a:r>
              <a:rPr lang="en-US" altLang="en-US" sz="3200" i="1" dirty="0">
                <a:solidFill>
                  <a:srgbClr val="FF0000"/>
                </a:solidFill>
              </a:rPr>
              <a:t>different</a:t>
            </a:r>
            <a:r>
              <a:rPr lang="en-US" altLang="en-US" sz="3200" dirty="0">
                <a:solidFill>
                  <a:srgbClr val="FF0000"/>
                </a:solidFill>
              </a:rPr>
              <a:t> than assigning </a:t>
            </a:r>
            <a:r>
              <a:rPr lang="en-US" altLang="en-US" sz="3200" dirty="0" smtClean="0">
                <a:solidFill>
                  <a:srgbClr val="FF0000"/>
                </a:solidFill>
              </a:rPr>
              <a:t>to the </a:t>
            </a:r>
            <a:r>
              <a:rPr lang="en-US" altLang="en-US" sz="3200" b="1" i="1" dirty="0" smtClean="0">
                <a:solidFill>
                  <a:srgbClr val="FF0000"/>
                </a:solidFill>
              </a:rPr>
              <a:t>whole variable</a:t>
            </a:r>
            <a:r>
              <a:rPr lang="en-US" altLang="en-US" sz="3200" dirty="0">
                <a:solidFill>
                  <a:srgbClr val="FF0000"/>
                </a:solidFill>
              </a:rPr>
              <a:t>.</a:t>
            </a:r>
          </a:p>
          <a:p>
            <a:pPr>
              <a:spcBef>
                <a:spcPts val="2400"/>
              </a:spcBef>
            </a:pPr>
            <a:r>
              <a:rPr lang="en-US" altLang="en-US" sz="3200" dirty="0">
                <a:solidFill>
                  <a:srgbClr val="FF0000"/>
                </a:solidFill>
              </a:rPr>
              <a:t>Python divides its types into two categories:</a:t>
            </a:r>
          </a:p>
          <a:p>
            <a:pPr marL="836633" lvl="1" indent="-471762">
              <a:buFont typeface="+mj-lt"/>
              <a:buAutoNum type="arabicPeriod"/>
            </a:pPr>
            <a:r>
              <a:rPr lang="en-US" altLang="en-US" sz="3200" dirty="0"/>
              <a:t>Numbers, strings, and tuples are </a:t>
            </a:r>
            <a:r>
              <a:rPr lang="en-US" altLang="en-US" sz="3200" b="1" dirty="0">
                <a:solidFill>
                  <a:srgbClr val="00B050"/>
                </a:solidFill>
              </a:rPr>
              <a:t>im</a:t>
            </a:r>
            <a:r>
              <a:rPr lang="en-US" altLang="en-US" sz="3200" b="1" dirty="0">
                <a:solidFill>
                  <a:srgbClr val="FF0000"/>
                </a:solidFill>
              </a:rPr>
              <a:t>mut</a:t>
            </a:r>
            <a:r>
              <a:rPr lang="en-US" altLang="en-US" sz="3200" b="1" dirty="0">
                <a:solidFill>
                  <a:srgbClr val="0070C0"/>
                </a:solidFill>
              </a:rPr>
              <a:t>able</a:t>
            </a:r>
            <a:r>
              <a:rPr lang="en-US" altLang="en-US" sz="3200" dirty="0"/>
              <a:t>.</a:t>
            </a:r>
          </a:p>
          <a:p>
            <a:pPr marL="836633" lvl="1" indent="-471762">
              <a:buFont typeface="+mj-lt"/>
              <a:buAutoNum type="arabicPeriod"/>
            </a:pPr>
            <a:r>
              <a:rPr lang="en-US" altLang="en-US" sz="3200" dirty="0"/>
              <a:t>Lists, sets, and dictionaries are </a:t>
            </a:r>
            <a:r>
              <a:rPr lang="en-US" altLang="en-US" sz="3200" b="1" dirty="0">
                <a:solidFill>
                  <a:srgbClr val="FF0000"/>
                </a:solidFill>
              </a:rPr>
              <a:t>mut</a:t>
            </a:r>
            <a:r>
              <a:rPr lang="en-US" altLang="en-US" sz="3200" b="1" dirty="0">
                <a:solidFill>
                  <a:srgbClr val="0070C0"/>
                </a:solidFill>
              </a:rPr>
              <a:t>able</a:t>
            </a:r>
            <a:r>
              <a:rPr lang="en-US" altLang="en-US" sz="3200" dirty="0"/>
              <a:t>.</a:t>
            </a:r>
          </a:p>
        </p:txBody>
      </p:sp>
      <p:sp>
        <p:nvSpPr>
          <p:cNvPr id="5" name="Rounded Rectangular Callout 4"/>
          <p:cNvSpPr/>
          <p:nvPr/>
        </p:nvSpPr>
        <p:spPr>
          <a:xfrm>
            <a:off x="4615174" y="5512206"/>
            <a:ext cx="1531582" cy="1039287"/>
          </a:xfrm>
          <a:prstGeom prst="wedgeRoundRectCallout">
            <a:avLst>
              <a:gd name="adj1" fmla="val 86656"/>
              <a:gd name="adj2" fmla="val -123332"/>
              <a:gd name="adj3" fmla="val 16667"/>
            </a:avLst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834" i="1" dirty="0" err="1">
                <a:solidFill>
                  <a:prstClr val="white"/>
                </a:solidFill>
              </a:rPr>
              <a:t>im</a:t>
            </a:r>
            <a:r>
              <a:rPr lang="en-US" altLang="zh-TW" sz="1834" i="1" dirty="0">
                <a:solidFill>
                  <a:prstClr val="white"/>
                </a:solidFill>
              </a:rPr>
              <a:t>:</a:t>
            </a:r>
            <a:r>
              <a:rPr lang="en-US" altLang="zh-TW" sz="1834" dirty="0">
                <a:solidFill>
                  <a:prstClr val="white"/>
                </a:solidFill>
              </a:rPr>
              <a:t> a prefix meaning “</a:t>
            </a:r>
            <a:r>
              <a:rPr lang="en-US" altLang="zh-TW" sz="2935" i="1" dirty="0">
                <a:solidFill>
                  <a:prstClr val="white"/>
                </a:solidFill>
              </a:rPr>
              <a:t>not</a:t>
            </a:r>
            <a:r>
              <a:rPr lang="en-US" altLang="zh-TW" sz="1834" dirty="0">
                <a:solidFill>
                  <a:prstClr val="white"/>
                </a:solidFill>
              </a:rPr>
              <a:t>”</a:t>
            </a:r>
            <a:endParaRPr lang="zh-TW" altLang="en-US" sz="1834" dirty="0">
              <a:solidFill>
                <a:prstClr val="white"/>
              </a:solidFill>
            </a:endParaRPr>
          </a:p>
        </p:txBody>
      </p:sp>
      <p:sp>
        <p:nvSpPr>
          <p:cNvPr id="6" name="Rounded Rectangular Callout 5"/>
          <p:cNvSpPr/>
          <p:nvPr/>
        </p:nvSpPr>
        <p:spPr>
          <a:xfrm>
            <a:off x="6177145" y="5515246"/>
            <a:ext cx="1531582" cy="1039287"/>
          </a:xfrm>
          <a:prstGeom prst="wedgeRoundRectCallout">
            <a:avLst>
              <a:gd name="adj1" fmla="val 32780"/>
              <a:gd name="adj2" fmla="val -115311"/>
              <a:gd name="adj3" fmla="val 16667"/>
            </a:avLst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834" i="1" dirty="0">
                <a:solidFill>
                  <a:prstClr val="white"/>
                </a:solidFill>
              </a:rPr>
              <a:t>mute:</a:t>
            </a:r>
            <a:r>
              <a:rPr lang="en-US" altLang="zh-TW" sz="1834" dirty="0">
                <a:solidFill>
                  <a:prstClr val="white"/>
                </a:solidFill>
              </a:rPr>
              <a:t> a root meaning “</a:t>
            </a:r>
            <a:r>
              <a:rPr lang="en-US" altLang="zh-TW" sz="2935" i="1" dirty="0">
                <a:solidFill>
                  <a:prstClr val="white"/>
                </a:solidFill>
              </a:rPr>
              <a:t>change</a:t>
            </a:r>
            <a:r>
              <a:rPr lang="en-US" altLang="zh-TW" sz="1834" dirty="0">
                <a:solidFill>
                  <a:prstClr val="white"/>
                </a:solidFill>
              </a:rPr>
              <a:t>”</a:t>
            </a:r>
            <a:endParaRPr lang="zh-TW" altLang="en-US" sz="1834" dirty="0">
              <a:solidFill>
                <a:prstClr val="white"/>
              </a:solidFill>
            </a:endParaRPr>
          </a:p>
        </p:txBody>
      </p:sp>
      <p:sp>
        <p:nvSpPr>
          <p:cNvPr id="7" name="Rounded Rectangular Callout 6"/>
          <p:cNvSpPr/>
          <p:nvPr/>
        </p:nvSpPr>
        <p:spPr>
          <a:xfrm>
            <a:off x="7740620" y="5509171"/>
            <a:ext cx="1531582" cy="1039287"/>
          </a:xfrm>
          <a:prstGeom prst="wedgeRoundRectCallout">
            <a:avLst>
              <a:gd name="adj1" fmla="val -23836"/>
              <a:gd name="adj2" fmla="val -117768"/>
              <a:gd name="adj3" fmla="val 16667"/>
            </a:avLst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834" i="1" dirty="0">
                <a:solidFill>
                  <a:prstClr val="white"/>
                </a:solidFill>
              </a:rPr>
              <a:t>able:</a:t>
            </a:r>
            <a:r>
              <a:rPr lang="en-US" altLang="zh-TW" sz="1834" dirty="0">
                <a:solidFill>
                  <a:prstClr val="white"/>
                </a:solidFill>
              </a:rPr>
              <a:t> a suffix meaning “</a:t>
            </a:r>
            <a:r>
              <a:rPr lang="en-US" altLang="zh-TW" sz="2935" i="1" dirty="0">
                <a:solidFill>
                  <a:prstClr val="white"/>
                </a:solidFill>
              </a:rPr>
              <a:t>able</a:t>
            </a:r>
            <a:r>
              <a:rPr lang="en-US" altLang="zh-TW" sz="1834" dirty="0">
                <a:solidFill>
                  <a:prstClr val="white"/>
                </a:solidFill>
              </a:rPr>
              <a:t>”</a:t>
            </a:r>
            <a:endParaRPr lang="zh-TW" altLang="en-US" sz="1834" dirty="0">
              <a:solidFill>
                <a:prstClr val="white"/>
              </a:solidFill>
            </a:endParaRPr>
          </a:p>
        </p:txBody>
      </p:sp>
      <p:sp>
        <p:nvSpPr>
          <p:cNvPr id="8" name="Rounded Rectangular Callout 7"/>
          <p:cNvSpPr/>
          <p:nvPr/>
        </p:nvSpPr>
        <p:spPr>
          <a:xfrm>
            <a:off x="1355522" y="5509170"/>
            <a:ext cx="2053410" cy="1039287"/>
          </a:xfrm>
          <a:prstGeom prst="wedgeRoundRectCallout">
            <a:avLst>
              <a:gd name="adj1" fmla="val 125040"/>
              <a:gd name="adj2" fmla="val 29027"/>
              <a:gd name="adj3" fmla="val 16667"/>
            </a:avLst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0000"/>
              </a:lnSpc>
            </a:pPr>
            <a:endParaRPr lang="en-US" altLang="zh-TW" sz="825" i="1" dirty="0">
              <a:solidFill>
                <a:prstClr val="white"/>
              </a:solidFill>
            </a:endParaRPr>
          </a:p>
          <a:p>
            <a:pPr algn="ctr">
              <a:lnSpc>
                <a:spcPct val="80000"/>
              </a:lnSpc>
            </a:pPr>
            <a:r>
              <a:rPr lang="en-US" altLang="zh-TW" sz="1834" i="1" dirty="0">
                <a:solidFill>
                  <a:prstClr val="white"/>
                </a:solidFill>
              </a:rPr>
              <a:t>not</a:t>
            </a:r>
            <a:r>
              <a:rPr lang="en-US" altLang="zh-TW" sz="1100" i="1" dirty="0">
                <a:solidFill>
                  <a:prstClr val="white"/>
                </a:solidFill>
              </a:rPr>
              <a:t> </a:t>
            </a:r>
            <a:r>
              <a:rPr lang="en-US" altLang="zh-TW" sz="1834" dirty="0">
                <a:solidFill>
                  <a:prstClr val="white"/>
                </a:solidFill>
                <a:sym typeface="Symbol" panose="05050102010706020507" pitchFamily="18" charset="2"/>
              </a:rPr>
              <a:t></a:t>
            </a:r>
            <a:r>
              <a:rPr lang="en-US" altLang="zh-TW" sz="800" dirty="0">
                <a:solidFill>
                  <a:prstClr val="white"/>
                </a:solidFill>
                <a:sym typeface="Symbol" panose="05050102010706020507" pitchFamily="18" charset="2"/>
              </a:rPr>
              <a:t> </a:t>
            </a:r>
            <a:r>
              <a:rPr lang="en-US" altLang="zh-TW" sz="1834" i="1" dirty="0">
                <a:solidFill>
                  <a:prstClr val="white"/>
                </a:solidFill>
                <a:sym typeface="Symbol" panose="05050102010706020507" pitchFamily="18" charset="2"/>
              </a:rPr>
              <a:t>change</a:t>
            </a:r>
            <a:r>
              <a:rPr lang="en-US" altLang="zh-TW" sz="1100" i="1" dirty="0">
                <a:solidFill>
                  <a:prstClr val="white"/>
                </a:solidFill>
                <a:sym typeface="Symbol" panose="05050102010706020507" pitchFamily="18" charset="2"/>
              </a:rPr>
              <a:t> </a:t>
            </a:r>
            <a:r>
              <a:rPr lang="en-US" altLang="zh-TW" sz="1834" dirty="0">
                <a:solidFill>
                  <a:prstClr val="white"/>
                </a:solidFill>
                <a:sym typeface="Symbol" panose="05050102010706020507" pitchFamily="18" charset="2"/>
              </a:rPr>
              <a:t></a:t>
            </a:r>
            <a:r>
              <a:rPr lang="en-US" altLang="zh-TW" sz="800" i="1" dirty="0">
                <a:solidFill>
                  <a:prstClr val="white"/>
                </a:solidFill>
                <a:sym typeface="Symbol" panose="05050102010706020507" pitchFamily="18" charset="2"/>
              </a:rPr>
              <a:t> </a:t>
            </a:r>
            <a:r>
              <a:rPr lang="en-US" altLang="zh-TW" sz="1834" i="1" dirty="0" smtClean="0">
                <a:solidFill>
                  <a:prstClr val="white"/>
                </a:solidFill>
              </a:rPr>
              <a:t>able:</a:t>
            </a:r>
            <a:r>
              <a:rPr lang="en-US" altLang="zh-TW" sz="1834" dirty="0" smtClean="0">
                <a:solidFill>
                  <a:prstClr val="white"/>
                </a:solidFill>
              </a:rPr>
              <a:t> </a:t>
            </a:r>
            <a:r>
              <a:rPr lang="en-US" altLang="zh-TW" sz="1834" dirty="0">
                <a:solidFill>
                  <a:prstClr val="white"/>
                </a:solidFill>
              </a:rPr>
              <a:t>“</a:t>
            </a:r>
            <a:r>
              <a:rPr lang="en-US" altLang="zh-TW" sz="2935" i="1" dirty="0">
                <a:solidFill>
                  <a:prstClr val="white"/>
                </a:solidFill>
              </a:rPr>
              <a:t>cannot be changed</a:t>
            </a:r>
            <a:r>
              <a:rPr lang="en-US" altLang="zh-TW" sz="1834" dirty="0">
                <a:solidFill>
                  <a:prstClr val="white"/>
                </a:solidFill>
              </a:rPr>
              <a:t>”</a:t>
            </a:r>
            <a:endParaRPr lang="zh-TW" altLang="en-US" sz="1834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12944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25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8" grpId="0" animBg="1"/>
      <p:bldP spid="8" grpId="1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391474" y="1066800"/>
            <a:ext cx="9127430" cy="5715000"/>
          </a:xfrm>
        </p:spPr>
        <p:txBody>
          <a:bodyPr>
            <a:normAutofit/>
          </a:bodyPr>
          <a:lstStyle/>
          <a:p>
            <a:pPr>
              <a:buFontTx/>
              <a:buNone/>
            </a:pPr>
            <a:r>
              <a:rPr lang="en-US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has six standard data types:</a:t>
            </a:r>
          </a:p>
          <a:p>
            <a:pPr marL="651966" indent="-555276">
              <a:buFont typeface="+mj-lt"/>
              <a:buAutoNum type="arabicPeriod"/>
            </a:pPr>
            <a:r>
              <a:rPr lang="en-US" altLang="en-US" sz="2800" dirty="0" smtClean="0">
                <a:latin typeface="Elephant" panose="02020904090505020303" pitchFamily="18" charset="0"/>
              </a:rPr>
              <a:t>Number (integer/float/complex/bool)</a:t>
            </a:r>
            <a:endParaRPr lang="en-US" altLang="en-US" sz="2800" dirty="0">
              <a:latin typeface="Elephant" panose="02020904090505020303" pitchFamily="18" charset="0"/>
            </a:endParaRPr>
          </a:p>
          <a:p>
            <a:pPr marL="651966" indent="-555276">
              <a:buFont typeface="+mj-lt"/>
              <a:buAutoNum type="arabicPeriod"/>
            </a:pPr>
            <a:r>
              <a:rPr lang="en-US" altLang="en-US" sz="2800" dirty="0">
                <a:latin typeface="Elephant" panose="02020904090505020303" pitchFamily="18" charset="0"/>
              </a:rPr>
              <a:t>String</a:t>
            </a:r>
          </a:p>
          <a:p>
            <a:pPr marL="651966" indent="-555276">
              <a:buFont typeface="+mj-lt"/>
              <a:buAutoNum type="arabicPeriod"/>
            </a:pPr>
            <a:r>
              <a:rPr lang="en-US" altLang="en-US" sz="2800" dirty="0">
                <a:latin typeface="Elephant" panose="02020904090505020303" pitchFamily="18" charset="0"/>
              </a:rPr>
              <a:t>List</a:t>
            </a:r>
          </a:p>
          <a:p>
            <a:pPr marL="651966" indent="-555276">
              <a:buFont typeface="+mj-lt"/>
              <a:buAutoNum type="arabicPeriod"/>
            </a:pPr>
            <a:r>
              <a:rPr lang="en-US" altLang="en-US" sz="2800" dirty="0">
                <a:latin typeface="Elephant" panose="02020904090505020303" pitchFamily="18" charset="0"/>
              </a:rPr>
              <a:t>Tuple</a:t>
            </a:r>
          </a:p>
          <a:p>
            <a:pPr marL="651966" indent="-555276">
              <a:buFont typeface="+mj-lt"/>
              <a:buAutoNum type="arabicPeriod"/>
            </a:pPr>
            <a:r>
              <a:rPr lang="en-US" altLang="en-US" sz="2800" dirty="0">
                <a:latin typeface="Elephant" panose="02020904090505020303" pitchFamily="18" charset="0"/>
              </a:rPr>
              <a:t>Set</a:t>
            </a:r>
          </a:p>
          <a:p>
            <a:pPr marL="651966" indent="-555276">
              <a:buFont typeface="+mj-lt"/>
              <a:buAutoNum type="arabicPeriod"/>
            </a:pPr>
            <a:r>
              <a:rPr lang="en-US" altLang="en-US" sz="2800" dirty="0">
                <a:latin typeface="Elephant" panose="02020904090505020303" pitchFamily="18" charset="0"/>
              </a:rPr>
              <a:t>Dictionary</a:t>
            </a:r>
          </a:p>
          <a:p>
            <a:pPr marL="96690" indent="0">
              <a:buNone/>
            </a:pPr>
            <a:endParaRPr lang="en-US" altLang="en-US" sz="1400" dirty="0" smtClean="0">
              <a:latin typeface="Elephant" panose="02020904090505020303" pitchFamily="18" charset="0"/>
            </a:endParaRPr>
          </a:p>
          <a:p>
            <a:pPr marL="96690" indent="0">
              <a:buNone/>
            </a:pPr>
            <a:r>
              <a:rPr lang="en-US" altLang="en-US" sz="2800" dirty="0">
                <a:latin typeface="Elephant" panose="02020904090505020303" pitchFamily="18" charset="0"/>
              </a:rPr>
              <a:t>	</a:t>
            </a:r>
            <a:r>
              <a:rPr lang="en-US" altLang="en-US" sz="2800" dirty="0" smtClean="0">
                <a:latin typeface="Elephant" panose="02020904090505020303" pitchFamily="18" charset="0"/>
              </a:rPr>
              <a:t>.  .  . </a:t>
            </a:r>
            <a:endParaRPr lang="en-US" altLang="en-US" sz="2800" dirty="0">
              <a:latin typeface="Elephant" panose="02020904090505020303" pitchFamily="18" charset="0"/>
            </a:endParaRPr>
          </a:p>
          <a:p>
            <a:pPr marL="96690" indent="0">
              <a:buNone/>
            </a:pPr>
            <a:endParaRPr lang="en-US" sz="1600" dirty="0" smtClean="0">
              <a:solidFill>
                <a:srgbClr val="FF0000"/>
              </a:solidFill>
              <a:latin typeface="Elephant" panose="02020904090505020303" pitchFamily="18" charset="0"/>
            </a:endParaRPr>
          </a:p>
          <a:p>
            <a:pPr marL="96690" indent="0">
              <a:buNone/>
            </a:pPr>
            <a:r>
              <a:rPr lang="en-US" sz="2800" dirty="0">
                <a:solidFill>
                  <a:srgbClr val="FF0000"/>
                </a:solidFill>
                <a:latin typeface="Elephant" panose="02020904090505020303" pitchFamily="18" charset="0"/>
              </a:rPr>
              <a:t>	</a:t>
            </a:r>
            <a:r>
              <a:rPr lang="en-US" sz="2800" dirty="0" err="1" smtClean="0">
                <a:solidFill>
                  <a:srgbClr val="FF0000"/>
                </a:solidFill>
              </a:rPr>
              <a:t>frozenset</a:t>
            </a:r>
            <a:r>
              <a:rPr lang="en-US" sz="2800" dirty="0">
                <a:solidFill>
                  <a:srgbClr val="FF0000"/>
                </a:solidFill>
              </a:rPr>
              <a:t>, byte sequence, byte array, range types, etc. </a:t>
            </a:r>
            <a:br>
              <a:rPr lang="en-US" sz="2800" dirty="0">
                <a:solidFill>
                  <a:srgbClr val="FF0000"/>
                </a:solidFill>
              </a:rPr>
            </a:br>
            <a:r>
              <a:rPr lang="en-US" sz="2800" dirty="0">
                <a:solidFill>
                  <a:srgbClr val="FF0000"/>
                </a:solidFill>
              </a:rPr>
              <a:t>	 will be covered later</a:t>
            </a:r>
            <a:r>
              <a:rPr lang="en-US" sz="2800" dirty="0" smtClean="0">
                <a:solidFill>
                  <a:srgbClr val="FF0000"/>
                </a:solidFill>
              </a:rPr>
              <a:t>…</a:t>
            </a:r>
            <a:endParaRPr lang="en-US" altLang="en-US" sz="2800" dirty="0">
              <a:solidFill>
                <a:srgbClr val="FF0000"/>
              </a:solidFill>
              <a:latin typeface="Elephant" panose="02020904090505020303" pitchFamily="18" charset="0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0" y="76200"/>
            <a:ext cx="9729788" cy="10028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729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511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400" dirty="0" smtClean="0">
                <a:solidFill>
                  <a:srgbClr val="0070C0"/>
                </a:solidFill>
              </a:rPr>
              <a:t>Data Types:</a:t>
            </a:r>
          </a:p>
        </p:txBody>
      </p:sp>
    </p:spTree>
    <p:extLst>
      <p:ext uri="{BB962C8B-B14F-4D97-AF65-F5344CB8AC3E}">
        <p14:creationId xmlns:p14="http://schemas.microsoft.com/office/powerpoint/2010/main" val="1537123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391474" y="1066800"/>
            <a:ext cx="9127430" cy="5715000"/>
          </a:xfrm>
        </p:spPr>
        <p:txBody>
          <a:bodyPr>
            <a:normAutofit/>
          </a:bodyPr>
          <a:lstStyle/>
          <a:p>
            <a:pPr>
              <a:buFontTx/>
              <a:buNone/>
            </a:pPr>
            <a:r>
              <a:rPr lang="en-US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has six standard data types:</a:t>
            </a:r>
          </a:p>
          <a:p>
            <a:pPr marL="651966" indent="-555276">
              <a:buFont typeface="+mj-lt"/>
              <a:buAutoNum type="arabicPeriod"/>
            </a:pPr>
            <a:r>
              <a:rPr lang="en-US" altLang="en-US" sz="2800" dirty="0" smtClean="0">
                <a:solidFill>
                  <a:srgbClr val="FF0000"/>
                </a:solidFill>
                <a:latin typeface="Elephant" panose="02020904090505020303" pitchFamily="18" charset="0"/>
              </a:rPr>
              <a:t>Number</a:t>
            </a:r>
            <a:r>
              <a:rPr lang="en-US" altLang="en-US" sz="2800" dirty="0" smtClean="0">
                <a:latin typeface="Elephant" panose="02020904090505020303" pitchFamily="18" charset="0"/>
              </a:rPr>
              <a:t> (integer/float/complex/bool)</a:t>
            </a:r>
            <a:endParaRPr lang="en-US" altLang="en-US" sz="2800" dirty="0">
              <a:latin typeface="Elephant" panose="02020904090505020303" pitchFamily="18" charset="0"/>
            </a:endParaRPr>
          </a:p>
          <a:p>
            <a:pPr marL="651966" indent="-555276">
              <a:buFont typeface="+mj-lt"/>
              <a:buAutoNum type="arabicPeriod"/>
            </a:pPr>
            <a:r>
              <a:rPr lang="en-US" altLang="en-US" sz="2800" dirty="0">
                <a:solidFill>
                  <a:srgbClr val="B2B2B2"/>
                </a:solidFill>
                <a:latin typeface="Elephant" panose="02020904090505020303" pitchFamily="18" charset="0"/>
              </a:rPr>
              <a:t>String</a:t>
            </a:r>
          </a:p>
          <a:p>
            <a:pPr marL="651966" indent="-555276">
              <a:buFont typeface="+mj-lt"/>
              <a:buAutoNum type="arabicPeriod"/>
            </a:pPr>
            <a:r>
              <a:rPr lang="en-US" altLang="en-US" sz="2800" dirty="0">
                <a:solidFill>
                  <a:srgbClr val="B2B2B2"/>
                </a:solidFill>
                <a:latin typeface="Elephant" panose="02020904090505020303" pitchFamily="18" charset="0"/>
              </a:rPr>
              <a:t>List</a:t>
            </a:r>
          </a:p>
          <a:p>
            <a:pPr marL="651966" indent="-555276">
              <a:buFont typeface="+mj-lt"/>
              <a:buAutoNum type="arabicPeriod"/>
            </a:pPr>
            <a:r>
              <a:rPr lang="en-US" altLang="en-US" sz="2800" dirty="0">
                <a:solidFill>
                  <a:srgbClr val="B2B2B2"/>
                </a:solidFill>
                <a:latin typeface="Elephant" panose="02020904090505020303" pitchFamily="18" charset="0"/>
              </a:rPr>
              <a:t>Tuple</a:t>
            </a:r>
          </a:p>
          <a:p>
            <a:pPr marL="651966" indent="-555276">
              <a:buFont typeface="+mj-lt"/>
              <a:buAutoNum type="arabicPeriod"/>
            </a:pPr>
            <a:r>
              <a:rPr lang="en-US" altLang="en-US" sz="2800" dirty="0">
                <a:solidFill>
                  <a:srgbClr val="B2B2B2"/>
                </a:solidFill>
                <a:latin typeface="Elephant" panose="02020904090505020303" pitchFamily="18" charset="0"/>
              </a:rPr>
              <a:t>Set</a:t>
            </a:r>
          </a:p>
          <a:p>
            <a:pPr marL="651966" indent="-555276">
              <a:buFont typeface="+mj-lt"/>
              <a:buAutoNum type="arabicPeriod"/>
            </a:pPr>
            <a:r>
              <a:rPr lang="en-US" altLang="en-US" sz="2800" dirty="0">
                <a:solidFill>
                  <a:srgbClr val="B2B2B2"/>
                </a:solidFill>
                <a:latin typeface="Elephant" panose="02020904090505020303" pitchFamily="18" charset="0"/>
              </a:rPr>
              <a:t>Dictionary</a:t>
            </a:r>
          </a:p>
          <a:p>
            <a:pPr marL="96690" indent="0">
              <a:buNone/>
            </a:pPr>
            <a:endParaRPr lang="en-US" altLang="en-US" sz="1400" dirty="0" smtClean="0">
              <a:latin typeface="Elephant" panose="02020904090505020303" pitchFamily="18" charset="0"/>
            </a:endParaRPr>
          </a:p>
          <a:p>
            <a:pPr marL="96690" indent="0">
              <a:buNone/>
            </a:pPr>
            <a:r>
              <a:rPr lang="en-US" altLang="en-US" sz="2800" dirty="0">
                <a:latin typeface="Elephant" panose="02020904090505020303" pitchFamily="18" charset="0"/>
              </a:rPr>
              <a:t>	</a:t>
            </a:r>
            <a:r>
              <a:rPr lang="en-US" altLang="en-US" sz="2800" dirty="0" smtClean="0">
                <a:latin typeface="Elephant" panose="02020904090505020303" pitchFamily="18" charset="0"/>
              </a:rPr>
              <a:t>.  .  . </a:t>
            </a:r>
            <a:endParaRPr lang="en-US" altLang="en-US" sz="2800" dirty="0">
              <a:latin typeface="Elephant" panose="02020904090505020303" pitchFamily="18" charset="0"/>
            </a:endParaRPr>
          </a:p>
          <a:p>
            <a:pPr marL="96690" indent="0">
              <a:buNone/>
            </a:pPr>
            <a:endParaRPr lang="en-US" sz="1600" dirty="0" smtClean="0">
              <a:solidFill>
                <a:srgbClr val="FF0000"/>
              </a:solidFill>
              <a:latin typeface="Elephant" panose="02020904090505020303" pitchFamily="18" charset="0"/>
            </a:endParaRPr>
          </a:p>
          <a:p>
            <a:pPr marL="96690" indent="0">
              <a:buNone/>
            </a:pPr>
            <a:r>
              <a:rPr lang="en-US" sz="2800" dirty="0">
                <a:solidFill>
                  <a:srgbClr val="FF0000"/>
                </a:solidFill>
                <a:latin typeface="Elephant" panose="02020904090505020303" pitchFamily="18" charset="0"/>
              </a:rPr>
              <a:t>	</a:t>
            </a:r>
            <a:r>
              <a:rPr lang="en-US" sz="2800" dirty="0" err="1" smtClean="0">
                <a:solidFill>
                  <a:srgbClr val="FF0000"/>
                </a:solidFill>
              </a:rPr>
              <a:t>frozenset</a:t>
            </a:r>
            <a:r>
              <a:rPr lang="en-US" sz="2800" dirty="0">
                <a:solidFill>
                  <a:srgbClr val="FF0000"/>
                </a:solidFill>
              </a:rPr>
              <a:t>, byte sequence, byte array, range types, etc. </a:t>
            </a:r>
            <a:br>
              <a:rPr lang="en-US" sz="2800" dirty="0">
                <a:solidFill>
                  <a:srgbClr val="FF0000"/>
                </a:solidFill>
              </a:rPr>
            </a:br>
            <a:r>
              <a:rPr lang="en-US" sz="2800" dirty="0">
                <a:solidFill>
                  <a:srgbClr val="FF0000"/>
                </a:solidFill>
              </a:rPr>
              <a:t>	 will be covered later</a:t>
            </a:r>
            <a:r>
              <a:rPr lang="en-US" sz="2800" dirty="0" smtClean="0">
                <a:solidFill>
                  <a:srgbClr val="FF0000"/>
                </a:solidFill>
              </a:rPr>
              <a:t>…</a:t>
            </a:r>
            <a:endParaRPr lang="en-US" altLang="en-US" sz="2800" dirty="0">
              <a:solidFill>
                <a:srgbClr val="FF0000"/>
              </a:solidFill>
              <a:latin typeface="Elephant" panose="02020904090505020303" pitchFamily="18" charset="0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0" y="76200"/>
            <a:ext cx="9729788" cy="10028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729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511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400" dirty="0" smtClean="0">
                <a:solidFill>
                  <a:srgbClr val="0070C0"/>
                </a:solidFill>
              </a:rPr>
              <a:t>Data Types:</a:t>
            </a:r>
          </a:p>
        </p:txBody>
      </p:sp>
    </p:spTree>
    <p:extLst>
      <p:ext uri="{BB962C8B-B14F-4D97-AF65-F5344CB8AC3E}">
        <p14:creationId xmlns:p14="http://schemas.microsoft.com/office/powerpoint/2010/main" val="42063003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9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" y="1"/>
            <a:ext cx="9729788" cy="1161142"/>
          </a:xfrm>
        </p:spPr>
        <p:txBody>
          <a:bodyPr>
            <a:normAutofit/>
          </a:bodyPr>
          <a:lstStyle/>
          <a:p>
            <a:r>
              <a:rPr lang="en-US" altLang="en-US" sz="4400" dirty="0" smtClean="0">
                <a:solidFill>
                  <a:srgbClr val="0070C0"/>
                </a:solidFill>
              </a:rPr>
              <a:t>1. Numbers</a:t>
            </a:r>
            <a:endParaRPr lang="en-US" altLang="en-US" sz="4400" dirty="0">
              <a:solidFill>
                <a:srgbClr val="0070C0"/>
              </a:solidFill>
            </a:endParaRP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201168" y="1050324"/>
            <a:ext cx="9400032" cy="5594316"/>
          </a:xfrm>
        </p:spPr>
        <p:txBody>
          <a:bodyPr>
            <a:noAutofit/>
          </a:bodyPr>
          <a:lstStyle/>
          <a:p>
            <a:pPr marL="346075" indent="-346075"/>
            <a:r>
              <a:rPr lang="en-US" altLang="en-US" sz="3200" dirty="0" smtClean="0"/>
              <a:t>Numbers are </a:t>
            </a:r>
            <a:r>
              <a:rPr lang="en-US" altLang="en-US" sz="3200" b="1" i="1" dirty="0" smtClean="0">
                <a:solidFill>
                  <a:srgbClr val="008000"/>
                </a:solidFill>
              </a:rPr>
              <a:t>immutable</a:t>
            </a:r>
            <a:r>
              <a:rPr lang="en-US" altLang="en-US" sz="3200" dirty="0" smtClean="0"/>
              <a:t>, </a:t>
            </a:r>
            <a:r>
              <a:rPr lang="en-US" altLang="en-US" sz="3200" dirty="0"/>
              <a:t>which means that changing the </a:t>
            </a:r>
            <a:r>
              <a:rPr lang="en-US" altLang="en-US" sz="3200" dirty="0" smtClean="0"/>
              <a:t>value </a:t>
            </a:r>
            <a:r>
              <a:rPr lang="en-US" altLang="en-US" sz="3200" dirty="0"/>
              <a:t>results in </a:t>
            </a:r>
            <a:r>
              <a:rPr lang="en-US" altLang="en-US" sz="3200" dirty="0" smtClean="0"/>
              <a:t>the allocation of a new </a:t>
            </a:r>
            <a:r>
              <a:rPr lang="en-US" altLang="en-US" sz="3200" dirty="0"/>
              <a:t>object</a:t>
            </a:r>
            <a:r>
              <a:rPr lang="en-US" altLang="en-US" sz="3200" dirty="0" smtClean="0"/>
              <a:t>.</a:t>
            </a:r>
            <a:br>
              <a:rPr lang="en-US" altLang="en-US" sz="3200" dirty="0" smtClean="0"/>
            </a:br>
            <a:endParaRPr lang="en-US" altLang="en-US" sz="1200" dirty="0"/>
          </a:p>
          <a:p>
            <a:pPr marL="346075" indent="-346075">
              <a:spcBef>
                <a:spcPts val="1800"/>
              </a:spcBef>
            </a:pPr>
            <a:r>
              <a:rPr lang="en-US" altLang="en-US" sz="3200" dirty="0"/>
              <a:t>Number objects are created </a:t>
            </a:r>
            <a:r>
              <a:rPr lang="en-US" altLang="en-US" sz="3200" dirty="0" smtClean="0"/>
              <a:t>when they are assigned:</a:t>
            </a:r>
            <a:endParaRPr lang="en-US" altLang="en-US" sz="3200" dirty="0"/>
          </a:p>
          <a:p>
            <a:pPr marL="346075" indent="-346075">
              <a:spcBef>
                <a:spcPts val="1200"/>
              </a:spcBef>
              <a:buFontTx/>
              <a:buNone/>
            </a:pPr>
            <a:r>
              <a:rPr lang="en-US" altLang="en-US" sz="2800" dirty="0">
                <a:latin typeface="Lucida Sans Typewriter" panose="020B0509030504030204" pitchFamily="49" charset="0"/>
              </a:rPr>
              <a:t>	</a:t>
            </a:r>
            <a:r>
              <a:rPr lang="en-US" altLang="en-US" sz="2800" dirty="0" smtClean="0">
                <a:latin typeface="Lucida Sans Typewriter" panose="020B0509030504030204" pitchFamily="49" charset="0"/>
              </a:rPr>
              <a:t> </a:t>
            </a:r>
            <a:r>
              <a:rPr lang="en-US" altLang="en-US" sz="2800" dirty="0" smtClean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</a:rPr>
              <a:t>&gt;&gt;&gt;</a:t>
            </a:r>
            <a:r>
              <a:rPr lang="en-US" altLang="en-US" sz="2800" dirty="0" smtClean="0">
                <a:latin typeface="Lucida Sans Typewriter" panose="020B0509030504030204" pitchFamily="49" charset="0"/>
              </a:rPr>
              <a:t> </a:t>
            </a:r>
            <a:r>
              <a:rPr lang="en-US" altLang="en-US" sz="2800" dirty="0" smtClean="0">
                <a:latin typeface="Lucida Sans Typewriter" panose="020B0509030504030204" pitchFamily="49" charset="0"/>
                <a:cs typeface="Courier New" panose="02070309020205020404" pitchFamily="49" charset="0"/>
              </a:rPr>
              <a:t>var1 </a:t>
            </a:r>
            <a:r>
              <a:rPr lang="en-US" altLang="en-US" sz="28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= 1 </a:t>
            </a:r>
          </a:p>
          <a:p>
            <a:pPr marL="346075" indent="-346075">
              <a:spcBef>
                <a:spcPts val="0"/>
              </a:spcBef>
              <a:buFontTx/>
              <a:buNone/>
            </a:pPr>
            <a:r>
              <a:rPr lang="en-US" altLang="en-US" sz="28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	</a:t>
            </a:r>
            <a:r>
              <a:rPr lang="en-US" altLang="en-US" sz="2800" dirty="0" smtClean="0">
                <a:latin typeface="Lucida Sans Typewriter" panose="020B050903050403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800" dirty="0" smtClean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&gt;&gt;&gt;</a:t>
            </a:r>
            <a:r>
              <a:rPr lang="en-US" altLang="en-US" sz="2800" dirty="0" smtClean="0">
                <a:latin typeface="Lucida Sans Typewriter" panose="020B0509030504030204" pitchFamily="49" charset="0"/>
                <a:cs typeface="Courier New" panose="02070309020205020404" pitchFamily="49" charset="0"/>
              </a:rPr>
              <a:t> var2 </a:t>
            </a:r>
            <a:r>
              <a:rPr lang="en-US" altLang="en-US" sz="28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= </a:t>
            </a:r>
            <a:r>
              <a:rPr lang="en-US" altLang="en-US" sz="2800" dirty="0" smtClean="0">
                <a:latin typeface="Lucida Sans Typewriter" panose="020B0509030504030204" pitchFamily="49" charset="0"/>
                <a:cs typeface="Courier New" panose="02070309020205020404" pitchFamily="49" charset="0"/>
              </a:rPr>
              <a:t>10.5</a:t>
            </a:r>
          </a:p>
          <a:p>
            <a:pPr marL="346075" indent="-346075">
              <a:spcBef>
                <a:spcPts val="0"/>
              </a:spcBef>
              <a:buFontTx/>
              <a:buNone/>
            </a:pPr>
            <a:r>
              <a:rPr lang="en-US" altLang="en-US" sz="28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	</a:t>
            </a:r>
            <a:r>
              <a:rPr lang="en-US" altLang="en-US" sz="2800" dirty="0" smtClean="0">
                <a:latin typeface="Lucida Sans Typewriter" panose="020B050903050403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800" dirty="0" smtClean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&gt;&gt;&gt; </a:t>
            </a:r>
            <a:r>
              <a:rPr lang="en-US" altLang="en-US" sz="2800" dirty="0" smtClean="0">
                <a:latin typeface="Lucida Sans Typewriter" panose="020B0509030504030204" pitchFamily="49" charset="0"/>
                <a:cs typeface="Courier New" panose="02070309020205020404" pitchFamily="49" charset="0"/>
              </a:rPr>
              <a:t>var1 = 5+3j</a:t>
            </a:r>
          </a:p>
          <a:p>
            <a:pPr marL="346075" indent="-346075">
              <a:spcBef>
                <a:spcPts val="0"/>
              </a:spcBef>
              <a:buFontTx/>
              <a:buNone/>
            </a:pPr>
            <a:endParaRPr lang="en-US" altLang="en-US" sz="3200" dirty="0" smtClean="0">
              <a:latin typeface="Lucida Sans Typewriter" panose="020B0509030504030204" pitchFamily="49" charset="0"/>
              <a:cs typeface="Courier New" panose="02070309020205020404" pitchFamily="49" charset="0"/>
            </a:endParaRPr>
          </a:p>
          <a:p>
            <a:pPr marL="346075" indent="-346075">
              <a:spcBef>
                <a:spcPts val="0"/>
              </a:spcBef>
            </a:pPr>
            <a:r>
              <a:rPr lang="en-US" altLang="en-US" sz="3200" dirty="0" smtClean="0">
                <a:cs typeface="Courier New" panose="02070309020205020404" pitchFamily="49" charset="0"/>
              </a:rPr>
              <a:t>You </a:t>
            </a:r>
            <a:r>
              <a:rPr lang="en-US" altLang="en-US" sz="3200" dirty="0">
                <a:cs typeface="Courier New" panose="02070309020205020404" pitchFamily="49" charset="0"/>
              </a:rPr>
              <a:t>can also delete the reference to a number object </a:t>
            </a:r>
            <a:r>
              <a:rPr lang="en-US" altLang="en-US" sz="3200" dirty="0" smtClean="0">
                <a:cs typeface="Courier New" panose="02070309020205020404" pitchFamily="49" charset="0"/>
              </a:rPr>
              <a:t>or objects by </a:t>
            </a:r>
            <a:r>
              <a:rPr lang="en-US" altLang="en-US" sz="3200" dirty="0">
                <a:cs typeface="Courier New" panose="02070309020205020404" pitchFamily="49" charset="0"/>
              </a:rPr>
              <a:t>using the del </a:t>
            </a:r>
            <a:r>
              <a:rPr lang="en-US" altLang="en-US" sz="3200" dirty="0" smtClean="0">
                <a:cs typeface="Courier New" panose="02070309020205020404" pitchFamily="49" charset="0"/>
              </a:rPr>
              <a:t>statement:</a:t>
            </a:r>
            <a:endParaRPr lang="en-US" altLang="en-US" sz="3200" dirty="0">
              <a:cs typeface="Courier New" panose="02070309020205020404" pitchFamily="49" charset="0"/>
            </a:endParaRPr>
          </a:p>
          <a:p>
            <a:pPr marL="346075" indent="-346075">
              <a:spcBef>
                <a:spcPts val="1200"/>
              </a:spcBef>
              <a:buFontTx/>
              <a:buNone/>
            </a:pPr>
            <a:r>
              <a:rPr lang="en-US" altLang="en-US" sz="28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	</a:t>
            </a:r>
            <a:r>
              <a:rPr lang="en-US" altLang="en-US" sz="28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 &gt;&gt;&gt; </a:t>
            </a:r>
            <a:r>
              <a:rPr lang="en-US" altLang="en-US" sz="2800" dirty="0" smtClean="0">
                <a:latin typeface="Lucida Sans Typewriter" panose="020B0509030504030204" pitchFamily="49" charset="0"/>
                <a:cs typeface="Courier New" panose="02070309020205020404" pitchFamily="49" charset="0"/>
              </a:rPr>
              <a:t>del var1</a:t>
            </a:r>
            <a:endParaRPr lang="en-US" altLang="en-US" sz="2800" dirty="0">
              <a:latin typeface="Lucida Sans Typewriter" panose="020B0509030504030204" pitchFamily="49" charset="0"/>
              <a:cs typeface="Courier New" panose="02070309020205020404" pitchFamily="49" charset="0"/>
            </a:endParaRPr>
          </a:p>
          <a:p>
            <a:pPr marL="346075" indent="-346075">
              <a:spcBef>
                <a:spcPts val="0"/>
              </a:spcBef>
              <a:buFontTx/>
              <a:buNone/>
            </a:pPr>
            <a:r>
              <a:rPr lang="en-US" altLang="en-US" sz="28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	</a:t>
            </a:r>
            <a:r>
              <a:rPr lang="en-US" altLang="en-US" sz="28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anose="02070309020205020404" pitchFamily="49" charset="0"/>
              </a:rPr>
              <a:t> &gt;&gt;&gt; </a:t>
            </a:r>
            <a:r>
              <a:rPr lang="en-US" altLang="en-US" sz="2800" dirty="0" smtClean="0">
                <a:latin typeface="Lucida Sans Typewriter" panose="020B0509030504030204" pitchFamily="49" charset="0"/>
                <a:cs typeface="Courier New" panose="02070309020205020404" pitchFamily="49" charset="0"/>
              </a:rPr>
              <a:t>del </a:t>
            </a:r>
            <a:r>
              <a:rPr lang="en-US" altLang="en-US" sz="2800" dirty="0" err="1">
                <a:latin typeface="Lucida Sans Typewriter" panose="020B0509030504030204" pitchFamily="49" charset="0"/>
                <a:cs typeface="Courier New" panose="02070309020205020404" pitchFamily="49" charset="0"/>
              </a:rPr>
              <a:t>var_a</a:t>
            </a:r>
            <a:r>
              <a:rPr lang="en-US" altLang="en-US" sz="28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, </a:t>
            </a:r>
            <a:r>
              <a:rPr lang="en-US" altLang="en-US" sz="2800" dirty="0" err="1">
                <a:latin typeface="Lucida Sans Typewriter" panose="020B0509030504030204" pitchFamily="49" charset="0"/>
                <a:cs typeface="Courier New" panose="02070309020205020404" pitchFamily="49" charset="0"/>
              </a:rPr>
              <a:t>var_b</a:t>
            </a:r>
            <a:r>
              <a:rPr lang="en-US" altLang="en-US" sz="28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030802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1" y="1"/>
            <a:ext cx="9729787" cy="116114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solidFill>
                  <a:srgbClr val="0070C0"/>
                </a:solidFill>
              </a:rPr>
              <a:t>Number Examples: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65601602"/>
              </p:ext>
            </p:extLst>
          </p:nvPr>
        </p:nvGraphicFramePr>
        <p:xfrm>
          <a:off x="521494" y="3775032"/>
          <a:ext cx="8428734" cy="2971800"/>
        </p:xfrm>
        <a:graphic>
          <a:graphicData uri="http://schemas.openxmlformats.org/drawingml/2006/table">
            <a:tbl>
              <a:tblPr/>
              <a:tblGrid>
                <a:gridCol w="9906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838200"/>
                <a:gridCol w="334742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676804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575708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Lucida Sans Unicode" pitchFamily="34" charset="0"/>
                        </a:rPr>
                        <a:t>int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Lucida Sans Unicode" pitchFamily="34" charset="0"/>
                      </a:endParaRPr>
                    </a:p>
                  </a:txBody>
                  <a:tcPr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Lucida Sans Unicode" pitchFamily="34" charset="0"/>
                        </a:rPr>
                        <a:t>bool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Lucida Sans Unicode" pitchFamily="34" charset="0"/>
                      </a:endParaRPr>
                    </a:p>
                  </a:txBody>
                  <a:tcPr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sng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Verdana" pitchFamily="34" charset="0"/>
                          <a:cs typeface="Lucida Sans Unicode" pitchFamily="34" charset="0"/>
                        </a:rPr>
                        <a:t>long</a:t>
                      </a:r>
                    </a:p>
                  </a:txBody>
                  <a:tcPr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Lucida Sans Unicode" pitchFamily="34" charset="0"/>
                        </a:rPr>
                        <a:t>float</a:t>
                      </a:r>
                    </a:p>
                  </a:txBody>
                  <a:tcPr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Lucida Sans Unicode" pitchFamily="34" charset="0"/>
                        </a:rPr>
                        <a:t>complex</a:t>
                      </a:r>
                    </a:p>
                  </a:txBody>
                  <a:tcPr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Lucida Sans Unicode" pitchFamily="34" charset="0"/>
                        </a:rPr>
                        <a:t>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Lucida Sans Unicode" pitchFamily="34" charset="0"/>
                      </a:endParaRPr>
                    </a:p>
                  </a:txBody>
                  <a:tcPr marR="8287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Lucida Sans Unicode" pitchFamily="34" charset="0"/>
                        </a:rPr>
                        <a:t>False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Lucida Sans Unicode" pitchFamily="34" charset="0"/>
                      </a:endParaRPr>
                    </a:p>
                  </a:txBody>
                  <a:tcPr marR="8287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sng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Verdana" pitchFamily="34" charset="0"/>
                          <a:cs typeface="Lucida Sans Unicode" pitchFamily="34" charset="0"/>
                        </a:rPr>
                        <a:t>51924361L</a:t>
                      </a:r>
                    </a:p>
                  </a:txBody>
                  <a:tcPr marR="8287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Lucida Sans Unicode" pitchFamily="34" charset="0"/>
                        </a:rPr>
                        <a:t>.0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Lucida Sans Unicode" pitchFamily="34" charset="0"/>
                      </a:endParaRPr>
                    </a:p>
                  </a:txBody>
                  <a:tcPr marR="8287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Lucida Sans Unicode" pitchFamily="34" charset="0"/>
                        </a:rPr>
                        <a:t>3.14j</a:t>
                      </a:r>
                    </a:p>
                  </a:txBody>
                  <a:tcPr marR="8287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Lucida Sans Unicode" pitchFamily="34" charset="0"/>
                        </a:rPr>
                        <a:t>100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Lucida Sans Unicode" pitchFamily="34" charset="0"/>
                      </a:endParaRPr>
                    </a:p>
                  </a:txBody>
                  <a:tcPr marR="8287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Lucida Sans Unicode" pitchFamily="34" charset="0"/>
                        </a:rPr>
                        <a:t>True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Lucida Sans Unicode" pitchFamily="34" charset="0"/>
                      </a:endParaRPr>
                    </a:p>
                  </a:txBody>
                  <a:tcPr marR="8287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sng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Verdana" pitchFamily="34" charset="0"/>
                          <a:cs typeface="Lucida Sans Unicode" pitchFamily="34" charset="0"/>
                        </a:rPr>
                        <a:t>-0x19323L</a:t>
                      </a:r>
                    </a:p>
                  </a:txBody>
                  <a:tcPr marR="8287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Lucida Sans Unicode" pitchFamily="34" charset="0"/>
                        </a:rPr>
                        <a:t>15.2</a:t>
                      </a:r>
                    </a:p>
                  </a:txBody>
                  <a:tcPr marR="8287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Lucida Sans Unicode" pitchFamily="34" charset="0"/>
                        </a:rPr>
                        <a:t>45.j</a:t>
                      </a:r>
                    </a:p>
                  </a:txBody>
                  <a:tcPr marR="8287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Lucida Sans Unicode" pitchFamily="34" charset="0"/>
                        </a:rPr>
                        <a:t>-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Lucida Sans Unicode" pitchFamily="34" charset="0"/>
                        </a:rPr>
                        <a:t>786</a:t>
                      </a:r>
                    </a:p>
                  </a:txBody>
                  <a:tcPr marR="8287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Lucida Sans Unicode" pitchFamily="34" charset="0"/>
                      </a:endParaRPr>
                    </a:p>
                  </a:txBody>
                  <a:tcPr marR="8287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sng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Verdana" pitchFamily="34" charset="0"/>
                          <a:cs typeface="Lucida Sans Unicode" pitchFamily="34" charset="0"/>
                        </a:rPr>
                        <a:t>0122L</a:t>
                      </a:r>
                    </a:p>
                  </a:txBody>
                  <a:tcPr marR="8287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Lucida Sans Unicode" pitchFamily="34" charset="0"/>
                        </a:rPr>
                        <a:t>-21.9</a:t>
                      </a:r>
                    </a:p>
                  </a:txBody>
                  <a:tcPr marR="8287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Lucida Sans Unicode" pitchFamily="34" charset="0"/>
                        </a:rPr>
                        <a:t>9.322e-36j</a:t>
                      </a:r>
                    </a:p>
                  </a:txBody>
                  <a:tcPr marR="8287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Lucida Sans Unicode" pitchFamily="34" charset="0"/>
                        </a:rPr>
                        <a:t>80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Lucida Sans Unicode" pitchFamily="34" charset="0"/>
                      </a:endParaRPr>
                    </a:p>
                  </a:txBody>
                  <a:tcPr marR="8287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Lucida Sans Unicode" pitchFamily="34" charset="0"/>
                      </a:endParaRPr>
                    </a:p>
                  </a:txBody>
                  <a:tcPr marR="8287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sng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Verdana" pitchFamily="34" charset="0"/>
                          <a:cs typeface="Lucida Sans Unicode" pitchFamily="34" charset="0"/>
                        </a:rPr>
                        <a:t>0xDEFABCECBDAECBFBAEl</a:t>
                      </a:r>
                    </a:p>
                  </a:txBody>
                  <a:tcPr marR="8287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Lucida Sans Unicode" pitchFamily="34" charset="0"/>
                        </a:rPr>
                        <a:t>32.3e+18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Lucida Sans Unicode" pitchFamily="34" charset="0"/>
                      </a:endParaRPr>
                    </a:p>
                  </a:txBody>
                  <a:tcPr marR="8287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Lucida Sans Unicode" pitchFamily="34" charset="0"/>
                        </a:rPr>
                        <a:t>0.876j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Lucida Sans Unicode" pitchFamily="34" charset="0"/>
                      </a:endParaRPr>
                    </a:p>
                  </a:txBody>
                  <a:tcPr marR="8287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Lucida Sans Unicode" pitchFamily="34" charset="0"/>
                        </a:rPr>
                        <a:t>-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Lucida Sans Unicode" pitchFamily="34" charset="0"/>
                        </a:rPr>
                        <a:t>490</a:t>
                      </a:r>
                    </a:p>
                  </a:txBody>
                  <a:tcPr marR="8287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Lucida Sans Unicode" pitchFamily="34" charset="0"/>
                      </a:endParaRPr>
                    </a:p>
                  </a:txBody>
                  <a:tcPr marR="8287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sng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Verdana" pitchFamily="34" charset="0"/>
                          <a:cs typeface="Lucida Sans Unicode" pitchFamily="34" charset="0"/>
                        </a:rPr>
                        <a:t>535633629843L</a:t>
                      </a:r>
                    </a:p>
                  </a:txBody>
                  <a:tcPr marR="8287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Lucida Sans Unicode" pitchFamily="34" charset="0"/>
                        </a:rPr>
                        <a:t>+90.0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Lucida Sans Unicode" pitchFamily="34" charset="0"/>
                      </a:endParaRPr>
                    </a:p>
                  </a:txBody>
                  <a:tcPr marR="8287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Lucida Sans Unicode" pitchFamily="34" charset="0"/>
                        </a:rPr>
                        <a:t>-.6545+0J</a:t>
                      </a:r>
                    </a:p>
                  </a:txBody>
                  <a:tcPr marR="8287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Lucida Sans Unicode" pitchFamily="34" charset="0"/>
                        </a:rPr>
                        <a:t>-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Lucida Sans Unicode" pitchFamily="34" charset="0"/>
                        </a:rPr>
                        <a:t>0x260</a:t>
                      </a:r>
                    </a:p>
                  </a:txBody>
                  <a:tcPr marR="8287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Lucida Sans Unicode" pitchFamily="34" charset="0"/>
                      </a:endParaRPr>
                    </a:p>
                  </a:txBody>
                  <a:tcPr marR="8287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sng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Verdana" pitchFamily="34" charset="0"/>
                          <a:cs typeface="Lucida Sans Unicode" pitchFamily="34" charset="0"/>
                        </a:rPr>
                        <a:t>-052318172735L</a:t>
                      </a:r>
                    </a:p>
                  </a:txBody>
                  <a:tcPr marR="8287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Lucida Sans Unicode" pitchFamily="34" charset="0"/>
                        </a:rPr>
                        <a:t>-</a:t>
                      </a: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Lucida Sans Unicode" pitchFamily="34" charset="0"/>
                        </a:rPr>
                        <a:t>3.25E101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Lucida Sans Unicode" pitchFamily="34" charset="0"/>
                      </a:endParaRPr>
                    </a:p>
                  </a:txBody>
                  <a:tcPr marR="8287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Lucida Sans Unicode" pitchFamily="34" charset="0"/>
                        </a:rPr>
                        <a:t>3e+26J</a:t>
                      </a:r>
                    </a:p>
                  </a:txBody>
                  <a:tcPr marR="8287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Lucida Sans Unicode" pitchFamily="34" charset="0"/>
                        </a:rPr>
                        <a:t>0x69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Lucida Sans Unicode" pitchFamily="34" charset="0"/>
                      </a:endParaRPr>
                    </a:p>
                  </a:txBody>
                  <a:tcPr marR="8287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Lucida Sans Unicode" pitchFamily="34" charset="0"/>
                      </a:endParaRPr>
                    </a:p>
                  </a:txBody>
                  <a:tcPr marR="8287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sng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Verdana" pitchFamily="34" charset="0"/>
                          <a:cs typeface="Lucida Sans Unicode" pitchFamily="34" charset="0"/>
                        </a:rPr>
                        <a:t>-4721885298529L</a:t>
                      </a:r>
                    </a:p>
                  </a:txBody>
                  <a:tcPr marR="8287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Lucida Sans Unicode" pitchFamily="34" charset="0"/>
                        </a:rPr>
                        <a:t>70.2E-12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Lucida Sans Unicode" pitchFamily="34" charset="0"/>
                      </a:endParaRPr>
                    </a:p>
                  </a:txBody>
                  <a:tcPr marR="8287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Lucida Sans Unicode" pitchFamily="34" charset="0"/>
                        </a:rPr>
                        <a:t>4.53e-7j</a:t>
                      </a:r>
                    </a:p>
                  </a:txBody>
                  <a:tcPr marR="8287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</a:tbl>
          </a:graphicData>
        </a:graphic>
      </p:graphicFrame>
      <p:sp>
        <p:nvSpPr>
          <p:cNvPr id="6" name="Content Placeholder 2"/>
          <p:cNvSpPr txBox="1">
            <a:spLocks/>
          </p:cNvSpPr>
          <p:nvPr/>
        </p:nvSpPr>
        <p:spPr>
          <a:xfrm>
            <a:off x="296562" y="1050324"/>
            <a:ext cx="10021330" cy="273084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6075" indent="-346075">
              <a:spcBef>
                <a:spcPts val="1800"/>
              </a:spcBef>
              <a:buNone/>
            </a:pPr>
            <a:r>
              <a:rPr lang="en-US" altLang="en-US" sz="3200" dirty="0"/>
              <a:t>Python supports </a:t>
            </a:r>
            <a:r>
              <a:rPr lang="en-US" altLang="en-US" sz="3200" dirty="0" smtClean="0"/>
              <a:t>four </a:t>
            </a:r>
            <a:r>
              <a:rPr lang="en-US" altLang="en-US" sz="3200" strike="sngStrike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en-US" altLang="en-US" sz="3200" strike="sngStrike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five)</a:t>
            </a:r>
            <a:r>
              <a:rPr lang="en-US" altLang="en-US" sz="32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altLang="en-US" sz="3200" dirty="0"/>
              <a:t>kinds of numbers:</a:t>
            </a:r>
          </a:p>
          <a:p>
            <a:pPr marL="346075" indent="-346075">
              <a:spcBef>
                <a:spcPts val="0"/>
              </a:spcBef>
            </a:pPr>
            <a:r>
              <a:rPr lang="en-US" altLang="en-US" sz="3200" dirty="0" err="1"/>
              <a:t>int</a:t>
            </a:r>
            <a:r>
              <a:rPr lang="en-US" altLang="en-US" sz="3200" dirty="0"/>
              <a:t> (signed integers</a:t>
            </a:r>
            <a:r>
              <a:rPr lang="en-US" altLang="en-US" sz="3200" dirty="0" smtClean="0"/>
              <a:t>)</a:t>
            </a:r>
          </a:p>
          <a:p>
            <a:pPr marL="346075" indent="-346075">
              <a:spcBef>
                <a:spcPts val="0"/>
              </a:spcBef>
            </a:pPr>
            <a:r>
              <a:rPr lang="en-US" altLang="en-US" sz="3200" dirty="0" smtClean="0"/>
              <a:t>bool (a binary number)</a:t>
            </a:r>
            <a:endParaRPr lang="en-US" altLang="en-US" sz="3200" dirty="0"/>
          </a:p>
          <a:p>
            <a:pPr marL="346075" indent="-346075">
              <a:spcBef>
                <a:spcPts val="0"/>
              </a:spcBef>
            </a:pPr>
            <a:r>
              <a:rPr lang="en-US" altLang="en-US" sz="3200" strike="sngStrike" dirty="0">
                <a:solidFill>
                  <a:schemeClr val="tx1">
                    <a:lumMod val="50000"/>
                    <a:lumOff val="50000"/>
                  </a:schemeClr>
                </a:solidFill>
              </a:rPr>
              <a:t>long (long </a:t>
            </a:r>
            <a:r>
              <a:rPr lang="en-US" altLang="en-US" sz="3200" strike="sngStrike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integers)</a:t>
            </a:r>
            <a:endParaRPr lang="en-US" altLang="en-US" sz="3200" strike="sngStrike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346075" indent="-346075">
              <a:spcBef>
                <a:spcPts val="0"/>
              </a:spcBef>
            </a:pPr>
            <a:r>
              <a:rPr lang="en-US" altLang="en-US" sz="3200" dirty="0"/>
              <a:t>float (floating point real values)</a:t>
            </a:r>
          </a:p>
          <a:p>
            <a:pPr marL="346075" indent="-346075">
              <a:spcBef>
                <a:spcPts val="0"/>
              </a:spcBef>
            </a:pPr>
            <a:r>
              <a:rPr lang="en-US" altLang="en-US" sz="3200" dirty="0" smtClean="0"/>
              <a:t>complex (complex numbers</a:t>
            </a:r>
            <a:r>
              <a:rPr lang="en-US" altLang="en-US" sz="2800" dirty="0" smtClean="0"/>
              <a:t>)</a:t>
            </a:r>
            <a:endParaRPr lang="en-US" altLang="en-US" sz="2800" dirty="0"/>
          </a:p>
        </p:txBody>
      </p:sp>
      <p:sp>
        <p:nvSpPr>
          <p:cNvPr id="8" name="Rounded Rectangular Callout 7"/>
          <p:cNvSpPr/>
          <p:nvPr/>
        </p:nvSpPr>
        <p:spPr>
          <a:xfrm>
            <a:off x="2197894" y="0"/>
            <a:ext cx="7531894" cy="1752600"/>
          </a:xfrm>
          <a:prstGeom prst="wedgeRoundRectCallout">
            <a:avLst>
              <a:gd name="adj1" fmla="val -51101"/>
              <a:gd name="adj2" fmla="val 92410"/>
              <a:gd name="adj3" fmla="val 16667"/>
            </a:avLst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en-US" altLang="zh-TW" sz="2436" strike="sngStrike" dirty="0" smtClean="0">
                <a:solidFill>
                  <a:prstClr val="black"/>
                </a:solidFill>
              </a:rPr>
              <a:t>strikethrough</a:t>
            </a:r>
            <a:r>
              <a:rPr lang="en-US" altLang="zh-TW" sz="2436" dirty="0" smtClean="0">
                <a:solidFill>
                  <a:prstClr val="black"/>
                </a:solidFill>
              </a:rPr>
              <a:t> indicates a Python </a:t>
            </a:r>
            <a:r>
              <a:rPr lang="en-US" altLang="zh-TW" sz="2436" dirty="0">
                <a:solidFill>
                  <a:prstClr val="black"/>
                </a:solidFill>
              </a:rPr>
              <a:t>2.x-only </a:t>
            </a:r>
            <a:r>
              <a:rPr lang="en-US" altLang="zh-TW" sz="2436" dirty="0" smtClean="0">
                <a:solidFill>
                  <a:prstClr val="black"/>
                </a:solidFill>
              </a:rPr>
              <a:t>topic.</a:t>
            </a:r>
            <a:br>
              <a:rPr lang="en-US" altLang="zh-TW" sz="2436" dirty="0" smtClean="0">
                <a:solidFill>
                  <a:prstClr val="black"/>
                </a:solidFill>
              </a:rPr>
            </a:br>
            <a:r>
              <a:rPr lang="en-US" altLang="zh-TW" sz="3200" dirty="0" smtClean="0">
                <a:solidFill>
                  <a:prstClr val="black"/>
                </a:solidFill>
              </a:rPr>
              <a:t>(Python 3 no longer has the “long” type, since integers are now </a:t>
            </a:r>
            <a:r>
              <a:rPr lang="en-US" altLang="zh-TW" sz="3200" b="1" dirty="0" smtClean="0">
                <a:solidFill>
                  <a:srgbClr val="FF0000"/>
                </a:solidFill>
              </a:rPr>
              <a:t>unbounded</a:t>
            </a:r>
            <a:r>
              <a:rPr lang="en-US" altLang="zh-TW" sz="3200" dirty="0" smtClean="0">
                <a:solidFill>
                  <a:prstClr val="black"/>
                </a:solidFill>
              </a:rPr>
              <a:t> in size!)</a:t>
            </a:r>
            <a:br>
              <a:rPr lang="en-US" altLang="zh-TW" sz="3200" dirty="0" smtClean="0">
                <a:solidFill>
                  <a:prstClr val="black"/>
                </a:solidFill>
              </a:rPr>
            </a:br>
            <a:r>
              <a:rPr lang="en-US" altLang="zh-TW" sz="3200" dirty="0" smtClean="0">
                <a:solidFill>
                  <a:prstClr val="black"/>
                </a:solidFill>
              </a:rPr>
              <a:t>(Python3</a:t>
            </a:r>
            <a:r>
              <a:rPr lang="zh-TW" altLang="en-US" sz="3200" dirty="0" smtClean="0">
                <a:solidFill>
                  <a:prstClr val="black"/>
                </a:solidFill>
              </a:rPr>
              <a:t>整數不會有溢位的問題</a:t>
            </a:r>
            <a:r>
              <a:rPr lang="en-US" altLang="zh-TW" sz="3200" dirty="0" smtClean="0">
                <a:solidFill>
                  <a:prstClr val="black"/>
                </a:solidFill>
              </a:rPr>
              <a:t>)</a:t>
            </a:r>
            <a:endParaRPr lang="zh-TW" altLang="en-US" sz="2436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1818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1" y="1"/>
            <a:ext cx="9729787" cy="116114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solidFill>
                  <a:srgbClr val="0070C0"/>
                </a:solidFill>
              </a:rPr>
              <a:t>Python Arithmetic Operators: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/>
          </p:nvPr>
        </p:nvGraphicFramePr>
        <p:xfrm>
          <a:off x="239049" y="1179545"/>
          <a:ext cx="9248504" cy="4918337"/>
        </p:xfrm>
        <a:graphic>
          <a:graphicData uri="http://schemas.openxmlformats.org/drawingml/2006/table">
            <a:tbl>
              <a:tblPr/>
              <a:tblGrid>
                <a:gridCol w="142544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9436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879459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43777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Operator</a:t>
                      </a: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Description</a:t>
                      </a: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Example</a:t>
                      </a: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64008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+</a:t>
                      </a: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add</a:t>
                      </a: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+mn-lt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Adds the two operands</a:t>
                      </a: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 marL="182563"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182563" marR="0" lvl="0" indent="0" algn="ctr" defTabSz="914400" rtl="0" eaLnBrk="1" fontAlgn="t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spc="-30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10</a:t>
                      </a:r>
                      <a:r>
                        <a:rPr kumimoji="0" lang="en-US" altLang="en-US" sz="1800" b="0" i="0" u="none" strike="noStrike" cap="none" spc="-30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</a:t>
                      </a:r>
                      <a:r>
                        <a:rPr kumimoji="0" lang="en-US" altLang="en-US" sz="2400" b="0" i="0" u="none" strike="noStrike" cap="none" spc="-30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+</a:t>
                      </a:r>
                      <a:r>
                        <a:rPr kumimoji="0" lang="en-US" altLang="en-US" sz="1800" b="0" i="0" u="none" strike="noStrike" cap="none" spc="-30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</a:t>
                      </a:r>
                      <a:r>
                        <a:rPr kumimoji="0" lang="en-US" altLang="en-US" sz="2400" b="0" i="0" u="none" strike="noStrike" cap="none" spc="-30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20</a:t>
                      </a:r>
                      <a:r>
                        <a:rPr kumimoji="0" lang="en-US" altLang="en-US" sz="1800" b="0" i="0" u="none" strike="noStrike" kern="1200" cap="none" spc="-30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</a:t>
                      </a:r>
                      <a:r>
                        <a:rPr kumimoji="0" lang="en-US" altLang="en-US" sz="2400" b="0" i="0" u="none" strike="noStrike" cap="none" spc="-30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/>
                          <a:ea typeface="Lucida Sans Unicode" panose="020B0602030504020204" pitchFamily="34" charset="0"/>
                          <a:cs typeface="Times New Roman"/>
                        </a:rPr>
                        <a:t>⇒</a:t>
                      </a:r>
                      <a:r>
                        <a:rPr kumimoji="0" lang="en-US" altLang="en-US" sz="1800" b="0" i="0" u="none" strike="noStrike" cap="none" spc="-30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</a:t>
                      </a:r>
                      <a:r>
                        <a:rPr kumimoji="0" lang="en-US" altLang="en-US" sz="2400" b="0" i="0" u="none" strike="noStrike" cap="none" spc="-30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30</a:t>
                      </a:r>
                      <a:endParaRPr kumimoji="0" lang="en-US" altLang="en-US" sz="2400" b="0" i="0" u="none" strike="noStrike" cap="none" spc="-30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+mn-lt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64008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-</a:t>
                      </a: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subtract</a:t>
                      </a: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+mn-lt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Subtracts the right-hand operand </a:t>
                      </a: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from </a:t>
                      </a: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left-hand one</a:t>
                      </a: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 marL="182563"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182563" marR="0" lvl="0" indent="0" algn="ctr" defTabSz="914400" rtl="0" eaLnBrk="1" fontAlgn="t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2400" b="0" i="0" u="none" strike="noStrike" kern="1200" cap="none" spc="-30" normalizeH="0" baseline="0" noProof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uLnTx/>
                          <a:uFillTx/>
                          <a:latin typeface="Calibri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10</a:t>
                      </a:r>
                      <a:r>
                        <a:rPr kumimoji="0" lang="en-US" altLang="en-US" sz="1800" b="0" i="0" u="none" strike="noStrike" kern="1200" cap="none" spc="-30" normalizeH="0" baseline="0" noProof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uLnTx/>
                          <a:uFillTx/>
                          <a:latin typeface="Calibri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</a:t>
                      </a:r>
                      <a:r>
                        <a:rPr kumimoji="0" lang="en-US" altLang="en-US" sz="2400" b="0" i="0" u="none" strike="noStrike" kern="1200" cap="none" spc="-30" normalizeH="0" baseline="0" noProof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uLnTx/>
                          <a:uFillTx/>
                          <a:latin typeface="Calibri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-</a:t>
                      </a:r>
                      <a:r>
                        <a:rPr kumimoji="0" lang="en-US" altLang="en-US" sz="1800" b="0" i="0" u="none" strike="noStrike" kern="1200" cap="none" spc="-30" normalizeH="0" baseline="0" noProof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uLnTx/>
                          <a:uFillTx/>
                          <a:latin typeface="Calibri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</a:t>
                      </a:r>
                      <a:r>
                        <a:rPr kumimoji="0" lang="en-US" altLang="en-US" sz="2400" b="0" i="0" u="none" strike="noStrike" kern="1200" cap="none" spc="-30" normalizeH="0" baseline="0" noProof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uLnTx/>
                          <a:uFillTx/>
                          <a:latin typeface="Calibri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20</a:t>
                      </a:r>
                      <a:r>
                        <a:rPr kumimoji="0" lang="en-US" altLang="en-US" sz="1800" b="0" i="0" u="none" strike="noStrike" kern="1200" cap="none" spc="-30" normalizeH="0" baseline="0" noProof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uLnTx/>
                          <a:uFillTx/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</a:t>
                      </a:r>
                      <a:r>
                        <a:rPr kumimoji="0" lang="en-US" altLang="en-US" sz="2400" b="0" i="0" u="none" strike="noStrike" kern="1200" cap="none" spc="-30" normalizeH="0" baseline="0" noProof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uLnTx/>
                          <a:uFillTx/>
                          <a:latin typeface="Times New Roman"/>
                          <a:ea typeface="Lucida Sans Unicode" panose="020B0602030504020204" pitchFamily="34" charset="0"/>
                          <a:cs typeface="Times New Roman"/>
                        </a:rPr>
                        <a:t>⇒</a:t>
                      </a:r>
                      <a:r>
                        <a:rPr kumimoji="0" lang="en-US" altLang="en-US" sz="1800" b="0" i="0" u="none" strike="noStrike" kern="1200" cap="none" spc="-30" normalizeH="0" baseline="0" noProof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uLnTx/>
                          <a:uFillTx/>
                          <a:latin typeface="Calibri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</a:t>
                      </a:r>
                      <a:r>
                        <a:rPr kumimoji="0" lang="en-US" altLang="en-US" sz="2400" b="0" i="0" u="none" strike="noStrike" kern="1200" cap="none" spc="-30" normalizeH="0" baseline="0" noProof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uLnTx/>
                          <a:uFillTx/>
                          <a:latin typeface="Calibri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-10</a:t>
                      </a:r>
                      <a:endParaRPr kumimoji="0" lang="en-US" altLang="en-US" sz="24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uLnTx/>
                        <a:uFillTx/>
                        <a:latin typeface="Calibri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64008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7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+mn-lt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2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*</a:t>
                      </a: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multiply</a:t>
                      </a: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+mn-lt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Multiplies the two operands</a:t>
                      </a: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 marL="182563"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182563" marR="0" lvl="0" indent="0" algn="ctr" defTabSz="914400" rtl="0" eaLnBrk="1" fontAlgn="t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2400" b="0" i="0" u="none" strike="noStrike" kern="1200" cap="none" spc="-30" normalizeH="0" baseline="0" noProof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uLnTx/>
                          <a:uFillTx/>
                          <a:latin typeface="Calibri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10</a:t>
                      </a:r>
                      <a:r>
                        <a:rPr kumimoji="0" lang="en-US" altLang="en-US" sz="1800" b="0" i="0" u="none" strike="noStrike" kern="1200" cap="none" spc="-30" normalizeH="0" baseline="0" noProof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uLnTx/>
                          <a:uFillTx/>
                          <a:latin typeface="Calibri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</a:t>
                      </a:r>
                      <a:r>
                        <a:rPr kumimoji="0" lang="en-US" altLang="en-US" sz="2400" b="0" i="0" u="none" strike="noStrike" kern="1200" cap="none" spc="-30" normalizeH="0" baseline="0" noProof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uLnTx/>
                          <a:uFillTx/>
                          <a:latin typeface="Calibri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*</a:t>
                      </a:r>
                      <a:r>
                        <a:rPr kumimoji="0" lang="en-US" altLang="en-US" sz="1800" b="0" i="0" u="none" strike="noStrike" kern="1200" cap="none" spc="-30" normalizeH="0" baseline="0" noProof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uLnTx/>
                          <a:uFillTx/>
                          <a:latin typeface="Calibri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</a:t>
                      </a:r>
                      <a:r>
                        <a:rPr kumimoji="0" lang="en-US" altLang="en-US" sz="2400" b="0" i="0" u="none" strike="noStrike" kern="1200" cap="none" spc="-30" normalizeH="0" baseline="0" noProof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uLnTx/>
                          <a:uFillTx/>
                          <a:latin typeface="Calibri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20</a:t>
                      </a:r>
                      <a:r>
                        <a:rPr kumimoji="0" lang="en-US" altLang="en-US" sz="1800" b="0" i="0" u="none" strike="noStrike" kern="1200" cap="none" spc="-30" normalizeH="0" baseline="0" noProof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uLnTx/>
                          <a:uFillTx/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</a:t>
                      </a:r>
                      <a:r>
                        <a:rPr kumimoji="0" lang="en-US" altLang="en-US" sz="2400" b="0" i="0" u="none" strike="noStrike" kern="1200" cap="none" spc="-30" normalizeH="0" baseline="0" noProof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uLnTx/>
                          <a:uFillTx/>
                          <a:latin typeface="Times New Roman"/>
                          <a:ea typeface="Lucida Sans Unicode" panose="020B0602030504020204" pitchFamily="34" charset="0"/>
                          <a:cs typeface="Times New Roman"/>
                        </a:rPr>
                        <a:t>⇒</a:t>
                      </a:r>
                      <a:r>
                        <a:rPr kumimoji="0" lang="en-US" altLang="en-US" sz="1800" b="0" i="0" u="none" strike="noStrike" kern="1200" cap="none" spc="-30" normalizeH="0" baseline="0" noProof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uLnTx/>
                          <a:uFillTx/>
                          <a:latin typeface="Calibri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</a:t>
                      </a:r>
                      <a:r>
                        <a:rPr kumimoji="0" lang="en-US" altLang="en-US" sz="2400" b="0" i="0" u="none" strike="noStrike" kern="1200" cap="none" spc="-30" normalizeH="0" baseline="0" noProof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uLnTx/>
                          <a:uFillTx/>
                          <a:latin typeface="Calibri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200</a:t>
                      </a:r>
                      <a:endParaRPr kumimoji="0" lang="en-US" altLang="en-US" sz="24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uLnTx/>
                        <a:uFillTx/>
                        <a:latin typeface="Calibri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64008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/</a:t>
                      </a: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divide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spc="-1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Divides</a:t>
                      </a:r>
                      <a:r>
                        <a:rPr kumimoji="0" lang="en-US" altLang="en-US" sz="2000" b="0" i="0" u="none" strike="noStrike" cap="none" spc="-1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</a:t>
                      </a:r>
                      <a:r>
                        <a:rPr kumimoji="0" lang="en-US" altLang="en-US" sz="2400" b="0" i="0" u="none" strike="noStrike" cap="none" spc="-1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the</a:t>
                      </a:r>
                      <a:r>
                        <a:rPr kumimoji="0" lang="en-US" altLang="en-US" sz="2000" b="0" i="0" u="none" strike="noStrike" cap="none" spc="-1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</a:t>
                      </a:r>
                      <a:r>
                        <a:rPr kumimoji="0" lang="en-US" altLang="en-US" sz="2400" b="0" i="0" u="none" strike="noStrike" cap="none" spc="-1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first operand by</a:t>
                      </a:r>
                      <a:r>
                        <a:rPr kumimoji="0" lang="en-US" altLang="en-US" sz="2000" b="0" i="0" u="none" strike="noStrike" cap="none" spc="-1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</a:t>
                      </a:r>
                      <a:r>
                        <a:rPr kumimoji="0" lang="en-US" altLang="en-US" sz="2400" b="0" i="0" u="none" strike="noStrike" cap="none" spc="-1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the</a:t>
                      </a:r>
                      <a:r>
                        <a:rPr kumimoji="0" lang="en-US" altLang="en-US" sz="2000" b="0" i="0" u="none" strike="noStrike" cap="none" spc="-1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</a:t>
                      </a:r>
                      <a:r>
                        <a:rPr kumimoji="0" lang="en-US" altLang="en-US" sz="2400" b="0" i="0" u="none" strike="noStrike" cap="none" spc="-1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second on</a:t>
                      </a:r>
                      <a:r>
                        <a:rPr kumimoji="0" lang="en-US" altLang="en-US" sz="2400" b="0" i="0" u="none" strike="noStrike" cap="none" spc="-21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e</a:t>
                      </a:r>
                      <a:r>
                        <a:rPr kumimoji="0" lang="en-US" altLang="en-US" sz="2400" b="0" i="0" u="none" strike="noStrike" cap="none" spc="-1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,</a:t>
                      </a:r>
                      <a:r>
                        <a:rPr kumimoji="0" lang="en-US" altLang="en-US" sz="2000" b="0" i="0" u="none" strike="noStrike" cap="none" spc="-1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</a:t>
                      </a:r>
                      <a:r>
                        <a:rPr kumimoji="0" lang="en-US" altLang="en-US" sz="2400" b="0" i="0" u="none" strike="noStrike" cap="none" spc="-1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with </a:t>
                      </a: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the result being a float (or, possibly, complex)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 marL="182563"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182563" marR="0" lvl="0" indent="0" algn="ctr" defTabSz="914400" rtl="0" eaLnBrk="1" fontAlgn="t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2400" b="0" i="0" u="none" strike="noStrike" kern="1200" cap="none" spc="-30" normalizeH="0" baseline="0" noProof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uLnTx/>
                          <a:uFillTx/>
                          <a:latin typeface="Calibri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10</a:t>
                      </a:r>
                      <a:r>
                        <a:rPr kumimoji="0" lang="en-US" altLang="en-US" sz="1800" b="0" i="0" u="none" strike="noStrike" kern="1200" cap="none" spc="-30" normalizeH="0" baseline="0" noProof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uLnTx/>
                          <a:uFillTx/>
                          <a:latin typeface="Calibri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</a:t>
                      </a:r>
                      <a:r>
                        <a:rPr kumimoji="0" lang="en-US" altLang="en-US" sz="2400" b="0" i="0" u="none" strike="noStrike" kern="1200" cap="none" spc="-30" normalizeH="0" baseline="0" noProof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uLnTx/>
                          <a:uFillTx/>
                          <a:latin typeface="Calibri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/</a:t>
                      </a:r>
                      <a:r>
                        <a:rPr kumimoji="0" lang="en-US" altLang="en-US" sz="1800" b="0" i="0" u="none" strike="noStrike" kern="1200" cap="none" spc="-30" normalizeH="0" baseline="0" noProof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uLnTx/>
                          <a:uFillTx/>
                          <a:latin typeface="Calibri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</a:t>
                      </a:r>
                      <a:r>
                        <a:rPr kumimoji="0" lang="en-US" altLang="en-US" sz="2400" b="0" i="0" u="none" strike="noStrike" kern="1200" cap="none" spc="-30" normalizeH="0" baseline="0" noProof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uLnTx/>
                          <a:uFillTx/>
                          <a:latin typeface="Calibri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20</a:t>
                      </a:r>
                      <a:r>
                        <a:rPr kumimoji="0" lang="en-US" altLang="en-US" sz="1800" b="0" i="0" u="none" strike="noStrike" kern="1200" cap="none" spc="-30" normalizeH="0" baseline="0" noProof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uLnTx/>
                          <a:uFillTx/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</a:t>
                      </a:r>
                      <a:r>
                        <a:rPr kumimoji="0" lang="en-US" altLang="en-US" sz="2400" b="0" i="0" u="none" strike="noStrike" kern="1200" cap="none" spc="-30" normalizeH="0" baseline="0" noProof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uLnTx/>
                          <a:uFillTx/>
                          <a:latin typeface="Times New Roman"/>
                          <a:ea typeface="Lucida Sans Unicode" panose="020B0602030504020204" pitchFamily="34" charset="0"/>
                          <a:cs typeface="Times New Roman"/>
                        </a:rPr>
                        <a:t>⇒</a:t>
                      </a:r>
                      <a:r>
                        <a:rPr kumimoji="0" lang="en-US" altLang="en-US" sz="1800" b="0" i="0" u="none" strike="noStrike" kern="1200" cap="none" spc="-30" normalizeH="0" baseline="0" noProof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uLnTx/>
                          <a:uFillTx/>
                          <a:latin typeface="Calibri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</a:t>
                      </a:r>
                      <a:r>
                        <a:rPr kumimoji="0" lang="en-US" altLang="en-US" sz="2400" b="0" i="0" u="none" strike="noStrike" kern="1200" cap="none" spc="-30" normalizeH="0" baseline="0" noProof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uLnTx/>
                          <a:uFillTx/>
                          <a:latin typeface="Calibri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0.5</a:t>
                      </a:r>
                      <a:endParaRPr kumimoji="0" lang="en-US" altLang="en-US" sz="24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uLnTx/>
                        <a:uFillTx/>
                        <a:latin typeface="Calibri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64008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%</a:t>
                      </a: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modulus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Yields the remainder resulting from dividing the first </a:t>
                      </a: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operand by </a:t>
                      </a: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the second one</a:t>
                      </a: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 marL="182563"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182563" marR="0" lvl="0" indent="0" algn="ctr" defTabSz="914400" rtl="0" eaLnBrk="1" fontAlgn="t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2400" b="0" i="0" u="none" strike="noStrike" kern="1200" cap="none" spc="-30" normalizeH="0" baseline="0" noProof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uLnTx/>
                          <a:uFillTx/>
                          <a:latin typeface="Calibri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10</a:t>
                      </a:r>
                      <a:r>
                        <a:rPr kumimoji="0" lang="en-US" altLang="en-US" sz="1800" b="0" i="0" u="none" strike="noStrike" kern="1200" cap="none" spc="-30" normalizeH="0" baseline="0" noProof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uLnTx/>
                          <a:uFillTx/>
                          <a:latin typeface="Calibri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</a:t>
                      </a:r>
                      <a:r>
                        <a:rPr kumimoji="0" lang="en-US" altLang="en-US" sz="2400" b="0" i="0" u="none" strike="noStrike" kern="1200" cap="none" spc="-30" normalizeH="0" baseline="0" noProof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uLnTx/>
                          <a:uFillTx/>
                          <a:latin typeface="Calibri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%</a:t>
                      </a:r>
                      <a:r>
                        <a:rPr kumimoji="0" lang="en-US" altLang="en-US" sz="1800" b="0" i="0" u="none" strike="noStrike" kern="1200" cap="none" spc="-30" normalizeH="0" baseline="0" noProof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uLnTx/>
                          <a:uFillTx/>
                          <a:latin typeface="Calibri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</a:t>
                      </a:r>
                      <a:r>
                        <a:rPr kumimoji="0" lang="en-US" altLang="en-US" sz="2400" b="0" i="0" u="none" strike="noStrike" kern="1200" cap="none" spc="-30" normalizeH="0" baseline="0" noProof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uLnTx/>
                          <a:uFillTx/>
                          <a:latin typeface="Calibri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20</a:t>
                      </a:r>
                      <a:r>
                        <a:rPr kumimoji="0" lang="en-US" altLang="en-US" sz="1800" b="0" i="0" u="none" strike="noStrike" kern="1200" cap="none" spc="-30" normalizeH="0" baseline="0" noProof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uLnTx/>
                          <a:uFillTx/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</a:t>
                      </a:r>
                      <a:r>
                        <a:rPr kumimoji="0" lang="en-US" altLang="en-US" sz="2400" b="0" i="0" u="none" strike="noStrike" kern="1200" cap="none" spc="-30" normalizeH="0" baseline="0" noProof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uLnTx/>
                          <a:uFillTx/>
                          <a:latin typeface="Times New Roman"/>
                          <a:ea typeface="Lucida Sans Unicode" panose="020B0602030504020204" pitchFamily="34" charset="0"/>
                          <a:cs typeface="Times New Roman"/>
                        </a:rPr>
                        <a:t>⇒</a:t>
                      </a:r>
                      <a:r>
                        <a:rPr kumimoji="0" lang="en-US" altLang="en-US" sz="1800" b="0" i="0" u="none" strike="noStrike" kern="1200" cap="none" spc="-30" normalizeH="0" baseline="0" noProof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uLnTx/>
                          <a:uFillTx/>
                          <a:latin typeface="Calibri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</a:t>
                      </a:r>
                      <a:r>
                        <a:rPr kumimoji="0" lang="en-US" altLang="en-US" sz="2400" b="0" i="0" u="none" strike="noStrike" kern="1200" cap="none" spc="-30" normalizeH="0" baseline="0" noProof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uLnTx/>
                          <a:uFillTx/>
                          <a:latin typeface="Calibri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10</a:t>
                      </a:r>
                      <a:endParaRPr kumimoji="0" lang="en-US" altLang="en-US" sz="24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uLnTx/>
                        <a:uFillTx/>
                        <a:latin typeface="Calibri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64008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7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uLnTx/>
                        <a:uFillTx/>
                        <a:latin typeface="Calibri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2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24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uLnTx/>
                          <a:uFillTx/>
                          <a:latin typeface="Calibri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**</a:t>
                      </a: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4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2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uLnTx/>
                          <a:uFillTx/>
                          <a:latin typeface="Calibri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exponent</a:t>
                      </a:r>
                      <a:endParaRPr kumimoji="0" lang="en-US" alt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uLnTx/>
                        <a:uFillTx/>
                        <a:latin typeface="Calibri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Raises the first operand to the power of the second one</a:t>
                      </a: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 marL="182563"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182563" marR="0" lvl="0" indent="0" algn="ctr" defTabSz="914400" rtl="0" eaLnBrk="1" fontAlgn="t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2400" b="0" i="0" u="none" strike="noStrike" kern="1200" cap="none" spc="-30" normalizeH="0" baseline="0" noProof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uLnTx/>
                          <a:uFillTx/>
                          <a:latin typeface="Calibri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9**.5</a:t>
                      </a:r>
                      <a:r>
                        <a:rPr kumimoji="0" lang="en-US" altLang="en-US" sz="1800" b="0" i="0" u="none" strike="noStrike" kern="1200" cap="none" spc="-30" normalizeH="0" baseline="0" noProof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uLnTx/>
                          <a:uFillTx/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</a:t>
                      </a:r>
                      <a:r>
                        <a:rPr kumimoji="0" lang="en-US" altLang="en-US" sz="2400" b="0" i="0" u="none" strike="noStrike" kern="1200" cap="none" spc="-30" normalizeH="0" baseline="0" noProof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uLnTx/>
                          <a:uFillTx/>
                          <a:latin typeface="Times New Roman"/>
                          <a:ea typeface="Lucida Sans Unicode" panose="020B0602030504020204" pitchFamily="34" charset="0"/>
                          <a:cs typeface="Times New Roman"/>
                        </a:rPr>
                        <a:t>⇒</a:t>
                      </a:r>
                      <a:r>
                        <a:rPr kumimoji="0" lang="en-US" altLang="en-US" sz="1800" b="0" i="0" u="none" strike="noStrike" kern="1200" cap="none" spc="-30" normalizeH="0" baseline="0" noProof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uLnTx/>
                          <a:uFillTx/>
                          <a:latin typeface="Calibri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</a:t>
                      </a:r>
                      <a:r>
                        <a:rPr kumimoji="0" lang="en-US" altLang="en-US" sz="2400" b="0" i="0" u="none" strike="noStrike" kern="1200" cap="none" spc="-30" normalizeH="0" baseline="0" noProof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uLnTx/>
                          <a:uFillTx/>
                          <a:latin typeface="Calibri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3.0</a:t>
                      </a:r>
                      <a:endParaRPr kumimoji="0" lang="en-US" altLang="en-US" sz="24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uLnTx/>
                        <a:uFillTx/>
                        <a:latin typeface="Calibri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64008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//</a:t>
                      </a: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floor divide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Yields the whole-number portion of the result of dividing the first operand by the second one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 marL="182563"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182563" marR="0" lvl="0" indent="0" algn="ctr" defTabSz="914400" rtl="0" eaLnBrk="1" fontAlgn="t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2400" b="0" i="0" u="none" strike="noStrike" kern="1200" cap="none" spc="-30" normalizeH="0" baseline="0" noProof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uLnTx/>
                          <a:uFillTx/>
                          <a:latin typeface="Calibri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9//2</a:t>
                      </a:r>
                      <a:r>
                        <a:rPr kumimoji="0" lang="en-US" altLang="en-US" sz="1800" b="0" i="0" u="none" strike="noStrike" kern="1200" cap="none" spc="-30" normalizeH="0" baseline="0" noProof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uLnTx/>
                          <a:uFillTx/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</a:t>
                      </a:r>
                      <a:r>
                        <a:rPr kumimoji="0" lang="en-US" altLang="en-US" sz="2400" b="0" i="0" u="none" strike="noStrike" kern="1200" cap="none" spc="-30" normalizeH="0" baseline="0" noProof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uLnTx/>
                          <a:uFillTx/>
                          <a:latin typeface="Times New Roman"/>
                          <a:ea typeface="Lucida Sans Unicode" panose="020B0602030504020204" pitchFamily="34" charset="0"/>
                          <a:cs typeface="Times New Roman"/>
                        </a:rPr>
                        <a:t>⇒</a:t>
                      </a:r>
                      <a:r>
                        <a:rPr kumimoji="0" lang="en-US" altLang="en-US" sz="1800" b="0" i="0" u="none" strike="noStrike" kern="1200" cap="none" spc="-30" normalizeH="0" baseline="0" noProof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uLnTx/>
                          <a:uFillTx/>
                          <a:latin typeface="Calibri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</a:t>
                      </a:r>
                      <a:r>
                        <a:rPr kumimoji="0" lang="en-US" altLang="en-US" sz="2400" b="0" i="0" u="none" strike="noStrike" kern="1200" cap="none" spc="-30" normalizeH="0" baseline="0" noProof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uLnTx/>
                          <a:uFillTx/>
                          <a:latin typeface="Calibri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4</a:t>
                      </a:r>
                    </a:p>
                    <a:p>
                      <a:pPr marL="182563" marR="0" lvl="0" indent="0" algn="ctr" defTabSz="914400" rtl="0" eaLnBrk="1" fontAlgn="t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2400" b="0" i="0" u="none" strike="noStrike" kern="1200" cap="none" spc="-30" normalizeH="0" baseline="0" noProof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uLnTx/>
                          <a:uFillTx/>
                          <a:latin typeface="Calibri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9.0//2.0</a:t>
                      </a:r>
                      <a:r>
                        <a:rPr kumimoji="0" lang="en-US" altLang="en-US" sz="1200" b="0" i="0" u="none" strike="noStrike" kern="1200" cap="none" spc="-30" normalizeH="0" baseline="0" noProof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uLnTx/>
                          <a:uFillTx/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</a:t>
                      </a:r>
                      <a:r>
                        <a:rPr kumimoji="0" lang="en-US" altLang="en-US" sz="2400" b="0" i="0" u="none" strike="noStrike" kern="1200" cap="none" spc="-30" normalizeH="0" baseline="0" noProof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uLnTx/>
                          <a:uFillTx/>
                          <a:latin typeface="Times New Roman"/>
                          <a:ea typeface="Lucida Sans Unicode" panose="020B0602030504020204" pitchFamily="34" charset="0"/>
                          <a:cs typeface="Times New Roman"/>
                        </a:rPr>
                        <a:t>⇒</a:t>
                      </a:r>
                      <a:r>
                        <a:rPr kumimoji="0" lang="en-US" altLang="en-US" sz="1200" b="0" i="0" u="none" strike="noStrike" kern="1200" cap="none" spc="-30" normalizeH="0" baseline="0" noProof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uLnTx/>
                          <a:uFillTx/>
                          <a:latin typeface="Calibri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</a:t>
                      </a:r>
                      <a:r>
                        <a:rPr kumimoji="0" lang="en-US" altLang="en-US" sz="2400" b="0" i="0" u="none" strike="noStrike" kern="1200" cap="none" spc="-30" normalizeH="0" baseline="0" noProof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uLnTx/>
                          <a:uFillTx/>
                          <a:latin typeface="Calibri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4.0</a:t>
                      </a:r>
                      <a:endParaRPr kumimoji="0" lang="en-US" altLang="en-US" sz="24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uLnTx/>
                        <a:uFillTx/>
                        <a:latin typeface="Calibri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248256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1" y="1"/>
            <a:ext cx="9729787" cy="116114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solidFill>
                  <a:srgbClr val="0070C0"/>
                </a:solidFill>
              </a:rPr>
              <a:t>Python Arithmetic Operators: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/>
          </p:nvPr>
        </p:nvGraphicFramePr>
        <p:xfrm>
          <a:off x="239049" y="1179545"/>
          <a:ext cx="9248504" cy="4918337"/>
        </p:xfrm>
        <a:graphic>
          <a:graphicData uri="http://schemas.openxmlformats.org/drawingml/2006/table">
            <a:tbl>
              <a:tblPr/>
              <a:tblGrid>
                <a:gridCol w="142544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9436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879459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43777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Operator</a:t>
                      </a: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Description</a:t>
                      </a: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Example</a:t>
                      </a: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64008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+</a:t>
                      </a: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add</a:t>
                      </a: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+mn-lt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Adds the two operands</a:t>
                      </a: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+mn-lt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 marL="182563"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182563" marR="0" lvl="0" indent="0" algn="ctr" defTabSz="914400" rtl="0" eaLnBrk="1" fontAlgn="t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spc="-30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10</a:t>
                      </a:r>
                      <a:r>
                        <a:rPr kumimoji="0" lang="en-US" altLang="en-US" sz="1800" b="0" i="0" u="none" strike="noStrike" cap="none" spc="-30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</a:t>
                      </a:r>
                      <a:r>
                        <a:rPr kumimoji="0" lang="en-US" altLang="en-US" sz="2400" b="0" i="0" u="none" strike="noStrike" cap="none" spc="-30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+</a:t>
                      </a:r>
                      <a:r>
                        <a:rPr kumimoji="0" lang="en-US" altLang="en-US" sz="1800" b="0" i="0" u="none" strike="noStrike" cap="none" spc="-30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</a:t>
                      </a:r>
                      <a:r>
                        <a:rPr kumimoji="0" lang="en-US" altLang="en-US" sz="2400" b="0" i="0" u="none" strike="noStrike" cap="none" spc="-30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20</a:t>
                      </a:r>
                      <a:r>
                        <a:rPr kumimoji="0" lang="en-US" altLang="en-US" sz="1800" b="0" i="0" u="none" strike="noStrike" kern="1200" cap="none" spc="-30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</a:t>
                      </a:r>
                      <a:r>
                        <a:rPr kumimoji="0" lang="en-US" altLang="en-US" sz="2400" b="0" i="0" u="none" strike="noStrike" cap="none" spc="-30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Times New Roman"/>
                          <a:ea typeface="Lucida Sans Unicode" panose="020B0602030504020204" pitchFamily="34" charset="0"/>
                          <a:cs typeface="Times New Roman"/>
                        </a:rPr>
                        <a:t>⇒</a:t>
                      </a:r>
                      <a:r>
                        <a:rPr kumimoji="0" lang="en-US" altLang="en-US" sz="1800" b="0" i="0" u="none" strike="noStrike" cap="none" spc="-30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</a:t>
                      </a:r>
                      <a:r>
                        <a:rPr kumimoji="0" lang="en-US" altLang="en-US" sz="2400" b="0" i="0" u="none" strike="noStrike" cap="none" spc="-30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30</a:t>
                      </a:r>
                      <a:endParaRPr kumimoji="0" lang="en-US" altLang="en-US" sz="2400" b="0" i="0" u="none" strike="noStrike" cap="none" spc="-30" normalizeH="0" baseline="0" dirty="0">
                        <a:ln>
                          <a:noFill/>
                        </a:ln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+mn-lt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64008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-</a:t>
                      </a: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subtract</a:t>
                      </a: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+mn-lt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Subtracts the right-hand operand </a:t>
                      </a: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from </a:t>
                      </a: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left-hand one</a:t>
                      </a: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+mn-lt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 marL="182563"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182563" marR="0" lvl="0" indent="0" algn="ctr" defTabSz="914400" rtl="0" eaLnBrk="1" fontAlgn="t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2400" b="0" i="0" u="none" strike="noStrike" kern="1200" cap="none" spc="-30" normalizeH="0" baseline="0" noProof="0" dirty="0" smtClean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uLnTx/>
                          <a:uFillTx/>
                          <a:latin typeface="Calibri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10</a:t>
                      </a:r>
                      <a:r>
                        <a:rPr kumimoji="0" lang="en-US" altLang="en-US" sz="1800" b="0" i="0" u="none" strike="noStrike" kern="1200" cap="none" spc="-30" normalizeH="0" baseline="0" noProof="0" dirty="0" smtClean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uLnTx/>
                          <a:uFillTx/>
                          <a:latin typeface="Calibri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</a:t>
                      </a:r>
                      <a:r>
                        <a:rPr kumimoji="0" lang="en-US" altLang="en-US" sz="2400" b="0" i="0" u="none" strike="noStrike" kern="1200" cap="none" spc="-30" normalizeH="0" baseline="0" noProof="0" dirty="0" smtClean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uLnTx/>
                          <a:uFillTx/>
                          <a:latin typeface="Calibri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-</a:t>
                      </a:r>
                      <a:r>
                        <a:rPr kumimoji="0" lang="en-US" altLang="en-US" sz="1800" b="0" i="0" u="none" strike="noStrike" kern="1200" cap="none" spc="-30" normalizeH="0" baseline="0" noProof="0" dirty="0" smtClean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uLnTx/>
                          <a:uFillTx/>
                          <a:latin typeface="Calibri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</a:t>
                      </a:r>
                      <a:r>
                        <a:rPr kumimoji="0" lang="en-US" altLang="en-US" sz="2400" b="0" i="0" u="none" strike="noStrike" kern="1200" cap="none" spc="-30" normalizeH="0" baseline="0" noProof="0" dirty="0" smtClean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uLnTx/>
                          <a:uFillTx/>
                          <a:latin typeface="Calibri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20</a:t>
                      </a:r>
                      <a:r>
                        <a:rPr kumimoji="0" lang="en-US" altLang="en-US" sz="1800" b="0" i="0" u="none" strike="noStrike" kern="1200" cap="none" spc="-30" normalizeH="0" baseline="0" noProof="0" dirty="0" smtClean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uLnTx/>
                          <a:uFillTx/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</a:t>
                      </a:r>
                      <a:r>
                        <a:rPr kumimoji="0" lang="en-US" altLang="en-US" sz="2400" b="0" i="0" u="none" strike="noStrike" kern="1200" cap="none" spc="-30" normalizeH="0" baseline="0" noProof="0" dirty="0" smtClean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uLnTx/>
                          <a:uFillTx/>
                          <a:latin typeface="Times New Roman"/>
                          <a:ea typeface="Lucida Sans Unicode" panose="020B0602030504020204" pitchFamily="34" charset="0"/>
                          <a:cs typeface="Times New Roman"/>
                        </a:rPr>
                        <a:t>⇒</a:t>
                      </a:r>
                      <a:r>
                        <a:rPr kumimoji="0" lang="en-US" altLang="en-US" sz="1800" b="0" i="0" u="none" strike="noStrike" kern="1200" cap="none" spc="-30" normalizeH="0" baseline="0" noProof="0" dirty="0" smtClean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uLnTx/>
                          <a:uFillTx/>
                          <a:latin typeface="Calibri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</a:t>
                      </a:r>
                      <a:r>
                        <a:rPr kumimoji="0" lang="en-US" altLang="en-US" sz="2400" b="0" i="0" u="none" strike="noStrike" kern="1200" cap="none" spc="-30" normalizeH="0" baseline="0" noProof="0" dirty="0" smtClean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uLnTx/>
                          <a:uFillTx/>
                          <a:latin typeface="Calibri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-10</a:t>
                      </a:r>
                      <a:endParaRPr kumimoji="0" lang="en-US" altLang="en-US" sz="24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uLnTx/>
                        <a:uFillTx/>
                        <a:latin typeface="Calibri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64008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7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+mn-lt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2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*</a:t>
                      </a: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multiply</a:t>
                      </a: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+mn-lt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Multiplies the two operands</a:t>
                      </a: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+mn-lt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 marL="182563"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182563" marR="0" lvl="0" indent="0" algn="ctr" defTabSz="914400" rtl="0" eaLnBrk="1" fontAlgn="t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2400" b="0" i="0" u="none" strike="noStrike" kern="1200" cap="none" spc="-30" normalizeH="0" baseline="0" noProof="0" dirty="0" smtClean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uLnTx/>
                          <a:uFillTx/>
                          <a:latin typeface="Calibri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10</a:t>
                      </a:r>
                      <a:r>
                        <a:rPr kumimoji="0" lang="en-US" altLang="en-US" sz="1800" b="0" i="0" u="none" strike="noStrike" kern="1200" cap="none" spc="-30" normalizeH="0" baseline="0" noProof="0" dirty="0" smtClean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uLnTx/>
                          <a:uFillTx/>
                          <a:latin typeface="Calibri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</a:t>
                      </a:r>
                      <a:r>
                        <a:rPr kumimoji="0" lang="en-US" altLang="en-US" sz="2400" b="0" i="0" u="none" strike="noStrike" kern="1200" cap="none" spc="-30" normalizeH="0" baseline="0" noProof="0" dirty="0" smtClean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uLnTx/>
                          <a:uFillTx/>
                          <a:latin typeface="Calibri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*</a:t>
                      </a:r>
                      <a:r>
                        <a:rPr kumimoji="0" lang="en-US" altLang="en-US" sz="1800" b="0" i="0" u="none" strike="noStrike" kern="1200" cap="none" spc="-30" normalizeH="0" baseline="0" noProof="0" dirty="0" smtClean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uLnTx/>
                          <a:uFillTx/>
                          <a:latin typeface="Calibri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</a:t>
                      </a:r>
                      <a:r>
                        <a:rPr kumimoji="0" lang="en-US" altLang="en-US" sz="2400" b="0" i="0" u="none" strike="noStrike" kern="1200" cap="none" spc="-30" normalizeH="0" baseline="0" noProof="0" dirty="0" smtClean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uLnTx/>
                          <a:uFillTx/>
                          <a:latin typeface="Calibri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20</a:t>
                      </a:r>
                      <a:r>
                        <a:rPr kumimoji="0" lang="en-US" altLang="en-US" sz="1800" b="0" i="0" u="none" strike="noStrike" kern="1200" cap="none" spc="-30" normalizeH="0" baseline="0" noProof="0" dirty="0" smtClean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uLnTx/>
                          <a:uFillTx/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</a:t>
                      </a:r>
                      <a:r>
                        <a:rPr kumimoji="0" lang="en-US" altLang="en-US" sz="2400" b="0" i="0" u="none" strike="noStrike" kern="1200" cap="none" spc="-30" normalizeH="0" baseline="0" noProof="0" dirty="0" smtClean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uLnTx/>
                          <a:uFillTx/>
                          <a:latin typeface="Times New Roman"/>
                          <a:ea typeface="Lucida Sans Unicode" panose="020B0602030504020204" pitchFamily="34" charset="0"/>
                          <a:cs typeface="Times New Roman"/>
                        </a:rPr>
                        <a:t>⇒</a:t>
                      </a:r>
                      <a:r>
                        <a:rPr kumimoji="0" lang="en-US" altLang="en-US" sz="1800" b="0" i="0" u="none" strike="noStrike" kern="1200" cap="none" spc="-30" normalizeH="0" baseline="0" noProof="0" dirty="0" smtClean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uLnTx/>
                          <a:uFillTx/>
                          <a:latin typeface="Calibri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</a:t>
                      </a:r>
                      <a:r>
                        <a:rPr kumimoji="0" lang="en-US" altLang="en-US" sz="2400" b="0" i="0" u="none" strike="noStrike" kern="1200" cap="none" spc="-30" normalizeH="0" baseline="0" noProof="0" dirty="0" smtClean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uLnTx/>
                          <a:uFillTx/>
                          <a:latin typeface="Calibri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200</a:t>
                      </a:r>
                      <a:endParaRPr kumimoji="0" lang="en-US" altLang="en-US" sz="24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uLnTx/>
                        <a:uFillTx/>
                        <a:latin typeface="Calibri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64008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/</a:t>
                      </a: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divide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spc="-1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Divides</a:t>
                      </a:r>
                      <a:r>
                        <a:rPr kumimoji="0" lang="en-US" altLang="en-US" sz="2000" b="0" i="0" u="none" strike="noStrike" cap="none" spc="-1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</a:t>
                      </a:r>
                      <a:r>
                        <a:rPr kumimoji="0" lang="en-US" altLang="en-US" sz="2400" b="0" i="0" u="none" strike="noStrike" cap="none" spc="-1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the</a:t>
                      </a:r>
                      <a:r>
                        <a:rPr kumimoji="0" lang="en-US" altLang="en-US" sz="2000" b="0" i="0" u="none" strike="noStrike" cap="none" spc="-1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</a:t>
                      </a:r>
                      <a:r>
                        <a:rPr kumimoji="0" lang="en-US" altLang="en-US" sz="2400" b="0" i="0" u="none" strike="noStrike" cap="none" spc="-1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first operand by</a:t>
                      </a:r>
                      <a:r>
                        <a:rPr kumimoji="0" lang="en-US" altLang="en-US" sz="2000" b="0" i="0" u="none" strike="noStrike" cap="none" spc="-1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</a:t>
                      </a:r>
                      <a:r>
                        <a:rPr kumimoji="0" lang="en-US" altLang="en-US" sz="2400" b="0" i="0" u="none" strike="noStrike" cap="none" spc="-1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the</a:t>
                      </a:r>
                      <a:r>
                        <a:rPr kumimoji="0" lang="en-US" altLang="en-US" sz="2000" b="0" i="0" u="none" strike="noStrike" cap="none" spc="-1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</a:t>
                      </a:r>
                      <a:r>
                        <a:rPr kumimoji="0" lang="en-US" altLang="en-US" sz="2400" b="0" i="0" u="none" strike="noStrike" cap="none" spc="-1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second on</a:t>
                      </a:r>
                      <a:r>
                        <a:rPr kumimoji="0" lang="en-US" altLang="en-US" sz="2400" b="0" i="0" u="none" strike="noStrike" cap="none" spc="-21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e</a:t>
                      </a:r>
                      <a:r>
                        <a:rPr kumimoji="0" lang="en-US" altLang="en-US" sz="2400" b="0" i="0" u="none" strike="noStrike" cap="none" spc="-1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,</a:t>
                      </a:r>
                      <a:r>
                        <a:rPr kumimoji="0" lang="en-US" altLang="en-US" sz="2000" b="0" i="0" u="none" strike="noStrike" cap="none" spc="-1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</a:t>
                      </a:r>
                      <a:r>
                        <a:rPr kumimoji="0" lang="en-US" altLang="en-US" sz="2400" b="0" i="0" u="none" strike="noStrike" cap="none" spc="-1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with </a:t>
                      </a: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the result being a float (or, possibly, complex)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 marL="182563"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182563" marR="0" lvl="0" indent="0" algn="ctr" defTabSz="914400" rtl="0" eaLnBrk="1" fontAlgn="t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2400" b="0" i="0" u="none" strike="noStrike" kern="1200" cap="none" spc="-3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10</a:t>
                      </a:r>
                      <a:r>
                        <a:rPr kumimoji="0" lang="en-US" altLang="en-US" sz="1800" b="0" i="0" u="none" strike="noStrike" kern="1200" cap="none" spc="-3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</a:t>
                      </a:r>
                      <a:r>
                        <a:rPr kumimoji="0" lang="en-US" altLang="en-US" sz="2400" b="0" i="0" u="none" strike="noStrike" kern="1200" cap="none" spc="-3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/</a:t>
                      </a:r>
                      <a:r>
                        <a:rPr kumimoji="0" lang="en-US" altLang="en-US" sz="1800" b="0" i="0" u="none" strike="noStrike" kern="1200" cap="none" spc="-3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</a:t>
                      </a:r>
                      <a:r>
                        <a:rPr kumimoji="0" lang="en-US" altLang="en-US" sz="2400" b="0" i="0" u="none" strike="noStrike" kern="1200" cap="none" spc="-3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20</a:t>
                      </a:r>
                      <a:r>
                        <a:rPr kumimoji="0" lang="en-US" altLang="en-US" sz="1800" b="0" i="0" u="none" strike="noStrike" kern="1200" cap="none" spc="-3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</a:t>
                      </a:r>
                      <a:r>
                        <a:rPr kumimoji="0" lang="en-US" altLang="en-US" sz="2400" b="0" i="0" u="none" strike="noStrike" kern="1200" cap="none" spc="-3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/>
                          <a:ea typeface="Lucida Sans Unicode" panose="020B0602030504020204" pitchFamily="34" charset="0"/>
                          <a:cs typeface="Times New Roman"/>
                        </a:rPr>
                        <a:t>⇒</a:t>
                      </a:r>
                      <a:r>
                        <a:rPr kumimoji="0" lang="en-US" altLang="en-US" sz="1800" b="0" i="0" u="none" strike="noStrike" kern="1200" cap="none" spc="-3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</a:t>
                      </a:r>
                      <a:r>
                        <a:rPr kumimoji="0" lang="en-US" altLang="en-US" sz="2400" b="0" i="0" u="none" strike="noStrike" kern="1200" cap="none" spc="-3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0.</a:t>
                      </a:r>
                      <a:r>
                        <a:rPr kumimoji="0" lang="en-US" altLang="en-US" sz="2400" b="0" i="0" u="none" strike="noStrike" kern="1200" cap="none" spc="-3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5</a:t>
                      </a:r>
                      <a:endParaRPr kumimoji="0" lang="en-US" altLang="en-US" sz="24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64008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%</a:t>
                      </a: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modulus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Yields the remainder resulting from dividing the first </a:t>
                      </a: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operand by </a:t>
                      </a: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the second one</a:t>
                      </a: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+mn-lt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 marL="182563"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182563" marR="0" lvl="0" indent="0" algn="ctr" defTabSz="914400" rtl="0" eaLnBrk="1" fontAlgn="t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2400" b="0" i="0" u="none" strike="noStrike" kern="1200" cap="none" spc="-30" normalizeH="0" baseline="0" noProof="0" dirty="0" smtClean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uLnTx/>
                          <a:uFillTx/>
                          <a:latin typeface="Calibri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10</a:t>
                      </a:r>
                      <a:r>
                        <a:rPr kumimoji="0" lang="en-US" altLang="en-US" sz="1800" b="0" i="0" u="none" strike="noStrike" kern="1200" cap="none" spc="-30" normalizeH="0" baseline="0" noProof="0" dirty="0" smtClean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uLnTx/>
                          <a:uFillTx/>
                          <a:latin typeface="Calibri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</a:t>
                      </a:r>
                      <a:r>
                        <a:rPr kumimoji="0" lang="en-US" altLang="en-US" sz="2400" b="0" i="0" u="none" strike="noStrike" kern="1200" cap="none" spc="-30" normalizeH="0" baseline="0" noProof="0" dirty="0" smtClean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uLnTx/>
                          <a:uFillTx/>
                          <a:latin typeface="Calibri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%</a:t>
                      </a:r>
                      <a:r>
                        <a:rPr kumimoji="0" lang="en-US" altLang="en-US" sz="1800" b="0" i="0" u="none" strike="noStrike" kern="1200" cap="none" spc="-30" normalizeH="0" baseline="0" noProof="0" dirty="0" smtClean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uLnTx/>
                          <a:uFillTx/>
                          <a:latin typeface="Calibri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</a:t>
                      </a:r>
                      <a:r>
                        <a:rPr kumimoji="0" lang="en-US" altLang="en-US" sz="2400" b="0" i="0" u="none" strike="noStrike" kern="1200" cap="none" spc="-30" normalizeH="0" baseline="0" noProof="0" dirty="0" smtClean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uLnTx/>
                          <a:uFillTx/>
                          <a:latin typeface="Calibri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20</a:t>
                      </a:r>
                      <a:r>
                        <a:rPr kumimoji="0" lang="en-US" altLang="en-US" sz="1800" b="0" i="0" u="none" strike="noStrike" kern="1200" cap="none" spc="-30" normalizeH="0" baseline="0" noProof="0" dirty="0" smtClean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uLnTx/>
                          <a:uFillTx/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</a:t>
                      </a:r>
                      <a:r>
                        <a:rPr kumimoji="0" lang="en-US" altLang="en-US" sz="2400" b="0" i="0" u="none" strike="noStrike" kern="1200" cap="none" spc="-30" normalizeH="0" baseline="0" noProof="0" dirty="0" smtClean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uLnTx/>
                          <a:uFillTx/>
                          <a:latin typeface="Times New Roman"/>
                          <a:ea typeface="Lucida Sans Unicode" panose="020B0602030504020204" pitchFamily="34" charset="0"/>
                          <a:cs typeface="Times New Roman"/>
                        </a:rPr>
                        <a:t>⇒</a:t>
                      </a:r>
                      <a:r>
                        <a:rPr kumimoji="0" lang="en-US" altLang="en-US" sz="1800" b="0" i="0" u="none" strike="noStrike" kern="1200" cap="none" spc="-30" normalizeH="0" baseline="0" noProof="0" dirty="0" smtClean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uLnTx/>
                          <a:uFillTx/>
                          <a:latin typeface="Calibri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</a:t>
                      </a:r>
                      <a:r>
                        <a:rPr kumimoji="0" lang="en-US" altLang="en-US" sz="2400" b="0" i="0" u="none" strike="noStrike" kern="1200" cap="none" spc="-30" normalizeH="0" baseline="0" noProof="0" dirty="0" smtClean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uLnTx/>
                          <a:uFillTx/>
                          <a:latin typeface="Calibri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10</a:t>
                      </a:r>
                      <a:endParaRPr kumimoji="0" lang="en-US" altLang="en-US" sz="24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uLnTx/>
                        <a:uFillTx/>
                        <a:latin typeface="Calibri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64008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7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2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24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**</a:t>
                      </a: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4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2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exponent</a:t>
                      </a:r>
                      <a:endParaRPr kumimoji="0" lang="en-US" alt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Raises the first operand to the power of the second one</a:t>
                      </a: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 marL="182563"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182563" marR="0" lvl="0" indent="0" algn="ctr" defTabSz="914400" rtl="0" eaLnBrk="1" fontAlgn="t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2400" b="0" i="0" u="none" strike="noStrike" kern="1200" cap="none" spc="-3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9**.5</a:t>
                      </a:r>
                      <a:r>
                        <a:rPr kumimoji="0" lang="en-US" altLang="en-US" sz="1800" b="0" i="0" u="none" strike="noStrike" kern="1200" cap="none" spc="-3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</a:t>
                      </a:r>
                      <a:r>
                        <a:rPr kumimoji="0" lang="en-US" altLang="en-US" sz="2400" b="0" i="0" u="none" strike="noStrike" kern="1200" cap="none" spc="-3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/>
                          <a:ea typeface="Lucida Sans Unicode" panose="020B0602030504020204" pitchFamily="34" charset="0"/>
                          <a:cs typeface="Times New Roman"/>
                        </a:rPr>
                        <a:t>⇒</a:t>
                      </a:r>
                      <a:r>
                        <a:rPr kumimoji="0" lang="en-US" altLang="en-US" sz="1800" b="0" i="0" u="none" strike="noStrike" kern="1200" cap="none" spc="-3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</a:t>
                      </a:r>
                      <a:r>
                        <a:rPr kumimoji="0" lang="en-US" altLang="en-US" sz="2400" b="0" i="0" u="none" strike="noStrike" kern="1200" cap="none" spc="-3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3.0</a:t>
                      </a:r>
                      <a:endParaRPr kumimoji="0" lang="en-US" altLang="en-US" sz="24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64008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//</a:t>
                      </a: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floor divide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Yields the whole-number portion of the result of dividing the first operand by the second one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 marL="182563"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182563" marR="0" lvl="0" indent="0" algn="ctr" defTabSz="914400" rtl="0" eaLnBrk="1" fontAlgn="t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2400" b="0" i="0" u="none" strike="noStrike" kern="1200" cap="none" spc="-3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9//2</a:t>
                      </a:r>
                      <a:r>
                        <a:rPr kumimoji="0" lang="en-US" altLang="en-US" sz="1800" b="0" i="0" u="none" strike="noStrike" kern="1200" cap="none" spc="-3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</a:t>
                      </a:r>
                      <a:r>
                        <a:rPr kumimoji="0" lang="en-US" altLang="en-US" sz="2400" b="0" i="0" u="none" strike="noStrike" kern="1200" cap="none" spc="-3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/>
                          <a:ea typeface="Lucida Sans Unicode" panose="020B0602030504020204" pitchFamily="34" charset="0"/>
                          <a:cs typeface="Times New Roman"/>
                        </a:rPr>
                        <a:t>⇒</a:t>
                      </a:r>
                      <a:r>
                        <a:rPr kumimoji="0" lang="en-US" altLang="en-US" sz="1800" b="0" i="0" u="none" strike="noStrike" kern="1200" cap="none" spc="-3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</a:t>
                      </a:r>
                      <a:r>
                        <a:rPr kumimoji="0" lang="en-US" altLang="en-US" sz="2400" b="0" i="0" u="none" strike="noStrike" kern="1200" cap="none" spc="-3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4</a:t>
                      </a:r>
                    </a:p>
                    <a:p>
                      <a:pPr marL="182563" marR="0" lvl="0" indent="0" algn="ctr" defTabSz="914400" rtl="0" eaLnBrk="1" fontAlgn="t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2400" b="0" i="0" u="none" strike="noStrike" kern="1200" cap="none" spc="-3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9.0//2.0</a:t>
                      </a:r>
                      <a:r>
                        <a:rPr kumimoji="0" lang="en-US" altLang="en-US" sz="1200" b="0" i="0" u="none" strike="noStrike" kern="1200" cap="none" spc="-3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</a:t>
                      </a:r>
                      <a:r>
                        <a:rPr kumimoji="0" lang="en-US" altLang="en-US" sz="2400" b="0" i="0" u="none" strike="noStrike" kern="1200" cap="none" spc="-3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/>
                          <a:ea typeface="Lucida Sans Unicode" panose="020B0602030504020204" pitchFamily="34" charset="0"/>
                          <a:cs typeface="Times New Roman"/>
                        </a:rPr>
                        <a:t>⇒</a:t>
                      </a:r>
                      <a:r>
                        <a:rPr kumimoji="0" lang="en-US" altLang="en-US" sz="1200" b="0" i="0" u="none" strike="noStrike" kern="1200" cap="none" spc="-3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</a:t>
                      </a:r>
                      <a:r>
                        <a:rPr kumimoji="0" lang="en-US" altLang="en-US" sz="2400" b="0" i="0" u="none" strike="noStrike" kern="1200" cap="none" spc="-3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4.0</a:t>
                      </a:r>
                      <a:endParaRPr kumimoji="0" lang="en-US" altLang="en-US" sz="24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</a:tbl>
          </a:graphicData>
        </a:graphic>
      </p:graphicFrame>
      <p:sp>
        <p:nvSpPr>
          <p:cNvPr id="6" name="Rounded Rectangular Callout 5"/>
          <p:cNvSpPr/>
          <p:nvPr/>
        </p:nvSpPr>
        <p:spPr>
          <a:xfrm>
            <a:off x="5482723" y="2283938"/>
            <a:ext cx="3039771" cy="840262"/>
          </a:xfrm>
          <a:prstGeom prst="wedgeRoundRectCallout">
            <a:avLst>
              <a:gd name="adj1" fmla="val 39205"/>
              <a:gd name="adj2" fmla="val 123233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Present in C++, but behaves differently</a:t>
            </a:r>
          </a:p>
        </p:txBody>
      </p:sp>
      <p:sp>
        <p:nvSpPr>
          <p:cNvPr id="7" name="Rounded Rectangular Callout 6"/>
          <p:cNvSpPr/>
          <p:nvPr/>
        </p:nvSpPr>
        <p:spPr>
          <a:xfrm>
            <a:off x="1164778" y="6156962"/>
            <a:ext cx="1890585" cy="413952"/>
          </a:xfrm>
          <a:prstGeom prst="wedgeRoundRectCallout">
            <a:avLst>
              <a:gd name="adj1" fmla="val -55719"/>
              <a:gd name="adj2" fmla="val -160571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Not in C++</a:t>
            </a:r>
          </a:p>
        </p:txBody>
      </p:sp>
      <p:sp>
        <p:nvSpPr>
          <p:cNvPr id="8" name="Rounded Rectangular Callout 7"/>
          <p:cNvSpPr/>
          <p:nvPr/>
        </p:nvSpPr>
        <p:spPr>
          <a:xfrm>
            <a:off x="1159098" y="4038600"/>
            <a:ext cx="1890585" cy="413952"/>
          </a:xfrm>
          <a:prstGeom prst="wedgeRoundRectCallout">
            <a:avLst>
              <a:gd name="adj1" fmla="val -54994"/>
              <a:gd name="adj2" fmla="val 155176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Not in C++</a:t>
            </a:r>
          </a:p>
        </p:txBody>
      </p:sp>
    </p:spTree>
    <p:extLst>
      <p:ext uri="{BB962C8B-B14F-4D97-AF65-F5344CB8AC3E}">
        <p14:creationId xmlns:p14="http://schemas.microsoft.com/office/powerpoint/2010/main" val="23342717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1" y="1"/>
            <a:ext cx="9729787" cy="116114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solidFill>
                  <a:srgbClr val="0070C0"/>
                </a:solidFill>
              </a:rPr>
              <a:t>Python Arithmetic Operators: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/>
          </p:nvPr>
        </p:nvGraphicFramePr>
        <p:xfrm>
          <a:off x="239049" y="1179545"/>
          <a:ext cx="9248504" cy="4918337"/>
        </p:xfrm>
        <a:graphic>
          <a:graphicData uri="http://schemas.openxmlformats.org/drawingml/2006/table">
            <a:tbl>
              <a:tblPr/>
              <a:tblGrid>
                <a:gridCol w="142544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9436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879459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43777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Operator</a:t>
                      </a: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Description</a:t>
                      </a: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Example</a:t>
                      </a: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64008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==</a:t>
                      </a:r>
                    </a:p>
                  </a:txBody>
                  <a:tcPr marL="9525" marR="9525" marT="9144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Yields True if the value of two operands are equal</a:t>
                      </a:r>
                    </a:p>
                  </a:txBody>
                  <a:tcPr marL="9525" marR="9525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 marL="182563"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182563" marR="0" lvl="0" indent="0" algn="ctr" defTabSz="914400" rtl="0" eaLnBrk="1" fontAlgn="t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spc="-100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(10 </a:t>
                      </a:r>
                      <a:r>
                        <a:rPr kumimoji="0" lang="en-US" altLang="en-US" sz="2400" b="0" i="0" u="none" strike="noStrike" cap="none" spc="-100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== </a:t>
                      </a:r>
                      <a:r>
                        <a:rPr kumimoji="0" lang="en-US" altLang="en-US" sz="2400" b="0" i="0" u="none" strike="noStrike" cap="none" spc="-100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20) </a:t>
                      </a:r>
                      <a:r>
                        <a:rPr kumimoji="0" lang="en-US" altLang="en-US" sz="2400" b="0" i="0" u="none" strike="noStrike" kern="1200" cap="none" spc="-30" normalizeH="0" baseline="0" noProof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uLnTx/>
                          <a:uFillTx/>
                          <a:latin typeface="+mn-lt"/>
                          <a:ea typeface="Lucida Sans Unicode" panose="020B0602030504020204" pitchFamily="34" charset="0"/>
                          <a:cs typeface="Times New Roman"/>
                        </a:rPr>
                        <a:t>⇒</a:t>
                      </a:r>
                      <a:r>
                        <a:rPr kumimoji="0" lang="en-US" alt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</a:t>
                      </a: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False</a:t>
                      </a: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+mn-lt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64008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!=</a:t>
                      </a:r>
                    </a:p>
                  </a:txBody>
                  <a:tcPr marL="9525" marR="9525" marT="9144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Yields True if the value of two operands are </a:t>
                      </a:r>
                      <a:b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</a:b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not equal</a:t>
                      </a:r>
                    </a:p>
                  </a:txBody>
                  <a:tcPr marL="9525" marR="9525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 marL="182563"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182563" marR="0" lvl="0" indent="0" algn="ctr" defTabSz="914400" rtl="0" eaLnBrk="1" fontAlgn="t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(10 != 20) </a:t>
                      </a:r>
                      <a:r>
                        <a:rPr kumimoji="0" lang="en-US" altLang="en-US" sz="2400" b="0" i="0" u="none" strike="noStrike" kern="1200" cap="none" spc="-30" normalizeH="0" baseline="0" noProof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uLnTx/>
                          <a:uFillTx/>
                          <a:latin typeface="+mn-lt"/>
                          <a:ea typeface="Lucida Sans Unicode" panose="020B0602030504020204" pitchFamily="34" charset="0"/>
                          <a:cs typeface="Times New Roman"/>
                        </a:rPr>
                        <a:t>⇒</a:t>
                      </a:r>
                      <a:r>
                        <a:rPr kumimoji="0" lang="en-US" alt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</a:t>
                      </a: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True</a:t>
                      </a: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+mn-lt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64008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E7F3F4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.</a:t>
                      </a:r>
                      <a:r>
                        <a:rPr kumimoji="0" lang="en-US" altLang="en-US" sz="2400" b="0" i="0" u="none" strike="sng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&lt;&gt; </a:t>
                      </a: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E7F3F4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.</a:t>
                      </a:r>
                      <a:b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E7F3F4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</a:br>
                      <a:r>
                        <a:rPr kumimoji="0" lang="en-US" altLang="en-US" sz="2400" b="0" i="0" u="none" strike="noStrike" cap="none" spc="-100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+mn-lt"/>
                          <a:ea typeface="Verdana" panose="020B0604030504040204" pitchFamily="34" charset="0"/>
                          <a:cs typeface="Lucida Sans Unicode" panose="020B0602030504020204" pitchFamily="34" charset="0"/>
                        </a:rPr>
                        <a:t>(</a:t>
                      </a:r>
                      <a:r>
                        <a:rPr kumimoji="0" lang="en-US" altLang="en-US" sz="2400" b="0" i="0" u="none" strike="noStrike" cap="none" spc="0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+mn-lt"/>
                          <a:ea typeface="Verdana" panose="020B0604030504040204" pitchFamily="34" charset="0"/>
                          <a:cs typeface="Lucida Sans Unicode" panose="020B0602030504020204" pitchFamily="34" charset="0"/>
                        </a:rPr>
                        <a:t>Python</a:t>
                      </a:r>
                      <a:r>
                        <a:rPr kumimoji="0" lang="en-US" altLang="en-US" sz="2400" b="0" i="0" u="none" strike="noStrike" cap="none" spc="-100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+mn-lt"/>
                          <a:ea typeface="Verdana" panose="020B0604030504040204" pitchFamily="34" charset="0"/>
                          <a:cs typeface="Lucida Sans Unicode" panose="020B0602030504020204" pitchFamily="34" charset="0"/>
                        </a:rPr>
                        <a:t>2)</a:t>
                      </a:r>
                    </a:p>
                  </a:txBody>
                  <a:tcPr marL="9525" marR="9525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sngStrike" cap="none" normalizeH="0" baseline="0" dirty="0" smtClean="0">
                          <a:ln>
                            <a:noFill/>
                          </a:ln>
                          <a:solidFill>
                            <a:srgbClr val="BFBFBF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Yields True if the value of two operands are </a:t>
                      </a:r>
                      <a:br>
                        <a:rPr kumimoji="0" lang="en-US" altLang="en-US" sz="2400" b="0" i="0" u="none" strike="sngStrike" cap="none" normalizeH="0" baseline="0" dirty="0" smtClean="0">
                          <a:ln>
                            <a:noFill/>
                          </a:ln>
                          <a:solidFill>
                            <a:srgbClr val="BFBFBF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</a:br>
                      <a:r>
                        <a:rPr kumimoji="0" lang="en-US" altLang="en-US" sz="2400" b="0" i="0" u="none" strike="sngStrike" cap="none" normalizeH="0" baseline="0" dirty="0" smtClean="0">
                          <a:ln>
                            <a:noFill/>
                          </a:ln>
                          <a:solidFill>
                            <a:srgbClr val="BFBFBF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not equal</a:t>
                      </a:r>
                    </a:p>
                  </a:txBody>
                  <a:tcPr marL="9525" marR="9525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 marL="182563"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182563" marR="0" lvl="0" indent="0" algn="ctr" defTabSz="914400" rtl="0" eaLnBrk="1" fontAlgn="t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sngStrike" cap="none" spc="-100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(10 </a:t>
                      </a:r>
                      <a:r>
                        <a:rPr kumimoji="0" lang="en-US" altLang="en-US" sz="2400" b="0" i="0" u="none" strike="sngStrike" cap="none" spc="-100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&lt;&gt; </a:t>
                      </a:r>
                      <a:r>
                        <a:rPr kumimoji="0" lang="en-US" altLang="en-US" sz="2400" b="0" i="0" u="none" strike="sngStrike" cap="none" spc="-100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20) </a:t>
                      </a:r>
                      <a:r>
                        <a:rPr kumimoji="0" lang="en-US" altLang="en-US" sz="2400" b="0" i="0" u="none" strike="sng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⇒</a:t>
                      </a:r>
                      <a:r>
                        <a:rPr kumimoji="0" lang="en-US" altLang="en-US" sz="2400" b="0" i="0" u="none" strike="sngStrike" kern="1200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</a:t>
                      </a:r>
                      <a:r>
                        <a:rPr kumimoji="0" lang="en-US" altLang="en-US" sz="2400" b="0" i="0" u="none" strike="sng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True</a:t>
                      </a:r>
                    </a:p>
                  </a:txBody>
                  <a:tcPr marL="8287" marR="8287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64008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&gt;</a:t>
                      </a:r>
                    </a:p>
                  </a:txBody>
                  <a:tcPr marL="9525" marR="9525" marT="9144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spc="-2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Yields True if the left operand’s value is </a:t>
                      </a: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greater than the right operand’s value</a:t>
                      </a:r>
                    </a:p>
                  </a:txBody>
                  <a:tcPr marL="9525" marR="9525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 marL="182563"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182563" marR="0" lvl="0" indent="0" algn="ctr" defTabSz="914400" rtl="0" eaLnBrk="1" fontAlgn="t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(10 </a:t>
                      </a: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&gt; </a:t>
                      </a: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20) </a:t>
                      </a:r>
                      <a:r>
                        <a:rPr kumimoji="0" lang="en-US" altLang="en-US" sz="2400" b="0" i="0" u="none" strike="noStrike" kern="1200" cap="none" spc="-30" normalizeH="0" baseline="0" noProof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uLnTx/>
                          <a:uFillTx/>
                          <a:latin typeface="+mn-lt"/>
                          <a:ea typeface="Lucida Sans Unicode" panose="020B0602030504020204" pitchFamily="34" charset="0"/>
                          <a:cs typeface="Times New Roman"/>
                        </a:rPr>
                        <a:t>⇒</a:t>
                      </a: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 False</a:t>
                      </a: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+mn-lt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64008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&lt;</a:t>
                      </a:r>
                    </a:p>
                  </a:txBody>
                  <a:tcPr marL="9525" marR="9525" marT="9144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Yields True if the left operand’s value is less than the right operand’s value</a:t>
                      </a:r>
                    </a:p>
                  </a:txBody>
                  <a:tcPr marL="9525" marR="9525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 marL="182563"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182563" marR="0" lvl="0" indent="0" algn="ctr" defTabSz="914400" rtl="0" eaLnBrk="1" fontAlgn="t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(10 </a:t>
                      </a: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&lt; </a:t>
                      </a: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20) ⇒</a:t>
                      </a: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Times New Roman"/>
                        </a:rPr>
                        <a:t> </a:t>
                      </a: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True</a:t>
                      </a: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+mn-lt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64008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&gt;=</a:t>
                      </a:r>
                    </a:p>
                  </a:txBody>
                  <a:tcPr marL="9525" marR="9525" marT="9144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Yields True if the left operand’s value is </a:t>
                      </a: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  <a:sym typeface="Symbol" panose="05050102010706020507" pitchFamily="18" charset="2"/>
                        </a:rPr>
                        <a:t> </a:t>
                      </a: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the right operand’s value</a:t>
                      </a:r>
                    </a:p>
                  </a:txBody>
                  <a:tcPr marL="9525" marR="9525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 marL="182563"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182563" marR="0" lvl="0" indent="0" algn="ctr" defTabSz="914400" rtl="0" eaLnBrk="1" fontAlgn="t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spc="-100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(10 </a:t>
                      </a:r>
                      <a:r>
                        <a:rPr kumimoji="0" lang="en-US" altLang="en-US" sz="2400" b="0" i="0" u="none" strike="noStrike" cap="none" spc="-100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&gt;= </a:t>
                      </a:r>
                      <a:r>
                        <a:rPr kumimoji="0" lang="en-US" altLang="en-US" sz="2400" b="0" i="0" u="none" strike="noStrike" cap="none" spc="-100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20) </a:t>
                      </a:r>
                      <a:r>
                        <a:rPr kumimoji="0" lang="en-US" altLang="en-US" sz="2400" b="0" i="0" u="none" strike="noStrike" kern="1200" cap="none" spc="-30" normalizeH="0" baseline="0" noProof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uLnTx/>
                          <a:uFillTx/>
                          <a:latin typeface="+mn-lt"/>
                          <a:ea typeface="Lucida Sans Unicode" panose="020B0602030504020204" pitchFamily="34" charset="0"/>
                          <a:cs typeface="Times New Roman"/>
                        </a:rPr>
                        <a:t>⇒</a:t>
                      </a: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False</a:t>
                      </a: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+mn-lt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64008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&lt;=</a:t>
                      </a:r>
                    </a:p>
                  </a:txBody>
                  <a:tcPr marL="9525" marR="9525" marT="9144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Yields True if the left operand’s value is </a:t>
                      </a: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  <a:sym typeface="Symbol" panose="05050102010706020507" pitchFamily="18" charset="2"/>
                        </a:rPr>
                        <a:t> </a:t>
                      </a: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the right operand’s value</a:t>
                      </a:r>
                    </a:p>
                  </a:txBody>
                  <a:tcPr marL="9525" marR="9525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 marL="182563"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182563" marR="0" lvl="0" indent="0" algn="ctr" defTabSz="914400" rtl="0" eaLnBrk="1" fontAlgn="t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spc="-100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(10 </a:t>
                      </a:r>
                      <a:r>
                        <a:rPr kumimoji="0" lang="en-US" altLang="en-US" sz="2400" b="0" i="0" u="none" strike="noStrike" cap="none" spc="-100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&lt;= </a:t>
                      </a:r>
                      <a:r>
                        <a:rPr kumimoji="0" lang="en-US" altLang="en-US" sz="2400" b="0" i="0" u="none" strike="noStrike" cap="none" spc="-100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20)</a:t>
                      </a: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</a:t>
                      </a:r>
                      <a:r>
                        <a:rPr kumimoji="0" lang="en-US" altLang="en-US" sz="2400" b="0" i="0" u="none" strike="noStrike" kern="1200" cap="none" spc="-30" normalizeH="0" baseline="0" noProof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uLnTx/>
                          <a:uFillTx/>
                          <a:latin typeface="+mn-lt"/>
                          <a:ea typeface="Lucida Sans Unicode" panose="020B0602030504020204" pitchFamily="34" charset="0"/>
                          <a:cs typeface="Times New Roman"/>
                        </a:rPr>
                        <a:t>⇒</a:t>
                      </a: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Times New Roman"/>
                        </a:rPr>
                        <a:t>  </a:t>
                      </a: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True</a:t>
                      </a: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+mn-lt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</a:tbl>
          </a:graphicData>
        </a:graphic>
      </p:graphicFrame>
      <p:sp>
        <p:nvSpPr>
          <p:cNvPr id="6" name="Rounded Rectangular Callout 5"/>
          <p:cNvSpPr/>
          <p:nvPr/>
        </p:nvSpPr>
        <p:spPr>
          <a:xfrm>
            <a:off x="978694" y="1295400"/>
            <a:ext cx="3363218" cy="968739"/>
          </a:xfrm>
          <a:prstGeom prst="wedgeRoundRectCallout">
            <a:avLst>
              <a:gd name="adj1" fmla="val -45770"/>
              <a:gd name="adj2" fmla="val 123433"/>
              <a:gd name="adj3" fmla="val 16667"/>
            </a:avLst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36" strike="sngStrike" dirty="0" smtClean="0">
                <a:solidFill>
                  <a:prstClr val="black"/>
                </a:solidFill>
              </a:rPr>
              <a:t>strikethrough</a:t>
            </a:r>
            <a:r>
              <a:rPr lang="en-US" altLang="zh-TW" sz="2436" dirty="0" smtClean="0">
                <a:solidFill>
                  <a:prstClr val="black"/>
                </a:solidFill>
              </a:rPr>
              <a:t> indicates a Python </a:t>
            </a:r>
            <a:r>
              <a:rPr lang="en-US" altLang="zh-TW" sz="2436" dirty="0">
                <a:solidFill>
                  <a:prstClr val="black"/>
                </a:solidFill>
              </a:rPr>
              <a:t>2.x-only </a:t>
            </a:r>
            <a:r>
              <a:rPr lang="en-US" altLang="zh-TW" sz="2436" dirty="0" smtClean="0">
                <a:solidFill>
                  <a:prstClr val="black"/>
                </a:solidFill>
              </a:rPr>
              <a:t>topic.</a:t>
            </a:r>
            <a:endParaRPr lang="zh-TW" altLang="en-US" sz="2436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5422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1" y="1"/>
            <a:ext cx="9729787" cy="116114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solidFill>
                  <a:srgbClr val="0070C0"/>
                </a:solidFill>
              </a:rPr>
              <a:t>Python Arithmetic Operators: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08782977"/>
              </p:ext>
            </p:extLst>
          </p:nvPr>
        </p:nvGraphicFramePr>
        <p:xfrm>
          <a:off x="239049" y="1179545"/>
          <a:ext cx="9248504" cy="4278257"/>
        </p:xfrm>
        <a:graphic>
          <a:graphicData uri="http://schemas.openxmlformats.org/drawingml/2006/table">
            <a:tbl>
              <a:tblPr/>
              <a:tblGrid>
                <a:gridCol w="142544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9436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879459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43777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Operator</a:t>
                      </a: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Description</a:t>
                      </a: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Example</a:t>
                      </a: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64008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==</a:t>
                      </a:r>
                    </a:p>
                  </a:txBody>
                  <a:tcPr marL="9525" marR="9525" marT="9144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Yields True if the value of two operands are equal</a:t>
                      </a:r>
                    </a:p>
                  </a:txBody>
                  <a:tcPr marL="9525" marR="9525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 marL="182563"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182563" marR="0" lvl="0" indent="0" algn="ctr" defTabSz="914400" rtl="0" eaLnBrk="1" fontAlgn="t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spc="-100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(10 </a:t>
                      </a:r>
                      <a:r>
                        <a:rPr kumimoji="0" lang="en-US" altLang="en-US" sz="2400" b="0" i="0" u="none" strike="noStrike" cap="none" spc="-100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== </a:t>
                      </a:r>
                      <a:r>
                        <a:rPr kumimoji="0" lang="en-US" altLang="en-US" sz="2400" b="0" i="0" u="none" strike="noStrike" cap="none" spc="-100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20) </a:t>
                      </a:r>
                      <a:r>
                        <a:rPr kumimoji="0" lang="en-US" altLang="en-US" sz="2400" b="0" i="0" u="none" strike="noStrike" kern="1200" cap="none" spc="-30" normalizeH="0" baseline="0" noProof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uLnTx/>
                          <a:uFillTx/>
                          <a:latin typeface="+mn-lt"/>
                          <a:ea typeface="Lucida Sans Unicode" panose="020B0602030504020204" pitchFamily="34" charset="0"/>
                          <a:cs typeface="Times New Roman"/>
                        </a:rPr>
                        <a:t>⇒</a:t>
                      </a:r>
                      <a:r>
                        <a:rPr kumimoji="0" lang="en-US" alt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</a:t>
                      </a: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False</a:t>
                      </a: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+mn-lt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64008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!=</a:t>
                      </a:r>
                    </a:p>
                  </a:txBody>
                  <a:tcPr marL="9525" marR="9525" marT="9144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Yields True if the value of two operands are </a:t>
                      </a:r>
                      <a:b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</a:b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not equal</a:t>
                      </a:r>
                    </a:p>
                  </a:txBody>
                  <a:tcPr marL="9525" marR="9525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 marL="182563"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182563" marR="0" lvl="0" indent="0" algn="ctr" defTabSz="914400" rtl="0" eaLnBrk="1" fontAlgn="t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(10 != 20) </a:t>
                      </a:r>
                      <a:r>
                        <a:rPr kumimoji="0" lang="en-US" altLang="en-US" sz="2400" b="0" i="0" u="none" strike="noStrike" kern="1200" cap="none" spc="-30" normalizeH="0" baseline="0" noProof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uLnTx/>
                          <a:uFillTx/>
                          <a:latin typeface="+mn-lt"/>
                          <a:ea typeface="Lucida Sans Unicode" panose="020B0602030504020204" pitchFamily="34" charset="0"/>
                          <a:cs typeface="Times New Roman"/>
                        </a:rPr>
                        <a:t>⇒</a:t>
                      </a:r>
                      <a:r>
                        <a:rPr kumimoji="0" lang="en-US" alt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</a:t>
                      </a: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True</a:t>
                      </a: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+mn-lt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64008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&gt;</a:t>
                      </a:r>
                    </a:p>
                  </a:txBody>
                  <a:tcPr marL="9525" marR="9525" marT="9144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spc="-2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Yields True if the left operand’s value is </a:t>
                      </a: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greater than the right operand’s value</a:t>
                      </a:r>
                    </a:p>
                  </a:txBody>
                  <a:tcPr marL="9525" marR="9525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 marL="182563"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182563" marR="0" lvl="0" indent="0" algn="ctr" defTabSz="914400" rtl="0" eaLnBrk="1" fontAlgn="t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(10 </a:t>
                      </a: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&gt; </a:t>
                      </a: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20) </a:t>
                      </a:r>
                      <a:r>
                        <a:rPr kumimoji="0" lang="en-US" altLang="en-US" sz="2400" b="0" i="0" u="none" strike="noStrike" kern="1200" cap="none" spc="-30" normalizeH="0" baseline="0" noProof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uLnTx/>
                          <a:uFillTx/>
                          <a:latin typeface="+mn-lt"/>
                          <a:ea typeface="Lucida Sans Unicode" panose="020B0602030504020204" pitchFamily="34" charset="0"/>
                          <a:cs typeface="Times New Roman"/>
                        </a:rPr>
                        <a:t>⇒</a:t>
                      </a: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 False</a:t>
                      </a: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+mn-lt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64008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&lt;</a:t>
                      </a:r>
                    </a:p>
                  </a:txBody>
                  <a:tcPr marL="9525" marR="9525" marT="9144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Yields True if the left operand’s value is less than the right operand’s value</a:t>
                      </a:r>
                    </a:p>
                  </a:txBody>
                  <a:tcPr marL="9525" marR="9525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 marL="182563"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182563" marR="0" lvl="0" indent="0" algn="ctr" defTabSz="914400" rtl="0" eaLnBrk="1" fontAlgn="t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(10 </a:t>
                      </a: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&lt; </a:t>
                      </a: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20) ⇒</a:t>
                      </a: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Times New Roman"/>
                        </a:rPr>
                        <a:t> </a:t>
                      </a: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True</a:t>
                      </a: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+mn-lt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64008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&gt;=</a:t>
                      </a:r>
                    </a:p>
                  </a:txBody>
                  <a:tcPr marL="9525" marR="9525" marT="9144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Yields True if the left operand’s value is </a:t>
                      </a: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  <a:sym typeface="Symbol" panose="05050102010706020507" pitchFamily="18" charset="2"/>
                        </a:rPr>
                        <a:t> </a:t>
                      </a: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the right operand’s value</a:t>
                      </a:r>
                    </a:p>
                  </a:txBody>
                  <a:tcPr marL="9525" marR="9525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 marL="182563"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182563" marR="0" lvl="0" indent="0" algn="ctr" defTabSz="914400" rtl="0" eaLnBrk="1" fontAlgn="t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spc="-100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(10 </a:t>
                      </a:r>
                      <a:r>
                        <a:rPr kumimoji="0" lang="en-US" altLang="en-US" sz="2400" b="0" i="0" u="none" strike="noStrike" cap="none" spc="-100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&gt;= </a:t>
                      </a:r>
                      <a:r>
                        <a:rPr kumimoji="0" lang="en-US" altLang="en-US" sz="2400" b="0" i="0" u="none" strike="noStrike" cap="none" spc="-100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20) </a:t>
                      </a:r>
                      <a:r>
                        <a:rPr kumimoji="0" lang="en-US" altLang="en-US" sz="2400" b="0" i="0" u="none" strike="noStrike" kern="1200" cap="none" spc="-30" normalizeH="0" baseline="0" noProof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uLnTx/>
                          <a:uFillTx/>
                          <a:latin typeface="+mn-lt"/>
                          <a:ea typeface="Lucida Sans Unicode" panose="020B0602030504020204" pitchFamily="34" charset="0"/>
                          <a:cs typeface="Times New Roman"/>
                        </a:rPr>
                        <a:t>⇒</a:t>
                      </a: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False</a:t>
                      </a: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+mn-lt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64008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&lt;=</a:t>
                      </a:r>
                    </a:p>
                  </a:txBody>
                  <a:tcPr marL="9525" marR="9525" marT="9144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Yields True if the left operand’s value is </a:t>
                      </a: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  <a:sym typeface="Symbol" panose="05050102010706020507" pitchFamily="18" charset="2"/>
                        </a:rPr>
                        <a:t> </a:t>
                      </a: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the right operand’s value</a:t>
                      </a:r>
                    </a:p>
                  </a:txBody>
                  <a:tcPr marL="9525" marR="9525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 marL="182563"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182563" marR="0" lvl="0" indent="0" algn="ctr" defTabSz="914400" rtl="0" eaLnBrk="1" fontAlgn="t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spc="-100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(10 </a:t>
                      </a:r>
                      <a:r>
                        <a:rPr kumimoji="0" lang="en-US" altLang="en-US" sz="2400" b="0" i="0" u="none" strike="noStrike" cap="none" spc="-100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&lt;= </a:t>
                      </a:r>
                      <a:r>
                        <a:rPr kumimoji="0" lang="en-US" altLang="en-US" sz="2400" b="0" i="0" u="none" strike="noStrike" cap="none" spc="-100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20)</a:t>
                      </a: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</a:t>
                      </a:r>
                      <a:r>
                        <a:rPr kumimoji="0" lang="en-US" altLang="en-US" sz="2400" b="0" i="0" u="none" strike="noStrike" kern="1200" cap="none" spc="-30" normalizeH="0" baseline="0" noProof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uLnTx/>
                          <a:uFillTx/>
                          <a:latin typeface="+mn-lt"/>
                          <a:ea typeface="Lucida Sans Unicode" panose="020B0602030504020204" pitchFamily="34" charset="0"/>
                          <a:cs typeface="Times New Roman"/>
                        </a:rPr>
                        <a:t>⇒</a:t>
                      </a: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Times New Roman"/>
                        </a:rPr>
                        <a:t>  </a:t>
                      </a: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True</a:t>
                      </a: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+mn-lt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2959894" y="2565264"/>
            <a:ext cx="3838732" cy="167084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dirty="0">
                <a:solidFill>
                  <a:prstClr val="black"/>
                </a:solidFill>
              </a:rPr>
              <a:t>Conclusion: Python3’s comparison operators are the same as C++’s.</a:t>
            </a:r>
            <a:endParaRPr lang="zh-TW" altLang="en-US" sz="2800" dirty="0">
              <a:solidFill>
                <a:prstClr val="black"/>
              </a:solidFill>
            </a:endParaRPr>
          </a:p>
        </p:txBody>
      </p:sp>
      <p:sp>
        <p:nvSpPr>
          <p:cNvPr id="8" name="Rounded Rectangular Callout 7"/>
          <p:cNvSpPr/>
          <p:nvPr/>
        </p:nvSpPr>
        <p:spPr>
          <a:xfrm>
            <a:off x="978694" y="1295400"/>
            <a:ext cx="3363218" cy="968739"/>
          </a:xfrm>
          <a:prstGeom prst="wedgeRoundRectCallout">
            <a:avLst>
              <a:gd name="adj1" fmla="val -45770"/>
              <a:gd name="adj2" fmla="val 123433"/>
              <a:gd name="adj3" fmla="val 16667"/>
            </a:avLst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36" strike="sngStrike" dirty="0" smtClean="0">
                <a:solidFill>
                  <a:prstClr val="black"/>
                </a:solidFill>
              </a:rPr>
              <a:t>strikethrough</a:t>
            </a:r>
            <a:r>
              <a:rPr lang="en-US" altLang="zh-TW" sz="2436" dirty="0" smtClean="0">
                <a:solidFill>
                  <a:prstClr val="black"/>
                </a:solidFill>
              </a:rPr>
              <a:t> indicates a Python </a:t>
            </a:r>
            <a:r>
              <a:rPr lang="en-US" altLang="zh-TW" sz="2436" dirty="0">
                <a:solidFill>
                  <a:prstClr val="black"/>
                </a:solidFill>
              </a:rPr>
              <a:t>2.x-only </a:t>
            </a:r>
            <a:r>
              <a:rPr lang="en-US" altLang="zh-TW" sz="2436" dirty="0" smtClean="0">
                <a:solidFill>
                  <a:prstClr val="black"/>
                </a:solidFill>
              </a:rPr>
              <a:t>topic.</a:t>
            </a:r>
            <a:endParaRPr lang="zh-TW" altLang="en-US" sz="2436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2341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 tmFilter="0,0; .5, 1; 1, 1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1" y="1"/>
            <a:ext cx="9729787" cy="116114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solidFill>
                  <a:srgbClr val="0070C0"/>
                </a:solidFill>
              </a:rPr>
              <a:t>Python Arithmetic Operators: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31310363"/>
              </p:ext>
            </p:extLst>
          </p:nvPr>
        </p:nvGraphicFramePr>
        <p:xfrm>
          <a:off x="239049" y="1179545"/>
          <a:ext cx="9248504" cy="4278257"/>
        </p:xfrm>
        <a:graphic>
          <a:graphicData uri="http://schemas.openxmlformats.org/drawingml/2006/table">
            <a:tbl>
              <a:tblPr/>
              <a:tblGrid>
                <a:gridCol w="142544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9436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879459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43777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Operator</a:t>
                      </a: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Description</a:t>
                      </a: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Example</a:t>
                      </a: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64008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==</a:t>
                      </a:r>
                    </a:p>
                  </a:txBody>
                  <a:tcPr marL="9525" marR="9525" marT="9144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Yields True if the value of two operands are equal</a:t>
                      </a:r>
                    </a:p>
                  </a:txBody>
                  <a:tcPr marL="9525" marR="9525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 marL="182563"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182563" marR="0" lvl="0" indent="0" algn="ctr" defTabSz="914400" rtl="0" eaLnBrk="1" fontAlgn="t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spc="-10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(10 </a:t>
                      </a:r>
                      <a:r>
                        <a:rPr kumimoji="0" lang="en-US" altLang="en-US" sz="2400" b="0" i="0" u="none" strike="noStrike" cap="none" spc="-10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== </a:t>
                      </a:r>
                      <a:r>
                        <a:rPr kumimoji="0" lang="en-US" altLang="en-US" sz="2400" b="0" i="0" u="none" strike="noStrike" cap="none" spc="-10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20) </a:t>
                      </a:r>
                      <a:r>
                        <a:rPr kumimoji="0" lang="en-US" altLang="en-US" sz="2400" b="0" i="0" u="none" strike="noStrike" kern="1200" cap="none" spc="-3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Lucida Sans Unicode" panose="020B0602030504020204" pitchFamily="34" charset="0"/>
                          <a:cs typeface="Times New Roman"/>
                        </a:rPr>
                        <a:t>⇒</a:t>
                      </a:r>
                      <a:r>
                        <a:rPr kumimoji="0" lang="en-US" alt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</a:t>
                      </a: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False</a:t>
                      </a: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+mn-lt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64008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!=</a:t>
                      </a:r>
                    </a:p>
                  </a:txBody>
                  <a:tcPr marL="9525" marR="9525" marT="9144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Yields True if the value of two operands are </a:t>
                      </a:r>
                      <a:b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</a:b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not equal</a:t>
                      </a:r>
                    </a:p>
                  </a:txBody>
                  <a:tcPr marL="9525" marR="9525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 marL="182563"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182563" marR="0" lvl="0" indent="0" algn="ctr" defTabSz="914400" rtl="0" eaLnBrk="1" fontAlgn="t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(10 != 20) </a:t>
                      </a:r>
                      <a:r>
                        <a:rPr kumimoji="0" lang="en-US" altLang="en-US" sz="2400" b="0" i="0" u="none" strike="noStrike" kern="1200" cap="none" spc="-3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Lucida Sans Unicode" panose="020B0602030504020204" pitchFamily="34" charset="0"/>
                          <a:cs typeface="Times New Roman"/>
                        </a:rPr>
                        <a:t>⇒</a:t>
                      </a:r>
                      <a:r>
                        <a:rPr kumimoji="0" lang="en-US" alt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</a:t>
                      </a: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</a:t>
                      </a: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True</a:t>
                      </a: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+mn-lt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64008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&gt;</a:t>
                      </a:r>
                    </a:p>
                  </a:txBody>
                  <a:tcPr marL="9525" marR="9525" marT="9144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spc="-2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Yields True if the left operand’s value is </a:t>
                      </a: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greater than the right operand’s value</a:t>
                      </a:r>
                    </a:p>
                  </a:txBody>
                  <a:tcPr marL="9525" marR="9525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 marL="182563"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182563" marR="0" lvl="0" indent="0" algn="ctr" defTabSz="914400" rtl="0" eaLnBrk="1" fontAlgn="t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(10 </a:t>
                      </a: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&gt; </a:t>
                      </a: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20) </a:t>
                      </a:r>
                      <a:r>
                        <a:rPr kumimoji="0" lang="en-US" altLang="en-US" sz="2400" b="0" i="0" u="none" strike="noStrike" kern="1200" cap="none" spc="-3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Lucida Sans Unicode" panose="020B0602030504020204" pitchFamily="34" charset="0"/>
                          <a:cs typeface="Times New Roman"/>
                        </a:rPr>
                        <a:t>⇒</a:t>
                      </a: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 False</a:t>
                      </a: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64008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&lt;</a:t>
                      </a:r>
                    </a:p>
                  </a:txBody>
                  <a:tcPr marL="9525" marR="9525" marT="9144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Yields True if the left operand’s value is less than the right operand’s value</a:t>
                      </a:r>
                    </a:p>
                  </a:txBody>
                  <a:tcPr marL="9525" marR="9525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 marL="182563"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182563" marR="0" lvl="0" indent="0" algn="ctr" defTabSz="914400" rtl="0" eaLnBrk="1" fontAlgn="t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(10 </a:t>
                      </a: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&lt; </a:t>
                      </a: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20) ⇒</a:t>
                      </a: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Times New Roman"/>
                        </a:rPr>
                        <a:t> </a:t>
                      </a: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True</a:t>
                      </a: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64008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&gt;=</a:t>
                      </a:r>
                    </a:p>
                  </a:txBody>
                  <a:tcPr marL="9525" marR="9525" marT="9144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Yields True if the left operand’s value is </a:t>
                      </a: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  <a:sym typeface="Symbol" panose="05050102010706020507" pitchFamily="18" charset="2"/>
                        </a:rPr>
                        <a:t> </a:t>
                      </a: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the right operand’s value</a:t>
                      </a:r>
                    </a:p>
                  </a:txBody>
                  <a:tcPr marL="9525" marR="9525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 marL="182563"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182563" marR="0" lvl="0" indent="0" algn="ctr" defTabSz="914400" rtl="0" eaLnBrk="1" fontAlgn="t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spc="-10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(10 </a:t>
                      </a:r>
                      <a:r>
                        <a:rPr kumimoji="0" lang="en-US" altLang="en-US" sz="2400" b="0" i="0" u="none" strike="noStrike" cap="none" spc="-10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&gt;= </a:t>
                      </a:r>
                      <a:r>
                        <a:rPr kumimoji="0" lang="en-US" altLang="en-US" sz="2400" b="0" i="0" u="none" strike="noStrike" cap="none" spc="-10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20) </a:t>
                      </a:r>
                      <a:r>
                        <a:rPr kumimoji="0" lang="en-US" altLang="en-US" sz="2400" b="0" i="0" u="none" strike="noStrike" kern="1200" cap="none" spc="-3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Lucida Sans Unicode" panose="020B0602030504020204" pitchFamily="34" charset="0"/>
                          <a:cs typeface="Times New Roman"/>
                        </a:rPr>
                        <a:t>⇒</a:t>
                      </a: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False</a:t>
                      </a: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64008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&lt;=</a:t>
                      </a:r>
                    </a:p>
                  </a:txBody>
                  <a:tcPr marL="9525" marR="9525" marT="9144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Yields True if the left operand’s value is </a:t>
                      </a: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  <a:sym typeface="Symbol" panose="05050102010706020507" pitchFamily="18" charset="2"/>
                        </a:rPr>
                        <a:t> </a:t>
                      </a: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the right operand’s value</a:t>
                      </a:r>
                    </a:p>
                  </a:txBody>
                  <a:tcPr marL="9525" marR="9525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 marL="182563"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182563" marR="0" lvl="0" indent="0" algn="ctr" defTabSz="914400" rtl="0" eaLnBrk="1" fontAlgn="t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spc="-10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(10 </a:t>
                      </a:r>
                      <a:r>
                        <a:rPr kumimoji="0" lang="en-US" altLang="en-US" sz="2400" b="0" i="0" u="none" strike="noStrike" cap="none" spc="-10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&lt;= </a:t>
                      </a:r>
                      <a:r>
                        <a:rPr kumimoji="0" lang="en-US" altLang="en-US" sz="2400" b="0" i="0" u="none" strike="noStrike" cap="none" spc="-10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20)</a:t>
                      </a: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</a:t>
                      </a:r>
                      <a:r>
                        <a:rPr kumimoji="0" lang="en-US" altLang="en-US" sz="2400" b="0" i="0" u="none" strike="noStrike" kern="1200" cap="none" spc="-3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Lucida Sans Unicode" panose="020B0602030504020204" pitchFamily="34" charset="0"/>
                          <a:cs typeface="Times New Roman"/>
                        </a:rPr>
                        <a:t>⇒</a:t>
                      </a: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Times New Roman"/>
                        </a:rPr>
                        <a:t>  </a:t>
                      </a: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True</a:t>
                      </a: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</a:tbl>
          </a:graphicData>
        </a:graphic>
      </p:graphicFrame>
      <p:sp>
        <p:nvSpPr>
          <p:cNvPr id="6" name="Rounded Rectangular Callout 5"/>
          <p:cNvSpPr/>
          <p:nvPr/>
        </p:nvSpPr>
        <p:spPr>
          <a:xfrm>
            <a:off x="1131094" y="2416784"/>
            <a:ext cx="6853003" cy="1259925"/>
          </a:xfrm>
          <a:prstGeom prst="wedgeRoundRectCallout">
            <a:avLst>
              <a:gd name="adj1" fmla="val 55623"/>
              <a:gd name="adj2" fmla="val -24220"/>
              <a:gd name="adj3" fmla="val 16667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1131094" y="2221912"/>
            <a:ext cx="6853003" cy="4026488"/>
          </a:xfrm>
          <a:prstGeom prst="roundRect">
            <a:avLst>
              <a:gd name="adj" fmla="val 5498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359694" y="3420526"/>
            <a:ext cx="6464574" cy="244663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200" dirty="0">
                <a:solidFill>
                  <a:schemeClr val="bg1">
                    <a:lumMod val="9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sz="2200" dirty="0">
                <a:solidFill>
                  <a:schemeClr val="tx1"/>
                </a:solidFill>
                <a:latin typeface="Lucida Console" panose="020B0609040504020204" pitchFamily="49" charset="0"/>
              </a:rPr>
              <a:t>print(True,False,True+0,False+0)</a:t>
            </a:r>
          </a:p>
          <a:p>
            <a:r>
              <a:rPr lang="en-US" sz="2200" dirty="0">
                <a:solidFill>
                  <a:schemeClr val="tx1"/>
                </a:solidFill>
                <a:latin typeface="Lucida Console" panose="020B0609040504020204" pitchFamily="49" charset="0"/>
              </a:rPr>
              <a:t>True False 1 0</a:t>
            </a:r>
          </a:p>
          <a:p>
            <a:r>
              <a:rPr lang="en-US" sz="2200" dirty="0">
                <a:solidFill>
                  <a:schemeClr val="tx1"/>
                </a:solidFill>
                <a:latin typeface="Lucida Console" panose="020B0609040504020204" pitchFamily="49" charset="0"/>
              </a:rPr>
              <a:t>&gt;&gt;&gt; print(true)</a:t>
            </a:r>
          </a:p>
          <a:p>
            <a:r>
              <a:rPr lang="en-US" sz="22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Traceback</a:t>
            </a:r>
            <a:r>
              <a:rPr lang="en-US" sz="2200" dirty="0">
                <a:solidFill>
                  <a:schemeClr val="tx1"/>
                </a:solidFill>
                <a:latin typeface="Lucida Console" panose="020B0609040504020204" pitchFamily="49" charset="0"/>
              </a:rPr>
              <a:t> (most recent call last):</a:t>
            </a:r>
          </a:p>
          <a:p>
            <a:r>
              <a:rPr lang="en-US" sz="2200" dirty="0">
                <a:solidFill>
                  <a:schemeClr val="tx1"/>
                </a:solidFill>
                <a:latin typeface="Lucida Console" panose="020B0609040504020204" pitchFamily="49" charset="0"/>
              </a:rPr>
              <a:t>  File "&lt;</a:t>
            </a:r>
            <a:r>
              <a:rPr lang="en-US" sz="22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stdin</a:t>
            </a:r>
            <a:r>
              <a:rPr lang="en-US" sz="2200" dirty="0">
                <a:solidFill>
                  <a:schemeClr val="tx1"/>
                </a:solidFill>
                <a:latin typeface="Lucida Console" panose="020B0609040504020204" pitchFamily="49" charset="0"/>
              </a:rPr>
              <a:t>&gt;", line 1, in &lt;module&gt;</a:t>
            </a:r>
          </a:p>
          <a:p>
            <a:r>
              <a:rPr lang="en-US" sz="22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NameError</a:t>
            </a:r>
            <a:r>
              <a:rPr lang="en-US" sz="2200" dirty="0">
                <a:solidFill>
                  <a:schemeClr val="tx1"/>
                </a:solidFill>
                <a:latin typeface="Lucida Console" panose="020B0609040504020204" pitchFamily="49" charset="0"/>
              </a:rPr>
              <a:t>: name 'true' is not defined</a:t>
            </a:r>
          </a:p>
          <a:p>
            <a:r>
              <a:rPr lang="en-US" sz="2200" dirty="0">
                <a:solidFill>
                  <a:schemeClr val="tx1"/>
                </a:solidFill>
                <a:latin typeface="Lucida Console" panose="020B0609040504020204" pitchFamily="49" charset="0"/>
              </a:rPr>
              <a:t>&gt;&gt;&gt;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59694" y="3420526"/>
            <a:ext cx="6464574" cy="244663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200" dirty="0">
                <a:solidFill>
                  <a:schemeClr val="bg1">
                    <a:lumMod val="95000"/>
                  </a:schemeClr>
                </a:solidFill>
                <a:latin typeface="Lucida Console" panose="020B0609040504020204" pitchFamily="49" charset="0"/>
              </a:rPr>
              <a:t>&gt;&gt;&gt; print(</a:t>
            </a:r>
            <a:r>
              <a:rPr lang="en-US" sz="2200" b="1" dirty="0">
                <a:solidFill>
                  <a:schemeClr val="bg1">
                    <a:lumMod val="95000"/>
                  </a:schemeClr>
                </a:solidFill>
                <a:latin typeface="Lucida Console" panose="020B0609040504020204" pitchFamily="49" charset="0"/>
              </a:rPr>
              <a:t>True</a:t>
            </a:r>
            <a:r>
              <a:rPr lang="en-US" sz="2200" dirty="0">
                <a:solidFill>
                  <a:schemeClr val="bg1">
                    <a:lumMod val="95000"/>
                  </a:schemeClr>
                </a:solidFill>
                <a:latin typeface="Lucida Console" panose="020B0609040504020204" pitchFamily="49" charset="0"/>
              </a:rPr>
              <a:t>,</a:t>
            </a:r>
            <a:r>
              <a:rPr lang="en-US" sz="2200" b="1" dirty="0">
                <a:solidFill>
                  <a:schemeClr val="bg1">
                    <a:lumMod val="95000"/>
                  </a:schemeClr>
                </a:solidFill>
                <a:latin typeface="Lucida Console" panose="020B0609040504020204" pitchFamily="49" charset="0"/>
              </a:rPr>
              <a:t>False</a:t>
            </a:r>
            <a:r>
              <a:rPr lang="en-US" sz="2200" dirty="0">
                <a:solidFill>
                  <a:schemeClr val="bg1">
                    <a:lumMod val="95000"/>
                  </a:schemeClr>
                </a:solidFill>
                <a:latin typeface="Lucida Console" panose="020B0609040504020204" pitchFamily="49" charset="0"/>
              </a:rPr>
              <a:t>,</a:t>
            </a:r>
            <a:r>
              <a:rPr lang="en-US" sz="2200" b="1" dirty="0">
                <a:solidFill>
                  <a:srgbClr val="FFFF00"/>
                </a:solidFill>
                <a:latin typeface="Lucida Console" panose="020B0609040504020204" pitchFamily="49" charset="0"/>
              </a:rPr>
              <a:t>True+0</a:t>
            </a:r>
            <a:r>
              <a:rPr lang="en-US" sz="2200" dirty="0">
                <a:solidFill>
                  <a:schemeClr val="bg1">
                    <a:lumMod val="95000"/>
                  </a:schemeClr>
                </a:solidFill>
                <a:latin typeface="Lucida Console" panose="020B0609040504020204" pitchFamily="49" charset="0"/>
              </a:rPr>
              <a:t>,</a:t>
            </a:r>
            <a:r>
              <a:rPr lang="en-US" sz="2200" b="1" dirty="0">
                <a:solidFill>
                  <a:srgbClr val="FFAFAF"/>
                </a:solidFill>
                <a:latin typeface="Lucida Console" panose="020B0609040504020204" pitchFamily="49" charset="0"/>
              </a:rPr>
              <a:t>False+0</a:t>
            </a:r>
            <a:r>
              <a:rPr lang="en-US" sz="2200" dirty="0">
                <a:solidFill>
                  <a:schemeClr val="bg1">
                    <a:lumMod val="95000"/>
                  </a:schemeClr>
                </a:solidFill>
                <a:latin typeface="Lucida Console" panose="020B0609040504020204" pitchFamily="49" charset="0"/>
              </a:rPr>
              <a:t>)</a:t>
            </a:r>
          </a:p>
          <a:p>
            <a:r>
              <a:rPr lang="en-US" sz="2200" b="1" dirty="0">
                <a:solidFill>
                  <a:schemeClr val="bg1">
                    <a:lumMod val="95000"/>
                  </a:schemeClr>
                </a:solidFill>
                <a:latin typeface="Lucida Console" panose="020B0609040504020204" pitchFamily="49" charset="0"/>
              </a:rPr>
              <a:t>True False </a:t>
            </a:r>
            <a:r>
              <a:rPr lang="en-US" sz="2200" b="1" dirty="0">
                <a:solidFill>
                  <a:srgbClr val="FFFF00"/>
                </a:solidFill>
                <a:latin typeface="Lucida Console" panose="020B0609040504020204" pitchFamily="49" charset="0"/>
              </a:rPr>
              <a:t>1</a:t>
            </a:r>
            <a:r>
              <a:rPr lang="en-US" sz="2200" b="1" dirty="0">
                <a:solidFill>
                  <a:schemeClr val="bg1">
                    <a:lumMod val="9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sz="2200" b="1" dirty="0">
                <a:solidFill>
                  <a:srgbClr val="FFAFAF"/>
                </a:solidFill>
                <a:latin typeface="Lucida Console" panose="020B0609040504020204" pitchFamily="49" charset="0"/>
              </a:rPr>
              <a:t>0</a:t>
            </a:r>
          </a:p>
          <a:p>
            <a:r>
              <a:rPr lang="en-US" sz="2200" dirty="0">
                <a:latin typeface="Lucida Console" panose="020B0609040504020204" pitchFamily="49" charset="0"/>
              </a:rPr>
              <a:t>&gt;&gt;&gt; </a:t>
            </a:r>
            <a:r>
              <a:rPr lang="en-US" sz="2200" dirty="0">
                <a:solidFill>
                  <a:schemeClr val="tx1"/>
                </a:solidFill>
                <a:latin typeface="Lucida Console" panose="020B0609040504020204" pitchFamily="49" charset="0"/>
              </a:rPr>
              <a:t>print(true)</a:t>
            </a:r>
          </a:p>
          <a:p>
            <a:r>
              <a:rPr lang="en-US" sz="22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Traceback</a:t>
            </a:r>
            <a:r>
              <a:rPr lang="en-US" sz="2200" dirty="0">
                <a:solidFill>
                  <a:schemeClr val="tx1"/>
                </a:solidFill>
                <a:latin typeface="Lucida Console" panose="020B0609040504020204" pitchFamily="49" charset="0"/>
              </a:rPr>
              <a:t> (most recent call last):</a:t>
            </a:r>
          </a:p>
          <a:p>
            <a:r>
              <a:rPr lang="en-US" sz="2200" dirty="0">
                <a:solidFill>
                  <a:schemeClr val="tx1"/>
                </a:solidFill>
                <a:latin typeface="Lucida Console" panose="020B0609040504020204" pitchFamily="49" charset="0"/>
              </a:rPr>
              <a:t>  File "&lt;</a:t>
            </a:r>
            <a:r>
              <a:rPr lang="en-US" sz="22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stdin</a:t>
            </a:r>
            <a:r>
              <a:rPr lang="en-US" sz="2200" dirty="0">
                <a:solidFill>
                  <a:schemeClr val="tx1"/>
                </a:solidFill>
                <a:latin typeface="Lucida Console" panose="020B0609040504020204" pitchFamily="49" charset="0"/>
              </a:rPr>
              <a:t>&gt;", line 1, in &lt;module&gt;</a:t>
            </a:r>
          </a:p>
          <a:p>
            <a:r>
              <a:rPr lang="en-US" sz="22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NameError</a:t>
            </a:r>
            <a:r>
              <a:rPr lang="en-US" sz="2200" dirty="0">
                <a:solidFill>
                  <a:schemeClr val="tx1"/>
                </a:solidFill>
                <a:latin typeface="Lucida Console" panose="020B0609040504020204" pitchFamily="49" charset="0"/>
              </a:rPr>
              <a:t>: name 'true' is not defined</a:t>
            </a:r>
          </a:p>
          <a:p>
            <a:r>
              <a:rPr lang="en-US" sz="2200" dirty="0">
                <a:solidFill>
                  <a:schemeClr val="tx1"/>
                </a:solidFill>
                <a:latin typeface="Lucida Console" panose="020B0609040504020204" pitchFamily="49" charset="0"/>
              </a:rPr>
              <a:t>&gt;&gt;&gt;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59694" y="3420526"/>
            <a:ext cx="6464574" cy="244663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200" dirty="0">
                <a:solidFill>
                  <a:schemeClr val="bg1">
                    <a:lumMod val="95000"/>
                  </a:schemeClr>
                </a:solidFill>
                <a:latin typeface="Lucida Console" panose="020B0609040504020204" pitchFamily="49" charset="0"/>
              </a:rPr>
              <a:t>&gt;&gt;&gt; print(</a:t>
            </a:r>
            <a:r>
              <a:rPr lang="en-US" sz="2200" b="1" dirty="0">
                <a:solidFill>
                  <a:schemeClr val="bg1">
                    <a:lumMod val="95000"/>
                  </a:schemeClr>
                </a:solidFill>
                <a:latin typeface="Lucida Console" panose="020B0609040504020204" pitchFamily="49" charset="0"/>
              </a:rPr>
              <a:t>True</a:t>
            </a:r>
            <a:r>
              <a:rPr lang="en-US" sz="2200" dirty="0">
                <a:solidFill>
                  <a:schemeClr val="bg1">
                    <a:lumMod val="95000"/>
                  </a:schemeClr>
                </a:solidFill>
                <a:latin typeface="Lucida Console" panose="020B0609040504020204" pitchFamily="49" charset="0"/>
              </a:rPr>
              <a:t>,</a:t>
            </a:r>
            <a:r>
              <a:rPr lang="en-US" sz="2200" b="1" dirty="0">
                <a:solidFill>
                  <a:schemeClr val="bg1">
                    <a:lumMod val="95000"/>
                  </a:schemeClr>
                </a:solidFill>
                <a:latin typeface="Lucida Console" panose="020B0609040504020204" pitchFamily="49" charset="0"/>
              </a:rPr>
              <a:t>False</a:t>
            </a:r>
            <a:r>
              <a:rPr lang="en-US" sz="2200" dirty="0">
                <a:solidFill>
                  <a:schemeClr val="bg1">
                    <a:lumMod val="95000"/>
                  </a:schemeClr>
                </a:solidFill>
                <a:latin typeface="Lucida Console" panose="020B0609040504020204" pitchFamily="49" charset="0"/>
              </a:rPr>
              <a:t>,</a:t>
            </a:r>
            <a:r>
              <a:rPr lang="en-US" sz="2200" b="1" dirty="0">
                <a:solidFill>
                  <a:srgbClr val="FFFF00"/>
                </a:solidFill>
                <a:latin typeface="Lucida Console" panose="020B0609040504020204" pitchFamily="49" charset="0"/>
              </a:rPr>
              <a:t>True+0</a:t>
            </a:r>
            <a:r>
              <a:rPr lang="en-US" sz="2200" dirty="0">
                <a:solidFill>
                  <a:schemeClr val="bg1">
                    <a:lumMod val="95000"/>
                  </a:schemeClr>
                </a:solidFill>
                <a:latin typeface="Lucida Console" panose="020B0609040504020204" pitchFamily="49" charset="0"/>
              </a:rPr>
              <a:t>,</a:t>
            </a:r>
            <a:r>
              <a:rPr lang="en-US" sz="2200" b="1" dirty="0">
                <a:solidFill>
                  <a:srgbClr val="FFAFAF"/>
                </a:solidFill>
                <a:latin typeface="Lucida Console" panose="020B0609040504020204" pitchFamily="49" charset="0"/>
              </a:rPr>
              <a:t>False+0</a:t>
            </a:r>
            <a:r>
              <a:rPr lang="en-US" sz="2200" dirty="0">
                <a:solidFill>
                  <a:schemeClr val="bg1">
                    <a:lumMod val="95000"/>
                  </a:schemeClr>
                </a:solidFill>
                <a:latin typeface="Lucida Console" panose="020B0609040504020204" pitchFamily="49" charset="0"/>
              </a:rPr>
              <a:t>)</a:t>
            </a:r>
          </a:p>
          <a:p>
            <a:r>
              <a:rPr lang="en-US" sz="2200" b="1" dirty="0">
                <a:solidFill>
                  <a:schemeClr val="bg1">
                    <a:lumMod val="95000"/>
                  </a:schemeClr>
                </a:solidFill>
                <a:latin typeface="Lucida Console" panose="020B0609040504020204" pitchFamily="49" charset="0"/>
              </a:rPr>
              <a:t>True False </a:t>
            </a:r>
            <a:r>
              <a:rPr lang="en-US" sz="2200" b="1" dirty="0">
                <a:solidFill>
                  <a:srgbClr val="FFFF00"/>
                </a:solidFill>
                <a:latin typeface="Lucida Console" panose="020B0609040504020204" pitchFamily="49" charset="0"/>
              </a:rPr>
              <a:t>1</a:t>
            </a:r>
            <a:r>
              <a:rPr lang="en-US" sz="2200" dirty="0">
                <a:solidFill>
                  <a:schemeClr val="bg1">
                    <a:lumMod val="9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sz="2200" b="1" dirty="0">
                <a:solidFill>
                  <a:srgbClr val="FFAFAF"/>
                </a:solidFill>
                <a:latin typeface="Lucida Console" panose="020B0609040504020204" pitchFamily="49" charset="0"/>
              </a:rPr>
              <a:t>0</a:t>
            </a:r>
          </a:p>
          <a:p>
            <a:r>
              <a:rPr lang="en-US" sz="2200" dirty="0">
                <a:latin typeface="Lucida Console" panose="020B0609040504020204" pitchFamily="49" charset="0"/>
              </a:rPr>
              <a:t>&gt;&gt;&gt; print(</a:t>
            </a:r>
            <a:r>
              <a:rPr lang="en-US" sz="2200" dirty="0">
                <a:solidFill>
                  <a:srgbClr val="92D050"/>
                </a:solidFill>
                <a:latin typeface="Lucida Console" panose="020B0609040504020204" pitchFamily="49" charset="0"/>
              </a:rPr>
              <a:t>true</a:t>
            </a:r>
            <a:r>
              <a:rPr lang="en-US" sz="2200" dirty="0">
                <a:latin typeface="Lucida Console" panose="020B0609040504020204" pitchFamily="49" charset="0"/>
              </a:rPr>
              <a:t>)</a:t>
            </a:r>
          </a:p>
          <a:p>
            <a:r>
              <a:rPr lang="en-US" sz="2200" dirty="0" err="1">
                <a:latin typeface="Lucida Console" panose="020B0609040504020204" pitchFamily="49" charset="0"/>
              </a:rPr>
              <a:t>Traceback</a:t>
            </a:r>
            <a:r>
              <a:rPr lang="en-US" sz="2200" dirty="0">
                <a:latin typeface="Lucida Console" panose="020B0609040504020204" pitchFamily="49" charset="0"/>
              </a:rPr>
              <a:t> (most recent call last):</a:t>
            </a:r>
          </a:p>
          <a:p>
            <a:r>
              <a:rPr lang="en-US" sz="2200" dirty="0">
                <a:latin typeface="Lucida Console" panose="020B0609040504020204" pitchFamily="49" charset="0"/>
              </a:rPr>
              <a:t>  File "&lt;</a:t>
            </a:r>
            <a:r>
              <a:rPr lang="en-US" sz="2200" dirty="0" err="1">
                <a:latin typeface="Lucida Console" panose="020B0609040504020204" pitchFamily="49" charset="0"/>
              </a:rPr>
              <a:t>stdin</a:t>
            </a:r>
            <a:r>
              <a:rPr lang="en-US" sz="2200" dirty="0">
                <a:latin typeface="Lucida Console" panose="020B0609040504020204" pitchFamily="49" charset="0"/>
              </a:rPr>
              <a:t>&gt;", line 1, in &lt;module&gt;</a:t>
            </a:r>
          </a:p>
          <a:p>
            <a:r>
              <a:rPr lang="en-US" sz="2200" dirty="0" err="1">
                <a:latin typeface="Lucida Console" panose="020B0609040504020204" pitchFamily="49" charset="0"/>
              </a:rPr>
              <a:t>NameError</a:t>
            </a:r>
            <a:r>
              <a:rPr lang="en-US" sz="2200" dirty="0">
                <a:latin typeface="Lucida Console" panose="020B0609040504020204" pitchFamily="49" charset="0"/>
              </a:rPr>
              <a:t>: name '</a:t>
            </a:r>
            <a:r>
              <a:rPr lang="en-US" sz="2200" dirty="0">
                <a:solidFill>
                  <a:srgbClr val="92D050"/>
                </a:solidFill>
                <a:latin typeface="Lucida Console" panose="020B0609040504020204" pitchFamily="49" charset="0"/>
              </a:rPr>
              <a:t>true</a:t>
            </a:r>
            <a:r>
              <a:rPr lang="en-US" sz="2200" dirty="0">
                <a:latin typeface="Lucida Console" panose="020B0609040504020204" pitchFamily="49" charset="0"/>
              </a:rPr>
              <a:t>' is not defined</a:t>
            </a:r>
          </a:p>
          <a:p>
            <a:r>
              <a:rPr lang="en-US" sz="2200" dirty="0">
                <a:solidFill>
                  <a:schemeClr val="bg1">
                    <a:lumMod val="95000"/>
                  </a:schemeClr>
                </a:solidFill>
                <a:latin typeface="Lucida Console" panose="020B0609040504020204" pitchFamily="49" charset="0"/>
              </a:rPr>
              <a:t>&gt;&gt;&gt;</a:t>
            </a:r>
          </a:p>
        </p:txBody>
      </p:sp>
      <p:sp>
        <p:nvSpPr>
          <p:cNvPr id="12" name="Rounded Rectangular Callout 11"/>
          <p:cNvSpPr/>
          <p:nvPr/>
        </p:nvSpPr>
        <p:spPr>
          <a:xfrm>
            <a:off x="1131094" y="2221914"/>
            <a:ext cx="6853003" cy="1259925"/>
          </a:xfrm>
          <a:prstGeom prst="wedgeRoundRectCallout">
            <a:avLst>
              <a:gd name="adj1" fmla="val 56804"/>
              <a:gd name="adj2" fmla="val -52429"/>
              <a:gd name="adj3" fmla="val 16667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“False” and “True” are aliases for the integers “0” and “1”, respectively.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045494" y="3481837"/>
            <a:ext cx="0" cy="32918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2045494" y="4149573"/>
            <a:ext cx="0" cy="32918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2045494" y="5463271"/>
            <a:ext cx="0" cy="32918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7932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2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3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4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5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5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5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5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5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5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5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6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5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6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5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6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5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6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5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7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7" grpId="0" animBg="1"/>
      <p:bldP spid="7" grpId="1" animBg="1"/>
      <p:bldP spid="8" grpId="0" animBg="1"/>
      <p:bldP spid="8" grpId="1" animBg="1"/>
      <p:bldP spid="10" grpId="0" animBg="1"/>
      <p:bldP spid="10" grpId="1" animBg="1"/>
      <p:bldP spid="11" grpId="0" animBg="1"/>
      <p:bldP spid="11" grpId="1" animBg="1"/>
      <p:bldP spid="12" grpId="0" animBg="1"/>
      <p:bldP spid="12" grpId="1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1" y="1"/>
            <a:ext cx="9729787" cy="116114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solidFill>
                  <a:srgbClr val="0070C0"/>
                </a:solidFill>
              </a:rPr>
              <a:t>Python Arithmetic Operators: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/>
          </p:nvPr>
        </p:nvGraphicFramePr>
        <p:xfrm>
          <a:off x="239049" y="1179545"/>
          <a:ext cx="9248504" cy="5558417"/>
        </p:xfrm>
        <a:graphic>
          <a:graphicData uri="http://schemas.openxmlformats.org/drawingml/2006/table">
            <a:tbl>
              <a:tblPr/>
              <a:tblGrid>
                <a:gridCol w="142544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9436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879459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43777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Operator</a:t>
                      </a: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Description</a:t>
                      </a: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Example</a:t>
                      </a: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64008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=</a:t>
                      </a:r>
                    </a:p>
                  </a:txBody>
                  <a:tcPr marL="9525" marR="9525" marT="9144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Assigns the value(s) from right side operand(s) to left side operand(s)</a:t>
                      </a:r>
                    </a:p>
                  </a:txBody>
                  <a:tcPr marL="9525" marR="9525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 marL="182563"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182563" marR="0" lvl="0" indent="0" algn="ctr" defTabSz="914400" rtl="0" eaLnBrk="1" fontAlgn="t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spc="-100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c = a + b</a:t>
                      </a:r>
                    </a:p>
                  </a:txBody>
                  <a:tcPr marL="8287" marR="8287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64008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+=</a:t>
                      </a:r>
                    </a:p>
                  </a:txBody>
                  <a:tcPr marL="9525" marR="9525" marT="9144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Adds the right operand to the left operand and assigns the result to left operand</a:t>
                      </a:r>
                    </a:p>
                  </a:txBody>
                  <a:tcPr marL="9525" marR="9525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 marL="182563"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182563" marR="0" lvl="0" indent="0" algn="ctr" defTabSz="914400" rtl="0" eaLnBrk="1" fontAlgn="t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c+=a  ⇒</a:t>
                      </a:r>
                      <a:b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</a:b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c=</a:t>
                      </a:r>
                      <a:r>
                        <a:rPr kumimoji="0" lang="en-US" altLang="en-US" sz="2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c+a</a:t>
                      </a: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</a:t>
                      </a:r>
                    </a:p>
                  </a:txBody>
                  <a:tcPr marL="8287" marR="8287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64008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-=</a:t>
                      </a:r>
                    </a:p>
                  </a:txBody>
                  <a:tcPr marL="9525" marR="9525" marT="9144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Subtracts the right operand from the left operand and assigns the result to left operand</a:t>
                      </a:r>
                    </a:p>
                  </a:txBody>
                  <a:tcPr marL="9525" marR="9525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 marL="182563"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182563" marR="0" lvl="0" indent="0" algn="ctr" defTabSz="914400" rtl="0" eaLnBrk="1" fontAlgn="t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spc="-100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c-=a  ⇒</a:t>
                      </a:r>
                      <a:br>
                        <a:rPr kumimoji="0" lang="en-US" altLang="en-US" sz="2400" b="0" i="0" u="none" strike="noStrike" cap="none" spc="-100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</a:br>
                      <a:r>
                        <a:rPr kumimoji="0" lang="en-US" altLang="en-US" sz="2400" b="0" i="0" u="none" strike="noStrike" cap="none" spc="-100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c=c-a</a:t>
                      </a:r>
                      <a:endParaRPr kumimoji="0" lang="en-US" alt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+mn-lt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64008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*=</a:t>
                      </a:r>
                    </a:p>
                  </a:txBody>
                  <a:tcPr marL="9525" marR="9525" marT="9144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spc="-2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Multiplies the right operand with the left operand and assigns the result to left operand</a:t>
                      </a:r>
                    </a:p>
                  </a:txBody>
                  <a:tcPr marL="9525" marR="9525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 marL="182563"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182563" marR="0" lvl="0" indent="0" algn="ctr" defTabSz="914400" rtl="0" eaLnBrk="1" fontAlgn="t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c*=a  ⇒</a:t>
                      </a:r>
                      <a:b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</a:b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c=c*a </a:t>
                      </a:r>
                    </a:p>
                  </a:txBody>
                  <a:tcPr marL="8287" marR="8287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64008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/=</a:t>
                      </a:r>
                    </a:p>
                  </a:txBody>
                  <a:tcPr marL="9525" marR="9525" marT="9144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Divides the left operand with the right operand and assigns the result to left operand</a:t>
                      </a:r>
                    </a:p>
                  </a:txBody>
                  <a:tcPr marL="9525" marR="9525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 marL="182563"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182563" marR="0" lvl="0" indent="0" algn="ctr" defTabSz="914400" rtl="0" eaLnBrk="1" fontAlgn="t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c/=a  ⇒</a:t>
                      </a:r>
                      <a:b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</a:b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c=c/a </a:t>
                      </a:r>
                    </a:p>
                  </a:txBody>
                  <a:tcPr marL="8287" marR="8287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64008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%=</a:t>
                      </a:r>
                    </a:p>
                  </a:txBody>
                  <a:tcPr marL="9525" marR="9525" marT="9144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Performs a modulus using the two operands and assigns the result to the left operand</a:t>
                      </a:r>
                    </a:p>
                  </a:txBody>
                  <a:tcPr marL="9525" marR="9525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 marL="182563"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182563" marR="0" lvl="0" indent="0" algn="ctr" defTabSz="914400" rtl="0" eaLnBrk="1" fontAlgn="t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spc="-100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c%=a  ⇒</a:t>
                      </a:r>
                      <a:br>
                        <a:rPr kumimoji="0" lang="en-US" altLang="en-US" sz="2400" b="0" i="0" u="none" strike="noStrike" cap="none" spc="-100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</a:br>
                      <a:r>
                        <a:rPr kumimoji="0" lang="en-US" altLang="en-US" sz="2400" b="0" i="0" u="none" strike="noStrike" cap="none" spc="-100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c=</a:t>
                      </a:r>
                      <a:r>
                        <a:rPr kumimoji="0" lang="en-US" altLang="en-US" sz="2400" b="0" i="0" u="none" strike="noStrike" cap="none" spc="-100" normalizeH="0" baseline="0" dirty="0" err="1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c%a</a:t>
                      </a:r>
                      <a:r>
                        <a:rPr kumimoji="0" lang="en-US" altLang="en-US" sz="2400" b="0" i="0" u="none" strike="noStrike" cap="none" spc="-100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</a:t>
                      </a:r>
                    </a:p>
                  </a:txBody>
                  <a:tcPr marL="8287" marR="8287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64008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**=</a:t>
                      </a:r>
                    </a:p>
                  </a:txBody>
                  <a:tcPr marL="9525" marR="9525" marT="9144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Raises the left operand with the right operand and assigns the result to left operand</a:t>
                      </a:r>
                    </a:p>
                  </a:txBody>
                  <a:tcPr marL="9525" marR="9525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 marL="182563"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182563" marR="0" lvl="0" indent="0" algn="ctr" defTabSz="914400" rtl="0" eaLnBrk="1" fontAlgn="t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spc="-100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c**=a  ⇒</a:t>
                      </a:r>
                      <a:br>
                        <a:rPr kumimoji="0" lang="en-US" altLang="en-US" sz="2400" b="0" i="0" u="none" strike="noStrike" cap="none" spc="-100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</a:br>
                      <a:r>
                        <a:rPr kumimoji="0" lang="en-US" altLang="en-US" sz="2400" b="0" i="0" u="none" strike="noStrike" cap="none" spc="-100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c=c**a </a:t>
                      </a:r>
                    </a:p>
                  </a:txBody>
                  <a:tcPr marL="8287" marR="8287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64008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//=</a:t>
                      </a:r>
                    </a:p>
                  </a:txBody>
                  <a:tcPr marL="9525" marR="9525" marT="9144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Divides the left operand with the right operand and assigns the result to left operand</a:t>
                      </a:r>
                    </a:p>
                  </a:txBody>
                  <a:tcPr marL="9525" marR="9525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 marL="182563"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182563" marR="0" lvl="0" indent="0" algn="ctr" defTabSz="914400" rtl="0" eaLnBrk="1" fontAlgn="t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c//=a  ⇒</a:t>
                      </a:r>
                      <a:b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</a:b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c=c//a </a:t>
                      </a:r>
                    </a:p>
                  </a:txBody>
                  <a:tcPr marL="8287" marR="8287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415160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1" y="1"/>
            <a:ext cx="9729787" cy="116114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solidFill>
                  <a:srgbClr val="0070C0"/>
                </a:solidFill>
              </a:rPr>
              <a:t>Python Arithmetic Operators: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/>
          </p:nvPr>
        </p:nvGraphicFramePr>
        <p:xfrm>
          <a:off x="239049" y="1179545"/>
          <a:ext cx="9248504" cy="5558417"/>
        </p:xfrm>
        <a:graphic>
          <a:graphicData uri="http://schemas.openxmlformats.org/drawingml/2006/table">
            <a:tbl>
              <a:tblPr/>
              <a:tblGrid>
                <a:gridCol w="142544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9436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879459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43777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Operator</a:t>
                      </a: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Description</a:t>
                      </a: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Example</a:t>
                      </a: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64008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=</a:t>
                      </a:r>
                    </a:p>
                  </a:txBody>
                  <a:tcPr marL="9525" marR="9525" marT="9144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Assigns the value(s) from right side operand(s) to left side operand(s)</a:t>
                      </a:r>
                    </a:p>
                  </a:txBody>
                  <a:tcPr marL="9525" marR="9525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 marL="182563"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182563" marR="0" lvl="0" indent="0" algn="ctr" defTabSz="914400" rtl="0" eaLnBrk="1" fontAlgn="t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spc="-100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c = a + b</a:t>
                      </a:r>
                    </a:p>
                  </a:txBody>
                  <a:tcPr marL="8287" marR="8287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64008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+=</a:t>
                      </a:r>
                    </a:p>
                  </a:txBody>
                  <a:tcPr marL="9525" marR="9525" marT="9144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Adds the right operand to the left operand and assigns the result to left operand</a:t>
                      </a:r>
                    </a:p>
                  </a:txBody>
                  <a:tcPr marL="9525" marR="9525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 marL="182563"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182563" marR="0" lvl="0" indent="0" algn="ctr" defTabSz="914400" rtl="0" eaLnBrk="1" fontAlgn="t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c+=a  ⇒</a:t>
                      </a:r>
                      <a:b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</a:b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c=</a:t>
                      </a:r>
                      <a:r>
                        <a:rPr kumimoji="0" lang="en-US" altLang="en-US" sz="2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c+a</a:t>
                      </a: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</a:t>
                      </a:r>
                    </a:p>
                  </a:txBody>
                  <a:tcPr marL="8287" marR="8287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64008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-=</a:t>
                      </a:r>
                    </a:p>
                  </a:txBody>
                  <a:tcPr marL="9525" marR="9525" marT="9144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Subtracts the right operand from the left operand and assigns the result to left operand</a:t>
                      </a:r>
                    </a:p>
                  </a:txBody>
                  <a:tcPr marL="9525" marR="9525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 marL="182563"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182563" marR="0" lvl="0" indent="0" algn="ctr" defTabSz="914400" rtl="0" eaLnBrk="1" fontAlgn="t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spc="-100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c-=a  ⇒</a:t>
                      </a:r>
                      <a:br>
                        <a:rPr kumimoji="0" lang="en-US" altLang="en-US" sz="2400" b="0" i="0" u="none" strike="noStrike" cap="none" spc="-100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</a:br>
                      <a:r>
                        <a:rPr kumimoji="0" lang="en-US" altLang="en-US" sz="2400" b="0" i="0" u="none" strike="noStrike" cap="none" spc="-100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c=c-a</a:t>
                      </a:r>
                      <a:endParaRPr kumimoji="0" lang="en-US" alt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+mn-lt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64008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*=</a:t>
                      </a:r>
                    </a:p>
                  </a:txBody>
                  <a:tcPr marL="9525" marR="9525" marT="9144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spc="-20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Multiplies the right operand with the left operand and assigns the result to left operand</a:t>
                      </a:r>
                    </a:p>
                  </a:txBody>
                  <a:tcPr marL="9525" marR="9525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 marL="182563"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182563" marR="0" lvl="0" indent="0" algn="ctr" defTabSz="914400" rtl="0" eaLnBrk="1" fontAlgn="t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c*=a  ⇒</a:t>
                      </a:r>
                      <a:b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</a:b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c=c*a </a:t>
                      </a:r>
                    </a:p>
                  </a:txBody>
                  <a:tcPr marL="8287" marR="8287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64008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/=</a:t>
                      </a:r>
                    </a:p>
                  </a:txBody>
                  <a:tcPr marL="9525" marR="9525" marT="9144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Divides the left operand with the right operand and assigns the result to left operand</a:t>
                      </a:r>
                    </a:p>
                  </a:txBody>
                  <a:tcPr marL="9525" marR="9525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 marL="182563"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182563" marR="0" lvl="0" indent="0" algn="ctr" defTabSz="914400" rtl="0" eaLnBrk="1" fontAlgn="t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c/=a  ⇒</a:t>
                      </a:r>
                      <a:b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</a:b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c=c/a </a:t>
                      </a:r>
                    </a:p>
                  </a:txBody>
                  <a:tcPr marL="8287" marR="8287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64008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%=</a:t>
                      </a:r>
                    </a:p>
                  </a:txBody>
                  <a:tcPr marL="9525" marR="9525" marT="9144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Performs a modulus using the two operands and assigns the result to the left operand</a:t>
                      </a:r>
                    </a:p>
                  </a:txBody>
                  <a:tcPr marL="9525" marR="9525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 marL="182563"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182563" marR="0" lvl="0" indent="0" algn="ctr" defTabSz="914400" rtl="0" eaLnBrk="1" fontAlgn="t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spc="-100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c%=a  ⇒</a:t>
                      </a:r>
                      <a:br>
                        <a:rPr kumimoji="0" lang="en-US" altLang="en-US" sz="2400" b="0" i="0" u="none" strike="noStrike" cap="none" spc="-100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</a:br>
                      <a:r>
                        <a:rPr kumimoji="0" lang="en-US" altLang="en-US" sz="2400" b="0" i="0" u="none" strike="noStrike" cap="none" spc="-100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c=</a:t>
                      </a:r>
                      <a:r>
                        <a:rPr kumimoji="0" lang="en-US" altLang="en-US" sz="2400" b="0" i="0" u="none" strike="noStrike" cap="none" spc="-100" normalizeH="0" baseline="0" dirty="0" err="1" smtClean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c%a</a:t>
                      </a:r>
                      <a:r>
                        <a:rPr kumimoji="0" lang="en-US" altLang="en-US" sz="2400" b="0" i="0" u="none" strike="noStrike" cap="none" spc="-100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</a:t>
                      </a:r>
                    </a:p>
                  </a:txBody>
                  <a:tcPr marL="8287" marR="8287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64008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**=</a:t>
                      </a:r>
                    </a:p>
                  </a:txBody>
                  <a:tcPr marL="9525" marR="9525" marT="9144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Raises the left operand with the right operand and assigns the result to left operand</a:t>
                      </a:r>
                    </a:p>
                  </a:txBody>
                  <a:tcPr marL="9525" marR="9525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 marL="182563"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182563" marR="0" lvl="0" indent="0" algn="ctr" defTabSz="914400" rtl="0" eaLnBrk="1" fontAlgn="t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spc="-100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c**=a  ⇒</a:t>
                      </a:r>
                      <a:br>
                        <a:rPr kumimoji="0" lang="en-US" altLang="en-US" sz="2400" b="0" i="0" u="none" strike="noStrike" cap="none" spc="-100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</a:br>
                      <a:r>
                        <a:rPr kumimoji="0" lang="en-US" altLang="en-US" sz="2400" b="0" i="0" u="none" strike="noStrike" cap="none" spc="-100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c=c**a </a:t>
                      </a:r>
                    </a:p>
                  </a:txBody>
                  <a:tcPr marL="8287" marR="8287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64008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//=</a:t>
                      </a:r>
                    </a:p>
                  </a:txBody>
                  <a:tcPr marL="9525" marR="9525" marT="9144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Divides the left operand with the right operand and assigns the result to left operand</a:t>
                      </a:r>
                    </a:p>
                  </a:txBody>
                  <a:tcPr marL="9525" marR="9525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 marL="182563"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182563" marR="0" lvl="0" indent="0" algn="ctr" defTabSz="914400" rtl="0" eaLnBrk="1" fontAlgn="t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c//=a  ⇒</a:t>
                      </a:r>
                      <a:b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</a:b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c=c//a </a:t>
                      </a:r>
                    </a:p>
                  </a:txBody>
                  <a:tcPr marL="8287" marR="8287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ular Callout 5"/>
          <p:cNvSpPr/>
          <p:nvPr/>
        </p:nvSpPr>
        <p:spPr>
          <a:xfrm>
            <a:off x="1329118" y="1429795"/>
            <a:ext cx="5430267" cy="2211861"/>
          </a:xfrm>
          <a:prstGeom prst="wedgeRoundRectCallout">
            <a:avLst>
              <a:gd name="adj1" fmla="val -55164"/>
              <a:gd name="adj2" fmla="val 82238"/>
              <a:gd name="adj3" fmla="val 16667"/>
            </a:avLst>
          </a:prstGeom>
          <a:solidFill>
            <a:srgbClr val="76ABD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7" name="Rounded Rectangular Callout 6"/>
          <p:cNvSpPr/>
          <p:nvPr/>
        </p:nvSpPr>
        <p:spPr>
          <a:xfrm>
            <a:off x="1329118" y="1429795"/>
            <a:ext cx="6529863" cy="2211861"/>
          </a:xfrm>
          <a:prstGeom prst="wedgeRoundRectCallout">
            <a:avLst>
              <a:gd name="adj1" fmla="val -54877"/>
              <a:gd name="adj2" fmla="val 136591"/>
              <a:gd name="adj3" fmla="val 16667"/>
            </a:avLst>
          </a:prstGeom>
          <a:solidFill>
            <a:srgbClr val="76ABD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8" name="Rounded Rectangular Callout 7"/>
          <p:cNvSpPr/>
          <p:nvPr/>
        </p:nvSpPr>
        <p:spPr>
          <a:xfrm>
            <a:off x="1329118" y="1429795"/>
            <a:ext cx="7611783" cy="2211861"/>
          </a:xfrm>
          <a:prstGeom prst="wedgeRoundRectCallout">
            <a:avLst>
              <a:gd name="adj1" fmla="val -54412"/>
              <a:gd name="adj2" fmla="val 168146"/>
              <a:gd name="adj3" fmla="val 16667"/>
            </a:avLst>
          </a:prstGeom>
          <a:solidFill>
            <a:srgbClr val="76ABD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There is no difference to C</a:t>
            </a:r>
            <a:r>
              <a:rPr lang="en-US" sz="2800" dirty="0" smtClean="0">
                <a:solidFill>
                  <a:schemeClr val="tx1"/>
                </a:solidFill>
              </a:rPr>
              <a:t>++, except </a:t>
            </a:r>
            <a:r>
              <a:rPr lang="en-US" sz="2800" dirty="0">
                <a:solidFill>
                  <a:schemeClr val="tx1"/>
                </a:solidFill>
              </a:rPr>
              <a:t>for </a:t>
            </a:r>
            <a:r>
              <a:rPr lang="en-US" sz="2800" dirty="0" smtClean="0">
                <a:solidFill>
                  <a:schemeClr val="tx1"/>
                </a:solidFill>
              </a:rPr>
              <a:t>those </a:t>
            </a:r>
            <a:r>
              <a:rPr lang="en-US" sz="2800" dirty="0">
                <a:solidFill>
                  <a:schemeClr val="tx1"/>
                </a:solidFill>
              </a:rPr>
              <a:t>new </a:t>
            </a:r>
            <a:r>
              <a:rPr lang="en-US" sz="2800" dirty="0" smtClean="0">
                <a:solidFill>
                  <a:schemeClr val="tx1"/>
                </a:solidFill>
              </a:rPr>
              <a:t>or modified operators (**, //, and /): these </a:t>
            </a:r>
            <a:r>
              <a:rPr lang="en-US" sz="2800" dirty="0">
                <a:solidFill>
                  <a:schemeClr val="tx1"/>
                </a:solidFill>
              </a:rPr>
              <a:t>new/modified operators will, of course, have corresponding new assignment </a:t>
            </a:r>
            <a:r>
              <a:rPr lang="en-US" sz="2800" dirty="0" smtClean="0">
                <a:solidFill>
                  <a:schemeClr val="tx1"/>
                </a:solidFill>
              </a:rPr>
              <a:t>operators.</a:t>
            </a:r>
            <a:endParaRPr lang="en-US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1265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1" y="1"/>
            <a:ext cx="9729787" cy="1161142"/>
          </a:xfrm>
        </p:spPr>
        <p:txBody>
          <a:bodyPr>
            <a:normAutofit/>
          </a:bodyPr>
          <a:lstStyle/>
          <a:p>
            <a:r>
              <a:rPr lang="en-US" altLang="en-US" sz="4400" dirty="0" smtClean="0">
                <a:solidFill>
                  <a:srgbClr val="0070C0"/>
                </a:solidFill>
              </a:rPr>
              <a:t>Python Bitwise Logic </a:t>
            </a:r>
            <a:r>
              <a:rPr lang="en-US" altLang="en-US" sz="4400" dirty="0">
                <a:solidFill>
                  <a:srgbClr val="0070C0"/>
                </a:solidFill>
              </a:rPr>
              <a:t>Operators: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/>
          </p:nvPr>
        </p:nvGraphicFramePr>
        <p:xfrm>
          <a:off x="239049" y="1179545"/>
          <a:ext cx="9248504" cy="4278257"/>
        </p:xfrm>
        <a:graphic>
          <a:graphicData uri="http://schemas.openxmlformats.org/drawingml/2006/table">
            <a:tbl>
              <a:tblPr/>
              <a:tblGrid>
                <a:gridCol w="142544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715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108059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43777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Operator</a:t>
                      </a: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Description</a:t>
                      </a: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Example</a:t>
                      </a: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64008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uLnTx/>
                          <a:uFillTx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&amp;</a:t>
                      </a:r>
                      <a:br>
                        <a:rPr kumimoji="0" lang="en-US" altLang="en-US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uLnTx/>
                          <a:uFillTx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</a:br>
                      <a:r>
                        <a:rPr kumimoji="0" lang="en-US" altLang="en-US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uLnTx/>
                          <a:uFillTx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binary AND </a:t>
                      </a:r>
                      <a:endParaRPr kumimoji="0" lang="en-US" alt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uLnTx/>
                        <a:uFillTx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9525" marR="9525" marT="9144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Places a bit in the result if it exists in both operands</a:t>
                      </a:r>
                    </a:p>
                  </a:txBody>
                  <a:tcPr marL="9525" marR="9525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 marL="182563"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uLnTx/>
                          <a:uFillTx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(60 &amp; 13)  </a:t>
                      </a:r>
                      <a:r>
                        <a:rPr kumimoji="0" lang="en-US" altLang="en-US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uLnTx/>
                          <a:uFillTx/>
                          <a:latin typeface="Times New Roman"/>
                          <a:ea typeface="Lucida Sans Unicode" panose="020B0602030504020204" pitchFamily="34" charset="0"/>
                          <a:cs typeface="Times New Roman"/>
                        </a:rPr>
                        <a:t>→  </a:t>
                      </a:r>
                      <a:r>
                        <a:rPr kumimoji="0" lang="en-US" altLang="en-US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uLnTx/>
                          <a:uFillTx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12 which is 0000 1100</a:t>
                      </a:r>
                      <a:endParaRPr kumimoji="0" lang="en-US" alt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uLnTx/>
                        <a:uFillTx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64008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uLnTx/>
                          <a:uFillTx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|</a:t>
                      </a:r>
                      <a:br>
                        <a:rPr kumimoji="0" lang="en-US" altLang="en-US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uLnTx/>
                          <a:uFillTx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</a:br>
                      <a:r>
                        <a:rPr kumimoji="0" lang="en-US" altLang="en-US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uLnTx/>
                          <a:uFillTx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binary OR </a:t>
                      </a:r>
                      <a:endParaRPr kumimoji="0" lang="en-US" alt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uLnTx/>
                        <a:uFillTx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9525" marR="9525" marT="9144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Places a bit in the result if it exists in either operand</a:t>
                      </a:r>
                    </a:p>
                  </a:txBody>
                  <a:tcPr marL="9525" marR="9525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 marL="182563"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uLnTx/>
                          <a:uFillTx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(60 | 13)  </a:t>
                      </a:r>
                      <a:r>
                        <a:rPr kumimoji="0" lang="en-US" altLang="en-US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uLnTx/>
                          <a:uFillTx/>
                          <a:latin typeface="Times New Roman"/>
                          <a:ea typeface="Lucida Sans Unicode" panose="020B0602030504020204" pitchFamily="34" charset="0"/>
                          <a:cs typeface="Times New Roman"/>
                        </a:rPr>
                        <a:t>→  </a:t>
                      </a:r>
                      <a:r>
                        <a:rPr kumimoji="0" lang="en-US" altLang="en-US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uLnTx/>
                          <a:uFillTx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61 which is 0011 1101</a:t>
                      </a:r>
                      <a:endParaRPr kumimoji="0" lang="en-US" alt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uLnTx/>
                        <a:uFillTx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64008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uLnTx/>
                          <a:uFillTx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^</a:t>
                      </a:r>
                      <a:br>
                        <a:rPr kumimoji="0" lang="en-US" altLang="en-US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uLnTx/>
                          <a:uFillTx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</a:br>
                      <a:r>
                        <a:rPr kumimoji="0" lang="en-US" altLang="en-US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uLnTx/>
                          <a:uFillTx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binary XOR </a:t>
                      </a:r>
                      <a:endParaRPr kumimoji="0" lang="en-US" alt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uLnTx/>
                        <a:uFillTx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9525" marR="9525" marT="9144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Places a bit in the result if it is set in one operand but not both</a:t>
                      </a:r>
                    </a:p>
                  </a:txBody>
                  <a:tcPr marL="9525" marR="9525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 marL="182563"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uLnTx/>
                          <a:uFillTx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(60 ^ 13)  </a:t>
                      </a:r>
                      <a:r>
                        <a:rPr kumimoji="0" lang="en-US" altLang="en-US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uLnTx/>
                          <a:uFillTx/>
                          <a:latin typeface="Times New Roman"/>
                          <a:ea typeface="Lucida Sans Unicode" panose="020B0602030504020204" pitchFamily="34" charset="0"/>
                          <a:cs typeface="Times New Roman"/>
                        </a:rPr>
                        <a:t>→  </a:t>
                      </a:r>
                      <a:r>
                        <a:rPr kumimoji="0" lang="en-US" altLang="en-US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uLnTx/>
                          <a:uFillTx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49 which is 0011 0001</a:t>
                      </a:r>
                      <a:endParaRPr kumimoji="0" lang="en-US" alt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uLnTx/>
                        <a:uFillTx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64008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uLnTx/>
                          <a:uFillTx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~</a:t>
                      </a:r>
                      <a:br>
                        <a:rPr kumimoji="0" lang="en-US" altLang="en-US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uLnTx/>
                          <a:uFillTx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</a:br>
                      <a:r>
                        <a:rPr kumimoji="0" lang="en-US" altLang="en-US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uLnTx/>
                          <a:uFillTx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binary FLIP </a:t>
                      </a:r>
                      <a:endParaRPr kumimoji="0" lang="en-US" alt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uLnTx/>
                        <a:uFillTx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9525" marR="9525" marT="9144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spc="-2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Places a bit in the result if it is not set in the operand (on the right-hand)</a:t>
                      </a:r>
                    </a:p>
                  </a:txBody>
                  <a:tcPr marL="9525" marR="9525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 marL="182563"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uLnTx/>
                          <a:uFillTx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(~60 )  </a:t>
                      </a:r>
                      <a:r>
                        <a:rPr kumimoji="0" lang="en-US" altLang="en-US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uLnTx/>
                          <a:uFillTx/>
                          <a:latin typeface="Times New Roman"/>
                          <a:ea typeface="Lucida Sans Unicode" panose="020B0602030504020204" pitchFamily="34" charset="0"/>
                          <a:cs typeface="Times New Roman"/>
                        </a:rPr>
                        <a:t>→  </a:t>
                      </a:r>
                      <a:r>
                        <a:rPr kumimoji="0" lang="en-US" altLang="en-US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uLnTx/>
                          <a:uFillTx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-61 </a:t>
                      </a:r>
                      <a:br>
                        <a:rPr kumimoji="0" lang="en-US" altLang="en-US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uLnTx/>
                          <a:uFillTx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</a:br>
                      <a:r>
                        <a:rPr kumimoji="0" lang="en-US" altLang="en-US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uLnTx/>
                          <a:uFillTx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which is …</a:t>
                      </a:r>
                      <a:r>
                        <a:rPr kumimoji="0" lang="en-US" altLang="en-US" sz="1600" b="0" i="0" u="none" strike="noStrike" kern="1200" cap="none" spc="-100" normalizeH="0" baseline="0" noProof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uLnTx/>
                          <a:uFillTx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1100 0011</a:t>
                      </a:r>
                      <a:endParaRPr kumimoji="0" lang="en-US" altLang="en-US" sz="16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uLnTx/>
                        <a:uFillTx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64008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uLnTx/>
                          <a:uFillTx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&lt;&lt;</a:t>
                      </a:r>
                      <a:br>
                        <a:rPr kumimoji="0" lang="en-US" altLang="en-US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uLnTx/>
                          <a:uFillTx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</a:br>
                      <a:r>
                        <a:rPr kumimoji="0" lang="en-US" altLang="en-US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uLnTx/>
                          <a:uFillTx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left shift </a:t>
                      </a:r>
                      <a:endParaRPr kumimoji="0" lang="en-US" alt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uLnTx/>
                        <a:uFillTx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9525" marR="9525" marT="9144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The left operand’s value moves left by the number of bits indicated by the right operand</a:t>
                      </a:r>
                    </a:p>
                  </a:txBody>
                  <a:tcPr marL="9525" marR="9525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 marL="182563"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uLnTx/>
                          <a:uFillTx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60 &lt;&lt; 2  </a:t>
                      </a:r>
                      <a:r>
                        <a:rPr kumimoji="0" lang="en-US" altLang="en-US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uLnTx/>
                          <a:uFillTx/>
                          <a:latin typeface="Times New Roman"/>
                          <a:ea typeface="Lucida Sans Unicode" panose="020B0602030504020204" pitchFamily="34" charset="0"/>
                          <a:cs typeface="Times New Roman"/>
                        </a:rPr>
                        <a:t>→  </a:t>
                      </a:r>
                      <a:r>
                        <a:rPr kumimoji="0" lang="en-US" altLang="en-US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uLnTx/>
                          <a:uFillTx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240 which is 1111 0000</a:t>
                      </a:r>
                      <a:endParaRPr kumimoji="0" lang="en-US" alt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uLnTx/>
                        <a:uFillTx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64008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uLnTx/>
                          <a:uFillTx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&gt;&gt; </a:t>
                      </a:r>
                      <a:br>
                        <a:rPr kumimoji="0" lang="en-US" altLang="en-US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uLnTx/>
                          <a:uFillTx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</a:br>
                      <a:r>
                        <a:rPr kumimoji="0" lang="en-US" altLang="en-US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uLnTx/>
                          <a:uFillTx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right shift </a:t>
                      </a:r>
                      <a:endParaRPr kumimoji="0" lang="en-US" alt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uLnTx/>
                        <a:uFillTx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9525" marR="9525" marT="9144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The left operand’s value moves right by the number of bits indicated by the right operand</a:t>
                      </a:r>
                    </a:p>
                  </a:txBody>
                  <a:tcPr marL="9525" marR="9525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 marL="182563"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uLnTx/>
                          <a:uFillTx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60 &gt;&gt; 2  </a:t>
                      </a:r>
                      <a:r>
                        <a:rPr kumimoji="0" lang="en-US" altLang="en-US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uLnTx/>
                          <a:uFillTx/>
                          <a:latin typeface="Times New Roman"/>
                          <a:ea typeface="Lucida Sans Unicode" panose="020B0602030504020204" pitchFamily="34" charset="0"/>
                          <a:cs typeface="Times New Roman"/>
                        </a:rPr>
                        <a:t>→  </a:t>
                      </a:r>
                      <a:r>
                        <a:rPr kumimoji="0" lang="en-US" altLang="en-US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uLnTx/>
                          <a:uFillTx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15 which is 0000 1111</a:t>
                      </a:r>
                      <a:endParaRPr kumimoji="0" lang="en-US" alt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uLnTx/>
                        <a:uFillTx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20654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1" y="1"/>
            <a:ext cx="9729787" cy="116114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solidFill>
                  <a:srgbClr val="0070C0"/>
                </a:solidFill>
              </a:rPr>
              <a:t>Python </a:t>
            </a:r>
            <a:r>
              <a:rPr lang="en-US" altLang="en-US" sz="4400" dirty="0" smtClean="0">
                <a:solidFill>
                  <a:srgbClr val="0070C0"/>
                </a:solidFill>
              </a:rPr>
              <a:t>Bitwise Logic </a:t>
            </a:r>
            <a:r>
              <a:rPr lang="en-US" altLang="en-US" sz="4400" dirty="0">
                <a:solidFill>
                  <a:srgbClr val="0070C0"/>
                </a:solidFill>
              </a:rPr>
              <a:t>Operators: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15385197"/>
              </p:ext>
            </p:extLst>
          </p:nvPr>
        </p:nvGraphicFramePr>
        <p:xfrm>
          <a:off x="239049" y="1179545"/>
          <a:ext cx="9248504" cy="4278257"/>
        </p:xfrm>
        <a:graphic>
          <a:graphicData uri="http://schemas.openxmlformats.org/drawingml/2006/table">
            <a:tbl>
              <a:tblPr/>
              <a:tblGrid>
                <a:gridCol w="142544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715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108059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43777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Operator</a:t>
                      </a: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Description</a:t>
                      </a: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Example</a:t>
                      </a: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64008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&amp;</a:t>
                      </a:r>
                      <a:br>
                        <a:rPr kumimoji="0" lang="en-US" altLang="en-US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</a:br>
                      <a:r>
                        <a:rPr kumimoji="0" lang="en-US" altLang="en-US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binary AND </a:t>
                      </a:r>
                      <a:endParaRPr kumimoji="0" lang="en-US" alt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uLnTx/>
                        <a:uFillTx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9525" marR="9525" marT="9144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Places a bit in the result if it exists in both operands</a:t>
                      </a:r>
                    </a:p>
                  </a:txBody>
                  <a:tcPr marL="9525" marR="9525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 marL="182563"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(60 &amp; 13)  </a:t>
                      </a:r>
                      <a:r>
                        <a:rPr kumimoji="0" lang="en-US" altLang="en-US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Times New Roman"/>
                          <a:ea typeface="Lucida Sans Unicode" panose="020B0602030504020204" pitchFamily="34" charset="0"/>
                          <a:cs typeface="Times New Roman"/>
                        </a:rPr>
                        <a:t>→  </a:t>
                      </a:r>
                      <a:r>
                        <a:rPr kumimoji="0" lang="en-US" altLang="en-US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12 which is 0000 1100</a:t>
                      </a:r>
                      <a:endParaRPr kumimoji="0" lang="en-US" alt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uLnTx/>
                        <a:uFillTx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64008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|</a:t>
                      </a:r>
                      <a:br>
                        <a:rPr kumimoji="0" lang="en-US" altLang="en-US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</a:br>
                      <a:r>
                        <a:rPr kumimoji="0" lang="en-US" altLang="en-US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binary OR </a:t>
                      </a:r>
                      <a:endParaRPr kumimoji="0" lang="en-US" alt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uLnTx/>
                        <a:uFillTx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9525" marR="9525" marT="9144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Places a bit in the result if it exists in either operand</a:t>
                      </a:r>
                    </a:p>
                  </a:txBody>
                  <a:tcPr marL="9525" marR="9525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 marL="182563"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(60 | 13)  </a:t>
                      </a:r>
                      <a:r>
                        <a:rPr kumimoji="0" lang="en-US" altLang="en-US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Times New Roman"/>
                          <a:ea typeface="Lucida Sans Unicode" panose="020B0602030504020204" pitchFamily="34" charset="0"/>
                          <a:cs typeface="Times New Roman"/>
                        </a:rPr>
                        <a:t>→  </a:t>
                      </a:r>
                      <a:r>
                        <a:rPr kumimoji="0" lang="en-US" altLang="en-US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61 which is 0011 1101</a:t>
                      </a:r>
                      <a:endParaRPr kumimoji="0" lang="en-US" alt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uLnTx/>
                        <a:uFillTx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64008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^</a:t>
                      </a:r>
                      <a:br>
                        <a:rPr kumimoji="0" lang="en-US" altLang="en-US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</a:br>
                      <a:r>
                        <a:rPr kumimoji="0" lang="en-US" altLang="en-US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binary XOR </a:t>
                      </a:r>
                      <a:endParaRPr kumimoji="0" lang="en-US" alt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uLnTx/>
                        <a:uFillTx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9525" marR="9525" marT="9144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Places a bit in the result if it is set in one operand but not both</a:t>
                      </a:r>
                    </a:p>
                  </a:txBody>
                  <a:tcPr marL="9525" marR="9525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 marL="182563"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(60 ^ 13)  </a:t>
                      </a:r>
                      <a:r>
                        <a:rPr kumimoji="0" lang="en-US" altLang="en-US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Times New Roman"/>
                          <a:ea typeface="Lucida Sans Unicode" panose="020B0602030504020204" pitchFamily="34" charset="0"/>
                          <a:cs typeface="Times New Roman"/>
                        </a:rPr>
                        <a:t>→  </a:t>
                      </a:r>
                      <a:r>
                        <a:rPr kumimoji="0" lang="en-US" altLang="en-US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49 which is 0011 0001</a:t>
                      </a:r>
                      <a:endParaRPr kumimoji="0" lang="en-US" alt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uLnTx/>
                        <a:uFillTx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64008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~</a:t>
                      </a:r>
                      <a:br>
                        <a:rPr kumimoji="0" lang="en-US" altLang="en-US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</a:br>
                      <a:r>
                        <a:rPr kumimoji="0" lang="en-US" altLang="en-US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binary FLIP </a:t>
                      </a:r>
                      <a:endParaRPr kumimoji="0" lang="en-US" alt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uLnTx/>
                        <a:uFillTx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9525" marR="9525" marT="9144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spc="-20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Places a bit in the result if it is not set in the operand (on the right-hand)</a:t>
                      </a:r>
                    </a:p>
                  </a:txBody>
                  <a:tcPr marL="9525" marR="9525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 marL="182563"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(~60 )  </a:t>
                      </a:r>
                      <a:r>
                        <a:rPr kumimoji="0" lang="en-US" altLang="en-US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Times New Roman"/>
                          <a:ea typeface="Lucida Sans Unicode" panose="020B0602030504020204" pitchFamily="34" charset="0"/>
                          <a:cs typeface="Times New Roman"/>
                        </a:rPr>
                        <a:t>→  </a:t>
                      </a:r>
                      <a:r>
                        <a:rPr kumimoji="0" lang="en-US" altLang="en-US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-61 </a:t>
                      </a:r>
                      <a:br>
                        <a:rPr kumimoji="0" lang="en-US" altLang="en-US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</a:br>
                      <a:r>
                        <a:rPr kumimoji="0" lang="en-US" altLang="en-US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which is …</a:t>
                      </a:r>
                      <a:r>
                        <a:rPr kumimoji="0" lang="en-US" altLang="en-US" sz="1600" b="0" i="0" u="none" strike="noStrike" kern="1200" cap="none" spc="-100" normalizeH="0" baseline="0" noProof="0" dirty="0" smtClean="0">
                          <a:ln>
                            <a:noFill/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1100 0011</a:t>
                      </a:r>
                      <a:endParaRPr kumimoji="0" lang="en-US" altLang="en-US" sz="16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uLnTx/>
                        <a:uFillTx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64008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&lt;&lt;</a:t>
                      </a:r>
                      <a:br>
                        <a:rPr kumimoji="0" lang="en-US" altLang="en-US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</a:br>
                      <a:r>
                        <a:rPr kumimoji="0" lang="en-US" altLang="en-US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left shift </a:t>
                      </a:r>
                      <a:endParaRPr kumimoji="0" lang="en-US" alt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uLnTx/>
                        <a:uFillTx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9525" marR="9525" marT="9144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The left operand’s value moves left by the number of bits indicated by the right operand</a:t>
                      </a:r>
                    </a:p>
                  </a:txBody>
                  <a:tcPr marL="9525" marR="9525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 marL="182563"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60 &lt;&lt; 2  </a:t>
                      </a:r>
                      <a:r>
                        <a:rPr kumimoji="0" lang="en-US" altLang="en-US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Times New Roman"/>
                          <a:ea typeface="Lucida Sans Unicode" panose="020B0602030504020204" pitchFamily="34" charset="0"/>
                          <a:cs typeface="Times New Roman"/>
                        </a:rPr>
                        <a:t>→  </a:t>
                      </a:r>
                      <a:r>
                        <a:rPr kumimoji="0" lang="en-US" altLang="en-US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240 which is 1111 0000</a:t>
                      </a:r>
                      <a:endParaRPr kumimoji="0" lang="en-US" alt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uLnTx/>
                        <a:uFillTx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64008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&gt;&gt; </a:t>
                      </a:r>
                      <a:br>
                        <a:rPr kumimoji="0" lang="en-US" altLang="en-US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</a:br>
                      <a:r>
                        <a:rPr kumimoji="0" lang="en-US" altLang="en-US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right shift </a:t>
                      </a:r>
                      <a:endParaRPr kumimoji="0" lang="en-US" alt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uLnTx/>
                        <a:uFillTx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9525" marR="9525" marT="9144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The left operand’s value moves right by the number of bits indicated by the right operand</a:t>
                      </a:r>
                    </a:p>
                  </a:txBody>
                  <a:tcPr marL="9525" marR="9525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 marL="182563"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60 &gt;&gt; 2  </a:t>
                      </a:r>
                      <a:r>
                        <a:rPr kumimoji="0" lang="en-US" altLang="en-US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Times New Roman"/>
                          <a:ea typeface="Lucida Sans Unicode" panose="020B0602030504020204" pitchFamily="34" charset="0"/>
                          <a:cs typeface="Times New Roman"/>
                        </a:rPr>
                        <a:t>→  </a:t>
                      </a:r>
                      <a:r>
                        <a:rPr kumimoji="0" lang="en-US" altLang="en-US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15 which is 0000 1111</a:t>
                      </a:r>
                      <a:endParaRPr kumimoji="0" lang="en-US" alt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uLnTx/>
                        <a:uFillTx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3334461" y="2786609"/>
            <a:ext cx="3064476" cy="13221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These are all identical to C++</a:t>
            </a:r>
          </a:p>
        </p:txBody>
      </p:sp>
    </p:spTree>
    <p:extLst>
      <p:ext uri="{BB962C8B-B14F-4D97-AF65-F5344CB8AC3E}">
        <p14:creationId xmlns:p14="http://schemas.microsoft.com/office/powerpoint/2010/main" val="41740387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1" y="1"/>
            <a:ext cx="9729787" cy="116114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solidFill>
                  <a:srgbClr val="0070C0"/>
                </a:solidFill>
              </a:rPr>
              <a:t>Python </a:t>
            </a:r>
            <a:r>
              <a:rPr lang="en-US" altLang="en-US" sz="4400" dirty="0" smtClean="0">
                <a:solidFill>
                  <a:srgbClr val="0070C0"/>
                </a:solidFill>
              </a:rPr>
              <a:t>Logic </a:t>
            </a:r>
            <a:r>
              <a:rPr lang="en-US" altLang="en-US" sz="4400" dirty="0">
                <a:solidFill>
                  <a:srgbClr val="0070C0"/>
                </a:solidFill>
              </a:rPr>
              <a:t>Operators: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/>
          </p:nvPr>
        </p:nvGraphicFramePr>
        <p:xfrm>
          <a:off x="239049" y="1179545"/>
          <a:ext cx="9248504" cy="3148589"/>
        </p:xfrm>
        <a:graphic>
          <a:graphicData uri="http://schemas.openxmlformats.org/drawingml/2006/table">
            <a:tbl>
              <a:tblPr/>
              <a:tblGrid>
                <a:gridCol w="142544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715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108059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43777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Operator</a:t>
                      </a: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Description</a:t>
                      </a: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Example</a:t>
                      </a: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 fontAlgn="t"/>
                      <a:r>
                        <a:rPr lang="en-US" sz="2400" b="1" i="0" u="none" strike="noStrike" dirty="0">
                          <a:solidFill>
                            <a:srgbClr val="FF3300"/>
                          </a:solidFill>
                          <a:latin typeface="+mn-lt"/>
                        </a:rPr>
                        <a:t>and</a:t>
                      </a:r>
                    </a:p>
                  </a:txBody>
                  <a:tcPr marL="8287" marR="8287" marT="9524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400" b="0" i="0" u="none" strike="noStrike" dirty="0" smtClean="0">
                          <a:solidFill>
                            <a:schemeClr val="tx1"/>
                          </a:solidFill>
                          <a:latin typeface="+mn-lt"/>
                        </a:rPr>
                        <a:t>If </a:t>
                      </a:r>
                      <a:r>
                        <a:rPr lang="en-US" sz="2400" b="0" i="0" u="none" strike="noStrike" dirty="0">
                          <a:solidFill>
                            <a:schemeClr val="tx1"/>
                          </a:solidFill>
                          <a:latin typeface="+mn-lt"/>
                        </a:rPr>
                        <a:t>both the operands </a:t>
                      </a:r>
                      <a:r>
                        <a:rPr lang="en-US" sz="2400" b="0" i="0" u="none" strike="noStrike" dirty="0" smtClean="0">
                          <a:solidFill>
                            <a:schemeClr val="tx1"/>
                          </a:solidFill>
                          <a:latin typeface="+mn-lt"/>
                        </a:rPr>
                        <a:t>are nonzero then </a:t>
                      </a:r>
                      <a:r>
                        <a:rPr lang="en-US" sz="2400" b="0" i="0" u="none" strike="noStrike" dirty="0">
                          <a:solidFill>
                            <a:schemeClr val="tx1"/>
                          </a:solidFill>
                          <a:latin typeface="+mn-lt"/>
                        </a:rPr>
                        <a:t>then condition becomes </a:t>
                      </a:r>
                      <a:r>
                        <a:rPr lang="en-US" sz="2400" b="0" i="0" u="none" strike="noStrike" dirty="0" smtClean="0">
                          <a:solidFill>
                            <a:schemeClr val="tx1"/>
                          </a:solidFill>
                          <a:latin typeface="+mn-lt"/>
                        </a:rPr>
                        <a:t>True.</a:t>
                      </a:r>
                      <a:endParaRPr lang="en-US" sz="2400" b="0" i="0" u="none" strike="noStrike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R="8287" marT="9524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182563" indent="-182563" algn="ctr" fontAlgn="t"/>
                      <a:r>
                        <a:rPr lang="en-US" sz="2000" b="0" i="0" u="none" strike="noStrike" dirty="0" smtClean="0">
                          <a:solidFill>
                            <a:srgbClr val="FF3300"/>
                          </a:solidFill>
                          <a:latin typeface="+mn-lt"/>
                        </a:rPr>
                        <a:t>(True </a:t>
                      </a:r>
                      <a:r>
                        <a:rPr lang="en-US" sz="2000" b="0" i="0" u="none" strike="noStrike" dirty="0">
                          <a:solidFill>
                            <a:srgbClr val="FF3300"/>
                          </a:solidFill>
                          <a:latin typeface="+mn-lt"/>
                        </a:rPr>
                        <a:t>and </a:t>
                      </a:r>
                      <a:r>
                        <a:rPr lang="en-US" sz="2000" b="0" i="0" u="none" strike="noStrike" dirty="0" smtClean="0">
                          <a:solidFill>
                            <a:srgbClr val="FF3300"/>
                          </a:solidFill>
                          <a:latin typeface="+mn-lt"/>
                        </a:rPr>
                        <a:t>0) </a:t>
                      </a: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Times New Roman"/>
                        </a:rPr>
                        <a:t>→</a:t>
                      </a:r>
                      <a:r>
                        <a:rPr lang="en-US" sz="2000" b="0" i="0" u="none" strike="noStrike" dirty="0" smtClean="0">
                          <a:solidFill>
                            <a:srgbClr val="FF3300"/>
                          </a:solidFill>
                          <a:latin typeface="+mn-lt"/>
                        </a:rPr>
                        <a:t> False</a:t>
                      </a:r>
                      <a:endParaRPr lang="en-US" sz="2000" b="0" i="0" u="none" strike="noStrike" dirty="0">
                        <a:solidFill>
                          <a:srgbClr val="FF3300"/>
                        </a:solidFill>
                        <a:latin typeface="+mn-lt"/>
                      </a:endParaRPr>
                    </a:p>
                  </a:txBody>
                  <a:tcPr marL="8287" marR="8287" marT="9524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 fontAlgn="t"/>
                      <a:r>
                        <a:rPr lang="en-US" sz="2400" b="1" i="0" u="none" strike="noStrike" dirty="0">
                          <a:solidFill>
                            <a:srgbClr val="FF3300"/>
                          </a:solidFill>
                          <a:latin typeface="+mn-lt"/>
                        </a:rPr>
                        <a:t>or</a:t>
                      </a:r>
                    </a:p>
                  </a:txBody>
                  <a:tcPr marL="8287" marR="8287" marT="9524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400" b="0" i="0" u="none" strike="noStrike" dirty="0" smtClean="0">
                          <a:solidFill>
                            <a:schemeClr val="tx1"/>
                          </a:solidFill>
                          <a:latin typeface="+mn-lt"/>
                        </a:rPr>
                        <a:t>If either </a:t>
                      </a:r>
                      <a:r>
                        <a:rPr lang="en-US" sz="2400" b="0" i="0" u="none" strike="noStrike" dirty="0">
                          <a:solidFill>
                            <a:schemeClr val="tx1"/>
                          </a:solidFill>
                          <a:latin typeface="+mn-lt"/>
                        </a:rPr>
                        <a:t>of the two operands are non zero then then condition becomes </a:t>
                      </a:r>
                      <a:r>
                        <a:rPr lang="en-US" sz="2400" b="0" i="0" u="none" strike="noStrike" dirty="0" smtClean="0">
                          <a:solidFill>
                            <a:schemeClr val="tx1"/>
                          </a:solidFill>
                          <a:latin typeface="+mn-lt"/>
                        </a:rPr>
                        <a:t>True.</a:t>
                      </a:r>
                      <a:endParaRPr lang="en-US" sz="2400" b="0" i="0" u="none" strike="noStrike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R="8287" marT="9524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marL="182563" indent="-182563" algn="ctr" fontAlgn="t"/>
                      <a:r>
                        <a:rPr lang="en-US" sz="2000" b="0" i="0" u="none" strike="noStrike" dirty="0" smtClean="0">
                          <a:solidFill>
                            <a:srgbClr val="FF3300"/>
                          </a:solidFill>
                          <a:latin typeface="+mn-lt"/>
                        </a:rPr>
                        <a:t>(True </a:t>
                      </a:r>
                      <a:r>
                        <a:rPr lang="en-US" sz="2000" b="0" i="0" u="none" strike="noStrike" dirty="0">
                          <a:solidFill>
                            <a:srgbClr val="FF3300"/>
                          </a:solidFill>
                          <a:latin typeface="+mn-lt"/>
                        </a:rPr>
                        <a:t>or </a:t>
                      </a:r>
                      <a:r>
                        <a:rPr lang="en-US" sz="2000" b="0" i="0" u="none" strike="noStrike" dirty="0" smtClean="0">
                          <a:solidFill>
                            <a:srgbClr val="FF3300"/>
                          </a:solidFill>
                          <a:latin typeface="+mn-lt"/>
                        </a:rPr>
                        <a:t>0) </a:t>
                      </a: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Times New Roman"/>
                        </a:rPr>
                        <a:t>→</a:t>
                      </a:r>
                      <a:r>
                        <a:rPr lang="en-US" sz="2000" b="0" i="0" u="none" strike="noStrike" dirty="0" smtClean="0">
                          <a:solidFill>
                            <a:srgbClr val="FF3300"/>
                          </a:solidFill>
                          <a:latin typeface="+mn-lt"/>
                        </a:rPr>
                        <a:t> True</a:t>
                      </a:r>
                      <a:endParaRPr lang="en-US" sz="2000" b="0" i="0" u="none" strike="noStrike" dirty="0">
                        <a:solidFill>
                          <a:srgbClr val="FF3300"/>
                        </a:solidFill>
                        <a:latin typeface="+mn-lt"/>
                      </a:endParaRPr>
                    </a:p>
                  </a:txBody>
                  <a:tcPr marL="8287" marR="8287" marT="9524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 fontAlgn="t"/>
                      <a:r>
                        <a:rPr lang="en-US" sz="2400" b="1" i="0" u="none" strike="noStrike" dirty="0">
                          <a:solidFill>
                            <a:srgbClr val="FF3300"/>
                          </a:solidFill>
                          <a:latin typeface="+mn-lt"/>
                        </a:rPr>
                        <a:t>not</a:t>
                      </a:r>
                    </a:p>
                  </a:txBody>
                  <a:tcPr marL="8287" marR="8287" marT="9524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400" b="0" i="0" u="none" strike="noStrike" dirty="0" smtClean="0">
                          <a:solidFill>
                            <a:schemeClr val="tx1"/>
                          </a:solidFill>
                          <a:latin typeface="+mn-lt"/>
                        </a:rPr>
                        <a:t>If the operand is nonzero, then the condition becomes False. Otherwise, it becomes True.</a:t>
                      </a:r>
                      <a:endParaRPr lang="en-US" sz="2400" b="0" i="0" u="none" strike="noStrike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R="8287" marT="9524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t"/>
                      <a:r>
                        <a:rPr lang="en-US" sz="2000" b="0" i="0" u="none" strike="noStrike" dirty="0" smtClean="0">
                          <a:solidFill>
                            <a:srgbClr val="FF3300"/>
                          </a:solidFill>
                          <a:latin typeface="+mn-lt"/>
                        </a:rPr>
                        <a:t>not</a:t>
                      </a:r>
                      <a:r>
                        <a:rPr lang="en-US" sz="2000" b="0" i="0" u="none" strike="noStrike" baseline="0" dirty="0" smtClean="0">
                          <a:solidFill>
                            <a:srgbClr val="FF3300"/>
                          </a:solidFill>
                          <a:latin typeface="+mn-lt"/>
                        </a:rPr>
                        <a:t> 7</a:t>
                      </a:r>
                      <a:r>
                        <a:rPr lang="en-US" sz="2000" b="0" i="0" u="none" strike="noStrike" dirty="0" smtClean="0">
                          <a:solidFill>
                            <a:srgbClr val="FF3300"/>
                          </a:solidFill>
                          <a:latin typeface="+mn-lt"/>
                        </a:rPr>
                        <a:t> </a:t>
                      </a: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Times New Roman"/>
                        </a:rPr>
                        <a:t>→</a:t>
                      </a:r>
                      <a:r>
                        <a:rPr lang="en-US" sz="2000" b="0" i="0" u="none" strike="noStrike" dirty="0" smtClean="0">
                          <a:solidFill>
                            <a:srgbClr val="FF3300"/>
                          </a:solidFill>
                          <a:latin typeface="+mn-lt"/>
                        </a:rPr>
                        <a:t> False</a:t>
                      </a:r>
                    </a:p>
                    <a:p>
                      <a:pPr marL="0" indent="0" algn="ctr" fontAlgn="t"/>
                      <a:r>
                        <a:rPr lang="en-US" sz="2000" b="0" i="0" u="none" strike="noStrike" dirty="0" smtClean="0">
                          <a:solidFill>
                            <a:srgbClr val="FF3300"/>
                          </a:solidFill>
                          <a:latin typeface="+mn-lt"/>
                        </a:rPr>
                        <a:t>not 0 </a:t>
                      </a: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Times New Roman"/>
                        </a:rPr>
                        <a:t>→</a:t>
                      </a:r>
                      <a:r>
                        <a:rPr lang="en-US" sz="2000" b="0" i="0" u="none" strike="noStrike" dirty="0" smtClean="0">
                          <a:solidFill>
                            <a:srgbClr val="FF3300"/>
                          </a:solidFill>
                          <a:latin typeface="+mn-lt"/>
                        </a:rPr>
                        <a:t> True</a:t>
                      </a:r>
                    </a:p>
                    <a:p>
                      <a:pPr marL="0" indent="0" algn="ctr" fontAlgn="t"/>
                      <a:r>
                        <a:rPr lang="en-US" sz="2000" b="0" i="0" u="none" strike="noStrike" dirty="0" smtClean="0">
                          <a:solidFill>
                            <a:srgbClr val="FF3300"/>
                          </a:solidFill>
                          <a:latin typeface="+mn-lt"/>
                        </a:rPr>
                        <a:t>not</a:t>
                      </a:r>
                      <a:r>
                        <a:rPr lang="en-US" sz="2000" b="0" i="0" u="none" strike="noStrike" baseline="0" dirty="0" smtClean="0">
                          <a:solidFill>
                            <a:srgbClr val="FF3300"/>
                          </a:solidFill>
                          <a:latin typeface="+mn-lt"/>
                        </a:rPr>
                        <a:t> "hello"</a:t>
                      </a:r>
                      <a:r>
                        <a:rPr lang="en-US" sz="2000" b="0" i="0" u="none" strike="noStrike" dirty="0" smtClean="0">
                          <a:solidFill>
                            <a:srgbClr val="FF3300"/>
                          </a:solidFill>
                          <a:latin typeface="+mn-lt"/>
                        </a:rPr>
                        <a:t> </a:t>
                      </a: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Times New Roman"/>
                        </a:rPr>
                        <a:t>→</a:t>
                      </a:r>
                      <a:r>
                        <a:rPr lang="en-US" sz="2000" b="0" i="0" u="none" strike="noStrike" dirty="0" smtClean="0">
                          <a:solidFill>
                            <a:srgbClr val="FF3300"/>
                          </a:solidFill>
                          <a:latin typeface="+mn-lt"/>
                        </a:rPr>
                        <a:t> False</a:t>
                      </a:r>
                    </a:p>
                    <a:p>
                      <a:pPr marL="0" indent="0" algn="ctr" fontAlgn="t"/>
                      <a:r>
                        <a:rPr lang="en-US" sz="2000" b="0" i="0" u="none" strike="noStrike" dirty="0" smtClean="0">
                          <a:solidFill>
                            <a:srgbClr val="FF3300"/>
                          </a:solidFill>
                          <a:latin typeface="+mn-lt"/>
                        </a:rPr>
                        <a:t>not False </a:t>
                      </a: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Times New Roman"/>
                        </a:rPr>
                        <a:t>→</a:t>
                      </a:r>
                      <a:r>
                        <a:rPr lang="en-US" sz="2000" b="0" i="0" u="none" strike="noStrike" dirty="0" smtClean="0">
                          <a:solidFill>
                            <a:srgbClr val="FF3300"/>
                          </a:solidFill>
                          <a:latin typeface="+mn-lt"/>
                        </a:rPr>
                        <a:t> True</a:t>
                      </a:r>
                    </a:p>
                  </a:txBody>
                  <a:tcPr marL="8287" marR="8287" marT="9524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10511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1" y="1"/>
            <a:ext cx="9729787" cy="116114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solidFill>
                  <a:srgbClr val="0070C0"/>
                </a:solidFill>
              </a:rPr>
              <a:t>Python </a:t>
            </a:r>
            <a:r>
              <a:rPr lang="en-US" altLang="en-US" sz="4400" dirty="0" smtClean="0">
                <a:solidFill>
                  <a:srgbClr val="0070C0"/>
                </a:solidFill>
              </a:rPr>
              <a:t>Logic </a:t>
            </a:r>
            <a:r>
              <a:rPr lang="en-US" altLang="en-US" sz="4400" dirty="0">
                <a:solidFill>
                  <a:srgbClr val="0070C0"/>
                </a:solidFill>
              </a:rPr>
              <a:t>Operators: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39191281"/>
              </p:ext>
            </p:extLst>
          </p:nvPr>
        </p:nvGraphicFramePr>
        <p:xfrm>
          <a:off x="239049" y="1179545"/>
          <a:ext cx="9248504" cy="3148589"/>
        </p:xfrm>
        <a:graphic>
          <a:graphicData uri="http://schemas.openxmlformats.org/drawingml/2006/table">
            <a:tbl>
              <a:tblPr/>
              <a:tblGrid>
                <a:gridCol w="142544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715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108059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43777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Operator</a:t>
                      </a: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Description</a:t>
                      </a: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Example</a:t>
                      </a: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 fontAlgn="t"/>
                      <a:r>
                        <a:rPr lang="en-US" sz="2400" b="1" i="0" u="none" strike="noStrike" dirty="0">
                          <a:solidFill>
                            <a:srgbClr val="FF3300"/>
                          </a:solidFill>
                          <a:latin typeface="+mn-lt"/>
                        </a:rPr>
                        <a:t>and</a:t>
                      </a:r>
                    </a:p>
                  </a:txBody>
                  <a:tcPr marL="8287" marR="8287" marT="9524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400" b="0" i="0" u="none" strike="noStrike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+mn-lt"/>
                        </a:rPr>
                        <a:t>If </a:t>
                      </a:r>
                      <a:r>
                        <a:rPr lang="en-US" sz="2400" b="0" i="0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+mn-lt"/>
                        </a:rPr>
                        <a:t>both the operands </a:t>
                      </a:r>
                      <a:r>
                        <a:rPr lang="en-US" sz="2400" b="0" i="0" u="none" strike="noStrike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+mn-lt"/>
                        </a:rPr>
                        <a:t>are nonzero then </a:t>
                      </a:r>
                      <a:r>
                        <a:rPr lang="en-US" sz="2400" b="0" i="0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+mn-lt"/>
                        </a:rPr>
                        <a:t>then condition becomes </a:t>
                      </a:r>
                      <a:r>
                        <a:rPr lang="en-US" sz="2400" b="0" i="0" u="none" strike="noStrike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+mn-lt"/>
                        </a:rPr>
                        <a:t>True.</a:t>
                      </a:r>
                      <a:endParaRPr lang="en-US" sz="2400" b="0" i="0" u="none" strike="noStrike" dirty="0">
                        <a:solidFill>
                          <a:schemeClr val="bg1">
                            <a:lumMod val="75000"/>
                          </a:schemeClr>
                        </a:solidFill>
                        <a:latin typeface="+mn-lt"/>
                      </a:endParaRPr>
                    </a:p>
                  </a:txBody>
                  <a:tcPr marR="8287" marT="9524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182563" indent="-182563" algn="ctr" fontAlgn="t"/>
                      <a:r>
                        <a:rPr lang="en-US" sz="2000" b="0" i="0" u="none" strike="noStrike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+mn-lt"/>
                        </a:rPr>
                        <a:t>(True </a:t>
                      </a:r>
                      <a:r>
                        <a:rPr lang="en-US" sz="2000" b="0" i="0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+mn-lt"/>
                        </a:rPr>
                        <a:t>and </a:t>
                      </a:r>
                      <a:r>
                        <a:rPr lang="en-US" sz="2000" b="0" i="0" u="none" strike="noStrike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+mn-lt"/>
                        </a:rPr>
                        <a:t>0) </a:t>
                      </a: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Times New Roman"/>
                        </a:rPr>
                        <a:t>→</a:t>
                      </a:r>
                      <a:r>
                        <a:rPr lang="en-US" sz="2000" b="0" i="0" u="none" strike="noStrike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+mn-lt"/>
                        </a:rPr>
                        <a:t> False</a:t>
                      </a:r>
                      <a:endParaRPr lang="en-US" sz="2000" b="0" i="0" u="none" strike="noStrike" dirty="0">
                        <a:solidFill>
                          <a:schemeClr val="bg1">
                            <a:lumMod val="75000"/>
                          </a:schemeClr>
                        </a:solidFill>
                        <a:latin typeface="+mn-lt"/>
                      </a:endParaRPr>
                    </a:p>
                  </a:txBody>
                  <a:tcPr marL="8287" marR="8287" marT="9524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 fontAlgn="t"/>
                      <a:r>
                        <a:rPr lang="en-US" sz="2400" b="1" i="0" u="none" strike="noStrike" dirty="0">
                          <a:solidFill>
                            <a:srgbClr val="FF3300"/>
                          </a:solidFill>
                          <a:latin typeface="+mn-lt"/>
                        </a:rPr>
                        <a:t>or</a:t>
                      </a:r>
                    </a:p>
                  </a:txBody>
                  <a:tcPr marL="8287" marR="8287" marT="9524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400" b="0" i="0" u="none" strike="noStrike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+mn-lt"/>
                        </a:rPr>
                        <a:t>If either </a:t>
                      </a:r>
                      <a:r>
                        <a:rPr lang="en-US" sz="2400" b="0" i="0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+mn-lt"/>
                        </a:rPr>
                        <a:t>of the two operands are non zero then then condition becomes </a:t>
                      </a:r>
                      <a:r>
                        <a:rPr lang="en-US" sz="2400" b="0" i="0" u="none" strike="noStrike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+mn-lt"/>
                        </a:rPr>
                        <a:t>True.</a:t>
                      </a:r>
                      <a:endParaRPr lang="en-US" sz="2400" b="0" i="0" u="none" strike="noStrike" dirty="0">
                        <a:solidFill>
                          <a:schemeClr val="bg1">
                            <a:lumMod val="75000"/>
                          </a:schemeClr>
                        </a:solidFill>
                        <a:latin typeface="+mn-lt"/>
                      </a:endParaRPr>
                    </a:p>
                  </a:txBody>
                  <a:tcPr marR="8287" marT="9524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marL="182563" indent="-182563" algn="ctr" fontAlgn="t"/>
                      <a:r>
                        <a:rPr lang="en-US" sz="2000" b="0" i="0" u="none" strike="noStrike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+mn-lt"/>
                        </a:rPr>
                        <a:t>(True </a:t>
                      </a:r>
                      <a:r>
                        <a:rPr lang="en-US" sz="2000" b="0" i="0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+mn-lt"/>
                        </a:rPr>
                        <a:t>or </a:t>
                      </a:r>
                      <a:r>
                        <a:rPr lang="en-US" sz="2000" b="0" i="0" u="none" strike="noStrike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+mn-lt"/>
                        </a:rPr>
                        <a:t>0) </a:t>
                      </a: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Times New Roman"/>
                        </a:rPr>
                        <a:t>→</a:t>
                      </a:r>
                      <a:r>
                        <a:rPr lang="en-US" sz="2000" b="0" i="0" u="none" strike="noStrike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+mn-lt"/>
                        </a:rPr>
                        <a:t> True</a:t>
                      </a:r>
                      <a:endParaRPr lang="en-US" sz="2000" b="0" i="0" u="none" strike="noStrike" dirty="0">
                        <a:solidFill>
                          <a:schemeClr val="bg1">
                            <a:lumMod val="75000"/>
                          </a:schemeClr>
                        </a:solidFill>
                        <a:latin typeface="+mn-lt"/>
                      </a:endParaRPr>
                    </a:p>
                  </a:txBody>
                  <a:tcPr marL="8287" marR="8287" marT="9524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 fontAlgn="t"/>
                      <a:r>
                        <a:rPr lang="en-US" sz="2400" b="1" i="0" u="none" strike="noStrike" dirty="0">
                          <a:solidFill>
                            <a:srgbClr val="FF3300"/>
                          </a:solidFill>
                          <a:latin typeface="+mn-lt"/>
                        </a:rPr>
                        <a:t>not</a:t>
                      </a:r>
                    </a:p>
                  </a:txBody>
                  <a:tcPr marL="8287" marR="8287" marT="9524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400" b="0" i="0" u="none" strike="noStrike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+mn-lt"/>
                        </a:rPr>
                        <a:t>If the operand is nonzero, then the condition becomes False. Otherwise, it becomes True.</a:t>
                      </a:r>
                      <a:endParaRPr lang="en-US" sz="2400" b="0" i="0" u="none" strike="noStrike" dirty="0">
                        <a:solidFill>
                          <a:schemeClr val="bg1">
                            <a:lumMod val="75000"/>
                          </a:schemeClr>
                        </a:solidFill>
                        <a:latin typeface="+mn-lt"/>
                      </a:endParaRPr>
                    </a:p>
                  </a:txBody>
                  <a:tcPr marR="8287" marT="9524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t"/>
                      <a:r>
                        <a:rPr lang="en-US" sz="2000" b="0" i="0" u="none" strike="noStrike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+mn-lt"/>
                        </a:rPr>
                        <a:t>not</a:t>
                      </a:r>
                      <a:r>
                        <a:rPr lang="en-US" sz="2000" b="0" i="0" u="none" strike="noStrike" baseline="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+mn-lt"/>
                        </a:rPr>
                        <a:t> 7</a:t>
                      </a:r>
                      <a:r>
                        <a:rPr lang="en-US" sz="2000" b="0" i="0" u="none" strike="noStrike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+mn-lt"/>
                        </a:rPr>
                        <a:t> </a:t>
                      </a: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Times New Roman"/>
                        </a:rPr>
                        <a:t>→</a:t>
                      </a:r>
                      <a:r>
                        <a:rPr lang="en-US" sz="2000" b="0" i="0" u="none" strike="noStrike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+mn-lt"/>
                        </a:rPr>
                        <a:t> False</a:t>
                      </a:r>
                    </a:p>
                    <a:p>
                      <a:pPr marL="0" indent="0" algn="ctr" fontAlgn="t"/>
                      <a:r>
                        <a:rPr lang="en-US" sz="2000" b="0" i="0" u="none" strike="noStrike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+mn-lt"/>
                        </a:rPr>
                        <a:t>not 0 </a:t>
                      </a: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Times New Roman"/>
                        </a:rPr>
                        <a:t>→</a:t>
                      </a:r>
                      <a:r>
                        <a:rPr lang="en-US" sz="2000" b="0" i="0" u="none" strike="noStrike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+mn-lt"/>
                        </a:rPr>
                        <a:t> True</a:t>
                      </a:r>
                    </a:p>
                    <a:p>
                      <a:pPr marL="0" indent="0" algn="ctr" fontAlgn="t"/>
                      <a:r>
                        <a:rPr lang="en-US" sz="2000" b="0" i="0" u="none" strike="noStrike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+mn-lt"/>
                        </a:rPr>
                        <a:t>not</a:t>
                      </a:r>
                      <a:r>
                        <a:rPr lang="en-US" sz="2000" b="0" i="0" u="none" strike="noStrike" baseline="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+mn-lt"/>
                        </a:rPr>
                        <a:t> "hello"</a:t>
                      </a:r>
                      <a:r>
                        <a:rPr lang="en-US" sz="2000" b="0" i="0" u="none" strike="noStrike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+mn-lt"/>
                        </a:rPr>
                        <a:t> </a:t>
                      </a: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Times New Roman"/>
                        </a:rPr>
                        <a:t>→</a:t>
                      </a:r>
                      <a:r>
                        <a:rPr lang="en-US" sz="2000" b="0" i="0" u="none" strike="noStrike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+mn-lt"/>
                        </a:rPr>
                        <a:t> False</a:t>
                      </a:r>
                    </a:p>
                    <a:p>
                      <a:pPr marL="0" indent="0" algn="ctr" fontAlgn="t"/>
                      <a:r>
                        <a:rPr lang="en-US" sz="2000" b="0" i="0" u="none" strike="noStrike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+mn-lt"/>
                        </a:rPr>
                        <a:t>not False </a:t>
                      </a: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+mn-lt"/>
                          <a:ea typeface="Lucida Sans Unicode" panose="020B0602030504020204" pitchFamily="34" charset="0"/>
                          <a:cs typeface="Times New Roman"/>
                        </a:rPr>
                        <a:t>→</a:t>
                      </a:r>
                      <a:r>
                        <a:rPr lang="en-US" sz="2000" b="0" i="0" u="none" strike="noStrike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+mn-lt"/>
                        </a:rPr>
                        <a:t> True</a:t>
                      </a:r>
                    </a:p>
                  </a:txBody>
                  <a:tcPr marL="8287" marR="8287" marT="9524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3096096" y="1992461"/>
            <a:ext cx="3546393" cy="211300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r>
              <a:rPr lang="en-US" sz="2800" dirty="0" smtClean="0">
                <a:solidFill>
                  <a:schemeClr val="tx1"/>
                </a:solidFill>
              </a:rPr>
              <a:t>These </a:t>
            </a:r>
            <a:r>
              <a:rPr lang="en-US" sz="2800" i="1" dirty="0">
                <a:solidFill>
                  <a:schemeClr val="tx1"/>
                </a:solidFill>
              </a:rPr>
              <a:t>operations</a:t>
            </a:r>
            <a:r>
              <a:rPr lang="en-US" sz="2800" dirty="0">
                <a:solidFill>
                  <a:schemeClr val="tx1"/>
                </a:solidFill>
              </a:rPr>
              <a:t> are identical to C++, but Python </a:t>
            </a:r>
            <a:r>
              <a:rPr lang="en-US" sz="2800" i="1" dirty="0">
                <a:solidFill>
                  <a:schemeClr val="tx1"/>
                </a:solidFill>
              </a:rPr>
              <a:t>uses </a:t>
            </a:r>
            <a:r>
              <a:rPr lang="en-US" sz="2800" b="1" i="1" dirty="0">
                <a:solidFill>
                  <a:srgbClr val="FF3300"/>
                </a:solidFill>
              </a:rPr>
              <a:t>words</a:t>
            </a:r>
            <a:r>
              <a:rPr lang="en-US" sz="2800" dirty="0">
                <a:solidFill>
                  <a:schemeClr val="tx1"/>
                </a:solidFill>
              </a:rPr>
              <a:t>, rather than the </a:t>
            </a:r>
            <a:br>
              <a:rPr lang="en-US" sz="2800" dirty="0">
                <a:solidFill>
                  <a:schemeClr val="tx1"/>
                </a:solidFill>
              </a:rPr>
            </a:br>
            <a:r>
              <a:rPr lang="en-US" sz="2800" b="1" dirty="0">
                <a:solidFill>
                  <a:srgbClr val="FF0000"/>
                </a:solidFill>
              </a:rPr>
              <a:t>&amp;&amp;</a:t>
            </a:r>
            <a:r>
              <a:rPr lang="en-US" sz="2800" dirty="0">
                <a:solidFill>
                  <a:schemeClr val="tx1"/>
                </a:solidFill>
              </a:rPr>
              <a:t>, </a:t>
            </a:r>
            <a:r>
              <a:rPr lang="en-US" sz="2800" b="1" dirty="0">
                <a:solidFill>
                  <a:srgbClr val="FF0000"/>
                </a:solidFill>
              </a:rPr>
              <a:t>||</a:t>
            </a:r>
            <a:r>
              <a:rPr lang="en-US" sz="2800" dirty="0">
                <a:solidFill>
                  <a:schemeClr val="tx1"/>
                </a:solidFill>
              </a:rPr>
              <a:t>, </a:t>
            </a:r>
            <a:r>
              <a:rPr lang="en-US" sz="2800" b="1" dirty="0">
                <a:solidFill>
                  <a:srgbClr val="FF0000"/>
                </a:solidFill>
              </a:rPr>
              <a:t>!</a:t>
            </a:r>
            <a:r>
              <a:rPr lang="en-US" sz="2800" dirty="0">
                <a:solidFill>
                  <a:schemeClr val="tx1"/>
                </a:solidFill>
              </a:rPr>
              <a:t> symbols.</a:t>
            </a:r>
          </a:p>
        </p:txBody>
      </p:sp>
    </p:spTree>
    <p:extLst>
      <p:ext uri="{BB962C8B-B14F-4D97-AF65-F5344CB8AC3E}">
        <p14:creationId xmlns:p14="http://schemas.microsoft.com/office/powerpoint/2010/main" val="176862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" y="1"/>
            <a:ext cx="9729787" cy="1161142"/>
          </a:xfrm>
        </p:spPr>
        <p:txBody>
          <a:bodyPr>
            <a:normAutofit fontScale="90000"/>
          </a:bodyPr>
          <a:lstStyle/>
          <a:p>
            <a:r>
              <a:rPr lang="en-US" altLang="en-US" sz="4400" dirty="0">
                <a:solidFill>
                  <a:srgbClr val="0070C0"/>
                </a:solidFill>
              </a:rPr>
              <a:t>Python </a:t>
            </a:r>
            <a:r>
              <a:rPr lang="en-US" altLang="en-US" sz="4400" dirty="0" smtClean="0">
                <a:solidFill>
                  <a:srgbClr val="0070C0"/>
                </a:solidFill>
              </a:rPr>
              <a:t>Operator Precedence (</a:t>
            </a:r>
            <a:r>
              <a:rPr lang="zh-TW" altLang="en-US" sz="4000" dirty="0">
                <a:solidFill>
                  <a:srgbClr val="0070C0"/>
                </a:solidFill>
              </a:rPr>
              <a:t>优先权</a:t>
            </a:r>
            <a:r>
              <a:rPr lang="en-US" altLang="en-US" sz="4400" dirty="0" smtClean="0">
                <a:solidFill>
                  <a:srgbClr val="0070C0"/>
                </a:solidFill>
              </a:rPr>
              <a:t>)</a:t>
            </a:r>
            <a:endParaRPr lang="en-US" altLang="en-US" sz="4400" dirty="0">
              <a:solidFill>
                <a:srgbClr val="0070C0"/>
              </a:solidFill>
            </a:endParaRPr>
          </a:p>
        </p:txBody>
      </p:sp>
      <p:graphicFrame>
        <p:nvGraphicFramePr>
          <p:cNvPr id="3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8023644"/>
              </p:ext>
            </p:extLst>
          </p:nvPr>
        </p:nvGraphicFramePr>
        <p:xfrm>
          <a:off x="140494" y="990600"/>
          <a:ext cx="9448800" cy="5766816"/>
        </p:xfrm>
        <a:graphic>
          <a:graphicData uri="http://schemas.openxmlformats.org/drawingml/2006/table">
            <a:tbl>
              <a:tblPr/>
              <a:tblGrid>
                <a:gridCol w="28194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6294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42976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Operator</a:t>
                      </a: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Description</a:t>
                      </a: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2976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**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Exponentiation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2976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~  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+ </a:t>
                      </a: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-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Bitwise NOT, Positive (unary +), Negative (unary -) 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42976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*  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/ </a:t>
                      </a: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%  //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Multiply and divide-based operations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2976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+  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-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Addition and subtraction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42976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&gt;&gt;  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&lt;&lt;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Shifts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42976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&amp;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Bitwise </a:t>
                      </a: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AND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42976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^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Bitwise XOR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42976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|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Bitwise OR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49377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spc="-20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&lt;=  &lt;  &gt;  &gt;=  ==  !=</a:t>
                      </a: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/>
                      </a:r>
                      <a:b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</a:br>
                      <a:r>
                        <a:rPr kumimoji="0" lang="en-US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in</a:t>
                      </a: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,</a:t>
                      </a:r>
                      <a:r>
                        <a:rPr kumimoji="0" lang="en-US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 </a:t>
                      </a:r>
                      <a:r>
                        <a:rPr kumimoji="0" lang="en-US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not in</a:t>
                      </a: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,</a:t>
                      </a:r>
                      <a:r>
                        <a:rPr kumimoji="0" lang="en-US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 </a:t>
                      </a:r>
                      <a:r>
                        <a:rPr kumimoji="0" lang="en-US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is</a:t>
                      </a: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,</a:t>
                      </a:r>
                      <a:r>
                        <a:rPr kumimoji="0" lang="en-US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 </a:t>
                      </a:r>
                      <a:r>
                        <a:rPr kumimoji="0" lang="en-US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is not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Comparison tests, including tests for </a:t>
                      </a:r>
                      <a:b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</a:b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membership and identity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42976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not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Boolean NOT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42976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and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Boolean AND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1"/>
                  </a:ext>
                </a:extLst>
              </a:tr>
              <a:tr h="42976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or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Boolean OR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32208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" y="1"/>
            <a:ext cx="9729787" cy="1161142"/>
          </a:xfrm>
        </p:spPr>
        <p:txBody>
          <a:bodyPr>
            <a:normAutofit fontScale="90000"/>
          </a:bodyPr>
          <a:lstStyle/>
          <a:p>
            <a:r>
              <a:rPr lang="en-US" altLang="en-US" sz="4400" dirty="0">
                <a:solidFill>
                  <a:srgbClr val="0070C0"/>
                </a:solidFill>
              </a:rPr>
              <a:t>Python </a:t>
            </a:r>
            <a:r>
              <a:rPr lang="en-US" altLang="en-US" sz="4400" dirty="0" smtClean="0">
                <a:solidFill>
                  <a:srgbClr val="0070C0"/>
                </a:solidFill>
              </a:rPr>
              <a:t>Operator Precedence (</a:t>
            </a:r>
            <a:r>
              <a:rPr lang="zh-TW" altLang="en-US" sz="4000" dirty="0">
                <a:solidFill>
                  <a:srgbClr val="0070C0"/>
                </a:solidFill>
              </a:rPr>
              <a:t>优先权</a:t>
            </a:r>
            <a:r>
              <a:rPr lang="en-US" altLang="en-US" sz="4400" dirty="0" smtClean="0">
                <a:solidFill>
                  <a:srgbClr val="0070C0"/>
                </a:solidFill>
              </a:rPr>
              <a:t>)</a:t>
            </a:r>
            <a:endParaRPr lang="en-US" altLang="en-US" sz="4400" dirty="0">
              <a:solidFill>
                <a:srgbClr val="0070C0"/>
              </a:solidFill>
            </a:endParaRPr>
          </a:p>
        </p:txBody>
      </p:sp>
      <p:graphicFrame>
        <p:nvGraphicFramePr>
          <p:cNvPr id="3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50959552"/>
              </p:ext>
            </p:extLst>
          </p:nvPr>
        </p:nvGraphicFramePr>
        <p:xfrm>
          <a:off x="140494" y="990600"/>
          <a:ext cx="9448800" cy="5766816"/>
        </p:xfrm>
        <a:graphic>
          <a:graphicData uri="http://schemas.openxmlformats.org/drawingml/2006/table">
            <a:tbl>
              <a:tblPr/>
              <a:tblGrid>
                <a:gridCol w="28194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6294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42976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Operator</a:t>
                      </a: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Description</a:t>
                      </a: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2976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BFBFBF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**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FBFBF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Exponentiation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BFBFBF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2976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FBFBF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~  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BFBFBF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+ </a:t>
                      </a: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FBFBF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-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BFBFBF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FBFBF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Bitwise NOT, Positive (unary +), Negative (unary -) 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BFBFBF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42976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FBFBF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*  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BFBFBF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/ </a:t>
                      </a: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FBFBF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%  //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BFBFBF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FBFBF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Multiply and divide-based operations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BFBFBF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2976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FBFBF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+  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BFBFBF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-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BFBFBF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Addition and subtraction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42976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FBFBF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&gt;&gt;  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BFBFBF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&lt;&lt;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FBFBF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Shifts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BFBFBF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42976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BFBFBF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&amp;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BFBFBF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Bitwise </a:t>
                      </a: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FBFBF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AND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BFBFBF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42976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FBFBF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^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BFBFBF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FBFBF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Bitwise XOR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BFBFBF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42976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FBFBF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|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BFBFBF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FBFBF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Bitwise OR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BFBFBF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49377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spc="-20" normalizeH="0" baseline="0" dirty="0" smtClean="0">
                          <a:ln>
                            <a:noFill/>
                          </a:ln>
                          <a:solidFill>
                            <a:srgbClr val="BFBFBF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&lt;=  &lt;  &gt;  &gt;=  ==  !=</a:t>
                      </a: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/>
                      </a:r>
                      <a:b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</a:br>
                      <a:r>
                        <a:rPr kumimoji="0" lang="en-US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in</a:t>
                      </a: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,</a:t>
                      </a:r>
                      <a:r>
                        <a:rPr kumimoji="0" lang="en-US" alt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</a:t>
                      </a:r>
                      <a:r>
                        <a:rPr kumimoji="0" lang="en-US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</a:t>
                      </a:r>
                      <a:r>
                        <a:rPr kumimoji="0" lang="en-US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not in</a:t>
                      </a: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,</a:t>
                      </a:r>
                      <a:r>
                        <a:rPr kumimoji="0" lang="en-US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 </a:t>
                      </a:r>
                      <a:r>
                        <a:rPr kumimoji="0" lang="en-US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is</a:t>
                      </a: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,</a:t>
                      </a:r>
                      <a:r>
                        <a:rPr kumimoji="0" lang="en-US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 </a:t>
                      </a:r>
                      <a:r>
                        <a:rPr kumimoji="0" lang="en-US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is not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FBFBF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Comparison tests, </a:t>
                      </a: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including tests for </a:t>
                      </a:r>
                      <a:b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</a:b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membership and identity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42976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FBFBF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not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BFBFBF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FBFBF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Boolean NOT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BFBFBF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42976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FBFBF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and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BFBFBF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FBFBF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Boolean AND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BFBFBF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1"/>
                  </a:ext>
                </a:extLst>
              </a:tr>
              <a:tr h="42976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FBFBF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or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BFBFBF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FBFBF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Boolean OR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BFBFBF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2"/>
                  </a:ext>
                </a:extLst>
              </a:tr>
            </a:tbl>
          </a:graphicData>
        </a:graphic>
      </p:graphicFrame>
      <p:sp>
        <p:nvSpPr>
          <p:cNvPr id="4" name="Rounded Rectangular Callout 3"/>
          <p:cNvSpPr/>
          <p:nvPr/>
        </p:nvSpPr>
        <p:spPr>
          <a:xfrm>
            <a:off x="2149554" y="1828800"/>
            <a:ext cx="5458540" cy="2452939"/>
          </a:xfrm>
          <a:prstGeom prst="wedgeRoundRectCallout">
            <a:avLst>
              <a:gd name="adj1" fmla="val -46609"/>
              <a:gd name="adj2" fmla="val 86664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We’ll talk about these later. But </a:t>
            </a:r>
            <a:br>
              <a:rPr lang="en-US" sz="2800" dirty="0">
                <a:solidFill>
                  <a:schemeClr val="tx1"/>
                </a:solidFill>
              </a:rPr>
            </a:br>
            <a:r>
              <a:rPr lang="en-US" sz="2800" dirty="0" smtClean="0">
                <a:solidFill>
                  <a:schemeClr val="tx1"/>
                </a:solidFill>
              </a:rPr>
              <a:t>not </a:t>
            </a:r>
            <a:r>
              <a:rPr lang="en-US" sz="2800" dirty="0">
                <a:solidFill>
                  <a:schemeClr val="tx1"/>
                </a:solidFill>
              </a:rPr>
              <a:t>yet, because they’re not </a:t>
            </a:r>
            <a:r>
              <a:rPr lang="en-US" sz="2800" dirty="0" smtClean="0">
                <a:solidFill>
                  <a:schemeClr val="tx1"/>
                </a:solidFill>
              </a:rPr>
              <a:t>applicable </a:t>
            </a:r>
            <a:r>
              <a:rPr lang="en-US" sz="2800" dirty="0">
                <a:solidFill>
                  <a:schemeClr val="tx1"/>
                </a:solidFill>
              </a:rPr>
              <a:t>to the “number” data-type (which is the </a:t>
            </a:r>
            <a:r>
              <a:rPr lang="en-US" sz="2800" dirty="0" smtClean="0">
                <a:solidFill>
                  <a:schemeClr val="tx1"/>
                </a:solidFill>
              </a:rPr>
              <a:t>only type we’ve </a:t>
            </a:r>
            <a:r>
              <a:rPr lang="en-US" sz="2800" dirty="0">
                <a:solidFill>
                  <a:schemeClr val="tx1"/>
                </a:solidFill>
              </a:rPr>
              <a:t>been talking </a:t>
            </a:r>
            <a:r>
              <a:rPr lang="en-US" sz="2800" dirty="0" smtClean="0">
                <a:solidFill>
                  <a:schemeClr val="tx1"/>
                </a:solidFill>
              </a:rPr>
              <a:t>about </a:t>
            </a:r>
            <a:r>
              <a:rPr lang="en-US" sz="2800" dirty="0">
                <a:solidFill>
                  <a:schemeClr val="tx1"/>
                </a:solidFill>
              </a:rPr>
              <a:t>since slide </a:t>
            </a:r>
            <a:r>
              <a:rPr lang="en-US" sz="2800" dirty="0" smtClean="0">
                <a:solidFill>
                  <a:schemeClr val="tx1"/>
                </a:solidFill>
              </a:rPr>
              <a:t>#10)</a:t>
            </a:r>
            <a:endParaRPr lang="en-US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53109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/>
          <p:cNvSpPr>
            <a:spLocks noGrp="1"/>
          </p:cNvSpPr>
          <p:nvPr>
            <p:ph idx="1"/>
          </p:nvPr>
        </p:nvSpPr>
        <p:spPr>
          <a:xfrm>
            <a:off x="391474" y="1066800"/>
            <a:ext cx="9214642" cy="5015820"/>
          </a:xfrm>
        </p:spPr>
        <p:txBody>
          <a:bodyPr>
            <a:normAutofit/>
          </a:bodyPr>
          <a:lstStyle/>
          <a:p>
            <a:pPr>
              <a:buFontTx/>
              <a:buNone/>
            </a:pPr>
            <a:r>
              <a:rPr lang="en-US" altLang="en-US" sz="3200" dirty="0"/>
              <a:t>Python has six standard data types:</a:t>
            </a:r>
          </a:p>
          <a:p>
            <a:pPr marL="651966" indent="-555276">
              <a:buFont typeface="+mj-lt"/>
              <a:buAutoNum type="arabicPeriod"/>
            </a:pPr>
            <a:r>
              <a:rPr lang="en-US" altLang="en-US" sz="2800" dirty="0">
                <a:solidFill>
                  <a:srgbClr val="FF0000"/>
                </a:solidFill>
                <a:latin typeface="Elephant" panose="02020904090505020303" pitchFamily="18" charset="0"/>
              </a:rPr>
              <a:t>Number</a:t>
            </a:r>
          </a:p>
          <a:p>
            <a:pPr marL="651966" indent="-555276">
              <a:buFont typeface="+mj-lt"/>
              <a:buAutoNum type="arabicPeriod"/>
            </a:pPr>
            <a:r>
              <a:rPr lang="en-US" altLang="en-US" sz="2800" dirty="0">
                <a:solidFill>
                  <a:srgbClr val="A6A6A6"/>
                </a:solidFill>
                <a:latin typeface="Elephant" panose="02020904090505020303" pitchFamily="18" charset="0"/>
              </a:rPr>
              <a:t>String</a:t>
            </a:r>
          </a:p>
          <a:p>
            <a:pPr marL="651966" indent="-555276">
              <a:buFont typeface="+mj-lt"/>
              <a:buAutoNum type="arabicPeriod"/>
            </a:pPr>
            <a:r>
              <a:rPr lang="en-US" altLang="en-US" sz="2800" dirty="0">
                <a:solidFill>
                  <a:srgbClr val="A6A6A6"/>
                </a:solidFill>
                <a:latin typeface="Elephant" panose="02020904090505020303" pitchFamily="18" charset="0"/>
              </a:rPr>
              <a:t>List</a:t>
            </a:r>
          </a:p>
          <a:p>
            <a:pPr marL="651966" indent="-555276">
              <a:buFont typeface="+mj-lt"/>
              <a:buAutoNum type="arabicPeriod"/>
            </a:pPr>
            <a:r>
              <a:rPr lang="en-US" altLang="en-US" sz="2800" dirty="0">
                <a:solidFill>
                  <a:srgbClr val="A6A6A6"/>
                </a:solidFill>
                <a:latin typeface="Elephant" panose="02020904090505020303" pitchFamily="18" charset="0"/>
              </a:rPr>
              <a:t>Tuple</a:t>
            </a:r>
          </a:p>
          <a:p>
            <a:pPr marL="651966" indent="-555276">
              <a:buFont typeface="+mj-lt"/>
              <a:buAutoNum type="arabicPeriod"/>
            </a:pPr>
            <a:r>
              <a:rPr lang="en-US" altLang="en-US" sz="2800" dirty="0">
                <a:solidFill>
                  <a:srgbClr val="A6A6A6"/>
                </a:solidFill>
                <a:latin typeface="Elephant" panose="02020904090505020303" pitchFamily="18" charset="0"/>
              </a:rPr>
              <a:t>Set</a:t>
            </a:r>
          </a:p>
          <a:p>
            <a:pPr marL="651966" indent="-555276">
              <a:buFont typeface="+mj-lt"/>
              <a:buAutoNum type="arabicPeriod"/>
            </a:pPr>
            <a:r>
              <a:rPr lang="en-US" altLang="en-US" sz="2800" dirty="0" smtClean="0">
                <a:solidFill>
                  <a:srgbClr val="A6A6A6"/>
                </a:solidFill>
                <a:latin typeface="Elephant" panose="02020904090505020303" pitchFamily="18" charset="0"/>
              </a:rPr>
              <a:t>Dictionary</a:t>
            </a:r>
            <a:endParaRPr lang="en-US" altLang="en-US" sz="2800" dirty="0">
              <a:solidFill>
                <a:srgbClr val="A6A6A6"/>
              </a:solidFill>
              <a:latin typeface="Elephant" panose="02020904090505020303" pitchFamily="18" charset="0"/>
            </a:endParaRPr>
          </a:p>
        </p:txBody>
      </p:sp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-1" y="53698"/>
            <a:ext cx="9729789" cy="1089301"/>
          </a:xfrm>
        </p:spPr>
        <p:txBody>
          <a:bodyPr>
            <a:normAutofit/>
          </a:bodyPr>
          <a:lstStyle/>
          <a:p>
            <a:r>
              <a:rPr lang="en-US" altLang="en-US" sz="4400" dirty="0" smtClean="0">
                <a:solidFill>
                  <a:srgbClr val="0070C0"/>
                </a:solidFill>
              </a:rPr>
              <a:t>Data Types:</a:t>
            </a:r>
          </a:p>
        </p:txBody>
      </p:sp>
    </p:spTree>
    <p:extLst>
      <p:ext uri="{BB962C8B-B14F-4D97-AF65-F5344CB8AC3E}">
        <p14:creationId xmlns:p14="http://schemas.microsoft.com/office/powerpoint/2010/main" val="3527531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69696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4400" dirty="0">
                <a:solidFill>
                  <a:srgbClr val="0070C0"/>
                </a:solidFill>
              </a:rPr>
              <a:t>2. Strings:</a:t>
            </a:r>
          </a:p>
        </p:txBody>
      </p:sp>
      <p:sp>
        <p:nvSpPr>
          <p:cNvPr id="22531" name="Content Placeholder 2"/>
          <p:cNvSpPr>
            <a:spLocks noGrp="1"/>
          </p:cNvSpPr>
          <p:nvPr>
            <p:ph idx="1"/>
          </p:nvPr>
        </p:nvSpPr>
        <p:spPr>
          <a:xfrm>
            <a:off x="359076" y="1066800"/>
            <a:ext cx="9230218" cy="5791200"/>
          </a:xfrm>
        </p:spPr>
        <p:txBody>
          <a:bodyPr>
            <a:noAutofit/>
          </a:bodyPr>
          <a:lstStyle/>
          <a:p>
            <a:pPr>
              <a:lnSpc>
                <a:spcPct val="80000"/>
              </a:lnSpc>
              <a:spcBef>
                <a:spcPts val="1800"/>
              </a:spcBef>
            </a:pPr>
            <a:r>
              <a:rPr lang="en-US" altLang="en-US" sz="3600" dirty="0"/>
              <a:t>Python Strings are </a:t>
            </a:r>
            <a:r>
              <a:rPr lang="en-US" altLang="en-US" sz="3600" b="1" dirty="0">
                <a:solidFill>
                  <a:srgbClr val="FF0000"/>
                </a:solidFill>
              </a:rPr>
              <a:t>immutable</a:t>
            </a:r>
            <a:r>
              <a:rPr lang="en-US" altLang="en-US" sz="3600" dirty="0"/>
              <a:t>.</a:t>
            </a:r>
          </a:p>
          <a:p>
            <a:pPr lvl="1">
              <a:lnSpc>
                <a:spcPct val="80000"/>
              </a:lnSpc>
              <a:spcBef>
                <a:spcPts val="0"/>
              </a:spcBef>
            </a:pPr>
            <a:r>
              <a:rPr lang="en-US" altLang="en-US" sz="3200" spc="10" dirty="0"/>
              <a:t>In </a:t>
            </a:r>
            <a:r>
              <a:rPr lang="en-US" altLang="en-US" sz="3200" spc="10" dirty="0" smtClean="0"/>
              <a:t>C++, </a:t>
            </a:r>
            <a:r>
              <a:rPr lang="en-US" altLang="en-US" sz="3200" spc="10" dirty="0"/>
              <a:t>this is legal: </a:t>
            </a:r>
            <a:r>
              <a:rPr lang="en-US" altLang="en-US" sz="3200" spc="10" dirty="0" smtClean="0">
                <a:latin typeface="Lucida Fax" panose="02060602050505020204" pitchFamily="18" charset="0"/>
              </a:rPr>
              <a:t>string S=</a:t>
            </a:r>
            <a:r>
              <a:rPr lang="en-US" altLang="en-US" sz="3200" b="1" spc="10" dirty="0" smtClean="0">
                <a:latin typeface="Lucida Fax" panose="02060602050505020204" pitchFamily="18" charset="0"/>
              </a:rPr>
              <a:t>"</a:t>
            </a:r>
            <a:r>
              <a:rPr lang="en-US" altLang="en-US" sz="3200" spc="10" dirty="0">
                <a:latin typeface="Lucida Fax" panose="02060602050505020204" pitchFamily="18" charset="0"/>
              </a:rPr>
              <a:t>Hello</a:t>
            </a:r>
            <a:r>
              <a:rPr lang="en-US" altLang="en-US" sz="3200" b="1" spc="10" dirty="0">
                <a:latin typeface="Lucida Fax" panose="02060602050505020204" pitchFamily="18" charset="0"/>
              </a:rPr>
              <a:t>"</a:t>
            </a:r>
            <a:r>
              <a:rPr lang="en-US" altLang="en-US" sz="3200" spc="10" dirty="0">
                <a:latin typeface="Lucida Fax" panose="02060602050505020204" pitchFamily="18" charset="0"/>
              </a:rPr>
              <a:t>; </a:t>
            </a:r>
            <a:r>
              <a:rPr lang="en-US" altLang="en-US" sz="3200" spc="10" dirty="0" smtClean="0">
                <a:latin typeface="Lucida Fax" panose="02060602050505020204" pitchFamily="18" charset="0"/>
              </a:rPr>
              <a:t>S[0]=</a:t>
            </a:r>
            <a:r>
              <a:rPr lang="en-US" altLang="en-US" sz="3200" b="1" spc="10" dirty="0"/>
              <a:t>'</a:t>
            </a:r>
            <a:r>
              <a:rPr lang="en-US" altLang="en-US" sz="3000" b="1" spc="10" dirty="0"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J</a:t>
            </a:r>
            <a:r>
              <a:rPr lang="en-US" altLang="en-US" sz="3200" b="1" spc="10" dirty="0"/>
              <a:t>'</a:t>
            </a:r>
            <a:r>
              <a:rPr lang="en-US" altLang="en-US" sz="3200" spc="10" dirty="0">
                <a:latin typeface="Lucida Fax" panose="02060602050505020204" pitchFamily="18" charset="0"/>
              </a:rPr>
              <a:t>;</a:t>
            </a:r>
            <a:r>
              <a:rPr lang="en-US" altLang="en-US" sz="3200" spc="30" dirty="0"/>
              <a:t/>
            </a:r>
            <a:br>
              <a:rPr lang="en-US" altLang="en-US" sz="3200" spc="30" dirty="0"/>
            </a:br>
            <a:r>
              <a:rPr lang="en-US" altLang="en-US" sz="3200" spc="30" dirty="0" smtClean="0"/>
              <a:t>In Python, it is </a:t>
            </a:r>
            <a:r>
              <a:rPr lang="en-US" altLang="en-US" sz="3200" spc="30" dirty="0" smtClean="0">
                <a:solidFill>
                  <a:srgbClr val="FF0000"/>
                </a:solidFill>
              </a:rPr>
              <a:t>illegal</a:t>
            </a:r>
            <a:r>
              <a:rPr lang="en-US" altLang="en-US" sz="3200" spc="30" dirty="0" smtClean="0"/>
              <a:t>.</a:t>
            </a:r>
            <a:endParaRPr lang="en-US" altLang="en-US" sz="3200" spc="30" dirty="0"/>
          </a:p>
          <a:p>
            <a:pPr>
              <a:lnSpc>
                <a:spcPct val="80000"/>
              </a:lnSpc>
              <a:spcBef>
                <a:spcPts val="1800"/>
              </a:spcBef>
            </a:pPr>
            <a:r>
              <a:rPr lang="en-US" altLang="en-US" sz="3600" dirty="0" smtClean="0"/>
              <a:t>The characters </a:t>
            </a:r>
            <a:r>
              <a:rPr lang="en-US" altLang="en-US" sz="3600" dirty="0"/>
              <a:t>in Python3 strings </a:t>
            </a:r>
            <a:r>
              <a:rPr lang="en-US" altLang="en-US" sz="3600" dirty="0" smtClean="0"/>
              <a:t>are </a:t>
            </a:r>
            <a:r>
              <a:rPr lang="en-US" altLang="en-US" sz="3600" b="1" dirty="0" err="1">
                <a:solidFill>
                  <a:srgbClr val="FF0000"/>
                </a:solidFill>
              </a:rPr>
              <a:t>unicode</a:t>
            </a:r>
            <a:r>
              <a:rPr lang="en-US" altLang="en-US" sz="3600" dirty="0"/>
              <a:t>.</a:t>
            </a:r>
          </a:p>
          <a:p>
            <a:pPr>
              <a:lnSpc>
                <a:spcPct val="80000"/>
              </a:lnSpc>
              <a:spcBef>
                <a:spcPts val="1800"/>
              </a:spcBef>
            </a:pPr>
            <a:r>
              <a:rPr lang="en-US" altLang="en-US" sz="3600" dirty="0" smtClean="0"/>
              <a:t>There </a:t>
            </a:r>
            <a:r>
              <a:rPr lang="en-US" altLang="en-US" sz="3600" dirty="0"/>
              <a:t>is </a:t>
            </a:r>
            <a:r>
              <a:rPr lang="en-US" altLang="en-US" sz="3600" dirty="0">
                <a:solidFill>
                  <a:srgbClr val="FF0000"/>
                </a:solidFill>
              </a:rPr>
              <a:t>no separate </a:t>
            </a:r>
            <a:r>
              <a:rPr lang="en-US" altLang="en-US" sz="3600" dirty="0" smtClean="0">
                <a:solidFill>
                  <a:srgbClr val="FF0000"/>
                </a:solidFill>
              </a:rPr>
              <a:t>data type for character</a:t>
            </a:r>
            <a:r>
              <a:rPr lang="en-US" altLang="en-US" sz="3600" dirty="0" smtClean="0"/>
              <a:t>. </a:t>
            </a:r>
            <a:endParaRPr lang="en-US" altLang="en-US" sz="3600" dirty="0"/>
          </a:p>
          <a:p>
            <a:pPr marL="514350" lvl="1" indent="-285750">
              <a:lnSpc>
                <a:spcPct val="80000"/>
              </a:lnSpc>
              <a:spcBef>
                <a:spcPts val="0"/>
              </a:spcBef>
            </a:pPr>
            <a:r>
              <a:rPr lang="en-US" altLang="en-US" sz="3233" dirty="0"/>
              <a:t>To get a character, just make a string of length 1.</a:t>
            </a:r>
          </a:p>
          <a:p>
            <a:pPr>
              <a:lnSpc>
                <a:spcPct val="80000"/>
              </a:lnSpc>
              <a:spcBef>
                <a:spcPts val="1800"/>
              </a:spcBef>
            </a:pPr>
            <a:r>
              <a:rPr lang="en-US" altLang="en-US" sz="3600" dirty="0" smtClean="0"/>
              <a:t>Strings </a:t>
            </a:r>
            <a:r>
              <a:rPr lang="en-US" altLang="en-US" sz="3600" dirty="0"/>
              <a:t>are </a:t>
            </a:r>
            <a:r>
              <a:rPr lang="en-US" altLang="en-US" sz="3600" dirty="0" smtClean="0"/>
              <a:t>defined by putting </a:t>
            </a:r>
            <a:r>
              <a:rPr lang="en-US" altLang="en-US" sz="3600" dirty="0" smtClean="0">
                <a:solidFill>
                  <a:srgbClr val="FF0000"/>
                </a:solidFill>
              </a:rPr>
              <a:t>quotes </a:t>
            </a:r>
            <a:r>
              <a:rPr lang="en-US" altLang="en-US" sz="3600" dirty="0" smtClean="0"/>
              <a:t>around a string of characters.</a:t>
            </a:r>
            <a:endParaRPr lang="en-US" altLang="en-US" sz="3600" dirty="0"/>
          </a:p>
          <a:p>
            <a:pPr marL="514350" lvl="1" indent="-285750">
              <a:spcBef>
                <a:spcPts val="0"/>
              </a:spcBef>
            </a:pPr>
            <a:r>
              <a:rPr lang="en-US" altLang="en-US" sz="3200" dirty="0" smtClean="0"/>
              <a:t>You can use </a:t>
            </a:r>
            <a:r>
              <a:rPr lang="en-US" altLang="en-US" sz="3200" dirty="0"/>
              <a:t>single quotes (</a:t>
            </a:r>
            <a:r>
              <a:rPr lang="en-US" altLang="en-US" sz="2800" dirty="0">
                <a:solidFill>
                  <a:srgbClr val="FF0000"/>
                </a:solidFill>
              </a:rPr>
              <a:t>'</a:t>
            </a:r>
            <a:r>
              <a:rPr lang="en-US" altLang="en-US" sz="2800" dirty="0">
                <a:solidFill>
                  <a:srgbClr val="FFAFAF"/>
                </a:solidFill>
              </a:rPr>
              <a:t>…</a:t>
            </a:r>
            <a:r>
              <a:rPr lang="en-US" altLang="en-US" sz="2800" dirty="0">
                <a:solidFill>
                  <a:srgbClr val="FF0000"/>
                </a:solidFill>
              </a:rPr>
              <a:t>'</a:t>
            </a:r>
            <a:r>
              <a:rPr lang="en-US" altLang="en-US" sz="2800" dirty="0"/>
              <a:t>),</a:t>
            </a:r>
            <a:r>
              <a:rPr lang="en-US" altLang="en-US" sz="2800" dirty="0">
                <a:solidFill>
                  <a:sysClr val="windowText" lastClr="000000"/>
                </a:solidFill>
              </a:rPr>
              <a:t> </a:t>
            </a:r>
            <a:r>
              <a:rPr lang="en-US" altLang="en-US" sz="3200" dirty="0">
                <a:solidFill>
                  <a:prstClr val="black"/>
                </a:solidFill>
              </a:rPr>
              <a:t>double quotes (</a:t>
            </a:r>
            <a:r>
              <a:rPr lang="en-US" altLang="en-US" sz="2800" dirty="0">
                <a:solidFill>
                  <a:srgbClr val="FF0000"/>
                </a:solidFill>
              </a:rPr>
              <a:t>"</a:t>
            </a:r>
            <a:r>
              <a:rPr lang="en-US" altLang="en-US" sz="2800" dirty="0">
                <a:solidFill>
                  <a:srgbClr val="FFAFAF"/>
                </a:solidFill>
              </a:rPr>
              <a:t>…</a:t>
            </a:r>
            <a:r>
              <a:rPr lang="en-US" altLang="en-US" sz="2800" dirty="0">
                <a:solidFill>
                  <a:srgbClr val="FF0000"/>
                </a:solidFill>
              </a:rPr>
              <a:t>"</a:t>
            </a:r>
            <a:r>
              <a:rPr lang="en-US" altLang="en-US" sz="3200" dirty="0"/>
              <a:t>), </a:t>
            </a:r>
            <a:r>
              <a:rPr lang="en-US" altLang="en-US" sz="3200" dirty="0" smtClean="0"/>
              <a:t>or </a:t>
            </a:r>
            <a:r>
              <a:rPr lang="en-US" altLang="en-US" sz="3200" dirty="0"/>
              <a:t>triple quotes (</a:t>
            </a:r>
            <a:r>
              <a:rPr lang="en-US" altLang="en-US" sz="2800" dirty="0">
                <a:solidFill>
                  <a:srgbClr val="FF0000"/>
                </a:solidFill>
              </a:rPr>
              <a:t>'''</a:t>
            </a:r>
            <a:r>
              <a:rPr lang="en-US" altLang="en-US" sz="2800" dirty="0">
                <a:solidFill>
                  <a:srgbClr val="FFAFAF"/>
                </a:solidFill>
              </a:rPr>
              <a:t>…</a:t>
            </a:r>
            <a:r>
              <a:rPr lang="en-US" altLang="en-US" sz="2800" dirty="0">
                <a:solidFill>
                  <a:srgbClr val="FF0000"/>
                </a:solidFill>
              </a:rPr>
              <a:t>'''</a:t>
            </a:r>
            <a:r>
              <a:rPr lang="en-US" altLang="en-US" sz="2800" dirty="0">
                <a:solidFill>
                  <a:sysClr val="windowText" lastClr="000000"/>
                </a:solidFill>
              </a:rPr>
              <a:t> or </a:t>
            </a:r>
            <a:r>
              <a:rPr lang="en-US" altLang="en-US" sz="2800" dirty="0">
                <a:solidFill>
                  <a:srgbClr val="FF0000"/>
                </a:solidFill>
              </a:rPr>
              <a:t>"""</a:t>
            </a:r>
            <a:r>
              <a:rPr lang="en-US" altLang="en-US" sz="2800" dirty="0">
                <a:solidFill>
                  <a:srgbClr val="FFAFAF"/>
                </a:solidFill>
              </a:rPr>
              <a:t>…</a:t>
            </a:r>
            <a:r>
              <a:rPr lang="en-US" altLang="en-US" sz="2800" dirty="0">
                <a:solidFill>
                  <a:srgbClr val="FF0000"/>
                </a:solidFill>
              </a:rPr>
              <a:t>"""</a:t>
            </a:r>
            <a:r>
              <a:rPr lang="en-US" altLang="en-US" sz="2800" dirty="0"/>
              <a:t>)</a:t>
            </a:r>
          </a:p>
          <a:p>
            <a:pPr marL="685800" lvl="1" indent="-171450">
              <a:spcBef>
                <a:spcPts val="0"/>
              </a:spcBef>
            </a:pPr>
            <a:r>
              <a:rPr lang="en-US" altLang="en-US" sz="2800" spc="-20" dirty="0">
                <a:solidFill>
                  <a:srgbClr val="0070C0"/>
                </a:solidFill>
              </a:rPr>
              <a:t>T</a:t>
            </a:r>
            <a:r>
              <a:rPr lang="en-US" altLang="en-US" sz="2800" spc="-20" dirty="0" smtClean="0">
                <a:solidFill>
                  <a:srgbClr val="0070C0"/>
                </a:solidFill>
              </a:rPr>
              <a:t>he </a:t>
            </a:r>
            <a:r>
              <a:rPr lang="en-US" altLang="en-US" sz="2800" spc="-20" dirty="0">
                <a:solidFill>
                  <a:srgbClr val="0070C0"/>
                </a:solidFill>
              </a:rPr>
              <a:t>single &amp;</a:t>
            </a:r>
            <a:r>
              <a:rPr lang="en-US" altLang="en-US" sz="2800" spc="-20" dirty="0" smtClean="0">
                <a:solidFill>
                  <a:srgbClr val="0070C0"/>
                </a:solidFill>
              </a:rPr>
              <a:t> </a:t>
            </a:r>
            <a:r>
              <a:rPr lang="en-US" altLang="en-US" sz="2800" spc="-20" dirty="0">
                <a:solidFill>
                  <a:srgbClr val="0070C0"/>
                </a:solidFill>
              </a:rPr>
              <a:t>double quote are each 1 keyboard character.</a:t>
            </a:r>
          </a:p>
          <a:p>
            <a:pPr marL="685800" lvl="1" indent="-171450">
              <a:spcBef>
                <a:spcPts val="200"/>
              </a:spcBef>
            </a:pPr>
            <a:r>
              <a:rPr lang="en-US" altLang="en-US" sz="2800" spc="-20" dirty="0">
                <a:solidFill>
                  <a:srgbClr val="0070C0"/>
                </a:solidFill>
              </a:rPr>
              <a:t>The triple quote is 3 keyboard characters (either 3 </a:t>
            </a:r>
            <a:r>
              <a:rPr lang="en-US" altLang="en-US" sz="2800" spc="-20" dirty="0"/>
              <a:t>"</a:t>
            </a:r>
            <a:r>
              <a:rPr lang="en-US" altLang="en-US" sz="2800" spc="-20" dirty="0">
                <a:solidFill>
                  <a:srgbClr val="0070C0"/>
                </a:solidFill>
              </a:rPr>
              <a:t> or 3 </a:t>
            </a:r>
            <a:r>
              <a:rPr lang="en-US" altLang="en-US" sz="2800" spc="-20" dirty="0"/>
              <a:t>'</a:t>
            </a:r>
            <a:r>
              <a:rPr lang="en-US" altLang="en-US" sz="1000" spc="-20" dirty="0">
                <a:solidFill>
                  <a:srgbClr val="0070C0"/>
                </a:solidFill>
              </a:rPr>
              <a:t> </a:t>
            </a:r>
            <a:r>
              <a:rPr lang="en-US" altLang="en-US" sz="2800" spc="-20" dirty="0">
                <a:solidFill>
                  <a:srgbClr val="0070C0"/>
                </a:solidFill>
              </a:rPr>
              <a:t>).  </a:t>
            </a:r>
          </a:p>
        </p:txBody>
      </p:sp>
    </p:spTree>
    <p:extLst>
      <p:ext uri="{BB962C8B-B14F-4D97-AF65-F5344CB8AC3E}">
        <p14:creationId xmlns:p14="http://schemas.microsoft.com/office/powerpoint/2010/main" val="1674213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808080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80808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80808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22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2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808080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22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2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80808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225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225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225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25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1" dur="500"/>
                                        <p:tgtEl>
                                          <p:spTgt spid="225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1" grpId="0" uiExpand="1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Content Placeholder 2"/>
          <p:cNvSpPr>
            <a:spLocks noGrp="1"/>
          </p:cNvSpPr>
          <p:nvPr>
            <p:ph idx="1"/>
          </p:nvPr>
        </p:nvSpPr>
        <p:spPr>
          <a:xfrm>
            <a:off x="359077" y="990600"/>
            <a:ext cx="9224383" cy="5700508"/>
          </a:xfrm>
        </p:spPr>
        <p:txBody>
          <a:bodyPr>
            <a:normAutofit/>
          </a:bodyPr>
          <a:lstStyle/>
          <a:p>
            <a:r>
              <a:rPr lang="en-US" altLang="en-US" sz="3600" dirty="0" smtClean="0"/>
              <a:t>In providing many types of quotes, Python </a:t>
            </a:r>
            <a:br>
              <a:rPr lang="en-US" altLang="en-US" sz="3600" dirty="0" smtClean="0"/>
            </a:br>
            <a:r>
              <a:rPr lang="en-US" altLang="en-US" sz="3600" dirty="0" smtClean="0"/>
              <a:t>lets you include quotes inside of your string, </a:t>
            </a:r>
            <a:br>
              <a:rPr lang="en-US" altLang="en-US" sz="3600" dirty="0" smtClean="0"/>
            </a:br>
            <a:r>
              <a:rPr lang="en-US" altLang="en-US" sz="3600" dirty="0" smtClean="0"/>
              <a:t>by defining that string with a different quote</a:t>
            </a:r>
            <a:r>
              <a:rPr lang="en-US" altLang="en-US" sz="3600" dirty="0"/>
              <a:t>:</a:t>
            </a:r>
          </a:p>
          <a:p>
            <a:pPr marL="0" indent="233363">
              <a:spcBef>
                <a:spcPts val="1200"/>
              </a:spcBef>
              <a:buNone/>
            </a:pPr>
            <a:r>
              <a:rPr lang="en-US" altLang="zh-TW" sz="2400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400" dirty="0" smtClean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400" dirty="0">
                <a:solidFill>
                  <a:prstClr val="black"/>
                </a:solidFill>
                <a:latin typeface="Lucida Console" panose="020B0609040504020204" pitchFamily="49" charset="0"/>
              </a:rPr>
              <a:t>x=</a:t>
            </a:r>
            <a:r>
              <a:rPr lang="en-US" altLang="zh-TW" sz="2400" b="1" dirty="0">
                <a:solidFill>
                  <a:srgbClr val="FF0000"/>
                </a:solidFill>
                <a:latin typeface="Lucida Console" panose="020B0609040504020204" pitchFamily="49" charset="0"/>
              </a:rPr>
              <a:t>"</a:t>
            </a:r>
            <a:r>
              <a:rPr lang="en-US" altLang="zh-TW" sz="2400" dirty="0">
                <a:solidFill>
                  <a:prstClr val="black"/>
                </a:solidFill>
                <a:latin typeface="Lucida Console" panose="020B0609040504020204" pitchFamily="49" charset="0"/>
              </a:rPr>
              <a:t>There</a:t>
            </a:r>
            <a:r>
              <a:rPr lang="en-US" altLang="zh-TW" sz="2400" b="1" dirty="0">
                <a:solidFill>
                  <a:srgbClr val="00B050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400" dirty="0">
                <a:solidFill>
                  <a:prstClr val="black"/>
                </a:solidFill>
                <a:latin typeface="Lucida Console" panose="020B0609040504020204" pitchFamily="49" charset="0"/>
              </a:rPr>
              <a:t>s no problem </a:t>
            </a:r>
            <a:r>
              <a:rPr lang="en-US" altLang="zh-TW" sz="2400" dirty="0" smtClean="0">
                <a:solidFill>
                  <a:prstClr val="black"/>
                </a:solidFill>
                <a:latin typeface="Lucida Console" panose="020B0609040504020204" pitchFamily="49" charset="0"/>
              </a:rPr>
              <a:t>here.</a:t>
            </a:r>
            <a:r>
              <a:rPr lang="en-US" altLang="zh-TW" sz="2400" b="1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"</a:t>
            </a:r>
            <a:endParaRPr lang="en-US" altLang="zh-TW" sz="2400" b="1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 marL="0" indent="233363">
              <a:spcBef>
                <a:spcPts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400" dirty="0">
                <a:solidFill>
                  <a:prstClr val="black"/>
                </a:solidFill>
                <a:latin typeface="Lucida Console" panose="020B0609040504020204" pitchFamily="49" charset="0"/>
              </a:rPr>
              <a:t> y=</a:t>
            </a:r>
            <a:r>
              <a:rPr lang="en-US" altLang="zh-TW" sz="2400" dirty="0">
                <a:solidFill>
                  <a:srgbClr val="FF0000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400" dirty="0">
                <a:solidFill>
                  <a:prstClr val="black"/>
                </a:solidFill>
                <a:latin typeface="Lucida Console" panose="020B0609040504020204" pitchFamily="49" charset="0"/>
              </a:rPr>
              <a:t>And I said, </a:t>
            </a:r>
            <a:r>
              <a:rPr lang="en-US" altLang="zh-TW" sz="2400" b="1" dirty="0">
                <a:solidFill>
                  <a:srgbClr val="32BF72"/>
                </a:solidFill>
                <a:latin typeface="Lucida Console" panose="020B0609040504020204" pitchFamily="49" charset="0"/>
              </a:rPr>
              <a:t>"</a:t>
            </a:r>
            <a:r>
              <a:rPr lang="en-US" altLang="zh-TW" sz="2400" dirty="0">
                <a:solidFill>
                  <a:prstClr val="black"/>
                </a:solidFill>
                <a:latin typeface="Lucida Console" panose="020B0609040504020204" pitchFamily="49" charset="0"/>
              </a:rPr>
              <a:t>I agree.</a:t>
            </a:r>
            <a:r>
              <a:rPr lang="en-US" altLang="zh-TW" sz="2400" b="1" dirty="0">
                <a:solidFill>
                  <a:srgbClr val="32BF72"/>
                </a:solidFill>
                <a:latin typeface="Lucida Console" panose="020B0609040504020204" pitchFamily="49" charset="0"/>
              </a:rPr>
              <a:t>"</a:t>
            </a:r>
            <a:r>
              <a:rPr lang="en-US" altLang="zh-TW" sz="2400" b="1" dirty="0">
                <a:solidFill>
                  <a:srgbClr val="FF0000"/>
                </a:solidFill>
                <a:latin typeface="Lucida Console" panose="020B0609040504020204" pitchFamily="49" charset="0"/>
              </a:rPr>
              <a:t>'</a:t>
            </a:r>
          </a:p>
          <a:p>
            <a:pPr marL="0" indent="233363">
              <a:spcBef>
                <a:spcPts val="0"/>
              </a:spcBef>
              <a:buNone/>
            </a:pPr>
            <a:r>
              <a:rPr lang="en-US" altLang="zh-TW" sz="2400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400" dirty="0" smtClean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400" dirty="0">
                <a:solidFill>
                  <a:prstClr val="black"/>
                </a:solidFill>
                <a:latin typeface="Lucida Console" panose="020B0609040504020204" pitchFamily="49" charset="0"/>
              </a:rPr>
              <a:t>z=</a:t>
            </a:r>
            <a:r>
              <a:rPr lang="en-US" altLang="zh-TW" sz="2400" b="1" dirty="0">
                <a:solidFill>
                  <a:srgbClr val="FF0000"/>
                </a:solidFill>
                <a:latin typeface="Lucida Console" panose="020B0609040504020204" pitchFamily="49" charset="0"/>
              </a:rPr>
              <a:t>'''</a:t>
            </a:r>
            <a:r>
              <a:rPr lang="en-US" altLang="zh-TW" sz="2400" dirty="0">
                <a:solidFill>
                  <a:prstClr val="black"/>
                </a:solidFill>
                <a:latin typeface="Lucida Console" panose="020B0609040504020204" pitchFamily="49" charset="0"/>
              </a:rPr>
              <a:t>She said, </a:t>
            </a:r>
            <a:r>
              <a:rPr lang="en-US" altLang="zh-TW" sz="2400" b="1" dirty="0">
                <a:solidFill>
                  <a:srgbClr val="32BF72"/>
                </a:solidFill>
                <a:latin typeface="Lucida Console" panose="020B0609040504020204" pitchFamily="49" charset="0"/>
              </a:rPr>
              <a:t>"</a:t>
            </a:r>
            <a:r>
              <a:rPr lang="en-US" altLang="zh-TW" sz="2400" dirty="0">
                <a:solidFill>
                  <a:prstClr val="black"/>
                </a:solidFill>
                <a:latin typeface="Lucida Console" panose="020B0609040504020204" pitchFamily="49" charset="0"/>
              </a:rPr>
              <a:t>He said, </a:t>
            </a:r>
            <a:r>
              <a:rPr lang="en-US" altLang="zh-TW" sz="2400" b="1" dirty="0">
                <a:solidFill>
                  <a:srgbClr val="32BF72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400" dirty="0">
                <a:solidFill>
                  <a:prstClr val="black"/>
                </a:solidFill>
                <a:latin typeface="Lucida Console" panose="020B0609040504020204" pitchFamily="49" charset="0"/>
              </a:rPr>
              <a:t>OK</a:t>
            </a:r>
            <a:r>
              <a:rPr lang="en-US" altLang="zh-TW" sz="2400" b="1" dirty="0">
                <a:solidFill>
                  <a:srgbClr val="32BF72"/>
                </a:solidFill>
                <a:latin typeface="Lucida Console" panose="020B0609040504020204" pitchFamily="49" charset="0"/>
              </a:rPr>
              <a:t>'"</a:t>
            </a:r>
            <a:r>
              <a:rPr lang="en-US" altLang="zh-TW" sz="2400" b="1" dirty="0">
                <a:solidFill>
                  <a:srgbClr val="FF0000"/>
                </a:solidFill>
                <a:latin typeface="Lucida Console" panose="020B0609040504020204" pitchFamily="49" charset="0"/>
              </a:rPr>
              <a:t>'''</a:t>
            </a:r>
            <a:r>
              <a:rPr lang="en-US" altLang="zh-TW" sz="2400" dirty="0">
                <a:solidFill>
                  <a:prstClr val="black"/>
                </a:solidFill>
                <a:latin typeface="Lucida Console" panose="020B0609040504020204" pitchFamily="49" charset="0"/>
              </a:rPr>
              <a:t/>
            </a:r>
            <a:br>
              <a:rPr lang="en-US" altLang="zh-TW" sz="2400" dirty="0">
                <a:solidFill>
                  <a:prstClr val="black"/>
                </a:solidFill>
                <a:latin typeface="Lucida Console" panose="020B0609040504020204" pitchFamily="49" charset="0"/>
              </a:rPr>
            </a:br>
            <a:endParaRPr lang="en-US" altLang="en-US" sz="2400" dirty="0"/>
          </a:p>
          <a:p>
            <a:r>
              <a:rPr lang="en-US" altLang="en-US" sz="3200" dirty="0"/>
              <a:t>Triple quotes can make multi-line strings without </a:t>
            </a:r>
            <a:r>
              <a:rPr lang="en-US" altLang="en-US" sz="3200" dirty="0" smtClean="0"/>
              <a:t>\</a:t>
            </a:r>
            <a:r>
              <a:rPr lang="en-US" altLang="en-US" sz="3200" dirty="0"/>
              <a:t>n.</a:t>
            </a:r>
          </a:p>
          <a:p>
            <a:pPr marL="0" indent="0">
              <a:buNone/>
            </a:pPr>
            <a:endParaRPr lang="en-US" altLang="en-US" sz="1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233363">
              <a:spcBef>
                <a:spcPts val="0"/>
              </a:spcBef>
              <a:buNone/>
            </a:pPr>
            <a:r>
              <a:rPr lang="en-US" sz="2018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2018" dirty="0" smtClean="0">
                <a:latin typeface="Lucida Console" panose="020B0609040504020204" pitchFamily="49" charset="0"/>
              </a:rPr>
              <a:t> </a:t>
            </a:r>
            <a:r>
              <a:rPr lang="en-US" sz="2018" dirty="0">
                <a:latin typeface="Lucida Console" panose="020B0609040504020204" pitchFamily="49" charset="0"/>
              </a:rPr>
              <a:t>x="""</a:t>
            </a:r>
            <a:r>
              <a:rPr lang="en-US" sz="2018" dirty="0">
                <a:solidFill>
                  <a:srgbClr val="0070C0"/>
                </a:solidFill>
                <a:latin typeface="Lucida Console" panose="020B0609040504020204" pitchFamily="49" charset="0"/>
              </a:rPr>
              <a:t>Quotes("/') work. Line endings are remembered -&gt;</a:t>
            </a:r>
          </a:p>
          <a:p>
            <a:pPr marL="0" indent="233363">
              <a:spcBef>
                <a:spcPts val="0"/>
              </a:spcBef>
              <a:buNone/>
            </a:pPr>
            <a:r>
              <a:rPr lang="en-US" sz="2018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sz="2018" dirty="0">
                <a:solidFill>
                  <a:srgbClr val="0070C0"/>
                </a:solidFill>
                <a:latin typeface="Lucida Console" panose="020B0609040504020204" pitchFamily="49" charset="0"/>
              </a:rPr>
              <a:t> Escape codes like newline</a:t>
            </a:r>
            <a:r>
              <a:rPr lang="en-US" sz="2018" spc="-70" dirty="0">
                <a:solidFill>
                  <a:srgbClr val="0070C0"/>
                </a:solidFill>
                <a:latin typeface="Lucida Console" panose="020B0609040504020204" pitchFamily="49" charset="0"/>
              </a:rPr>
              <a:t> (\n) &amp; tab (\t) </a:t>
            </a:r>
            <a:r>
              <a:rPr lang="en-US" sz="2018" dirty="0">
                <a:solidFill>
                  <a:srgbClr val="0070C0"/>
                </a:solidFill>
                <a:latin typeface="Lucida Console" panose="020B0609040504020204" pitchFamily="49" charset="0"/>
              </a:rPr>
              <a:t>also work</a:t>
            </a:r>
            <a:r>
              <a:rPr lang="en-US" sz="2018" dirty="0">
                <a:latin typeface="Lucida Console" panose="020B0609040504020204" pitchFamily="49" charset="0"/>
              </a:rPr>
              <a:t>"""</a:t>
            </a:r>
          </a:p>
          <a:p>
            <a:pPr marL="0" indent="233363">
              <a:spcBef>
                <a:spcPts val="0"/>
              </a:spcBef>
              <a:buNone/>
            </a:pPr>
            <a:r>
              <a:rPr lang="en-US" sz="2018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endParaRPr lang="en-US" sz="2018" dirty="0">
              <a:solidFill>
                <a:schemeClr val="bg1"/>
              </a:solidFill>
              <a:latin typeface="Lucida Console" panose="020B0609040504020204" pitchFamily="49" charset="0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7379493" y="4100308"/>
            <a:ext cx="2209801" cy="685800"/>
            <a:chOff x="7091294" y="1486420"/>
            <a:chExt cx="2409185" cy="1293053"/>
          </a:xfrm>
        </p:grpSpPr>
        <p:sp>
          <p:nvSpPr>
            <p:cNvPr id="3" name="Rounded Rectangle 2"/>
            <p:cNvSpPr/>
            <p:nvPr/>
          </p:nvSpPr>
          <p:spPr>
            <a:xfrm>
              <a:off x="7091294" y="1486420"/>
              <a:ext cx="1993808" cy="790199"/>
            </a:xfrm>
            <a:prstGeom prst="roundRect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51">
                <a:solidFill>
                  <a:prstClr val="white"/>
                </a:solidFill>
              </a:endParaRPr>
            </a:p>
          </p:txBody>
        </p:sp>
        <p:cxnSp>
          <p:nvCxnSpPr>
            <p:cNvPr id="5" name="Straight Arrow Connector 4"/>
            <p:cNvCxnSpPr/>
            <p:nvPr/>
          </p:nvCxnSpPr>
          <p:spPr>
            <a:xfrm>
              <a:off x="8575511" y="2248526"/>
              <a:ext cx="924968" cy="530947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9729788" cy="1161142"/>
          </a:xfrm>
        </p:spPr>
        <p:txBody>
          <a:bodyPr>
            <a:normAutofit/>
          </a:bodyPr>
          <a:lstStyle/>
          <a:p>
            <a:r>
              <a:rPr lang="en-US" altLang="en-US" sz="4400" dirty="0" smtClean="0">
                <a:solidFill>
                  <a:srgbClr val="0070C0"/>
                </a:solidFill>
              </a:rPr>
              <a:t>2. Strings:</a:t>
            </a:r>
            <a:endParaRPr lang="en-US" altLang="en-US" sz="4400" dirty="0">
              <a:solidFill>
                <a:srgbClr val="0070C0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91731" y="5143917"/>
            <a:ext cx="651140" cy="4031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2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sz="202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85576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184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184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84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Content Placeholder 2"/>
          <p:cNvSpPr>
            <a:spLocks noGrp="1"/>
          </p:cNvSpPr>
          <p:nvPr>
            <p:ph idx="1"/>
          </p:nvPr>
        </p:nvSpPr>
        <p:spPr>
          <a:xfrm>
            <a:off x="359077" y="990600"/>
            <a:ext cx="9224383" cy="5700508"/>
          </a:xfrm>
        </p:spPr>
        <p:txBody>
          <a:bodyPr>
            <a:normAutofit/>
          </a:bodyPr>
          <a:lstStyle/>
          <a:p>
            <a:r>
              <a:rPr lang="en-US" altLang="en-US" sz="3600" dirty="0" smtClean="0"/>
              <a:t>In providing many types of quotes, Python </a:t>
            </a:r>
            <a:br>
              <a:rPr lang="en-US" altLang="en-US" sz="3600" dirty="0" smtClean="0"/>
            </a:br>
            <a:r>
              <a:rPr lang="en-US" altLang="en-US" sz="3600" dirty="0" smtClean="0"/>
              <a:t>lets you include quotes inside of your string, </a:t>
            </a:r>
            <a:br>
              <a:rPr lang="en-US" altLang="en-US" sz="3600" dirty="0" smtClean="0"/>
            </a:br>
            <a:r>
              <a:rPr lang="en-US" altLang="en-US" sz="3600" dirty="0" smtClean="0"/>
              <a:t>by defining that string with a different quote</a:t>
            </a:r>
            <a:r>
              <a:rPr lang="en-US" altLang="en-US" sz="3600" dirty="0"/>
              <a:t>:</a:t>
            </a:r>
          </a:p>
          <a:p>
            <a:pPr marL="0" indent="233363">
              <a:spcBef>
                <a:spcPts val="1200"/>
              </a:spcBef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400" dirty="0">
                <a:solidFill>
                  <a:prstClr val="black"/>
                </a:solidFill>
                <a:latin typeface="Lucida Console" panose="020B0609040504020204" pitchFamily="49" charset="0"/>
              </a:rPr>
              <a:t> x=</a:t>
            </a:r>
            <a:r>
              <a:rPr lang="en-US" altLang="zh-TW" sz="2400" b="1" dirty="0">
                <a:solidFill>
                  <a:srgbClr val="FF0000"/>
                </a:solidFill>
                <a:latin typeface="Lucida Console" panose="020B0609040504020204" pitchFamily="49" charset="0"/>
              </a:rPr>
              <a:t>"</a:t>
            </a:r>
            <a:r>
              <a:rPr lang="en-US" altLang="zh-TW" sz="2400" dirty="0">
                <a:solidFill>
                  <a:prstClr val="black"/>
                </a:solidFill>
                <a:latin typeface="Lucida Console" panose="020B0609040504020204" pitchFamily="49" charset="0"/>
              </a:rPr>
              <a:t>There</a:t>
            </a:r>
            <a:r>
              <a:rPr lang="en-US" altLang="zh-TW" sz="2400" b="1" dirty="0">
                <a:solidFill>
                  <a:srgbClr val="00B050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400" dirty="0">
                <a:solidFill>
                  <a:prstClr val="black"/>
                </a:solidFill>
                <a:latin typeface="Lucida Console" panose="020B0609040504020204" pitchFamily="49" charset="0"/>
              </a:rPr>
              <a:t>s no problem </a:t>
            </a:r>
            <a:r>
              <a:rPr lang="en-US" altLang="zh-TW" sz="2400" dirty="0" smtClean="0">
                <a:solidFill>
                  <a:prstClr val="black"/>
                </a:solidFill>
                <a:latin typeface="Lucida Console" panose="020B0609040504020204" pitchFamily="49" charset="0"/>
              </a:rPr>
              <a:t>here.</a:t>
            </a:r>
            <a:r>
              <a:rPr lang="en-US" altLang="zh-TW" sz="2400" b="1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"</a:t>
            </a:r>
            <a:endParaRPr lang="en-US" altLang="zh-TW" sz="2400" b="1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 marL="0" indent="233363">
              <a:spcBef>
                <a:spcPts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400" dirty="0">
                <a:solidFill>
                  <a:prstClr val="black"/>
                </a:solidFill>
                <a:latin typeface="Lucida Console" panose="020B0609040504020204" pitchFamily="49" charset="0"/>
              </a:rPr>
              <a:t> y=</a:t>
            </a:r>
            <a:r>
              <a:rPr lang="en-US" altLang="zh-TW" sz="2400" dirty="0">
                <a:solidFill>
                  <a:srgbClr val="FF0000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400" dirty="0">
                <a:solidFill>
                  <a:prstClr val="black"/>
                </a:solidFill>
                <a:latin typeface="Lucida Console" panose="020B0609040504020204" pitchFamily="49" charset="0"/>
              </a:rPr>
              <a:t>And I said, </a:t>
            </a:r>
            <a:r>
              <a:rPr lang="en-US" altLang="zh-TW" sz="2400" b="1" dirty="0">
                <a:solidFill>
                  <a:srgbClr val="32BF72"/>
                </a:solidFill>
                <a:latin typeface="Lucida Console" panose="020B0609040504020204" pitchFamily="49" charset="0"/>
              </a:rPr>
              <a:t>"</a:t>
            </a:r>
            <a:r>
              <a:rPr lang="en-US" altLang="zh-TW" sz="2400" dirty="0">
                <a:solidFill>
                  <a:prstClr val="black"/>
                </a:solidFill>
                <a:latin typeface="Lucida Console" panose="020B0609040504020204" pitchFamily="49" charset="0"/>
              </a:rPr>
              <a:t>I agree.</a:t>
            </a:r>
            <a:r>
              <a:rPr lang="en-US" altLang="zh-TW" sz="2400" b="1" dirty="0">
                <a:solidFill>
                  <a:srgbClr val="32BF72"/>
                </a:solidFill>
                <a:latin typeface="Lucida Console" panose="020B0609040504020204" pitchFamily="49" charset="0"/>
              </a:rPr>
              <a:t>"</a:t>
            </a:r>
            <a:r>
              <a:rPr lang="en-US" altLang="zh-TW" sz="2400" b="1" dirty="0">
                <a:solidFill>
                  <a:srgbClr val="FF0000"/>
                </a:solidFill>
                <a:latin typeface="Lucida Console" panose="020B0609040504020204" pitchFamily="49" charset="0"/>
              </a:rPr>
              <a:t>'</a:t>
            </a:r>
          </a:p>
          <a:p>
            <a:pPr marL="0" indent="233363">
              <a:spcBef>
                <a:spcPts val="0"/>
              </a:spcBef>
              <a:buNone/>
            </a:pPr>
            <a:r>
              <a:rPr lang="en-US" altLang="zh-TW" sz="2400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400" dirty="0" smtClean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400" dirty="0">
                <a:solidFill>
                  <a:prstClr val="black"/>
                </a:solidFill>
                <a:latin typeface="Lucida Console" panose="020B0609040504020204" pitchFamily="49" charset="0"/>
              </a:rPr>
              <a:t>z=</a:t>
            </a:r>
            <a:r>
              <a:rPr lang="en-US" altLang="zh-TW" sz="2400" b="1" dirty="0">
                <a:solidFill>
                  <a:srgbClr val="FF0000"/>
                </a:solidFill>
                <a:latin typeface="Lucida Console" panose="020B0609040504020204" pitchFamily="49" charset="0"/>
              </a:rPr>
              <a:t>'''</a:t>
            </a:r>
            <a:r>
              <a:rPr lang="en-US" altLang="zh-TW" sz="2400" dirty="0">
                <a:solidFill>
                  <a:prstClr val="black"/>
                </a:solidFill>
                <a:latin typeface="Lucida Console" panose="020B0609040504020204" pitchFamily="49" charset="0"/>
              </a:rPr>
              <a:t>She said, </a:t>
            </a:r>
            <a:r>
              <a:rPr lang="en-US" altLang="zh-TW" sz="2400" b="1" dirty="0">
                <a:solidFill>
                  <a:srgbClr val="32BF72"/>
                </a:solidFill>
                <a:latin typeface="Lucida Console" panose="020B0609040504020204" pitchFamily="49" charset="0"/>
              </a:rPr>
              <a:t>"</a:t>
            </a:r>
            <a:r>
              <a:rPr lang="en-US" altLang="zh-TW" sz="2400" dirty="0">
                <a:solidFill>
                  <a:prstClr val="black"/>
                </a:solidFill>
                <a:latin typeface="Lucida Console" panose="020B0609040504020204" pitchFamily="49" charset="0"/>
              </a:rPr>
              <a:t>He said, </a:t>
            </a:r>
            <a:r>
              <a:rPr lang="en-US" altLang="zh-TW" sz="2400" b="1" dirty="0">
                <a:solidFill>
                  <a:srgbClr val="32BF72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400" dirty="0">
                <a:solidFill>
                  <a:prstClr val="black"/>
                </a:solidFill>
                <a:latin typeface="Lucida Console" panose="020B0609040504020204" pitchFamily="49" charset="0"/>
              </a:rPr>
              <a:t>OK</a:t>
            </a:r>
            <a:r>
              <a:rPr lang="en-US" altLang="zh-TW" sz="2400" b="1" dirty="0">
                <a:solidFill>
                  <a:srgbClr val="32BF72"/>
                </a:solidFill>
                <a:latin typeface="Lucida Console" panose="020B0609040504020204" pitchFamily="49" charset="0"/>
              </a:rPr>
              <a:t>'"</a:t>
            </a:r>
            <a:r>
              <a:rPr lang="en-US" altLang="zh-TW" sz="2400" b="1" dirty="0">
                <a:solidFill>
                  <a:srgbClr val="FF0000"/>
                </a:solidFill>
                <a:latin typeface="Lucida Console" panose="020B0609040504020204" pitchFamily="49" charset="0"/>
              </a:rPr>
              <a:t>'''</a:t>
            </a:r>
            <a:r>
              <a:rPr lang="en-US" altLang="zh-TW" sz="2400" dirty="0">
                <a:solidFill>
                  <a:prstClr val="black"/>
                </a:solidFill>
                <a:latin typeface="Lucida Console" panose="020B0609040504020204" pitchFamily="49" charset="0"/>
              </a:rPr>
              <a:t/>
            </a:r>
            <a:br>
              <a:rPr lang="en-US" altLang="zh-TW" sz="2400" dirty="0">
                <a:solidFill>
                  <a:prstClr val="black"/>
                </a:solidFill>
                <a:latin typeface="Lucida Console" panose="020B0609040504020204" pitchFamily="49" charset="0"/>
              </a:rPr>
            </a:br>
            <a:endParaRPr lang="en-US" altLang="en-US" sz="2400" dirty="0"/>
          </a:p>
          <a:p>
            <a:r>
              <a:rPr lang="en-US" altLang="en-US" sz="3200" dirty="0"/>
              <a:t>Triple quotes can make multi-line strings without </a:t>
            </a:r>
            <a:r>
              <a:rPr lang="en-US" altLang="en-US" sz="3200" dirty="0" smtClean="0"/>
              <a:t>\</a:t>
            </a:r>
            <a:r>
              <a:rPr lang="en-US" altLang="en-US" sz="3200" dirty="0"/>
              <a:t>n.</a:t>
            </a:r>
          </a:p>
          <a:p>
            <a:pPr marL="0" indent="0">
              <a:buNone/>
            </a:pPr>
            <a:endParaRPr lang="en-US" altLang="en-US" sz="1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233363">
              <a:spcBef>
                <a:spcPts val="0"/>
              </a:spcBef>
              <a:buNone/>
            </a:pPr>
            <a:r>
              <a:rPr lang="en-US" sz="2018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2018" dirty="0" smtClean="0">
                <a:latin typeface="Lucida Console" panose="020B0609040504020204" pitchFamily="49" charset="0"/>
              </a:rPr>
              <a:t> </a:t>
            </a:r>
            <a:r>
              <a:rPr lang="en-US" sz="2018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</a:rPr>
              <a:t>x="""Quotes("/') work. Line endings are remembered -&gt;</a:t>
            </a:r>
          </a:p>
          <a:p>
            <a:pPr marL="0" indent="233363">
              <a:spcBef>
                <a:spcPts val="0"/>
              </a:spcBef>
              <a:buNone/>
            </a:pPr>
            <a:r>
              <a:rPr lang="en-US" sz="2018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sz="2018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</a:rPr>
              <a:t> Escape codes like newline</a:t>
            </a:r>
            <a:r>
              <a:rPr lang="en-US" sz="2018" spc="-70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</a:rPr>
              <a:t> (\n) &amp; tab (\t) </a:t>
            </a:r>
            <a:r>
              <a:rPr lang="en-US" sz="2018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</a:rPr>
              <a:t>also work"""</a:t>
            </a:r>
          </a:p>
          <a:p>
            <a:pPr marL="0" indent="233363">
              <a:spcBef>
                <a:spcPts val="0"/>
              </a:spcBef>
              <a:buNone/>
            </a:pPr>
            <a:r>
              <a:rPr lang="en-US" sz="2018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 </a:t>
            </a:r>
            <a:r>
              <a:rPr lang="en-US" sz="2018" dirty="0">
                <a:latin typeface="Lucida Console" panose="020B0609040504020204" pitchFamily="49" charset="0"/>
              </a:rPr>
              <a:t>print(x)</a:t>
            </a:r>
          </a:p>
          <a:p>
            <a:pPr marL="0" indent="233363">
              <a:spcBef>
                <a:spcPts val="0"/>
              </a:spcBef>
              <a:buNone/>
            </a:pPr>
            <a:r>
              <a:rPr lang="en-US" sz="2018" dirty="0">
                <a:solidFill>
                  <a:srgbClr val="0070C0"/>
                </a:solidFill>
                <a:latin typeface="Lucida Console" panose="020B0609040504020204" pitchFamily="49" charset="0"/>
              </a:rPr>
              <a:t>Quotes("/') work. Line endings are remembered -&gt;</a:t>
            </a:r>
          </a:p>
          <a:p>
            <a:pPr marL="0" indent="233363">
              <a:spcBef>
                <a:spcPts val="0"/>
              </a:spcBef>
              <a:buNone/>
            </a:pPr>
            <a:r>
              <a:rPr lang="en-US" sz="2018" dirty="0">
                <a:solidFill>
                  <a:srgbClr val="0070C0"/>
                </a:solidFill>
                <a:latin typeface="Lucida Console" panose="020B0609040504020204" pitchFamily="49" charset="0"/>
              </a:rPr>
              <a:t>Escape codes like newline (</a:t>
            </a:r>
          </a:p>
          <a:p>
            <a:pPr marL="0" indent="233363">
              <a:spcBef>
                <a:spcPts val="0"/>
              </a:spcBef>
              <a:buNone/>
            </a:pPr>
            <a:r>
              <a:rPr lang="en-US" sz="2018" dirty="0">
                <a:solidFill>
                  <a:srgbClr val="0070C0"/>
                </a:solidFill>
                <a:latin typeface="Lucida Console" panose="020B0609040504020204" pitchFamily="49" charset="0"/>
              </a:rPr>
              <a:t>) &amp; tab (       ) also work</a:t>
            </a:r>
          </a:p>
          <a:p>
            <a:pPr marL="0" indent="233363">
              <a:spcBef>
                <a:spcPts val="0"/>
              </a:spcBef>
              <a:buNone/>
            </a:pPr>
            <a:r>
              <a:rPr lang="en-US" sz="2018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79493" y="4100308"/>
            <a:ext cx="1828801" cy="419100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51">
              <a:solidFill>
                <a:prstClr val="white"/>
              </a:solidFill>
            </a:endParaRPr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8740876" y="4504508"/>
            <a:ext cx="848418" cy="28160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>
            <a:stCxn id="3" idx="2"/>
          </p:cNvCxnSpPr>
          <p:nvPr/>
        </p:nvCxnSpPr>
        <p:spPr>
          <a:xfrm flipH="1">
            <a:off x="8120092" y="4519408"/>
            <a:ext cx="173801" cy="110125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11"/>
          <p:cNvGrpSpPr/>
          <p:nvPr/>
        </p:nvGrpSpPr>
        <p:grpSpPr>
          <a:xfrm>
            <a:off x="1207293" y="4904905"/>
            <a:ext cx="6324600" cy="1260849"/>
            <a:chOff x="6618299" y="1888761"/>
            <a:chExt cx="6895249" cy="1461427"/>
          </a:xfrm>
        </p:grpSpPr>
        <p:sp>
          <p:nvSpPr>
            <p:cNvPr id="13" name="Rounded Rectangle 12"/>
            <p:cNvSpPr/>
            <p:nvPr/>
          </p:nvSpPr>
          <p:spPr>
            <a:xfrm>
              <a:off x="6618299" y="1888761"/>
              <a:ext cx="6895249" cy="359764"/>
            </a:xfrm>
            <a:prstGeom prst="roundRect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51">
                <a:solidFill>
                  <a:prstClr val="white"/>
                </a:solidFill>
              </a:endParaRPr>
            </a:p>
          </p:txBody>
        </p:sp>
        <p:cxnSp>
          <p:nvCxnSpPr>
            <p:cNvPr id="14" name="Straight Arrow Connector 13"/>
            <p:cNvCxnSpPr/>
            <p:nvPr/>
          </p:nvCxnSpPr>
          <p:spPr>
            <a:xfrm flipH="1">
              <a:off x="8137987" y="2068644"/>
              <a:ext cx="4865526" cy="1281544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/>
            <p:cNvCxnSpPr/>
            <p:nvPr/>
          </p:nvCxnSpPr>
          <p:spPr>
            <a:xfrm flipH="1">
              <a:off x="10608574" y="2106000"/>
              <a:ext cx="693498" cy="915038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9729788" cy="1161142"/>
          </a:xfrm>
        </p:spPr>
        <p:txBody>
          <a:bodyPr>
            <a:normAutofit/>
          </a:bodyPr>
          <a:lstStyle/>
          <a:p>
            <a:r>
              <a:rPr lang="en-US" altLang="en-US" sz="4400" dirty="0" smtClean="0">
                <a:solidFill>
                  <a:srgbClr val="0070C0"/>
                </a:solidFill>
              </a:rPr>
              <a:t>2. Strings:</a:t>
            </a:r>
            <a:endParaRPr lang="en-US" altLang="en-US" sz="4400" dirty="0">
              <a:solidFill>
                <a:srgbClr val="0070C0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591731" y="5143917"/>
            <a:ext cx="651140" cy="4031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2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sz="202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27738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5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5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554639" y="162050"/>
            <a:ext cx="9175150" cy="828550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solidFill>
                  <a:srgbClr val="0070C0"/>
                </a:solidFill>
              </a:rPr>
              <a:t>String Operators: </a:t>
            </a:r>
            <a:endParaRPr lang="en-US" altLang="en-US" sz="4400" dirty="0">
              <a:solidFill>
                <a:schemeClr val="tx1"/>
              </a:solidFill>
            </a:endParaRPr>
          </a:p>
        </p:txBody>
      </p:sp>
      <p:graphicFrame>
        <p:nvGraphicFramePr>
          <p:cNvPr id="5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46572083"/>
              </p:ext>
            </p:extLst>
          </p:nvPr>
        </p:nvGraphicFramePr>
        <p:xfrm>
          <a:off x="513809" y="2117211"/>
          <a:ext cx="8694295" cy="4327360"/>
        </p:xfrm>
        <a:graphic>
          <a:graphicData uri="http://schemas.openxmlformats.org/drawingml/2006/table">
            <a:tbl>
              <a:tblPr/>
              <a:tblGrid>
                <a:gridCol w="188934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16823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63671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5302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Operator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Description</a:t>
                      </a: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Example</a:t>
                      </a:r>
                      <a:br>
                        <a:rPr kumimoji="0" lang="en-US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</a:br>
                      <a:r>
                        <a:rPr lang="en-US" altLang="en-US" sz="1600" dirty="0" smtClean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Let a='Hello' and b='Python':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5302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+</a:t>
                      </a: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Concatenation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Creates a new string of the left-side string followed by the right-side one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 marL="182563"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182563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a +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b 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Lucida Sans Unicode" panose="020B0602030504020204" pitchFamily="34" charset="0"/>
                          <a:cs typeface="Times New Roman"/>
                        </a:rPr>
                        <a:t>→  </a:t>
                      </a:r>
                      <a:r>
                        <a:rPr kumimoji="0" lang="en-US" altLang="en-US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HelloPython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56350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*</a:t>
                      </a: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Repetition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Creates </a:t>
                      </a: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new strings, concatenating multiple copies of the same string</a:t>
                      </a: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 marL="182563"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182563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a*2 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Lucida Sans Unicode" panose="020B0602030504020204" pitchFamily="34" charset="0"/>
                          <a:cs typeface="Times New Roman"/>
                        </a:rPr>
                        <a:t>→   </a:t>
                      </a:r>
                      <a:r>
                        <a:rPr kumimoji="0" lang="en-US" altLang="en-US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HelloHello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5302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[]</a:t>
                      </a: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Slice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Gives the character at the given index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 marL="182563"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182563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a[1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] 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Lucida Sans Unicode" panose="020B0602030504020204" pitchFamily="34" charset="0"/>
                          <a:cs typeface="Times New Roman"/>
                        </a:rPr>
                        <a:t>→ 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e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5302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[ : </a:t>
                      </a:r>
                      <a:r>
                        <a:rPr kumimoji="0" lang="en-US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]</a:t>
                      </a: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Range Slice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Gives </a:t>
                      </a: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the characters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in </a:t>
                      </a: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the given range</a:t>
                      </a: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 marL="182563"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182563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a[1:4]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/>
                          <a:ea typeface="Lucida Sans Unicode" panose="020B0602030504020204" pitchFamily="34" charset="0"/>
                          <a:cs typeface="Times New Roman"/>
                        </a:rPr>
                        <a:t>→ 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ell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5302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in</a:t>
                      </a: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Membership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Returns True </a:t>
                      </a: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if a character exists in the given string</a:t>
                      </a: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 marL="182563"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182563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H in a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/>
                          <a:ea typeface="Lucida Sans Unicode" panose="020B0602030504020204" pitchFamily="34" charset="0"/>
                          <a:cs typeface="Times New Roman"/>
                        </a:rPr>
                        <a:t>→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True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58250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not </a:t>
                      </a:r>
                      <a:r>
                        <a:rPr kumimoji="0" lang="en-US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in</a:t>
                      </a: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Nonmembership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Membership - Returns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True </a:t>
                      </a: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if a character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is not </a:t>
                      </a: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in the given string</a:t>
                      </a: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 marL="182563"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182563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M not in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a 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/>
                          <a:ea typeface="Lucida Sans Unicode" panose="020B0602030504020204" pitchFamily="34" charset="0"/>
                          <a:cs typeface="Times New Roman"/>
                        </a:rPr>
                        <a:t>→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True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5302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%</a:t>
                      </a: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Formatted String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Uses </a:t>
                      </a:r>
                      <a:r>
                        <a:rPr kumimoji="0" lang="en-US" altLang="en-US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printf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-style string </a:t>
                      </a: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formatting</a:t>
                      </a: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 marL="182563"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182563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"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 Narrow" panose="020B0606020202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&lt;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%d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 Narrow" panose="020B0606020202030204" pitchFamily="34" charset="0"/>
                          <a:ea typeface="Verdana" panose="020B0604030504040204" pitchFamily="34" charset="0"/>
                          <a:cs typeface="Lucida Sans Unicode" panose="020B0602030504020204" pitchFamily="34" charset="0"/>
                        </a:rPr>
                        <a:t>&gt;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"%(2)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/>
                          <a:ea typeface="Lucida Sans Unicode" panose="020B0602030504020204" pitchFamily="34" charset="0"/>
                          <a:cs typeface="Times New Roman"/>
                        </a:rPr>
                        <a:t>  →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'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 Narrow" panose="020B0606020202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&lt;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2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 Narrow" panose="020B0606020202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&gt;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'</a:t>
                      </a:r>
                      <a:endParaRPr kumimoji="0" lang="en-US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Arial Narrow" panose="020B060602020203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</a:tbl>
          </a:graphicData>
        </a:graphic>
      </p:graphicFrame>
      <p:graphicFrame>
        <p:nvGraphicFramePr>
          <p:cNvPr id="6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34546921"/>
              </p:ext>
            </p:extLst>
          </p:nvPr>
        </p:nvGraphicFramePr>
        <p:xfrm>
          <a:off x="510591" y="1073561"/>
          <a:ext cx="8694295" cy="4852505"/>
        </p:xfrm>
        <a:graphic>
          <a:graphicData uri="http://schemas.openxmlformats.org/drawingml/2006/table">
            <a:tbl>
              <a:tblPr/>
              <a:tblGrid>
                <a:gridCol w="188934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16823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63671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5302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Operator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Description</a:t>
                      </a: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Example</a:t>
                      </a:r>
                      <a:br>
                        <a:rPr kumimoji="0" lang="en-US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</a:br>
                      <a:r>
                        <a:rPr lang="en-US" altLang="en-US" sz="2000" dirty="0" smtClean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Assume a='Python':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5302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+</a:t>
                      </a: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Concatenation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Creates a new string of the left-side string followed by the right-side one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 marL="182563"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182563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"Hi" </a:t>
                      </a: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+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a 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/>
                          <a:ea typeface="Lucida Sans Unicode" panose="020B0602030504020204" pitchFamily="34" charset="0"/>
                          <a:cs typeface="Times New Roman"/>
                        </a:rPr>
                        <a:t>→ 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'</a:t>
                      </a:r>
                      <a:r>
                        <a:rPr kumimoji="0" lang="en-US" altLang="en-US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HiPython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'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56350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*</a:t>
                      </a: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Repetition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Creates </a:t>
                      </a: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new strings, concatenating multiple copies of the same string</a:t>
                      </a: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 marL="182563"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182563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a*2 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/>
                          <a:ea typeface="Lucida Sans Unicode" panose="020B0602030504020204" pitchFamily="34" charset="0"/>
                          <a:cs typeface="Times New Roman"/>
                        </a:rPr>
                        <a:t>→ 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'</a:t>
                      </a:r>
                      <a:r>
                        <a:rPr kumimoji="0" lang="en-US" altLang="en-US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PythonPython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'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5302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[]</a:t>
                      </a: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Slice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Gives the character at the given index</a:t>
                      </a:r>
                      <a:b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</a:b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(Numbering starts at 0)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 marL="182563"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182563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a[1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] 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/>
                          <a:ea typeface="Lucida Sans Unicode" panose="020B0602030504020204" pitchFamily="34" charset="0"/>
                          <a:cs typeface="Times New Roman"/>
                        </a:rPr>
                        <a:t>→ 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'y'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5302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[ : </a:t>
                      </a:r>
                      <a:r>
                        <a:rPr kumimoji="0" lang="en-US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]</a:t>
                      </a: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Range Slice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Gives </a:t>
                      </a: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the characters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in </a:t>
                      </a: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the given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range</a:t>
                      </a:r>
                      <a:b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</a:b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(inclusive of 1</a:t>
                      </a:r>
                      <a:r>
                        <a:rPr kumimoji="0" lang="en-US" altLang="en-US" sz="1600" b="0" i="0" u="none" strike="noStrike" cap="none" normalizeH="0" baseline="3000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st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number but not last)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 marL="182563"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182563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a[1:4] 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/>
                          <a:ea typeface="Lucida Sans Unicode" panose="020B0602030504020204" pitchFamily="34" charset="0"/>
                          <a:cs typeface="Times New Roman"/>
                        </a:rPr>
                        <a:t>→ 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'</a:t>
                      </a:r>
                      <a:r>
                        <a:rPr kumimoji="0" lang="en-US" altLang="en-US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yth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'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5302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[ : </a:t>
                      </a:r>
                      <a:r>
                        <a:rPr kumimoji="0" lang="en-US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: ]</a:t>
                      </a: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Range Step Slice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Gives </a:t>
                      </a: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the characters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in </a:t>
                      </a: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the given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range</a:t>
                      </a:r>
                      <a:b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</a:b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with a step size given by the 3</a:t>
                      </a:r>
                      <a:r>
                        <a:rPr kumimoji="0" lang="en-US" altLang="en-US" sz="1600" b="0" i="0" u="none" strike="noStrike" cap="none" normalizeH="0" baseline="3000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rd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number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 marL="182563"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182563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a[4:0:-1]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/>
                          <a:ea typeface="Lucida Sans Unicode" panose="020B0602030504020204" pitchFamily="34" charset="0"/>
                          <a:cs typeface="Times New Roman"/>
                        </a:rPr>
                        <a:t>→ 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'</a:t>
                      </a:r>
                      <a:r>
                        <a:rPr kumimoji="0" lang="en-US" altLang="en-US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ohty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'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58250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in</a:t>
                      </a: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Membership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Returns True if the left-side string is a substring of the right-side string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 marL="182563"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182563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"P" </a:t>
                      </a: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in a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/>
                          <a:ea typeface="Lucida Sans Unicode" panose="020B0602030504020204" pitchFamily="34" charset="0"/>
                          <a:cs typeface="Times New Roman"/>
                        </a:rPr>
                        <a:t>→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True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5302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not </a:t>
                      </a:r>
                      <a:r>
                        <a:rPr kumimoji="0" lang="en-US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in</a:t>
                      </a: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Nonmembership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Returns True </a:t>
                      </a: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if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the left-side string is not found in </a:t>
                      </a: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the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right-side </a:t>
                      </a: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string</a:t>
                      </a: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 marL="182563"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182563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"M" </a:t>
                      </a: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not in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a 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/>
                          <a:ea typeface="Lucida Sans Unicode" panose="020B0602030504020204" pitchFamily="34" charset="0"/>
                          <a:cs typeface="Times New Roman"/>
                        </a:rPr>
                        <a:t>→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True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2698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r/R</a:t>
                      </a: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Raw String 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Suppress </a:t>
                      </a: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actual meaning of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escape characters (such as "\n" or "\t")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 marL="182563"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182563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r"\n\t" 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/>
                          <a:ea typeface="Lucida Sans Unicode" panose="020B0602030504020204" pitchFamily="34" charset="0"/>
                          <a:cs typeface="Times New Roman"/>
                        </a:rPr>
                        <a:t>→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'\n\t'</a:t>
                      </a:r>
                      <a:endParaRPr kumimoji="0" lang="en-US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486063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554639" y="162050"/>
            <a:ext cx="9175150" cy="828550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solidFill>
                  <a:srgbClr val="0070C0"/>
                </a:solidFill>
              </a:rPr>
              <a:t>String Operators: </a:t>
            </a:r>
            <a:endParaRPr lang="en-US" altLang="en-US" sz="4400" dirty="0">
              <a:solidFill>
                <a:schemeClr val="tx1"/>
              </a:solidFill>
            </a:endParaRPr>
          </a:p>
        </p:txBody>
      </p:sp>
      <p:graphicFrame>
        <p:nvGraphicFramePr>
          <p:cNvPr id="5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6385946"/>
              </p:ext>
            </p:extLst>
          </p:nvPr>
        </p:nvGraphicFramePr>
        <p:xfrm>
          <a:off x="513809" y="2117211"/>
          <a:ext cx="8694295" cy="4327360"/>
        </p:xfrm>
        <a:graphic>
          <a:graphicData uri="http://schemas.openxmlformats.org/drawingml/2006/table">
            <a:tbl>
              <a:tblPr/>
              <a:tblGrid>
                <a:gridCol w="188934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16823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63671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5302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Operator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Description</a:t>
                      </a: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Example</a:t>
                      </a:r>
                      <a:br>
                        <a:rPr kumimoji="0" lang="en-US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</a:br>
                      <a:r>
                        <a:rPr lang="en-US" altLang="en-US" sz="1600" dirty="0" smtClean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Let a='Hello' and b='Python':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5302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+</a:t>
                      </a: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Concatenation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Creates a new string of the left-side string followed by the right-side one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 marL="182563"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182563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a +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b 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Lucida Sans Unicode" panose="020B0602030504020204" pitchFamily="34" charset="0"/>
                          <a:cs typeface="Times New Roman"/>
                        </a:rPr>
                        <a:t>→  </a:t>
                      </a:r>
                      <a:r>
                        <a:rPr kumimoji="0" lang="en-US" altLang="en-US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HelloPython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56350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*</a:t>
                      </a: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Repetition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Creates </a:t>
                      </a: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new strings, concatenating multiple copies of the same string</a:t>
                      </a: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 marL="182563"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182563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a*2 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Lucida Sans Unicode" panose="020B0602030504020204" pitchFamily="34" charset="0"/>
                          <a:cs typeface="Times New Roman"/>
                        </a:rPr>
                        <a:t>→   </a:t>
                      </a:r>
                      <a:r>
                        <a:rPr kumimoji="0" lang="en-US" altLang="en-US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HelloHello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5302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[]</a:t>
                      </a: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Slice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Gives the character at the given index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 marL="182563"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182563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a[1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] 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Lucida Sans Unicode" panose="020B0602030504020204" pitchFamily="34" charset="0"/>
                          <a:cs typeface="Times New Roman"/>
                        </a:rPr>
                        <a:t>→ 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e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5302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[ : </a:t>
                      </a:r>
                      <a:r>
                        <a:rPr kumimoji="0" lang="en-US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]</a:t>
                      </a: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Range Slice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Gives </a:t>
                      </a: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the characters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in </a:t>
                      </a: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the given range</a:t>
                      </a: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 marL="182563"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182563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a[1:4]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/>
                          <a:ea typeface="Lucida Sans Unicode" panose="020B0602030504020204" pitchFamily="34" charset="0"/>
                          <a:cs typeface="Times New Roman"/>
                        </a:rPr>
                        <a:t>→ 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ell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5302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in</a:t>
                      </a: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Membership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Returns True </a:t>
                      </a: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if a character exists in the given string</a:t>
                      </a: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 marL="182563"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182563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H in a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/>
                          <a:ea typeface="Lucida Sans Unicode" panose="020B0602030504020204" pitchFamily="34" charset="0"/>
                          <a:cs typeface="Times New Roman"/>
                        </a:rPr>
                        <a:t>→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True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58250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not </a:t>
                      </a:r>
                      <a:r>
                        <a:rPr kumimoji="0" lang="en-US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in</a:t>
                      </a: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Nonmembership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Membership - Returns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True </a:t>
                      </a: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if a character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is not </a:t>
                      </a: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in the given string</a:t>
                      </a: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 marL="182563"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182563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M not in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a 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/>
                          <a:ea typeface="Lucida Sans Unicode" panose="020B0602030504020204" pitchFamily="34" charset="0"/>
                          <a:cs typeface="Times New Roman"/>
                        </a:rPr>
                        <a:t>→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True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5302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%</a:t>
                      </a: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Formatted String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B2B2B2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Uses </a:t>
                      </a:r>
                      <a:r>
                        <a:rPr kumimoji="0" lang="en-US" altLang="en-US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printf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-style string </a:t>
                      </a: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formatting</a:t>
                      </a: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 marL="182563"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182563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"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Arial Narrow" panose="020B0606020202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&lt;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%d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Arial Narrow" panose="020B0606020202030204" pitchFamily="34" charset="0"/>
                          <a:ea typeface="Verdana" panose="020B0604030504040204" pitchFamily="34" charset="0"/>
                          <a:cs typeface="Lucida Sans Unicode" panose="020B0602030504020204" pitchFamily="34" charset="0"/>
                        </a:rPr>
                        <a:t>&gt;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"%(2)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Times New Roman"/>
                          <a:ea typeface="Lucida Sans Unicode" panose="020B0602030504020204" pitchFamily="34" charset="0"/>
                          <a:cs typeface="Times New Roman"/>
                        </a:rPr>
                        <a:t>  →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'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Arial Narrow" panose="020B0606020202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&lt;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2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Arial Narrow" panose="020B0606020202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&gt;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'</a:t>
                      </a:r>
                      <a:endParaRPr kumimoji="0" lang="en-US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B2B2B2"/>
                        </a:solidFill>
                        <a:effectLst/>
                        <a:latin typeface="Arial Narrow" panose="020B060602020203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</a:tbl>
          </a:graphicData>
        </a:graphic>
      </p:graphicFrame>
      <p:graphicFrame>
        <p:nvGraphicFramePr>
          <p:cNvPr id="6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70505292"/>
              </p:ext>
            </p:extLst>
          </p:nvPr>
        </p:nvGraphicFramePr>
        <p:xfrm>
          <a:off x="510591" y="1073561"/>
          <a:ext cx="8694295" cy="4852505"/>
        </p:xfrm>
        <a:graphic>
          <a:graphicData uri="http://schemas.openxmlformats.org/drawingml/2006/table">
            <a:tbl>
              <a:tblPr/>
              <a:tblGrid>
                <a:gridCol w="188934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16823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63671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5302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Operator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Description</a:t>
                      </a: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Example</a:t>
                      </a:r>
                      <a:br>
                        <a:rPr kumimoji="0" lang="en-US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</a:br>
                      <a:r>
                        <a:rPr lang="en-US" altLang="en-US" sz="2000" dirty="0" smtClean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Assume a='Python':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5302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+</a:t>
                      </a: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Concatenation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Creates a new string of the left-side string followed by the right-side one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 marL="182563"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182563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"Hi" </a:t>
                      </a: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+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a 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/>
                          <a:ea typeface="Lucida Sans Unicode" panose="020B0602030504020204" pitchFamily="34" charset="0"/>
                          <a:cs typeface="Times New Roman"/>
                        </a:rPr>
                        <a:t>→ 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'</a:t>
                      </a:r>
                      <a:r>
                        <a:rPr kumimoji="0" lang="en-US" altLang="en-US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HiPython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'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56350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*</a:t>
                      </a: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Repetition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Creates </a:t>
                      </a: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new strings, concatenating multiple copies of the same string</a:t>
                      </a: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 marL="182563"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182563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a*2 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/>
                          <a:ea typeface="Lucida Sans Unicode" panose="020B0602030504020204" pitchFamily="34" charset="0"/>
                          <a:cs typeface="Times New Roman"/>
                        </a:rPr>
                        <a:t>→ 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'</a:t>
                      </a:r>
                      <a:r>
                        <a:rPr kumimoji="0" lang="en-US" altLang="en-US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PythonPython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'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5302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[]</a:t>
                      </a: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Slice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Gives the character at the given index</a:t>
                      </a:r>
                      <a:b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</a:b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(Numbering starts at 0)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 marL="182563"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182563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a[1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] 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/>
                          <a:ea typeface="Lucida Sans Unicode" panose="020B0602030504020204" pitchFamily="34" charset="0"/>
                          <a:cs typeface="Times New Roman"/>
                        </a:rPr>
                        <a:t>→ 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'y'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5302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[ : </a:t>
                      </a:r>
                      <a:r>
                        <a:rPr kumimoji="0" lang="en-US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]</a:t>
                      </a: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Range Slice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Gives </a:t>
                      </a: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the characters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in </a:t>
                      </a: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the given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range</a:t>
                      </a:r>
                      <a:b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</a:b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(inclusive of 1</a:t>
                      </a:r>
                      <a:r>
                        <a:rPr kumimoji="0" lang="en-US" altLang="en-US" sz="1600" b="0" i="0" u="none" strike="noStrike" cap="none" normalizeH="0" baseline="3000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st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number but not last)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 marL="182563"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182563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a[1:4] 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/>
                          <a:ea typeface="Lucida Sans Unicode" panose="020B0602030504020204" pitchFamily="34" charset="0"/>
                          <a:cs typeface="Times New Roman"/>
                        </a:rPr>
                        <a:t>→ 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'</a:t>
                      </a:r>
                      <a:r>
                        <a:rPr kumimoji="0" lang="en-US" altLang="en-US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yth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'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5302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[ : </a:t>
                      </a:r>
                      <a:r>
                        <a:rPr kumimoji="0" lang="en-US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: ]</a:t>
                      </a: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Range Step Slice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B2B2B2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Gives </a:t>
                      </a: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the characters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in </a:t>
                      </a: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the given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range</a:t>
                      </a:r>
                      <a:b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</a:b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with a step size given by the 3</a:t>
                      </a:r>
                      <a:r>
                        <a:rPr kumimoji="0" lang="en-US" altLang="en-US" sz="1600" b="0" i="0" u="none" strike="noStrike" cap="none" normalizeH="0" baseline="3000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rd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number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B2B2B2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 marL="182563"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182563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a[4:0:-1]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Times New Roman"/>
                          <a:ea typeface="Lucida Sans Unicode" panose="020B0602030504020204" pitchFamily="34" charset="0"/>
                          <a:cs typeface="Times New Roman"/>
                        </a:rPr>
                        <a:t>→ 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'</a:t>
                      </a:r>
                      <a:r>
                        <a:rPr kumimoji="0" lang="en-US" altLang="en-US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ohty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'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B2B2B2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58250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in</a:t>
                      </a: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Membership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B2B2B2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Returns True if the left-side string is a substring of the right-side string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B2B2B2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 marL="182563"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182563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"P" </a:t>
                      </a: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in a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Times New Roman"/>
                          <a:ea typeface="Lucida Sans Unicode" panose="020B0602030504020204" pitchFamily="34" charset="0"/>
                          <a:cs typeface="Times New Roman"/>
                        </a:rPr>
                        <a:t>→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True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B2B2B2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5302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not </a:t>
                      </a:r>
                      <a:r>
                        <a:rPr kumimoji="0" lang="en-US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in</a:t>
                      </a: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Nonmembership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B2B2B2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Returns True </a:t>
                      </a: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if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the left-side string is not found in </a:t>
                      </a: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the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right-side </a:t>
                      </a: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string</a:t>
                      </a: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 marL="182563"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182563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"M" </a:t>
                      </a: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not in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a 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Times New Roman"/>
                          <a:ea typeface="Lucida Sans Unicode" panose="020B0602030504020204" pitchFamily="34" charset="0"/>
                          <a:cs typeface="Times New Roman"/>
                        </a:rPr>
                        <a:t>→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True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B2B2B2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2698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r/R</a:t>
                      </a: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Raw String 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B2B2B2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Suppress </a:t>
                      </a: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actual meaning of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escape characters (such as "\n" or "\t")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B2B2B2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 marL="182563"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182563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r"\n\t" 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Times New Roman"/>
                          <a:ea typeface="Lucida Sans Unicode" panose="020B0602030504020204" pitchFamily="34" charset="0"/>
                          <a:cs typeface="Times New Roman"/>
                        </a:rPr>
                        <a:t>→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'\n\t'</a:t>
                      </a:r>
                      <a:endParaRPr kumimoji="0" lang="en-US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B2B2B2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934977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1" y="1"/>
            <a:ext cx="9729787" cy="116114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solidFill>
                  <a:srgbClr val="0070C0"/>
                </a:solidFill>
              </a:rPr>
              <a:t>Example (+, *, </a:t>
            </a:r>
            <a:r>
              <a:rPr lang="en-US" altLang="en-US" sz="4400" b="1" dirty="0">
                <a:solidFill>
                  <a:srgbClr val="0070C0"/>
                </a:solidFill>
                <a:latin typeface="Lucida Sans Typewriter" panose="020B0509030504030204" pitchFamily="49" charset="0"/>
              </a:rPr>
              <a:t>[]</a:t>
            </a:r>
            <a:r>
              <a:rPr lang="en-US" altLang="en-US" sz="4400" dirty="0">
                <a:solidFill>
                  <a:srgbClr val="0070C0"/>
                </a:solidFill>
              </a:rPr>
              <a:t>, </a:t>
            </a:r>
            <a:r>
              <a:rPr lang="en-US" altLang="en-US" sz="4400" b="1" dirty="0">
                <a:solidFill>
                  <a:srgbClr val="0070C0"/>
                </a:solidFill>
                <a:latin typeface="Lucida Sans Typewriter" panose="020B0509030504030204" pitchFamily="49" charset="0"/>
              </a:rPr>
              <a:t>[</a:t>
            </a:r>
            <a:r>
              <a:rPr lang="en-US" altLang="en-US" sz="4400" dirty="0">
                <a:solidFill>
                  <a:srgbClr val="0070C0"/>
                </a:solidFill>
              </a:rPr>
              <a:t>:</a:t>
            </a:r>
            <a:r>
              <a:rPr lang="en-US" altLang="en-US" sz="4400" b="1" dirty="0">
                <a:solidFill>
                  <a:srgbClr val="0070C0"/>
                </a:solidFill>
                <a:latin typeface="Lucida Sans Typewriter" panose="020B0509030504030204" pitchFamily="49" charset="0"/>
              </a:rPr>
              <a:t>]</a:t>
            </a:r>
            <a:r>
              <a:rPr lang="en-US" altLang="en-US" sz="4400" dirty="0">
                <a:solidFill>
                  <a:srgbClr val="0070C0"/>
                </a:solidFill>
              </a:rPr>
              <a:t>) :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276634" y="747252"/>
            <a:ext cx="9405472" cy="6110748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n-US" altLang="en-US" sz="28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% cat test.py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2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</a:t>
            </a:r>
            <a:r>
              <a:rPr lang="en-US" alt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'Hello World!'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 (</a:t>
            </a:r>
            <a:r>
              <a:rPr lang="en-US" altLang="en-US" sz="2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</a:t>
            </a:r>
            <a:r>
              <a:rPr lang="en-US" alt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en-US" sz="28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# </a:t>
            </a:r>
            <a:r>
              <a:rPr lang="en-US" alt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Prints complete string 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 (</a:t>
            </a:r>
            <a:r>
              <a:rPr lang="en-US" altLang="en-US" sz="2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</a:t>
            </a:r>
            <a:r>
              <a:rPr lang="en-US" alt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[0]) 	</a:t>
            </a:r>
            <a:r>
              <a:rPr lang="en-US" altLang="en-US" sz="28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en-US" alt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Prints 1st character of the string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 (</a:t>
            </a:r>
            <a:r>
              <a:rPr lang="en-US" altLang="en-US" sz="2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</a:t>
            </a:r>
            <a:r>
              <a:rPr lang="en-US" alt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[1:4]) </a:t>
            </a:r>
            <a:r>
              <a:rPr lang="en-US" altLang="en-US" sz="28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	# </a:t>
            </a:r>
            <a:r>
              <a:rPr lang="en-US" alt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Prints </a:t>
            </a:r>
            <a:r>
              <a:rPr lang="en-US" altLang="en-US" sz="2800" spc="-4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characters from the 2nd </a:t>
            </a:r>
            <a:r>
              <a:rPr lang="en-US" altLang="en-US" sz="2800" spc="-4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altLang="en-US" sz="2800" spc="-4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4th 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 (</a:t>
            </a:r>
            <a:r>
              <a:rPr lang="en-US" altLang="en-US" sz="2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</a:t>
            </a:r>
            <a:r>
              <a:rPr lang="en-US" alt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[1:-1]) </a:t>
            </a:r>
            <a:r>
              <a:rPr lang="en-US" altLang="en-US" sz="28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# </a:t>
            </a:r>
            <a:r>
              <a:rPr lang="en-US" alt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Prints </a:t>
            </a:r>
            <a:r>
              <a:rPr lang="en-US" altLang="en-US" sz="2800" spc="-4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characters from the 2nd </a:t>
            </a:r>
            <a:r>
              <a:rPr lang="en-US" altLang="en-US" sz="2800" spc="-4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 to </a:t>
            </a:r>
            <a:r>
              <a:rPr lang="en-US" altLang="en-US" sz="2800" spc="-4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sz="2800" spc="-40" baseline="30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nd</a:t>
            </a:r>
            <a:r>
              <a:rPr lang="en-US" altLang="en-US" sz="2800" spc="-4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-to-last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 (</a:t>
            </a:r>
            <a:r>
              <a:rPr lang="en-US" altLang="en-US" sz="2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</a:t>
            </a:r>
            <a:r>
              <a:rPr lang="en-US" alt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* 2) </a:t>
            </a:r>
            <a:r>
              <a:rPr lang="en-US" altLang="en-US" sz="28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	# </a:t>
            </a:r>
            <a:r>
              <a:rPr lang="en-US" alt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Prints string two times 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 (</a:t>
            </a:r>
            <a:r>
              <a:rPr lang="en-US" altLang="en-US" sz="2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</a:t>
            </a:r>
            <a:r>
              <a:rPr lang="en-US" alt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"TEST") # Prints concatenated string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28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% python3 test.py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Hello World!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ell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ello</a:t>
            </a:r>
            <a:r>
              <a:rPr lang="en-US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World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Hello </a:t>
            </a:r>
            <a:r>
              <a:rPr lang="en-US" alt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World!Hello</a:t>
            </a:r>
            <a:r>
              <a:rPr lang="en-US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World!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Hello </a:t>
            </a:r>
            <a:r>
              <a:rPr lang="en-US" alt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World!TEST</a:t>
            </a:r>
            <a:endParaRPr lang="en-US" altLang="en-US" sz="2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70000"/>
              </a:lnSpc>
              <a:spcBef>
                <a:spcPts val="0"/>
              </a:spcBef>
              <a:buNone/>
            </a:pPr>
            <a:r>
              <a:rPr lang="en-US" altLang="en-US" sz="28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%</a:t>
            </a:r>
          </a:p>
        </p:txBody>
      </p:sp>
    </p:spTree>
    <p:extLst>
      <p:ext uri="{BB962C8B-B14F-4D97-AF65-F5344CB8AC3E}">
        <p14:creationId xmlns:p14="http://schemas.microsoft.com/office/powerpoint/2010/main" val="1693589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80808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808080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3" presetID="14" presetClass="entr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80808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808080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1" presetID="14" presetClass="entr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80808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808080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9" presetID="14" presetClass="entr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80808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808080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37" presetID="14" presetClass="entr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80808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4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808080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45" presetID="14" presetClass="entr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80808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4" presetClass="entr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5" dur="500"/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554639" y="162050"/>
            <a:ext cx="9175150" cy="828550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solidFill>
                  <a:srgbClr val="0070C0"/>
                </a:solidFill>
              </a:rPr>
              <a:t>String Operators: </a:t>
            </a:r>
            <a:endParaRPr lang="en-US" altLang="en-US" sz="4400" dirty="0">
              <a:solidFill>
                <a:schemeClr val="tx1"/>
              </a:solidFill>
            </a:endParaRPr>
          </a:p>
        </p:txBody>
      </p:sp>
      <p:graphicFrame>
        <p:nvGraphicFramePr>
          <p:cNvPr id="5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10283187"/>
              </p:ext>
            </p:extLst>
          </p:nvPr>
        </p:nvGraphicFramePr>
        <p:xfrm>
          <a:off x="513809" y="2117211"/>
          <a:ext cx="8694295" cy="4327360"/>
        </p:xfrm>
        <a:graphic>
          <a:graphicData uri="http://schemas.openxmlformats.org/drawingml/2006/table">
            <a:tbl>
              <a:tblPr/>
              <a:tblGrid>
                <a:gridCol w="188934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16823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63671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5302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Operator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Description</a:t>
                      </a: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Example</a:t>
                      </a:r>
                      <a:br>
                        <a:rPr kumimoji="0" lang="en-US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</a:br>
                      <a:r>
                        <a:rPr lang="en-US" altLang="en-US" sz="1600" dirty="0" smtClean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Let a='Hello' and b='Python':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5302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+</a:t>
                      </a: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Concatenation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Creates a new string of the left-side string followed by the right-side one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 marL="182563"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182563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a +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b 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Lucida Sans Unicode" panose="020B0602030504020204" pitchFamily="34" charset="0"/>
                          <a:cs typeface="Times New Roman"/>
                        </a:rPr>
                        <a:t>→  </a:t>
                      </a:r>
                      <a:r>
                        <a:rPr kumimoji="0" lang="en-US" altLang="en-US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HelloPython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56350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*</a:t>
                      </a: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Repetition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Creates </a:t>
                      </a: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new strings, concatenating multiple copies of the same string</a:t>
                      </a: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 marL="182563"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182563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a*2 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Lucida Sans Unicode" panose="020B0602030504020204" pitchFamily="34" charset="0"/>
                          <a:cs typeface="Times New Roman"/>
                        </a:rPr>
                        <a:t>→   </a:t>
                      </a:r>
                      <a:r>
                        <a:rPr kumimoji="0" lang="en-US" altLang="en-US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HelloHello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5302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[]</a:t>
                      </a: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Slice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Gives the character at the given index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 marL="182563"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182563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a[1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] 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Lucida Sans Unicode" panose="020B0602030504020204" pitchFamily="34" charset="0"/>
                          <a:cs typeface="Times New Roman"/>
                        </a:rPr>
                        <a:t>→ 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e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5302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[ : </a:t>
                      </a:r>
                      <a:r>
                        <a:rPr kumimoji="0" lang="en-US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]</a:t>
                      </a: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Range Slice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Gives </a:t>
                      </a: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the characters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in </a:t>
                      </a: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the given range</a:t>
                      </a: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 marL="182563"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182563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a[1:4]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/>
                          <a:ea typeface="Lucida Sans Unicode" panose="020B0602030504020204" pitchFamily="34" charset="0"/>
                          <a:cs typeface="Times New Roman"/>
                        </a:rPr>
                        <a:t>→ 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ell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5302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in</a:t>
                      </a: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Membership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Returns True </a:t>
                      </a: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if a character exists in the given string</a:t>
                      </a: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 marL="182563"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182563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H in a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/>
                          <a:ea typeface="Lucida Sans Unicode" panose="020B0602030504020204" pitchFamily="34" charset="0"/>
                          <a:cs typeface="Times New Roman"/>
                        </a:rPr>
                        <a:t>→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True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58250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not </a:t>
                      </a:r>
                      <a:r>
                        <a:rPr kumimoji="0" lang="en-US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in</a:t>
                      </a: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Nonmembership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Membership - Returns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True </a:t>
                      </a: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if a character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is not </a:t>
                      </a: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in the given string</a:t>
                      </a: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 marL="182563"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182563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M not in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a 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/>
                          <a:ea typeface="Lucida Sans Unicode" panose="020B0602030504020204" pitchFamily="34" charset="0"/>
                          <a:cs typeface="Times New Roman"/>
                        </a:rPr>
                        <a:t>→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True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5302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%</a:t>
                      </a: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Formatted String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B2B2B2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Uses </a:t>
                      </a:r>
                      <a:r>
                        <a:rPr kumimoji="0" lang="en-US" altLang="en-US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printf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-style string </a:t>
                      </a: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formatting</a:t>
                      </a: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 marL="182563"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182563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"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Arial Narrow" panose="020B0606020202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&lt;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%d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Arial Narrow" panose="020B0606020202030204" pitchFamily="34" charset="0"/>
                          <a:ea typeface="Verdana" panose="020B0604030504040204" pitchFamily="34" charset="0"/>
                          <a:cs typeface="Lucida Sans Unicode" panose="020B0602030504020204" pitchFamily="34" charset="0"/>
                        </a:rPr>
                        <a:t>&gt;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"%(2)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Times New Roman"/>
                          <a:ea typeface="Lucida Sans Unicode" panose="020B0602030504020204" pitchFamily="34" charset="0"/>
                          <a:cs typeface="Times New Roman"/>
                        </a:rPr>
                        <a:t>  →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'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Arial Narrow" panose="020B0606020202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&lt;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2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Arial Narrow" panose="020B0606020202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&gt;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'</a:t>
                      </a:r>
                      <a:endParaRPr kumimoji="0" lang="en-US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B2B2B2"/>
                        </a:solidFill>
                        <a:effectLst/>
                        <a:latin typeface="Arial Narrow" panose="020B060602020203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</a:tbl>
          </a:graphicData>
        </a:graphic>
      </p:graphicFrame>
      <p:graphicFrame>
        <p:nvGraphicFramePr>
          <p:cNvPr id="6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0319923"/>
              </p:ext>
            </p:extLst>
          </p:nvPr>
        </p:nvGraphicFramePr>
        <p:xfrm>
          <a:off x="510591" y="1073561"/>
          <a:ext cx="8694295" cy="4852505"/>
        </p:xfrm>
        <a:graphic>
          <a:graphicData uri="http://schemas.openxmlformats.org/drawingml/2006/table">
            <a:tbl>
              <a:tblPr/>
              <a:tblGrid>
                <a:gridCol w="188934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16823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63671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5302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Operator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B2B2B2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Description</a:t>
                      </a: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Example</a:t>
                      </a:r>
                      <a:br>
                        <a:rPr kumimoji="0" lang="en-US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</a:br>
                      <a:r>
                        <a:rPr lang="en-US" altLang="en-US" sz="2000" dirty="0" smtClean="0">
                          <a:solidFill>
                            <a:srgbClr val="B2B2B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Assume a='Python':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B2B2B2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5302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+</a:t>
                      </a: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Concatenation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B2B2B2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Creates a new string of the left-side string followed by the right-side one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B2B2B2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 marL="182563"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182563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"Hi" </a:t>
                      </a: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+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a 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Times New Roman"/>
                          <a:ea typeface="Lucida Sans Unicode" panose="020B0602030504020204" pitchFamily="34" charset="0"/>
                          <a:cs typeface="Times New Roman"/>
                        </a:rPr>
                        <a:t>→ 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'</a:t>
                      </a:r>
                      <a:r>
                        <a:rPr kumimoji="0" lang="en-US" altLang="en-US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HiPython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'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B2B2B2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56350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*</a:t>
                      </a: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Repetition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B2B2B2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Creates </a:t>
                      </a: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new strings, concatenating multiple copies of the same string</a:t>
                      </a: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 marL="182563"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182563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a*2 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Times New Roman"/>
                          <a:ea typeface="Lucida Sans Unicode" panose="020B0602030504020204" pitchFamily="34" charset="0"/>
                          <a:cs typeface="Times New Roman"/>
                        </a:rPr>
                        <a:t>→ 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'</a:t>
                      </a:r>
                      <a:r>
                        <a:rPr kumimoji="0" lang="en-US" altLang="en-US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PythonPython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'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B2B2B2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5302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[]</a:t>
                      </a: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Slice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B2B2B2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Gives the character at the given index</a:t>
                      </a:r>
                      <a:b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</a:b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(Numbering starts at 0)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B2B2B2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 marL="182563"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182563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a[1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] 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Times New Roman"/>
                          <a:ea typeface="Lucida Sans Unicode" panose="020B0602030504020204" pitchFamily="34" charset="0"/>
                          <a:cs typeface="Times New Roman"/>
                        </a:rPr>
                        <a:t>→ 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'y'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B2B2B2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5302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[ : </a:t>
                      </a:r>
                      <a:r>
                        <a:rPr kumimoji="0" lang="en-US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]</a:t>
                      </a: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Range Slice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Gives </a:t>
                      </a: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the characters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in </a:t>
                      </a: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the given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range</a:t>
                      </a:r>
                      <a:b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</a:b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(inclusive of 1</a:t>
                      </a:r>
                      <a:r>
                        <a:rPr kumimoji="0" lang="en-US" altLang="en-US" sz="1600" b="0" i="0" u="none" strike="noStrike" cap="none" normalizeH="0" baseline="3000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st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number but not last)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 marL="182563"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182563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a[1:4] 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/>
                          <a:ea typeface="Lucida Sans Unicode" panose="020B0602030504020204" pitchFamily="34" charset="0"/>
                          <a:cs typeface="Times New Roman"/>
                        </a:rPr>
                        <a:t>→ 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'</a:t>
                      </a:r>
                      <a:r>
                        <a:rPr kumimoji="0" lang="en-US" altLang="en-US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yth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'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5302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[ : </a:t>
                      </a:r>
                      <a:r>
                        <a:rPr kumimoji="0" lang="en-US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: ]</a:t>
                      </a: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Range Step Slice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Gives </a:t>
                      </a: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the characters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in </a:t>
                      </a: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the given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range</a:t>
                      </a:r>
                      <a:b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</a:b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with a step size given by the 3</a:t>
                      </a:r>
                      <a:r>
                        <a:rPr kumimoji="0" lang="en-US" altLang="en-US" sz="1600" b="0" i="0" u="none" strike="noStrike" cap="none" normalizeH="0" baseline="3000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rd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number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 marL="182563"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182563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a[4:0:-1]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/>
                          <a:ea typeface="Lucida Sans Unicode" panose="020B0602030504020204" pitchFamily="34" charset="0"/>
                          <a:cs typeface="Times New Roman"/>
                        </a:rPr>
                        <a:t>→ 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'</a:t>
                      </a:r>
                      <a:r>
                        <a:rPr kumimoji="0" lang="en-US" altLang="en-US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ohty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'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58250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in</a:t>
                      </a: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Membership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B2B2B2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Returns True if the left-side string is a substring of the right-side string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B2B2B2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 marL="182563"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182563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"P" </a:t>
                      </a: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in a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Times New Roman"/>
                          <a:ea typeface="Lucida Sans Unicode" panose="020B0602030504020204" pitchFamily="34" charset="0"/>
                          <a:cs typeface="Times New Roman"/>
                        </a:rPr>
                        <a:t>→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True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B2B2B2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5302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not </a:t>
                      </a:r>
                      <a:r>
                        <a:rPr kumimoji="0" lang="en-US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in</a:t>
                      </a: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Nonmembership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B2B2B2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Returns True </a:t>
                      </a: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if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the left-side string is not found in </a:t>
                      </a: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the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right-side </a:t>
                      </a: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string</a:t>
                      </a: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 marL="182563"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182563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"M" </a:t>
                      </a: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not in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a 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Times New Roman"/>
                          <a:ea typeface="Lucida Sans Unicode" panose="020B0602030504020204" pitchFamily="34" charset="0"/>
                          <a:cs typeface="Times New Roman"/>
                        </a:rPr>
                        <a:t>→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True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B2B2B2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2698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r/R</a:t>
                      </a: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Raw String 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B2B2B2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Suppress </a:t>
                      </a: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actual meaning of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escape characters (such as "\n" or "\t")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B2B2B2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 marL="182563"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182563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r"\n\t" 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Times New Roman"/>
                          <a:ea typeface="Lucida Sans Unicode" panose="020B0602030504020204" pitchFamily="34" charset="0"/>
                          <a:cs typeface="Times New Roman"/>
                        </a:rPr>
                        <a:t>→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'\n\t'</a:t>
                      </a:r>
                      <a:endParaRPr kumimoji="0" lang="en-US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B2B2B2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200640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1" y="1"/>
            <a:ext cx="9729787" cy="116114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solidFill>
                  <a:srgbClr val="0070C0"/>
                </a:solidFill>
              </a:rPr>
              <a:t>Example (</a:t>
            </a:r>
            <a:r>
              <a:rPr lang="en-US" altLang="en-US" sz="4400" b="1" dirty="0">
                <a:solidFill>
                  <a:srgbClr val="0070C0"/>
                </a:solidFill>
                <a:latin typeface="Lucida Sans Typewriter" panose="020B0509030504030204" pitchFamily="49" charset="0"/>
              </a:rPr>
              <a:t>[</a:t>
            </a:r>
            <a:r>
              <a:rPr lang="en-US" altLang="en-US" sz="4400" dirty="0">
                <a:solidFill>
                  <a:srgbClr val="0070C0"/>
                </a:solidFill>
              </a:rPr>
              <a:t>:</a:t>
            </a:r>
            <a:r>
              <a:rPr lang="en-US" altLang="en-US" sz="4400" b="1" dirty="0">
                <a:solidFill>
                  <a:srgbClr val="0070C0"/>
                </a:solidFill>
                <a:latin typeface="Lucida Sans Typewriter" panose="020B0509030504030204" pitchFamily="49" charset="0"/>
              </a:rPr>
              <a:t>]</a:t>
            </a:r>
            <a:r>
              <a:rPr lang="en-US" altLang="en-US" sz="4400" dirty="0">
                <a:solidFill>
                  <a:srgbClr val="0070C0"/>
                </a:solidFill>
              </a:rPr>
              <a:t>, </a:t>
            </a:r>
            <a:r>
              <a:rPr lang="en-US" altLang="en-US" sz="4400" b="1" dirty="0">
                <a:solidFill>
                  <a:srgbClr val="0070C0"/>
                </a:solidFill>
                <a:latin typeface="Lucida Sans Typewriter" panose="020B0509030504030204" pitchFamily="49" charset="0"/>
              </a:rPr>
              <a:t>[</a:t>
            </a:r>
            <a:r>
              <a:rPr lang="en-US" altLang="en-US" sz="4400" dirty="0">
                <a:solidFill>
                  <a:srgbClr val="0070C0"/>
                </a:solidFill>
              </a:rPr>
              <a:t>::</a:t>
            </a:r>
            <a:r>
              <a:rPr lang="en-US" altLang="en-US" sz="4400" b="1" dirty="0">
                <a:solidFill>
                  <a:srgbClr val="0070C0"/>
                </a:solidFill>
                <a:latin typeface="Lucida Sans Typewriter" panose="020B0509030504030204" pitchFamily="49" charset="0"/>
              </a:rPr>
              <a:t>]</a:t>
            </a:r>
            <a:r>
              <a:rPr lang="en-US" altLang="en-US" sz="4400" dirty="0">
                <a:solidFill>
                  <a:srgbClr val="0070C0"/>
                </a:solidFill>
              </a:rPr>
              <a:t>) :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256973" y="904568"/>
            <a:ext cx="9885561" cy="5953432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n-US" altLang="en-US" sz="28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% cat test.py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2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</a:t>
            </a:r>
            <a:r>
              <a:rPr lang="en-US" alt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'Hello World!'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 (</a:t>
            </a:r>
            <a:r>
              <a:rPr lang="en-US" altLang="en-US" sz="2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</a:t>
            </a:r>
            <a:r>
              <a:rPr lang="en-US" alt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[0:]) </a:t>
            </a:r>
            <a:r>
              <a:rPr lang="en-US" altLang="en-US" sz="28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# </a:t>
            </a:r>
            <a:r>
              <a:rPr lang="en-US" alt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Zero to </a:t>
            </a:r>
            <a:r>
              <a:rPr lang="en-US" altLang="en-US" sz="28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default </a:t>
            </a:r>
            <a:r>
              <a:rPr lang="en-US" alt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ending </a:t>
            </a:r>
            <a:r>
              <a:rPr lang="en-US" altLang="en-US" sz="28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means: </a:t>
            </a:r>
            <a:r>
              <a:rPr lang="en-US" alt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everything 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 (</a:t>
            </a:r>
            <a:r>
              <a:rPr lang="en-US" altLang="en-US" sz="2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</a:t>
            </a:r>
            <a:r>
              <a:rPr lang="en-US" alt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[:-1]) </a:t>
            </a:r>
            <a:r>
              <a:rPr lang="en-US" altLang="en-US" sz="28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# </a:t>
            </a:r>
            <a:r>
              <a:rPr lang="en-US" altLang="en-US" sz="2800" spc="-3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Default beginning to </a:t>
            </a:r>
            <a:r>
              <a:rPr lang="en-US" altLang="en-US" sz="2800" spc="-3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last means: </a:t>
            </a:r>
            <a:r>
              <a:rPr lang="en-US" altLang="en-US" sz="2800" spc="-3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everything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 (</a:t>
            </a:r>
            <a:r>
              <a:rPr lang="en-US" altLang="en-US" sz="2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</a:t>
            </a:r>
            <a:r>
              <a:rPr lang="en-US" alt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[8:2:-1]) # From the 8</a:t>
            </a:r>
            <a:r>
              <a:rPr lang="en-US" altLang="en-US" sz="2800" baseline="30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alt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down to the </a:t>
            </a:r>
            <a:r>
              <a:rPr lang="en-US" altLang="en-US" sz="28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3rd</a:t>
            </a:r>
            <a:endParaRPr lang="en-US" altLang="en-US" sz="28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 (</a:t>
            </a:r>
            <a:r>
              <a:rPr lang="en-US" altLang="en-US" sz="2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</a:t>
            </a:r>
            <a:r>
              <a:rPr lang="en-US" alt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[::-1</a:t>
            </a:r>
            <a:r>
              <a:rPr lang="en-US" altLang="en-US" sz="28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])	# </a:t>
            </a:r>
            <a:r>
              <a:rPr lang="en-US" altLang="en-US" sz="2800" spc="-1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default (last) down to default (</a:t>
            </a:r>
            <a:r>
              <a:rPr lang="en-US" altLang="en-US" sz="2800" spc="-1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en-US" sz="2800" spc="-10" baseline="300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</a:t>
            </a:r>
            <a:r>
              <a:rPr lang="en-US" altLang="en-US" sz="2800" spc="-1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altLang="en-US" sz="2800" spc="-1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 (</a:t>
            </a:r>
            <a:r>
              <a:rPr lang="en-US" altLang="en-US" sz="2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</a:t>
            </a:r>
            <a:r>
              <a:rPr lang="en-US" alt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[::2]) </a:t>
            </a:r>
            <a:r>
              <a:rPr lang="en-US" altLang="en-US" sz="28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# </a:t>
            </a:r>
            <a:r>
              <a:rPr lang="en-US" alt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default to default, stepping by 2 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 (</a:t>
            </a:r>
            <a:r>
              <a:rPr lang="en-US" altLang="en-US" sz="2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</a:t>
            </a:r>
            <a:r>
              <a:rPr lang="en-US" alt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[::]) </a:t>
            </a:r>
            <a:r>
              <a:rPr lang="en-US" altLang="en-US" sz="28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# </a:t>
            </a:r>
            <a:r>
              <a:rPr lang="en-US" alt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default to default, stepping by default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28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% python3 test.py</a:t>
            </a:r>
          </a:p>
          <a:p>
            <a:pPr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Hello World!</a:t>
            </a:r>
          </a:p>
          <a:p>
            <a:pPr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Hello World</a:t>
            </a:r>
          </a:p>
          <a:p>
            <a:pPr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roW</a:t>
            </a:r>
            <a:r>
              <a:rPr lang="en-US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ol</a:t>
            </a:r>
            <a:endParaRPr lang="en-US" altLang="en-US" sz="2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  <a:r>
              <a:rPr lang="en-US" alt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dlroW</a:t>
            </a:r>
            <a:r>
              <a:rPr lang="en-US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olleH</a:t>
            </a:r>
            <a:endParaRPr lang="en-US" altLang="en-US" sz="2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HloWrd</a:t>
            </a:r>
            <a:endParaRPr lang="en-US" altLang="en-US" sz="2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Hello World!</a:t>
            </a:r>
          </a:p>
          <a:p>
            <a:pPr>
              <a:lnSpc>
                <a:spcPct val="70000"/>
              </a:lnSpc>
              <a:spcBef>
                <a:spcPts val="0"/>
              </a:spcBef>
              <a:buNone/>
            </a:pPr>
            <a:r>
              <a:rPr lang="en-US" altLang="en-US" sz="28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%</a:t>
            </a:r>
          </a:p>
        </p:txBody>
      </p:sp>
    </p:spTree>
    <p:extLst>
      <p:ext uri="{BB962C8B-B14F-4D97-AF65-F5344CB8AC3E}">
        <p14:creationId xmlns:p14="http://schemas.microsoft.com/office/powerpoint/2010/main" val="1939367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80808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808080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80808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808080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80808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808080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80808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808080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3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80808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4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808080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4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80808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5" dur="500"/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554639" y="162050"/>
            <a:ext cx="9175150" cy="828550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solidFill>
                  <a:srgbClr val="0070C0"/>
                </a:solidFill>
              </a:rPr>
              <a:t>String Operators: </a:t>
            </a:r>
            <a:endParaRPr lang="en-US" altLang="en-US" sz="4400" dirty="0">
              <a:solidFill>
                <a:schemeClr val="tx1"/>
              </a:solidFill>
            </a:endParaRPr>
          </a:p>
        </p:txBody>
      </p:sp>
      <p:graphicFrame>
        <p:nvGraphicFramePr>
          <p:cNvPr id="5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12168382"/>
              </p:ext>
            </p:extLst>
          </p:nvPr>
        </p:nvGraphicFramePr>
        <p:xfrm>
          <a:off x="513809" y="2117211"/>
          <a:ext cx="8694295" cy="4327360"/>
        </p:xfrm>
        <a:graphic>
          <a:graphicData uri="http://schemas.openxmlformats.org/drawingml/2006/table">
            <a:tbl>
              <a:tblPr/>
              <a:tblGrid>
                <a:gridCol w="188934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16823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63671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5302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Operator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Description</a:t>
                      </a: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Example</a:t>
                      </a:r>
                      <a:br>
                        <a:rPr kumimoji="0" lang="en-US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</a:br>
                      <a:r>
                        <a:rPr lang="en-US" altLang="en-US" sz="1600" dirty="0" smtClean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Let a='Hello' and b='Python':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5302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+</a:t>
                      </a: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Concatenation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Creates a new string of the left-side string followed by the right-side one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 marL="182563"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182563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a +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b 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Lucida Sans Unicode" panose="020B0602030504020204" pitchFamily="34" charset="0"/>
                          <a:cs typeface="Times New Roman"/>
                        </a:rPr>
                        <a:t>→  </a:t>
                      </a:r>
                      <a:r>
                        <a:rPr kumimoji="0" lang="en-US" altLang="en-US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HelloPython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56350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*</a:t>
                      </a: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Repetition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Creates </a:t>
                      </a: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new strings, concatenating multiple copies of the same string</a:t>
                      </a: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 marL="182563"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182563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a*2 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Lucida Sans Unicode" panose="020B0602030504020204" pitchFamily="34" charset="0"/>
                          <a:cs typeface="Times New Roman"/>
                        </a:rPr>
                        <a:t>→   </a:t>
                      </a:r>
                      <a:r>
                        <a:rPr kumimoji="0" lang="en-US" altLang="en-US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HelloHello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5302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[]</a:t>
                      </a: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Slice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Gives the character at the given index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 marL="182563"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182563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a[1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] 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Lucida Sans Unicode" panose="020B0602030504020204" pitchFamily="34" charset="0"/>
                          <a:cs typeface="Times New Roman"/>
                        </a:rPr>
                        <a:t>→ 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e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5302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[ : </a:t>
                      </a:r>
                      <a:r>
                        <a:rPr kumimoji="0" lang="en-US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]</a:t>
                      </a: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Range Slice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Gives </a:t>
                      </a: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the characters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in </a:t>
                      </a: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the given range</a:t>
                      </a: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 marL="182563"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182563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a[1:4]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/>
                          <a:ea typeface="Lucida Sans Unicode" panose="020B0602030504020204" pitchFamily="34" charset="0"/>
                          <a:cs typeface="Times New Roman"/>
                        </a:rPr>
                        <a:t>→ 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ell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5302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in</a:t>
                      </a: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Membership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Returns True </a:t>
                      </a: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if a character exists in the given string</a:t>
                      </a: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 marL="182563"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182563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H in a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/>
                          <a:ea typeface="Lucida Sans Unicode" panose="020B0602030504020204" pitchFamily="34" charset="0"/>
                          <a:cs typeface="Times New Roman"/>
                        </a:rPr>
                        <a:t>→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True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58250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not </a:t>
                      </a:r>
                      <a:r>
                        <a:rPr kumimoji="0" lang="en-US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in</a:t>
                      </a: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Nonmembership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Membership - Returns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True </a:t>
                      </a: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if a character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is not </a:t>
                      </a: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in the given string</a:t>
                      </a: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 marL="182563"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182563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M not in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a 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/>
                          <a:ea typeface="Lucida Sans Unicode" panose="020B0602030504020204" pitchFamily="34" charset="0"/>
                          <a:cs typeface="Times New Roman"/>
                        </a:rPr>
                        <a:t>→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True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5302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%</a:t>
                      </a: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Formatted String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B2B2B2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Uses </a:t>
                      </a:r>
                      <a:r>
                        <a:rPr kumimoji="0" lang="en-US" altLang="en-US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printf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-style string </a:t>
                      </a: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formatting</a:t>
                      </a: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 marL="182563"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182563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"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Arial Narrow" panose="020B0606020202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&lt;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%d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Arial Narrow" panose="020B0606020202030204" pitchFamily="34" charset="0"/>
                          <a:ea typeface="Verdana" panose="020B0604030504040204" pitchFamily="34" charset="0"/>
                          <a:cs typeface="Lucida Sans Unicode" panose="020B0602030504020204" pitchFamily="34" charset="0"/>
                        </a:rPr>
                        <a:t>&gt;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"%(2)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Times New Roman"/>
                          <a:ea typeface="Lucida Sans Unicode" panose="020B0602030504020204" pitchFamily="34" charset="0"/>
                          <a:cs typeface="Times New Roman"/>
                        </a:rPr>
                        <a:t>  →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'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Arial Narrow" panose="020B0606020202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&lt;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2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Arial Narrow" panose="020B0606020202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&gt;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'</a:t>
                      </a:r>
                      <a:endParaRPr kumimoji="0" lang="en-US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B2B2B2"/>
                        </a:solidFill>
                        <a:effectLst/>
                        <a:latin typeface="Arial Narrow" panose="020B060602020203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</a:tbl>
          </a:graphicData>
        </a:graphic>
      </p:graphicFrame>
      <p:graphicFrame>
        <p:nvGraphicFramePr>
          <p:cNvPr id="6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90169848"/>
              </p:ext>
            </p:extLst>
          </p:nvPr>
        </p:nvGraphicFramePr>
        <p:xfrm>
          <a:off x="510591" y="1073561"/>
          <a:ext cx="8694295" cy="4852505"/>
        </p:xfrm>
        <a:graphic>
          <a:graphicData uri="http://schemas.openxmlformats.org/drawingml/2006/table">
            <a:tbl>
              <a:tblPr/>
              <a:tblGrid>
                <a:gridCol w="188934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16823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63671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5302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Operator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Description</a:t>
                      </a: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Example</a:t>
                      </a:r>
                      <a:br>
                        <a:rPr kumimoji="0" lang="en-US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</a:br>
                      <a:r>
                        <a:rPr lang="en-US" altLang="en-US" sz="2000" dirty="0" smtClean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Assume a='Python':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5302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+</a:t>
                      </a: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Concatenation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B2B2B2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Creates a new string of the left-side string followed by the right-side one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B2B2B2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 marL="182563"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182563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"Hi" </a:t>
                      </a: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+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a 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Times New Roman"/>
                          <a:ea typeface="Lucida Sans Unicode" panose="020B0602030504020204" pitchFamily="34" charset="0"/>
                          <a:cs typeface="Times New Roman"/>
                        </a:rPr>
                        <a:t>→ 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'</a:t>
                      </a:r>
                      <a:r>
                        <a:rPr kumimoji="0" lang="en-US" altLang="en-US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HiPython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'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B2B2B2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56350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*</a:t>
                      </a: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Repetition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B2B2B2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Creates </a:t>
                      </a: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new strings, concatenating multiple copies of the same string</a:t>
                      </a: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 marL="182563"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182563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a*2 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Times New Roman"/>
                          <a:ea typeface="Lucida Sans Unicode" panose="020B0602030504020204" pitchFamily="34" charset="0"/>
                          <a:cs typeface="Times New Roman"/>
                        </a:rPr>
                        <a:t>→ 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'</a:t>
                      </a:r>
                      <a:r>
                        <a:rPr kumimoji="0" lang="en-US" altLang="en-US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PythonPython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'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B2B2B2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5302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[]</a:t>
                      </a: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Slice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B2B2B2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Gives the character at the given index</a:t>
                      </a:r>
                      <a:b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</a:b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(Numbering starts at 0)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B2B2B2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 marL="182563"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182563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a[1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] 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Times New Roman"/>
                          <a:ea typeface="Lucida Sans Unicode" panose="020B0602030504020204" pitchFamily="34" charset="0"/>
                          <a:cs typeface="Times New Roman"/>
                        </a:rPr>
                        <a:t>→ 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'y'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B2B2B2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5302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[ : </a:t>
                      </a:r>
                      <a:r>
                        <a:rPr kumimoji="0" lang="en-US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]</a:t>
                      </a: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Range Slice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B2B2B2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Gives </a:t>
                      </a: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the characters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in </a:t>
                      </a: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the given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range</a:t>
                      </a:r>
                      <a:b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</a:b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(inclusive of 1</a:t>
                      </a:r>
                      <a:r>
                        <a:rPr kumimoji="0" lang="en-US" altLang="en-US" sz="1600" b="0" i="0" u="none" strike="noStrike" cap="none" normalizeH="0" baseline="3000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st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number but not last)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B2B2B2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 marL="182563"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182563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a[1:4] 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Times New Roman"/>
                          <a:ea typeface="Lucida Sans Unicode" panose="020B0602030504020204" pitchFamily="34" charset="0"/>
                          <a:cs typeface="Times New Roman"/>
                        </a:rPr>
                        <a:t>→ 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'</a:t>
                      </a:r>
                      <a:r>
                        <a:rPr kumimoji="0" lang="en-US" altLang="en-US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yth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'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B2B2B2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5302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[ : </a:t>
                      </a:r>
                      <a:r>
                        <a:rPr kumimoji="0" lang="en-US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: ]</a:t>
                      </a: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Range Step Slice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B2B2B2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Gives </a:t>
                      </a: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the characters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in </a:t>
                      </a: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the given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range</a:t>
                      </a:r>
                      <a:b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</a:b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with a step size given by the 3</a:t>
                      </a:r>
                      <a:r>
                        <a:rPr kumimoji="0" lang="en-US" altLang="en-US" sz="1600" b="0" i="0" u="none" strike="noStrike" cap="none" normalizeH="0" baseline="3000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rd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number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B2B2B2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 marL="182563"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182563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a[4:0:-1]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Times New Roman"/>
                          <a:ea typeface="Lucida Sans Unicode" panose="020B0602030504020204" pitchFamily="34" charset="0"/>
                          <a:cs typeface="Times New Roman"/>
                        </a:rPr>
                        <a:t>→ 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'</a:t>
                      </a:r>
                      <a:r>
                        <a:rPr kumimoji="0" lang="en-US" altLang="en-US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ohty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'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B2B2B2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58250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in</a:t>
                      </a: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Membership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Returns True if the left-side string is a substring of the right-side string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 marL="182563"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182563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"P" </a:t>
                      </a: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in a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/>
                          <a:ea typeface="Lucida Sans Unicode" panose="020B0602030504020204" pitchFamily="34" charset="0"/>
                          <a:cs typeface="Times New Roman"/>
                        </a:rPr>
                        <a:t>→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True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5302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not </a:t>
                      </a:r>
                      <a:r>
                        <a:rPr kumimoji="0" lang="en-US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in</a:t>
                      </a: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Nonmembership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Returns True </a:t>
                      </a: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if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the left-side string is not found in </a:t>
                      </a: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the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right-side </a:t>
                      </a: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string</a:t>
                      </a: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 marL="182563"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182563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"M" </a:t>
                      </a: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not in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a 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/>
                          <a:ea typeface="Lucida Sans Unicode" panose="020B0602030504020204" pitchFamily="34" charset="0"/>
                          <a:cs typeface="Times New Roman"/>
                        </a:rPr>
                        <a:t>→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True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2698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r/R</a:t>
                      </a: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Raw String 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B2B2B2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Suppress </a:t>
                      </a: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actual meaning of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escape characters (such as "\n" or "\t")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B2B2B2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 marL="182563"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182563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r"\n\t" 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Times New Roman"/>
                          <a:ea typeface="Lucida Sans Unicode" panose="020B0602030504020204" pitchFamily="34" charset="0"/>
                          <a:cs typeface="Times New Roman"/>
                        </a:rPr>
                        <a:t>→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'\n\t'</a:t>
                      </a:r>
                      <a:endParaRPr kumimoji="0" lang="en-US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B2B2B2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259861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Content Placeholder 2"/>
          <p:cNvSpPr>
            <a:spLocks noGrp="1"/>
          </p:cNvSpPr>
          <p:nvPr>
            <p:ph idx="1"/>
          </p:nvPr>
        </p:nvSpPr>
        <p:spPr>
          <a:xfrm>
            <a:off x="625716" y="1324630"/>
            <a:ext cx="8407761" cy="5056547"/>
          </a:xfrm>
        </p:spPr>
        <p:txBody>
          <a:bodyPr>
            <a:noAutofit/>
          </a:bodyPr>
          <a:lstStyle/>
          <a:p>
            <a:r>
              <a:rPr lang="en-US" altLang="en-US" sz="3600" dirty="0"/>
              <a:t>You can search for substrings (including single characters) in strings:</a:t>
            </a:r>
          </a:p>
          <a:p>
            <a:pPr marL="460375" indent="-292100">
              <a:lnSpc>
                <a:spcPct val="100000"/>
              </a:lnSpc>
              <a:spcBef>
                <a:spcPts val="0"/>
              </a:spcBef>
              <a:buFontTx/>
              <a:buNone/>
            </a:pPr>
            <a:endParaRPr lang="en-US" altLang="en-US" sz="1200" b="1" dirty="0" smtClean="0"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460375" indent="-292100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en-US" altLang="en-US" sz="2400" b="1" dirty="0">
                <a:latin typeface="Lucida Console" panose="020B0609040504020204" pitchFamily="49" charset="0"/>
                <a:cs typeface="Courier New" panose="02070309020205020404" pitchFamily="49" charset="0"/>
              </a:rPr>
              <a:t>	</a:t>
            </a:r>
            <a:r>
              <a:rPr lang="en-US" altLang="en-US" sz="24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 </a:t>
            </a:r>
            <a:r>
              <a:rPr lang="en-US" altLang="en-US" sz="2400" dirty="0">
                <a:latin typeface="Lucida Console" panose="020B0609040504020204" pitchFamily="49" charset="0"/>
                <a:cs typeface="Courier New" panose="02070309020205020404" pitchFamily="49" charset="0"/>
              </a:rPr>
              <a:t>print("I" </a:t>
            </a:r>
            <a:r>
              <a:rPr lang="en-US" altLang="en-US" sz="2400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not in</a:t>
            </a:r>
            <a:r>
              <a:rPr lang="en-US" altLang="en-US" sz="2400" dirty="0">
                <a:latin typeface="Lucida Console" panose="020B0609040504020204" pitchFamily="49" charset="0"/>
                <a:cs typeface="Courier New" panose="02070309020205020404" pitchFamily="49" charset="0"/>
              </a:rPr>
              <a:t> "team")</a:t>
            </a:r>
          </a:p>
          <a:p>
            <a:pPr marL="460375" indent="-292100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en-US" altLang="en-US" sz="2400" dirty="0">
                <a:latin typeface="Lucida Console" panose="020B0609040504020204" pitchFamily="49" charset="0"/>
                <a:cs typeface="Courier New" panose="02070309020205020404" pitchFamily="49" charset="0"/>
              </a:rPr>
              <a:t>	True</a:t>
            </a:r>
          </a:p>
          <a:p>
            <a:pPr marL="460375" indent="-292100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en-US" altLang="en-US" sz="2400" dirty="0">
                <a:latin typeface="Lucida Console" panose="020B0609040504020204" pitchFamily="49" charset="0"/>
                <a:cs typeface="Courier New" panose="02070309020205020404" pitchFamily="49" charset="0"/>
              </a:rPr>
              <a:t>	</a:t>
            </a:r>
            <a:r>
              <a:rPr lang="en-US" altLang="en-US" sz="24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r>
              <a:rPr lang="en-US" altLang="en-US" sz="2400" dirty="0">
                <a:latin typeface="Lucida Console" panose="020B0609040504020204" pitchFamily="49" charset="0"/>
                <a:cs typeface="Courier New" panose="02070309020205020404" pitchFamily="49" charset="0"/>
              </a:rPr>
              <a:t> print("me" </a:t>
            </a:r>
            <a:r>
              <a:rPr lang="en-US" altLang="en-US" sz="2400" dirty="0">
                <a:solidFill>
                  <a:srgbClr val="32BF72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in</a:t>
            </a:r>
            <a:r>
              <a:rPr lang="en-US" altLang="en-US" sz="2400" dirty="0">
                <a:latin typeface="Lucida Console" panose="020B0609040504020204" pitchFamily="49" charset="0"/>
                <a:cs typeface="Courier New" panose="02070309020205020404" pitchFamily="49" charset="0"/>
              </a:rPr>
              <a:t> "team")</a:t>
            </a:r>
          </a:p>
          <a:p>
            <a:pPr marL="460375" indent="-292100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en-US" altLang="en-US" sz="2400" dirty="0">
                <a:latin typeface="Lucida Console" panose="020B0609040504020204" pitchFamily="49" charset="0"/>
                <a:cs typeface="Courier New" panose="02070309020205020404" pitchFamily="49" charset="0"/>
              </a:rPr>
              <a:t>	False</a:t>
            </a:r>
          </a:p>
          <a:p>
            <a:pPr marL="460375" indent="-292100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en-US" altLang="en-US" sz="2400" dirty="0">
                <a:latin typeface="Lucida Console" panose="020B0609040504020204" pitchFamily="49" charset="0"/>
                <a:cs typeface="Courier New" panose="02070309020205020404" pitchFamily="49" charset="0"/>
              </a:rPr>
              <a:t>	</a:t>
            </a:r>
            <a:r>
              <a:rPr lang="en-US" altLang="en-US" sz="24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r>
              <a:rPr lang="en-US" altLang="en-US" sz="2400" dirty="0">
                <a:latin typeface="Lucida Console" panose="020B0609040504020204" pitchFamily="49" charset="0"/>
                <a:cs typeface="Courier New" panose="02070309020205020404" pitchFamily="49" charset="0"/>
              </a:rPr>
              <a:t> print("table" </a:t>
            </a:r>
            <a:r>
              <a:rPr lang="en-US" altLang="en-US" sz="2400" dirty="0">
                <a:solidFill>
                  <a:srgbClr val="32BF72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in</a:t>
            </a:r>
            <a:r>
              <a:rPr lang="en-US" altLang="en-US" sz="2400" dirty="0">
                <a:latin typeface="Lucida Console" panose="020B0609040504020204" pitchFamily="49" charset="0"/>
                <a:cs typeface="Courier New" panose="02070309020205020404" pitchFamily="49" charset="0"/>
              </a:rPr>
              <a:t> "immutable")</a:t>
            </a:r>
          </a:p>
          <a:p>
            <a:pPr marL="460375" indent="-292100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en-US" altLang="en-US" sz="2400" dirty="0">
                <a:latin typeface="Lucida Console" panose="020B0609040504020204" pitchFamily="49" charset="0"/>
                <a:cs typeface="Courier New" panose="02070309020205020404" pitchFamily="49" charset="0"/>
              </a:rPr>
              <a:t>	True</a:t>
            </a:r>
          </a:p>
          <a:p>
            <a:pPr marL="460375" indent="-292100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en-US" altLang="en-US" sz="24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	&gt;&gt;&gt; </a:t>
            </a:r>
            <a:r>
              <a:rPr lang="en-US" altLang="en-US" sz="2400" dirty="0">
                <a:latin typeface="Lucida Console" panose="020B0609040504020204" pitchFamily="49" charset="0"/>
                <a:cs typeface="Courier New" panose="02070309020205020404" pitchFamily="49" charset="0"/>
              </a:rPr>
              <a:t>print("mule" </a:t>
            </a:r>
            <a:r>
              <a:rPr lang="en-US" altLang="en-US" sz="2400" dirty="0">
                <a:solidFill>
                  <a:srgbClr val="32BF72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in</a:t>
            </a:r>
            <a:r>
              <a:rPr lang="en-US" altLang="en-US" sz="2400" dirty="0">
                <a:latin typeface="Lucida Console" panose="020B0609040504020204" pitchFamily="49" charset="0"/>
                <a:cs typeface="Courier New" panose="02070309020205020404" pitchFamily="49" charset="0"/>
              </a:rPr>
              <a:t> "immutable")</a:t>
            </a:r>
          </a:p>
          <a:p>
            <a:pPr marL="460375" indent="-292100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en-US" altLang="en-US" sz="2400" dirty="0">
                <a:latin typeface="Lucida Console" panose="020B0609040504020204" pitchFamily="49" charset="0"/>
                <a:cs typeface="Courier New" panose="02070309020205020404" pitchFamily="49" charset="0"/>
              </a:rPr>
              <a:t>	False</a:t>
            </a:r>
          </a:p>
          <a:p>
            <a:pPr marL="460375" indent="-292100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en-US" altLang="en-US" sz="2400" dirty="0">
                <a:latin typeface="Lucida Console" panose="020B0609040504020204" pitchFamily="49" charset="0"/>
                <a:cs typeface="Courier New" panose="02070309020205020404" pitchFamily="49" charset="0"/>
              </a:rPr>
              <a:t>	</a:t>
            </a:r>
            <a:r>
              <a:rPr lang="en-US" altLang="en-US" sz="24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554639" y="162050"/>
            <a:ext cx="9175150" cy="828550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solidFill>
                  <a:srgbClr val="0070C0"/>
                </a:solidFill>
              </a:rPr>
              <a:t>String </a:t>
            </a:r>
            <a:r>
              <a:rPr lang="en-US" altLang="en-US" sz="4400" dirty="0" smtClean="0">
                <a:solidFill>
                  <a:srgbClr val="0070C0"/>
                </a:solidFill>
              </a:rPr>
              <a:t>Operators: </a:t>
            </a:r>
            <a:r>
              <a:rPr lang="en-US" altLang="en-US" sz="4400" dirty="0" smtClean="0">
                <a:solidFill>
                  <a:srgbClr val="FF0000"/>
                </a:solidFill>
                <a:latin typeface="Century Schoolbook" panose="02040604050505020304" pitchFamily="18" charset="0"/>
              </a:rPr>
              <a:t>in</a:t>
            </a:r>
            <a:r>
              <a:rPr lang="en-US" altLang="en-US" sz="4400" dirty="0" smtClean="0">
                <a:solidFill>
                  <a:srgbClr val="0070C0"/>
                </a:solidFill>
              </a:rPr>
              <a:t>  &amp;  </a:t>
            </a:r>
            <a:r>
              <a:rPr lang="en-US" altLang="en-US" sz="4400" dirty="0" smtClean="0">
                <a:solidFill>
                  <a:srgbClr val="FF0000"/>
                </a:solidFill>
                <a:latin typeface="Century Schoolbook" panose="02040604050505020304" pitchFamily="18" charset="0"/>
              </a:rPr>
              <a:t>not in</a:t>
            </a:r>
            <a:r>
              <a:rPr lang="en-US" altLang="en-US" sz="4400" dirty="0" smtClean="0">
                <a:solidFill>
                  <a:srgbClr val="0070C0"/>
                </a:solidFill>
              </a:rPr>
              <a:t>: </a:t>
            </a:r>
            <a:endParaRPr lang="en-US" altLang="en-US" sz="4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52439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554639" y="162050"/>
            <a:ext cx="9175150" cy="828550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solidFill>
                  <a:srgbClr val="0070C0"/>
                </a:solidFill>
              </a:rPr>
              <a:t>String Operators: </a:t>
            </a:r>
            <a:endParaRPr lang="en-US" altLang="en-US" sz="4400" dirty="0">
              <a:solidFill>
                <a:schemeClr val="tx1"/>
              </a:solidFill>
            </a:endParaRPr>
          </a:p>
        </p:txBody>
      </p:sp>
      <p:graphicFrame>
        <p:nvGraphicFramePr>
          <p:cNvPr id="5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08131264"/>
              </p:ext>
            </p:extLst>
          </p:nvPr>
        </p:nvGraphicFramePr>
        <p:xfrm>
          <a:off x="513809" y="2117211"/>
          <a:ext cx="8694295" cy="4327360"/>
        </p:xfrm>
        <a:graphic>
          <a:graphicData uri="http://schemas.openxmlformats.org/drawingml/2006/table">
            <a:tbl>
              <a:tblPr/>
              <a:tblGrid>
                <a:gridCol w="188934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16823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63671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5302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Operator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Description</a:t>
                      </a: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Example</a:t>
                      </a:r>
                      <a:br>
                        <a:rPr kumimoji="0" lang="en-US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</a:br>
                      <a:r>
                        <a:rPr lang="en-US" altLang="en-US" sz="1600" dirty="0" smtClean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Let a='Hello' and b='Python':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5302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+</a:t>
                      </a: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Concatenation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Creates a new string of the left-side string followed by the right-side one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 marL="182563"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182563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a +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b 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Lucida Sans Unicode" panose="020B0602030504020204" pitchFamily="34" charset="0"/>
                          <a:cs typeface="Times New Roman"/>
                        </a:rPr>
                        <a:t>→  </a:t>
                      </a:r>
                      <a:r>
                        <a:rPr kumimoji="0" lang="en-US" altLang="en-US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HelloPython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56350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*</a:t>
                      </a: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Repetition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Creates </a:t>
                      </a: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new strings, concatenating multiple copies of the same string</a:t>
                      </a: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 marL="182563"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182563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a*2 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Lucida Sans Unicode" panose="020B0602030504020204" pitchFamily="34" charset="0"/>
                          <a:cs typeface="Times New Roman"/>
                        </a:rPr>
                        <a:t>→   </a:t>
                      </a:r>
                      <a:r>
                        <a:rPr kumimoji="0" lang="en-US" altLang="en-US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HelloHello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5302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[]</a:t>
                      </a: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Slice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Gives the character at the given index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 marL="182563"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182563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a[1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] 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Lucida Sans Unicode" panose="020B0602030504020204" pitchFamily="34" charset="0"/>
                          <a:cs typeface="Times New Roman"/>
                        </a:rPr>
                        <a:t>→ 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e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5302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[ : </a:t>
                      </a:r>
                      <a:r>
                        <a:rPr kumimoji="0" lang="en-US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]</a:t>
                      </a: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Range Slice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Gives </a:t>
                      </a: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the characters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in </a:t>
                      </a: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the given range</a:t>
                      </a: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 marL="182563"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182563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a[1:4]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/>
                          <a:ea typeface="Lucida Sans Unicode" panose="020B0602030504020204" pitchFamily="34" charset="0"/>
                          <a:cs typeface="Times New Roman"/>
                        </a:rPr>
                        <a:t>→ 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ell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5302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in</a:t>
                      </a: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Membership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Returns True </a:t>
                      </a: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if a character exists in the given string</a:t>
                      </a: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 marL="182563"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182563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H in a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/>
                          <a:ea typeface="Lucida Sans Unicode" panose="020B0602030504020204" pitchFamily="34" charset="0"/>
                          <a:cs typeface="Times New Roman"/>
                        </a:rPr>
                        <a:t>→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True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58250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not </a:t>
                      </a:r>
                      <a:r>
                        <a:rPr kumimoji="0" lang="en-US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in</a:t>
                      </a: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Nonmembership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Membership - Returns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True </a:t>
                      </a: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if a character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is not </a:t>
                      </a: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in the given string</a:t>
                      </a: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 marL="182563"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182563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M not in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a 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/>
                          <a:ea typeface="Lucida Sans Unicode" panose="020B0602030504020204" pitchFamily="34" charset="0"/>
                          <a:cs typeface="Times New Roman"/>
                        </a:rPr>
                        <a:t>→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True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5302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%</a:t>
                      </a: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Formatted String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B2B2B2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Uses </a:t>
                      </a:r>
                      <a:r>
                        <a:rPr kumimoji="0" lang="en-US" altLang="en-US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printf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-style string </a:t>
                      </a: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formatting</a:t>
                      </a: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 marL="182563"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182563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"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Arial Narrow" panose="020B0606020202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&lt;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%d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Arial Narrow" panose="020B0606020202030204" pitchFamily="34" charset="0"/>
                          <a:ea typeface="Verdana" panose="020B0604030504040204" pitchFamily="34" charset="0"/>
                          <a:cs typeface="Lucida Sans Unicode" panose="020B0602030504020204" pitchFamily="34" charset="0"/>
                        </a:rPr>
                        <a:t>&gt;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"%(2)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Times New Roman"/>
                          <a:ea typeface="Lucida Sans Unicode" panose="020B0602030504020204" pitchFamily="34" charset="0"/>
                          <a:cs typeface="Times New Roman"/>
                        </a:rPr>
                        <a:t>  →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'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Arial Narrow" panose="020B0606020202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&lt;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2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Arial Narrow" panose="020B0606020202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&gt;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'</a:t>
                      </a:r>
                      <a:endParaRPr kumimoji="0" lang="en-US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B2B2B2"/>
                        </a:solidFill>
                        <a:effectLst/>
                        <a:latin typeface="Arial Narrow" panose="020B060602020203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</a:tbl>
          </a:graphicData>
        </a:graphic>
      </p:graphicFrame>
      <p:graphicFrame>
        <p:nvGraphicFramePr>
          <p:cNvPr id="6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4639532"/>
              </p:ext>
            </p:extLst>
          </p:nvPr>
        </p:nvGraphicFramePr>
        <p:xfrm>
          <a:off x="510591" y="1073561"/>
          <a:ext cx="8694295" cy="4852505"/>
        </p:xfrm>
        <a:graphic>
          <a:graphicData uri="http://schemas.openxmlformats.org/drawingml/2006/table">
            <a:tbl>
              <a:tblPr/>
              <a:tblGrid>
                <a:gridCol w="188934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16823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63671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5302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Operator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Description</a:t>
                      </a: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Example</a:t>
                      </a:r>
                      <a:br>
                        <a:rPr kumimoji="0" lang="en-US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</a:br>
                      <a:r>
                        <a:rPr lang="en-US" altLang="en-US" sz="2000" dirty="0" smtClean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Assume a='Python':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5302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+</a:t>
                      </a: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Concatenation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B2B2B2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Creates a new string of the left-side string followed by the right-side one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B2B2B2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 marL="182563"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182563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"Hi" </a:t>
                      </a: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+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a 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Times New Roman"/>
                          <a:ea typeface="Lucida Sans Unicode" panose="020B0602030504020204" pitchFamily="34" charset="0"/>
                          <a:cs typeface="Times New Roman"/>
                        </a:rPr>
                        <a:t>→ 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'</a:t>
                      </a:r>
                      <a:r>
                        <a:rPr kumimoji="0" lang="en-US" altLang="en-US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HiPython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'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B2B2B2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56350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*</a:t>
                      </a: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Repetition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B2B2B2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Creates </a:t>
                      </a: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new strings, concatenating multiple copies of the same string</a:t>
                      </a: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 marL="182563"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182563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a*2 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Times New Roman"/>
                          <a:ea typeface="Lucida Sans Unicode" panose="020B0602030504020204" pitchFamily="34" charset="0"/>
                          <a:cs typeface="Times New Roman"/>
                        </a:rPr>
                        <a:t>→ 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'</a:t>
                      </a:r>
                      <a:r>
                        <a:rPr kumimoji="0" lang="en-US" altLang="en-US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PythonPython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'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B2B2B2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5302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[]</a:t>
                      </a: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Slice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B2B2B2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Gives the character at the given index</a:t>
                      </a:r>
                      <a:b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</a:b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(Numbering starts at 0)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B2B2B2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 marL="182563"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182563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a[1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] 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Times New Roman"/>
                          <a:ea typeface="Lucida Sans Unicode" panose="020B0602030504020204" pitchFamily="34" charset="0"/>
                          <a:cs typeface="Times New Roman"/>
                        </a:rPr>
                        <a:t>→ 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'y'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B2B2B2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5302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[ : </a:t>
                      </a:r>
                      <a:r>
                        <a:rPr kumimoji="0" lang="en-US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]</a:t>
                      </a: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Range Slice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B2B2B2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Gives </a:t>
                      </a: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the characters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in </a:t>
                      </a: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the given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range</a:t>
                      </a:r>
                      <a:b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</a:b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(inclusive of 1</a:t>
                      </a:r>
                      <a:r>
                        <a:rPr kumimoji="0" lang="en-US" altLang="en-US" sz="1600" b="0" i="0" u="none" strike="noStrike" cap="none" normalizeH="0" baseline="3000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st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number but not last)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B2B2B2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 marL="182563"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182563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a[1:4] 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Times New Roman"/>
                          <a:ea typeface="Lucida Sans Unicode" panose="020B0602030504020204" pitchFamily="34" charset="0"/>
                          <a:cs typeface="Times New Roman"/>
                        </a:rPr>
                        <a:t>→ 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'</a:t>
                      </a:r>
                      <a:r>
                        <a:rPr kumimoji="0" lang="en-US" altLang="en-US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yth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'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B2B2B2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5302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[ : </a:t>
                      </a:r>
                      <a:r>
                        <a:rPr kumimoji="0" lang="en-US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: ]</a:t>
                      </a: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Range Step Slice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B2B2B2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Gives </a:t>
                      </a: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the characters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in </a:t>
                      </a: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the given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range</a:t>
                      </a:r>
                      <a:b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</a:b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with a step size given by the 3</a:t>
                      </a:r>
                      <a:r>
                        <a:rPr kumimoji="0" lang="en-US" altLang="en-US" sz="1600" b="0" i="0" u="none" strike="noStrike" cap="none" normalizeH="0" baseline="3000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rd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number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B2B2B2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 marL="182563"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182563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a[4:0:-1]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Times New Roman"/>
                          <a:ea typeface="Lucida Sans Unicode" panose="020B0602030504020204" pitchFamily="34" charset="0"/>
                          <a:cs typeface="Times New Roman"/>
                        </a:rPr>
                        <a:t>→ 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'</a:t>
                      </a:r>
                      <a:r>
                        <a:rPr kumimoji="0" lang="en-US" altLang="en-US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ohty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'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B2B2B2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58250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in</a:t>
                      </a: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Membership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B2B2B2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Returns True if the left-side string is a substring of the right-side string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B2B2B2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 marL="182563"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182563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"P" </a:t>
                      </a: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in a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Times New Roman"/>
                          <a:ea typeface="Lucida Sans Unicode" panose="020B0602030504020204" pitchFamily="34" charset="0"/>
                          <a:cs typeface="Times New Roman"/>
                        </a:rPr>
                        <a:t>→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True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B2B2B2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5302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not </a:t>
                      </a:r>
                      <a:r>
                        <a:rPr kumimoji="0" lang="en-US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in</a:t>
                      </a: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Nonmembership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B2B2B2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Returns True </a:t>
                      </a: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if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the left-side string is not found in </a:t>
                      </a: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the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right-side </a:t>
                      </a: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string</a:t>
                      </a: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 marL="182563"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182563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"M" </a:t>
                      </a: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not in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a 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Times New Roman"/>
                          <a:ea typeface="Lucida Sans Unicode" panose="020B0602030504020204" pitchFamily="34" charset="0"/>
                          <a:cs typeface="Times New Roman"/>
                        </a:rPr>
                        <a:t>→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True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B2B2B2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2698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r/R</a:t>
                      </a: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Raw String 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Suppress </a:t>
                      </a: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actual meaning of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escape characters (such as "\n" or "\t")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 marL="182563"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182563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r"\n\t" 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/>
                          <a:ea typeface="Lucida Sans Unicode" panose="020B0602030504020204" pitchFamily="34" charset="0"/>
                          <a:cs typeface="Times New Roman"/>
                        </a:rPr>
                        <a:t>→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'\n\t'</a:t>
                      </a:r>
                      <a:endParaRPr kumimoji="0" lang="en-US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836899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Content Placeholder 2"/>
          <p:cNvSpPr>
            <a:spLocks noGrp="1"/>
          </p:cNvSpPr>
          <p:nvPr>
            <p:ph idx="1"/>
          </p:nvPr>
        </p:nvSpPr>
        <p:spPr>
          <a:xfrm>
            <a:off x="625716" y="1066800"/>
            <a:ext cx="8407761" cy="5314377"/>
          </a:xfrm>
        </p:spPr>
        <p:txBody>
          <a:bodyPr>
            <a:noAutofit/>
          </a:bodyPr>
          <a:lstStyle/>
          <a:p>
            <a:r>
              <a:rPr lang="en-US" altLang="en-US" sz="3600" dirty="0" smtClean="0"/>
              <a:t>Raw </a:t>
            </a:r>
            <a:r>
              <a:rPr lang="en-US" altLang="en-US" sz="3600" dirty="0"/>
              <a:t>strings don't treat the backslash as a special character. Every character </a:t>
            </a:r>
            <a:r>
              <a:rPr lang="en-US" altLang="en-US" sz="3600" dirty="0" smtClean="0"/>
              <a:t>in the string </a:t>
            </a:r>
            <a:r>
              <a:rPr lang="en-US" altLang="en-US" sz="3600" dirty="0"/>
              <a:t>stays the way you wrote it</a:t>
            </a:r>
            <a:r>
              <a:rPr lang="en-US" altLang="en-US" sz="3600" dirty="0" smtClean="0"/>
              <a:t>:</a:t>
            </a:r>
          </a:p>
          <a:p>
            <a:pPr marL="460375" indent="-292100">
              <a:lnSpc>
                <a:spcPct val="100000"/>
              </a:lnSpc>
              <a:spcBef>
                <a:spcPts val="0"/>
              </a:spcBef>
              <a:buFontTx/>
              <a:buNone/>
            </a:pPr>
            <a:endParaRPr lang="en-US" altLang="en-US" sz="1200" b="1" dirty="0" smtClean="0"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460375" indent="-292100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en-US" altLang="en-US" sz="2400" b="1" dirty="0">
                <a:latin typeface="Lucida Console" panose="020B0609040504020204" pitchFamily="49" charset="0"/>
                <a:cs typeface="Courier New" panose="02070309020205020404" pitchFamily="49" charset="0"/>
              </a:rPr>
              <a:t>	</a:t>
            </a:r>
            <a:r>
              <a:rPr lang="en-US" altLang="en-US" sz="24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r>
              <a:rPr lang="en-US" altLang="en-US" sz="2400" dirty="0">
                <a:latin typeface="Lucida Console" panose="020B0609040504020204" pitchFamily="49" charset="0"/>
                <a:cs typeface="Courier New" panose="02070309020205020404" pitchFamily="49" charset="0"/>
              </a:rPr>
              <a:t> print ('C:\\Users\\Me\n') </a:t>
            </a:r>
          </a:p>
          <a:p>
            <a:pPr marL="460375" indent="-292100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en-US" altLang="en-US" sz="2400" dirty="0">
                <a:latin typeface="Lucida Console" panose="020B0609040504020204" pitchFamily="49" charset="0"/>
                <a:cs typeface="Courier New" panose="02070309020205020404" pitchFamily="49" charset="0"/>
              </a:rPr>
              <a:t>	C:\Users\Me </a:t>
            </a:r>
          </a:p>
          <a:p>
            <a:pPr marL="460375" indent="-292100">
              <a:lnSpc>
                <a:spcPct val="100000"/>
              </a:lnSpc>
              <a:spcBef>
                <a:spcPts val="0"/>
              </a:spcBef>
              <a:buFontTx/>
              <a:buNone/>
            </a:pPr>
            <a:endParaRPr lang="en-US" altLang="en-US" sz="2400" dirty="0"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460375" indent="0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en-US" altLang="en-US" sz="24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r>
              <a:rPr lang="en-US" altLang="en-US" sz="2400" dirty="0">
                <a:latin typeface="Lucida Console" panose="020B0609040504020204" pitchFamily="49" charset="0"/>
                <a:cs typeface="Courier New" panose="02070309020205020404" pitchFamily="49" charset="0"/>
              </a:rPr>
              <a:t> print (</a:t>
            </a:r>
            <a:r>
              <a:rPr lang="en-US" altLang="en-US" sz="2400" b="1" dirty="0" err="1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r</a:t>
            </a:r>
            <a:r>
              <a:rPr lang="en-US" altLang="en-US" sz="2400" dirty="0" err="1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'C</a:t>
            </a:r>
            <a:r>
              <a:rPr lang="en-US" altLang="en-US" sz="2400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:\\Users\\</a:t>
            </a:r>
            <a:r>
              <a:rPr lang="en-US" altLang="en-US" sz="2400" dirty="0" smtClean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Me\n'</a:t>
            </a:r>
            <a:r>
              <a:rPr lang="en-US" altLang="en-US" sz="2400" dirty="0" smtClean="0">
                <a:latin typeface="Lucida Console" panose="020B0609040504020204" pitchFamily="49" charset="0"/>
                <a:cs typeface="Courier New" panose="02070309020205020404" pitchFamily="49" charset="0"/>
              </a:rPr>
              <a:t>) </a:t>
            </a:r>
            <a:endParaRPr lang="en-US" altLang="en-US" sz="2400" dirty="0"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460375" indent="-292100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en-US" altLang="en-US" sz="2400" dirty="0">
                <a:latin typeface="Lucida Console" panose="020B0609040504020204" pitchFamily="49" charset="0"/>
                <a:cs typeface="Courier New" panose="02070309020205020404" pitchFamily="49" charset="0"/>
              </a:rPr>
              <a:t>	C:</a:t>
            </a:r>
            <a:r>
              <a:rPr lang="en-US" altLang="en-US" sz="2400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\\</a:t>
            </a:r>
            <a:r>
              <a:rPr lang="en-US" altLang="en-US" sz="2400" dirty="0">
                <a:latin typeface="Lucida Console" panose="020B0609040504020204" pitchFamily="49" charset="0"/>
                <a:cs typeface="Courier New" panose="02070309020205020404" pitchFamily="49" charset="0"/>
              </a:rPr>
              <a:t>Users</a:t>
            </a:r>
            <a:r>
              <a:rPr lang="en-US" altLang="en-US" sz="2400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\\</a:t>
            </a:r>
            <a:r>
              <a:rPr lang="en-US" altLang="en-US" sz="2400" dirty="0">
                <a:latin typeface="Lucida Console" panose="020B0609040504020204" pitchFamily="49" charset="0"/>
                <a:cs typeface="Courier New" panose="02070309020205020404" pitchFamily="49" charset="0"/>
              </a:rPr>
              <a:t>Me</a:t>
            </a:r>
            <a:r>
              <a:rPr lang="en-US" altLang="en-US" sz="2400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\n</a:t>
            </a:r>
            <a:r>
              <a:rPr lang="en-US" altLang="en-US" sz="2400" dirty="0"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</a:p>
          <a:p>
            <a:pPr marL="460375" indent="0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en-US" altLang="en-US" sz="24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r>
              <a:rPr lang="en-US" altLang="en-US" sz="2400" dirty="0"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554639" y="162050"/>
            <a:ext cx="9175150" cy="828550"/>
          </a:xfrm>
        </p:spPr>
        <p:txBody>
          <a:bodyPr>
            <a:normAutofit/>
          </a:bodyPr>
          <a:lstStyle/>
          <a:p>
            <a:r>
              <a:rPr lang="en-US" altLang="en-US" sz="4400" dirty="0" smtClean="0">
                <a:solidFill>
                  <a:srgbClr val="0070C0"/>
                </a:solidFill>
              </a:rPr>
              <a:t>Raw Strings </a:t>
            </a:r>
            <a:endParaRPr lang="en-US" altLang="en-US" sz="4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18876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554639" y="162050"/>
            <a:ext cx="9175150" cy="828550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solidFill>
                  <a:srgbClr val="0070C0"/>
                </a:solidFill>
              </a:rPr>
              <a:t>String Operators: </a:t>
            </a:r>
            <a:endParaRPr lang="en-US" altLang="en-US" sz="4400" dirty="0">
              <a:solidFill>
                <a:schemeClr val="tx1"/>
              </a:solidFill>
            </a:endParaRPr>
          </a:p>
        </p:txBody>
      </p:sp>
      <p:graphicFrame>
        <p:nvGraphicFramePr>
          <p:cNvPr id="5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51756119"/>
              </p:ext>
            </p:extLst>
          </p:nvPr>
        </p:nvGraphicFramePr>
        <p:xfrm>
          <a:off x="513809" y="2117211"/>
          <a:ext cx="8694295" cy="4327360"/>
        </p:xfrm>
        <a:graphic>
          <a:graphicData uri="http://schemas.openxmlformats.org/drawingml/2006/table">
            <a:tbl>
              <a:tblPr/>
              <a:tblGrid>
                <a:gridCol w="188934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16823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63671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5302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Operator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Description</a:t>
                      </a: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Example</a:t>
                      </a:r>
                      <a:br>
                        <a:rPr kumimoji="0" lang="en-US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</a:br>
                      <a:r>
                        <a:rPr lang="en-US" altLang="en-US" sz="1600" dirty="0" smtClean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Let a='Hello' and b='Python':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5302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+</a:t>
                      </a: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Concatenation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Creates a new string of the left-side string followed by the right-side one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 marL="182563"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182563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a +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b 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Lucida Sans Unicode" panose="020B0602030504020204" pitchFamily="34" charset="0"/>
                          <a:cs typeface="Times New Roman"/>
                        </a:rPr>
                        <a:t>→  </a:t>
                      </a:r>
                      <a:r>
                        <a:rPr kumimoji="0" lang="en-US" altLang="en-US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HelloPython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56350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*</a:t>
                      </a: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Repetition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Creates </a:t>
                      </a: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new strings, concatenating multiple copies of the same string</a:t>
                      </a: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 marL="182563"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182563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a*2 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Lucida Sans Unicode" panose="020B0602030504020204" pitchFamily="34" charset="0"/>
                          <a:cs typeface="Times New Roman"/>
                        </a:rPr>
                        <a:t>→   </a:t>
                      </a:r>
                      <a:r>
                        <a:rPr kumimoji="0" lang="en-US" altLang="en-US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HelloHello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5302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[]</a:t>
                      </a: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Slice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Gives the character at the given index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 marL="182563"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182563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a[1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] 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Lucida Sans Unicode" panose="020B0602030504020204" pitchFamily="34" charset="0"/>
                          <a:cs typeface="Times New Roman"/>
                        </a:rPr>
                        <a:t>→ 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e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5302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[ : </a:t>
                      </a:r>
                      <a:r>
                        <a:rPr kumimoji="0" lang="en-US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]</a:t>
                      </a: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Range Slice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Gives </a:t>
                      </a: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the characters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in </a:t>
                      </a: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the given range</a:t>
                      </a: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 marL="182563"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182563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a[1:4]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/>
                          <a:ea typeface="Lucida Sans Unicode" panose="020B0602030504020204" pitchFamily="34" charset="0"/>
                          <a:cs typeface="Times New Roman"/>
                        </a:rPr>
                        <a:t>→ 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ell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5302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in</a:t>
                      </a: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Membership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Returns True </a:t>
                      </a: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if a character exists in the given string</a:t>
                      </a: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 marL="182563"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182563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H in a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/>
                          <a:ea typeface="Lucida Sans Unicode" panose="020B0602030504020204" pitchFamily="34" charset="0"/>
                          <a:cs typeface="Times New Roman"/>
                        </a:rPr>
                        <a:t>→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True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58250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not </a:t>
                      </a:r>
                      <a:r>
                        <a:rPr kumimoji="0" lang="en-US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in</a:t>
                      </a: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Nonmembership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Membership - Returns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True </a:t>
                      </a: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if a character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is not </a:t>
                      </a: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in the given string</a:t>
                      </a: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 marL="182563"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182563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M not in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a 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/>
                          <a:ea typeface="Lucida Sans Unicode" panose="020B0602030504020204" pitchFamily="34" charset="0"/>
                          <a:cs typeface="Times New Roman"/>
                        </a:rPr>
                        <a:t>→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True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5302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%</a:t>
                      </a: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Formatted String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Uses </a:t>
                      </a:r>
                      <a:r>
                        <a:rPr kumimoji="0" lang="en-US" altLang="en-US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printf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-style string </a:t>
                      </a: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formatting</a:t>
                      </a: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 marL="182563"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182563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"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 Narrow" panose="020B0606020202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&lt;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%d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 Narrow" panose="020B0606020202030204" pitchFamily="34" charset="0"/>
                          <a:ea typeface="Verdana" panose="020B0604030504040204" pitchFamily="34" charset="0"/>
                          <a:cs typeface="Lucida Sans Unicode" panose="020B0602030504020204" pitchFamily="34" charset="0"/>
                        </a:rPr>
                        <a:t>&gt;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"%(2)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/>
                          <a:ea typeface="Lucida Sans Unicode" panose="020B0602030504020204" pitchFamily="34" charset="0"/>
                          <a:cs typeface="Times New Roman"/>
                        </a:rPr>
                        <a:t>  →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'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 Narrow" panose="020B0606020202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&lt;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2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 Narrow" panose="020B0606020202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&gt;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'</a:t>
                      </a:r>
                      <a:endParaRPr kumimoji="0" lang="en-US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Arial Narrow" panose="020B060602020203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</a:tbl>
          </a:graphicData>
        </a:graphic>
      </p:graphicFrame>
      <p:graphicFrame>
        <p:nvGraphicFramePr>
          <p:cNvPr id="6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66223715"/>
              </p:ext>
            </p:extLst>
          </p:nvPr>
        </p:nvGraphicFramePr>
        <p:xfrm>
          <a:off x="510591" y="1073561"/>
          <a:ext cx="8694295" cy="4852505"/>
        </p:xfrm>
        <a:graphic>
          <a:graphicData uri="http://schemas.openxmlformats.org/drawingml/2006/table">
            <a:tbl>
              <a:tblPr/>
              <a:tblGrid>
                <a:gridCol w="188934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16823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63671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5302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Operator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Description</a:t>
                      </a: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Example</a:t>
                      </a:r>
                      <a:br>
                        <a:rPr kumimoji="0" lang="en-US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</a:br>
                      <a:r>
                        <a:rPr lang="en-US" altLang="en-US" sz="2000" dirty="0" smtClean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Assume a='Python':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5302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+</a:t>
                      </a: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Concatenation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B2B2B2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Creates a new string of the left-side string followed by the right-side one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B2B2B2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 marL="182563"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182563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"Hi" </a:t>
                      </a: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+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a 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Times New Roman"/>
                          <a:ea typeface="Lucida Sans Unicode" panose="020B0602030504020204" pitchFamily="34" charset="0"/>
                          <a:cs typeface="Times New Roman"/>
                        </a:rPr>
                        <a:t>→ 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'</a:t>
                      </a:r>
                      <a:r>
                        <a:rPr kumimoji="0" lang="en-US" altLang="en-US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HiPython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'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B2B2B2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56350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*</a:t>
                      </a: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Repetition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B2B2B2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Creates </a:t>
                      </a: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new strings, concatenating multiple copies of the same string</a:t>
                      </a: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 marL="182563"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182563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a*2 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Times New Roman"/>
                          <a:ea typeface="Lucida Sans Unicode" panose="020B0602030504020204" pitchFamily="34" charset="0"/>
                          <a:cs typeface="Times New Roman"/>
                        </a:rPr>
                        <a:t>→ 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'</a:t>
                      </a:r>
                      <a:r>
                        <a:rPr kumimoji="0" lang="en-US" altLang="en-US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PythonPython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'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B2B2B2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5302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[]</a:t>
                      </a: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Slice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B2B2B2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Gives the character at the given index</a:t>
                      </a:r>
                      <a:b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</a:b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(Numbering starts at 0)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B2B2B2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 marL="182563"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182563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a[1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] 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Times New Roman"/>
                          <a:ea typeface="Lucida Sans Unicode" panose="020B0602030504020204" pitchFamily="34" charset="0"/>
                          <a:cs typeface="Times New Roman"/>
                        </a:rPr>
                        <a:t>→ 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'y'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B2B2B2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5302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[ : </a:t>
                      </a:r>
                      <a:r>
                        <a:rPr kumimoji="0" lang="en-US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]</a:t>
                      </a: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Range Slice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B2B2B2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Gives </a:t>
                      </a: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the characters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in </a:t>
                      </a: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the given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range</a:t>
                      </a:r>
                      <a:b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</a:b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(inclusive of 1</a:t>
                      </a:r>
                      <a:r>
                        <a:rPr kumimoji="0" lang="en-US" altLang="en-US" sz="1600" b="0" i="0" u="none" strike="noStrike" cap="none" normalizeH="0" baseline="3000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st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number but not last)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B2B2B2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 marL="182563"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182563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a[1:4] 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Times New Roman"/>
                          <a:ea typeface="Lucida Sans Unicode" panose="020B0602030504020204" pitchFamily="34" charset="0"/>
                          <a:cs typeface="Times New Roman"/>
                        </a:rPr>
                        <a:t>→ 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'</a:t>
                      </a:r>
                      <a:r>
                        <a:rPr kumimoji="0" lang="en-US" altLang="en-US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yth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'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B2B2B2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5302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[ : </a:t>
                      </a:r>
                      <a:r>
                        <a:rPr kumimoji="0" lang="en-US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: ]</a:t>
                      </a: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Range Step Slice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B2B2B2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Gives </a:t>
                      </a: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the characters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in </a:t>
                      </a: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the given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range</a:t>
                      </a:r>
                      <a:b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</a:b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with a step size given by the 3</a:t>
                      </a:r>
                      <a:r>
                        <a:rPr kumimoji="0" lang="en-US" altLang="en-US" sz="1600" b="0" i="0" u="none" strike="noStrike" cap="none" normalizeH="0" baseline="3000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rd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number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B2B2B2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 marL="182563"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182563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a[4:0:-1]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Times New Roman"/>
                          <a:ea typeface="Lucida Sans Unicode" panose="020B0602030504020204" pitchFamily="34" charset="0"/>
                          <a:cs typeface="Times New Roman"/>
                        </a:rPr>
                        <a:t>→ 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'</a:t>
                      </a:r>
                      <a:r>
                        <a:rPr kumimoji="0" lang="en-US" altLang="en-US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ohty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'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B2B2B2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58250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in</a:t>
                      </a: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Membership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B2B2B2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Returns True if the left-side string is a substring of the right-side string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B2B2B2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 marL="182563"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182563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"P" </a:t>
                      </a: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in a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Times New Roman"/>
                          <a:ea typeface="Lucida Sans Unicode" panose="020B0602030504020204" pitchFamily="34" charset="0"/>
                          <a:cs typeface="Times New Roman"/>
                        </a:rPr>
                        <a:t>→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True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B2B2B2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5302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not </a:t>
                      </a:r>
                      <a:r>
                        <a:rPr kumimoji="0" lang="en-US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in</a:t>
                      </a: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Nonmembership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B2B2B2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Returns True </a:t>
                      </a: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if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the left-side string is not found in </a:t>
                      </a: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the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right-side </a:t>
                      </a: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string</a:t>
                      </a: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 marL="182563"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182563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"M" </a:t>
                      </a: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not in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a 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Times New Roman"/>
                          <a:ea typeface="Lucida Sans Unicode" panose="020B0602030504020204" pitchFamily="34" charset="0"/>
                          <a:cs typeface="Times New Roman"/>
                        </a:rPr>
                        <a:t>→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True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B2B2B2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2698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r/R</a:t>
                      </a: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Raw String 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B2B2B2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Suppress </a:t>
                      </a: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actual meaning of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escape characters (such as "\n" or "\t")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B2B2B2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 marL="182563"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182563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r"\n\t" 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Times New Roman"/>
                          <a:ea typeface="Lucida Sans Unicode" panose="020B0602030504020204" pitchFamily="34" charset="0"/>
                          <a:cs typeface="Times New Roman"/>
                        </a:rPr>
                        <a:t>→ 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'\n\t'</a:t>
                      </a:r>
                      <a:endParaRPr kumimoji="0" lang="en-US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B2B2B2"/>
                        </a:solidFill>
                        <a:effectLst/>
                        <a:latin typeface="Verdana" panose="020B060403050404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613068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389" y="220358"/>
            <a:ext cx="7093883" cy="770241"/>
          </a:xfrm>
        </p:spPr>
        <p:txBody>
          <a:bodyPr>
            <a:noAutofit/>
          </a:bodyPr>
          <a:lstStyle/>
          <a:p>
            <a:r>
              <a:rPr lang="en-US" altLang="en-US" sz="4400" dirty="0">
                <a:solidFill>
                  <a:srgbClr val="0070C0"/>
                </a:solidFill>
              </a:rPr>
              <a:t>Formatted Strings: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380" y="1063638"/>
            <a:ext cx="9295072" cy="5885802"/>
          </a:xfrm>
        </p:spPr>
        <p:txBody>
          <a:bodyPr>
            <a:normAutofit/>
          </a:bodyPr>
          <a:lstStyle/>
          <a:p>
            <a:r>
              <a:rPr lang="en-US" altLang="en-US" sz="3600" dirty="0"/>
              <a:t>Python lets you do C-style formatted prints.</a:t>
            </a:r>
          </a:p>
          <a:p>
            <a:pPr lvl="1">
              <a:spcBef>
                <a:spcPts val="0"/>
              </a:spcBef>
            </a:pPr>
            <a:r>
              <a:rPr lang="en-US" altLang="en-US" sz="3200" dirty="0"/>
              <a:t>The syntax is:</a:t>
            </a:r>
            <a:br>
              <a:rPr lang="en-US" altLang="en-US" sz="3200" dirty="0"/>
            </a:br>
            <a:r>
              <a:rPr lang="en-US" alt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3200" dirty="0">
                <a:latin typeface="Lucida Console" panose="020B0609040504020204" pitchFamily="49" charset="0"/>
                <a:cs typeface="Courier New" panose="02070309020205020404" pitchFamily="49" charset="0"/>
              </a:rPr>
              <a:t>"format string"</a:t>
            </a:r>
            <a:r>
              <a:rPr lang="en-US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%(</a:t>
            </a:r>
            <a:r>
              <a:rPr lang="en-US" altLang="en-US" sz="3200" dirty="0">
                <a:latin typeface="Lucida Console" panose="020B0609040504020204" pitchFamily="49" charset="0"/>
                <a:cs typeface="Courier New" panose="02070309020205020404" pitchFamily="49" charset="0"/>
              </a:rPr>
              <a:t>argument list</a:t>
            </a:r>
            <a:r>
              <a:rPr lang="en-US" altLang="en-US" sz="32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  <a:endParaRPr lang="en-US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39619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389" y="220358"/>
            <a:ext cx="7093883" cy="770241"/>
          </a:xfrm>
        </p:spPr>
        <p:txBody>
          <a:bodyPr>
            <a:noAutofit/>
          </a:bodyPr>
          <a:lstStyle/>
          <a:p>
            <a:r>
              <a:rPr lang="en-US" altLang="en-US" sz="4400" dirty="0">
                <a:solidFill>
                  <a:srgbClr val="0070C0"/>
                </a:solidFill>
              </a:rPr>
              <a:t>Formatted Strings: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380" y="1063638"/>
            <a:ext cx="9295072" cy="5885802"/>
          </a:xfrm>
        </p:spPr>
        <p:txBody>
          <a:bodyPr>
            <a:normAutofit/>
          </a:bodyPr>
          <a:lstStyle/>
          <a:p>
            <a:r>
              <a:rPr lang="en-US" altLang="en-US" sz="3600" dirty="0"/>
              <a:t>Python lets you do C-style formatted prints.</a:t>
            </a:r>
          </a:p>
          <a:p>
            <a:pPr lvl="1">
              <a:spcBef>
                <a:spcPts val="0"/>
              </a:spcBef>
            </a:pPr>
            <a:r>
              <a:rPr lang="en-US" altLang="en-US" sz="3200" dirty="0"/>
              <a:t>The syntax is:</a:t>
            </a:r>
            <a:br>
              <a:rPr lang="en-US" altLang="en-US" sz="3200" dirty="0"/>
            </a:br>
            <a:r>
              <a:rPr lang="en-US" alt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3200" dirty="0">
                <a:latin typeface="Lucida Console" panose="020B0609040504020204" pitchFamily="49" charset="0"/>
                <a:cs typeface="Courier New" panose="02070309020205020404" pitchFamily="49" charset="0"/>
              </a:rPr>
              <a:t>"format string"</a:t>
            </a:r>
            <a:r>
              <a:rPr lang="en-US" altLang="en-US" sz="3200" b="1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%</a:t>
            </a:r>
            <a:r>
              <a:rPr lang="en-US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z="3200" dirty="0">
                <a:latin typeface="Lucida Console" panose="020B0609040504020204" pitchFamily="49" charset="0"/>
                <a:cs typeface="Courier New" panose="02070309020205020404" pitchFamily="49" charset="0"/>
              </a:rPr>
              <a:t>argument list</a:t>
            </a:r>
            <a:r>
              <a:rPr lang="en-US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  <a:endParaRPr lang="en-US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Lucida Console" panose="020B0609040504020204" pitchFamily="49" charset="0"/>
            </a:endParaRPr>
          </a:p>
          <a:p>
            <a:r>
              <a:rPr lang="en-US" altLang="en-US" sz="3600" dirty="0"/>
              <a:t>The “</a:t>
            </a:r>
            <a:r>
              <a:rPr lang="en-US" altLang="en-US" sz="3600" b="1" dirty="0">
                <a:solidFill>
                  <a:srgbClr val="FF0000"/>
                </a:solidFill>
              </a:rPr>
              <a:t>%</a:t>
            </a:r>
            <a:r>
              <a:rPr lang="en-US" altLang="en-US" sz="3600" dirty="0"/>
              <a:t>” is the key part of this syntax. </a:t>
            </a:r>
          </a:p>
        </p:txBody>
      </p:sp>
      <p:cxnSp>
        <p:nvCxnSpPr>
          <p:cNvPr id="5" name="Straight Arrow Connector 4"/>
          <p:cNvCxnSpPr/>
          <p:nvPr/>
        </p:nvCxnSpPr>
        <p:spPr>
          <a:xfrm flipV="1">
            <a:off x="1950720" y="2286000"/>
            <a:ext cx="2914174" cy="50122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95905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389" y="220358"/>
            <a:ext cx="7093883" cy="770241"/>
          </a:xfrm>
        </p:spPr>
        <p:txBody>
          <a:bodyPr>
            <a:noAutofit/>
          </a:bodyPr>
          <a:lstStyle/>
          <a:p>
            <a:r>
              <a:rPr lang="en-US" altLang="en-US" sz="4400" dirty="0">
                <a:solidFill>
                  <a:srgbClr val="0070C0"/>
                </a:solidFill>
              </a:rPr>
              <a:t>Formatted Strings: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380" y="1063638"/>
            <a:ext cx="9295072" cy="5885802"/>
          </a:xfrm>
        </p:spPr>
        <p:txBody>
          <a:bodyPr>
            <a:normAutofit/>
          </a:bodyPr>
          <a:lstStyle/>
          <a:p>
            <a:r>
              <a:rPr lang="en-US" altLang="en-US" sz="3600" dirty="0"/>
              <a:t>Python lets you do C-style formatted prints.</a:t>
            </a:r>
          </a:p>
          <a:p>
            <a:pPr lvl="1">
              <a:spcBef>
                <a:spcPts val="0"/>
              </a:spcBef>
            </a:pPr>
            <a:r>
              <a:rPr lang="en-US" altLang="en-US" sz="3200" dirty="0"/>
              <a:t>The syntax is:</a:t>
            </a:r>
            <a:br>
              <a:rPr lang="en-US" altLang="en-US" sz="3200" dirty="0"/>
            </a:br>
            <a:r>
              <a:rPr lang="en-US" alt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3200" dirty="0">
                <a:latin typeface="Lucida Console" panose="020B0609040504020204" pitchFamily="49" charset="0"/>
                <a:cs typeface="Courier New" panose="02070309020205020404" pitchFamily="49" charset="0"/>
              </a:rPr>
              <a:t>"format string"</a:t>
            </a:r>
            <a:r>
              <a:rPr lang="en-US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%</a:t>
            </a:r>
            <a:r>
              <a:rPr lang="en-US" altLang="en-US" sz="3200" b="1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z="3200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argument list</a:t>
            </a:r>
            <a:r>
              <a:rPr lang="en-US" altLang="en-US" sz="3200" b="1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  <a:endParaRPr lang="en-US" altLang="en-US" sz="3200" b="1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r>
              <a:rPr lang="en-US" altLang="en-US" sz="3600" dirty="0">
                <a:solidFill>
                  <a:schemeClr val="bg1">
                    <a:lumMod val="50000"/>
                  </a:schemeClr>
                </a:solidFill>
              </a:rPr>
              <a:t>The “</a:t>
            </a:r>
            <a:r>
              <a:rPr lang="en-US" altLang="en-US" sz="3600" b="1" dirty="0">
                <a:solidFill>
                  <a:schemeClr val="bg1">
                    <a:lumMod val="50000"/>
                  </a:schemeClr>
                </a:solidFill>
              </a:rPr>
              <a:t>%</a:t>
            </a:r>
            <a:r>
              <a:rPr lang="en-US" altLang="en-US" sz="3600" dirty="0">
                <a:solidFill>
                  <a:schemeClr val="bg1">
                    <a:lumMod val="50000"/>
                  </a:schemeClr>
                </a:solidFill>
              </a:rPr>
              <a:t>” is the key part of this syntax. </a:t>
            </a:r>
          </a:p>
          <a:p>
            <a:r>
              <a:rPr lang="en-US" altLang="en-US" sz="3600" dirty="0" smtClean="0"/>
              <a:t>Note </a:t>
            </a:r>
            <a:r>
              <a:rPr lang="en-US" altLang="en-US" sz="3600" dirty="0"/>
              <a:t>the </a:t>
            </a:r>
            <a:r>
              <a:rPr lang="en-US" altLang="en-US" sz="3600" dirty="0">
                <a:solidFill>
                  <a:srgbClr val="00B050"/>
                </a:solidFill>
              </a:rPr>
              <a:t>argument list </a:t>
            </a:r>
            <a:r>
              <a:rPr lang="en-US" altLang="en-US" sz="3600" dirty="0"/>
              <a:t>is inside of </a:t>
            </a:r>
            <a:r>
              <a:rPr lang="en-US" altLang="en-US" sz="3600" b="1" dirty="0">
                <a:solidFill>
                  <a:srgbClr val="FF0000"/>
                </a:solidFill>
              </a:rPr>
              <a:t>parentheses</a:t>
            </a:r>
            <a:r>
              <a:rPr lang="en-US" altLang="en-US" sz="3600" dirty="0"/>
              <a:t>. </a:t>
            </a:r>
          </a:p>
          <a:p>
            <a:pPr lvl="1"/>
            <a:r>
              <a:rPr lang="en-US" altLang="en-US" sz="3200" dirty="0"/>
              <a:t>(As you’ll see in a </a:t>
            </a:r>
            <a:r>
              <a:rPr lang="en-US" altLang="en-US" sz="3200" dirty="0" smtClean="0"/>
              <a:t>moment, </a:t>
            </a:r>
            <a:r>
              <a:rPr lang="en-US" altLang="en-US" sz="3200" dirty="0"/>
              <a:t>that means it is a </a:t>
            </a:r>
            <a:r>
              <a:rPr lang="en-US" altLang="en-US" sz="3200" i="1" dirty="0"/>
              <a:t>tuple</a:t>
            </a:r>
            <a:r>
              <a:rPr lang="en-US" altLang="en-US" sz="3200" dirty="0" smtClean="0"/>
              <a:t>)</a:t>
            </a:r>
            <a:endParaRPr lang="en-US" altLang="en-US" sz="3600" dirty="0"/>
          </a:p>
        </p:txBody>
      </p:sp>
      <p:cxnSp>
        <p:nvCxnSpPr>
          <p:cNvPr id="4" name="Straight Arrow Connector 3"/>
          <p:cNvCxnSpPr/>
          <p:nvPr/>
        </p:nvCxnSpPr>
        <p:spPr>
          <a:xfrm flipH="1" flipV="1">
            <a:off x="5398294" y="2362200"/>
            <a:ext cx="2362200" cy="91440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 flipV="1">
            <a:off x="8065294" y="2362201"/>
            <a:ext cx="533400" cy="91439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flipV="1">
            <a:off x="3721894" y="2362200"/>
            <a:ext cx="2971800" cy="990600"/>
          </a:xfrm>
          <a:prstGeom prst="straightConnector1">
            <a:avLst/>
          </a:prstGeom>
          <a:ln w="38100">
            <a:solidFill>
              <a:srgbClr val="32BF7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9331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389" y="220358"/>
            <a:ext cx="7093883" cy="770241"/>
          </a:xfrm>
        </p:spPr>
        <p:txBody>
          <a:bodyPr>
            <a:noAutofit/>
          </a:bodyPr>
          <a:lstStyle/>
          <a:p>
            <a:r>
              <a:rPr lang="en-US" altLang="en-US" sz="4400" dirty="0">
                <a:solidFill>
                  <a:srgbClr val="0070C0"/>
                </a:solidFill>
              </a:rPr>
              <a:t>Formatted Strings: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380" y="1063638"/>
            <a:ext cx="9438408" cy="5885802"/>
          </a:xfrm>
        </p:spPr>
        <p:txBody>
          <a:bodyPr>
            <a:normAutofit/>
          </a:bodyPr>
          <a:lstStyle/>
          <a:p>
            <a:r>
              <a:rPr lang="en-US" altLang="en-US" sz="3600" dirty="0"/>
              <a:t>Python lets you do C-style formatted prints.</a:t>
            </a:r>
          </a:p>
          <a:p>
            <a:pPr lvl="1">
              <a:spcBef>
                <a:spcPts val="0"/>
              </a:spcBef>
            </a:pPr>
            <a:r>
              <a:rPr lang="en-US" altLang="en-US" sz="3200" dirty="0"/>
              <a:t>The syntax is:</a:t>
            </a:r>
            <a:br>
              <a:rPr lang="en-US" altLang="en-US" sz="3200" dirty="0"/>
            </a:br>
            <a:r>
              <a:rPr lang="en-US" alt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3200" dirty="0">
                <a:latin typeface="Lucida Console" panose="020B0609040504020204" pitchFamily="49" charset="0"/>
                <a:cs typeface="Courier New" panose="02070309020205020404" pitchFamily="49" charset="0"/>
              </a:rPr>
              <a:t>"format string"</a:t>
            </a:r>
            <a:r>
              <a:rPr lang="en-US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%(</a:t>
            </a:r>
            <a:r>
              <a:rPr lang="en-US" altLang="en-US" sz="3200" dirty="0">
                <a:latin typeface="Lucida Console" panose="020B0609040504020204" pitchFamily="49" charset="0"/>
                <a:cs typeface="Courier New" panose="02070309020205020404" pitchFamily="49" charset="0"/>
              </a:rPr>
              <a:t>argument list</a:t>
            </a:r>
            <a:r>
              <a:rPr lang="en-US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  <a:endParaRPr lang="en-US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Lucida Console" panose="020B0609040504020204" pitchFamily="49" charset="0"/>
            </a:endParaRPr>
          </a:p>
          <a:p>
            <a:r>
              <a:rPr lang="en-US" altLang="en-US" sz="3600" dirty="0">
                <a:solidFill>
                  <a:schemeClr val="bg1">
                    <a:lumMod val="50000"/>
                  </a:schemeClr>
                </a:solidFill>
              </a:rPr>
              <a:t>The “</a:t>
            </a:r>
            <a:r>
              <a:rPr lang="en-US" altLang="en-US" sz="3600" b="1" dirty="0">
                <a:solidFill>
                  <a:schemeClr val="bg1">
                    <a:lumMod val="50000"/>
                  </a:schemeClr>
                </a:solidFill>
              </a:rPr>
              <a:t>%</a:t>
            </a:r>
            <a:r>
              <a:rPr lang="en-US" altLang="en-US" sz="3600" dirty="0">
                <a:solidFill>
                  <a:schemeClr val="bg1">
                    <a:lumMod val="50000"/>
                  </a:schemeClr>
                </a:solidFill>
              </a:rPr>
              <a:t>” is the key part of this syntax. </a:t>
            </a:r>
          </a:p>
          <a:p>
            <a:r>
              <a:rPr lang="en-US" altLang="en-US" sz="3600" dirty="0" smtClean="0">
                <a:solidFill>
                  <a:schemeClr val="bg1">
                    <a:lumMod val="50000"/>
                  </a:schemeClr>
                </a:solidFill>
              </a:rPr>
              <a:t>Note </a:t>
            </a:r>
            <a:r>
              <a:rPr lang="en-US" altLang="en-US" sz="3600" dirty="0">
                <a:solidFill>
                  <a:schemeClr val="bg1">
                    <a:lumMod val="50000"/>
                  </a:schemeClr>
                </a:solidFill>
              </a:rPr>
              <a:t>the argument list is inside of </a:t>
            </a:r>
            <a:r>
              <a:rPr lang="en-US" altLang="en-US" sz="3600" b="1" dirty="0">
                <a:solidFill>
                  <a:schemeClr val="bg1">
                    <a:lumMod val="50000"/>
                  </a:schemeClr>
                </a:solidFill>
              </a:rPr>
              <a:t>parentheses</a:t>
            </a:r>
            <a:r>
              <a:rPr lang="en-US" altLang="en-US" sz="3600" dirty="0">
                <a:solidFill>
                  <a:schemeClr val="bg1">
                    <a:lumMod val="50000"/>
                  </a:schemeClr>
                </a:solidFill>
              </a:rPr>
              <a:t>. </a:t>
            </a:r>
          </a:p>
          <a:p>
            <a:pPr lvl="1"/>
            <a:r>
              <a:rPr lang="en-US" altLang="en-US" sz="3200" dirty="0">
                <a:solidFill>
                  <a:schemeClr val="bg1">
                    <a:lumMod val="50000"/>
                  </a:schemeClr>
                </a:solidFill>
              </a:rPr>
              <a:t>(As you’ll see in a </a:t>
            </a:r>
            <a:r>
              <a:rPr lang="en-US" altLang="en-US" sz="3200" dirty="0" smtClean="0">
                <a:solidFill>
                  <a:schemeClr val="bg1">
                    <a:lumMod val="50000"/>
                  </a:schemeClr>
                </a:solidFill>
              </a:rPr>
              <a:t>moment, </a:t>
            </a:r>
            <a:r>
              <a:rPr lang="en-US" altLang="en-US" sz="3200" dirty="0">
                <a:solidFill>
                  <a:schemeClr val="bg1">
                    <a:lumMod val="50000"/>
                  </a:schemeClr>
                </a:solidFill>
              </a:rPr>
              <a:t>that means it is a </a:t>
            </a:r>
            <a:r>
              <a:rPr lang="en-US" altLang="en-US" sz="3200" i="1" dirty="0">
                <a:solidFill>
                  <a:schemeClr val="bg1">
                    <a:lumMod val="50000"/>
                  </a:schemeClr>
                </a:solidFill>
              </a:rPr>
              <a:t>tuple</a:t>
            </a:r>
            <a:r>
              <a:rPr lang="en-US" altLang="en-US" sz="3200" dirty="0">
                <a:solidFill>
                  <a:schemeClr val="bg1">
                    <a:lumMod val="50000"/>
                  </a:schemeClr>
                </a:solidFill>
              </a:rPr>
              <a:t>)</a:t>
            </a:r>
            <a:endParaRPr lang="en-US" altLang="en-US" sz="3600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altLang="en-US" sz="3600" dirty="0">
                <a:solidFill>
                  <a:srgbClr val="0070C0"/>
                </a:solidFill>
              </a:rPr>
              <a:t>Here are examples:  </a:t>
            </a:r>
          </a:p>
          <a:p>
            <a:pPr marL="209550" indent="15875">
              <a:spcBef>
                <a:spcPts val="0"/>
              </a:spcBef>
              <a:buNone/>
            </a:pPr>
            <a:r>
              <a:rPr lang="en-US" altLang="en-US" sz="24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r>
              <a:rPr lang="en-US" altLang="en-US" sz="2400" dirty="0">
                <a:latin typeface="Lucida Console" panose="020B0609040504020204" pitchFamily="49" charset="0"/>
                <a:cs typeface="Courier New" panose="02070309020205020404" pitchFamily="49" charset="0"/>
              </a:rPr>
              <a:t> print ("***</a:t>
            </a:r>
            <a:r>
              <a:rPr lang="en-US" altLang="en-US" sz="2400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%s</a:t>
            </a:r>
            <a:r>
              <a:rPr lang="en-US" altLang="en-US" sz="2400" dirty="0">
                <a:latin typeface="Lucida Console" panose="020B0609040504020204" pitchFamily="49" charset="0"/>
                <a:cs typeface="Courier New" panose="02070309020205020404" pitchFamily="49" charset="0"/>
              </a:rPr>
              <a:t> there </a:t>
            </a:r>
            <a:r>
              <a:rPr lang="en-US" altLang="en-US" sz="2400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%d</a:t>
            </a:r>
            <a:r>
              <a:rPr lang="en-US" altLang="en-US" sz="2400" dirty="0">
                <a:latin typeface="Lucida Console" panose="020B0609040504020204" pitchFamily="49" charset="0"/>
                <a:cs typeface="Courier New" panose="02070309020205020404" pitchFamily="49" charset="0"/>
              </a:rPr>
              <a:t>***"</a:t>
            </a:r>
            <a:r>
              <a:rPr lang="en-US" altLang="en-US" sz="2400" b="1" dirty="0">
                <a:latin typeface="Lucida Console" panose="020B0609040504020204" pitchFamily="49" charset="0"/>
                <a:cs typeface="Courier New" panose="02070309020205020404" pitchFamily="49" charset="0"/>
              </a:rPr>
              <a:t>%</a:t>
            </a:r>
            <a:r>
              <a:rPr lang="en-US" altLang="en-US" sz="2400" dirty="0"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z="2400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"Hi"</a:t>
            </a:r>
            <a:r>
              <a:rPr lang="en-US" altLang="en-US" sz="2400" dirty="0"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2400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4</a:t>
            </a:r>
            <a:r>
              <a:rPr lang="en-US" altLang="en-US" sz="2400" dirty="0">
                <a:latin typeface="Lucida Console" panose="020B0609040504020204" pitchFamily="49" charset="0"/>
                <a:cs typeface="Courier New" panose="02070309020205020404" pitchFamily="49" charset="0"/>
              </a:rPr>
              <a:t>))</a:t>
            </a:r>
          </a:p>
          <a:p>
            <a:pPr marL="209550" indent="15875">
              <a:spcBef>
                <a:spcPts val="0"/>
              </a:spcBef>
              <a:buNone/>
            </a:pPr>
            <a:r>
              <a:rPr lang="en-US" altLang="en-US" sz="2400" dirty="0">
                <a:latin typeface="Lucida Console" panose="020B0609040504020204" pitchFamily="49" charset="0"/>
                <a:cs typeface="Courier New" panose="02070309020205020404" pitchFamily="49" charset="0"/>
              </a:rPr>
              <a:t>***</a:t>
            </a:r>
            <a:r>
              <a:rPr lang="en-US" altLang="en-US" sz="2400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Hi</a:t>
            </a:r>
            <a:r>
              <a:rPr lang="en-US" altLang="en-US" sz="2400" dirty="0">
                <a:latin typeface="Lucida Console" panose="020B0609040504020204" pitchFamily="49" charset="0"/>
                <a:cs typeface="Courier New" panose="02070309020205020404" pitchFamily="49" charset="0"/>
              </a:rPr>
              <a:t> there </a:t>
            </a:r>
            <a:r>
              <a:rPr lang="en-US" altLang="en-US" sz="2400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4</a:t>
            </a:r>
            <a:r>
              <a:rPr lang="en-US" altLang="en-US" sz="2400" dirty="0">
                <a:latin typeface="Lucida Console" panose="020B0609040504020204" pitchFamily="49" charset="0"/>
                <a:cs typeface="Courier New" panose="02070309020205020404" pitchFamily="49" charset="0"/>
              </a:rPr>
              <a:t>***</a:t>
            </a:r>
          </a:p>
          <a:p>
            <a:pPr marL="209550" indent="15875">
              <a:spcBef>
                <a:spcPts val="0"/>
              </a:spcBef>
              <a:buNone/>
            </a:pPr>
            <a:r>
              <a:rPr lang="en-US" altLang="en-US" sz="2400" dirty="0">
                <a:solidFill>
                  <a:schemeClr val="bg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r>
              <a:rPr lang="en-US" altLang="en-US" sz="2400" dirty="0">
                <a:latin typeface="Lucida Console" panose="020B0609040504020204" pitchFamily="49" charset="0"/>
                <a:cs typeface="Courier New" panose="02070309020205020404" pitchFamily="49" charset="0"/>
              </a:rPr>
              <a:t> print ("</a:t>
            </a:r>
            <a:r>
              <a:rPr lang="en-US" altLang="en-US" sz="2400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%d</a:t>
            </a:r>
            <a:r>
              <a:rPr lang="en-US" altLang="en-US" sz="2400" dirty="0">
                <a:latin typeface="Lucida Console" panose="020B0609040504020204" pitchFamily="49" charset="0"/>
                <a:cs typeface="Courier New" panose="02070309020205020404" pitchFamily="49" charset="0"/>
              </a:rPr>
              <a:t> hours at $</a:t>
            </a:r>
            <a:r>
              <a:rPr lang="en-US" altLang="en-US" sz="2400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%.2f</a:t>
            </a:r>
            <a:r>
              <a:rPr lang="en-US" altLang="en-US" sz="2400" dirty="0">
                <a:latin typeface="Lucida Console" panose="020B0609040504020204" pitchFamily="49" charset="0"/>
                <a:cs typeface="Courier New" panose="02070309020205020404" pitchFamily="49" charset="0"/>
              </a:rPr>
              <a:t> an hour</a:t>
            </a:r>
            <a:r>
              <a:rPr lang="en-US" altLang="en-US" sz="2000" dirty="0"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400" dirty="0">
                <a:latin typeface="Lucida Console" panose="020B0609040504020204" pitchFamily="49" charset="0"/>
                <a:cs typeface="Courier New" panose="02070309020205020404" pitchFamily="49" charset="0"/>
              </a:rPr>
              <a:t>= $</a:t>
            </a:r>
            <a:r>
              <a:rPr lang="en-US" altLang="en-US" sz="2400" dirty="0">
                <a:solidFill>
                  <a:srgbClr val="7030A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%.</a:t>
            </a:r>
            <a:r>
              <a:rPr lang="en-US" altLang="en-US" sz="2400" dirty="0" smtClean="0">
                <a:solidFill>
                  <a:srgbClr val="7030A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2f</a:t>
            </a:r>
            <a:r>
              <a:rPr lang="en-US" altLang="en-US" sz="2400" dirty="0" smtClean="0">
                <a:latin typeface="Lucida Console" panose="020B0609040504020204" pitchFamily="49" charset="0"/>
                <a:cs typeface="Courier New" panose="02070309020205020404" pitchFamily="49" charset="0"/>
              </a:rPr>
              <a:t>"</a:t>
            </a:r>
            <a:r>
              <a:rPr lang="en-US" altLang="en-US" sz="2400" b="1" dirty="0" smtClean="0">
                <a:latin typeface="Lucida Console" panose="020B0609040504020204" pitchFamily="49" charset="0"/>
                <a:cs typeface="Courier New" panose="02070309020205020404" pitchFamily="49" charset="0"/>
              </a:rPr>
              <a:t>%</a:t>
            </a:r>
            <a:r>
              <a:rPr lang="en-US" altLang="en-US" sz="2400" dirty="0" smtClean="0">
                <a:latin typeface="Lucida Console" panose="020B0609040504020204" pitchFamily="49" charset="0"/>
                <a:cs typeface="Courier New" panose="02070309020205020404" pitchFamily="49" charset="0"/>
              </a:rPr>
              <a:t>\</a:t>
            </a:r>
            <a:r>
              <a:rPr lang="en-US" altLang="en-US" sz="2400" dirty="0">
                <a:latin typeface="Lucida Console" panose="020B0609040504020204" pitchFamily="49" charset="0"/>
                <a:cs typeface="Courier New" panose="02070309020205020404" pitchFamily="49" charset="0"/>
              </a:rPr>
              <a:t/>
            </a:r>
            <a:br>
              <a:rPr lang="en-US" altLang="en-US" sz="2400" dirty="0">
                <a:latin typeface="Lucida Console" panose="020B0609040504020204" pitchFamily="49" charset="0"/>
                <a:cs typeface="Courier New" panose="02070309020205020404" pitchFamily="49" charset="0"/>
              </a:rPr>
            </a:br>
            <a:r>
              <a:rPr lang="en-US" altLang="en-US" sz="24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...</a:t>
            </a:r>
            <a:r>
              <a:rPr lang="en-US" altLang="en-US" sz="1400" dirty="0"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400" dirty="0"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z="2400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8</a:t>
            </a:r>
            <a:r>
              <a:rPr lang="en-US" altLang="en-US" sz="2400" dirty="0"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2400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10.5</a:t>
            </a:r>
            <a:r>
              <a:rPr lang="en-US" altLang="en-US" sz="2400" dirty="0"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2400" dirty="0">
                <a:solidFill>
                  <a:srgbClr val="7030A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8*10.5</a:t>
            </a:r>
            <a:r>
              <a:rPr lang="en-US" altLang="en-US" sz="2400" dirty="0">
                <a:latin typeface="Lucida Console" panose="020B0609040504020204" pitchFamily="49" charset="0"/>
                <a:cs typeface="Courier New" panose="02070309020205020404" pitchFamily="49" charset="0"/>
              </a:rPr>
              <a:t>))</a:t>
            </a:r>
          </a:p>
          <a:p>
            <a:pPr marL="209550" indent="15875">
              <a:spcBef>
                <a:spcPts val="0"/>
              </a:spcBef>
              <a:buNone/>
            </a:pPr>
            <a:r>
              <a:rPr lang="en-US" altLang="en-US" sz="2400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8</a:t>
            </a:r>
            <a:r>
              <a:rPr lang="en-US" altLang="en-US" sz="2400" dirty="0">
                <a:latin typeface="Lucida Console" panose="020B0609040504020204" pitchFamily="49" charset="0"/>
                <a:cs typeface="Courier New" panose="02070309020205020404" pitchFamily="49" charset="0"/>
              </a:rPr>
              <a:t> hours at $</a:t>
            </a:r>
            <a:r>
              <a:rPr lang="en-US" altLang="en-US" sz="2400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10.50</a:t>
            </a:r>
            <a:r>
              <a:rPr lang="en-US" altLang="en-US" sz="2400" dirty="0">
                <a:latin typeface="Lucida Console" panose="020B0609040504020204" pitchFamily="49" charset="0"/>
                <a:cs typeface="Courier New" panose="02070309020205020404" pitchFamily="49" charset="0"/>
              </a:rPr>
              <a:t> an hour = $</a:t>
            </a:r>
            <a:r>
              <a:rPr lang="en-US" altLang="en-US" sz="2400" dirty="0" smtClean="0">
                <a:solidFill>
                  <a:srgbClr val="7030A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84.00</a:t>
            </a:r>
            <a:endParaRPr lang="en-US" altLang="en-US" sz="2400" dirty="0"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209550" indent="15875">
              <a:spcBef>
                <a:spcPts val="0"/>
              </a:spcBef>
              <a:buNone/>
            </a:pPr>
            <a:r>
              <a:rPr lang="en-US" altLang="en-US" sz="24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</a:p>
        </p:txBody>
      </p:sp>
      <p:sp>
        <p:nvSpPr>
          <p:cNvPr id="4" name="Rectangle 3"/>
          <p:cNvSpPr/>
          <p:nvPr/>
        </p:nvSpPr>
        <p:spPr>
          <a:xfrm>
            <a:off x="515918" y="5387898"/>
            <a:ext cx="74251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24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endParaRPr lang="en-US" sz="24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31035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808080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808080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" y="1"/>
            <a:ext cx="9729787" cy="116114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solidFill>
                  <a:srgbClr val="0070C0"/>
                </a:solidFill>
              </a:rPr>
              <a:t>String Formatting Symbols:</a:t>
            </a:r>
          </a:p>
        </p:txBody>
      </p:sp>
      <p:graphicFrame>
        <p:nvGraphicFramePr>
          <p:cNvPr id="3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69945924"/>
              </p:ext>
            </p:extLst>
          </p:nvPr>
        </p:nvGraphicFramePr>
        <p:xfrm>
          <a:off x="1322345" y="1135626"/>
          <a:ext cx="7093883" cy="51911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153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972348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7079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Format Symbol</a:t>
                      </a:r>
                    </a:p>
                  </a:txBody>
                  <a:tcPr marL="8287" marR="8287" marT="95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Conversion</a:t>
                      </a:r>
                    </a:p>
                  </a:txBody>
                  <a:tcPr marL="8287" marR="8287" marT="9524" marB="0" anchor="ctr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%c</a:t>
                      </a:r>
                    </a:p>
                  </a:txBody>
                  <a:tcPr marL="8287" marR="8287" marT="952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character</a:t>
                      </a:r>
                    </a:p>
                  </a:txBody>
                  <a:tcPr marL="8287" marR="8287" marT="9524" marB="0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Verdana"/>
                        </a:rPr>
                        <a:t>%s</a:t>
                      </a:r>
                    </a:p>
                  </a:txBody>
                  <a:tcPr marL="8287" marR="8287" marT="952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string conversion via </a:t>
                      </a:r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latin typeface="Verdana"/>
                        </a:rPr>
                        <a:t>str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() prior to formatting</a:t>
                      </a:r>
                    </a:p>
                  </a:txBody>
                  <a:tcPr marL="8287" marR="8287" marT="9524" marB="0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Verdana"/>
                        </a:rPr>
                        <a:t>%i</a:t>
                      </a:r>
                    </a:p>
                  </a:txBody>
                  <a:tcPr marL="8287" marR="8287" marT="952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signed decimal integer</a:t>
                      </a:r>
                    </a:p>
                  </a:txBody>
                  <a:tcPr marL="8287" marR="8287" marT="9524" marB="0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Verdana"/>
                        </a:rPr>
                        <a:t>%d</a:t>
                      </a:r>
                    </a:p>
                  </a:txBody>
                  <a:tcPr marL="8287" marR="8287" marT="952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signed decimal integer</a:t>
                      </a:r>
                    </a:p>
                  </a:txBody>
                  <a:tcPr marL="8287" marR="8287" marT="9524" marB="0"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Verdana"/>
                        </a:rPr>
                        <a:t>%u</a:t>
                      </a:r>
                    </a:p>
                  </a:txBody>
                  <a:tcPr marL="8287" marR="8287" marT="952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unsigned decimal integer</a:t>
                      </a:r>
                    </a:p>
                  </a:txBody>
                  <a:tcPr marL="8287" marR="8287" marT="9524" marB="0"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Verdana"/>
                        </a:rPr>
                        <a:t>%o</a:t>
                      </a:r>
                    </a:p>
                  </a:txBody>
                  <a:tcPr marL="8287" marR="8287" marT="952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octal integer</a:t>
                      </a:r>
                    </a:p>
                  </a:txBody>
                  <a:tcPr marL="8287" marR="8287" marT="9524" marB="0"/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Verdana"/>
                        </a:rPr>
                        <a:t>%x</a:t>
                      </a:r>
                    </a:p>
                  </a:txBody>
                  <a:tcPr marL="8287" marR="8287" marT="952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hexadecimal integer (lowercase letters)</a:t>
                      </a:r>
                    </a:p>
                  </a:txBody>
                  <a:tcPr marL="8287" marR="8287" marT="9524" marB="0"/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Verdana"/>
                        </a:rPr>
                        <a:t>%X</a:t>
                      </a:r>
                    </a:p>
                  </a:txBody>
                  <a:tcPr marL="8287" marR="8287" marT="952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hexadecimal integer (</a:t>
                      </a:r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latin typeface="Verdana"/>
                        </a:rPr>
                        <a:t>UPPERcase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 letters)</a:t>
                      </a:r>
                    </a:p>
                  </a:txBody>
                  <a:tcPr marL="8287" marR="8287" marT="9524" marB="0"/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Verdana"/>
                        </a:rPr>
                        <a:t>%e</a:t>
                      </a:r>
                    </a:p>
                  </a:txBody>
                  <a:tcPr marL="8287" marR="8287" marT="952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exponential notation (with lowercase 'e')</a:t>
                      </a:r>
                    </a:p>
                  </a:txBody>
                  <a:tcPr marL="8287" marR="8287" marT="9524" marB="0"/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Verdana"/>
                        </a:rPr>
                        <a:t>%E</a:t>
                      </a:r>
                    </a:p>
                  </a:txBody>
                  <a:tcPr marL="8287" marR="8287" marT="952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exponential notation (with </a:t>
                      </a:r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latin typeface="Verdana"/>
                        </a:rPr>
                        <a:t>UPPERcase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 'E')</a:t>
                      </a:r>
                    </a:p>
                  </a:txBody>
                  <a:tcPr marL="8287" marR="8287" marT="9524" marB="0"/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Verdana"/>
                        </a:rPr>
                        <a:t>%f</a:t>
                      </a:r>
                    </a:p>
                  </a:txBody>
                  <a:tcPr marL="8287" marR="8287" marT="952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floating point real number</a:t>
                      </a:r>
                    </a:p>
                  </a:txBody>
                  <a:tcPr marL="8287" marR="8287" marT="9524" marB="0"/>
                </a:tc>
                <a:extLst>
                  <a:ext uri="{0D108BD9-81ED-4DB2-BD59-A6C34878D82A}">
                    <a16:rowId xmlns:a16="http://schemas.microsoft.com/office/drawing/2014/main" xmlns="" val="10011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Verdana"/>
                        </a:rPr>
                        <a:t>%g</a:t>
                      </a:r>
                    </a:p>
                  </a:txBody>
                  <a:tcPr marL="8287" marR="8287" marT="952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the shorter of %f and %e</a:t>
                      </a:r>
                    </a:p>
                  </a:txBody>
                  <a:tcPr marL="8287" marR="8287" marT="9524" marB="0"/>
                </a:tc>
                <a:extLst>
                  <a:ext uri="{0D108BD9-81ED-4DB2-BD59-A6C34878D82A}">
                    <a16:rowId xmlns:a16="http://schemas.microsoft.com/office/drawing/2014/main" xmlns="" val="10012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Verdana"/>
                        </a:rPr>
                        <a:t>%G</a:t>
                      </a:r>
                    </a:p>
                  </a:txBody>
                  <a:tcPr marL="8287" marR="8287" marT="952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the shorter of %f and %E</a:t>
                      </a:r>
                    </a:p>
                  </a:txBody>
                  <a:tcPr marL="8287" marR="8287" marT="9524" marB="0"/>
                </a:tc>
                <a:extLst>
                  <a:ext uri="{0D108BD9-81ED-4DB2-BD59-A6C34878D82A}">
                    <a16:rowId xmlns:a16="http://schemas.microsoft.com/office/drawing/2014/main" xmlns="" val="100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1140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/>
          <p:cNvSpPr>
            <a:spLocks noGrp="1"/>
          </p:cNvSpPr>
          <p:nvPr>
            <p:ph idx="1"/>
          </p:nvPr>
        </p:nvSpPr>
        <p:spPr>
          <a:xfrm>
            <a:off x="391474" y="1161143"/>
            <a:ext cx="9214642" cy="5015820"/>
          </a:xfrm>
        </p:spPr>
        <p:txBody>
          <a:bodyPr>
            <a:normAutofit/>
          </a:bodyPr>
          <a:lstStyle/>
          <a:p>
            <a:pPr>
              <a:buFontTx/>
              <a:buNone/>
            </a:pPr>
            <a:r>
              <a:rPr lang="en-US" altLang="en-US" sz="3132" dirty="0"/>
              <a:t>Python has six standard data types:</a:t>
            </a:r>
          </a:p>
          <a:p>
            <a:pPr marL="651966" indent="-555276">
              <a:buFont typeface="+mj-lt"/>
              <a:buAutoNum type="arabicPeriod"/>
            </a:pPr>
            <a:r>
              <a:rPr lang="en-US" altLang="en-US" sz="2800" dirty="0" smtClean="0">
                <a:solidFill>
                  <a:srgbClr val="A6A6A6"/>
                </a:solidFill>
                <a:latin typeface="Elephant" panose="02020904090505020303" pitchFamily="18" charset="0"/>
              </a:rPr>
              <a:t>Number</a:t>
            </a:r>
            <a:endParaRPr lang="en-US" altLang="en-US" sz="2800" dirty="0">
              <a:solidFill>
                <a:srgbClr val="A6A6A6"/>
              </a:solidFill>
              <a:latin typeface="Elephant" panose="02020904090505020303" pitchFamily="18" charset="0"/>
            </a:endParaRPr>
          </a:p>
          <a:p>
            <a:pPr marL="651966" indent="-555276">
              <a:buFont typeface="+mj-lt"/>
              <a:buAutoNum type="arabicPeriod"/>
            </a:pPr>
            <a:r>
              <a:rPr lang="en-US" altLang="en-US" sz="2800" dirty="0" smtClean="0">
                <a:solidFill>
                  <a:srgbClr val="FF0000"/>
                </a:solidFill>
                <a:latin typeface="Elephant" panose="02020904090505020303" pitchFamily="18" charset="0"/>
              </a:rPr>
              <a:t>String</a:t>
            </a:r>
            <a:endParaRPr lang="en-US" altLang="en-US" sz="2800" dirty="0">
              <a:solidFill>
                <a:srgbClr val="FF0000"/>
              </a:solidFill>
              <a:latin typeface="Elephant" panose="02020904090505020303" pitchFamily="18" charset="0"/>
            </a:endParaRPr>
          </a:p>
          <a:p>
            <a:pPr marL="651966" indent="-555276">
              <a:buFont typeface="+mj-lt"/>
              <a:buAutoNum type="arabicPeriod"/>
            </a:pPr>
            <a:r>
              <a:rPr lang="en-US" altLang="en-US" sz="2800" dirty="0" smtClean="0">
                <a:solidFill>
                  <a:srgbClr val="A6A6A6"/>
                </a:solidFill>
                <a:latin typeface="Elephant" panose="02020904090505020303" pitchFamily="18" charset="0"/>
              </a:rPr>
              <a:t>List</a:t>
            </a:r>
            <a:endParaRPr lang="en-US" altLang="en-US" sz="2800" dirty="0">
              <a:solidFill>
                <a:srgbClr val="A6A6A6"/>
              </a:solidFill>
              <a:latin typeface="Elephant" panose="02020904090505020303" pitchFamily="18" charset="0"/>
            </a:endParaRPr>
          </a:p>
          <a:p>
            <a:pPr marL="651966" indent="-555276">
              <a:buFont typeface="+mj-lt"/>
              <a:buAutoNum type="arabicPeriod"/>
            </a:pPr>
            <a:r>
              <a:rPr lang="en-US" altLang="en-US" sz="2800" dirty="0" smtClean="0">
                <a:solidFill>
                  <a:srgbClr val="A6A6A6"/>
                </a:solidFill>
                <a:latin typeface="Elephant" panose="02020904090505020303" pitchFamily="18" charset="0"/>
              </a:rPr>
              <a:t>Tuple</a:t>
            </a:r>
            <a:endParaRPr lang="en-US" altLang="en-US" sz="2800" dirty="0">
              <a:solidFill>
                <a:srgbClr val="A6A6A6"/>
              </a:solidFill>
              <a:latin typeface="Elephant" panose="02020904090505020303" pitchFamily="18" charset="0"/>
            </a:endParaRPr>
          </a:p>
          <a:p>
            <a:pPr marL="651966" indent="-555276">
              <a:buFont typeface="+mj-lt"/>
              <a:buAutoNum type="arabicPeriod"/>
            </a:pPr>
            <a:r>
              <a:rPr lang="en-US" altLang="en-US" sz="2800" dirty="0">
                <a:solidFill>
                  <a:srgbClr val="A6A6A6"/>
                </a:solidFill>
                <a:latin typeface="Elephant" panose="02020904090505020303" pitchFamily="18" charset="0"/>
              </a:rPr>
              <a:t>Set</a:t>
            </a:r>
          </a:p>
          <a:p>
            <a:pPr marL="651966" indent="-555276">
              <a:buFont typeface="+mj-lt"/>
              <a:buAutoNum type="arabicPeriod"/>
            </a:pPr>
            <a:r>
              <a:rPr lang="en-US" altLang="en-US" sz="2800" dirty="0" smtClean="0">
                <a:solidFill>
                  <a:srgbClr val="A6A6A6"/>
                </a:solidFill>
                <a:latin typeface="Elephant" panose="02020904090505020303" pitchFamily="18" charset="0"/>
              </a:rPr>
              <a:t>Dictionary</a:t>
            </a:r>
            <a:endParaRPr lang="en-US" altLang="en-US" sz="2800" dirty="0">
              <a:solidFill>
                <a:srgbClr val="A6A6A6"/>
              </a:solidFill>
              <a:latin typeface="Elephant" panose="02020904090505020303" pitchFamily="18" charset="0"/>
            </a:endParaRPr>
          </a:p>
        </p:txBody>
      </p:sp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-1" y="0"/>
            <a:ext cx="9729789" cy="1142999"/>
          </a:xfrm>
        </p:spPr>
        <p:txBody>
          <a:bodyPr>
            <a:normAutofit/>
          </a:bodyPr>
          <a:lstStyle/>
          <a:p>
            <a:r>
              <a:rPr lang="en-US" altLang="en-US" sz="4400" dirty="0" smtClean="0">
                <a:solidFill>
                  <a:srgbClr val="0070C0"/>
                </a:solidFill>
              </a:rPr>
              <a:t>Data Types:</a:t>
            </a:r>
          </a:p>
        </p:txBody>
      </p:sp>
    </p:spTree>
    <p:extLst>
      <p:ext uri="{BB962C8B-B14F-4D97-AF65-F5344CB8AC3E}">
        <p14:creationId xmlns:p14="http://schemas.microsoft.com/office/powerpoint/2010/main" val="1426355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69696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69696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 31"/>
          <p:cNvGrpSpPr/>
          <p:nvPr/>
        </p:nvGrpSpPr>
        <p:grpSpPr>
          <a:xfrm>
            <a:off x="2341532" y="4434466"/>
            <a:ext cx="2075081" cy="2209800"/>
            <a:chOff x="2502694" y="4572000"/>
            <a:chExt cx="2075081" cy="2209800"/>
          </a:xfrm>
        </p:grpSpPr>
        <p:cxnSp>
          <p:nvCxnSpPr>
            <p:cNvPr id="33" name="Straight Arrow Connector 32"/>
            <p:cNvCxnSpPr/>
            <p:nvPr/>
          </p:nvCxnSpPr>
          <p:spPr>
            <a:xfrm>
              <a:off x="2688336" y="6620256"/>
              <a:ext cx="1883664" cy="0"/>
            </a:xfrm>
            <a:prstGeom prst="straightConnector1">
              <a:avLst/>
            </a:prstGeom>
            <a:ln w="31750">
              <a:solidFill>
                <a:schemeClr val="tx1"/>
              </a:solidFill>
              <a:headEnd type="none" w="med" len="med"/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/>
            <p:cNvCxnSpPr/>
            <p:nvPr/>
          </p:nvCxnSpPr>
          <p:spPr>
            <a:xfrm>
              <a:off x="2931855" y="4818282"/>
              <a:ext cx="1645920" cy="0"/>
            </a:xfrm>
            <a:prstGeom prst="straightConnector1">
              <a:avLst/>
            </a:prstGeom>
            <a:ln w="31750">
              <a:solidFill>
                <a:schemeClr val="tx1"/>
              </a:solidFill>
              <a:headEnd type="none" w="med" len="med"/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/>
            <p:cNvCxnSpPr/>
            <p:nvPr/>
          </p:nvCxnSpPr>
          <p:spPr>
            <a:xfrm>
              <a:off x="2931855" y="5202936"/>
              <a:ext cx="1645920" cy="0"/>
            </a:xfrm>
            <a:prstGeom prst="straightConnector1">
              <a:avLst/>
            </a:prstGeom>
            <a:ln w="31750">
              <a:solidFill>
                <a:schemeClr val="tx1"/>
              </a:solidFill>
              <a:headEnd type="none" w="med" len="med"/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/>
            <p:cNvCxnSpPr/>
            <p:nvPr/>
          </p:nvCxnSpPr>
          <p:spPr>
            <a:xfrm>
              <a:off x="2931855" y="5586984"/>
              <a:ext cx="1645920" cy="0"/>
            </a:xfrm>
            <a:prstGeom prst="straightConnector1">
              <a:avLst/>
            </a:prstGeom>
            <a:ln w="31750">
              <a:solidFill>
                <a:schemeClr val="tx1"/>
              </a:solidFill>
              <a:headEnd type="none" w="med" len="med"/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/>
            <p:cNvCxnSpPr/>
            <p:nvPr/>
          </p:nvCxnSpPr>
          <p:spPr>
            <a:xfrm>
              <a:off x="2931855" y="5971032"/>
              <a:ext cx="1645920" cy="0"/>
            </a:xfrm>
            <a:prstGeom prst="straightConnector1">
              <a:avLst/>
            </a:prstGeom>
            <a:ln w="31750">
              <a:solidFill>
                <a:schemeClr val="tx1"/>
              </a:solidFill>
              <a:headEnd type="none" w="med" len="med"/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Rectangle 37"/>
            <p:cNvSpPr/>
            <p:nvPr/>
          </p:nvSpPr>
          <p:spPr>
            <a:xfrm>
              <a:off x="2807494" y="4572000"/>
              <a:ext cx="685800" cy="457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/>
            <p:cNvSpPr/>
            <p:nvPr/>
          </p:nvSpPr>
          <p:spPr>
            <a:xfrm>
              <a:off x="2883694" y="5029200"/>
              <a:ext cx="1143000" cy="457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/>
            <p:cNvSpPr/>
            <p:nvPr/>
          </p:nvSpPr>
          <p:spPr>
            <a:xfrm>
              <a:off x="2578894" y="5410200"/>
              <a:ext cx="1086657" cy="457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/>
            <p:cNvSpPr/>
            <p:nvPr/>
          </p:nvSpPr>
          <p:spPr>
            <a:xfrm>
              <a:off x="2807494" y="5791200"/>
              <a:ext cx="1086657" cy="457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1"/>
            <p:cNvSpPr/>
            <p:nvPr/>
          </p:nvSpPr>
          <p:spPr>
            <a:xfrm>
              <a:off x="2502694" y="6324600"/>
              <a:ext cx="324657" cy="457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4578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4400" dirty="0" smtClean="0">
                <a:solidFill>
                  <a:srgbClr val="0070C0"/>
                </a:solidFill>
              </a:rPr>
              <a:t>Python Lists:</a:t>
            </a:r>
          </a:p>
        </p:txBody>
      </p:sp>
      <p:sp>
        <p:nvSpPr>
          <p:cNvPr id="24579" name="Content Placeholder 2"/>
          <p:cNvSpPr>
            <a:spLocks noGrp="1"/>
          </p:cNvSpPr>
          <p:nvPr>
            <p:ph idx="1"/>
          </p:nvPr>
        </p:nvSpPr>
        <p:spPr>
          <a:xfrm>
            <a:off x="292894" y="1066800"/>
            <a:ext cx="9059037" cy="5653665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spcAft>
                <a:spcPts val="1500"/>
              </a:spcAft>
            </a:pPr>
            <a:r>
              <a:rPr lang="en-US" altLang="en-US" sz="3600" dirty="0"/>
              <a:t>A </a:t>
            </a:r>
            <a:r>
              <a:rPr lang="en-US" altLang="en-US" sz="3600" dirty="0">
                <a:solidFill>
                  <a:srgbClr val="FF0000"/>
                </a:solidFill>
              </a:rPr>
              <a:t>list</a:t>
            </a:r>
            <a:r>
              <a:rPr lang="en-US" altLang="en-US" sz="3600" dirty="0"/>
              <a:t> contains items separated by commas and enclosed within square </a:t>
            </a:r>
            <a:r>
              <a:rPr lang="en-US" altLang="en-US" sz="3600" dirty="0" smtClean="0"/>
              <a:t>brackets, </a:t>
            </a:r>
            <a:r>
              <a:rPr lang="en-US" altLang="en-US" sz="3600" b="1" dirty="0" smtClean="0">
                <a:solidFill>
                  <a:srgbClr val="FF0000"/>
                </a:solidFill>
              </a:rPr>
              <a:t>[ ]</a:t>
            </a:r>
            <a:r>
              <a:rPr lang="en-US" altLang="en-US" sz="3600" dirty="0" smtClean="0"/>
              <a:t>.</a:t>
            </a:r>
            <a:endParaRPr lang="en-US" altLang="en-US" sz="3600" dirty="0"/>
          </a:p>
          <a:p>
            <a:pPr>
              <a:spcBef>
                <a:spcPts val="0"/>
              </a:spcBef>
              <a:spcAft>
                <a:spcPts val="1500"/>
              </a:spcAft>
            </a:pPr>
            <a:r>
              <a:rPr lang="en-US" altLang="en-US" sz="3600" dirty="0"/>
              <a:t>Lists are similar to arrays in C. </a:t>
            </a:r>
            <a:r>
              <a:rPr lang="en-US" altLang="en-US" sz="3600" dirty="0" smtClean="0"/>
              <a:t/>
            </a:r>
            <a:br>
              <a:rPr lang="en-US" altLang="en-US" sz="3600" dirty="0" smtClean="0"/>
            </a:br>
            <a:r>
              <a:rPr lang="en-US" altLang="en-US" sz="3600" dirty="0" smtClean="0"/>
              <a:t>But </a:t>
            </a:r>
            <a:r>
              <a:rPr lang="en-US" altLang="en-US" sz="3600" dirty="0"/>
              <a:t>items in a list can be different data types.</a:t>
            </a:r>
          </a:p>
          <a:p>
            <a:pPr>
              <a:lnSpc>
                <a:spcPct val="80000"/>
              </a:lnSpc>
              <a:spcBef>
                <a:spcPts val="0"/>
              </a:spcBef>
            </a:pPr>
            <a:r>
              <a:rPr lang="en-US" altLang="en-US" sz="3600" dirty="0"/>
              <a:t>The </a:t>
            </a:r>
            <a:r>
              <a:rPr lang="en-US" altLang="en-US" sz="3600" dirty="0" smtClean="0"/>
              <a:t>stored values are accessed by </a:t>
            </a:r>
            <a:r>
              <a:rPr lang="en-US" altLang="en-US" sz="3600" dirty="0"/>
              <a:t>the slice </a:t>
            </a:r>
            <a:r>
              <a:rPr lang="en-US" altLang="en-US" sz="3600" dirty="0" smtClean="0"/>
              <a:t>operators </a:t>
            </a:r>
            <a:r>
              <a:rPr lang="en-US" altLang="en-US" sz="3600" dirty="0"/>
              <a:t>( [ ] and [ : ] </a:t>
            </a:r>
            <a:r>
              <a:rPr lang="en-US" altLang="en-US" sz="3600" spc="-500" dirty="0"/>
              <a:t>)</a:t>
            </a:r>
            <a:r>
              <a:rPr lang="en-US" altLang="en-US" sz="3600" dirty="0"/>
              <a:t> </a:t>
            </a:r>
            <a:r>
              <a:rPr lang="en-US" altLang="en-US" sz="3600" dirty="0" smtClean="0"/>
              <a:t>.  Indices count from 0:</a:t>
            </a:r>
          </a:p>
          <a:p>
            <a:pPr marL="364871" lvl="1" indent="0">
              <a:spcBef>
                <a:spcPts val="1200"/>
              </a:spcBef>
              <a:buNone/>
            </a:pPr>
            <a:r>
              <a:rPr lang="en-US" altLang="en-US" sz="2800" dirty="0" smtClean="0"/>
              <a:t>First (1</a:t>
            </a:r>
            <a:r>
              <a:rPr lang="en-US" altLang="en-US" sz="2800" baseline="30000" dirty="0" smtClean="0"/>
              <a:t>st</a:t>
            </a:r>
            <a:r>
              <a:rPr lang="en-US" altLang="en-US" sz="2800" dirty="0" smtClean="0"/>
              <a:t>) element 	 </a:t>
            </a:r>
            <a:r>
              <a:rPr lang="en-US" altLang="en-US" sz="2800" dirty="0">
                <a:solidFill>
                  <a:schemeClr val="bg1"/>
                </a:solidFill>
              </a:rPr>
              <a:t> </a:t>
            </a:r>
            <a:r>
              <a:rPr lang="en-US" altLang="en-US" sz="2800" dirty="0" smtClean="0">
                <a:solidFill>
                  <a:schemeClr val="bg1"/>
                </a:solidFill>
              </a:rPr>
              <a:t>   </a:t>
            </a:r>
            <a:r>
              <a:rPr lang="en-US" altLang="en-US" sz="1500" dirty="0" smtClean="0">
                <a:solidFill>
                  <a:schemeClr val="bg1"/>
                </a:solidFill>
              </a:rPr>
              <a:t> </a:t>
            </a:r>
            <a:r>
              <a:rPr lang="en-US" altLang="en-US" sz="2800" dirty="0" smtClean="0"/>
              <a:t>L[0] 		</a:t>
            </a:r>
          </a:p>
          <a:p>
            <a:pPr marL="364871" lvl="1" indent="0">
              <a:spcBef>
                <a:spcPts val="0"/>
              </a:spcBef>
              <a:buNone/>
            </a:pPr>
            <a:r>
              <a:rPr lang="en-US" altLang="en-US" sz="2800" dirty="0" smtClean="0"/>
              <a:t>Second (2</a:t>
            </a:r>
            <a:r>
              <a:rPr lang="en-US" altLang="en-US" sz="2800" baseline="30000" dirty="0" smtClean="0"/>
              <a:t>nd</a:t>
            </a:r>
            <a:r>
              <a:rPr lang="en-US" altLang="en-US" sz="2800" dirty="0" smtClean="0"/>
              <a:t>) element</a:t>
            </a:r>
            <a:r>
              <a:rPr lang="en-US" altLang="en-US" sz="1050" dirty="0" smtClean="0"/>
              <a:t> 	</a:t>
            </a:r>
            <a:r>
              <a:rPr lang="en-US" altLang="en-US" sz="2800" dirty="0" smtClean="0"/>
              <a:t> </a:t>
            </a:r>
            <a:r>
              <a:rPr lang="en-US" altLang="en-US" sz="2800" dirty="0"/>
              <a:t> </a:t>
            </a:r>
            <a:r>
              <a:rPr lang="en-US" altLang="en-US" sz="2800" dirty="0" smtClean="0"/>
              <a:t>   </a:t>
            </a:r>
            <a:r>
              <a:rPr lang="en-US" altLang="en-US" sz="1500" dirty="0" smtClean="0"/>
              <a:t> </a:t>
            </a:r>
            <a:r>
              <a:rPr lang="en-US" altLang="en-US" sz="2800" dirty="0" smtClean="0"/>
              <a:t>L[1] 		</a:t>
            </a:r>
          </a:p>
          <a:p>
            <a:pPr marL="364871" lvl="1" indent="0">
              <a:spcBef>
                <a:spcPts val="0"/>
              </a:spcBef>
              <a:buNone/>
            </a:pPr>
            <a:r>
              <a:rPr lang="en-US" altLang="en-US" sz="2800" dirty="0"/>
              <a:t>Third (3</a:t>
            </a:r>
            <a:r>
              <a:rPr lang="en-US" altLang="en-US" sz="2800" baseline="30000" dirty="0"/>
              <a:t>rd</a:t>
            </a:r>
            <a:r>
              <a:rPr lang="en-US" altLang="en-US" sz="2800" dirty="0"/>
              <a:t>) element 	</a:t>
            </a:r>
            <a:r>
              <a:rPr lang="en-US" altLang="en-US" sz="2800" dirty="0" smtClean="0"/>
              <a:t> </a:t>
            </a:r>
            <a:r>
              <a:rPr lang="en-US" altLang="en-US" sz="2800" dirty="0">
                <a:solidFill>
                  <a:schemeClr val="bg1"/>
                </a:solidFill>
              </a:rPr>
              <a:t> </a:t>
            </a:r>
            <a:r>
              <a:rPr lang="en-US" altLang="en-US" sz="2800" dirty="0" smtClean="0">
                <a:solidFill>
                  <a:schemeClr val="bg1"/>
                </a:solidFill>
              </a:rPr>
              <a:t>   </a:t>
            </a:r>
            <a:r>
              <a:rPr lang="en-US" altLang="en-US" sz="1500" dirty="0" smtClean="0">
                <a:solidFill>
                  <a:schemeClr val="bg1"/>
                </a:solidFill>
              </a:rPr>
              <a:t> </a:t>
            </a:r>
            <a:r>
              <a:rPr lang="en-US" altLang="en-US" sz="2800" dirty="0"/>
              <a:t>L[2] 		</a:t>
            </a:r>
          </a:p>
          <a:p>
            <a:pPr marL="364871" lvl="1" indent="0">
              <a:spcBef>
                <a:spcPts val="0"/>
              </a:spcBef>
              <a:buNone/>
            </a:pPr>
            <a:r>
              <a:rPr lang="en-US" altLang="en-US" sz="2800" dirty="0" smtClean="0"/>
              <a:t>Fourth (4</a:t>
            </a:r>
            <a:r>
              <a:rPr lang="en-US" altLang="en-US" sz="2800" baseline="30000" dirty="0" smtClean="0"/>
              <a:t>th</a:t>
            </a:r>
            <a:r>
              <a:rPr lang="en-US" altLang="en-US" sz="2800" dirty="0" smtClean="0"/>
              <a:t>) element 	 </a:t>
            </a:r>
            <a:r>
              <a:rPr lang="en-US" altLang="en-US" sz="2800" dirty="0">
                <a:solidFill>
                  <a:schemeClr val="bg1"/>
                </a:solidFill>
              </a:rPr>
              <a:t> </a:t>
            </a:r>
            <a:r>
              <a:rPr lang="en-US" altLang="en-US" sz="2800" dirty="0" smtClean="0">
                <a:solidFill>
                  <a:schemeClr val="bg1"/>
                </a:solidFill>
              </a:rPr>
              <a:t>   </a:t>
            </a:r>
            <a:r>
              <a:rPr lang="en-US" altLang="en-US" sz="1500" dirty="0" smtClean="0">
                <a:solidFill>
                  <a:schemeClr val="bg1"/>
                </a:solidFill>
              </a:rPr>
              <a:t> </a:t>
            </a:r>
            <a:r>
              <a:rPr lang="en-US" altLang="en-US" sz="2800" dirty="0" smtClean="0"/>
              <a:t>L[3] 	</a:t>
            </a:r>
          </a:p>
          <a:p>
            <a:pPr marL="364871" lvl="1" indent="0">
              <a:lnSpc>
                <a:spcPct val="60000"/>
              </a:lnSpc>
              <a:spcBef>
                <a:spcPts val="0"/>
              </a:spcBef>
              <a:buNone/>
            </a:pPr>
            <a:r>
              <a:rPr lang="en-US" altLang="en-US" sz="2800" spc="500" dirty="0" smtClean="0"/>
              <a:t>  </a:t>
            </a:r>
            <a:r>
              <a:rPr lang="en-US" altLang="en-US" sz="2800" spc="1000" dirty="0" smtClean="0"/>
              <a:t> </a:t>
            </a:r>
            <a:r>
              <a:rPr lang="en-US" altLang="en-US" sz="2800" spc="2500" dirty="0" smtClean="0"/>
              <a:t>...							</a:t>
            </a:r>
          </a:p>
          <a:p>
            <a:pPr marL="364871" lvl="1" indent="0">
              <a:lnSpc>
                <a:spcPct val="70000"/>
              </a:lnSpc>
              <a:spcBef>
                <a:spcPts val="600"/>
              </a:spcBef>
              <a:spcAft>
                <a:spcPts val="1800"/>
              </a:spcAft>
              <a:buNone/>
            </a:pPr>
            <a:r>
              <a:rPr lang="en-US" altLang="en-US" sz="2800" dirty="0" smtClean="0"/>
              <a:t>Last </a:t>
            </a:r>
            <a:r>
              <a:rPr lang="en-US" altLang="en-US" sz="2800" dirty="0"/>
              <a:t>element </a:t>
            </a:r>
            <a:r>
              <a:rPr lang="en-US" altLang="en-US" sz="2800" dirty="0" smtClean="0"/>
              <a:t>	      </a:t>
            </a:r>
            <a:r>
              <a:rPr lang="en-US" altLang="en-US" sz="1000" dirty="0" smtClean="0"/>
              <a:t>   </a:t>
            </a:r>
            <a:r>
              <a:rPr lang="en-US" altLang="en-US" sz="2800" dirty="0">
                <a:solidFill>
                  <a:schemeClr val="bg1"/>
                </a:solidFill>
              </a:rPr>
              <a:t> </a:t>
            </a:r>
            <a:r>
              <a:rPr lang="en-US" altLang="en-US" sz="2800" dirty="0" smtClean="0">
                <a:solidFill>
                  <a:schemeClr val="bg1"/>
                </a:solidFill>
              </a:rPr>
              <a:t>	    </a:t>
            </a:r>
            <a:r>
              <a:rPr lang="en-US" altLang="en-US" sz="1600" dirty="0" smtClean="0">
                <a:solidFill>
                  <a:schemeClr val="bg1"/>
                </a:solidFill>
              </a:rPr>
              <a:t> </a:t>
            </a:r>
            <a:r>
              <a:rPr lang="en-US" altLang="en-US" sz="1500" dirty="0" smtClean="0">
                <a:solidFill>
                  <a:schemeClr val="bg1"/>
                </a:solidFill>
              </a:rPr>
              <a:t> </a:t>
            </a:r>
            <a:r>
              <a:rPr lang="en-US" altLang="en-US" sz="2800" dirty="0" smtClean="0"/>
              <a:t>L[-1] 	</a:t>
            </a:r>
            <a:r>
              <a:rPr lang="en-US" altLang="en-US" sz="2800" dirty="0"/>
              <a:t>	</a:t>
            </a:r>
            <a:r>
              <a:rPr lang="en-US" altLang="en-US" sz="2800" dirty="0" smtClean="0"/>
              <a:t>	</a:t>
            </a:r>
            <a:endParaRPr lang="en-US" altLang="en-US" sz="3281" dirty="0" smtClean="0"/>
          </a:p>
        </p:txBody>
      </p:sp>
    </p:spTree>
    <p:extLst>
      <p:ext uri="{BB962C8B-B14F-4D97-AF65-F5344CB8AC3E}">
        <p14:creationId xmlns:p14="http://schemas.microsoft.com/office/powerpoint/2010/main" val="3866307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4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4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4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245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245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245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245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45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2341532" y="4434466"/>
            <a:ext cx="2075081" cy="2209800"/>
            <a:chOff x="2502694" y="4572000"/>
            <a:chExt cx="2075081" cy="2209800"/>
          </a:xfrm>
        </p:grpSpPr>
        <p:cxnSp>
          <p:nvCxnSpPr>
            <p:cNvPr id="3" name="Straight Arrow Connector 2"/>
            <p:cNvCxnSpPr/>
            <p:nvPr/>
          </p:nvCxnSpPr>
          <p:spPr>
            <a:xfrm>
              <a:off x="2688336" y="6620256"/>
              <a:ext cx="1883664" cy="0"/>
            </a:xfrm>
            <a:prstGeom prst="straightConnector1">
              <a:avLst/>
            </a:prstGeom>
            <a:ln w="31750">
              <a:solidFill>
                <a:schemeClr val="tx1"/>
              </a:solidFill>
              <a:headEnd type="none" w="med" len="med"/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/>
            <p:cNvCxnSpPr/>
            <p:nvPr/>
          </p:nvCxnSpPr>
          <p:spPr>
            <a:xfrm>
              <a:off x="2931855" y="4818282"/>
              <a:ext cx="1645920" cy="0"/>
            </a:xfrm>
            <a:prstGeom prst="straightConnector1">
              <a:avLst/>
            </a:prstGeom>
            <a:ln w="31750">
              <a:solidFill>
                <a:schemeClr val="tx1"/>
              </a:solidFill>
              <a:headEnd type="none" w="med" len="med"/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/>
            <p:cNvCxnSpPr/>
            <p:nvPr/>
          </p:nvCxnSpPr>
          <p:spPr>
            <a:xfrm>
              <a:off x="2931855" y="5202936"/>
              <a:ext cx="1645920" cy="0"/>
            </a:xfrm>
            <a:prstGeom prst="straightConnector1">
              <a:avLst/>
            </a:prstGeom>
            <a:ln w="31750">
              <a:solidFill>
                <a:schemeClr val="tx1"/>
              </a:solidFill>
              <a:headEnd type="none" w="med" len="med"/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/>
            <p:cNvCxnSpPr/>
            <p:nvPr/>
          </p:nvCxnSpPr>
          <p:spPr>
            <a:xfrm>
              <a:off x="2931855" y="5586984"/>
              <a:ext cx="1645920" cy="0"/>
            </a:xfrm>
            <a:prstGeom prst="straightConnector1">
              <a:avLst/>
            </a:prstGeom>
            <a:ln w="31750">
              <a:solidFill>
                <a:schemeClr val="tx1"/>
              </a:solidFill>
              <a:headEnd type="none" w="med" len="med"/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/>
            <p:cNvCxnSpPr/>
            <p:nvPr/>
          </p:nvCxnSpPr>
          <p:spPr>
            <a:xfrm>
              <a:off x="2931855" y="5971032"/>
              <a:ext cx="1645920" cy="0"/>
            </a:xfrm>
            <a:prstGeom prst="straightConnector1">
              <a:avLst/>
            </a:prstGeom>
            <a:ln w="31750">
              <a:solidFill>
                <a:schemeClr val="tx1"/>
              </a:solidFill>
              <a:headEnd type="none" w="med" len="med"/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Rectangle 5"/>
            <p:cNvSpPr/>
            <p:nvPr/>
          </p:nvSpPr>
          <p:spPr>
            <a:xfrm>
              <a:off x="2807494" y="4572000"/>
              <a:ext cx="685800" cy="457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2883694" y="5029200"/>
              <a:ext cx="1143000" cy="457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578894" y="5410200"/>
              <a:ext cx="1086657" cy="457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2807494" y="5791200"/>
              <a:ext cx="1086657" cy="457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2502694" y="6324600"/>
              <a:ext cx="324657" cy="457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4578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4400" dirty="0" smtClean="0">
                <a:solidFill>
                  <a:srgbClr val="0070C0"/>
                </a:solidFill>
              </a:rPr>
              <a:t>Python Lists:</a:t>
            </a:r>
          </a:p>
        </p:txBody>
      </p:sp>
      <p:sp>
        <p:nvSpPr>
          <p:cNvPr id="24579" name="Content Placeholder 2"/>
          <p:cNvSpPr>
            <a:spLocks noGrp="1"/>
          </p:cNvSpPr>
          <p:nvPr>
            <p:ph idx="1"/>
          </p:nvPr>
        </p:nvSpPr>
        <p:spPr>
          <a:xfrm>
            <a:off x="292894" y="1066800"/>
            <a:ext cx="9059037" cy="5653665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spcAft>
                <a:spcPts val="1500"/>
              </a:spcAft>
            </a:pPr>
            <a:r>
              <a:rPr lang="en-US" altLang="en-US" sz="3600" dirty="0"/>
              <a:t>A list contains items separated by commas and enclosed within square </a:t>
            </a:r>
            <a:r>
              <a:rPr lang="en-US" altLang="en-US" sz="3600" dirty="0" smtClean="0"/>
              <a:t>brackets, </a:t>
            </a:r>
            <a:r>
              <a:rPr lang="en-US" altLang="en-US" sz="3600" b="1" dirty="0" smtClean="0"/>
              <a:t>[ ]</a:t>
            </a:r>
            <a:r>
              <a:rPr lang="en-US" altLang="en-US" sz="3600" dirty="0" smtClean="0"/>
              <a:t>.</a:t>
            </a:r>
            <a:endParaRPr lang="en-US" altLang="en-US" sz="3600" dirty="0"/>
          </a:p>
          <a:p>
            <a:pPr>
              <a:spcBef>
                <a:spcPts val="0"/>
              </a:spcBef>
              <a:spcAft>
                <a:spcPts val="1500"/>
              </a:spcAft>
            </a:pPr>
            <a:r>
              <a:rPr lang="en-US" altLang="en-US" sz="3600" dirty="0"/>
              <a:t>Lists are similar to arrays in </a:t>
            </a:r>
            <a:r>
              <a:rPr lang="en-US" altLang="en-US" sz="3600" dirty="0" smtClean="0"/>
              <a:t>C.</a:t>
            </a:r>
            <a:br>
              <a:rPr lang="en-US" altLang="en-US" sz="3600" dirty="0" smtClean="0"/>
            </a:br>
            <a:r>
              <a:rPr lang="en-US" altLang="en-US" sz="3600" dirty="0" smtClean="0"/>
              <a:t>But items </a:t>
            </a:r>
            <a:r>
              <a:rPr lang="en-US" altLang="en-US" sz="3600" dirty="0"/>
              <a:t>in a list can be different data types.</a:t>
            </a:r>
          </a:p>
          <a:p>
            <a:pPr>
              <a:lnSpc>
                <a:spcPct val="80000"/>
              </a:lnSpc>
              <a:spcBef>
                <a:spcPts val="0"/>
              </a:spcBef>
            </a:pPr>
            <a:r>
              <a:rPr lang="en-US" altLang="en-US" sz="3600" dirty="0"/>
              <a:t>The </a:t>
            </a:r>
            <a:r>
              <a:rPr lang="en-US" altLang="en-US" sz="3600" dirty="0" smtClean="0"/>
              <a:t>stored values are accessed by </a:t>
            </a:r>
            <a:r>
              <a:rPr lang="en-US" altLang="en-US" sz="3600" dirty="0"/>
              <a:t>the slice </a:t>
            </a:r>
            <a:r>
              <a:rPr lang="en-US" altLang="en-US" sz="3600" dirty="0" smtClean="0"/>
              <a:t>operators </a:t>
            </a:r>
            <a:r>
              <a:rPr lang="en-US" altLang="en-US" sz="3600" dirty="0"/>
              <a:t>( [ ] and [ : ] </a:t>
            </a:r>
            <a:r>
              <a:rPr lang="en-US" altLang="en-US" sz="3600" spc="-500" dirty="0"/>
              <a:t>)</a:t>
            </a:r>
            <a:r>
              <a:rPr lang="en-US" altLang="en-US" sz="3600" dirty="0"/>
              <a:t> </a:t>
            </a:r>
            <a:r>
              <a:rPr lang="en-US" altLang="en-US" sz="3600" dirty="0" smtClean="0"/>
              <a:t>.  Indices count from 0:</a:t>
            </a:r>
          </a:p>
          <a:p>
            <a:pPr marL="364871" lvl="1" indent="0">
              <a:spcBef>
                <a:spcPts val="1200"/>
              </a:spcBef>
              <a:buNone/>
            </a:pPr>
            <a:r>
              <a:rPr lang="en-US" altLang="en-US" sz="2800" dirty="0" smtClean="0"/>
              <a:t>First (1</a:t>
            </a:r>
            <a:r>
              <a:rPr lang="en-US" altLang="en-US" sz="2800" baseline="30000" dirty="0" smtClean="0"/>
              <a:t>st</a:t>
            </a:r>
            <a:r>
              <a:rPr lang="en-US" altLang="en-US" sz="2800" dirty="0" smtClean="0"/>
              <a:t>) element 	 </a:t>
            </a:r>
            <a:r>
              <a:rPr lang="en-US" altLang="en-US" sz="2800" dirty="0">
                <a:solidFill>
                  <a:schemeClr val="bg1"/>
                </a:solidFill>
              </a:rPr>
              <a:t> </a:t>
            </a:r>
            <a:r>
              <a:rPr lang="en-US" altLang="en-US" sz="2800" dirty="0" smtClean="0">
                <a:solidFill>
                  <a:schemeClr val="bg1"/>
                </a:solidFill>
              </a:rPr>
              <a:t>   </a:t>
            </a:r>
            <a:r>
              <a:rPr lang="en-US" altLang="en-US" sz="1500" dirty="0" smtClean="0">
                <a:solidFill>
                  <a:schemeClr val="bg1"/>
                </a:solidFill>
              </a:rPr>
              <a:t> </a:t>
            </a:r>
            <a:r>
              <a:rPr lang="en-US" altLang="en-US" sz="2800" dirty="0" smtClean="0"/>
              <a:t>L[0] 		</a:t>
            </a:r>
          </a:p>
          <a:p>
            <a:pPr marL="364871" lvl="1" indent="0">
              <a:spcBef>
                <a:spcPts val="0"/>
              </a:spcBef>
              <a:buNone/>
            </a:pPr>
            <a:r>
              <a:rPr lang="en-US" altLang="en-US" sz="2800" dirty="0" smtClean="0"/>
              <a:t>Second (</a:t>
            </a:r>
            <a:r>
              <a:rPr lang="en-US" altLang="en-US" sz="2800" b="1" dirty="0" smtClean="0">
                <a:solidFill>
                  <a:srgbClr val="FF0000"/>
                </a:solidFill>
              </a:rPr>
              <a:t>2</a:t>
            </a:r>
            <a:r>
              <a:rPr lang="en-US" altLang="en-US" sz="2800" baseline="30000" dirty="0" smtClean="0"/>
              <a:t>nd</a:t>
            </a:r>
            <a:r>
              <a:rPr lang="en-US" altLang="en-US" sz="2800" dirty="0" smtClean="0"/>
              <a:t>) element</a:t>
            </a:r>
            <a:r>
              <a:rPr lang="en-US" altLang="en-US" sz="1050" dirty="0" smtClean="0"/>
              <a:t> 	</a:t>
            </a:r>
            <a:r>
              <a:rPr lang="en-US" altLang="en-US" sz="2800" dirty="0" smtClean="0"/>
              <a:t> </a:t>
            </a:r>
            <a:r>
              <a:rPr lang="en-US" altLang="en-US" sz="2800" dirty="0">
                <a:solidFill>
                  <a:schemeClr val="bg1"/>
                </a:solidFill>
              </a:rPr>
              <a:t> </a:t>
            </a:r>
            <a:r>
              <a:rPr lang="en-US" altLang="en-US" sz="2800" dirty="0" smtClean="0">
                <a:solidFill>
                  <a:schemeClr val="bg1"/>
                </a:solidFill>
              </a:rPr>
              <a:t>   </a:t>
            </a:r>
            <a:r>
              <a:rPr lang="en-US" altLang="en-US" sz="1500" dirty="0" smtClean="0">
                <a:solidFill>
                  <a:schemeClr val="bg1"/>
                </a:solidFill>
              </a:rPr>
              <a:t> </a:t>
            </a:r>
            <a:r>
              <a:rPr lang="en-US" altLang="en-US" sz="2800" dirty="0" smtClean="0"/>
              <a:t>L[</a:t>
            </a:r>
            <a:r>
              <a:rPr lang="en-US" altLang="en-US" sz="2800" b="1" dirty="0" smtClean="0">
                <a:solidFill>
                  <a:srgbClr val="FF0000"/>
                </a:solidFill>
              </a:rPr>
              <a:t>1</a:t>
            </a:r>
            <a:r>
              <a:rPr lang="en-US" altLang="en-US" sz="2800" dirty="0" smtClean="0"/>
              <a:t>] 		</a:t>
            </a:r>
          </a:p>
          <a:p>
            <a:pPr marL="364871" lvl="1" indent="0">
              <a:spcBef>
                <a:spcPts val="0"/>
              </a:spcBef>
              <a:buNone/>
            </a:pPr>
            <a:r>
              <a:rPr lang="en-US" altLang="en-US" sz="2800" dirty="0"/>
              <a:t>Third (3</a:t>
            </a:r>
            <a:r>
              <a:rPr lang="en-US" altLang="en-US" sz="2800" baseline="30000" dirty="0"/>
              <a:t>rd</a:t>
            </a:r>
            <a:r>
              <a:rPr lang="en-US" altLang="en-US" sz="2800" dirty="0"/>
              <a:t>) element 	</a:t>
            </a:r>
            <a:r>
              <a:rPr lang="en-US" altLang="en-US" sz="2800" dirty="0" smtClean="0"/>
              <a:t> </a:t>
            </a:r>
            <a:r>
              <a:rPr lang="en-US" altLang="en-US" sz="2800" dirty="0">
                <a:solidFill>
                  <a:schemeClr val="bg1"/>
                </a:solidFill>
              </a:rPr>
              <a:t> </a:t>
            </a:r>
            <a:r>
              <a:rPr lang="en-US" altLang="en-US" sz="2800" dirty="0" smtClean="0">
                <a:solidFill>
                  <a:schemeClr val="bg1"/>
                </a:solidFill>
              </a:rPr>
              <a:t>   </a:t>
            </a:r>
            <a:r>
              <a:rPr lang="en-US" altLang="en-US" sz="1500" dirty="0" smtClean="0">
                <a:solidFill>
                  <a:schemeClr val="bg1"/>
                </a:solidFill>
              </a:rPr>
              <a:t> </a:t>
            </a:r>
            <a:r>
              <a:rPr lang="en-US" altLang="en-US" sz="2800" dirty="0"/>
              <a:t>L[2] 		</a:t>
            </a:r>
          </a:p>
          <a:p>
            <a:pPr marL="364871" lvl="1" indent="0">
              <a:spcBef>
                <a:spcPts val="0"/>
              </a:spcBef>
              <a:buNone/>
            </a:pPr>
            <a:r>
              <a:rPr lang="en-US" altLang="en-US" sz="2800" dirty="0" smtClean="0"/>
              <a:t>Fourth (4</a:t>
            </a:r>
            <a:r>
              <a:rPr lang="en-US" altLang="en-US" sz="2800" baseline="30000" dirty="0" smtClean="0"/>
              <a:t>th</a:t>
            </a:r>
            <a:r>
              <a:rPr lang="en-US" altLang="en-US" sz="2800" dirty="0" smtClean="0"/>
              <a:t>) element 	 </a:t>
            </a:r>
            <a:r>
              <a:rPr lang="en-US" altLang="en-US" sz="2800" dirty="0">
                <a:solidFill>
                  <a:schemeClr val="bg1"/>
                </a:solidFill>
              </a:rPr>
              <a:t> </a:t>
            </a:r>
            <a:r>
              <a:rPr lang="en-US" altLang="en-US" sz="2800" dirty="0" smtClean="0">
                <a:solidFill>
                  <a:schemeClr val="bg1"/>
                </a:solidFill>
              </a:rPr>
              <a:t>   </a:t>
            </a:r>
            <a:r>
              <a:rPr lang="en-US" altLang="en-US" sz="1500" dirty="0" smtClean="0">
                <a:solidFill>
                  <a:schemeClr val="bg1"/>
                </a:solidFill>
              </a:rPr>
              <a:t> </a:t>
            </a:r>
            <a:r>
              <a:rPr lang="en-US" altLang="en-US" sz="2800" dirty="0" smtClean="0"/>
              <a:t>L[3] 	</a:t>
            </a:r>
          </a:p>
          <a:p>
            <a:pPr marL="364871" lvl="1" indent="0">
              <a:lnSpc>
                <a:spcPct val="60000"/>
              </a:lnSpc>
              <a:spcBef>
                <a:spcPts val="0"/>
              </a:spcBef>
              <a:buNone/>
            </a:pPr>
            <a:r>
              <a:rPr lang="en-US" altLang="en-US" sz="2800" spc="500" dirty="0" smtClean="0"/>
              <a:t>  </a:t>
            </a:r>
            <a:r>
              <a:rPr lang="en-US" altLang="en-US" sz="2800" spc="1000" dirty="0" smtClean="0"/>
              <a:t> </a:t>
            </a:r>
            <a:r>
              <a:rPr lang="en-US" altLang="en-US" sz="2800" spc="2500" dirty="0" smtClean="0"/>
              <a:t>...							</a:t>
            </a:r>
          </a:p>
          <a:p>
            <a:pPr marL="364871" lvl="1" indent="0">
              <a:lnSpc>
                <a:spcPct val="70000"/>
              </a:lnSpc>
              <a:spcBef>
                <a:spcPts val="600"/>
              </a:spcBef>
              <a:spcAft>
                <a:spcPts val="1800"/>
              </a:spcAft>
              <a:buNone/>
            </a:pPr>
            <a:r>
              <a:rPr lang="en-US" altLang="en-US" sz="2800" dirty="0" smtClean="0"/>
              <a:t>Last </a:t>
            </a:r>
            <a:r>
              <a:rPr lang="en-US" altLang="en-US" sz="2800" dirty="0"/>
              <a:t>element </a:t>
            </a:r>
            <a:r>
              <a:rPr lang="en-US" altLang="en-US" sz="2800" dirty="0" smtClean="0"/>
              <a:t>	      </a:t>
            </a:r>
            <a:r>
              <a:rPr lang="en-US" altLang="en-US" sz="1000" dirty="0" smtClean="0"/>
              <a:t>   </a:t>
            </a:r>
            <a:r>
              <a:rPr lang="en-US" altLang="en-US" sz="2800" dirty="0">
                <a:solidFill>
                  <a:schemeClr val="bg1"/>
                </a:solidFill>
              </a:rPr>
              <a:t> </a:t>
            </a:r>
            <a:r>
              <a:rPr lang="en-US" altLang="en-US" sz="2800" dirty="0" smtClean="0">
                <a:solidFill>
                  <a:schemeClr val="bg1"/>
                </a:solidFill>
              </a:rPr>
              <a:t>	    </a:t>
            </a:r>
            <a:r>
              <a:rPr lang="en-US" altLang="en-US" sz="1600" dirty="0" smtClean="0">
                <a:solidFill>
                  <a:schemeClr val="bg1"/>
                </a:solidFill>
              </a:rPr>
              <a:t> </a:t>
            </a:r>
            <a:r>
              <a:rPr lang="en-US" altLang="en-US" sz="1500" dirty="0" smtClean="0">
                <a:solidFill>
                  <a:schemeClr val="bg1"/>
                </a:solidFill>
              </a:rPr>
              <a:t> </a:t>
            </a:r>
            <a:r>
              <a:rPr lang="en-US" altLang="en-US" sz="2800" dirty="0" smtClean="0"/>
              <a:t>L[-1] 	</a:t>
            </a:r>
            <a:r>
              <a:rPr lang="en-US" altLang="en-US" sz="2800" dirty="0"/>
              <a:t>	</a:t>
            </a:r>
            <a:r>
              <a:rPr lang="en-US" altLang="en-US" sz="2800" dirty="0" smtClean="0"/>
              <a:t>	</a:t>
            </a:r>
            <a:endParaRPr lang="en-US" altLang="en-US" sz="3281" dirty="0" smtClean="0"/>
          </a:p>
        </p:txBody>
      </p:sp>
      <p:sp>
        <p:nvSpPr>
          <p:cNvPr id="13" name="Rounded Rectangular Callout 12"/>
          <p:cNvSpPr/>
          <p:nvPr/>
        </p:nvSpPr>
        <p:spPr>
          <a:xfrm>
            <a:off x="5618132" y="4510666"/>
            <a:ext cx="3733800" cy="1905000"/>
          </a:xfrm>
          <a:prstGeom prst="wedgeRoundRectCallout">
            <a:avLst>
              <a:gd name="adj1" fmla="val -65613"/>
              <a:gd name="adj2" fmla="val -20593"/>
              <a:gd name="adj3" fmla="val 16667"/>
            </a:avLst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>
              <a:lnSpc>
                <a:spcPct val="80000"/>
              </a:lnSpc>
            </a:pPr>
            <a:r>
              <a:rPr lang="en-US" sz="3600" dirty="0" smtClean="0">
                <a:solidFill>
                  <a:schemeClr val="tx1"/>
                </a:solidFill>
              </a:rPr>
              <a:t>It’s </a:t>
            </a:r>
            <a:r>
              <a:rPr lang="en-US" sz="3600" dirty="0" smtClean="0">
                <a:solidFill>
                  <a:srgbClr val="ED7D31"/>
                </a:solidFill>
              </a:rPr>
              <a:t>confusing</a:t>
            </a:r>
            <a:r>
              <a:rPr lang="en-US" sz="3600" dirty="0" smtClean="0">
                <a:solidFill>
                  <a:schemeClr val="accent4"/>
                </a:solidFill>
              </a:rPr>
              <a:t> </a:t>
            </a:r>
            <a:r>
              <a:rPr lang="en-US" sz="3600" dirty="0" smtClean="0">
                <a:solidFill>
                  <a:schemeClr val="tx1"/>
                </a:solidFill>
              </a:rPr>
              <a:t>that</a:t>
            </a:r>
            <a:br>
              <a:rPr lang="en-US" sz="3600" dirty="0" smtClean="0">
                <a:solidFill>
                  <a:schemeClr val="tx1"/>
                </a:solidFill>
              </a:rPr>
            </a:br>
            <a:r>
              <a:rPr lang="en-US" sz="3600" dirty="0" smtClean="0">
                <a:solidFill>
                  <a:schemeClr val="tx1"/>
                </a:solidFill>
              </a:rPr>
              <a:t>you write a “</a:t>
            </a:r>
            <a:r>
              <a:rPr lang="en-US" sz="3600" b="1" dirty="0" smtClean="0">
                <a:solidFill>
                  <a:srgbClr val="FF0000"/>
                </a:solidFill>
              </a:rPr>
              <a:t>1</a:t>
            </a:r>
            <a:r>
              <a:rPr lang="en-US" sz="3600" dirty="0" smtClean="0">
                <a:solidFill>
                  <a:schemeClr val="tx1"/>
                </a:solidFill>
              </a:rPr>
              <a:t>” </a:t>
            </a:r>
            <a:br>
              <a:rPr lang="en-US" sz="3600" dirty="0" smtClean="0">
                <a:solidFill>
                  <a:schemeClr val="tx1"/>
                </a:solidFill>
              </a:rPr>
            </a:br>
            <a:r>
              <a:rPr lang="en-US" sz="3600" dirty="0" smtClean="0">
                <a:solidFill>
                  <a:schemeClr val="tx1"/>
                </a:solidFill>
              </a:rPr>
              <a:t>in</a:t>
            </a:r>
            <a:r>
              <a:rPr lang="en-US" sz="3600" dirty="0">
                <a:solidFill>
                  <a:schemeClr val="tx1"/>
                </a:solidFill>
              </a:rPr>
              <a:t> </a:t>
            </a:r>
            <a:r>
              <a:rPr lang="en-US" sz="3600" dirty="0" smtClean="0">
                <a:solidFill>
                  <a:schemeClr val="tx1"/>
                </a:solidFill>
              </a:rPr>
              <a:t>order to get </a:t>
            </a:r>
            <a:br>
              <a:rPr lang="en-US" sz="3600" dirty="0" smtClean="0">
                <a:solidFill>
                  <a:schemeClr val="tx1"/>
                </a:solidFill>
              </a:rPr>
            </a:br>
            <a:r>
              <a:rPr lang="en-US" sz="3600" dirty="0" smtClean="0">
                <a:solidFill>
                  <a:schemeClr val="tx1"/>
                </a:solidFill>
              </a:rPr>
              <a:t>the </a:t>
            </a:r>
            <a:r>
              <a:rPr lang="en-US" sz="3600" b="1" dirty="0" smtClean="0">
                <a:solidFill>
                  <a:srgbClr val="FF0000"/>
                </a:solidFill>
              </a:rPr>
              <a:t>2</a:t>
            </a:r>
            <a:r>
              <a:rPr lang="en-US" sz="3600" b="1" baseline="30000" dirty="0" smtClean="0">
                <a:solidFill>
                  <a:srgbClr val="FF0000"/>
                </a:solidFill>
              </a:rPr>
              <a:t>nd</a:t>
            </a:r>
            <a:r>
              <a:rPr lang="en-US" sz="3600" dirty="0" smtClean="0">
                <a:solidFill>
                  <a:schemeClr val="tx1"/>
                </a:solidFill>
              </a:rPr>
              <a:t> element.</a:t>
            </a:r>
            <a:endParaRPr lang="en-US" sz="3600" dirty="0">
              <a:solidFill>
                <a:schemeClr val="tx1"/>
              </a:solidFill>
            </a:endParaRPr>
          </a:p>
        </p:txBody>
      </p:sp>
      <p:sp>
        <p:nvSpPr>
          <p:cNvPr id="31" name="Rounded Rectangular Callout 30"/>
          <p:cNvSpPr/>
          <p:nvPr/>
        </p:nvSpPr>
        <p:spPr>
          <a:xfrm>
            <a:off x="5618132" y="2224666"/>
            <a:ext cx="3733800" cy="1905000"/>
          </a:xfrm>
          <a:prstGeom prst="wedgeRoundRectCallout">
            <a:avLst>
              <a:gd name="adj1" fmla="val -19176"/>
              <a:gd name="adj2" fmla="val 79188"/>
              <a:gd name="adj3" fmla="val 16667"/>
            </a:avLst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0000"/>
              </a:lnSpc>
            </a:pPr>
            <a:r>
              <a:rPr lang="en-US" sz="3600" dirty="0" smtClean="0">
                <a:solidFill>
                  <a:schemeClr val="tx1"/>
                </a:solidFill>
              </a:rPr>
              <a:t>To fix this, I have invented my own words, which I will use in class.</a:t>
            </a:r>
            <a:endParaRPr lang="en-US" sz="3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36147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31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30"/>
          <p:cNvGrpSpPr/>
          <p:nvPr/>
        </p:nvGrpSpPr>
        <p:grpSpPr>
          <a:xfrm>
            <a:off x="2341532" y="4434466"/>
            <a:ext cx="2075081" cy="2209800"/>
            <a:chOff x="2502694" y="4572000"/>
            <a:chExt cx="2075081" cy="2209800"/>
          </a:xfrm>
        </p:grpSpPr>
        <p:cxnSp>
          <p:nvCxnSpPr>
            <p:cNvPr id="32" name="Straight Arrow Connector 31"/>
            <p:cNvCxnSpPr/>
            <p:nvPr/>
          </p:nvCxnSpPr>
          <p:spPr>
            <a:xfrm>
              <a:off x="2688336" y="6620256"/>
              <a:ext cx="1883664" cy="0"/>
            </a:xfrm>
            <a:prstGeom prst="straightConnector1">
              <a:avLst/>
            </a:prstGeom>
            <a:ln w="31750">
              <a:solidFill>
                <a:schemeClr val="tx1"/>
              </a:solidFill>
              <a:headEnd type="none" w="med" len="med"/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/>
            <p:cNvCxnSpPr/>
            <p:nvPr/>
          </p:nvCxnSpPr>
          <p:spPr>
            <a:xfrm>
              <a:off x="2931855" y="4818282"/>
              <a:ext cx="1645920" cy="0"/>
            </a:xfrm>
            <a:prstGeom prst="straightConnector1">
              <a:avLst/>
            </a:prstGeom>
            <a:ln w="31750">
              <a:solidFill>
                <a:schemeClr val="tx1"/>
              </a:solidFill>
              <a:headEnd type="none" w="med" len="med"/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/>
            <p:cNvCxnSpPr/>
            <p:nvPr/>
          </p:nvCxnSpPr>
          <p:spPr>
            <a:xfrm>
              <a:off x="2931855" y="5202936"/>
              <a:ext cx="1645920" cy="0"/>
            </a:xfrm>
            <a:prstGeom prst="straightConnector1">
              <a:avLst/>
            </a:prstGeom>
            <a:ln w="31750">
              <a:solidFill>
                <a:schemeClr val="tx1"/>
              </a:solidFill>
              <a:headEnd type="none" w="med" len="med"/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/>
            <p:cNvCxnSpPr/>
            <p:nvPr/>
          </p:nvCxnSpPr>
          <p:spPr>
            <a:xfrm>
              <a:off x="2931855" y="5586984"/>
              <a:ext cx="1645920" cy="0"/>
            </a:xfrm>
            <a:prstGeom prst="straightConnector1">
              <a:avLst/>
            </a:prstGeom>
            <a:ln w="31750">
              <a:solidFill>
                <a:schemeClr val="tx1"/>
              </a:solidFill>
              <a:headEnd type="none" w="med" len="med"/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/>
            <p:cNvCxnSpPr/>
            <p:nvPr/>
          </p:nvCxnSpPr>
          <p:spPr>
            <a:xfrm>
              <a:off x="2931855" y="5971032"/>
              <a:ext cx="1645920" cy="0"/>
            </a:xfrm>
            <a:prstGeom prst="straightConnector1">
              <a:avLst/>
            </a:prstGeom>
            <a:ln w="31750">
              <a:solidFill>
                <a:schemeClr val="tx1"/>
              </a:solidFill>
              <a:headEnd type="none" w="med" len="med"/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Rectangle 36"/>
            <p:cNvSpPr/>
            <p:nvPr/>
          </p:nvSpPr>
          <p:spPr>
            <a:xfrm>
              <a:off x="2807494" y="4572000"/>
              <a:ext cx="685800" cy="457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/>
            <p:cNvSpPr/>
            <p:nvPr/>
          </p:nvSpPr>
          <p:spPr>
            <a:xfrm>
              <a:off x="2883694" y="5029200"/>
              <a:ext cx="1143000" cy="457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/>
            <p:cNvSpPr/>
            <p:nvPr/>
          </p:nvSpPr>
          <p:spPr>
            <a:xfrm>
              <a:off x="2578894" y="5410200"/>
              <a:ext cx="1086657" cy="457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/>
            <p:cNvSpPr/>
            <p:nvPr/>
          </p:nvSpPr>
          <p:spPr>
            <a:xfrm>
              <a:off x="2807494" y="5791200"/>
              <a:ext cx="1086657" cy="457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/>
            <p:cNvSpPr/>
            <p:nvPr/>
          </p:nvSpPr>
          <p:spPr>
            <a:xfrm>
              <a:off x="2502694" y="6324600"/>
              <a:ext cx="324657" cy="457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9" name="Group 18"/>
          <p:cNvGrpSpPr/>
          <p:nvPr/>
        </p:nvGrpSpPr>
        <p:grpSpPr>
          <a:xfrm flipH="1">
            <a:off x="5160932" y="4434466"/>
            <a:ext cx="2075079" cy="2209800"/>
            <a:chOff x="2502696" y="4572000"/>
            <a:chExt cx="2075079" cy="2209800"/>
          </a:xfrm>
        </p:grpSpPr>
        <p:cxnSp>
          <p:nvCxnSpPr>
            <p:cNvPr id="23" name="Straight Arrow Connector 22"/>
            <p:cNvCxnSpPr/>
            <p:nvPr/>
          </p:nvCxnSpPr>
          <p:spPr>
            <a:xfrm>
              <a:off x="2931855" y="5586984"/>
              <a:ext cx="1645920" cy="0"/>
            </a:xfrm>
            <a:prstGeom prst="straightConnector1">
              <a:avLst/>
            </a:prstGeom>
            <a:ln w="31750">
              <a:solidFill>
                <a:schemeClr val="tx1"/>
              </a:solidFill>
              <a:headEnd type="none" w="med" len="med"/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/>
            <p:cNvCxnSpPr/>
            <p:nvPr/>
          </p:nvCxnSpPr>
          <p:spPr>
            <a:xfrm>
              <a:off x="2694111" y="6620256"/>
              <a:ext cx="1883664" cy="0"/>
            </a:xfrm>
            <a:prstGeom prst="straightConnector1">
              <a:avLst/>
            </a:prstGeom>
            <a:ln w="31750">
              <a:solidFill>
                <a:schemeClr val="tx1"/>
              </a:solidFill>
              <a:headEnd type="none" w="med" len="med"/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/>
            <p:cNvCxnSpPr/>
            <p:nvPr/>
          </p:nvCxnSpPr>
          <p:spPr>
            <a:xfrm>
              <a:off x="2931855" y="4818282"/>
              <a:ext cx="1645920" cy="0"/>
            </a:xfrm>
            <a:prstGeom prst="straightConnector1">
              <a:avLst/>
            </a:prstGeom>
            <a:ln w="31750">
              <a:solidFill>
                <a:schemeClr val="tx1"/>
              </a:solidFill>
              <a:headEnd type="none" w="med" len="med"/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/>
            <p:cNvCxnSpPr/>
            <p:nvPr/>
          </p:nvCxnSpPr>
          <p:spPr>
            <a:xfrm>
              <a:off x="2931855" y="5202936"/>
              <a:ext cx="1645920" cy="0"/>
            </a:xfrm>
            <a:prstGeom prst="straightConnector1">
              <a:avLst/>
            </a:prstGeom>
            <a:ln w="31750">
              <a:solidFill>
                <a:schemeClr val="tx1"/>
              </a:solidFill>
              <a:headEnd type="none" w="med" len="med"/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/>
            <p:nvPr/>
          </p:nvCxnSpPr>
          <p:spPr>
            <a:xfrm>
              <a:off x="2931855" y="5971032"/>
              <a:ext cx="1645920" cy="0"/>
            </a:xfrm>
            <a:prstGeom prst="straightConnector1">
              <a:avLst/>
            </a:prstGeom>
            <a:ln w="31750">
              <a:solidFill>
                <a:schemeClr val="tx1"/>
              </a:solidFill>
              <a:headEnd type="none" w="med" len="med"/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Rectangle 24"/>
            <p:cNvSpPr/>
            <p:nvPr/>
          </p:nvSpPr>
          <p:spPr>
            <a:xfrm>
              <a:off x="2807494" y="4572000"/>
              <a:ext cx="779681" cy="457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2883695" y="5029200"/>
              <a:ext cx="627281" cy="457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2578895" y="5410200"/>
              <a:ext cx="932081" cy="457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2807495" y="5791200"/>
              <a:ext cx="932081" cy="457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2502696" y="6324600"/>
              <a:ext cx="779680" cy="457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4578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4400" dirty="0" smtClean="0">
                <a:solidFill>
                  <a:srgbClr val="0070C0"/>
                </a:solidFill>
              </a:rPr>
              <a:t>Python Lists:</a:t>
            </a:r>
          </a:p>
        </p:txBody>
      </p:sp>
      <p:sp>
        <p:nvSpPr>
          <p:cNvPr id="24579" name="Content Placeholder 2"/>
          <p:cNvSpPr>
            <a:spLocks noGrp="1"/>
          </p:cNvSpPr>
          <p:nvPr>
            <p:ph idx="1"/>
          </p:nvPr>
        </p:nvSpPr>
        <p:spPr>
          <a:xfrm>
            <a:off x="292894" y="1066800"/>
            <a:ext cx="9059037" cy="5653665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spcAft>
                <a:spcPts val="1500"/>
              </a:spcAft>
            </a:pPr>
            <a:r>
              <a:rPr lang="en-US" altLang="en-US" sz="3600" dirty="0"/>
              <a:t>A list contains items separated by commas and enclosed within square </a:t>
            </a:r>
            <a:r>
              <a:rPr lang="en-US" altLang="en-US" sz="3600" dirty="0" smtClean="0"/>
              <a:t>brackets, </a:t>
            </a:r>
            <a:r>
              <a:rPr lang="en-US" altLang="en-US" sz="3600" b="1" dirty="0" smtClean="0"/>
              <a:t>[ ]</a:t>
            </a:r>
            <a:r>
              <a:rPr lang="en-US" altLang="en-US" sz="3600" dirty="0" smtClean="0"/>
              <a:t>.</a:t>
            </a:r>
            <a:endParaRPr lang="en-US" altLang="en-US" sz="3600" dirty="0"/>
          </a:p>
          <a:p>
            <a:pPr>
              <a:spcBef>
                <a:spcPts val="0"/>
              </a:spcBef>
              <a:spcAft>
                <a:spcPts val="1500"/>
              </a:spcAft>
            </a:pPr>
            <a:r>
              <a:rPr lang="en-US" altLang="en-US" sz="3600" dirty="0"/>
              <a:t>Lists are similar to arrays in </a:t>
            </a:r>
            <a:r>
              <a:rPr lang="en-US" altLang="en-US" sz="3600" dirty="0" smtClean="0"/>
              <a:t>C.</a:t>
            </a:r>
            <a:br>
              <a:rPr lang="en-US" altLang="en-US" sz="3600" dirty="0" smtClean="0"/>
            </a:br>
            <a:r>
              <a:rPr lang="en-US" altLang="en-US" sz="3600" dirty="0" smtClean="0"/>
              <a:t>But </a:t>
            </a:r>
            <a:r>
              <a:rPr lang="en-US" altLang="en-US" sz="3600" dirty="0"/>
              <a:t>items in a list can be different data types.</a:t>
            </a:r>
          </a:p>
          <a:p>
            <a:pPr>
              <a:lnSpc>
                <a:spcPct val="80000"/>
              </a:lnSpc>
              <a:spcBef>
                <a:spcPts val="0"/>
              </a:spcBef>
            </a:pPr>
            <a:r>
              <a:rPr lang="en-US" altLang="en-US" sz="3600" dirty="0"/>
              <a:t>The </a:t>
            </a:r>
            <a:r>
              <a:rPr lang="en-US" altLang="en-US" sz="3600" dirty="0" smtClean="0"/>
              <a:t>stored values are accessed by </a:t>
            </a:r>
            <a:r>
              <a:rPr lang="en-US" altLang="en-US" sz="3600" dirty="0"/>
              <a:t>the slice </a:t>
            </a:r>
            <a:r>
              <a:rPr lang="en-US" altLang="en-US" sz="3600" dirty="0" smtClean="0"/>
              <a:t>operators </a:t>
            </a:r>
            <a:r>
              <a:rPr lang="en-US" altLang="en-US" sz="3600" dirty="0"/>
              <a:t>( [ ] and [ : ] </a:t>
            </a:r>
            <a:r>
              <a:rPr lang="en-US" altLang="en-US" sz="3600" spc="-500" dirty="0"/>
              <a:t>)</a:t>
            </a:r>
            <a:r>
              <a:rPr lang="en-US" altLang="en-US" sz="3600" dirty="0"/>
              <a:t> </a:t>
            </a:r>
            <a:r>
              <a:rPr lang="en-US" altLang="en-US" sz="3600" dirty="0" smtClean="0"/>
              <a:t>.  Indices count from 0:</a:t>
            </a:r>
          </a:p>
          <a:p>
            <a:pPr marL="364871" lvl="1" indent="0">
              <a:spcBef>
                <a:spcPts val="1200"/>
              </a:spcBef>
              <a:buNone/>
            </a:pPr>
            <a:r>
              <a:rPr lang="en-US" altLang="en-US" sz="2800" dirty="0" smtClean="0"/>
              <a:t>First (1</a:t>
            </a:r>
            <a:r>
              <a:rPr lang="en-US" altLang="en-US" sz="2800" baseline="30000" dirty="0" smtClean="0"/>
              <a:t>st</a:t>
            </a:r>
            <a:r>
              <a:rPr lang="en-US" altLang="en-US" sz="2800" dirty="0" smtClean="0"/>
              <a:t>) element 	 </a:t>
            </a:r>
            <a:r>
              <a:rPr lang="en-US" altLang="en-US" sz="2800" dirty="0">
                <a:solidFill>
                  <a:schemeClr val="bg1"/>
                </a:solidFill>
              </a:rPr>
              <a:t> </a:t>
            </a:r>
            <a:r>
              <a:rPr lang="en-US" altLang="en-US" sz="2800" dirty="0" smtClean="0">
                <a:solidFill>
                  <a:schemeClr val="bg1"/>
                </a:solidFill>
              </a:rPr>
              <a:t>   </a:t>
            </a:r>
            <a:r>
              <a:rPr lang="en-US" altLang="en-US" sz="1500" dirty="0" smtClean="0">
                <a:solidFill>
                  <a:schemeClr val="bg1"/>
                </a:solidFill>
              </a:rPr>
              <a:t> </a:t>
            </a:r>
            <a:r>
              <a:rPr lang="en-US" altLang="en-US" sz="2800" dirty="0" smtClean="0"/>
              <a:t>L[0] 		</a:t>
            </a:r>
            <a:r>
              <a:rPr lang="en-US" altLang="en-US" sz="2800" dirty="0" smtClean="0">
                <a:solidFill>
                  <a:srgbClr val="ED7D31"/>
                </a:solidFill>
              </a:rPr>
              <a:t>Zeroth</a:t>
            </a:r>
            <a:r>
              <a:rPr lang="en-US" altLang="en-US" sz="2800" dirty="0" smtClean="0"/>
              <a:t> </a:t>
            </a:r>
            <a:r>
              <a:rPr lang="en-US" altLang="en-US" sz="2800" dirty="0" smtClean="0">
                <a:solidFill>
                  <a:srgbClr val="ED7D31"/>
                </a:solidFill>
              </a:rPr>
              <a:t>(0</a:t>
            </a:r>
            <a:r>
              <a:rPr lang="en-US" altLang="en-US" sz="2800" baseline="30000" dirty="0" smtClean="0">
                <a:solidFill>
                  <a:srgbClr val="ED7D31"/>
                </a:solidFill>
              </a:rPr>
              <a:t>th</a:t>
            </a:r>
            <a:r>
              <a:rPr lang="en-US" altLang="en-US" sz="2800" dirty="0" smtClean="0">
                <a:solidFill>
                  <a:srgbClr val="ED7D31"/>
                </a:solidFill>
              </a:rPr>
              <a:t>) </a:t>
            </a:r>
            <a:r>
              <a:rPr lang="en-US" altLang="en-US" sz="2800" dirty="0" smtClean="0"/>
              <a:t>element </a:t>
            </a:r>
          </a:p>
          <a:p>
            <a:pPr marL="364871" lvl="1" indent="0">
              <a:spcBef>
                <a:spcPts val="0"/>
              </a:spcBef>
              <a:buNone/>
            </a:pPr>
            <a:r>
              <a:rPr lang="en-US" altLang="en-US" sz="2800" dirty="0" smtClean="0"/>
              <a:t>Second (2</a:t>
            </a:r>
            <a:r>
              <a:rPr lang="en-US" altLang="en-US" sz="2800" baseline="30000" dirty="0" smtClean="0"/>
              <a:t>nd</a:t>
            </a:r>
            <a:r>
              <a:rPr lang="en-US" altLang="en-US" sz="2800" dirty="0" smtClean="0"/>
              <a:t>) element</a:t>
            </a:r>
            <a:r>
              <a:rPr lang="en-US" altLang="en-US" sz="1050" dirty="0" smtClean="0"/>
              <a:t> 	</a:t>
            </a:r>
            <a:r>
              <a:rPr lang="en-US" altLang="en-US" sz="2800" dirty="0" smtClean="0"/>
              <a:t> </a:t>
            </a:r>
            <a:r>
              <a:rPr lang="en-US" altLang="en-US" sz="2800" dirty="0">
                <a:solidFill>
                  <a:schemeClr val="bg1"/>
                </a:solidFill>
              </a:rPr>
              <a:t> </a:t>
            </a:r>
            <a:r>
              <a:rPr lang="en-US" altLang="en-US" sz="2800" dirty="0" smtClean="0">
                <a:solidFill>
                  <a:schemeClr val="bg1"/>
                </a:solidFill>
              </a:rPr>
              <a:t>   </a:t>
            </a:r>
            <a:r>
              <a:rPr lang="en-US" altLang="en-US" sz="1500" dirty="0" smtClean="0">
                <a:solidFill>
                  <a:schemeClr val="bg1"/>
                </a:solidFill>
              </a:rPr>
              <a:t> </a:t>
            </a:r>
            <a:r>
              <a:rPr lang="en-US" altLang="en-US" sz="2800" dirty="0" smtClean="0"/>
              <a:t>L[1] 		</a:t>
            </a:r>
            <a:r>
              <a:rPr lang="en-US" altLang="en-US" sz="2000" dirty="0" smtClean="0"/>
              <a:t> </a:t>
            </a:r>
            <a:r>
              <a:rPr lang="en-US" altLang="en-US" sz="2800" dirty="0" err="1" smtClean="0">
                <a:solidFill>
                  <a:srgbClr val="ED7D31"/>
                </a:solidFill>
              </a:rPr>
              <a:t>Oneth</a:t>
            </a:r>
            <a:r>
              <a:rPr lang="en-US" altLang="en-US" sz="2800" dirty="0" smtClean="0">
                <a:solidFill>
                  <a:srgbClr val="ED7D31"/>
                </a:solidFill>
              </a:rPr>
              <a:t> (1</a:t>
            </a:r>
            <a:r>
              <a:rPr lang="en-US" altLang="en-US" sz="2800" baseline="30000" dirty="0" smtClean="0">
                <a:solidFill>
                  <a:srgbClr val="ED7D31"/>
                </a:solidFill>
              </a:rPr>
              <a:t>th</a:t>
            </a:r>
            <a:r>
              <a:rPr lang="en-US" altLang="en-US" sz="2800" dirty="0" smtClean="0">
                <a:solidFill>
                  <a:srgbClr val="ED7D31"/>
                </a:solidFill>
              </a:rPr>
              <a:t>) </a:t>
            </a:r>
            <a:r>
              <a:rPr lang="en-US" altLang="en-US" sz="2800" dirty="0"/>
              <a:t>element </a:t>
            </a:r>
            <a:endParaRPr lang="en-US" altLang="en-US" sz="2800" dirty="0" smtClean="0"/>
          </a:p>
          <a:p>
            <a:pPr marL="364871" lvl="1" indent="0">
              <a:spcBef>
                <a:spcPts val="0"/>
              </a:spcBef>
              <a:buNone/>
            </a:pPr>
            <a:r>
              <a:rPr lang="en-US" altLang="en-US" sz="2800" dirty="0"/>
              <a:t>Third (3</a:t>
            </a:r>
            <a:r>
              <a:rPr lang="en-US" altLang="en-US" sz="2800" baseline="30000" dirty="0"/>
              <a:t>rd</a:t>
            </a:r>
            <a:r>
              <a:rPr lang="en-US" altLang="en-US" sz="2800" dirty="0"/>
              <a:t>) element 	</a:t>
            </a:r>
            <a:r>
              <a:rPr lang="en-US" altLang="en-US" sz="2800" dirty="0" smtClean="0"/>
              <a:t> </a:t>
            </a:r>
            <a:r>
              <a:rPr lang="en-US" altLang="en-US" sz="2800" dirty="0">
                <a:solidFill>
                  <a:schemeClr val="bg1"/>
                </a:solidFill>
              </a:rPr>
              <a:t> </a:t>
            </a:r>
            <a:r>
              <a:rPr lang="en-US" altLang="en-US" sz="2800" dirty="0" smtClean="0">
                <a:solidFill>
                  <a:schemeClr val="bg1"/>
                </a:solidFill>
              </a:rPr>
              <a:t>   </a:t>
            </a:r>
            <a:r>
              <a:rPr lang="en-US" altLang="en-US" sz="1500" dirty="0" smtClean="0">
                <a:solidFill>
                  <a:schemeClr val="bg1"/>
                </a:solidFill>
              </a:rPr>
              <a:t> </a:t>
            </a:r>
            <a:r>
              <a:rPr lang="en-US" altLang="en-US" sz="2800" dirty="0"/>
              <a:t>L[2] 		</a:t>
            </a:r>
            <a:r>
              <a:rPr lang="en-US" altLang="en-US" sz="2000" dirty="0" smtClean="0"/>
              <a:t> </a:t>
            </a:r>
            <a:r>
              <a:rPr lang="en-US" altLang="en-US" sz="2800" dirty="0" err="1" smtClean="0">
                <a:solidFill>
                  <a:srgbClr val="ED7D31"/>
                </a:solidFill>
              </a:rPr>
              <a:t>Twoth</a:t>
            </a:r>
            <a:r>
              <a:rPr lang="en-US" altLang="en-US" sz="2800" dirty="0" smtClean="0">
                <a:solidFill>
                  <a:srgbClr val="ED7D31"/>
                </a:solidFill>
              </a:rPr>
              <a:t> </a:t>
            </a:r>
            <a:r>
              <a:rPr lang="en-US" altLang="en-US" sz="2800" dirty="0">
                <a:solidFill>
                  <a:srgbClr val="ED7D31"/>
                </a:solidFill>
              </a:rPr>
              <a:t>(2</a:t>
            </a:r>
            <a:r>
              <a:rPr lang="en-US" altLang="en-US" sz="2800" baseline="30000" dirty="0">
                <a:solidFill>
                  <a:srgbClr val="ED7D31"/>
                </a:solidFill>
              </a:rPr>
              <a:t>th</a:t>
            </a:r>
            <a:r>
              <a:rPr lang="en-US" altLang="en-US" sz="2800" dirty="0">
                <a:solidFill>
                  <a:srgbClr val="ED7D31"/>
                </a:solidFill>
              </a:rPr>
              <a:t>) </a:t>
            </a:r>
            <a:r>
              <a:rPr lang="en-US" altLang="en-US" sz="2800" dirty="0"/>
              <a:t>element </a:t>
            </a:r>
          </a:p>
          <a:p>
            <a:pPr marL="364871" lvl="1" indent="0">
              <a:spcBef>
                <a:spcPts val="0"/>
              </a:spcBef>
              <a:buNone/>
            </a:pPr>
            <a:r>
              <a:rPr lang="en-US" altLang="en-US" sz="2800" dirty="0" smtClean="0"/>
              <a:t>Fourth (4</a:t>
            </a:r>
            <a:r>
              <a:rPr lang="en-US" altLang="en-US" sz="2800" baseline="30000" dirty="0" smtClean="0"/>
              <a:t>th</a:t>
            </a:r>
            <a:r>
              <a:rPr lang="en-US" altLang="en-US" sz="2800" dirty="0" smtClean="0"/>
              <a:t>) element 	 </a:t>
            </a:r>
            <a:r>
              <a:rPr lang="en-US" altLang="en-US" sz="2800" dirty="0">
                <a:solidFill>
                  <a:schemeClr val="bg1"/>
                </a:solidFill>
              </a:rPr>
              <a:t> </a:t>
            </a:r>
            <a:r>
              <a:rPr lang="en-US" altLang="en-US" sz="2800" dirty="0" smtClean="0">
                <a:solidFill>
                  <a:schemeClr val="bg1"/>
                </a:solidFill>
              </a:rPr>
              <a:t>   </a:t>
            </a:r>
            <a:r>
              <a:rPr lang="en-US" altLang="en-US" sz="1500" dirty="0" smtClean="0">
                <a:solidFill>
                  <a:schemeClr val="bg1"/>
                </a:solidFill>
              </a:rPr>
              <a:t> </a:t>
            </a:r>
            <a:r>
              <a:rPr lang="en-US" altLang="en-US" sz="2800" dirty="0" smtClean="0"/>
              <a:t>L[3] 	      </a:t>
            </a:r>
            <a:r>
              <a:rPr lang="en-US" altLang="en-US" sz="2000" dirty="0" smtClean="0"/>
              <a:t> </a:t>
            </a:r>
            <a:r>
              <a:rPr lang="en-US" altLang="en-US" sz="200" dirty="0" smtClean="0"/>
              <a:t> </a:t>
            </a:r>
            <a:r>
              <a:rPr lang="en-US" altLang="en-US" sz="2800" dirty="0" err="1" smtClean="0">
                <a:solidFill>
                  <a:srgbClr val="ED7D31"/>
                </a:solidFill>
              </a:rPr>
              <a:t>Threeth</a:t>
            </a:r>
            <a:r>
              <a:rPr lang="en-US" altLang="en-US" sz="2800" dirty="0" smtClean="0">
                <a:solidFill>
                  <a:srgbClr val="ED7D31"/>
                </a:solidFill>
              </a:rPr>
              <a:t> (3</a:t>
            </a:r>
            <a:r>
              <a:rPr lang="en-US" altLang="en-US" sz="2800" baseline="30000" dirty="0" smtClean="0">
                <a:solidFill>
                  <a:srgbClr val="ED7D31"/>
                </a:solidFill>
              </a:rPr>
              <a:t>th</a:t>
            </a:r>
            <a:r>
              <a:rPr lang="en-US" altLang="en-US" sz="2800" dirty="0" smtClean="0">
                <a:solidFill>
                  <a:srgbClr val="ED7D31"/>
                </a:solidFill>
              </a:rPr>
              <a:t>) </a:t>
            </a:r>
            <a:r>
              <a:rPr lang="en-US" altLang="en-US" sz="2800" dirty="0"/>
              <a:t>element </a:t>
            </a:r>
            <a:endParaRPr lang="en-US" altLang="en-US" sz="2800" dirty="0" smtClean="0"/>
          </a:p>
          <a:p>
            <a:pPr marL="364871" lvl="1" indent="0">
              <a:lnSpc>
                <a:spcPct val="60000"/>
              </a:lnSpc>
              <a:spcBef>
                <a:spcPts val="0"/>
              </a:spcBef>
              <a:buNone/>
            </a:pPr>
            <a:r>
              <a:rPr lang="en-US" altLang="en-US" sz="2800" spc="500" dirty="0" smtClean="0"/>
              <a:t>  </a:t>
            </a:r>
            <a:r>
              <a:rPr lang="en-US" altLang="en-US" sz="2800" spc="1000" dirty="0" smtClean="0"/>
              <a:t> </a:t>
            </a:r>
            <a:r>
              <a:rPr lang="en-US" altLang="en-US" sz="2800" spc="2500" dirty="0" smtClean="0"/>
              <a:t>...							</a:t>
            </a:r>
            <a:r>
              <a:rPr lang="en-US" altLang="en-US" sz="2800" spc="1000" dirty="0" smtClean="0"/>
              <a:t>  </a:t>
            </a:r>
            <a:r>
              <a:rPr lang="en-US" altLang="en-US" sz="2800" dirty="0" smtClean="0"/>
              <a:t> </a:t>
            </a:r>
            <a:r>
              <a:rPr lang="en-US" altLang="en-US" sz="2800" spc="2500" dirty="0" smtClean="0"/>
              <a:t>...</a:t>
            </a:r>
          </a:p>
          <a:p>
            <a:pPr marL="364871" lvl="1" indent="0">
              <a:lnSpc>
                <a:spcPct val="70000"/>
              </a:lnSpc>
              <a:spcBef>
                <a:spcPts val="600"/>
              </a:spcBef>
              <a:spcAft>
                <a:spcPts val="1800"/>
              </a:spcAft>
              <a:buNone/>
            </a:pPr>
            <a:r>
              <a:rPr lang="en-US" altLang="en-US" sz="2800" dirty="0"/>
              <a:t>Last element 	      </a:t>
            </a:r>
            <a:r>
              <a:rPr lang="en-US" altLang="en-US" sz="1000" dirty="0"/>
              <a:t>   </a:t>
            </a:r>
            <a:r>
              <a:rPr lang="en-US" altLang="en-US" sz="2800" dirty="0">
                <a:solidFill>
                  <a:schemeClr val="bg1"/>
                </a:solidFill>
              </a:rPr>
              <a:t> 	    </a:t>
            </a:r>
            <a:r>
              <a:rPr lang="en-US" altLang="en-US" sz="1600" dirty="0">
                <a:solidFill>
                  <a:schemeClr val="bg1"/>
                </a:solidFill>
              </a:rPr>
              <a:t> </a:t>
            </a:r>
            <a:r>
              <a:rPr lang="en-US" altLang="en-US" sz="1500" dirty="0">
                <a:solidFill>
                  <a:schemeClr val="bg1"/>
                </a:solidFill>
              </a:rPr>
              <a:t> </a:t>
            </a:r>
            <a:r>
              <a:rPr lang="en-US" altLang="en-US" sz="2800" dirty="0"/>
              <a:t>L[-1</a:t>
            </a:r>
            <a:r>
              <a:rPr lang="en-US" altLang="en-US" sz="2800" dirty="0" smtClean="0"/>
              <a:t>] 	</a:t>
            </a:r>
            <a:r>
              <a:rPr lang="en-US" altLang="en-US" sz="2800" dirty="0"/>
              <a:t>	 </a:t>
            </a:r>
            <a:r>
              <a:rPr lang="en-US" altLang="en-US" sz="2800" dirty="0" smtClean="0"/>
              <a:t>  </a:t>
            </a:r>
            <a:r>
              <a:rPr lang="en-US" altLang="en-US" sz="1400" dirty="0" smtClean="0"/>
              <a:t> </a:t>
            </a:r>
            <a:r>
              <a:rPr lang="en-US" altLang="en-US" sz="2800" dirty="0" smtClean="0">
                <a:solidFill>
                  <a:srgbClr val="ED7D31"/>
                </a:solidFill>
              </a:rPr>
              <a:t>Back-first </a:t>
            </a:r>
            <a:r>
              <a:rPr lang="en-US" altLang="en-US" sz="2800" dirty="0"/>
              <a:t>element </a:t>
            </a:r>
            <a:endParaRPr lang="en-US" altLang="en-US" sz="3281" dirty="0" smtClean="0"/>
          </a:p>
        </p:txBody>
      </p:sp>
      <p:sp>
        <p:nvSpPr>
          <p:cNvPr id="42" name="Rounded Rectangular Callout 41"/>
          <p:cNvSpPr/>
          <p:nvPr/>
        </p:nvSpPr>
        <p:spPr>
          <a:xfrm>
            <a:off x="5618132" y="2224666"/>
            <a:ext cx="3733800" cy="1905000"/>
          </a:xfrm>
          <a:prstGeom prst="wedgeRoundRectCallout">
            <a:avLst>
              <a:gd name="adj1" fmla="val -19176"/>
              <a:gd name="adj2" fmla="val 79188"/>
              <a:gd name="adj3" fmla="val 16667"/>
            </a:avLst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0000"/>
              </a:lnSpc>
            </a:pPr>
            <a:r>
              <a:rPr lang="en-US" sz="3600" dirty="0" smtClean="0">
                <a:solidFill>
                  <a:schemeClr val="tx1"/>
                </a:solidFill>
              </a:rPr>
              <a:t>To fix this, I have invented my own words, which I will use in class.</a:t>
            </a:r>
            <a:endParaRPr lang="en-US" sz="3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22160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/>
          <p:cNvGrpSpPr/>
          <p:nvPr/>
        </p:nvGrpSpPr>
        <p:grpSpPr>
          <a:xfrm>
            <a:off x="3584351" y="4830912"/>
            <a:ext cx="2144543" cy="395312"/>
            <a:chOff x="3584351" y="4830912"/>
            <a:chExt cx="2144543" cy="395312"/>
          </a:xfrm>
        </p:grpSpPr>
        <p:sp>
          <p:nvSpPr>
            <p:cNvPr id="20" name="Left Brace 19"/>
            <p:cNvSpPr/>
            <p:nvPr/>
          </p:nvSpPr>
          <p:spPr>
            <a:xfrm rot="5400000" flipV="1">
              <a:off x="4558111" y="4055441"/>
              <a:ext cx="197023" cy="2144543"/>
            </a:xfrm>
            <a:prstGeom prst="leftBrace">
              <a:avLst>
                <a:gd name="adj1" fmla="val 53445"/>
                <a:gd name="adj2" fmla="val 49764"/>
              </a:avLst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4506325" y="4830912"/>
              <a:ext cx="282369" cy="1982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098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>
                <a:solidFill>
                  <a:srgbClr val="0070C0"/>
                </a:solidFill>
              </a:rPr>
              <a:t>Accessing Values in Lists:</a:t>
            </a:r>
          </a:p>
        </p:txBody>
      </p:sp>
      <p:sp>
        <p:nvSpPr>
          <p:cNvPr id="4099" name="Content Placeholder 2"/>
          <p:cNvSpPr>
            <a:spLocks noGrp="1"/>
          </p:cNvSpPr>
          <p:nvPr>
            <p:ph idx="1"/>
          </p:nvPr>
        </p:nvSpPr>
        <p:spPr>
          <a:xfrm>
            <a:off x="285134" y="1042220"/>
            <a:ext cx="9151759" cy="1700980"/>
          </a:xfrm>
        </p:spPr>
        <p:txBody>
          <a:bodyPr>
            <a:noAutofit/>
          </a:bodyPr>
          <a:lstStyle/>
          <a:p>
            <a:r>
              <a:rPr lang="en-US" sz="3600" dirty="0" smtClean="0"/>
              <a:t>Use </a:t>
            </a:r>
            <a:r>
              <a:rPr lang="en-US" sz="3600" dirty="0"/>
              <a:t>the square brackets for slicing along with the index or indices to obtain </a:t>
            </a:r>
            <a:r>
              <a:rPr lang="en-US" sz="3600" dirty="0" smtClean="0"/>
              <a:t>the value (or values) at </a:t>
            </a:r>
            <a:r>
              <a:rPr lang="en-US" sz="3600" dirty="0"/>
              <a:t>that </a:t>
            </a:r>
            <a:r>
              <a:rPr lang="en-US" sz="3600" dirty="0" smtClean="0"/>
              <a:t>index (or index range):</a:t>
            </a:r>
            <a:endParaRPr lang="en-US" sz="2935" b="1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292894" y="2590800"/>
            <a:ext cx="9151759" cy="41885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09672" indent="-209672" algn="l" defTabSz="838688" rtl="0" eaLnBrk="1" latinLnBrk="0" hangingPunct="1">
              <a:lnSpc>
                <a:spcPct val="90000"/>
              </a:lnSpc>
              <a:spcBef>
                <a:spcPts val="917"/>
              </a:spcBef>
              <a:buFont typeface="Arial" panose="020B0604020202020204" pitchFamily="34" charset="0"/>
              <a:buChar char="•"/>
              <a:defRPr sz="36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9016" indent="-209672" algn="l" defTabSz="838688" rtl="0" eaLnBrk="1" latinLnBrk="0" hangingPunct="1">
              <a:lnSpc>
                <a:spcPct val="90000"/>
              </a:lnSpc>
              <a:spcBef>
                <a:spcPts val="459"/>
              </a:spcBef>
              <a:buFont typeface="Arial" panose="020B0604020202020204" pitchFamily="34" charset="0"/>
              <a:buChar char="•"/>
              <a:defRPr sz="33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48360" indent="-209672" algn="l" defTabSz="838688" rtl="0" eaLnBrk="1" latinLnBrk="0" hangingPunct="1">
              <a:lnSpc>
                <a:spcPct val="90000"/>
              </a:lnSpc>
              <a:spcBef>
                <a:spcPts val="459"/>
              </a:spcBef>
              <a:buFont typeface="Arial" panose="020B0604020202020204" pitchFamily="34" charset="0"/>
              <a:buChar char="•"/>
              <a:defRPr sz="293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67703" indent="-209672" algn="l" defTabSz="838688" rtl="0" eaLnBrk="1" latinLnBrk="0" hangingPunct="1">
              <a:lnSpc>
                <a:spcPct val="90000"/>
              </a:lnSpc>
              <a:spcBef>
                <a:spcPts val="459"/>
              </a:spcBef>
              <a:buFont typeface="Arial" panose="020B0604020202020204" pitchFamily="34" charset="0"/>
              <a:buChar char="•"/>
              <a:defRPr sz="25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87047" indent="-209672" algn="l" defTabSz="838688" rtl="0" eaLnBrk="1" latinLnBrk="0" hangingPunct="1">
              <a:lnSpc>
                <a:spcPct val="90000"/>
              </a:lnSpc>
              <a:spcBef>
                <a:spcPts val="459"/>
              </a:spcBef>
              <a:buFont typeface="Arial" panose="020B0604020202020204" pitchFamily="34" charset="0"/>
              <a:buChar char="•"/>
              <a:defRPr sz="25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06391" indent="-209672" algn="l" defTabSz="838688" rtl="0" eaLnBrk="1" latinLnBrk="0" hangingPunct="1">
              <a:lnSpc>
                <a:spcPct val="90000"/>
              </a:lnSpc>
              <a:spcBef>
                <a:spcPts val="459"/>
              </a:spcBef>
              <a:buFont typeface="Arial" panose="020B0604020202020204" pitchFamily="34" charset="0"/>
              <a:buChar char="•"/>
              <a:defRPr sz="165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25735" indent="-209672" algn="l" defTabSz="838688" rtl="0" eaLnBrk="1" latinLnBrk="0" hangingPunct="1">
              <a:lnSpc>
                <a:spcPct val="90000"/>
              </a:lnSpc>
              <a:spcBef>
                <a:spcPts val="459"/>
              </a:spcBef>
              <a:buFont typeface="Arial" panose="020B0604020202020204" pitchFamily="34" charset="0"/>
              <a:buChar char="•"/>
              <a:defRPr sz="165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45079" indent="-209672" algn="l" defTabSz="838688" rtl="0" eaLnBrk="1" latinLnBrk="0" hangingPunct="1">
              <a:lnSpc>
                <a:spcPct val="90000"/>
              </a:lnSpc>
              <a:spcBef>
                <a:spcPts val="459"/>
              </a:spcBef>
              <a:buFont typeface="Arial" panose="020B0604020202020204" pitchFamily="34" charset="0"/>
              <a:buChar char="•"/>
              <a:defRPr sz="165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564423" indent="-209672" algn="l" defTabSz="838688" rtl="0" eaLnBrk="1" latinLnBrk="0" hangingPunct="1">
              <a:lnSpc>
                <a:spcPct val="90000"/>
              </a:lnSpc>
              <a:spcBef>
                <a:spcPts val="459"/>
              </a:spcBef>
              <a:buFont typeface="Arial" panose="020B0604020202020204" pitchFamily="34" charset="0"/>
              <a:buChar char="•"/>
              <a:defRPr sz="165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buFont typeface="Arial" panose="020B0604020202020204" pitchFamily="34" charset="0"/>
              <a:buNone/>
            </a:pPr>
            <a:endParaRPr lang="en-US" sz="1600" spc="-30" dirty="0" smtClean="0">
              <a:solidFill>
                <a:schemeClr val="accent4">
                  <a:lumMod val="60000"/>
                  <a:lumOff val="40000"/>
                </a:schemeClr>
              </a:solidFill>
              <a:latin typeface="Lucida Console" panose="020B0609040504020204" pitchFamily="49" charset="0"/>
              <a:cs typeface="Courier New" pitchFamily="49" charset="0"/>
            </a:endParaRPr>
          </a:p>
          <a:p>
            <a:pPr lvl="1">
              <a:buFont typeface="Arial" panose="020B0604020202020204" pitchFamily="34" charset="0"/>
              <a:buNone/>
            </a:pPr>
            <a:r>
              <a:rPr lang="en-US" sz="2800" spc="-60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  <a:r>
              <a:rPr lang="en-US" sz="2800" spc="-60" dirty="0" smtClean="0">
                <a:latin typeface="Lucida Console" panose="020B0609040504020204" pitchFamily="49" charset="0"/>
                <a:cs typeface="Courier New" pitchFamily="49" charset="0"/>
              </a:rPr>
              <a:t> list1 = [1, 2, 3, 4, 5, 6, 7]; </a:t>
            </a:r>
          </a:p>
          <a:p>
            <a:pPr lvl="1">
              <a:buFontTx/>
              <a:buNone/>
            </a:pPr>
            <a:r>
              <a:rPr lang="en-US" sz="2800" spc="-60" dirty="0" smtClean="0">
                <a:solidFill>
                  <a:schemeClr val="bg1"/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  <a:r>
              <a:rPr lang="en-US" sz="2800" spc="-60" dirty="0" smtClean="0">
                <a:latin typeface="Lucida Console" panose="020B0609040504020204" pitchFamily="49" charset="0"/>
                <a:cs typeface="Courier New" pitchFamily="49" charset="0"/>
              </a:rPr>
              <a:t> list2 = [</a:t>
            </a:r>
            <a:r>
              <a:rPr lang="en-US" sz="2800" spc="-200" dirty="0" smtClean="0">
                <a:latin typeface="Lucida Console" panose="020B0609040504020204" pitchFamily="49" charset="0"/>
                <a:cs typeface="Courier New" pitchFamily="49" charset="0"/>
              </a:rPr>
              <a:t>'</a:t>
            </a:r>
            <a:r>
              <a:rPr lang="en-US" sz="2800" spc="-60" dirty="0" err="1" smtClean="0">
                <a:latin typeface="Lucida Console" panose="020B0609040504020204" pitchFamily="49" charset="0"/>
                <a:cs typeface="Courier New" pitchFamily="49" charset="0"/>
              </a:rPr>
              <a:t>phys</a:t>
            </a:r>
            <a:r>
              <a:rPr lang="en-US" sz="2800" spc="-400" dirty="0" smtClean="0">
                <a:latin typeface="Lucida Console" panose="020B0609040504020204" pitchFamily="49" charset="0"/>
                <a:cs typeface="Courier New" pitchFamily="49" charset="0"/>
              </a:rPr>
              <a:t>'</a:t>
            </a:r>
            <a:r>
              <a:rPr lang="en-US" sz="2800" spc="-60" dirty="0" smtClean="0">
                <a:latin typeface="Lucida Console" panose="020B0609040504020204" pitchFamily="49" charset="0"/>
                <a:cs typeface="Courier New" pitchFamily="49" charset="0"/>
              </a:rPr>
              <a:t>, </a:t>
            </a:r>
            <a:r>
              <a:rPr lang="en-US" sz="2800" spc="-200" dirty="0" smtClean="0">
                <a:latin typeface="Lucida Console" panose="020B0609040504020204" pitchFamily="49" charset="0"/>
                <a:cs typeface="Courier New" pitchFamily="49" charset="0"/>
              </a:rPr>
              <a:t>'</a:t>
            </a:r>
            <a:r>
              <a:rPr lang="en-US" sz="2800" spc="-60" dirty="0" err="1" smtClean="0">
                <a:latin typeface="Lucida Console" panose="020B0609040504020204" pitchFamily="49" charset="0"/>
                <a:cs typeface="Courier New" pitchFamily="49" charset="0"/>
              </a:rPr>
              <a:t>chem</a:t>
            </a:r>
            <a:r>
              <a:rPr lang="en-US" sz="2800" spc="-400" dirty="0" smtClean="0">
                <a:latin typeface="Lucida Console" panose="020B0609040504020204" pitchFamily="49" charset="0"/>
                <a:cs typeface="Courier New" pitchFamily="49" charset="0"/>
              </a:rPr>
              <a:t>'</a:t>
            </a:r>
            <a:r>
              <a:rPr lang="en-US" sz="2800" spc="-60" dirty="0" smtClean="0">
                <a:latin typeface="Lucida Console" panose="020B0609040504020204" pitchFamily="49" charset="0"/>
                <a:cs typeface="Courier New" pitchFamily="49" charset="0"/>
              </a:rPr>
              <a:t>, 201</a:t>
            </a:r>
            <a:r>
              <a:rPr lang="en-US" sz="2800" spc="-400" dirty="0" smtClean="0">
                <a:latin typeface="Lucida Console" panose="020B0609040504020204" pitchFamily="49" charset="0"/>
                <a:cs typeface="Courier New" pitchFamily="49" charset="0"/>
              </a:rPr>
              <a:t>7</a:t>
            </a:r>
            <a:r>
              <a:rPr lang="en-US" sz="2800" spc="-60" dirty="0" smtClean="0">
                <a:latin typeface="Lucida Console" panose="020B0609040504020204" pitchFamily="49" charset="0"/>
                <a:cs typeface="Courier New" pitchFamily="49" charset="0"/>
              </a:rPr>
              <a:t>, 2019]; </a:t>
            </a:r>
          </a:p>
          <a:p>
            <a:pPr lvl="1">
              <a:buFontTx/>
              <a:buNone/>
            </a:pPr>
            <a:r>
              <a:rPr lang="en-US" sz="2800" spc="-60" dirty="0" smtClean="0">
                <a:solidFill>
                  <a:schemeClr val="bg1"/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  <a:r>
              <a:rPr lang="en-US" sz="2800" spc="-60" dirty="0" smtClean="0">
                <a:latin typeface="Lucida Console" panose="020B0609040504020204" pitchFamily="49" charset="0"/>
                <a:cs typeface="Courier New" pitchFamily="49" charset="0"/>
              </a:rPr>
              <a:t> print ("list2[0]: ", list2[0]) </a:t>
            </a:r>
          </a:p>
          <a:p>
            <a:pPr lvl="1">
              <a:buFont typeface="Arial" panose="020B0604020202020204" pitchFamily="34" charset="0"/>
              <a:buNone/>
            </a:pPr>
            <a:r>
              <a:rPr lang="en-US" sz="2800" dirty="0" smtClean="0">
                <a:latin typeface="Lucida Console" panose="020B0609040504020204" pitchFamily="49" charset="0"/>
                <a:cs typeface="Courier New" pitchFamily="49" charset="0"/>
              </a:rPr>
              <a:t>list2[0]: </a:t>
            </a:r>
            <a:r>
              <a:rPr lang="en-US" sz="2800" dirty="0" err="1" smtClean="0">
                <a:latin typeface="Lucida Console" panose="020B0609040504020204" pitchFamily="49" charset="0"/>
                <a:cs typeface="Courier New" pitchFamily="49" charset="0"/>
              </a:rPr>
              <a:t>phys</a:t>
            </a:r>
            <a:r>
              <a:rPr lang="en-US" sz="2800" dirty="0" smtClean="0">
                <a:latin typeface="Lucida Console" panose="020B0609040504020204" pitchFamily="49" charset="0"/>
                <a:cs typeface="Courier New" pitchFamily="49" charset="0"/>
              </a:rPr>
              <a:t> </a:t>
            </a:r>
          </a:p>
          <a:p>
            <a:pPr lvl="1">
              <a:buFontTx/>
              <a:buNone/>
            </a:pPr>
            <a:r>
              <a:rPr lang="en-US" sz="2800" spc="-60" dirty="0" smtClean="0">
                <a:solidFill>
                  <a:schemeClr val="bg1"/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  <a:r>
              <a:rPr lang="en-US" sz="2800" spc="-60" dirty="0" smtClean="0">
                <a:latin typeface="Lucida Console" panose="020B0609040504020204" pitchFamily="49" charset="0"/>
                <a:cs typeface="Courier New" pitchFamily="49" charset="0"/>
              </a:rPr>
              <a:t> print ("list1[1:5]: ", list1[1:5]) </a:t>
            </a:r>
          </a:p>
          <a:p>
            <a:pPr lvl="1">
              <a:buFontTx/>
              <a:buNone/>
            </a:pPr>
            <a:r>
              <a:rPr lang="en-US" sz="2800" dirty="0" smtClean="0">
                <a:latin typeface="Lucida Console" panose="020B0609040504020204" pitchFamily="49" charset="0"/>
                <a:cs typeface="Courier New" pitchFamily="49" charset="0"/>
              </a:rPr>
              <a:t>list1[1:5]: [2, 3, 4, 5] </a:t>
            </a:r>
          </a:p>
          <a:p>
            <a:pPr lvl="1">
              <a:buFontTx/>
              <a:buNone/>
            </a:pPr>
            <a:r>
              <a:rPr lang="en-US" sz="2800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  <a:endParaRPr lang="en-US" sz="2800" dirty="0">
              <a:solidFill>
                <a:schemeClr val="bg1">
                  <a:lumMod val="65000"/>
                </a:schemeClr>
              </a:solidFill>
              <a:latin typeface="Lucida Console" panose="020B0609040504020204" pitchFamily="49" charset="0"/>
              <a:cs typeface="Courier New" pitchFamily="49" charset="0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292895" y="2590800"/>
            <a:ext cx="1371599" cy="2743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09672" indent="-209672" algn="l" defTabSz="838688" rtl="0" eaLnBrk="1" latinLnBrk="0" hangingPunct="1">
              <a:lnSpc>
                <a:spcPct val="90000"/>
              </a:lnSpc>
              <a:spcBef>
                <a:spcPts val="917"/>
              </a:spcBef>
              <a:buFont typeface="Arial" panose="020B0604020202020204" pitchFamily="34" charset="0"/>
              <a:buChar char="•"/>
              <a:defRPr sz="36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9016" indent="-209672" algn="l" defTabSz="838688" rtl="0" eaLnBrk="1" latinLnBrk="0" hangingPunct="1">
              <a:lnSpc>
                <a:spcPct val="90000"/>
              </a:lnSpc>
              <a:spcBef>
                <a:spcPts val="459"/>
              </a:spcBef>
              <a:buFont typeface="Arial" panose="020B0604020202020204" pitchFamily="34" charset="0"/>
              <a:buChar char="•"/>
              <a:defRPr sz="33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48360" indent="-209672" algn="l" defTabSz="838688" rtl="0" eaLnBrk="1" latinLnBrk="0" hangingPunct="1">
              <a:lnSpc>
                <a:spcPct val="90000"/>
              </a:lnSpc>
              <a:spcBef>
                <a:spcPts val="459"/>
              </a:spcBef>
              <a:buFont typeface="Arial" panose="020B0604020202020204" pitchFamily="34" charset="0"/>
              <a:buChar char="•"/>
              <a:defRPr sz="293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67703" indent="-209672" algn="l" defTabSz="838688" rtl="0" eaLnBrk="1" latinLnBrk="0" hangingPunct="1">
              <a:lnSpc>
                <a:spcPct val="90000"/>
              </a:lnSpc>
              <a:spcBef>
                <a:spcPts val="459"/>
              </a:spcBef>
              <a:buFont typeface="Arial" panose="020B0604020202020204" pitchFamily="34" charset="0"/>
              <a:buChar char="•"/>
              <a:defRPr sz="25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87047" indent="-209672" algn="l" defTabSz="838688" rtl="0" eaLnBrk="1" latinLnBrk="0" hangingPunct="1">
              <a:lnSpc>
                <a:spcPct val="90000"/>
              </a:lnSpc>
              <a:spcBef>
                <a:spcPts val="459"/>
              </a:spcBef>
              <a:buFont typeface="Arial" panose="020B0604020202020204" pitchFamily="34" charset="0"/>
              <a:buChar char="•"/>
              <a:defRPr sz="25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06391" indent="-209672" algn="l" defTabSz="838688" rtl="0" eaLnBrk="1" latinLnBrk="0" hangingPunct="1">
              <a:lnSpc>
                <a:spcPct val="90000"/>
              </a:lnSpc>
              <a:spcBef>
                <a:spcPts val="459"/>
              </a:spcBef>
              <a:buFont typeface="Arial" panose="020B0604020202020204" pitchFamily="34" charset="0"/>
              <a:buChar char="•"/>
              <a:defRPr sz="165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25735" indent="-209672" algn="l" defTabSz="838688" rtl="0" eaLnBrk="1" latinLnBrk="0" hangingPunct="1">
              <a:lnSpc>
                <a:spcPct val="90000"/>
              </a:lnSpc>
              <a:spcBef>
                <a:spcPts val="459"/>
              </a:spcBef>
              <a:buFont typeface="Arial" panose="020B0604020202020204" pitchFamily="34" charset="0"/>
              <a:buChar char="•"/>
              <a:defRPr sz="165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45079" indent="-209672" algn="l" defTabSz="838688" rtl="0" eaLnBrk="1" latinLnBrk="0" hangingPunct="1">
              <a:lnSpc>
                <a:spcPct val="90000"/>
              </a:lnSpc>
              <a:spcBef>
                <a:spcPts val="459"/>
              </a:spcBef>
              <a:buFont typeface="Arial" panose="020B0604020202020204" pitchFamily="34" charset="0"/>
              <a:buChar char="•"/>
              <a:defRPr sz="165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564423" indent="-209672" algn="l" defTabSz="838688" rtl="0" eaLnBrk="1" latinLnBrk="0" hangingPunct="1">
              <a:lnSpc>
                <a:spcPct val="90000"/>
              </a:lnSpc>
              <a:spcBef>
                <a:spcPts val="459"/>
              </a:spcBef>
              <a:buFont typeface="Arial" panose="020B0604020202020204" pitchFamily="34" charset="0"/>
              <a:buChar char="•"/>
              <a:defRPr sz="165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buFont typeface="Arial" panose="020B0604020202020204" pitchFamily="34" charset="0"/>
              <a:buNone/>
            </a:pPr>
            <a:endParaRPr lang="en-US" sz="1600" spc="-30" dirty="0" smtClean="0">
              <a:solidFill>
                <a:schemeClr val="accent4">
                  <a:lumMod val="60000"/>
                  <a:lumOff val="40000"/>
                </a:schemeClr>
              </a:solidFill>
              <a:latin typeface="Lucida Console" panose="020B0609040504020204" pitchFamily="49" charset="0"/>
              <a:cs typeface="Courier New" pitchFamily="49" charset="0"/>
            </a:endParaRPr>
          </a:p>
          <a:p>
            <a:pPr lvl="1">
              <a:buFont typeface="Arial" panose="020B0604020202020204" pitchFamily="34" charset="0"/>
              <a:buNone/>
            </a:pPr>
            <a:endParaRPr lang="en-US" sz="2800" spc="-60" dirty="0" smtClean="0">
              <a:latin typeface="Lucida Console" panose="020B0609040504020204" pitchFamily="49" charset="0"/>
              <a:cs typeface="Courier New" pitchFamily="49" charset="0"/>
            </a:endParaRPr>
          </a:p>
          <a:p>
            <a:pPr lvl="1">
              <a:buFontTx/>
              <a:buNone/>
            </a:pPr>
            <a:r>
              <a:rPr lang="en-US" sz="2800" spc="-60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  <a:endParaRPr lang="en-US" sz="2800" spc="-60" dirty="0" smtClean="0">
              <a:latin typeface="Lucida Console" panose="020B0609040504020204" pitchFamily="49" charset="0"/>
              <a:cs typeface="Courier New" pitchFamily="49" charset="0"/>
            </a:endParaRPr>
          </a:p>
          <a:p>
            <a:pPr lvl="1">
              <a:buFontTx/>
              <a:buNone/>
            </a:pPr>
            <a:r>
              <a:rPr lang="en-US" sz="2800" spc="-60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  <a:endParaRPr lang="en-US" sz="2800" spc="-60" dirty="0" smtClean="0">
              <a:latin typeface="Lucida Console" panose="020B0609040504020204" pitchFamily="49" charset="0"/>
              <a:cs typeface="Courier New" pitchFamily="49" charset="0"/>
            </a:endParaRPr>
          </a:p>
          <a:p>
            <a:pPr lvl="1">
              <a:buFont typeface="Arial" panose="020B0604020202020204" pitchFamily="34" charset="0"/>
              <a:buNone/>
            </a:pPr>
            <a:endParaRPr lang="en-US" sz="2800" dirty="0" smtClean="0">
              <a:latin typeface="Lucida Console" panose="020B0609040504020204" pitchFamily="49" charset="0"/>
              <a:cs typeface="Courier New" pitchFamily="49" charset="0"/>
            </a:endParaRPr>
          </a:p>
          <a:p>
            <a:pPr lvl="1">
              <a:buFontTx/>
              <a:buNone/>
            </a:pPr>
            <a:r>
              <a:rPr lang="en-US" sz="2800" spc="-60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  <a:endParaRPr lang="en-US" sz="2800" dirty="0">
              <a:solidFill>
                <a:schemeClr val="bg1">
                  <a:lumMod val="65000"/>
                </a:schemeClr>
              </a:solidFill>
              <a:latin typeface="Lucida Console" panose="020B0609040504020204" pitchFamily="49" charset="0"/>
              <a:cs typeface="Courier New" pitchFamily="49" charset="0"/>
            </a:endParaRPr>
          </a:p>
        </p:txBody>
      </p:sp>
      <p:sp>
        <p:nvSpPr>
          <p:cNvPr id="8" name="Rounded Rectangular Callout 7"/>
          <p:cNvSpPr/>
          <p:nvPr/>
        </p:nvSpPr>
        <p:spPr>
          <a:xfrm>
            <a:off x="5322094" y="2224666"/>
            <a:ext cx="3810000" cy="1432934"/>
          </a:xfrm>
          <a:prstGeom prst="wedgeRoundRectCallout">
            <a:avLst>
              <a:gd name="adj1" fmla="val 18652"/>
              <a:gd name="adj2" fmla="val 120211"/>
              <a:gd name="adj3" fmla="val 16667"/>
            </a:avLst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0000"/>
              </a:lnSpc>
            </a:pPr>
            <a:r>
              <a:rPr lang="en-US" sz="3600" dirty="0" smtClean="0">
                <a:solidFill>
                  <a:schemeClr val="tx1"/>
                </a:solidFill>
              </a:rPr>
              <a:t>Ranges are left-inclusive, but </a:t>
            </a:r>
            <a:br>
              <a:rPr lang="en-US" sz="3600" dirty="0" smtClean="0">
                <a:solidFill>
                  <a:schemeClr val="tx1"/>
                </a:solidFill>
              </a:rPr>
            </a:br>
            <a:r>
              <a:rPr lang="en-US" sz="3600" dirty="0" smtClean="0">
                <a:solidFill>
                  <a:srgbClr val="FF0000"/>
                </a:solidFill>
              </a:rPr>
              <a:t>not right inclusive</a:t>
            </a:r>
            <a:r>
              <a:rPr lang="en-US" sz="3600" dirty="0" smtClean="0">
                <a:solidFill>
                  <a:schemeClr val="tx1"/>
                </a:solidFill>
              </a:rPr>
              <a:t>.</a:t>
            </a:r>
            <a:endParaRPr lang="en-US" sz="3600" dirty="0">
              <a:solidFill>
                <a:schemeClr val="tx1"/>
              </a:solidFill>
            </a:endParaRPr>
          </a:p>
        </p:txBody>
      </p:sp>
      <p:sp>
        <p:nvSpPr>
          <p:cNvPr id="9" name="Rounded Rectangular Callout 8"/>
          <p:cNvSpPr/>
          <p:nvPr/>
        </p:nvSpPr>
        <p:spPr>
          <a:xfrm>
            <a:off x="750094" y="2057400"/>
            <a:ext cx="3505200" cy="2347334"/>
          </a:xfrm>
          <a:prstGeom prst="wedgeRoundRectCallout">
            <a:avLst>
              <a:gd name="adj1" fmla="val 85620"/>
              <a:gd name="adj2" fmla="val -640"/>
              <a:gd name="adj3" fmla="val 16667"/>
            </a:avLst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0000"/>
              </a:lnSpc>
            </a:pPr>
            <a:r>
              <a:rPr lang="en-US" sz="3600" dirty="0">
                <a:solidFill>
                  <a:srgbClr val="FF0000"/>
                </a:solidFill>
              </a:rPr>
              <a:t>T</a:t>
            </a:r>
            <a:r>
              <a:rPr lang="en-US" sz="3600" dirty="0" smtClean="0">
                <a:solidFill>
                  <a:srgbClr val="FF0000"/>
                </a:solidFill>
              </a:rPr>
              <a:t>his</a:t>
            </a:r>
            <a:r>
              <a:rPr lang="en-US" sz="3600" dirty="0" smtClean="0">
                <a:solidFill>
                  <a:schemeClr val="tx1"/>
                </a:solidFill>
              </a:rPr>
              <a:t> </a:t>
            </a:r>
            <a:r>
              <a:rPr lang="en-US" sz="3600" spc="-50" dirty="0" smtClean="0">
                <a:solidFill>
                  <a:srgbClr val="FF0000"/>
                </a:solidFill>
              </a:rPr>
              <a:t>feature</a:t>
            </a:r>
            <a:r>
              <a:rPr lang="en-US" sz="3200" spc="-50" dirty="0">
                <a:solidFill>
                  <a:schemeClr val="tx1"/>
                </a:solidFill>
              </a:rPr>
              <a:t/>
            </a:r>
            <a:br>
              <a:rPr lang="en-US" sz="3200" spc="-50" dirty="0">
                <a:solidFill>
                  <a:schemeClr val="tx1"/>
                </a:solidFill>
              </a:rPr>
            </a:br>
            <a:r>
              <a:rPr lang="en-US" sz="3600" spc="-50" dirty="0" smtClean="0">
                <a:solidFill>
                  <a:schemeClr val="tx1"/>
                </a:solidFill>
              </a:rPr>
              <a:t>lets us say: </a:t>
            </a:r>
            <a:br>
              <a:rPr lang="en-US" sz="3600" spc="-50" dirty="0" smtClean="0">
                <a:solidFill>
                  <a:schemeClr val="tx1"/>
                </a:solidFill>
              </a:rPr>
            </a:br>
            <a:r>
              <a:rPr lang="en-US" sz="3600" dirty="0" smtClean="0">
                <a:solidFill>
                  <a:schemeClr val="tx1"/>
                </a:solidFill>
              </a:rPr>
              <a:t>since </a:t>
            </a:r>
            <a:r>
              <a:rPr lang="en-US" sz="3600" b="1" dirty="0" smtClean="0">
                <a:solidFill>
                  <a:schemeClr val="tx1"/>
                </a:solidFill>
              </a:rPr>
              <a:t>5-1=4</a:t>
            </a:r>
            <a:r>
              <a:rPr lang="en-US" sz="3600" dirty="0" smtClean="0">
                <a:solidFill>
                  <a:schemeClr val="tx1"/>
                </a:solidFill>
              </a:rPr>
              <a:t>, the answer will have </a:t>
            </a:r>
            <a:r>
              <a:rPr lang="en-US" sz="3600" b="1" dirty="0" smtClean="0">
                <a:solidFill>
                  <a:schemeClr val="tx1"/>
                </a:solidFill>
              </a:rPr>
              <a:t>4</a:t>
            </a:r>
            <a:r>
              <a:rPr lang="en-US" sz="3600" dirty="0" smtClean="0">
                <a:solidFill>
                  <a:schemeClr val="tx1"/>
                </a:solidFill>
              </a:rPr>
              <a:t> elements.</a:t>
            </a:r>
            <a:endParaRPr lang="en-US" sz="3600" dirty="0">
              <a:solidFill>
                <a:schemeClr val="tx1"/>
              </a:solidFill>
            </a:endParaRPr>
          </a:p>
        </p:txBody>
      </p:sp>
      <p:cxnSp>
        <p:nvCxnSpPr>
          <p:cNvPr id="5" name="Straight Arrow Connector 4"/>
          <p:cNvCxnSpPr/>
          <p:nvPr/>
        </p:nvCxnSpPr>
        <p:spPr>
          <a:xfrm flipH="1" flipV="1">
            <a:off x="2731294" y="3276600"/>
            <a:ext cx="5181600" cy="144780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flipH="1">
            <a:off x="1664494" y="3276600"/>
            <a:ext cx="1295400" cy="68580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ounded Rectangular Callout 25"/>
          <p:cNvSpPr/>
          <p:nvPr/>
        </p:nvSpPr>
        <p:spPr>
          <a:xfrm>
            <a:off x="4560094" y="5181600"/>
            <a:ext cx="2590800" cy="1676400"/>
          </a:xfrm>
          <a:prstGeom prst="wedgeRoundRectCallout">
            <a:avLst>
              <a:gd name="adj1" fmla="val 68945"/>
              <a:gd name="adj2" fmla="val -70241"/>
              <a:gd name="adj3" fmla="val 16667"/>
            </a:avLst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lnSpc>
                <a:spcPct val="75000"/>
              </a:lnSpc>
            </a:pPr>
            <a:r>
              <a:rPr lang="en-US" sz="3600" dirty="0">
                <a:solidFill>
                  <a:schemeClr val="tx1"/>
                </a:solidFill>
              </a:rPr>
              <a:t>O</a:t>
            </a:r>
            <a:r>
              <a:rPr lang="en-US" sz="3600" dirty="0" smtClean="0">
                <a:solidFill>
                  <a:schemeClr val="tx1"/>
                </a:solidFill>
              </a:rPr>
              <a:t>n the</a:t>
            </a:r>
            <a:br>
              <a:rPr lang="en-US" sz="3600" dirty="0" smtClean="0">
                <a:solidFill>
                  <a:schemeClr val="tx1"/>
                </a:solidFill>
              </a:rPr>
            </a:br>
            <a:r>
              <a:rPr lang="en-US" sz="3600" dirty="0" smtClean="0">
                <a:solidFill>
                  <a:schemeClr val="tx1"/>
                </a:solidFill>
              </a:rPr>
              <a:t>left-side,</a:t>
            </a:r>
            <a:br>
              <a:rPr lang="en-US" sz="3600" dirty="0" smtClean="0">
                <a:solidFill>
                  <a:schemeClr val="tx1"/>
                </a:solidFill>
              </a:rPr>
            </a:br>
            <a:r>
              <a:rPr lang="en-US" sz="3600" dirty="0" smtClean="0">
                <a:solidFill>
                  <a:schemeClr val="tx1"/>
                </a:solidFill>
              </a:rPr>
              <a:t> </a:t>
            </a:r>
            <a:r>
              <a:rPr lang="en-US" sz="3600" spc="-20" dirty="0" smtClean="0">
                <a:solidFill>
                  <a:schemeClr val="tx1"/>
                </a:solidFill>
              </a:rPr>
              <a:t>I say “</a:t>
            </a:r>
            <a:r>
              <a:rPr lang="en-US" sz="3600" spc="-20" dirty="0" err="1" smtClean="0">
                <a:solidFill>
                  <a:schemeClr val="tx1"/>
                </a:solidFill>
              </a:rPr>
              <a:t>oneth</a:t>
            </a:r>
            <a:r>
              <a:rPr lang="en-US" sz="3600" spc="-20" dirty="0" smtClean="0">
                <a:solidFill>
                  <a:schemeClr val="tx1"/>
                </a:solidFill>
              </a:rPr>
              <a:t>”</a:t>
            </a:r>
          </a:p>
          <a:p>
            <a:pPr algn="ctr">
              <a:lnSpc>
                <a:spcPct val="75000"/>
              </a:lnSpc>
            </a:pPr>
            <a:r>
              <a:rPr lang="en-US" sz="3600" spc="-100" dirty="0" smtClean="0">
                <a:solidFill>
                  <a:schemeClr val="tx1"/>
                </a:solidFill>
              </a:rPr>
              <a:t>(not second)</a:t>
            </a:r>
            <a:endParaRPr lang="en-US" sz="3600" spc="-100" dirty="0">
              <a:solidFill>
                <a:schemeClr val="tx1"/>
              </a:solidFill>
            </a:endParaRPr>
          </a:p>
        </p:txBody>
      </p:sp>
      <p:sp>
        <p:nvSpPr>
          <p:cNvPr id="27" name="Rounded Rectangular Callout 26"/>
          <p:cNvSpPr/>
          <p:nvPr/>
        </p:nvSpPr>
        <p:spPr>
          <a:xfrm>
            <a:off x="7074694" y="5181600"/>
            <a:ext cx="2426494" cy="1664898"/>
          </a:xfrm>
          <a:prstGeom prst="wedgeRoundRectCallout">
            <a:avLst>
              <a:gd name="adj1" fmla="val 340"/>
              <a:gd name="adj2" fmla="val -66937"/>
              <a:gd name="adj3" fmla="val 16667"/>
            </a:avLst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>
              <a:lnSpc>
                <a:spcPct val="75000"/>
              </a:lnSpc>
            </a:pPr>
            <a:r>
              <a:rPr lang="en-US" sz="3600" dirty="0" smtClean="0">
                <a:solidFill>
                  <a:schemeClr val="tx1"/>
                </a:solidFill>
              </a:rPr>
              <a:t>But on the </a:t>
            </a:r>
            <a:br>
              <a:rPr lang="en-US" sz="3600" dirty="0" smtClean="0">
                <a:solidFill>
                  <a:schemeClr val="tx1"/>
                </a:solidFill>
              </a:rPr>
            </a:br>
            <a:r>
              <a:rPr lang="en-US" sz="3600" dirty="0" smtClean="0">
                <a:solidFill>
                  <a:schemeClr val="tx1"/>
                </a:solidFill>
              </a:rPr>
              <a:t>right-side,</a:t>
            </a:r>
            <a:br>
              <a:rPr lang="en-US" sz="3600" dirty="0" smtClean="0">
                <a:solidFill>
                  <a:schemeClr val="tx1"/>
                </a:solidFill>
              </a:rPr>
            </a:br>
            <a:r>
              <a:rPr lang="en-US" sz="3600" dirty="0" smtClean="0">
                <a:solidFill>
                  <a:schemeClr val="tx1"/>
                </a:solidFill>
              </a:rPr>
              <a:t>I say “fifth” </a:t>
            </a:r>
          </a:p>
          <a:p>
            <a:pPr algn="ctr">
              <a:lnSpc>
                <a:spcPct val="75000"/>
              </a:lnSpc>
            </a:pPr>
            <a:r>
              <a:rPr lang="en-US" sz="3600" dirty="0" smtClean="0">
                <a:solidFill>
                  <a:schemeClr val="tx1"/>
                </a:solidFill>
              </a:rPr>
              <a:t>(</a:t>
            </a:r>
            <a:r>
              <a:rPr lang="en-US" sz="3600" dirty="0" smtClean="0">
                <a:solidFill>
                  <a:srgbClr val="FF0000"/>
                </a:solidFill>
              </a:rPr>
              <a:t>not </a:t>
            </a:r>
            <a:r>
              <a:rPr lang="en-US" sz="3600" dirty="0" err="1" smtClean="0">
                <a:solidFill>
                  <a:srgbClr val="FF0000"/>
                </a:solidFill>
              </a:rPr>
              <a:t>fiveth</a:t>
            </a:r>
            <a:r>
              <a:rPr lang="en-US" sz="3600" dirty="0" smtClean="0">
                <a:solidFill>
                  <a:schemeClr val="tx1"/>
                </a:solidFill>
              </a:rPr>
              <a:t>)</a:t>
            </a:r>
            <a:endParaRPr lang="en-US" sz="3600" dirty="0">
              <a:solidFill>
                <a:schemeClr val="tx1"/>
              </a:solidFill>
            </a:endParaRPr>
          </a:p>
        </p:txBody>
      </p:sp>
      <p:cxnSp>
        <p:nvCxnSpPr>
          <p:cNvPr id="28" name="Straight Arrow Connector 27"/>
          <p:cNvCxnSpPr/>
          <p:nvPr/>
        </p:nvCxnSpPr>
        <p:spPr>
          <a:xfrm>
            <a:off x="7150894" y="3505200"/>
            <a:ext cx="1143000" cy="28956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>
            <a:off x="1740694" y="4191000"/>
            <a:ext cx="2895600" cy="83820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6854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1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4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000"/>
                            </p:stCondLst>
                            <p:childTnLst>
                              <p:par>
                                <p:cTn id="7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7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7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8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8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8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0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  <p:bldP spid="9" grpId="0" animBg="1"/>
      <p:bldP spid="9" grpId="1" animBg="1"/>
      <p:bldP spid="26" grpId="0" animBg="1"/>
      <p:bldP spid="26" grpId="1" animBg="1"/>
      <p:bldP spid="27" grpId="0" animBg="1"/>
      <p:bldP spid="27" grpId="1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" y="152400"/>
            <a:ext cx="9729787" cy="1268567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solidFill>
                  <a:srgbClr val="0070C0"/>
                </a:solidFill>
              </a:rPr>
              <a:t>List Operators:</a:t>
            </a:r>
            <a:br>
              <a:rPr lang="en-US" altLang="en-US" sz="4400" dirty="0">
                <a:solidFill>
                  <a:srgbClr val="0070C0"/>
                </a:solidFill>
              </a:rPr>
            </a:br>
            <a:r>
              <a:rPr lang="en-US" altLang="en-US" sz="3100" b="1" dirty="0">
                <a:solidFill>
                  <a:schemeClr val="tx1"/>
                </a:solidFill>
                <a:latin typeface="Lucida Console" panose="020B0609040504020204" pitchFamily="49" charset="0"/>
              </a:rPr>
              <a:t>(Let a = [1,"Hello!",6,4,5,7])</a:t>
            </a:r>
            <a:endParaRPr lang="en-US" altLang="en-US" sz="3100" dirty="0">
              <a:solidFill>
                <a:schemeClr val="tx1"/>
              </a:solidFill>
              <a:latin typeface="Lucida Console" panose="020B0609040504020204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38" y="1297461"/>
            <a:ext cx="9242854" cy="4874741"/>
          </a:xfrm>
        </p:spPr>
        <p:txBody>
          <a:bodyPr>
            <a:normAutofit/>
          </a:bodyPr>
          <a:lstStyle/>
          <a:p>
            <a:pPr>
              <a:buFontTx/>
              <a:buNone/>
            </a:pPr>
            <a:endParaRPr lang="en-US" altLang="en-US" sz="1800" dirty="0"/>
          </a:p>
          <a:p>
            <a:pPr>
              <a:buFontTx/>
              <a:buNone/>
            </a:pPr>
            <a:endParaRPr lang="en-US" altLang="en-US" sz="18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0643892"/>
              </p:ext>
            </p:extLst>
          </p:nvPr>
        </p:nvGraphicFramePr>
        <p:xfrm>
          <a:off x="383459" y="1649008"/>
          <a:ext cx="8884619" cy="4980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83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74495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772981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48973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Operator</a:t>
                      </a:r>
                    </a:p>
                  </a:txBody>
                  <a:tcPr marL="8287" marR="8287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Description</a:t>
                      </a:r>
                    </a:p>
                  </a:txBody>
                  <a:tcPr marL="8287" marR="8287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latin typeface="Verdana"/>
                        </a:rPr>
                        <a:t>Example</a:t>
                      </a:r>
                    </a:p>
                  </a:txBody>
                  <a:tcPr marL="8287" marR="8287" marT="9525" marB="0" anchor="ctr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898131">
                <a:tc>
                  <a:txBody>
                    <a:bodyPr/>
                    <a:lstStyle/>
                    <a:p>
                      <a:pPr algn="ctr" fontAlgn="t"/>
                      <a:endParaRPr lang="en-US" sz="1800" b="1" i="0" u="none" strike="noStrike" dirty="0" smtClean="0">
                        <a:solidFill>
                          <a:srgbClr val="FF3300"/>
                        </a:solidFill>
                        <a:latin typeface="Verdana"/>
                      </a:endParaRPr>
                    </a:p>
                    <a:p>
                      <a:pPr algn="ctr" fontAlgn="t"/>
                      <a:r>
                        <a:rPr lang="en-US" sz="1800" b="1" i="0" u="none" strike="noStrike" dirty="0" smtClean="0">
                          <a:solidFill>
                            <a:srgbClr val="FF3300"/>
                          </a:solidFill>
                          <a:latin typeface="Verdana"/>
                        </a:rPr>
                        <a:t>[] / [ : ]</a:t>
                      </a:r>
                      <a:endParaRPr lang="en-US" sz="1800" b="1" i="0" u="none" strike="noStrike" dirty="0">
                        <a:solidFill>
                          <a:srgbClr val="FF3300"/>
                        </a:solidFill>
                        <a:latin typeface="Verdana"/>
                      </a:endParaRPr>
                    </a:p>
                  </a:txBody>
                  <a:tcPr marL="8287" marR="8287" marT="9525" marB="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0" i="0" u="none" strike="noStrike" dirty="0" smtClean="0">
                        <a:solidFill>
                          <a:srgbClr val="000000"/>
                        </a:solidFill>
                        <a:latin typeface="Verdana"/>
                      </a:endParaRPr>
                    </a:p>
                    <a:p>
                      <a:pPr marL="0" marR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 Slices (with indices starting from 0)</a:t>
                      </a:r>
                    </a:p>
                  </a:txBody>
                  <a:tcPr marL="8287" marR="8287" marT="9525" marB="0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dirty="0" smtClean="0">
                          <a:solidFill>
                            <a:srgbClr val="FF33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a[4] → 5</a:t>
                      </a:r>
                    </a:p>
                    <a:p>
                      <a:pPr marL="0" marR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dirty="0" smtClean="0">
                          <a:solidFill>
                            <a:srgbClr val="FF33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a[3:] → [4,5,7]</a:t>
                      </a:r>
                    </a:p>
                    <a:p>
                      <a:pPr marL="0" marR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dirty="0" smtClean="0">
                          <a:solidFill>
                            <a:srgbClr val="FF33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a[:1] → [1]</a:t>
                      </a:r>
                    </a:p>
                  </a:txBody>
                  <a:tcPr marL="8287" marR="8287" marT="9525" marB="0"/>
                </a:tc>
              </a:tr>
              <a:tr h="898131">
                <a:tc>
                  <a:txBody>
                    <a:bodyPr/>
                    <a:lstStyle/>
                    <a:p>
                      <a:pPr algn="ctr" fontAlgn="t"/>
                      <a:endParaRPr lang="en-US" sz="1800" b="1" i="0" u="none" strike="noStrike" dirty="0" smtClean="0">
                        <a:solidFill>
                          <a:srgbClr val="FF3300"/>
                        </a:solidFill>
                        <a:latin typeface="Verdana"/>
                      </a:endParaRPr>
                    </a:p>
                    <a:p>
                      <a:pPr algn="ctr" fontAlgn="t"/>
                      <a:r>
                        <a:rPr lang="en-US" sz="1800" b="1" i="0" u="none" strike="noStrike" dirty="0" smtClean="0">
                          <a:solidFill>
                            <a:srgbClr val="FF3300"/>
                          </a:solidFill>
                          <a:latin typeface="Verdana"/>
                        </a:rPr>
                        <a:t>+</a:t>
                      </a:r>
                      <a:endParaRPr lang="en-US" sz="1800" b="1" i="0" u="none" strike="noStrike" dirty="0">
                        <a:solidFill>
                          <a:srgbClr val="FF3300"/>
                        </a:solidFill>
                        <a:latin typeface="Verdana"/>
                      </a:endParaRPr>
                    </a:p>
                  </a:txBody>
                  <a:tcPr marL="8287" marR="8287" marT="9525" marB="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0" i="0" u="none" strike="noStrike" dirty="0" smtClean="0">
                        <a:solidFill>
                          <a:srgbClr val="000000"/>
                        </a:solidFill>
                        <a:latin typeface="Verdana"/>
                      </a:endParaRPr>
                    </a:p>
                    <a:p>
                      <a:pPr marL="0" marR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 Concatenation</a:t>
                      </a:r>
                    </a:p>
                    <a:p>
                      <a:pPr algn="l" fontAlgn="t"/>
                      <a:endParaRPr lang="en-US" sz="1800" b="0" i="0" u="none" strike="noStrike" dirty="0">
                        <a:solidFill>
                          <a:srgbClr val="000000"/>
                        </a:solidFill>
                        <a:latin typeface="Verdana"/>
                      </a:endParaRPr>
                    </a:p>
                  </a:txBody>
                  <a:tcPr marL="8287" marR="8287" marT="9525" marB="0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dirty="0" smtClean="0">
                          <a:solidFill>
                            <a:srgbClr val="FF33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a+["x"] → [1,'Hello!',6,4,5,7,'x']</a:t>
                      </a:r>
                    </a:p>
                  </a:txBody>
                  <a:tcPr marL="8287" marR="8287" marT="9525" marB="0" anchor="ctr"/>
                </a:tc>
              </a:tr>
              <a:tr h="898131">
                <a:tc>
                  <a:txBody>
                    <a:bodyPr/>
                    <a:lstStyle/>
                    <a:p>
                      <a:pPr algn="ctr" fontAlgn="t"/>
                      <a:endParaRPr lang="en-US" sz="1800" b="1" i="0" u="none" strike="noStrike" dirty="0" smtClean="0">
                        <a:solidFill>
                          <a:srgbClr val="FF3300"/>
                        </a:solidFill>
                        <a:latin typeface="Verdana"/>
                      </a:endParaRPr>
                    </a:p>
                    <a:p>
                      <a:pPr algn="ctr" fontAlgn="t"/>
                      <a:r>
                        <a:rPr lang="en-US" sz="1800" b="1" i="0" u="none" strike="noStrike" dirty="0" smtClean="0">
                          <a:solidFill>
                            <a:srgbClr val="FF3300"/>
                          </a:solidFill>
                          <a:latin typeface="Verdana"/>
                        </a:rPr>
                        <a:t>*</a:t>
                      </a:r>
                      <a:endParaRPr lang="en-US" sz="1800" b="1" i="0" u="none" strike="noStrike" dirty="0">
                        <a:solidFill>
                          <a:srgbClr val="FF3300"/>
                        </a:solidFill>
                        <a:latin typeface="Verdana"/>
                      </a:endParaRPr>
                    </a:p>
                  </a:txBody>
                  <a:tcPr marL="8287" marR="8287" marT="9525" marB="0"/>
                </a:tc>
                <a:tc>
                  <a:txBody>
                    <a:bodyPr/>
                    <a:lstStyle/>
                    <a:p>
                      <a:pPr algn="l" fontAlgn="t"/>
                      <a:endParaRPr lang="en-US" sz="1800" b="0" i="0" u="none" strike="noStrike" dirty="0" smtClean="0">
                        <a:solidFill>
                          <a:srgbClr val="000000"/>
                        </a:solidFill>
                        <a:latin typeface="Verdana"/>
                      </a:endParaRPr>
                    </a:p>
                    <a:p>
                      <a:pPr algn="l" fontAlgn="t"/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 Repetition</a:t>
                      </a:r>
                    </a:p>
                  </a:txBody>
                  <a:tcPr marL="8287" marR="8287" marT="9525" marB="0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dirty="0" smtClean="0">
                          <a:solidFill>
                            <a:srgbClr val="FF33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a*2 → [1,'Hello!',6,4,5,7,1,</a:t>
                      </a:r>
                    </a:p>
                    <a:p>
                      <a:pPr marL="0" marR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dirty="0" smtClean="0">
                          <a:solidFill>
                            <a:srgbClr val="FF33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'Hello!',6,4,5,7]</a:t>
                      </a:r>
                    </a:p>
                  </a:txBody>
                  <a:tcPr marL="8287" marR="8287" marT="9525" marB="0"/>
                </a:tc>
              </a:tr>
              <a:tr h="898131">
                <a:tc>
                  <a:txBody>
                    <a:bodyPr/>
                    <a:lstStyle/>
                    <a:p>
                      <a:pPr algn="ctr" fontAlgn="t"/>
                      <a:endParaRPr lang="en-US" sz="1800" b="1" i="0" u="none" strike="noStrike" dirty="0" smtClean="0">
                        <a:solidFill>
                          <a:srgbClr val="FF3300"/>
                        </a:solidFill>
                        <a:latin typeface="Verdana"/>
                      </a:endParaRPr>
                    </a:p>
                    <a:p>
                      <a:pPr algn="ctr" fontAlgn="t"/>
                      <a:r>
                        <a:rPr lang="en-US" sz="1800" b="1" i="0" u="none" strike="noStrike" dirty="0" smtClean="0">
                          <a:solidFill>
                            <a:srgbClr val="FF3300"/>
                          </a:solidFill>
                          <a:latin typeface="Verdana"/>
                        </a:rPr>
                        <a:t>in</a:t>
                      </a:r>
                      <a:endParaRPr lang="en-US" sz="1800" b="1" i="0" u="none" strike="noStrike" dirty="0">
                        <a:solidFill>
                          <a:srgbClr val="FF3300"/>
                        </a:solidFill>
                        <a:latin typeface="Verdana"/>
                      </a:endParaRPr>
                    </a:p>
                  </a:txBody>
                  <a:tcPr marL="8287" marR="8287" marT="9525" marB="0"/>
                </a:tc>
                <a:tc>
                  <a:txBody>
                    <a:bodyPr/>
                    <a:lstStyle/>
                    <a:p>
                      <a:pPr algn="l" fontAlgn="t"/>
                      <a:endParaRPr lang="en-US" sz="1800" b="0" i="0" u="none" strike="noStrike" dirty="0" smtClean="0">
                        <a:solidFill>
                          <a:srgbClr val="000000"/>
                        </a:solidFill>
                        <a:latin typeface="Verdana"/>
                      </a:endParaRPr>
                    </a:p>
                    <a:p>
                      <a:pPr algn="l" fontAlgn="t"/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 True 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if it finds a </a:t>
                      </a:r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value in the list.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latin typeface="Verdana"/>
                      </a:endParaRPr>
                    </a:p>
                  </a:txBody>
                  <a:tcPr marL="8287" marR="8287" marT="9525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US" sz="1800" b="0" i="0" u="none" strike="noStrike" dirty="0" smtClean="0">
                        <a:solidFill>
                          <a:srgbClr val="FF3300"/>
                        </a:solidFill>
                        <a:latin typeface="Verdana"/>
                      </a:endParaRPr>
                    </a:p>
                    <a:p>
                      <a:pPr algn="ctr" fontAlgn="t"/>
                      <a:r>
                        <a:rPr lang="en-US" sz="1800" b="0" i="0" u="none" strike="noStrike" dirty="0" smtClean="0">
                          <a:solidFill>
                            <a:srgbClr val="FF3300"/>
                          </a:solidFill>
                          <a:latin typeface="Verdana"/>
                        </a:rPr>
                        <a:t>print("ell" in a) </a:t>
                      </a:r>
                      <a:r>
                        <a:rPr lang="en-US" sz="1800" b="0" i="0" u="none" strike="noStrike" dirty="0" smtClean="0">
                          <a:solidFill>
                            <a:srgbClr val="FF3300"/>
                          </a:solidFill>
                          <a:latin typeface="Times New Roman"/>
                          <a:cs typeface="Times New Roman"/>
                        </a:rPr>
                        <a:t>→ </a:t>
                      </a:r>
                      <a:r>
                        <a:rPr lang="en-US" sz="1800" b="0" i="0" u="none" strike="noStrike" dirty="0" smtClean="0">
                          <a:solidFill>
                            <a:srgbClr val="FF33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False</a:t>
                      </a:r>
                      <a:endParaRPr lang="en-US" sz="1800" b="0" i="0" u="none" strike="noStrike" dirty="0">
                        <a:solidFill>
                          <a:srgbClr val="FF3300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8287" marR="8287" marT="9525" marB="0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898131">
                <a:tc>
                  <a:txBody>
                    <a:bodyPr/>
                    <a:lstStyle/>
                    <a:p>
                      <a:pPr algn="ctr" fontAlgn="t"/>
                      <a:endParaRPr lang="en-US" sz="1800" b="1" i="0" u="none" strike="noStrike" dirty="0" smtClean="0">
                        <a:solidFill>
                          <a:srgbClr val="FF3300"/>
                        </a:solidFill>
                        <a:latin typeface="Verdana"/>
                      </a:endParaRPr>
                    </a:p>
                    <a:p>
                      <a:pPr algn="ctr" fontAlgn="t"/>
                      <a:r>
                        <a:rPr lang="en-US" sz="1800" b="1" i="0" u="none" strike="noStrike" dirty="0" smtClean="0">
                          <a:solidFill>
                            <a:srgbClr val="FF3300"/>
                          </a:solidFill>
                          <a:latin typeface="Verdana"/>
                        </a:rPr>
                        <a:t>not </a:t>
                      </a:r>
                      <a:r>
                        <a:rPr lang="en-US" sz="1800" b="1" i="0" u="none" strike="noStrike" dirty="0">
                          <a:solidFill>
                            <a:srgbClr val="FF3300"/>
                          </a:solidFill>
                          <a:latin typeface="Verdana"/>
                        </a:rPr>
                        <a:t>in</a:t>
                      </a:r>
                    </a:p>
                  </a:txBody>
                  <a:tcPr marL="8287" marR="8287" marT="9525" marB="0"/>
                </a:tc>
                <a:tc>
                  <a:txBody>
                    <a:bodyPr/>
                    <a:lstStyle/>
                    <a:p>
                      <a:pPr algn="l" fontAlgn="t"/>
                      <a:endParaRPr lang="en-US" sz="1800" b="0" i="0" u="none" strike="noStrike" dirty="0" smtClean="0">
                        <a:solidFill>
                          <a:srgbClr val="000000"/>
                        </a:solidFill>
                        <a:latin typeface="Verdana"/>
                      </a:endParaRPr>
                    </a:p>
                    <a:p>
                      <a:pPr algn="l" fontAlgn="t"/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 True 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if it </a:t>
                      </a:r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doesn’t find 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a </a:t>
                      </a:r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value 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in the </a:t>
                      </a:r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list.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latin typeface="Verdana"/>
                      </a:endParaRPr>
                    </a:p>
                  </a:txBody>
                  <a:tcPr marL="8287" marR="8287" marT="9525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US" sz="1050" b="0" i="0" u="none" strike="noStrike" dirty="0" smtClean="0">
                        <a:solidFill>
                          <a:srgbClr val="FF3300"/>
                        </a:solidFill>
                        <a:latin typeface="Verdana"/>
                      </a:endParaRPr>
                    </a:p>
                    <a:p>
                      <a:pPr algn="ctr" fontAlgn="t"/>
                      <a:r>
                        <a:rPr lang="en-US" sz="1800" b="0" i="0" u="none" strike="noStrike" dirty="0" smtClean="0">
                          <a:solidFill>
                            <a:srgbClr val="FF3300"/>
                          </a:solidFill>
                          <a:latin typeface="Verdana"/>
                        </a:rPr>
                        <a:t>print("Hello!" not in a) </a:t>
                      </a:r>
                      <a:r>
                        <a:rPr lang="en-US" sz="1800" b="0" i="0" u="none" strike="noStrike" dirty="0" smtClean="0">
                          <a:solidFill>
                            <a:srgbClr val="FF3300"/>
                          </a:solidFill>
                          <a:latin typeface="Times New Roman"/>
                          <a:cs typeface="Times New Roman"/>
                        </a:rPr>
                        <a:t>→ </a:t>
                      </a:r>
                      <a:r>
                        <a:rPr lang="en-US" sz="1800" b="0" i="0" u="none" strike="noStrike" dirty="0" smtClean="0">
                          <a:solidFill>
                            <a:srgbClr val="FF33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False</a:t>
                      </a:r>
                      <a:endParaRPr lang="en-US" sz="1800" b="0" i="0" u="none" strike="noStrike" dirty="0">
                        <a:solidFill>
                          <a:srgbClr val="FF3300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8287" marR="8287" marT="9525" marB="0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59407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Content Placeholder 2"/>
          <p:cNvSpPr>
            <a:spLocks noGrp="1"/>
          </p:cNvSpPr>
          <p:nvPr>
            <p:ph idx="1"/>
          </p:nvPr>
        </p:nvSpPr>
        <p:spPr>
          <a:xfrm>
            <a:off x="301941" y="903239"/>
            <a:ext cx="9515953" cy="5670978"/>
          </a:xfrm>
        </p:spPr>
        <p:txBody>
          <a:bodyPr>
            <a:noAutofit/>
          </a:bodyPr>
          <a:lstStyle/>
          <a:p>
            <a:pPr>
              <a:lnSpc>
                <a:spcPct val="86000"/>
              </a:lnSpc>
              <a:spcBef>
                <a:spcPts val="0"/>
              </a:spcBef>
              <a:buNone/>
            </a:pPr>
            <a:r>
              <a:rPr lang="en-US" altLang="en-US" sz="2568" dirty="0">
                <a:solidFill>
                  <a:srgbClr val="FFC000"/>
                </a:solidFill>
                <a:latin typeface="Lucida Console" pitchFamily="49" charset="0"/>
                <a:ea typeface="MS Gothic" pitchFamily="49" charset="-128"/>
                <a:cs typeface="Times New Roman" panose="02020603050405020304" pitchFamily="18" charset="0"/>
              </a:rPr>
              <a:t>%</a:t>
            </a:r>
            <a:r>
              <a:rPr lang="en-US" altLang="en-US" sz="2568" dirty="0">
                <a:solidFill>
                  <a:srgbClr val="FFC00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 cat test.py</a:t>
            </a:r>
          </a:p>
          <a:p>
            <a:pPr>
              <a:lnSpc>
                <a:spcPct val="86000"/>
              </a:lnSpc>
              <a:spcBef>
                <a:spcPts val="0"/>
              </a:spcBef>
              <a:buNone/>
            </a:pPr>
            <a:r>
              <a:rPr lang="en-US" altLang="en-US" sz="2568" dirty="0">
                <a:solidFill>
                  <a:srgbClr val="0070C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list = [ </a:t>
            </a:r>
            <a:r>
              <a:rPr lang="en-US" altLang="en-US" sz="2568" dirty="0">
                <a:solidFill>
                  <a:srgbClr val="0070C0"/>
                </a:solidFill>
                <a:latin typeface="Lucida Sans" panose="020B0602030504020204" pitchFamily="34" charset="0"/>
                <a:ea typeface="MS Gothic" pitchFamily="49" charset="-128"/>
                <a:cs typeface="Times New Roman" panose="02020603050405020304" pitchFamily="18" charset="0"/>
              </a:rPr>
              <a:t>'</a:t>
            </a:r>
            <a:r>
              <a:rPr lang="en-US" altLang="en-US" sz="2568" dirty="0" err="1">
                <a:solidFill>
                  <a:srgbClr val="0070C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abcd</a:t>
            </a:r>
            <a:r>
              <a:rPr lang="en-US" altLang="en-US" sz="2568" dirty="0">
                <a:solidFill>
                  <a:srgbClr val="0070C0"/>
                </a:solidFill>
                <a:latin typeface="Lucida Sans" panose="020B0602030504020204" pitchFamily="34" charset="0"/>
                <a:ea typeface="MS Gothic" pitchFamily="49" charset="-128"/>
                <a:cs typeface="Times New Roman" panose="02020603050405020304" pitchFamily="18" charset="0"/>
              </a:rPr>
              <a:t>'</a:t>
            </a:r>
            <a:r>
              <a:rPr lang="en-US" altLang="en-US" sz="2568" dirty="0">
                <a:solidFill>
                  <a:srgbClr val="0070C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, 786, 2.23, </a:t>
            </a:r>
            <a:r>
              <a:rPr lang="en-US" altLang="en-US" sz="2568" dirty="0">
                <a:solidFill>
                  <a:srgbClr val="0070C0"/>
                </a:solidFill>
                <a:latin typeface="Lucida Sans" panose="020B0602030504020204" pitchFamily="34" charset="0"/>
                <a:ea typeface="MS Gothic" pitchFamily="49" charset="-128"/>
                <a:cs typeface="Times New Roman" panose="02020603050405020304" pitchFamily="18" charset="0"/>
              </a:rPr>
              <a:t>'</a:t>
            </a:r>
            <a:r>
              <a:rPr lang="en-US" altLang="en-US" sz="2568" dirty="0">
                <a:solidFill>
                  <a:srgbClr val="0070C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john</a:t>
            </a:r>
            <a:r>
              <a:rPr lang="en-US" altLang="en-US" sz="2568" dirty="0">
                <a:solidFill>
                  <a:srgbClr val="0070C0"/>
                </a:solidFill>
                <a:latin typeface="Lucida Sans" panose="020B0602030504020204" pitchFamily="34" charset="0"/>
                <a:ea typeface="MS Gothic" pitchFamily="49" charset="-128"/>
                <a:cs typeface="Times New Roman" panose="02020603050405020304" pitchFamily="18" charset="0"/>
              </a:rPr>
              <a:t>'</a:t>
            </a:r>
            <a:r>
              <a:rPr lang="en-US" altLang="en-US" sz="2568" dirty="0">
                <a:solidFill>
                  <a:srgbClr val="0070C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, 70.2 ]</a:t>
            </a:r>
          </a:p>
          <a:p>
            <a:pPr>
              <a:lnSpc>
                <a:spcPct val="86000"/>
              </a:lnSpc>
              <a:spcBef>
                <a:spcPts val="0"/>
              </a:spcBef>
              <a:buNone/>
            </a:pPr>
            <a:r>
              <a:rPr lang="en-US" altLang="en-US" sz="2568" dirty="0" err="1">
                <a:solidFill>
                  <a:srgbClr val="0070C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tlist</a:t>
            </a:r>
            <a:r>
              <a:rPr lang="en-US" altLang="en-US" sz="2568" dirty="0">
                <a:solidFill>
                  <a:srgbClr val="0070C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 = [123, </a:t>
            </a:r>
            <a:r>
              <a:rPr lang="en-US" altLang="en-US" sz="2568" dirty="0">
                <a:solidFill>
                  <a:srgbClr val="0070C0"/>
                </a:solidFill>
                <a:latin typeface="Lucida Sans" panose="020B0602030504020204" pitchFamily="34" charset="0"/>
                <a:ea typeface="MS Gothic" pitchFamily="49" charset="-128"/>
                <a:cs typeface="Times New Roman" panose="02020603050405020304" pitchFamily="18" charset="0"/>
              </a:rPr>
              <a:t>'</a:t>
            </a:r>
            <a:r>
              <a:rPr lang="en-US" altLang="en-US" sz="2568" dirty="0">
                <a:solidFill>
                  <a:srgbClr val="0070C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john</a:t>
            </a:r>
            <a:r>
              <a:rPr lang="en-US" altLang="en-US" sz="2568" dirty="0">
                <a:solidFill>
                  <a:srgbClr val="0070C0"/>
                </a:solidFill>
                <a:latin typeface="Lucida Sans" panose="020B0602030504020204" pitchFamily="34" charset="0"/>
                <a:ea typeface="MS Gothic" pitchFamily="49" charset="-128"/>
                <a:cs typeface="Times New Roman" panose="02020603050405020304" pitchFamily="18" charset="0"/>
              </a:rPr>
              <a:t>'</a:t>
            </a:r>
            <a:r>
              <a:rPr lang="en-US" altLang="en-US" sz="2568" dirty="0">
                <a:solidFill>
                  <a:srgbClr val="0070C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]</a:t>
            </a:r>
          </a:p>
          <a:p>
            <a:pPr>
              <a:lnSpc>
                <a:spcPct val="86000"/>
              </a:lnSpc>
              <a:spcBef>
                <a:spcPts val="0"/>
              </a:spcBef>
              <a:buNone/>
            </a:pPr>
            <a:r>
              <a:rPr lang="en-US" altLang="en-US" sz="2568" dirty="0">
                <a:solidFill>
                  <a:srgbClr val="0070C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print </a:t>
            </a:r>
            <a:r>
              <a:rPr lang="en-US" altLang="en-US" sz="2568" b="1" dirty="0">
                <a:solidFill>
                  <a:srgbClr val="0070C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(</a:t>
            </a:r>
            <a:r>
              <a:rPr lang="en-US" altLang="en-US" sz="2568" dirty="0">
                <a:solidFill>
                  <a:srgbClr val="0070C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list</a:t>
            </a:r>
            <a:r>
              <a:rPr lang="en-US" altLang="en-US" sz="2568" b="1" dirty="0">
                <a:solidFill>
                  <a:srgbClr val="0070C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)</a:t>
            </a:r>
            <a:r>
              <a:rPr lang="en-US" altLang="en-US" sz="2568" dirty="0">
                <a:solidFill>
                  <a:srgbClr val="0070C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       # Prints complete list</a:t>
            </a:r>
          </a:p>
          <a:p>
            <a:pPr>
              <a:lnSpc>
                <a:spcPct val="86000"/>
              </a:lnSpc>
              <a:spcBef>
                <a:spcPts val="0"/>
              </a:spcBef>
              <a:buNone/>
            </a:pPr>
            <a:r>
              <a:rPr lang="en-US" altLang="en-US" sz="2568" dirty="0">
                <a:solidFill>
                  <a:srgbClr val="0070C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print </a:t>
            </a:r>
            <a:r>
              <a:rPr lang="en-US" altLang="en-US" sz="2568" b="1" dirty="0">
                <a:solidFill>
                  <a:srgbClr val="0070C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(</a:t>
            </a:r>
            <a:r>
              <a:rPr lang="en-US" altLang="en-US" sz="2568" dirty="0">
                <a:solidFill>
                  <a:srgbClr val="0070C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list[-2]</a:t>
            </a:r>
            <a:r>
              <a:rPr lang="en-US" altLang="en-US" sz="2568" b="1" dirty="0">
                <a:solidFill>
                  <a:srgbClr val="0070C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)</a:t>
            </a:r>
            <a:r>
              <a:rPr lang="en-US" altLang="en-US" sz="2568" dirty="0">
                <a:solidFill>
                  <a:srgbClr val="0070C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   # Prints the </a:t>
            </a:r>
            <a:r>
              <a:rPr lang="en-US" altLang="en-US" sz="2568" dirty="0" smtClean="0">
                <a:solidFill>
                  <a:srgbClr val="0070C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second-from-back </a:t>
            </a:r>
            <a:r>
              <a:rPr lang="en-US" altLang="en-US" sz="2568" dirty="0">
                <a:solidFill>
                  <a:srgbClr val="0070C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element </a:t>
            </a:r>
          </a:p>
          <a:p>
            <a:pPr>
              <a:lnSpc>
                <a:spcPct val="86000"/>
              </a:lnSpc>
              <a:spcBef>
                <a:spcPts val="0"/>
              </a:spcBef>
              <a:buNone/>
            </a:pPr>
            <a:r>
              <a:rPr lang="en-US" altLang="en-US" sz="2568" dirty="0">
                <a:solidFill>
                  <a:srgbClr val="0070C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print </a:t>
            </a:r>
            <a:r>
              <a:rPr lang="en-US" altLang="en-US" sz="2568" b="1" dirty="0">
                <a:solidFill>
                  <a:srgbClr val="0070C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(</a:t>
            </a:r>
            <a:r>
              <a:rPr lang="en-US" altLang="en-US" sz="2568" dirty="0">
                <a:solidFill>
                  <a:srgbClr val="0070C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list[1:4]</a:t>
            </a:r>
            <a:r>
              <a:rPr lang="en-US" altLang="en-US" sz="2568" b="1" dirty="0">
                <a:solidFill>
                  <a:srgbClr val="0070C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)</a:t>
            </a:r>
            <a:r>
              <a:rPr lang="en-US" altLang="en-US" sz="2568" dirty="0">
                <a:solidFill>
                  <a:srgbClr val="0070C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  # Prints</a:t>
            </a:r>
            <a:r>
              <a:rPr lang="en-US" altLang="en-US" sz="2400" dirty="0">
                <a:solidFill>
                  <a:srgbClr val="0070C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 </a:t>
            </a:r>
            <a:r>
              <a:rPr lang="en-US" altLang="en-US" sz="2568" dirty="0">
                <a:solidFill>
                  <a:srgbClr val="0070C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elements</a:t>
            </a:r>
            <a:r>
              <a:rPr lang="en-US" altLang="en-US" sz="2400" dirty="0">
                <a:solidFill>
                  <a:srgbClr val="0070C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 </a:t>
            </a:r>
            <a:r>
              <a:rPr lang="en-US" altLang="en-US" sz="2568" dirty="0" smtClean="0">
                <a:solidFill>
                  <a:srgbClr val="0070C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from</a:t>
            </a:r>
            <a:r>
              <a:rPr lang="en-US" altLang="en-US" sz="2400" dirty="0" smtClean="0">
                <a:solidFill>
                  <a:srgbClr val="0070C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 </a:t>
            </a:r>
            <a:r>
              <a:rPr lang="en-US" altLang="en-US" sz="2568" dirty="0" smtClean="0">
                <a:solidFill>
                  <a:srgbClr val="0070C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2</a:t>
            </a:r>
            <a:r>
              <a:rPr lang="en-US" altLang="en-US" sz="2568" baseline="30000" dirty="0" smtClean="0">
                <a:solidFill>
                  <a:srgbClr val="0070C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nd</a:t>
            </a:r>
            <a:r>
              <a:rPr lang="en-US" altLang="en-US" sz="2568" spc="-400" dirty="0" smtClean="0">
                <a:solidFill>
                  <a:srgbClr val="0070C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(</a:t>
            </a:r>
            <a:r>
              <a:rPr lang="en-US" altLang="en-US" sz="2568" spc="-400" dirty="0" err="1" smtClean="0">
                <a:solidFill>
                  <a:srgbClr val="0070C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i</a:t>
            </a:r>
            <a:r>
              <a:rPr lang="en-US" altLang="en-US" sz="2568" spc="-200" dirty="0" err="1" smtClean="0">
                <a:solidFill>
                  <a:srgbClr val="0070C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e</a:t>
            </a:r>
            <a:r>
              <a:rPr lang="en-US" altLang="en-US" sz="2568" dirty="0" smtClean="0">
                <a:solidFill>
                  <a:srgbClr val="0070C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 </a:t>
            </a:r>
            <a:r>
              <a:rPr lang="en-US" altLang="en-US" sz="2568" spc="-300" dirty="0" smtClean="0">
                <a:solidFill>
                  <a:srgbClr val="0070C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1</a:t>
            </a:r>
            <a:r>
              <a:rPr lang="en-US" altLang="en-US" sz="2568" baseline="30000" dirty="0" smtClean="0">
                <a:solidFill>
                  <a:srgbClr val="0070C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th</a:t>
            </a:r>
            <a:r>
              <a:rPr lang="en-US" altLang="en-US" sz="2568" dirty="0" smtClean="0">
                <a:solidFill>
                  <a:srgbClr val="0070C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)</a:t>
            </a:r>
            <a:r>
              <a:rPr lang="en-US" altLang="en-US" sz="1800" dirty="0" smtClean="0">
                <a:solidFill>
                  <a:srgbClr val="0070C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 </a:t>
            </a:r>
            <a:r>
              <a:rPr lang="en-US" altLang="en-US" sz="2568" dirty="0">
                <a:solidFill>
                  <a:srgbClr val="0070C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to</a:t>
            </a:r>
            <a:r>
              <a:rPr lang="en-US" altLang="en-US" sz="2400" dirty="0">
                <a:solidFill>
                  <a:srgbClr val="0070C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 </a:t>
            </a:r>
            <a:r>
              <a:rPr lang="en-US" altLang="en-US" sz="2568" dirty="0">
                <a:solidFill>
                  <a:srgbClr val="0070C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4</a:t>
            </a:r>
            <a:r>
              <a:rPr lang="en-US" altLang="en-US" sz="2568" baseline="30000" dirty="0">
                <a:solidFill>
                  <a:srgbClr val="0070C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th</a:t>
            </a:r>
            <a:r>
              <a:rPr lang="en-US" altLang="en-US" sz="2568" dirty="0">
                <a:solidFill>
                  <a:srgbClr val="0070C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86000"/>
              </a:lnSpc>
              <a:spcBef>
                <a:spcPts val="0"/>
              </a:spcBef>
              <a:buNone/>
            </a:pPr>
            <a:r>
              <a:rPr lang="en-US" altLang="en-US" sz="2568" dirty="0">
                <a:solidFill>
                  <a:srgbClr val="0070C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print </a:t>
            </a:r>
            <a:r>
              <a:rPr lang="en-US" altLang="en-US" sz="2568" b="1" dirty="0">
                <a:solidFill>
                  <a:srgbClr val="0070C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(</a:t>
            </a:r>
            <a:r>
              <a:rPr lang="en-US" altLang="en-US" sz="2568" dirty="0">
                <a:solidFill>
                  <a:srgbClr val="0070C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list[2:]</a:t>
            </a:r>
            <a:r>
              <a:rPr lang="en-US" altLang="en-US" sz="2568" b="1" dirty="0">
                <a:solidFill>
                  <a:srgbClr val="0070C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)</a:t>
            </a:r>
            <a:r>
              <a:rPr lang="en-US" altLang="en-US" sz="2568" dirty="0">
                <a:solidFill>
                  <a:srgbClr val="0070C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   # Prints elements</a:t>
            </a:r>
            <a:r>
              <a:rPr lang="en-US" altLang="en-US" sz="2400" dirty="0">
                <a:solidFill>
                  <a:srgbClr val="0070C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 </a:t>
            </a:r>
            <a:r>
              <a:rPr lang="en-US" altLang="en-US" sz="2568" spc="-10" dirty="0">
                <a:solidFill>
                  <a:srgbClr val="0070C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starting</a:t>
            </a:r>
            <a:r>
              <a:rPr lang="en-US" altLang="en-US" sz="2400" dirty="0">
                <a:solidFill>
                  <a:srgbClr val="0070C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 </a:t>
            </a:r>
            <a:r>
              <a:rPr lang="en-US" altLang="en-US" sz="2568" spc="-100" dirty="0">
                <a:solidFill>
                  <a:srgbClr val="0070C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a</a:t>
            </a:r>
            <a:r>
              <a:rPr lang="en-US" altLang="en-US" sz="2568" dirty="0">
                <a:solidFill>
                  <a:srgbClr val="0070C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t</a:t>
            </a:r>
            <a:r>
              <a:rPr lang="en-US" altLang="en-US" sz="2000" dirty="0">
                <a:solidFill>
                  <a:srgbClr val="0070C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 </a:t>
            </a:r>
            <a:r>
              <a:rPr lang="en-US" altLang="en-US" sz="2568" dirty="0" smtClean="0">
                <a:solidFill>
                  <a:srgbClr val="0070C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3</a:t>
            </a:r>
            <a:r>
              <a:rPr lang="en-US" altLang="en-US" sz="2568" baseline="30000" dirty="0" smtClean="0">
                <a:solidFill>
                  <a:srgbClr val="0070C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rd</a:t>
            </a:r>
            <a:r>
              <a:rPr lang="en-US" altLang="en-US" sz="2568" spc="-400" dirty="0" smtClean="0">
                <a:solidFill>
                  <a:srgbClr val="0070C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(</a:t>
            </a:r>
            <a:r>
              <a:rPr lang="en-US" altLang="en-US" sz="2568" spc="-400" dirty="0" err="1" smtClean="0">
                <a:solidFill>
                  <a:srgbClr val="0070C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i</a:t>
            </a:r>
            <a:r>
              <a:rPr lang="en-US" altLang="en-US" sz="2568" spc="-200" dirty="0" err="1" smtClean="0">
                <a:solidFill>
                  <a:srgbClr val="0070C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e</a:t>
            </a:r>
            <a:r>
              <a:rPr lang="en-US" altLang="en-US" sz="2568" dirty="0" smtClean="0">
                <a:solidFill>
                  <a:srgbClr val="0070C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 </a:t>
            </a:r>
            <a:r>
              <a:rPr lang="en-US" altLang="en-US" sz="2568" spc="-200" dirty="0" smtClean="0">
                <a:solidFill>
                  <a:srgbClr val="0070C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2</a:t>
            </a:r>
            <a:r>
              <a:rPr lang="en-US" altLang="en-US" sz="2568" spc="-200" baseline="30000" dirty="0" smtClean="0">
                <a:solidFill>
                  <a:srgbClr val="0070C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th</a:t>
            </a:r>
            <a:r>
              <a:rPr lang="en-US" altLang="en-US" sz="2568" dirty="0">
                <a:solidFill>
                  <a:srgbClr val="0070C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)</a:t>
            </a:r>
            <a:r>
              <a:rPr lang="en-US" altLang="en-US" sz="1800" dirty="0">
                <a:solidFill>
                  <a:srgbClr val="0070C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 </a:t>
            </a:r>
            <a:endParaRPr lang="en-US" altLang="en-US" sz="2568" dirty="0">
              <a:solidFill>
                <a:srgbClr val="0070C0"/>
              </a:solidFill>
              <a:latin typeface="MS Gothic" pitchFamily="49" charset="-128"/>
              <a:ea typeface="MS Gothic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86000"/>
              </a:lnSpc>
              <a:spcBef>
                <a:spcPts val="0"/>
              </a:spcBef>
              <a:buNone/>
            </a:pPr>
            <a:r>
              <a:rPr lang="en-US" altLang="en-US" sz="2568" dirty="0">
                <a:solidFill>
                  <a:srgbClr val="0070C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print </a:t>
            </a:r>
            <a:r>
              <a:rPr lang="en-US" altLang="en-US" sz="2568" b="1" dirty="0">
                <a:solidFill>
                  <a:srgbClr val="0070C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(</a:t>
            </a:r>
            <a:r>
              <a:rPr lang="en-US" altLang="en-US" sz="2568" dirty="0" err="1">
                <a:solidFill>
                  <a:srgbClr val="0070C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tlist</a:t>
            </a:r>
            <a:r>
              <a:rPr lang="en-US" altLang="en-US" sz="2568" dirty="0">
                <a:solidFill>
                  <a:srgbClr val="0070C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 * 2</a:t>
            </a:r>
            <a:r>
              <a:rPr lang="en-US" altLang="en-US" sz="2568" b="1" dirty="0">
                <a:solidFill>
                  <a:srgbClr val="0070C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)</a:t>
            </a:r>
            <a:r>
              <a:rPr lang="en-US" altLang="en-US" sz="2568" dirty="0">
                <a:solidFill>
                  <a:srgbClr val="0070C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    # Prints the list two times</a:t>
            </a:r>
          </a:p>
          <a:p>
            <a:pPr>
              <a:lnSpc>
                <a:spcPct val="86000"/>
              </a:lnSpc>
              <a:spcBef>
                <a:spcPts val="0"/>
              </a:spcBef>
              <a:buNone/>
            </a:pPr>
            <a:r>
              <a:rPr lang="en-US" altLang="en-US" sz="2568" dirty="0">
                <a:solidFill>
                  <a:srgbClr val="0070C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print </a:t>
            </a:r>
            <a:r>
              <a:rPr lang="en-US" altLang="en-US" sz="2568" b="1" dirty="0">
                <a:solidFill>
                  <a:srgbClr val="0070C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(</a:t>
            </a:r>
            <a:r>
              <a:rPr lang="en-US" altLang="en-US" sz="2568" dirty="0">
                <a:solidFill>
                  <a:srgbClr val="0070C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list + </a:t>
            </a:r>
            <a:r>
              <a:rPr lang="en-US" altLang="en-US" sz="2568" dirty="0" err="1">
                <a:solidFill>
                  <a:srgbClr val="0070C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tlist</a:t>
            </a:r>
            <a:r>
              <a:rPr lang="en-US" altLang="en-US" sz="2568" b="1" dirty="0">
                <a:solidFill>
                  <a:srgbClr val="0070C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)</a:t>
            </a:r>
            <a:r>
              <a:rPr lang="en-US" altLang="en-US" sz="2568" dirty="0">
                <a:solidFill>
                  <a:srgbClr val="0070C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 # Prints concatenated lists</a:t>
            </a:r>
          </a:p>
          <a:p>
            <a:pPr>
              <a:lnSpc>
                <a:spcPct val="86000"/>
              </a:lnSpc>
              <a:spcBef>
                <a:spcPts val="0"/>
              </a:spcBef>
              <a:buNone/>
            </a:pPr>
            <a:r>
              <a:rPr lang="en-US" altLang="en-US" sz="2568" dirty="0">
                <a:solidFill>
                  <a:srgbClr val="FFC000"/>
                </a:solidFill>
                <a:latin typeface="Lucida Console" pitchFamily="49" charset="0"/>
                <a:ea typeface="MS Gothic" pitchFamily="49" charset="-128"/>
                <a:cs typeface="Times New Roman" panose="02020603050405020304" pitchFamily="18" charset="0"/>
              </a:rPr>
              <a:t>%</a:t>
            </a:r>
            <a:r>
              <a:rPr lang="en-US" altLang="en-US" sz="2568" dirty="0">
                <a:solidFill>
                  <a:srgbClr val="FFC00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 python3 test.py</a:t>
            </a:r>
          </a:p>
          <a:p>
            <a:pPr>
              <a:lnSpc>
                <a:spcPct val="86000"/>
              </a:lnSpc>
              <a:spcBef>
                <a:spcPts val="0"/>
              </a:spcBef>
              <a:buNone/>
            </a:pPr>
            <a:r>
              <a:rPr lang="en-US" altLang="en-US" sz="2568" dirty="0">
                <a:solidFill>
                  <a:srgbClr val="FF000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[</a:t>
            </a:r>
            <a:r>
              <a:rPr lang="en-US" altLang="en-US" sz="2568" dirty="0" smtClean="0">
                <a:solidFill>
                  <a:srgbClr val="FF0000"/>
                </a:solidFill>
                <a:latin typeface="Lucida Sans" panose="020B0602030504020204" pitchFamily="34" charset="0"/>
                <a:ea typeface="MS Gothic" pitchFamily="49" charset="-128"/>
                <a:cs typeface="Times New Roman" panose="02020603050405020304" pitchFamily="18" charset="0"/>
              </a:rPr>
              <a:t>'</a:t>
            </a:r>
            <a:r>
              <a:rPr lang="en-US" altLang="en-US" sz="2568" dirty="0" err="1" smtClean="0">
                <a:solidFill>
                  <a:srgbClr val="FF000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abcd</a:t>
            </a:r>
            <a:r>
              <a:rPr lang="en-US" altLang="en-US" sz="2568" dirty="0" smtClean="0">
                <a:solidFill>
                  <a:srgbClr val="FF0000"/>
                </a:solidFill>
                <a:latin typeface="Lucida Sans" panose="020B0602030504020204" pitchFamily="34" charset="0"/>
                <a:ea typeface="MS Gothic" pitchFamily="49" charset="-128"/>
                <a:cs typeface="Times New Roman" panose="02020603050405020304" pitchFamily="18" charset="0"/>
              </a:rPr>
              <a:t>'</a:t>
            </a:r>
            <a:r>
              <a:rPr lang="en-US" altLang="en-US" sz="2568" dirty="0" smtClean="0">
                <a:solidFill>
                  <a:srgbClr val="FF000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, </a:t>
            </a:r>
            <a:r>
              <a:rPr lang="en-US" altLang="en-US" sz="2568" dirty="0">
                <a:solidFill>
                  <a:srgbClr val="FF000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786, 2.23, </a:t>
            </a:r>
            <a:r>
              <a:rPr lang="en-US" altLang="en-US" sz="2568" dirty="0">
                <a:solidFill>
                  <a:srgbClr val="FF0000"/>
                </a:solidFill>
                <a:latin typeface="Lucida Sans" panose="020B0602030504020204" pitchFamily="34" charset="0"/>
                <a:ea typeface="MS Gothic" pitchFamily="49" charset="-128"/>
                <a:cs typeface="Times New Roman" panose="02020603050405020304" pitchFamily="18" charset="0"/>
              </a:rPr>
              <a:t>'</a:t>
            </a:r>
            <a:r>
              <a:rPr lang="en-US" altLang="en-US" sz="2568" dirty="0">
                <a:solidFill>
                  <a:srgbClr val="FF000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john</a:t>
            </a:r>
            <a:r>
              <a:rPr lang="en-US" altLang="en-US" sz="2568" dirty="0">
                <a:solidFill>
                  <a:srgbClr val="FF0000"/>
                </a:solidFill>
                <a:latin typeface="Lucida Sans" panose="020B0602030504020204" pitchFamily="34" charset="0"/>
                <a:ea typeface="MS Gothic" pitchFamily="49" charset="-128"/>
                <a:cs typeface="Times New Roman" panose="02020603050405020304" pitchFamily="18" charset="0"/>
              </a:rPr>
              <a:t>'</a:t>
            </a:r>
            <a:r>
              <a:rPr lang="en-US" altLang="en-US" sz="2568" dirty="0">
                <a:solidFill>
                  <a:srgbClr val="FF000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, 70.2]</a:t>
            </a:r>
          </a:p>
          <a:p>
            <a:pPr>
              <a:lnSpc>
                <a:spcPct val="86000"/>
              </a:lnSpc>
              <a:spcBef>
                <a:spcPts val="0"/>
              </a:spcBef>
              <a:buNone/>
            </a:pPr>
            <a:r>
              <a:rPr lang="en-US" altLang="en-US" sz="2568" dirty="0">
                <a:solidFill>
                  <a:srgbClr val="FF0000"/>
                </a:solidFill>
                <a:latin typeface="Lucida Sans" panose="020B0602030504020204" pitchFamily="34" charset="0"/>
                <a:ea typeface="MS Gothic" pitchFamily="49" charset="-128"/>
                <a:cs typeface="Times New Roman" panose="02020603050405020304" pitchFamily="18" charset="0"/>
              </a:rPr>
              <a:t>'</a:t>
            </a:r>
            <a:r>
              <a:rPr lang="en-US" altLang="en-US" sz="2568" dirty="0">
                <a:solidFill>
                  <a:srgbClr val="FF000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john</a:t>
            </a:r>
            <a:r>
              <a:rPr lang="en-US" altLang="en-US" sz="2568" dirty="0">
                <a:solidFill>
                  <a:srgbClr val="FF0000"/>
                </a:solidFill>
                <a:latin typeface="Lucida Sans" panose="020B0602030504020204" pitchFamily="34" charset="0"/>
                <a:ea typeface="MS Gothic" pitchFamily="49" charset="-128"/>
                <a:cs typeface="Times New Roman" panose="02020603050405020304" pitchFamily="18" charset="0"/>
              </a:rPr>
              <a:t>'</a:t>
            </a:r>
          </a:p>
          <a:p>
            <a:pPr>
              <a:lnSpc>
                <a:spcPct val="86000"/>
              </a:lnSpc>
              <a:spcBef>
                <a:spcPts val="0"/>
              </a:spcBef>
              <a:buNone/>
            </a:pPr>
            <a:r>
              <a:rPr lang="en-US" altLang="en-US" sz="2568" dirty="0">
                <a:solidFill>
                  <a:srgbClr val="FF000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[786, 2.23, </a:t>
            </a:r>
            <a:r>
              <a:rPr lang="en-US" altLang="en-US" sz="2568" dirty="0">
                <a:solidFill>
                  <a:srgbClr val="FF0000"/>
                </a:solidFill>
                <a:latin typeface="Lucida Sans" panose="020B0602030504020204" pitchFamily="34" charset="0"/>
                <a:ea typeface="MS Gothic" pitchFamily="49" charset="-128"/>
                <a:cs typeface="Times New Roman" panose="02020603050405020304" pitchFamily="18" charset="0"/>
              </a:rPr>
              <a:t>'</a:t>
            </a:r>
            <a:r>
              <a:rPr lang="en-US" altLang="en-US" sz="2568" dirty="0">
                <a:solidFill>
                  <a:srgbClr val="FF000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john</a:t>
            </a:r>
            <a:r>
              <a:rPr lang="en-US" altLang="en-US" sz="2568" dirty="0">
                <a:solidFill>
                  <a:srgbClr val="FF0000"/>
                </a:solidFill>
                <a:latin typeface="Lucida Sans" panose="020B0602030504020204" pitchFamily="34" charset="0"/>
                <a:ea typeface="MS Gothic" pitchFamily="49" charset="-128"/>
                <a:cs typeface="Times New Roman" panose="02020603050405020304" pitchFamily="18" charset="0"/>
              </a:rPr>
              <a:t>'</a:t>
            </a:r>
            <a:r>
              <a:rPr lang="en-US" altLang="en-US" sz="2568" dirty="0">
                <a:solidFill>
                  <a:srgbClr val="FF000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]</a:t>
            </a:r>
          </a:p>
          <a:p>
            <a:pPr>
              <a:lnSpc>
                <a:spcPct val="86000"/>
              </a:lnSpc>
              <a:spcBef>
                <a:spcPts val="0"/>
              </a:spcBef>
              <a:buNone/>
            </a:pPr>
            <a:r>
              <a:rPr lang="en-US" altLang="en-US" sz="2568" dirty="0">
                <a:solidFill>
                  <a:srgbClr val="FF000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[2.23, </a:t>
            </a:r>
            <a:r>
              <a:rPr lang="en-US" altLang="en-US" sz="2568" dirty="0">
                <a:solidFill>
                  <a:srgbClr val="FF0000"/>
                </a:solidFill>
                <a:latin typeface="Lucida Sans" panose="020B0602030504020204" pitchFamily="34" charset="0"/>
                <a:ea typeface="MS Gothic" pitchFamily="49" charset="-128"/>
                <a:cs typeface="Times New Roman" panose="02020603050405020304" pitchFamily="18" charset="0"/>
              </a:rPr>
              <a:t>'</a:t>
            </a:r>
            <a:r>
              <a:rPr lang="en-US" altLang="en-US" sz="2568" dirty="0">
                <a:solidFill>
                  <a:srgbClr val="FF000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john</a:t>
            </a:r>
            <a:r>
              <a:rPr lang="en-US" altLang="en-US" sz="2568" dirty="0">
                <a:solidFill>
                  <a:srgbClr val="FF0000"/>
                </a:solidFill>
                <a:latin typeface="Lucida Sans" panose="020B0602030504020204" pitchFamily="34" charset="0"/>
                <a:ea typeface="MS Gothic" pitchFamily="49" charset="-128"/>
                <a:cs typeface="Times New Roman" panose="02020603050405020304" pitchFamily="18" charset="0"/>
              </a:rPr>
              <a:t>'</a:t>
            </a:r>
            <a:r>
              <a:rPr lang="en-US" altLang="en-US" sz="2568" dirty="0">
                <a:solidFill>
                  <a:srgbClr val="FF000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, 70.2]</a:t>
            </a:r>
          </a:p>
          <a:p>
            <a:pPr>
              <a:lnSpc>
                <a:spcPct val="86000"/>
              </a:lnSpc>
              <a:spcBef>
                <a:spcPts val="0"/>
              </a:spcBef>
              <a:buNone/>
            </a:pPr>
            <a:r>
              <a:rPr lang="en-US" altLang="en-US" sz="2568" dirty="0">
                <a:solidFill>
                  <a:srgbClr val="FF000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[123, </a:t>
            </a:r>
            <a:r>
              <a:rPr lang="en-US" altLang="en-US" sz="2568" dirty="0">
                <a:solidFill>
                  <a:srgbClr val="FF0000"/>
                </a:solidFill>
                <a:latin typeface="Lucida Sans" panose="020B0602030504020204" pitchFamily="34" charset="0"/>
                <a:ea typeface="MS Gothic" pitchFamily="49" charset="-128"/>
                <a:cs typeface="Times New Roman" panose="02020603050405020304" pitchFamily="18" charset="0"/>
              </a:rPr>
              <a:t>'</a:t>
            </a:r>
            <a:r>
              <a:rPr lang="en-US" altLang="en-US" sz="2568" dirty="0">
                <a:solidFill>
                  <a:srgbClr val="FF000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john</a:t>
            </a:r>
            <a:r>
              <a:rPr lang="en-US" altLang="en-US" sz="2568" dirty="0">
                <a:solidFill>
                  <a:srgbClr val="FF0000"/>
                </a:solidFill>
                <a:latin typeface="Lucida Sans" panose="020B0602030504020204" pitchFamily="34" charset="0"/>
                <a:ea typeface="MS Gothic" pitchFamily="49" charset="-128"/>
                <a:cs typeface="Times New Roman" panose="02020603050405020304" pitchFamily="18" charset="0"/>
              </a:rPr>
              <a:t>'</a:t>
            </a:r>
            <a:r>
              <a:rPr lang="en-US" altLang="en-US" sz="2568" dirty="0">
                <a:solidFill>
                  <a:srgbClr val="FF000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, 123, </a:t>
            </a:r>
            <a:r>
              <a:rPr lang="en-US" altLang="en-US" sz="2568" dirty="0">
                <a:solidFill>
                  <a:srgbClr val="FF0000"/>
                </a:solidFill>
                <a:latin typeface="Lucida Sans" panose="020B0602030504020204" pitchFamily="34" charset="0"/>
                <a:ea typeface="MS Gothic" pitchFamily="49" charset="-128"/>
                <a:cs typeface="Times New Roman" panose="02020603050405020304" pitchFamily="18" charset="0"/>
              </a:rPr>
              <a:t>'</a:t>
            </a:r>
            <a:r>
              <a:rPr lang="en-US" altLang="en-US" sz="2568" dirty="0">
                <a:solidFill>
                  <a:srgbClr val="FF000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john</a:t>
            </a:r>
            <a:r>
              <a:rPr lang="en-US" altLang="en-US" sz="2568" dirty="0">
                <a:solidFill>
                  <a:srgbClr val="FF0000"/>
                </a:solidFill>
                <a:latin typeface="Lucida Sans" panose="020B0602030504020204" pitchFamily="34" charset="0"/>
                <a:ea typeface="MS Gothic" pitchFamily="49" charset="-128"/>
                <a:cs typeface="Times New Roman" panose="02020603050405020304" pitchFamily="18" charset="0"/>
              </a:rPr>
              <a:t>'</a:t>
            </a:r>
            <a:r>
              <a:rPr lang="en-US" altLang="en-US" sz="2568" dirty="0">
                <a:solidFill>
                  <a:srgbClr val="FF000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]</a:t>
            </a:r>
          </a:p>
          <a:p>
            <a:pPr>
              <a:lnSpc>
                <a:spcPct val="86000"/>
              </a:lnSpc>
              <a:spcBef>
                <a:spcPts val="0"/>
              </a:spcBef>
              <a:buNone/>
            </a:pPr>
            <a:r>
              <a:rPr lang="en-US" altLang="en-US" sz="2568" dirty="0">
                <a:solidFill>
                  <a:srgbClr val="FF000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[</a:t>
            </a:r>
            <a:r>
              <a:rPr lang="en-US" altLang="en-US" sz="2568" dirty="0">
                <a:solidFill>
                  <a:srgbClr val="FF0000"/>
                </a:solidFill>
                <a:latin typeface="Lucida Sans" panose="020B0602030504020204" pitchFamily="34" charset="0"/>
                <a:ea typeface="MS Gothic" pitchFamily="49" charset="-128"/>
                <a:cs typeface="Times New Roman" panose="02020603050405020304" pitchFamily="18" charset="0"/>
              </a:rPr>
              <a:t>'</a:t>
            </a:r>
            <a:r>
              <a:rPr lang="en-US" altLang="en-US" sz="2568" dirty="0" err="1">
                <a:solidFill>
                  <a:srgbClr val="FF000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abcd</a:t>
            </a:r>
            <a:r>
              <a:rPr lang="en-US" altLang="en-US" sz="2568" dirty="0">
                <a:solidFill>
                  <a:srgbClr val="FF0000"/>
                </a:solidFill>
                <a:latin typeface="Lucida Sans" panose="020B0602030504020204" pitchFamily="34" charset="0"/>
                <a:ea typeface="MS Gothic" pitchFamily="49" charset="-128"/>
                <a:cs typeface="Times New Roman" panose="02020603050405020304" pitchFamily="18" charset="0"/>
              </a:rPr>
              <a:t>'</a:t>
            </a:r>
            <a:r>
              <a:rPr lang="en-US" altLang="en-US" sz="2568" dirty="0">
                <a:solidFill>
                  <a:srgbClr val="FF000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, 786, 2.23, </a:t>
            </a:r>
            <a:r>
              <a:rPr lang="en-US" altLang="en-US" sz="2568" dirty="0">
                <a:solidFill>
                  <a:srgbClr val="FF0000"/>
                </a:solidFill>
                <a:latin typeface="Lucida Sans" panose="020B0602030504020204" pitchFamily="34" charset="0"/>
                <a:ea typeface="MS Gothic" pitchFamily="49" charset="-128"/>
                <a:cs typeface="Times New Roman" panose="02020603050405020304" pitchFamily="18" charset="0"/>
              </a:rPr>
              <a:t>'</a:t>
            </a:r>
            <a:r>
              <a:rPr lang="en-US" altLang="en-US" sz="2568" dirty="0">
                <a:solidFill>
                  <a:srgbClr val="FF000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john</a:t>
            </a:r>
            <a:r>
              <a:rPr lang="en-US" altLang="en-US" sz="2568" dirty="0">
                <a:solidFill>
                  <a:srgbClr val="FF0000"/>
                </a:solidFill>
                <a:latin typeface="Lucida Sans" panose="020B0602030504020204" pitchFamily="34" charset="0"/>
                <a:ea typeface="MS Gothic" pitchFamily="49" charset="-128"/>
                <a:cs typeface="Times New Roman" panose="02020603050405020304" pitchFamily="18" charset="0"/>
              </a:rPr>
              <a:t>'</a:t>
            </a:r>
            <a:r>
              <a:rPr lang="en-US" altLang="en-US" sz="2568" dirty="0">
                <a:solidFill>
                  <a:srgbClr val="FF000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, 70.2, 123, </a:t>
            </a:r>
            <a:r>
              <a:rPr lang="en-US" altLang="en-US" sz="2568" dirty="0">
                <a:solidFill>
                  <a:srgbClr val="FF0000"/>
                </a:solidFill>
                <a:latin typeface="Lucida Sans" panose="020B0602030504020204" pitchFamily="34" charset="0"/>
                <a:ea typeface="MS Gothic" pitchFamily="49" charset="-128"/>
                <a:cs typeface="Times New Roman" panose="02020603050405020304" pitchFamily="18" charset="0"/>
              </a:rPr>
              <a:t>'</a:t>
            </a:r>
            <a:r>
              <a:rPr lang="en-US" altLang="en-US" sz="2568" dirty="0">
                <a:solidFill>
                  <a:srgbClr val="FF000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john</a:t>
            </a:r>
            <a:r>
              <a:rPr lang="en-US" altLang="en-US" sz="2568" dirty="0">
                <a:solidFill>
                  <a:srgbClr val="FF0000"/>
                </a:solidFill>
                <a:latin typeface="Lucida Sans" panose="020B0602030504020204" pitchFamily="34" charset="0"/>
                <a:ea typeface="MS Gothic" pitchFamily="49" charset="-128"/>
                <a:cs typeface="Times New Roman" panose="02020603050405020304" pitchFamily="18" charset="0"/>
              </a:rPr>
              <a:t>'</a:t>
            </a:r>
            <a:r>
              <a:rPr lang="en-US" altLang="en-US" sz="2568" dirty="0">
                <a:solidFill>
                  <a:srgbClr val="FF000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]</a:t>
            </a:r>
          </a:p>
          <a:p>
            <a:pPr>
              <a:lnSpc>
                <a:spcPct val="86000"/>
              </a:lnSpc>
              <a:spcBef>
                <a:spcPts val="0"/>
              </a:spcBef>
              <a:buNone/>
            </a:pPr>
            <a:r>
              <a:rPr lang="en-US" altLang="en-US" sz="2568" dirty="0">
                <a:solidFill>
                  <a:srgbClr val="FFC000"/>
                </a:solidFill>
                <a:latin typeface="Lucida Console" pitchFamily="49" charset="0"/>
                <a:ea typeface="MS Gothic" pitchFamily="49" charset="-128"/>
                <a:cs typeface="Times New Roman" panose="02020603050405020304" pitchFamily="18" charset="0"/>
              </a:rPr>
              <a:t>%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9729788" cy="1161142"/>
          </a:xfrm>
        </p:spPr>
        <p:txBody>
          <a:bodyPr>
            <a:normAutofit/>
          </a:bodyPr>
          <a:lstStyle/>
          <a:p>
            <a:r>
              <a:rPr lang="en-US" altLang="en-US" sz="4400" dirty="0" smtClean="0">
                <a:solidFill>
                  <a:srgbClr val="0070C0"/>
                </a:solidFill>
              </a:rPr>
              <a:t>Python Lists</a:t>
            </a:r>
          </a:p>
        </p:txBody>
      </p:sp>
    </p:spTree>
    <p:extLst>
      <p:ext uri="{BB962C8B-B14F-4D97-AF65-F5344CB8AC3E}">
        <p14:creationId xmlns:p14="http://schemas.microsoft.com/office/powerpoint/2010/main" val="22403492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808080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80808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808080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560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80808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808080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560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80808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5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808080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560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80808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56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808080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560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80808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56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808080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560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80808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Content Placeholder 2"/>
          <p:cNvSpPr>
            <a:spLocks noGrp="1"/>
          </p:cNvSpPr>
          <p:nvPr>
            <p:ph idx="1"/>
          </p:nvPr>
        </p:nvSpPr>
        <p:spPr>
          <a:xfrm>
            <a:off x="262885" y="914400"/>
            <a:ext cx="9313598" cy="5943600"/>
          </a:xfrm>
        </p:spPr>
        <p:txBody>
          <a:bodyPr>
            <a:noAutofit/>
          </a:bodyPr>
          <a:lstStyle/>
          <a:p>
            <a:pPr>
              <a:lnSpc>
                <a:spcPct val="8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3600" spc="-50" dirty="0" smtClean="0"/>
              <a:t>You </a:t>
            </a:r>
            <a:r>
              <a:rPr lang="en-US" sz="3600" spc="-50" dirty="0"/>
              <a:t>update elements of lists by giving the </a:t>
            </a:r>
            <a:r>
              <a:rPr lang="en-US" sz="3600" spc="-50" dirty="0" smtClean="0"/>
              <a:t>indexed </a:t>
            </a:r>
            <a:r>
              <a:rPr lang="en-US" sz="3600" dirty="0" smtClean="0"/>
              <a:t>element </a:t>
            </a:r>
            <a:r>
              <a:rPr lang="en-US" sz="3600" dirty="0"/>
              <a:t>on the left-hand side of the </a:t>
            </a:r>
            <a:r>
              <a:rPr lang="en-US" sz="3600" dirty="0" smtClean="0"/>
              <a:t>“=” sign:</a:t>
            </a:r>
            <a:endParaRPr lang="en-US" sz="3600" dirty="0"/>
          </a:p>
          <a:p>
            <a:pPr lvl="1">
              <a:spcBef>
                <a:spcPts val="0"/>
              </a:spcBef>
              <a:buFontTx/>
              <a:buNone/>
            </a:pPr>
            <a:r>
              <a:rPr lang="en-US" sz="2800" spc="-30" dirty="0">
                <a:solidFill>
                  <a:srgbClr val="FFC000"/>
                </a:solidFill>
                <a:latin typeface="Lucida Console" panose="020B0609040504020204" pitchFamily="49" charset="0"/>
                <a:cs typeface="Courier New" pitchFamily="49" charset="0"/>
              </a:rPr>
              <a:t>% cat test.py</a:t>
            </a:r>
          </a:p>
          <a:p>
            <a:pPr lvl="1">
              <a:spcBef>
                <a:spcPts val="0"/>
              </a:spcBef>
              <a:buFontTx/>
              <a:buNone/>
            </a:pPr>
            <a:r>
              <a:rPr lang="en-US" sz="2800" spc="-30" dirty="0" smtClean="0">
                <a:solidFill>
                  <a:srgbClr val="0070C0"/>
                </a:solidFill>
                <a:latin typeface="Lucida Console" panose="020B0609040504020204" pitchFamily="49" charset="0"/>
                <a:cs typeface="Courier New" pitchFamily="49" charset="0"/>
              </a:rPr>
              <a:t>list1</a:t>
            </a:r>
            <a:r>
              <a:rPr lang="en-US" sz="2800" spc="-30" dirty="0" smtClean="0"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sz="2800" spc="-30" dirty="0">
                <a:latin typeface="Lucida Console" panose="020B0609040504020204" pitchFamily="49" charset="0"/>
                <a:cs typeface="Courier New" pitchFamily="49" charset="0"/>
              </a:rPr>
              <a:t>= [</a:t>
            </a:r>
            <a:r>
              <a:rPr lang="en-US" sz="2800" spc="-30" dirty="0" smtClean="0">
                <a:latin typeface="Lucida Console" panose="020B0609040504020204" pitchFamily="49" charset="0"/>
                <a:cs typeface="Courier New" pitchFamily="49" charset="0"/>
              </a:rPr>
              <a:t>'</a:t>
            </a:r>
            <a:r>
              <a:rPr lang="en-US" sz="2800" spc="-30" dirty="0" err="1" smtClean="0">
                <a:latin typeface="Lucida Console" panose="020B0609040504020204" pitchFamily="49" charset="0"/>
                <a:cs typeface="Courier New" pitchFamily="49" charset="0"/>
              </a:rPr>
              <a:t>phys</a:t>
            </a:r>
            <a:r>
              <a:rPr lang="en-US" sz="2800" spc="-30" dirty="0" smtClean="0">
                <a:latin typeface="Lucida Console" panose="020B0609040504020204" pitchFamily="49" charset="0"/>
                <a:cs typeface="Courier New" pitchFamily="49" charset="0"/>
              </a:rPr>
              <a:t>', '</a:t>
            </a:r>
            <a:r>
              <a:rPr lang="en-US" sz="2800" spc="-30" dirty="0" err="1" smtClean="0">
                <a:latin typeface="Lucida Console" panose="020B0609040504020204" pitchFamily="49" charset="0"/>
                <a:cs typeface="Courier New" pitchFamily="49" charset="0"/>
              </a:rPr>
              <a:t>chem</a:t>
            </a:r>
            <a:r>
              <a:rPr lang="en-US" sz="2800" spc="-30" dirty="0" smtClean="0">
                <a:latin typeface="Lucida Console" panose="020B0609040504020204" pitchFamily="49" charset="0"/>
                <a:cs typeface="Courier New" pitchFamily="49" charset="0"/>
              </a:rPr>
              <a:t>', </a:t>
            </a:r>
            <a:r>
              <a:rPr lang="en-US" sz="2800" spc="-30" dirty="0" smtClean="0">
                <a:solidFill>
                  <a:schemeClr val="bg1"/>
                </a:solidFill>
                <a:latin typeface="Lucida Console" panose="020B0609040504020204" pitchFamily="49" charset="0"/>
                <a:cs typeface="Courier New" pitchFamily="49" charset="0"/>
              </a:rPr>
              <a:t>2017</a:t>
            </a:r>
            <a:r>
              <a:rPr lang="en-US" sz="2800" spc="-30" dirty="0" smtClean="0">
                <a:latin typeface="Lucida Console" panose="020B0609040504020204" pitchFamily="49" charset="0"/>
                <a:cs typeface="Courier New" pitchFamily="49" charset="0"/>
              </a:rPr>
              <a:t>, 2019]</a:t>
            </a:r>
            <a:endParaRPr lang="en-US" sz="2800" spc="-30" dirty="0">
              <a:latin typeface="Lucida Console" panose="020B0609040504020204" pitchFamily="49" charset="0"/>
              <a:cs typeface="Courier New" pitchFamily="49" charset="0"/>
            </a:endParaRPr>
          </a:p>
          <a:p>
            <a:pPr lvl="1">
              <a:spcBef>
                <a:spcPts val="0"/>
              </a:spcBef>
              <a:buFontTx/>
              <a:buNone/>
            </a:pPr>
            <a:r>
              <a:rPr lang="en-US" sz="2800" spc="-30" dirty="0" smtClean="0">
                <a:latin typeface="Lucida Console" panose="020B0609040504020204" pitchFamily="49" charset="0"/>
                <a:cs typeface="Courier New" pitchFamily="49" charset="0"/>
              </a:rPr>
              <a:t>print(</a:t>
            </a:r>
            <a:r>
              <a:rPr lang="en-US" sz="2800" spc="-30" dirty="0" smtClean="0">
                <a:solidFill>
                  <a:schemeClr val="accent6"/>
                </a:solidFill>
                <a:latin typeface="Lucida Console" panose="020B0609040504020204" pitchFamily="49" charset="0"/>
                <a:cs typeface="Courier New" pitchFamily="49" charset="0"/>
              </a:rPr>
              <a:t>"</a:t>
            </a:r>
            <a:r>
              <a:rPr lang="en-US" sz="2800" spc="-30" dirty="0">
                <a:solidFill>
                  <a:schemeClr val="accent6"/>
                </a:solidFill>
                <a:latin typeface="Lucida Console" panose="020B0609040504020204" pitchFamily="49" charset="0"/>
                <a:cs typeface="Courier New" pitchFamily="49" charset="0"/>
              </a:rPr>
              <a:t>Value available at index </a:t>
            </a:r>
            <a:r>
              <a:rPr lang="en-US" sz="2800" spc="-30" dirty="0" smtClean="0">
                <a:solidFill>
                  <a:schemeClr val="accent6"/>
                </a:solidFill>
                <a:latin typeface="Lucida Console" panose="020B0609040504020204" pitchFamily="49" charset="0"/>
                <a:cs typeface="Courier New" pitchFamily="49" charset="0"/>
              </a:rPr>
              <a:t>2: </a:t>
            </a:r>
            <a:r>
              <a:rPr lang="en-US" sz="2800" spc="-30" dirty="0">
                <a:solidFill>
                  <a:schemeClr val="accent6"/>
                </a:solidFill>
                <a:latin typeface="Lucida Console" panose="020B0609040504020204" pitchFamily="49" charset="0"/>
                <a:cs typeface="Courier New" pitchFamily="49" charset="0"/>
              </a:rPr>
              <a:t>"</a:t>
            </a:r>
            <a:r>
              <a:rPr lang="en-US" altLang="zh-TW" sz="2800" spc="-30" dirty="0">
                <a:latin typeface="Lucida Console" panose="020B0609040504020204" pitchFamily="49" charset="0"/>
                <a:cs typeface="Courier New" pitchFamily="49" charset="0"/>
              </a:rPr>
              <a:t>)</a:t>
            </a:r>
            <a:endParaRPr lang="en-US" sz="2800" spc="-30" dirty="0">
              <a:latin typeface="Lucida Console" panose="020B0609040504020204" pitchFamily="49" charset="0"/>
              <a:cs typeface="Courier New" pitchFamily="49" charset="0"/>
            </a:endParaRPr>
          </a:p>
          <a:p>
            <a:pPr lvl="1">
              <a:spcBef>
                <a:spcPts val="0"/>
              </a:spcBef>
              <a:buFontTx/>
              <a:buNone/>
            </a:pPr>
            <a:r>
              <a:rPr lang="en-US" sz="2800" spc="-30" dirty="0" smtClean="0">
                <a:latin typeface="Lucida Console" panose="020B0609040504020204" pitchFamily="49" charset="0"/>
                <a:cs typeface="Courier New" pitchFamily="49" charset="0"/>
              </a:rPr>
              <a:t>print(</a:t>
            </a:r>
            <a:r>
              <a:rPr lang="en-US" sz="2800" spc="-30" dirty="0" smtClean="0">
                <a:solidFill>
                  <a:srgbClr val="0070C0"/>
                </a:solidFill>
                <a:latin typeface="Lucida Console" panose="020B0609040504020204" pitchFamily="49" charset="0"/>
                <a:cs typeface="Courier New" pitchFamily="49" charset="0"/>
              </a:rPr>
              <a:t>list1</a:t>
            </a:r>
            <a:r>
              <a:rPr lang="en-US" sz="2800" spc="-30" dirty="0" smtClean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[2</a:t>
            </a:r>
            <a:r>
              <a:rPr lang="en-US" sz="2800" spc="-30" dirty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]</a:t>
            </a:r>
            <a:r>
              <a:rPr lang="en-US" sz="2800" spc="-30" dirty="0">
                <a:latin typeface="Lucida Console" panose="020B0609040504020204" pitchFamily="49" charset="0"/>
                <a:cs typeface="Courier New" pitchFamily="49" charset="0"/>
              </a:rPr>
              <a:t>)</a:t>
            </a:r>
          </a:p>
          <a:p>
            <a:pPr lvl="1">
              <a:spcBef>
                <a:spcPts val="0"/>
              </a:spcBef>
              <a:buFontTx/>
              <a:buNone/>
            </a:pPr>
            <a:r>
              <a:rPr lang="en-US" sz="2800" spc="-30" dirty="0">
                <a:solidFill>
                  <a:srgbClr val="0070C0"/>
                </a:solidFill>
                <a:latin typeface="Lucida Console" panose="020B0609040504020204" pitchFamily="49" charset="0"/>
                <a:cs typeface="Courier New" pitchFamily="49" charset="0"/>
              </a:rPr>
              <a:t>list1</a:t>
            </a:r>
            <a:r>
              <a:rPr lang="en-US" sz="2800" spc="-30" dirty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[2]</a:t>
            </a:r>
            <a:r>
              <a:rPr lang="en-US" sz="2800" spc="-30" dirty="0">
                <a:solidFill>
                  <a:srgbClr val="0070C0"/>
                </a:solidFill>
                <a:latin typeface="Lucida Console" panose="020B0609040504020204" pitchFamily="49" charset="0"/>
                <a:cs typeface="Courier New" pitchFamily="49" charset="0"/>
              </a:rPr>
              <a:t> = </a:t>
            </a:r>
            <a:r>
              <a:rPr lang="en-US" sz="2800" spc="-30" dirty="0" smtClean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2020</a:t>
            </a:r>
            <a:r>
              <a:rPr lang="en-US" sz="2800" spc="-30" dirty="0" smtClean="0">
                <a:latin typeface="Lucida Console" panose="020B0609040504020204" pitchFamily="49" charset="0"/>
                <a:cs typeface="Courier New" pitchFamily="49" charset="0"/>
              </a:rPr>
              <a:t> </a:t>
            </a:r>
            <a:endParaRPr lang="en-US" sz="2800" spc="-30" dirty="0">
              <a:latin typeface="Lucida Console" panose="020B0609040504020204" pitchFamily="49" charset="0"/>
              <a:cs typeface="Courier New" pitchFamily="49" charset="0"/>
            </a:endParaRPr>
          </a:p>
          <a:p>
            <a:pPr lvl="1">
              <a:spcBef>
                <a:spcPts val="0"/>
              </a:spcBef>
              <a:buFontTx/>
              <a:buNone/>
            </a:pPr>
            <a:r>
              <a:rPr lang="en-US" sz="2800" spc="-30" dirty="0" smtClean="0">
                <a:latin typeface="Lucida Console" panose="020B0609040504020204" pitchFamily="49" charset="0"/>
                <a:cs typeface="Courier New" pitchFamily="49" charset="0"/>
              </a:rPr>
              <a:t>print(</a:t>
            </a:r>
            <a:r>
              <a:rPr lang="en-US" sz="2800" spc="-30" dirty="0" smtClean="0">
                <a:solidFill>
                  <a:schemeClr val="accent6"/>
                </a:solidFill>
                <a:latin typeface="Lucida Console" panose="020B0609040504020204" pitchFamily="49" charset="0"/>
                <a:cs typeface="Courier New" pitchFamily="49" charset="0"/>
              </a:rPr>
              <a:t>"</a:t>
            </a:r>
            <a:r>
              <a:rPr lang="en-US" sz="2800" spc="-30" dirty="0">
                <a:solidFill>
                  <a:schemeClr val="accent6"/>
                </a:solidFill>
                <a:latin typeface="Lucida Console" panose="020B0609040504020204" pitchFamily="49" charset="0"/>
                <a:cs typeface="Courier New" pitchFamily="49" charset="0"/>
              </a:rPr>
              <a:t>New value available at index </a:t>
            </a:r>
            <a:r>
              <a:rPr lang="en-US" sz="2800" spc="-30" dirty="0" smtClean="0">
                <a:solidFill>
                  <a:schemeClr val="accent6"/>
                </a:solidFill>
                <a:latin typeface="Lucida Console" panose="020B0609040504020204" pitchFamily="49" charset="0"/>
                <a:cs typeface="Courier New" pitchFamily="49" charset="0"/>
              </a:rPr>
              <a:t>2: </a:t>
            </a:r>
            <a:r>
              <a:rPr lang="en-US" sz="2800" spc="-30" dirty="0">
                <a:solidFill>
                  <a:schemeClr val="accent6"/>
                </a:solidFill>
                <a:latin typeface="Lucida Console" panose="020B0609040504020204" pitchFamily="49" charset="0"/>
                <a:cs typeface="Courier New" pitchFamily="49" charset="0"/>
              </a:rPr>
              <a:t>"</a:t>
            </a:r>
            <a:r>
              <a:rPr lang="en-US" altLang="zh-TW" sz="2800" spc="-30" dirty="0">
                <a:latin typeface="Lucida Console" panose="020B0609040504020204" pitchFamily="49" charset="0"/>
                <a:cs typeface="Courier New" pitchFamily="49" charset="0"/>
              </a:rPr>
              <a:t>)</a:t>
            </a:r>
            <a:endParaRPr lang="en-US" sz="2800" spc="-30" dirty="0">
              <a:latin typeface="Lucida Console" panose="020B0609040504020204" pitchFamily="49" charset="0"/>
              <a:cs typeface="Courier New" pitchFamily="49" charset="0"/>
            </a:endParaRPr>
          </a:p>
          <a:p>
            <a:pPr lvl="1">
              <a:spcBef>
                <a:spcPts val="0"/>
              </a:spcBef>
              <a:buFontTx/>
              <a:buNone/>
            </a:pPr>
            <a:r>
              <a:rPr lang="en-US" sz="2800" spc="-30" dirty="0" smtClean="0">
                <a:latin typeface="Lucida Console" panose="020B0609040504020204" pitchFamily="49" charset="0"/>
                <a:cs typeface="Courier New" pitchFamily="49" charset="0"/>
              </a:rPr>
              <a:t>print(</a:t>
            </a:r>
            <a:r>
              <a:rPr lang="en-US" sz="2800" spc="-30" dirty="0" smtClean="0">
                <a:solidFill>
                  <a:srgbClr val="0070C0"/>
                </a:solidFill>
                <a:latin typeface="Lucida Console" panose="020B0609040504020204" pitchFamily="49" charset="0"/>
                <a:cs typeface="Courier New" pitchFamily="49" charset="0"/>
              </a:rPr>
              <a:t>list1</a:t>
            </a:r>
            <a:r>
              <a:rPr lang="en-US" sz="2800" spc="-30" dirty="0" smtClean="0">
                <a:latin typeface="Lucida Console" panose="020B0609040504020204" pitchFamily="49" charset="0"/>
                <a:cs typeface="Courier New" pitchFamily="49" charset="0"/>
              </a:rPr>
              <a:t>) </a:t>
            </a:r>
          </a:p>
          <a:p>
            <a:pPr lvl="1">
              <a:spcBef>
                <a:spcPts val="0"/>
              </a:spcBef>
              <a:buNone/>
            </a:pPr>
            <a:r>
              <a:rPr lang="en-US" sz="2800" spc="-30" dirty="0">
                <a:solidFill>
                  <a:srgbClr val="FFC000"/>
                </a:solidFill>
                <a:latin typeface="Lucida Console" panose="020B0609040504020204" pitchFamily="49" charset="0"/>
                <a:cs typeface="Courier New" pitchFamily="49" charset="0"/>
              </a:rPr>
              <a:t>% python3 test.py</a:t>
            </a:r>
          </a:p>
          <a:p>
            <a:pPr lvl="1">
              <a:spcBef>
                <a:spcPts val="0"/>
              </a:spcBef>
              <a:buFontTx/>
              <a:buNone/>
            </a:pPr>
            <a:r>
              <a:rPr lang="en-US" sz="2800" spc="-30" dirty="0" smtClean="0">
                <a:solidFill>
                  <a:schemeClr val="accent6"/>
                </a:solidFill>
                <a:latin typeface="Lucida Console" panose="020B0609040504020204" pitchFamily="49" charset="0"/>
                <a:cs typeface="Courier New" pitchFamily="49" charset="0"/>
              </a:rPr>
              <a:t>Value </a:t>
            </a:r>
            <a:r>
              <a:rPr lang="en-US" sz="2800" spc="-30" dirty="0">
                <a:solidFill>
                  <a:schemeClr val="accent6"/>
                </a:solidFill>
                <a:latin typeface="Lucida Console" panose="020B0609040504020204" pitchFamily="49" charset="0"/>
                <a:cs typeface="Courier New" pitchFamily="49" charset="0"/>
              </a:rPr>
              <a:t>available at index </a:t>
            </a:r>
            <a:r>
              <a:rPr lang="en-US" sz="2800" spc="-30" dirty="0" smtClean="0">
                <a:solidFill>
                  <a:schemeClr val="accent6"/>
                </a:solidFill>
                <a:latin typeface="Lucida Console" panose="020B0609040504020204" pitchFamily="49" charset="0"/>
                <a:cs typeface="Courier New" pitchFamily="49" charset="0"/>
              </a:rPr>
              <a:t>2: </a:t>
            </a:r>
            <a:endParaRPr lang="en-US" sz="2800" spc="-30" dirty="0">
              <a:solidFill>
                <a:schemeClr val="accent6"/>
              </a:solidFill>
              <a:latin typeface="Lucida Console" panose="020B0609040504020204" pitchFamily="49" charset="0"/>
              <a:cs typeface="Courier New" pitchFamily="49" charset="0"/>
            </a:endParaRPr>
          </a:p>
          <a:p>
            <a:pPr lvl="1">
              <a:spcBef>
                <a:spcPts val="0"/>
              </a:spcBef>
              <a:buFontTx/>
              <a:buNone/>
            </a:pPr>
            <a:r>
              <a:rPr lang="en-US" sz="2800" spc="-30" dirty="0" smtClean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2017</a:t>
            </a:r>
            <a:endParaRPr lang="en-US" sz="2800" spc="-30" dirty="0">
              <a:solidFill>
                <a:schemeClr val="accent6"/>
              </a:solidFill>
              <a:latin typeface="Lucida Console" panose="020B0609040504020204" pitchFamily="49" charset="0"/>
              <a:cs typeface="Courier New" pitchFamily="49" charset="0"/>
            </a:endParaRPr>
          </a:p>
          <a:p>
            <a:pPr lvl="1">
              <a:spcBef>
                <a:spcPts val="0"/>
              </a:spcBef>
              <a:buFontTx/>
              <a:buNone/>
            </a:pPr>
            <a:r>
              <a:rPr lang="en-US" sz="2800" spc="-30" dirty="0">
                <a:solidFill>
                  <a:schemeClr val="accent6"/>
                </a:solidFill>
                <a:latin typeface="Lucida Console" panose="020B0609040504020204" pitchFamily="49" charset="0"/>
                <a:cs typeface="Courier New" pitchFamily="49" charset="0"/>
              </a:rPr>
              <a:t>"New value available at index 2: </a:t>
            </a:r>
            <a:r>
              <a:rPr lang="en-US" sz="2800" spc="-30" dirty="0" smtClean="0">
                <a:solidFill>
                  <a:schemeClr val="accent6"/>
                </a:solidFill>
                <a:latin typeface="Lucida Console" panose="020B0609040504020204" pitchFamily="49" charset="0"/>
                <a:cs typeface="Courier New" pitchFamily="49" charset="0"/>
              </a:rPr>
              <a:t>"</a:t>
            </a:r>
          </a:p>
          <a:p>
            <a:pPr lvl="1">
              <a:spcBef>
                <a:spcPts val="0"/>
              </a:spcBef>
              <a:buFontTx/>
              <a:buNone/>
            </a:pPr>
            <a:r>
              <a:rPr lang="en-US" sz="2800" spc="-30" dirty="0" smtClean="0">
                <a:solidFill>
                  <a:srgbClr val="0070C0"/>
                </a:solidFill>
                <a:latin typeface="Lucida Console" panose="020B0609040504020204" pitchFamily="49" charset="0"/>
                <a:cs typeface="Courier New" pitchFamily="49" charset="0"/>
              </a:rPr>
              <a:t>[</a:t>
            </a:r>
            <a:r>
              <a:rPr lang="en-US" sz="2800" spc="-30" dirty="0">
                <a:solidFill>
                  <a:srgbClr val="0070C0"/>
                </a:solidFill>
                <a:latin typeface="Lucida Console" panose="020B0609040504020204" pitchFamily="49" charset="0"/>
                <a:cs typeface="Courier New" pitchFamily="49" charset="0"/>
              </a:rPr>
              <a:t>'</a:t>
            </a:r>
            <a:r>
              <a:rPr lang="en-US" sz="2800" spc="-30" dirty="0" err="1">
                <a:solidFill>
                  <a:srgbClr val="0070C0"/>
                </a:solidFill>
                <a:latin typeface="Lucida Console" panose="020B0609040504020204" pitchFamily="49" charset="0"/>
                <a:cs typeface="Courier New" pitchFamily="49" charset="0"/>
              </a:rPr>
              <a:t>phys</a:t>
            </a:r>
            <a:r>
              <a:rPr lang="en-US" sz="2800" spc="-30" dirty="0">
                <a:solidFill>
                  <a:srgbClr val="0070C0"/>
                </a:solidFill>
                <a:latin typeface="Lucida Console" panose="020B0609040504020204" pitchFamily="49" charset="0"/>
                <a:cs typeface="Courier New" pitchFamily="49" charset="0"/>
              </a:rPr>
              <a:t>', '</a:t>
            </a:r>
            <a:r>
              <a:rPr lang="en-US" sz="2800" spc="-30" dirty="0" err="1">
                <a:solidFill>
                  <a:srgbClr val="0070C0"/>
                </a:solidFill>
                <a:latin typeface="Lucida Console" panose="020B0609040504020204" pitchFamily="49" charset="0"/>
                <a:cs typeface="Courier New" pitchFamily="49" charset="0"/>
              </a:rPr>
              <a:t>chem</a:t>
            </a:r>
            <a:r>
              <a:rPr lang="en-US" sz="2800" spc="-30" dirty="0">
                <a:solidFill>
                  <a:srgbClr val="0070C0"/>
                </a:solidFill>
                <a:latin typeface="Lucida Console" panose="020B0609040504020204" pitchFamily="49" charset="0"/>
                <a:cs typeface="Courier New" pitchFamily="49" charset="0"/>
              </a:rPr>
              <a:t>',</a:t>
            </a:r>
            <a:r>
              <a:rPr lang="en-US" sz="2800" spc="-30" dirty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sz="2800" spc="-30" dirty="0" smtClean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2020</a:t>
            </a:r>
            <a:r>
              <a:rPr lang="en-US" sz="2800" spc="-30" dirty="0" smtClean="0">
                <a:solidFill>
                  <a:srgbClr val="0070C0"/>
                </a:solidFill>
                <a:latin typeface="Lucida Console" panose="020B0609040504020204" pitchFamily="49" charset="0"/>
                <a:cs typeface="Courier New" pitchFamily="49" charset="0"/>
              </a:rPr>
              <a:t>, 2019</a:t>
            </a:r>
            <a:r>
              <a:rPr lang="en-US" sz="2800" spc="-30" dirty="0">
                <a:solidFill>
                  <a:srgbClr val="0070C0"/>
                </a:solidFill>
                <a:latin typeface="Lucida Console" panose="020B0609040504020204" pitchFamily="49" charset="0"/>
                <a:cs typeface="Courier New" pitchFamily="49" charset="0"/>
              </a:rPr>
              <a:t>]</a:t>
            </a:r>
            <a:r>
              <a:rPr lang="en-US" sz="2800" spc="-30" dirty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  <a:endParaRPr lang="en-US" sz="2800" spc="-30" dirty="0" smtClean="0">
              <a:solidFill>
                <a:srgbClr val="FF0000"/>
              </a:solidFill>
              <a:latin typeface="Lucida Console" panose="020B0609040504020204" pitchFamily="49" charset="0"/>
              <a:cs typeface="Courier New" pitchFamily="49" charset="0"/>
            </a:endParaRPr>
          </a:p>
          <a:p>
            <a:pPr lvl="1">
              <a:spcBef>
                <a:spcPts val="0"/>
              </a:spcBef>
              <a:buFontTx/>
              <a:buNone/>
            </a:pPr>
            <a:r>
              <a:rPr lang="en-US" sz="2800" spc="-30" dirty="0" smtClean="0">
                <a:solidFill>
                  <a:srgbClr val="FFC000"/>
                </a:solidFill>
                <a:latin typeface="Lucida Console" panose="020B0609040504020204" pitchFamily="49" charset="0"/>
                <a:cs typeface="Courier New" pitchFamily="49" charset="0"/>
              </a:rPr>
              <a:t>%</a:t>
            </a:r>
            <a:r>
              <a:rPr lang="en-US" sz="2800" spc="-30" dirty="0" smtClean="0">
                <a:latin typeface="Lucida Console" panose="020B0609040504020204" pitchFamily="49" charset="0"/>
                <a:cs typeface="Courier New" pitchFamily="49" charset="0"/>
              </a:rPr>
              <a:t> </a:t>
            </a:r>
            <a:endParaRPr lang="en-US" sz="2800" spc="-30" dirty="0">
              <a:latin typeface="Lucida Console" panose="020B0609040504020204" pitchFamily="49" charset="0"/>
              <a:cs typeface="Courier New" pitchFamily="49" charset="0"/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9729788" cy="1161142"/>
          </a:xfrm>
        </p:spPr>
        <p:txBody>
          <a:bodyPr>
            <a:normAutofit/>
          </a:bodyPr>
          <a:lstStyle/>
          <a:p>
            <a:r>
              <a:rPr lang="en-US" sz="4400" dirty="0" smtClean="0">
                <a:solidFill>
                  <a:srgbClr val="0070C0"/>
                </a:solidFill>
              </a:rPr>
              <a:t>Updating List Elements</a:t>
            </a:r>
            <a:endParaRPr lang="en-US" sz="4400" dirty="0">
              <a:solidFill>
                <a:srgbClr val="0070C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031653" y="2233506"/>
            <a:ext cx="866987" cy="523220"/>
          </a:xfrm>
          <a:prstGeom prst="rect">
            <a:avLst/>
          </a:prstGeom>
          <a:solidFill>
            <a:schemeClr val="bg1"/>
          </a:solidFill>
        </p:spPr>
        <p:txBody>
          <a:bodyPr wrap="square" lIns="0" rIns="0">
            <a:spAutoFit/>
          </a:bodyPr>
          <a:lstStyle/>
          <a:p>
            <a:r>
              <a:rPr lang="en-US" sz="2800" spc="-30" dirty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2017</a:t>
            </a:r>
            <a:endParaRPr lang="en-US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2169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51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512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808080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808080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3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5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808080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3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51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1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808080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3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500"/>
                                        <p:tgtEl>
                                          <p:spTgt spid="512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12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80808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5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8" dur="500"/>
                                        <p:tgtEl>
                                          <p:spTgt spid="51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1" dur="500"/>
                                        <p:tgtEl>
                                          <p:spTgt spid="512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6" dur="500"/>
                                        <p:tgtEl>
                                          <p:spTgt spid="51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9" dur="500"/>
                                        <p:tgtEl>
                                          <p:spTgt spid="512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Content Placeholder 2"/>
          <p:cNvSpPr>
            <a:spLocks noGrp="1"/>
          </p:cNvSpPr>
          <p:nvPr>
            <p:ph idx="1"/>
          </p:nvPr>
        </p:nvSpPr>
        <p:spPr>
          <a:xfrm>
            <a:off x="262885" y="914400"/>
            <a:ext cx="9313598" cy="5943600"/>
          </a:xfrm>
        </p:spPr>
        <p:txBody>
          <a:bodyPr>
            <a:noAutofit/>
          </a:bodyPr>
          <a:lstStyle/>
          <a:p>
            <a:pPr>
              <a:lnSpc>
                <a:spcPct val="8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3600" spc="-50" dirty="0" smtClean="0">
                <a:solidFill>
                  <a:schemeClr val="bg1">
                    <a:lumMod val="75000"/>
                  </a:schemeClr>
                </a:solidFill>
              </a:rPr>
              <a:t>You </a:t>
            </a:r>
            <a:r>
              <a:rPr lang="en-US" sz="3600" spc="-50" dirty="0">
                <a:solidFill>
                  <a:schemeClr val="bg1">
                    <a:lumMod val="75000"/>
                  </a:schemeClr>
                </a:solidFill>
              </a:rPr>
              <a:t>update elements of lists by giving the </a:t>
            </a:r>
            <a:r>
              <a:rPr lang="en-US" sz="3600" spc="-50" dirty="0" smtClean="0">
                <a:solidFill>
                  <a:schemeClr val="bg1">
                    <a:lumMod val="75000"/>
                  </a:schemeClr>
                </a:solidFill>
              </a:rPr>
              <a:t>indexed </a:t>
            </a:r>
            <a:r>
              <a:rPr lang="en-US" sz="3600" dirty="0" smtClean="0">
                <a:solidFill>
                  <a:schemeClr val="bg1">
                    <a:lumMod val="75000"/>
                  </a:schemeClr>
                </a:solidFill>
              </a:rPr>
              <a:t>element </a:t>
            </a:r>
            <a:r>
              <a:rPr lang="en-US" sz="3600" dirty="0">
                <a:solidFill>
                  <a:schemeClr val="bg1">
                    <a:lumMod val="75000"/>
                  </a:schemeClr>
                </a:solidFill>
              </a:rPr>
              <a:t>on the left-hand side of the </a:t>
            </a:r>
            <a:r>
              <a:rPr lang="en-US" sz="3600" dirty="0" smtClean="0">
                <a:solidFill>
                  <a:schemeClr val="bg1">
                    <a:lumMod val="75000"/>
                  </a:schemeClr>
                </a:solidFill>
              </a:rPr>
              <a:t>“=” sign.</a:t>
            </a:r>
          </a:p>
          <a:p>
            <a:pPr>
              <a:lnSpc>
                <a:spcPct val="8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3600" dirty="0" smtClean="0"/>
              <a:t>You can also assign to larger slice:</a:t>
            </a:r>
            <a:endParaRPr lang="en-US" sz="3600" dirty="0"/>
          </a:p>
          <a:p>
            <a:pPr lvl="1">
              <a:lnSpc>
                <a:spcPct val="80000"/>
              </a:lnSpc>
              <a:spcBef>
                <a:spcPts val="0"/>
              </a:spcBef>
              <a:buFontTx/>
              <a:buNone/>
            </a:pPr>
            <a:r>
              <a:rPr lang="en-US" sz="2800" spc="-30" dirty="0" smtClean="0">
                <a:solidFill>
                  <a:schemeClr val="bg1"/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  <a:r>
              <a:rPr lang="en-US" sz="2800" spc="-30" dirty="0" smtClean="0">
                <a:solidFill>
                  <a:srgbClr val="0070C0"/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sz="2800" spc="-30" dirty="0">
                <a:solidFill>
                  <a:srgbClr val="0070C0"/>
                </a:solidFill>
                <a:latin typeface="Lucida Console" panose="020B0609040504020204" pitchFamily="49" charset="0"/>
                <a:cs typeface="Courier New" pitchFamily="49" charset="0"/>
              </a:rPr>
              <a:t>L=</a:t>
            </a:r>
            <a:r>
              <a:rPr lang="en-US" sz="2800" spc="-30" dirty="0">
                <a:solidFill>
                  <a:schemeClr val="accent6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[1,2,3,4,5,6,7,8,9]</a:t>
            </a:r>
          </a:p>
          <a:p>
            <a:pPr lvl="1">
              <a:lnSpc>
                <a:spcPct val="80000"/>
              </a:lnSpc>
              <a:spcBef>
                <a:spcPts val="0"/>
              </a:spcBef>
              <a:buFontTx/>
              <a:buNone/>
            </a:pPr>
            <a:r>
              <a:rPr lang="en-US" sz="2800" spc="-30" dirty="0">
                <a:solidFill>
                  <a:schemeClr val="bg1"/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  <a:r>
              <a:rPr lang="en-US" sz="2800" spc="-30" dirty="0">
                <a:solidFill>
                  <a:srgbClr val="0070C0"/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sz="2800" spc="-30" dirty="0" smtClean="0">
                <a:solidFill>
                  <a:srgbClr val="0070C0"/>
                </a:solidFill>
                <a:latin typeface="Lucida Console" panose="020B0609040504020204" pitchFamily="49" charset="0"/>
                <a:cs typeface="Courier New" pitchFamily="49" charset="0"/>
              </a:rPr>
              <a:t>L[2:6]</a:t>
            </a:r>
            <a:endParaRPr lang="en-US" sz="2800" spc="-30" dirty="0">
              <a:solidFill>
                <a:srgbClr val="0070C0"/>
              </a:solidFill>
              <a:latin typeface="Lucida Console" panose="020B0609040504020204" pitchFamily="49" charset="0"/>
              <a:cs typeface="Courier New" pitchFamily="49" charset="0"/>
            </a:endParaRPr>
          </a:p>
          <a:p>
            <a:pPr lvl="1">
              <a:lnSpc>
                <a:spcPct val="80000"/>
              </a:lnSpc>
              <a:spcBef>
                <a:spcPts val="0"/>
              </a:spcBef>
              <a:buFontTx/>
              <a:buNone/>
            </a:pPr>
            <a:r>
              <a:rPr lang="en-US" sz="2800" spc="-30" dirty="0">
                <a:solidFill>
                  <a:schemeClr val="accent6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[3, 4, </a:t>
            </a:r>
            <a:r>
              <a:rPr lang="en-US" sz="2800" spc="-30" dirty="0" smtClean="0">
                <a:solidFill>
                  <a:schemeClr val="accent6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5, 6]</a:t>
            </a:r>
            <a:endParaRPr lang="en-US" sz="2800" spc="-30" dirty="0">
              <a:solidFill>
                <a:schemeClr val="accent6">
                  <a:lumMod val="75000"/>
                </a:schemeClr>
              </a:solidFill>
              <a:latin typeface="Lucida Console" panose="020B0609040504020204" pitchFamily="49" charset="0"/>
              <a:cs typeface="Courier New" pitchFamily="49" charset="0"/>
            </a:endParaRPr>
          </a:p>
          <a:p>
            <a:pPr lvl="1">
              <a:lnSpc>
                <a:spcPct val="80000"/>
              </a:lnSpc>
              <a:spcBef>
                <a:spcPts val="0"/>
              </a:spcBef>
              <a:buFontTx/>
              <a:buNone/>
            </a:pPr>
            <a:r>
              <a:rPr lang="en-US" sz="2800" spc="-30" dirty="0">
                <a:solidFill>
                  <a:schemeClr val="bg1"/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  <a:r>
              <a:rPr lang="en-US" sz="2800" spc="-30" dirty="0">
                <a:solidFill>
                  <a:schemeClr val="accent2"/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sz="2800" spc="-30" dirty="0" smtClean="0">
                <a:solidFill>
                  <a:srgbClr val="0070C0"/>
                </a:solidFill>
                <a:latin typeface="Lucida Console" panose="020B0609040504020204" pitchFamily="49" charset="0"/>
                <a:cs typeface="Courier New" pitchFamily="49" charset="0"/>
              </a:rPr>
              <a:t>L[2:6]=</a:t>
            </a:r>
            <a:r>
              <a:rPr lang="en-US" sz="2800" spc="-30" dirty="0" smtClean="0">
                <a:solidFill>
                  <a:srgbClr val="ED7D31"/>
                </a:solidFill>
                <a:latin typeface="Lucida Console" panose="020B0609040504020204" pitchFamily="49" charset="0"/>
                <a:cs typeface="Courier New" pitchFamily="49" charset="0"/>
              </a:rPr>
              <a:t>[</a:t>
            </a:r>
            <a:r>
              <a:rPr lang="en-US" sz="2800" spc="-30" dirty="0">
                <a:solidFill>
                  <a:srgbClr val="ED7D31"/>
                </a:solidFill>
                <a:latin typeface="Lucida Console" panose="020B0609040504020204" pitchFamily="49" charset="0"/>
                <a:cs typeface="Courier New" pitchFamily="49" charset="0"/>
              </a:rPr>
              <a:t>'</a:t>
            </a:r>
            <a:r>
              <a:rPr lang="en-US" sz="2800" spc="-30" dirty="0" err="1">
                <a:solidFill>
                  <a:srgbClr val="ED7D31"/>
                </a:solidFill>
                <a:latin typeface="Lucida Console" panose="020B0609040504020204" pitchFamily="49" charset="0"/>
                <a:cs typeface="Courier New" pitchFamily="49" charset="0"/>
              </a:rPr>
              <a:t>a','b',</a:t>
            </a:r>
            <a:r>
              <a:rPr lang="en-US" sz="2800" spc="-30" dirty="0" err="1" smtClean="0">
                <a:solidFill>
                  <a:srgbClr val="ED7D31"/>
                </a:solidFill>
                <a:latin typeface="Lucida Console" panose="020B0609040504020204" pitchFamily="49" charset="0"/>
                <a:cs typeface="Courier New" pitchFamily="49" charset="0"/>
              </a:rPr>
              <a:t>'c</a:t>
            </a:r>
            <a:r>
              <a:rPr lang="en-US" sz="2800" spc="-30" dirty="0" smtClean="0">
                <a:solidFill>
                  <a:srgbClr val="ED7D31"/>
                </a:solidFill>
                <a:latin typeface="Lucida Console" panose="020B0609040504020204" pitchFamily="49" charset="0"/>
                <a:cs typeface="Courier New" pitchFamily="49" charset="0"/>
              </a:rPr>
              <a:t>', 'd']</a:t>
            </a:r>
            <a:endParaRPr lang="en-US" sz="2800" spc="-30" dirty="0">
              <a:solidFill>
                <a:srgbClr val="ED7D31"/>
              </a:solidFill>
              <a:latin typeface="Lucida Console" panose="020B0609040504020204" pitchFamily="49" charset="0"/>
              <a:cs typeface="Courier New" pitchFamily="49" charset="0"/>
            </a:endParaRPr>
          </a:p>
          <a:p>
            <a:pPr lvl="1">
              <a:lnSpc>
                <a:spcPct val="80000"/>
              </a:lnSpc>
              <a:spcBef>
                <a:spcPts val="0"/>
              </a:spcBef>
              <a:buFontTx/>
              <a:buNone/>
            </a:pPr>
            <a:r>
              <a:rPr lang="en-US" sz="2800" spc="-30" dirty="0">
                <a:solidFill>
                  <a:schemeClr val="bg1"/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  <a:r>
              <a:rPr lang="en-US" sz="2800" spc="-30" dirty="0">
                <a:solidFill>
                  <a:srgbClr val="0070C0"/>
                </a:solidFill>
                <a:latin typeface="Lucida Console" panose="020B0609040504020204" pitchFamily="49" charset="0"/>
                <a:cs typeface="Courier New" pitchFamily="49" charset="0"/>
              </a:rPr>
              <a:t> L</a:t>
            </a:r>
          </a:p>
          <a:p>
            <a:pPr lvl="1">
              <a:lnSpc>
                <a:spcPct val="80000"/>
              </a:lnSpc>
              <a:spcBef>
                <a:spcPts val="0"/>
              </a:spcBef>
              <a:buFontTx/>
              <a:buNone/>
            </a:pPr>
            <a:r>
              <a:rPr lang="en-US" sz="2800" spc="-30" dirty="0">
                <a:solidFill>
                  <a:schemeClr val="accent6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[1, 2, </a:t>
            </a:r>
            <a:r>
              <a:rPr lang="en-US" sz="2800" spc="-30" dirty="0">
                <a:solidFill>
                  <a:srgbClr val="ED7D31"/>
                </a:solidFill>
                <a:latin typeface="Lucida Console" panose="020B0609040504020204" pitchFamily="49" charset="0"/>
                <a:cs typeface="Courier New" pitchFamily="49" charset="0"/>
              </a:rPr>
              <a:t>'a', 'b', 'c</a:t>
            </a:r>
            <a:r>
              <a:rPr lang="en-US" sz="2800" spc="-30" dirty="0" smtClean="0">
                <a:solidFill>
                  <a:srgbClr val="ED7D31"/>
                </a:solidFill>
                <a:latin typeface="Lucida Console" panose="020B0609040504020204" pitchFamily="49" charset="0"/>
                <a:cs typeface="Courier New" pitchFamily="49" charset="0"/>
              </a:rPr>
              <a:t>', 'd',</a:t>
            </a:r>
            <a:r>
              <a:rPr lang="en-US" sz="2800" spc="-30" dirty="0" smtClean="0">
                <a:solidFill>
                  <a:schemeClr val="accent6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sz="2800" spc="-30" dirty="0">
                <a:solidFill>
                  <a:schemeClr val="accent6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7, 8, 9]</a:t>
            </a:r>
          </a:p>
          <a:p>
            <a:pPr lvl="1">
              <a:lnSpc>
                <a:spcPct val="80000"/>
              </a:lnSpc>
              <a:spcBef>
                <a:spcPts val="0"/>
              </a:spcBef>
              <a:buFontTx/>
              <a:buNone/>
            </a:pPr>
            <a:r>
              <a:rPr lang="en-US" sz="2800" spc="-30" dirty="0">
                <a:solidFill>
                  <a:schemeClr val="bg1"/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  <a:r>
              <a:rPr lang="en-US" sz="2800" spc="-30" dirty="0">
                <a:solidFill>
                  <a:srgbClr val="0070C0"/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sz="2800" spc="-30" dirty="0" smtClean="0">
                <a:solidFill>
                  <a:srgbClr val="0070C0"/>
                </a:solidFill>
                <a:latin typeface="Lucida Console" panose="020B0609040504020204" pitchFamily="49" charset="0"/>
                <a:cs typeface="Courier New" pitchFamily="49" charset="0"/>
              </a:rPr>
              <a:t>L[2:6]=</a:t>
            </a:r>
            <a:r>
              <a:rPr lang="en-US" sz="2800" spc="-30" dirty="0" smtClean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[</a:t>
            </a:r>
            <a:r>
              <a:rPr lang="en-US" sz="2800" spc="-30" dirty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'</a:t>
            </a:r>
            <a:r>
              <a:rPr lang="en-US" sz="2800" spc="-30" dirty="0" err="1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x','y</a:t>
            </a:r>
            <a:r>
              <a:rPr lang="en-US" sz="2800" spc="-30" dirty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']</a:t>
            </a:r>
          </a:p>
          <a:p>
            <a:pPr lvl="1">
              <a:lnSpc>
                <a:spcPct val="80000"/>
              </a:lnSpc>
              <a:spcBef>
                <a:spcPts val="0"/>
              </a:spcBef>
              <a:buFontTx/>
              <a:buNone/>
            </a:pPr>
            <a:r>
              <a:rPr lang="en-US" sz="2800" spc="-30" dirty="0">
                <a:solidFill>
                  <a:schemeClr val="bg1"/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  <a:r>
              <a:rPr lang="en-US" sz="2800" spc="-30" dirty="0">
                <a:solidFill>
                  <a:srgbClr val="0070C0"/>
                </a:solidFill>
                <a:latin typeface="Lucida Console" panose="020B0609040504020204" pitchFamily="49" charset="0"/>
                <a:cs typeface="Courier New" pitchFamily="49" charset="0"/>
              </a:rPr>
              <a:t> L</a:t>
            </a:r>
          </a:p>
          <a:p>
            <a:pPr lvl="1">
              <a:lnSpc>
                <a:spcPct val="80000"/>
              </a:lnSpc>
              <a:spcBef>
                <a:spcPts val="0"/>
              </a:spcBef>
              <a:buFontTx/>
              <a:buNone/>
            </a:pPr>
            <a:r>
              <a:rPr lang="en-US" sz="2800" spc="-30" dirty="0">
                <a:solidFill>
                  <a:schemeClr val="accent6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[1, 2, </a:t>
            </a:r>
            <a:r>
              <a:rPr lang="en-US" sz="2800" spc="-30" dirty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'x', 'y</a:t>
            </a:r>
            <a:r>
              <a:rPr lang="en-US" sz="2800" spc="-30" dirty="0" smtClean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',</a:t>
            </a:r>
            <a:r>
              <a:rPr lang="en-US" sz="2800" spc="-30" dirty="0" smtClean="0">
                <a:solidFill>
                  <a:schemeClr val="accent6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sz="2800" spc="-30" dirty="0">
                <a:solidFill>
                  <a:schemeClr val="accent6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7, 8, 9]</a:t>
            </a:r>
          </a:p>
          <a:p>
            <a:pPr lvl="1">
              <a:lnSpc>
                <a:spcPct val="80000"/>
              </a:lnSpc>
              <a:spcBef>
                <a:spcPts val="0"/>
              </a:spcBef>
              <a:buFontTx/>
              <a:buNone/>
            </a:pPr>
            <a:r>
              <a:rPr lang="en-US" sz="2800" spc="-30" dirty="0">
                <a:solidFill>
                  <a:schemeClr val="bg1"/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  <a:r>
              <a:rPr lang="en-US" sz="2800" spc="-30" dirty="0">
                <a:solidFill>
                  <a:srgbClr val="0070C0"/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sz="2800" spc="-30" dirty="0" smtClean="0">
                <a:solidFill>
                  <a:srgbClr val="0070C0"/>
                </a:solidFill>
                <a:latin typeface="Lucida Console" panose="020B0609040504020204" pitchFamily="49" charset="0"/>
                <a:cs typeface="Courier New" pitchFamily="49" charset="0"/>
              </a:rPr>
              <a:t>L[2:6]=</a:t>
            </a:r>
            <a:r>
              <a:rPr lang="en-US" sz="2800" spc="-30" dirty="0" smtClean="0">
                <a:solidFill>
                  <a:srgbClr val="7030A0"/>
                </a:solidFill>
                <a:latin typeface="Lucida Console" panose="020B0609040504020204" pitchFamily="49" charset="0"/>
                <a:cs typeface="Courier New" pitchFamily="49" charset="0"/>
              </a:rPr>
              <a:t>[]</a:t>
            </a:r>
            <a:endParaRPr lang="en-US" sz="2800" spc="-30" dirty="0">
              <a:solidFill>
                <a:srgbClr val="7030A0"/>
              </a:solidFill>
              <a:latin typeface="Lucida Console" panose="020B0609040504020204" pitchFamily="49" charset="0"/>
              <a:cs typeface="Courier New" pitchFamily="49" charset="0"/>
            </a:endParaRPr>
          </a:p>
          <a:p>
            <a:pPr lvl="1">
              <a:lnSpc>
                <a:spcPct val="80000"/>
              </a:lnSpc>
              <a:spcBef>
                <a:spcPts val="0"/>
              </a:spcBef>
              <a:buFontTx/>
              <a:buNone/>
            </a:pPr>
            <a:r>
              <a:rPr lang="en-US" sz="2800" spc="-30" dirty="0">
                <a:solidFill>
                  <a:schemeClr val="bg1"/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  <a:r>
              <a:rPr lang="en-US" sz="2800" spc="-30" dirty="0">
                <a:solidFill>
                  <a:srgbClr val="0070C0"/>
                </a:solidFill>
                <a:latin typeface="Lucida Console" panose="020B0609040504020204" pitchFamily="49" charset="0"/>
                <a:cs typeface="Courier New" pitchFamily="49" charset="0"/>
              </a:rPr>
              <a:t> L</a:t>
            </a:r>
          </a:p>
          <a:p>
            <a:pPr lvl="1">
              <a:lnSpc>
                <a:spcPct val="80000"/>
              </a:lnSpc>
              <a:spcBef>
                <a:spcPts val="0"/>
              </a:spcBef>
              <a:buFontTx/>
              <a:buNone/>
            </a:pPr>
            <a:r>
              <a:rPr lang="en-US" sz="2800" spc="-30" dirty="0">
                <a:solidFill>
                  <a:schemeClr val="accent6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[1, 2</a:t>
            </a:r>
            <a:r>
              <a:rPr lang="en-US" sz="2800" spc="-30" dirty="0" smtClean="0">
                <a:solidFill>
                  <a:schemeClr val="accent6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, </a:t>
            </a:r>
            <a:r>
              <a:rPr lang="en-US" sz="2800" spc="-30" dirty="0">
                <a:solidFill>
                  <a:schemeClr val="accent6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9]</a:t>
            </a:r>
          </a:p>
          <a:p>
            <a:pPr lvl="1">
              <a:lnSpc>
                <a:spcPct val="80000"/>
              </a:lnSpc>
              <a:spcBef>
                <a:spcPts val="0"/>
              </a:spcBef>
              <a:buFontTx/>
              <a:buNone/>
            </a:pPr>
            <a:r>
              <a:rPr lang="en-US" sz="2800" spc="-30" dirty="0" smtClean="0">
                <a:solidFill>
                  <a:schemeClr val="bg1"/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  <a:endParaRPr lang="en-US" sz="2800" spc="-30" dirty="0">
              <a:solidFill>
                <a:schemeClr val="bg1"/>
              </a:solidFill>
              <a:latin typeface="Lucida Console" panose="020B0609040504020204" pitchFamily="49" charset="0"/>
              <a:cs typeface="Courier New" pitchFamily="49" charset="0"/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9729788" cy="1161142"/>
          </a:xfrm>
        </p:spPr>
        <p:txBody>
          <a:bodyPr>
            <a:normAutofit/>
          </a:bodyPr>
          <a:lstStyle/>
          <a:p>
            <a:r>
              <a:rPr lang="en-US" sz="4400" dirty="0">
                <a:solidFill>
                  <a:srgbClr val="0070C0"/>
                </a:solidFill>
              </a:rPr>
              <a:t>Updating List Elements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262885" y="2377440"/>
            <a:ext cx="1401609" cy="44805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09672" indent="-209672" algn="l" defTabSz="838688" rtl="0" eaLnBrk="1" latinLnBrk="0" hangingPunct="1">
              <a:lnSpc>
                <a:spcPct val="90000"/>
              </a:lnSpc>
              <a:spcBef>
                <a:spcPts val="917"/>
              </a:spcBef>
              <a:buFont typeface="Arial" panose="020B0604020202020204" pitchFamily="34" charset="0"/>
              <a:buChar char="•"/>
              <a:defRPr sz="36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9016" indent="-209672" algn="l" defTabSz="838688" rtl="0" eaLnBrk="1" latinLnBrk="0" hangingPunct="1">
              <a:lnSpc>
                <a:spcPct val="90000"/>
              </a:lnSpc>
              <a:spcBef>
                <a:spcPts val="459"/>
              </a:spcBef>
              <a:buFont typeface="Arial" panose="020B0604020202020204" pitchFamily="34" charset="0"/>
              <a:buChar char="•"/>
              <a:defRPr sz="33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48360" indent="-209672" algn="l" defTabSz="838688" rtl="0" eaLnBrk="1" latinLnBrk="0" hangingPunct="1">
              <a:lnSpc>
                <a:spcPct val="90000"/>
              </a:lnSpc>
              <a:spcBef>
                <a:spcPts val="459"/>
              </a:spcBef>
              <a:buFont typeface="Arial" panose="020B0604020202020204" pitchFamily="34" charset="0"/>
              <a:buChar char="•"/>
              <a:defRPr sz="293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67703" indent="-209672" algn="l" defTabSz="838688" rtl="0" eaLnBrk="1" latinLnBrk="0" hangingPunct="1">
              <a:lnSpc>
                <a:spcPct val="90000"/>
              </a:lnSpc>
              <a:spcBef>
                <a:spcPts val="459"/>
              </a:spcBef>
              <a:buFont typeface="Arial" panose="020B0604020202020204" pitchFamily="34" charset="0"/>
              <a:buChar char="•"/>
              <a:defRPr sz="25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87047" indent="-209672" algn="l" defTabSz="838688" rtl="0" eaLnBrk="1" latinLnBrk="0" hangingPunct="1">
              <a:lnSpc>
                <a:spcPct val="90000"/>
              </a:lnSpc>
              <a:spcBef>
                <a:spcPts val="459"/>
              </a:spcBef>
              <a:buFont typeface="Arial" panose="020B0604020202020204" pitchFamily="34" charset="0"/>
              <a:buChar char="•"/>
              <a:defRPr sz="25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06391" indent="-209672" algn="l" defTabSz="838688" rtl="0" eaLnBrk="1" latinLnBrk="0" hangingPunct="1">
              <a:lnSpc>
                <a:spcPct val="90000"/>
              </a:lnSpc>
              <a:spcBef>
                <a:spcPts val="459"/>
              </a:spcBef>
              <a:buFont typeface="Arial" panose="020B0604020202020204" pitchFamily="34" charset="0"/>
              <a:buChar char="•"/>
              <a:defRPr sz="165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25735" indent="-209672" algn="l" defTabSz="838688" rtl="0" eaLnBrk="1" latinLnBrk="0" hangingPunct="1">
              <a:lnSpc>
                <a:spcPct val="90000"/>
              </a:lnSpc>
              <a:spcBef>
                <a:spcPts val="459"/>
              </a:spcBef>
              <a:buFont typeface="Arial" panose="020B0604020202020204" pitchFamily="34" charset="0"/>
              <a:buChar char="•"/>
              <a:defRPr sz="165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45079" indent="-209672" algn="l" defTabSz="838688" rtl="0" eaLnBrk="1" latinLnBrk="0" hangingPunct="1">
              <a:lnSpc>
                <a:spcPct val="90000"/>
              </a:lnSpc>
              <a:spcBef>
                <a:spcPts val="459"/>
              </a:spcBef>
              <a:buFont typeface="Arial" panose="020B0604020202020204" pitchFamily="34" charset="0"/>
              <a:buChar char="•"/>
              <a:defRPr sz="165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564423" indent="-209672" algn="l" defTabSz="838688" rtl="0" eaLnBrk="1" latinLnBrk="0" hangingPunct="1">
              <a:lnSpc>
                <a:spcPct val="90000"/>
              </a:lnSpc>
              <a:spcBef>
                <a:spcPts val="459"/>
              </a:spcBef>
              <a:buFont typeface="Arial" panose="020B0604020202020204" pitchFamily="34" charset="0"/>
              <a:buChar char="•"/>
              <a:defRPr sz="165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80000"/>
              </a:lnSpc>
              <a:spcBef>
                <a:spcPts val="0"/>
              </a:spcBef>
              <a:buFontTx/>
              <a:buNone/>
            </a:pPr>
            <a:r>
              <a:rPr lang="en-US" sz="2800" spc="-30" dirty="0" smtClean="0">
                <a:solidFill>
                  <a:prstClr val="white">
                    <a:lumMod val="75000"/>
                  </a:prstClr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  <a:r>
              <a:rPr lang="en-US" sz="2800" spc="-30" dirty="0" smtClean="0">
                <a:solidFill>
                  <a:srgbClr val="0070C0"/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</a:p>
          <a:p>
            <a:pPr lvl="1">
              <a:lnSpc>
                <a:spcPct val="80000"/>
              </a:lnSpc>
              <a:spcBef>
                <a:spcPts val="0"/>
              </a:spcBef>
              <a:buFontTx/>
              <a:buNone/>
            </a:pPr>
            <a:r>
              <a:rPr lang="en-US" sz="2800" spc="-30" dirty="0" smtClean="0">
                <a:solidFill>
                  <a:prstClr val="white">
                    <a:lumMod val="75000"/>
                  </a:prstClr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  <a:r>
              <a:rPr lang="en-US" sz="2800" spc="-30" dirty="0" smtClean="0">
                <a:solidFill>
                  <a:srgbClr val="0070C0"/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</a:p>
          <a:p>
            <a:pPr lvl="1">
              <a:lnSpc>
                <a:spcPct val="80000"/>
              </a:lnSpc>
              <a:spcBef>
                <a:spcPts val="0"/>
              </a:spcBef>
              <a:buFontTx/>
              <a:buNone/>
            </a:pPr>
            <a:r>
              <a:rPr lang="en-US" sz="2800" spc="-30" dirty="0" smtClean="0">
                <a:solidFill>
                  <a:srgbClr val="0070C0"/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</a:p>
          <a:p>
            <a:pPr lvl="1">
              <a:lnSpc>
                <a:spcPct val="80000"/>
              </a:lnSpc>
              <a:spcBef>
                <a:spcPts val="0"/>
              </a:spcBef>
              <a:buFontTx/>
              <a:buNone/>
            </a:pPr>
            <a:r>
              <a:rPr lang="en-US" sz="2800" spc="-30" dirty="0" smtClean="0">
                <a:solidFill>
                  <a:prstClr val="white">
                    <a:lumMod val="75000"/>
                  </a:prstClr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  <a:r>
              <a:rPr lang="en-US" sz="2800" spc="-30" dirty="0" smtClean="0">
                <a:solidFill>
                  <a:srgbClr val="0070C0"/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</a:p>
          <a:p>
            <a:pPr lvl="1">
              <a:lnSpc>
                <a:spcPct val="80000"/>
              </a:lnSpc>
              <a:spcBef>
                <a:spcPts val="0"/>
              </a:spcBef>
              <a:buFontTx/>
              <a:buNone/>
            </a:pPr>
            <a:r>
              <a:rPr lang="en-US" sz="2800" spc="-30" dirty="0" smtClean="0">
                <a:solidFill>
                  <a:prstClr val="white">
                    <a:lumMod val="75000"/>
                  </a:prstClr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  <a:r>
              <a:rPr lang="en-US" sz="2800" spc="-30" dirty="0" smtClean="0">
                <a:solidFill>
                  <a:srgbClr val="0070C0"/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</a:p>
          <a:p>
            <a:pPr lvl="1">
              <a:lnSpc>
                <a:spcPct val="80000"/>
              </a:lnSpc>
              <a:spcBef>
                <a:spcPts val="0"/>
              </a:spcBef>
              <a:buFontTx/>
              <a:buNone/>
            </a:pPr>
            <a:endParaRPr lang="en-US" sz="2800" spc="-30" dirty="0" smtClean="0">
              <a:solidFill>
                <a:srgbClr val="0070C0"/>
              </a:solidFill>
              <a:latin typeface="Lucida Console" panose="020B0609040504020204" pitchFamily="49" charset="0"/>
              <a:cs typeface="Courier New" pitchFamily="49" charset="0"/>
            </a:endParaRPr>
          </a:p>
          <a:p>
            <a:pPr lvl="1">
              <a:lnSpc>
                <a:spcPct val="80000"/>
              </a:lnSpc>
              <a:spcBef>
                <a:spcPts val="0"/>
              </a:spcBef>
              <a:buFontTx/>
              <a:buNone/>
            </a:pPr>
            <a:r>
              <a:rPr lang="en-US" sz="2800" spc="-30" dirty="0" smtClean="0">
                <a:solidFill>
                  <a:prstClr val="white">
                    <a:lumMod val="75000"/>
                  </a:prstClr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  <a:r>
              <a:rPr lang="en-US" sz="2800" spc="-30" dirty="0" smtClean="0">
                <a:solidFill>
                  <a:srgbClr val="0070C0"/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</a:p>
          <a:p>
            <a:pPr lvl="1">
              <a:lnSpc>
                <a:spcPct val="80000"/>
              </a:lnSpc>
              <a:spcBef>
                <a:spcPts val="0"/>
              </a:spcBef>
              <a:buFontTx/>
              <a:buNone/>
            </a:pPr>
            <a:r>
              <a:rPr lang="en-US" sz="2800" spc="-30" dirty="0" smtClean="0">
                <a:solidFill>
                  <a:prstClr val="white">
                    <a:lumMod val="75000"/>
                  </a:prstClr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  <a:r>
              <a:rPr lang="en-US" sz="2800" spc="-30" dirty="0" smtClean="0">
                <a:solidFill>
                  <a:srgbClr val="0070C0"/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</a:p>
          <a:p>
            <a:pPr lvl="1">
              <a:lnSpc>
                <a:spcPct val="80000"/>
              </a:lnSpc>
              <a:spcBef>
                <a:spcPts val="0"/>
              </a:spcBef>
              <a:buFontTx/>
              <a:buNone/>
            </a:pPr>
            <a:endParaRPr lang="en-US" sz="2800" spc="-30" dirty="0" smtClean="0">
              <a:solidFill>
                <a:srgbClr val="0070C0"/>
              </a:solidFill>
              <a:latin typeface="Lucida Console" panose="020B0609040504020204" pitchFamily="49" charset="0"/>
              <a:cs typeface="Courier New" pitchFamily="49" charset="0"/>
            </a:endParaRPr>
          </a:p>
          <a:p>
            <a:pPr lvl="1">
              <a:lnSpc>
                <a:spcPct val="80000"/>
              </a:lnSpc>
              <a:spcBef>
                <a:spcPts val="0"/>
              </a:spcBef>
              <a:buFontTx/>
              <a:buNone/>
            </a:pPr>
            <a:r>
              <a:rPr lang="en-US" sz="2800" spc="-30" dirty="0" smtClean="0">
                <a:solidFill>
                  <a:prstClr val="white">
                    <a:lumMod val="75000"/>
                  </a:prstClr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  <a:r>
              <a:rPr lang="en-US" sz="2800" spc="-30" dirty="0" smtClean="0">
                <a:solidFill>
                  <a:srgbClr val="0070C0"/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</a:p>
          <a:p>
            <a:pPr lvl="1">
              <a:lnSpc>
                <a:spcPct val="80000"/>
              </a:lnSpc>
              <a:spcBef>
                <a:spcPts val="0"/>
              </a:spcBef>
              <a:buFontTx/>
              <a:buNone/>
            </a:pPr>
            <a:r>
              <a:rPr lang="en-US" sz="2800" spc="-30" dirty="0" smtClean="0">
                <a:solidFill>
                  <a:prstClr val="white">
                    <a:lumMod val="75000"/>
                  </a:prstClr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  <a:r>
              <a:rPr lang="en-US" sz="2800" spc="-30" dirty="0" smtClean="0">
                <a:solidFill>
                  <a:srgbClr val="0070C0"/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</a:p>
          <a:p>
            <a:pPr lvl="1">
              <a:lnSpc>
                <a:spcPct val="80000"/>
              </a:lnSpc>
              <a:spcBef>
                <a:spcPts val="0"/>
              </a:spcBef>
              <a:buFontTx/>
              <a:buNone/>
            </a:pPr>
            <a:endParaRPr lang="en-US" sz="2800" spc="-30" dirty="0" smtClean="0">
              <a:solidFill>
                <a:srgbClr val="0070C0"/>
              </a:solidFill>
              <a:latin typeface="Lucida Console" panose="020B0609040504020204" pitchFamily="49" charset="0"/>
              <a:cs typeface="Courier New" pitchFamily="49" charset="0"/>
            </a:endParaRPr>
          </a:p>
          <a:p>
            <a:pPr lvl="1">
              <a:lnSpc>
                <a:spcPct val="80000"/>
              </a:lnSpc>
              <a:spcBef>
                <a:spcPts val="0"/>
              </a:spcBef>
              <a:buFontTx/>
              <a:buNone/>
            </a:pPr>
            <a:r>
              <a:rPr lang="en-US" sz="2800" spc="-30" dirty="0" smtClean="0">
                <a:solidFill>
                  <a:prstClr val="white">
                    <a:lumMod val="75000"/>
                  </a:prstClr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  <a:endParaRPr lang="en-US" sz="2800" spc="-30" dirty="0">
              <a:solidFill>
                <a:prstClr val="white">
                  <a:lumMod val="75000"/>
                </a:prstClr>
              </a:solidFill>
              <a:latin typeface="Lucida Console" panose="020B0609040504020204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90540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5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5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51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500"/>
                                        <p:tgtEl>
                                          <p:spTgt spid="51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8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3" dur="500"/>
                                        <p:tgtEl>
                                          <p:spTgt spid="51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6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1" dur="500"/>
                                        <p:tgtEl>
                                          <p:spTgt spid="51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4" dur="500"/>
                                        <p:tgtEl>
                                          <p:spTgt spid="512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7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2" dur="500"/>
                                        <p:tgtEl>
                                          <p:spTgt spid="512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5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0" dur="500"/>
                                        <p:tgtEl>
                                          <p:spTgt spid="512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3" dur="500"/>
                                        <p:tgtEl>
                                          <p:spTgt spid="512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6" dur="500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Content Placeholder 2"/>
          <p:cNvSpPr>
            <a:spLocks noGrp="1"/>
          </p:cNvSpPr>
          <p:nvPr>
            <p:ph idx="1"/>
          </p:nvPr>
        </p:nvSpPr>
        <p:spPr>
          <a:xfrm>
            <a:off x="301941" y="914400"/>
            <a:ext cx="9427847" cy="5943600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n-US" altLang="en-US" sz="2568" dirty="0">
                <a:solidFill>
                  <a:srgbClr val="FFC000"/>
                </a:solidFill>
                <a:latin typeface="Lucida Console" pitchFamily="49" charset="0"/>
                <a:ea typeface="MS Gothic" pitchFamily="49" charset="-128"/>
                <a:cs typeface="Times New Roman" panose="02020603050405020304" pitchFamily="18" charset="0"/>
              </a:rPr>
              <a:t>%</a:t>
            </a:r>
            <a:r>
              <a:rPr lang="en-US" altLang="en-US" sz="2568" dirty="0">
                <a:solidFill>
                  <a:srgbClr val="FFC00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 cat test.py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2568" dirty="0">
                <a:solidFill>
                  <a:srgbClr val="0070C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list = [ </a:t>
            </a:r>
            <a:r>
              <a:rPr lang="en-US" altLang="en-US" sz="2568" dirty="0">
                <a:solidFill>
                  <a:srgbClr val="0070C0"/>
                </a:solidFill>
                <a:latin typeface="Lucida Sans" panose="020B0602030504020204" pitchFamily="34" charset="0"/>
                <a:ea typeface="MS Gothic" pitchFamily="49" charset="-128"/>
                <a:cs typeface="Times New Roman" panose="02020603050405020304" pitchFamily="18" charset="0"/>
              </a:rPr>
              <a:t>'</a:t>
            </a:r>
            <a:r>
              <a:rPr lang="en-US" altLang="en-US" sz="2568" dirty="0" err="1">
                <a:solidFill>
                  <a:srgbClr val="0070C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abcd</a:t>
            </a:r>
            <a:r>
              <a:rPr lang="en-US" altLang="en-US" sz="2568" dirty="0">
                <a:solidFill>
                  <a:srgbClr val="0070C0"/>
                </a:solidFill>
                <a:latin typeface="Lucida Sans" panose="020B0602030504020204" pitchFamily="34" charset="0"/>
                <a:ea typeface="MS Gothic" pitchFamily="49" charset="-128"/>
                <a:cs typeface="Times New Roman" panose="02020603050405020304" pitchFamily="18" charset="0"/>
              </a:rPr>
              <a:t>'</a:t>
            </a:r>
            <a:r>
              <a:rPr lang="en-US" altLang="en-US" sz="2568" dirty="0">
                <a:solidFill>
                  <a:srgbClr val="0070C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, 786, 2.23, </a:t>
            </a:r>
            <a:r>
              <a:rPr lang="en-US" altLang="en-US" sz="2568" dirty="0">
                <a:solidFill>
                  <a:srgbClr val="0070C0"/>
                </a:solidFill>
                <a:latin typeface="Lucida Sans" panose="020B0602030504020204" pitchFamily="34" charset="0"/>
                <a:ea typeface="MS Gothic" pitchFamily="49" charset="-128"/>
                <a:cs typeface="Times New Roman" panose="02020603050405020304" pitchFamily="18" charset="0"/>
              </a:rPr>
              <a:t>'</a:t>
            </a:r>
            <a:r>
              <a:rPr lang="en-US" altLang="en-US" sz="2568" dirty="0">
                <a:solidFill>
                  <a:srgbClr val="0070C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john</a:t>
            </a:r>
            <a:r>
              <a:rPr lang="en-US" altLang="en-US" sz="2568" dirty="0">
                <a:solidFill>
                  <a:srgbClr val="0070C0"/>
                </a:solidFill>
                <a:latin typeface="Lucida Sans" panose="020B0602030504020204" pitchFamily="34" charset="0"/>
                <a:ea typeface="MS Gothic" pitchFamily="49" charset="-128"/>
                <a:cs typeface="Times New Roman" panose="02020603050405020304" pitchFamily="18" charset="0"/>
              </a:rPr>
              <a:t>'</a:t>
            </a:r>
            <a:r>
              <a:rPr lang="en-US" altLang="en-US" sz="2568" dirty="0">
                <a:solidFill>
                  <a:srgbClr val="0070C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, 70.2 ]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2568" dirty="0">
                <a:solidFill>
                  <a:srgbClr val="0070C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print (list[2]); list[2] = 2001; print (list[2]) 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2568" spc="-10" dirty="0">
                <a:solidFill>
                  <a:srgbClr val="0070C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list[1:3]=[9,9,9,9,9] #Replace</a:t>
            </a:r>
            <a:r>
              <a:rPr lang="en-US" altLang="en-US" sz="1834" spc="-10" dirty="0">
                <a:solidFill>
                  <a:srgbClr val="0070C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 </a:t>
            </a:r>
            <a:r>
              <a:rPr lang="en-US" altLang="en-US" sz="2568" spc="-10" dirty="0">
                <a:solidFill>
                  <a:srgbClr val="0070C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a</a:t>
            </a:r>
            <a:r>
              <a:rPr lang="en-US" altLang="en-US" sz="1834" spc="-10" dirty="0">
                <a:solidFill>
                  <a:srgbClr val="0070C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 </a:t>
            </a:r>
            <a:r>
              <a:rPr lang="en-US" altLang="en-US" sz="2568" spc="-10" dirty="0">
                <a:solidFill>
                  <a:srgbClr val="0070C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range,</a:t>
            </a:r>
            <a:r>
              <a:rPr lang="en-US" altLang="en-US" sz="1101" spc="-10" dirty="0">
                <a:solidFill>
                  <a:srgbClr val="0070C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 </a:t>
            </a:r>
            <a:r>
              <a:rPr lang="en-US" altLang="en-US" sz="2568" spc="-10" dirty="0">
                <a:solidFill>
                  <a:srgbClr val="0070C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sizes</a:t>
            </a:r>
            <a:r>
              <a:rPr lang="en-US" altLang="en-US" sz="1651" spc="-10" dirty="0">
                <a:solidFill>
                  <a:srgbClr val="0070C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 </a:t>
            </a:r>
            <a:r>
              <a:rPr lang="en-US" altLang="en-US" sz="2568" spc="-10" dirty="0">
                <a:solidFill>
                  <a:srgbClr val="0070C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needn</a:t>
            </a:r>
            <a:r>
              <a:rPr lang="en-US" altLang="en-US" sz="2568" spc="-10" dirty="0">
                <a:solidFill>
                  <a:srgbClr val="0070C0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’</a:t>
            </a:r>
            <a:r>
              <a:rPr lang="en-US" altLang="en-US" sz="2568" spc="-10" dirty="0">
                <a:solidFill>
                  <a:srgbClr val="0070C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t</a:t>
            </a:r>
            <a:r>
              <a:rPr lang="en-US" altLang="en-US" sz="1834" spc="-10" dirty="0">
                <a:solidFill>
                  <a:srgbClr val="0070C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 </a:t>
            </a:r>
            <a:r>
              <a:rPr lang="en-US" altLang="en-US" sz="2568" spc="-10" dirty="0">
                <a:solidFill>
                  <a:srgbClr val="0070C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match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2568" dirty="0">
                <a:solidFill>
                  <a:srgbClr val="0070C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print (list)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2568" dirty="0">
                <a:solidFill>
                  <a:srgbClr val="0070C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list[6:1:-2]=[111,222,333] # Backwards assignment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2568" dirty="0">
                <a:solidFill>
                  <a:srgbClr val="0070C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print (list)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2568" dirty="0">
                <a:solidFill>
                  <a:srgbClr val="0070C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list[1:7:2]=[1,2,3,4] #</a:t>
            </a:r>
            <a:r>
              <a:rPr lang="en-US" altLang="en-US" sz="2568" b="1" dirty="0">
                <a:solidFill>
                  <a:srgbClr val="FF000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If using a step,</a:t>
            </a:r>
            <a:r>
              <a:rPr lang="en-US" altLang="en-US" sz="1101" b="1" dirty="0">
                <a:solidFill>
                  <a:srgbClr val="FF000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 </a:t>
            </a:r>
            <a:r>
              <a:rPr lang="en-US" altLang="en-US" sz="2568" b="1" dirty="0">
                <a:solidFill>
                  <a:srgbClr val="FF000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sizes must match 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2568" dirty="0">
                <a:solidFill>
                  <a:srgbClr val="FFC000"/>
                </a:solidFill>
                <a:latin typeface="Lucida Console" pitchFamily="49" charset="0"/>
                <a:ea typeface="MS Gothic" pitchFamily="49" charset="-128"/>
                <a:cs typeface="Times New Roman" panose="02020603050405020304" pitchFamily="18" charset="0"/>
              </a:rPr>
              <a:t>%</a:t>
            </a:r>
            <a:r>
              <a:rPr lang="en-US" altLang="en-US" sz="2568" dirty="0">
                <a:solidFill>
                  <a:srgbClr val="FFC00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 python3 test.py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2568" dirty="0">
                <a:solidFill>
                  <a:srgbClr val="FF000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2.23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2568" dirty="0">
                <a:solidFill>
                  <a:srgbClr val="FF000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2001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2568" dirty="0">
                <a:solidFill>
                  <a:srgbClr val="FF000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['</a:t>
            </a:r>
            <a:r>
              <a:rPr lang="en-US" altLang="en-US" sz="2568" dirty="0" err="1">
                <a:solidFill>
                  <a:srgbClr val="FF000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abcd</a:t>
            </a:r>
            <a:r>
              <a:rPr lang="en-US" altLang="en-US" sz="2568" dirty="0">
                <a:solidFill>
                  <a:srgbClr val="FF000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', 9, 9, 9, 9, 9, 'john', 70.2]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2568" dirty="0">
                <a:solidFill>
                  <a:srgbClr val="FF000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['</a:t>
            </a:r>
            <a:r>
              <a:rPr lang="en-US" altLang="en-US" sz="2568" dirty="0" err="1">
                <a:solidFill>
                  <a:srgbClr val="FF000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abcd</a:t>
            </a:r>
            <a:r>
              <a:rPr lang="en-US" altLang="en-US" sz="2568" dirty="0">
                <a:solidFill>
                  <a:srgbClr val="FF000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', 9, 333, 9, 222, 9, 111, 70.2]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2568" dirty="0" err="1">
                <a:solidFill>
                  <a:srgbClr val="FFC8C8"/>
                </a:solidFill>
                <a:latin typeface="Arial Narrow" panose="020B0606020202030204" pitchFamily="34" charset="0"/>
                <a:ea typeface="MS Gothic" pitchFamily="49" charset="-128"/>
                <a:cs typeface="Times New Roman" panose="02020603050405020304" pitchFamily="18" charset="0"/>
              </a:rPr>
              <a:t>Traceback</a:t>
            </a:r>
            <a:r>
              <a:rPr lang="en-US" altLang="en-US" sz="2568" dirty="0">
                <a:solidFill>
                  <a:srgbClr val="FFC8C8"/>
                </a:solidFill>
                <a:latin typeface="Arial Narrow" panose="020B0606020202030204" pitchFamily="34" charset="0"/>
                <a:ea typeface="MS Gothic" pitchFamily="49" charset="-128"/>
                <a:cs typeface="Times New Roman" panose="02020603050405020304" pitchFamily="18" charset="0"/>
              </a:rPr>
              <a:t> (most recent call last):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2568" dirty="0">
                <a:solidFill>
                  <a:srgbClr val="FFC8C8"/>
                </a:solidFill>
                <a:latin typeface="Arial Narrow" panose="020B0606020202030204" pitchFamily="34" charset="0"/>
                <a:ea typeface="MS Gothic" pitchFamily="49" charset="-128"/>
                <a:cs typeface="Times New Roman" panose="02020603050405020304" pitchFamily="18" charset="0"/>
              </a:rPr>
              <a:t>  File "&lt;</a:t>
            </a:r>
            <a:r>
              <a:rPr lang="en-US" altLang="en-US" sz="2568" dirty="0" err="1">
                <a:solidFill>
                  <a:srgbClr val="FFC8C8"/>
                </a:solidFill>
                <a:latin typeface="Arial Narrow" panose="020B0606020202030204" pitchFamily="34" charset="0"/>
                <a:ea typeface="MS Gothic" pitchFamily="49" charset="-128"/>
                <a:cs typeface="Times New Roman" panose="02020603050405020304" pitchFamily="18" charset="0"/>
              </a:rPr>
              <a:t>stdin</a:t>
            </a:r>
            <a:r>
              <a:rPr lang="en-US" altLang="en-US" sz="2568" dirty="0">
                <a:solidFill>
                  <a:srgbClr val="FFC8C8"/>
                </a:solidFill>
                <a:latin typeface="Arial Narrow" panose="020B0606020202030204" pitchFamily="34" charset="0"/>
                <a:ea typeface="MS Gothic" pitchFamily="49" charset="-128"/>
                <a:cs typeface="Times New Roman" panose="02020603050405020304" pitchFamily="18" charset="0"/>
              </a:rPr>
              <a:t>&gt;", line 1, in &lt;module&gt;</a:t>
            </a:r>
          </a:p>
          <a:p>
            <a:pPr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en-US" sz="2568" dirty="0" err="1">
                <a:solidFill>
                  <a:srgbClr val="FF0000"/>
                </a:solidFill>
                <a:latin typeface="Arial Narrow" panose="020B0606020202030204" pitchFamily="34" charset="0"/>
                <a:ea typeface="MS Gothic" pitchFamily="49" charset="-128"/>
                <a:cs typeface="Times New Roman" panose="02020603050405020304" pitchFamily="18" charset="0"/>
              </a:rPr>
              <a:t>ValueError</a:t>
            </a:r>
            <a:r>
              <a:rPr lang="en-US" altLang="en-US" sz="2568" dirty="0">
                <a:solidFill>
                  <a:srgbClr val="FF0000"/>
                </a:solidFill>
                <a:latin typeface="Arial Narrow" panose="020B0606020202030204" pitchFamily="34" charset="0"/>
                <a:ea typeface="MS Gothic" pitchFamily="49" charset="-128"/>
                <a:cs typeface="Times New Roman" panose="02020603050405020304" pitchFamily="18" charset="0"/>
              </a:rPr>
              <a:t>: attempt to assign sequence of size 4 to extended slice of size 3</a:t>
            </a:r>
          </a:p>
          <a:p>
            <a:pPr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en-US" sz="2568" dirty="0">
                <a:solidFill>
                  <a:srgbClr val="FFC000"/>
                </a:solidFill>
                <a:latin typeface="Lucida Console" pitchFamily="49" charset="0"/>
                <a:ea typeface="MS Gothic" pitchFamily="49" charset="-128"/>
                <a:cs typeface="Times New Roman" panose="02020603050405020304" pitchFamily="18" charset="0"/>
              </a:rPr>
              <a:t>%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9729788" cy="1161142"/>
          </a:xfrm>
        </p:spPr>
        <p:txBody>
          <a:bodyPr>
            <a:normAutofit/>
          </a:bodyPr>
          <a:lstStyle/>
          <a:p>
            <a:r>
              <a:rPr lang="en-US" sz="4400" dirty="0">
                <a:solidFill>
                  <a:srgbClr val="0070C0"/>
                </a:solidFill>
              </a:rPr>
              <a:t>Updating List Elements</a:t>
            </a:r>
          </a:p>
        </p:txBody>
      </p:sp>
    </p:spTree>
    <p:extLst>
      <p:ext uri="{BB962C8B-B14F-4D97-AF65-F5344CB8AC3E}">
        <p14:creationId xmlns:p14="http://schemas.microsoft.com/office/powerpoint/2010/main" val="684929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56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560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560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5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56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560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Content Placeholder 2"/>
          <p:cNvSpPr>
            <a:spLocks noGrp="1"/>
          </p:cNvSpPr>
          <p:nvPr>
            <p:ph idx="1"/>
          </p:nvPr>
        </p:nvSpPr>
        <p:spPr>
          <a:xfrm>
            <a:off x="262884" y="914400"/>
            <a:ext cx="9466903" cy="5759309"/>
          </a:xfrm>
        </p:spPr>
        <p:txBody>
          <a:bodyPr>
            <a:noAutofit/>
          </a:bodyPr>
          <a:lstStyle/>
          <a:p>
            <a:pPr>
              <a:lnSpc>
                <a:spcPct val="8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3600" spc="-30" dirty="0"/>
              <a:t>You remove a list element with the del </a:t>
            </a:r>
            <a:r>
              <a:rPr lang="en-US" sz="3600" spc="-30" dirty="0" smtClean="0"/>
              <a:t>statement:</a:t>
            </a:r>
            <a:endParaRPr lang="en-US" sz="3600" spc="-30" dirty="0"/>
          </a:p>
          <a:p>
            <a:pPr lvl="1">
              <a:spcBef>
                <a:spcPts val="0"/>
              </a:spcBef>
              <a:buFontTx/>
              <a:buNone/>
            </a:pPr>
            <a:r>
              <a:rPr lang="en-US" sz="2800" spc="-30" dirty="0" smtClean="0">
                <a:solidFill>
                  <a:srgbClr val="FFC000"/>
                </a:solidFill>
                <a:latin typeface="Lucida Console" panose="020B0609040504020204" pitchFamily="49" charset="0"/>
                <a:cs typeface="Courier New" pitchFamily="49" charset="0"/>
              </a:rPr>
              <a:t>% cat test.py</a:t>
            </a:r>
          </a:p>
          <a:p>
            <a:pPr lvl="1">
              <a:spcBef>
                <a:spcPts val="0"/>
              </a:spcBef>
              <a:buFontTx/>
              <a:buNone/>
            </a:pPr>
            <a:r>
              <a:rPr lang="en-US" sz="2800" spc="-30" dirty="0">
                <a:solidFill>
                  <a:srgbClr val="0070C0"/>
                </a:solidFill>
                <a:latin typeface="Lucida Console" panose="020B0609040504020204" pitchFamily="49" charset="0"/>
                <a:cs typeface="Courier New" pitchFamily="49" charset="0"/>
              </a:rPr>
              <a:t>list1 = ['</a:t>
            </a:r>
            <a:r>
              <a:rPr lang="en-US" sz="2800" spc="-30" dirty="0" err="1">
                <a:solidFill>
                  <a:srgbClr val="0070C0"/>
                </a:solidFill>
                <a:latin typeface="Lucida Console" panose="020B0609040504020204" pitchFamily="49" charset="0"/>
                <a:cs typeface="Courier New" pitchFamily="49" charset="0"/>
              </a:rPr>
              <a:t>phys</a:t>
            </a:r>
            <a:r>
              <a:rPr lang="en-US" sz="2800" spc="-30" dirty="0">
                <a:solidFill>
                  <a:srgbClr val="0070C0"/>
                </a:solidFill>
                <a:latin typeface="Lucida Console" panose="020B0609040504020204" pitchFamily="49" charset="0"/>
                <a:cs typeface="Courier New" pitchFamily="49" charset="0"/>
              </a:rPr>
              <a:t>', '</a:t>
            </a:r>
            <a:r>
              <a:rPr lang="en-US" sz="2800" spc="-30" dirty="0" err="1">
                <a:solidFill>
                  <a:srgbClr val="0070C0"/>
                </a:solidFill>
                <a:latin typeface="Lucida Console" panose="020B0609040504020204" pitchFamily="49" charset="0"/>
                <a:cs typeface="Courier New" pitchFamily="49" charset="0"/>
              </a:rPr>
              <a:t>chem</a:t>
            </a:r>
            <a:r>
              <a:rPr lang="en-US" sz="2800" spc="-30" dirty="0">
                <a:solidFill>
                  <a:srgbClr val="0070C0"/>
                </a:solidFill>
                <a:latin typeface="Lucida Console" panose="020B0609040504020204" pitchFamily="49" charset="0"/>
                <a:cs typeface="Courier New" pitchFamily="49" charset="0"/>
              </a:rPr>
              <a:t>', 2017</a:t>
            </a:r>
            <a:r>
              <a:rPr lang="en-US" sz="2800" spc="-30" dirty="0" smtClean="0">
                <a:solidFill>
                  <a:srgbClr val="0070C0"/>
                </a:solidFill>
                <a:latin typeface="Lucida Console" panose="020B0609040504020204" pitchFamily="49" charset="0"/>
                <a:cs typeface="Courier New" pitchFamily="49" charset="0"/>
              </a:rPr>
              <a:t>, </a:t>
            </a:r>
            <a:r>
              <a:rPr lang="en-US" sz="2800" spc="-30" dirty="0">
                <a:solidFill>
                  <a:srgbClr val="0070C0"/>
                </a:solidFill>
                <a:latin typeface="Lucida Console" panose="020B0609040504020204" pitchFamily="49" charset="0"/>
                <a:cs typeface="Courier New" pitchFamily="49" charset="0"/>
              </a:rPr>
              <a:t>2019]</a:t>
            </a:r>
            <a:endParaRPr lang="en-US" sz="2800" spc="-30" dirty="0">
              <a:latin typeface="Lucida Console" panose="020B0609040504020204" pitchFamily="49" charset="0"/>
              <a:cs typeface="Courier New" pitchFamily="49" charset="0"/>
            </a:endParaRPr>
          </a:p>
          <a:p>
            <a:pPr lvl="1">
              <a:spcBef>
                <a:spcPts val="0"/>
              </a:spcBef>
              <a:buFontTx/>
              <a:buNone/>
            </a:pPr>
            <a:r>
              <a:rPr lang="en-US" sz="2800" spc="-30" dirty="0" smtClean="0">
                <a:latin typeface="Lucida Console" panose="020B0609040504020204" pitchFamily="49" charset="0"/>
                <a:cs typeface="Courier New" pitchFamily="49" charset="0"/>
              </a:rPr>
              <a:t>print(</a:t>
            </a:r>
            <a:r>
              <a:rPr lang="en-US" sz="2800" spc="-30" dirty="0" smtClean="0">
                <a:solidFill>
                  <a:srgbClr val="0070C0"/>
                </a:solidFill>
                <a:latin typeface="Lucida Console" panose="020B0609040504020204" pitchFamily="49" charset="0"/>
                <a:cs typeface="Courier New" pitchFamily="49" charset="0"/>
              </a:rPr>
              <a:t>list1</a:t>
            </a:r>
            <a:r>
              <a:rPr lang="en-US" sz="2800" spc="-30" dirty="0" smtClean="0">
                <a:latin typeface="Lucida Console" panose="020B0609040504020204" pitchFamily="49" charset="0"/>
                <a:cs typeface="Courier New" pitchFamily="49" charset="0"/>
              </a:rPr>
              <a:t>)</a:t>
            </a:r>
            <a:endParaRPr lang="en-US" sz="2800" spc="-30" dirty="0">
              <a:latin typeface="Lucida Console" panose="020B0609040504020204" pitchFamily="49" charset="0"/>
              <a:cs typeface="Courier New" pitchFamily="49" charset="0"/>
            </a:endParaRPr>
          </a:p>
          <a:p>
            <a:pPr lvl="1">
              <a:spcBef>
                <a:spcPts val="0"/>
              </a:spcBef>
              <a:buFontTx/>
              <a:buNone/>
            </a:pPr>
            <a:r>
              <a:rPr lang="en-US" sz="2800" spc="-30" dirty="0">
                <a:solidFill>
                  <a:srgbClr val="0070C0"/>
                </a:solidFill>
                <a:latin typeface="Lucida Console" panose="020B0609040504020204" pitchFamily="49" charset="0"/>
                <a:cs typeface="Courier New" pitchFamily="49" charset="0"/>
              </a:rPr>
              <a:t>del list1</a:t>
            </a:r>
            <a:r>
              <a:rPr lang="en-US" sz="2800" spc="-30" dirty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[2</a:t>
            </a:r>
            <a:r>
              <a:rPr lang="en-US" sz="2800" spc="-30" dirty="0" smtClean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]</a:t>
            </a:r>
          </a:p>
          <a:p>
            <a:pPr lvl="1">
              <a:spcBef>
                <a:spcPts val="0"/>
              </a:spcBef>
              <a:buFontTx/>
              <a:buNone/>
            </a:pPr>
            <a:r>
              <a:rPr lang="en-US" sz="2800" spc="-50" dirty="0">
                <a:solidFill>
                  <a:srgbClr val="0070C0"/>
                </a:solidFill>
                <a:latin typeface="Lucida Console" panose="020B0609040504020204" pitchFamily="49" charset="0"/>
                <a:cs typeface="Courier New" pitchFamily="49" charset="0"/>
              </a:rPr>
              <a:t>print(</a:t>
            </a:r>
            <a:r>
              <a:rPr lang="en-US" sz="2800" spc="-50" dirty="0">
                <a:solidFill>
                  <a:schemeClr val="accent6"/>
                </a:solidFill>
                <a:latin typeface="Lucida Console" panose="020B0609040504020204" pitchFamily="49" charset="0"/>
                <a:cs typeface="Courier New" pitchFamily="49" charset="0"/>
              </a:rPr>
              <a:t>"After deleting value at index 2: </a:t>
            </a:r>
            <a:r>
              <a:rPr lang="en-US" sz="2800" spc="-50" dirty="0" smtClean="0">
                <a:solidFill>
                  <a:schemeClr val="accent6"/>
                </a:solidFill>
                <a:latin typeface="Lucida Console" panose="020B0609040504020204" pitchFamily="49" charset="0"/>
                <a:cs typeface="Courier New" pitchFamily="49" charset="0"/>
              </a:rPr>
              <a:t>"</a:t>
            </a:r>
            <a:r>
              <a:rPr lang="en-US" sz="2800" spc="-50" dirty="0" smtClean="0">
                <a:solidFill>
                  <a:srgbClr val="0070C0"/>
                </a:solidFill>
                <a:latin typeface="Lucida Console" panose="020B0609040504020204" pitchFamily="49" charset="0"/>
                <a:cs typeface="Courier New" pitchFamily="49" charset="0"/>
              </a:rPr>
              <a:t>)</a:t>
            </a:r>
          </a:p>
          <a:p>
            <a:pPr lvl="1">
              <a:spcBef>
                <a:spcPts val="0"/>
              </a:spcBef>
              <a:buFontTx/>
              <a:buNone/>
            </a:pPr>
            <a:r>
              <a:rPr lang="en-US" sz="2800" spc="-30" dirty="0" smtClean="0">
                <a:latin typeface="Lucida Console" panose="020B0609040504020204" pitchFamily="49" charset="0"/>
                <a:cs typeface="Courier New" pitchFamily="49" charset="0"/>
              </a:rPr>
              <a:t>print(</a:t>
            </a:r>
            <a:r>
              <a:rPr lang="en-US" sz="2800" spc="-30" dirty="0" smtClean="0">
                <a:solidFill>
                  <a:srgbClr val="0070C0"/>
                </a:solidFill>
                <a:latin typeface="Lucida Console" panose="020B0609040504020204" pitchFamily="49" charset="0"/>
                <a:cs typeface="Courier New" pitchFamily="49" charset="0"/>
              </a:rPr>
              <a:t>list1</a:t>
            </a:r>
            <a:r>
              <a:rPr lang="en-US" sz="2800" spc="-30" dirty="0" smtClean="0">
                <a:latin typeface="Lucida Console" panose="020B0609040504020204" pitchFamily="49" charset="0"/>
                <a:cs typeface="Courier New" pitchFamily="49" charset="0"/>
              </a:rPr>
              <a:t>) </a:t>
            </a:r>
          </a:p>
          <a:p>
            <a:pPr lvl="1">
              <a:spcBef>
                <a:spcPts val="0"/>
              </a:spcBef>
              <a:buNone/>
            </a:pPr>
            <a:r>
              <a:rPr lang="en-US" sz="2800" spc="-30" dirty="0">
                <a:solidFill>
                  <a:srgbClr val="FFC000"/>
                </a:solidFill>
                <a:latin typeface="Lucida Console" panose="020B0609040504020204" pitchFamily="49" charset="0"/>
                <a:cs typeface="Courier New" pitchFamily="49" charset="0"/>
              </a:rPr>
              <a:t>% python3 test.py</a:t>
            </a:r>
          </a:p>
          <a:p>
            <a:pPr lvl="1">
              <a:spcBef>
                <a:spcPts val="0"/>
              </a:spcBef>
              <a:buFontTx/>
              <a:buNone/>
            </a:pPr>
            <a:r>
              <a:rPr lang="en-US" sz="2800" spc="-30" dirty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['</a:t>
            </a:r>
            <a:r>
              <a:rPr lang="en-US" sz="2800" spc="-30" dirty="0" err="1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phys</a:t>
            </a:r>
            <a:r>
              <a:rPr lang="en-US" sz="2800" spc="-30" dirty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', '</a:t>
            </a:r>
            <a:r>
              <a:rPr lang="en-US" sz="2800" spc="-30" dirty="0" err="1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chem</a:t>
            </a:r>
            <a:r>
              <a:rPr lang="en-US" sz="2800" spc="-30" dirty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', 2017, 2019] </a:t>
            </a:r>
          </a:p>
          <a:p>
            <a:pPr lvl="1">
              <a:spcBef>
                <a:spcPts val="0"/>
              </a:spcBef>
              <a:buFontTx/>
              <a:buNone/>
            </a:pPr>
            <a:r>
              <a:rPr lang="en-US" sz="2800" spc="-30" dirty="0">
                <a:solidFill>
                  <a:schemeClr val="accent6"/>
                </a:solidFill>
                <a:latin typeface="Lucida Console" panose="020B0609040504020204" pitchFamily="49" charset="0"/>
                <a:cs typeface="Courier New" pitchFamily="49" charset="0"/>
              </a:rPr>
              <a:t>After deleting value at index 2: </a:t>
            </a:r>
            <a:endParaRPr lang="en-US" sz="2800" spc="-30" dirty="0" smtClean="0">
              <a:solidFill>
                <a:schemeClr val="accent6"/>
              </a:solidFill>
              <a:latin typeface="Lucida Console" panose="020B0609040504020204" pitchFamily="49" charset="0"/>
              <a:cs typeface="Courier New" pitchFamily="49" charset="0"/>
            </a:endParaRPr>
          </a:p>
          <a:p>
            <a:pPr lvl="1">
              <a:spcBef>
                <a:spcPts val="0"/>
              </a:spcBef>
              <a:buFontTx/>
              <a:buNone/>
            </a:pPr>
            <a:r>
              <a:rPr lang="en-US" sz="2800" spc="-30" dirty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['</a:t>
            </a:r>
            <a:r>
              <a:rPr lang="en-US" sz="2800" spc="-30" dirty="0" err="1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phys</a:t>
            </a:r>
            <a:r>
              <a:rPr lang="en-US" sz="2800" spc="-30" dirty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', '</a:t>
            </a:r>
            <a:r>
              <a:rPr lang="en-US" sz="2800" spc="-30" dirty="0" err="1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chem</a:t>
            </a:r>
            <a:r>
              <a:rPr lang="en-US" sz="2800" spc="-30" dirty="0" smtClean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', </a:t>
            </a:r>
            <a:r>
              <a:rPr lang="en-US" sz="2800" spc="-30" dirty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2019] </a:t>
            </a:r>
          </a:p>
          <a:p>
            <a:pPr lvl="1">
              <a:spcBef>
                <a:spcPts val="0"/>
              </a:spcBef>
              <a:buFontTx/>
              <a:buNone/>
            </a:pPr>
            <a:r>
              <a:rPr lang="en-US" sz="2800" spc="-30" dirty="0" smtClean="0">
                <a:solidFill>
                  <a:srgbClr val="FFC000"/>
                </a:solidFill>
                <a:latin typeface="Lucida Console" panose="020B0609040504020204" pitchFamily="49" charset="0"/>
                <a:cs typeface="Courier New" pitchFamily="49" charset="0"/>
              </a:rPr>
              <a:t>% </a:t>
            </a:r>
            <a:endParaRPr lang="en-US" sz="2800" spc="-30" dirty="0">
              <a:solidFill>
                <a:srgbClr val="FFC000"/>
              </a:solidFill>
              <a:latin typeface="Lucida Console" panose="020B0609040504020204" pitchFamily="49" charset="0"/>
              <a:cs typeface="Courier New" pitchFamily="49" charset="0"/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9729788" cy="1161142"/>
          </a:xfrm>
        </p:spPr>
        <p:txBody>
          <a:bodyPr>
            <a:normAutofit/>
          </a:bodyPr>
          <a:lstStyle/>
          <a:p>
            <a:r>
              <a:rPr lang="en-US" sz="4400" dirty="0">
                <a:solidFill>
                  <a:srgbClr val="0070C0"/>
                </a:solidFill>
              </a:rPr>
              <a:t>Deleting List </a:t>
            </a:r>
            <a:r>
              <a:rPr lang="en-US" sz="4400" dirty="0" smtClean="0">
                <a:solidFill>
                  <a:srgbClr val="0070C0"/>
                </a:solidFill>
              </a:rPr>
              <a:t>Elements</a:t>
            </a:r>
            <a:endParaRPr lang="en-US" sz="4400" dirty="0">
              <a:solidFill>
                <a:srgbClr val="0070C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031653" y="1773936"/>
            <a:ext cx="866987" cy="523220"/>
          </a:xfrm>
          <a:prstGeom prst="rect">
            <a:avLst/>
          </a:prstGeom>
          <a:solidFill>
            <a:schemeClr val="bg1"/>
          </a:solidFill>
        </p:spPr>
        <p:txBody>
          <a:bodyPr wrap="square" lIns="0" rIns="0">
            <a:spAutoFit/>
          </a:bodyPr>
          <a:lstStyle/>
          <a:p>
            <a:r>
              <a:rPr lang="en-US" sz="2800" spc="-30" dirty="0">
                <a:solidFill>
                  <a:srgbClr val="0070C0"/>
                </a:solidFill>
                <a:latin typeface="Lucida Console" panose="020B0609040504020204" pitchFamily="49" charset="0"/>
                <a:cs typeface="Courier New" pitchFamily="49" charset="0"/>
              </a:rPr>
              <a:t>2017</a:t>
            </a:r>
            <a:endParaRPr lang="en-US" sz="2800" dirty="0">
              <a:solidFill>
                <a:srgbClr val="0070C0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6031653" y="1773936"/>
            <a:ext cx="866987" cy="523220"/>
          </a:xfrm>
          <a:prstGeom prst="rect">
            <a:avLst/>
          </a:prstGeom>
          <a:solidFill>
            <a:schemeClr val="bg1"/>
          </a:solidFill>
        </p:spPr>
        <p:txBody>
          <a:bodyPr wrap="square" lIns="0" rIns="0">
            <a:spAutoFit/>
          </a:bodyPr>
          <a:lstStyle/>
          <a:p>
            <a:r>
              <a:rPr lang="en-US" sz="2800" spc="-30" dirty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2017</a:t>
            </a:r>
            <a:endParaRPr lang="en-US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6957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51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512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808080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808080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808080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3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51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1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80808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5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4" dur="500"/>
                                        <p:tgtEl>
                                          <p:spTgt spid="5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51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51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5" dur="500"/>
                                        <p:tgtEl>
                                          <p:spTgt spid="512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Content Placeholder 2"/>
          <p:cNvSpPr>
            <a:spLocks noGrp="1"/>
          </p:cNvSpPr>
          <p:nvPr>
            <p:ph idx="1"/>
          </p:nvPr>
        </p:nvSpPr>
        <p:spPr>
          <a:xfrm>
            <a:off x="262884" y="914400"/>
            <a:ext cx="9466903" cy="5943600"/>
          </a:xfrm>
        </p:spPr>
        <p:txBody>
          <a:bodyPr>
            <a:noAutofit/>
          </a:bodyPr>
          <a:lstStyle/>
          <a:p>
            <a:pPr>
              <a:lnSpc>
                <a:spcPct val="8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3600" spc="-30" dirty="0" smtClean="0">
                <a:solidFill>
                  <a:schemeClr val="bg1">
                    <a:lumMod val="75000"/>
                  </a:schemeClr>
                </a:solidFill>
              </a:rPr>
              <a:t>You </a:t>
            </a:r>
            <a:r>
              <a:rPr lang="en-US" sz="3600" spc="-30" dirty="0">
                <a:solidFill>
                  <a:schemeClr val="bg1">
                    <a:lumMod val="75000"/>
                  </a:schemeClr>
                </a:solidFill>
              </a:rPr>
              <a:t>remove a list element with the del </a:t>
            </a:r>
            <a:r>
              <a:rPr lang="en-US" sz="3600" spc="-30" dirty="0" smtClean="0">
                <a:solidFill>
                  <a:schemeClr val="bg1">
                    <a:lumMod val="75000"/>
                  </a:schemeClr>
                </a:solidFill>
              </a:rPr>
              <a:t>statement.</a:t>
            </a:r>
          </a:p>
          <a:p>
            <a:pPr>
              <a:lnSpc>
                <a:spcPct val="8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3600" dirty="0"/>
              <a:t>You can </a:t>
            </a:r>
            <a:r>
              <a:rPr lang="en-US" sz="3600" dirty="0" smtClean="0"/>
              <a:t>also delete all of a slice:</a:t>
            </a:r>
          </a:p>
          <a:p>
            <a:pPr lvl="1">
              <a:spcBef>
                <a:spcPts val="0"/>
              </a:spcBef>
              <a:buFontTx/>
              <a:buNone/>
            </a:pPr>
            <a:r>
              <a:rPr lang="en-US" sz="2800" spc="-30" dirty="0">
                <a:solidFill>
                  <a:schemeClr val="bg1"/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  <a:r>
              <a:rPr lang="en-US" sz="2800" spc="-3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sz="2800" spc="-30" dirty="0">
                <a:solidFill>
                  <a:srgbClr val="0070C0"/>
                </a:solidFill>
                <a:latin typeface="Lucida Console" panose="020B0609040504020204" pitchFamily="49" charset="0"/>
                <a:cs typeface="Courier New" pitchFamily="49" charset="0"/>
              </a:rPr>
              <a:t>L=</a:t>
            </a:r>
            <a:r>
              <a:rPr lang="en-US" sz="2800" spc="-30" dirty="0">
                <a:solidFill>
                  <a:schemeClr val="accent6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[1,2,3,4,5,6,7,8,9]</a:t>
            </a:r>
          </a:p>
          <a:p>
            <a:pPr lvl="1">
              <a:spcBef>
                <a:spcPts val="0"/>
              </a:spcBef>
              <a:buFontTx/>
              <a:buNone/>
            </a:pPr>
            <a:r>
              <a:rPr lang="en-US" sz="2800" spc="-30" dirty="0">
                <a:solidFill>
                  <a:schemeClr val="bg1"/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  <a:r>
              <a:rPr lang="en-US" sz="2800" spc="-3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sz="2800" spc="-30" dirty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del</a:t>
            </a:r>
            <a:r>
              <a:rPr lang="en-US" sz="2800" spc="-30" dirty="0">
                <a:solidFill>
                  <a:srgbClr val="0070C0"/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sz="2800" spc="-30" dirty="0" smtClean="0">
                <a:solidFill>
                  <a:srgbClr val="0070C0"/>
                </a:solidFill>
                <a:latin typeface="Lucida Console" panose="020B0609040504020204" pitchFamily="49" charset="0"/>
                <a:cs typeface="Courier New" pitchFamily="49" charset="0"/>
              </a:rPr>
              <a:t>L[2:7]</a:t>
            </a:r>
            <a:endParaRPr lang="en-US" sz="2800" spc="-30" dirty="0">
              <a:solidFill>
                <a:srgbClr val="0070C0"/>
              </a:solidFill>
              <a:latin typeface="Lucida Console" panose="020B0609040504020204" pitchFamily="49" charset="0"/>
              <a:cs typeface="Courier New" pitchFamily="49" charset="0"/>
            </a:endParaRPr>
          </a:p>
          <a:p>
            <a:pPr lvl="1">
              <a:spcBef>
                <a:spcPts val="0"/>
              </a:spcBef>
              <a:buFontTx/>
              <a:buNone/>
            </a:pPr>
            <a:r>
              <a:rPr lang="en-US" sz="2800" spc="-30" dirty="0" smtClean="0">
                <a:solidFill>
                  <a:schemeClr val="bg1"/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  <a:r>
              <a:rPr lang="en-US" sz="2800" spc="-3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sz="2800" spc="-30" dirty="0">
                <a:solidFill>
                  <a:srgbClr val="0070C0"/>
                </a:solidFill>
                <a:latin typeface="Lucida Console" panose="020B0609040504020204" pitchFamily="49" charset="0"/>
                <a:cs typeface="Courier New" pitchFamily="49" charset="0"/>
              </a:rPr>
              <a:t>L</a:t>
            </a:r>
          </a:p>
          <a:p>
            <a:pPr lvl="1">
              <a:spcBef>
                <a:spcPts val="0"/>
              </a:spcBef>
              <a:buFontTx/>
              <a:buNone/>
            </a:pPr>
            <a:r>
              <a:rPr lang="en-US" sz="2800" spc="-30" dirty="0">
                <a:solidFill>
                  <a:schemeClr val="accent6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[1, 2</a:t>
            </a:r>
            <a:r>
              <a:rPr lang="en-US" sz="2800" spc="-30" dirty="0" smtClean="0">
                <a:solidFill>
                  <a:schemeClr val="accent6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, </a:t>
            </a:r>
            <a:r>
              <a:rPr lang="en-US" sz="2800" spc="-30" dirty="0">
                <a:solidFill>
                  <a:schemeClr val="accent6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8, 9]</a:t>
            </a:r>
          </a:p>
          <a:p>
            <a:pPr lvl="1">
              <a:spcBef>
                <a:spcPts val="0"/>
              </a:spcBef>
              <a:buFontTx/>
              <a:buNone/>
            </a:pPr>
            <a:r>
              <a:rPr lang="en-US" sz="2800" spc="-30" dirty="0">
                <a:solidFill>
                  <a:schemeClr val="bg1"/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  <a:r>
              <a:rPr lang="en-US" sz="2800" spc="-3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sz="2800" spc="-30" dirty="0">
                <a:solidFill>
                  <a:srgbClr val="0070C0"/>
                </a:solidFill>
                <a:latin typeface="Lucida Console" panose="020B0609040504020204" pitchFamily="49" charset="0"/>
                <a:cs typeface="Courier New" pitchFamily="49" charset="0"/>
              </a:rPr>
              <a:t>L=</a:t>
            </a:r>
            <a:r>
              <a:rPr lang="en-US" sz="2800" spc="-30" dirty="0">
                <a:solidFill>
                  <a:schemeClr val="accent6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[1,2,3,4,5,6,7,8,9]</a:t>
            </a:r>
          </a:p>
          <a:p>
            <a:pPr lvl="1">
              <a:spcBef>
                <a:spcPts val="0"/>
              </a:spcBef>
              <a:buFontTx/>
              <a:buNone/>
            </a:pPr>
            <a:r>
              <a:rPr lang="en-US" sz="2800" spc="-30" dirty="0">
                <a:solidFill>
                  <a:schemeClr val="bg1"/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  <a:r>
              <a:rPr lang="en-US" sz="2800" spc="-3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sz="2800" spc="-30" dirty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del</a:t>
            </a:r>
            <a:r>
              <a:rPr lang="en-US" sz="2800" spc="-30" dirty="0">
                <a:solidFill>
                  <a:srgbClr val="0070C0"/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sz="2800" spc="-30" dirty="0" smtClean="0">
                <a:solidFill>
                  <a:srgbClr val="0070C0"/>
                </a:solidFill>
                <a:latin typeface="Lucida Console" panose="020B0609040504020204" pitchFamily="49" charset="0"/>
                <a:cs typeface="Courier New" pitchFamily="49" charset="0"/>
              </a:rPr>
              <a:t>L[2:7:2</a:t>
            </a:r>
            <a:r>
              <a:rPr lang="en-US" sz="2800" spc="-30" dirty="0">
                <a:solidFill>
                  <a:srgbClr val="0070C0"/>
                </a:solidFill>
                <a:latin typeface="Lucida Console" panose="020B0609040504020204" pitchFamily="49" charset="0"/>
                <a:cs typeface="Courier New" pitchFamily="49" charset="0"/>
              </a:rPr>
              <a:t>]</a:t>
            </a:r>
          </a:p>
          <a:p>
            <a:pPr lvl="1">
              <a:spcBef>
                <a:spcPts val="0"/>
              </a:spcBef>
              <a:buFontTx/>
              <a:buNone/>
            </a:pPr>
            <a:r>
              <a:rPr lang="en-US" sz="2800" spc="-30" dirty="0">
                <a:solidFill>
                  <a:schemeClr val="bg1"/>
                </a:solidFill>
                <a:latin typeface="Lucida Console" panose="020B0609040504020204" pitchFamily="49" charset="0"/>
                <a:cs typeface="Courier New" pitchFamily="49" charset="0"/>
              </a:rPr>
              <a:t>&gt;&gt;&gt; </a:t>
            </a:r>
            <a:r>
              <a:rPr lang="en-US" sz="2800" spc="-30" dirty="0">
                <a:solidFill>
                  <a:srgbClr val="0070C0"/>
                </a:solidFill>
                <a:latin typeface="Lucida Console" panose="020B0609040504020204" pitchFamily="49" charset="0"/>
                <a:cs typeface="Courier New" pitchFamily="49" charset="0"/>
              </a:rPr>
              <a:t>L</a:t>
            </a:r>
          </a:p>
          <a:p>
            <a:pPr lvl="1">
              <a:spcBef>
                <a:spcPts val="0"/>
              </a:spcBef>
              <a:buFontTx/>
              <a:buNone/>
            </a:pPr>
            <a:r>
              <a:rPr lang="en-US" sz="2800" spc="-30" dirty="0">
                <a:solidFill>
                  <a:schemeClr val="accent6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[1, 2, 4, 6</a:t>
            </a:r>
            <a:r>
              <a:rPr lang="en-US" sz="2800" spc="-30" dirty="0" smtClean="0">
                <a:solidFill>
                  <a:schemeClr val="accent6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, </a:t>
            </a:r>
            <a:r>
              <a:rPr lang="en-US" sz="2800" spc="-30" dirty="0">
                <a:solidFill>
                  <a:schemeClr val="accent6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8, 9]</a:t>
            </a:r>
          </a:p>
          <a:p>
            <a:pPr lvl="1">
              <a:spcBef>
                <a:spcPts val="0"/>
              </a:spcBef>
              <a:buFontTx/>
              <a:buNone/>
            </a:pPr>
            <a:r>
              <a:rPr lang="en-US" sz="2800" spc="-30" dirty="0">
                <a:solidFill>
                  <a:schemeClr val="bg1"/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  <a:r>
              <a:rPr lang="en-US" sz="2800" spc="-3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sz="2800" spc="-30" dirty="0">
                <a:solidFill>
                  <a:srgbClr val="0070C0"/>
                </a:solidFill>
                <a:latin typeface="Lucida Console" panose="020B0609040504020204" pitchFamily="49" charset="0"/>
                <a:cs typeface="Courier New" pitchFamily="49" charset="0"/>
              </a:rPr>
              <a:t>L=</a:t>
            </a:r>
            <a:r>
              <a:rPr lang="en-US" sz="2800" spc="-30" dirty="0">
                <a:solidFill>
                  <a:schemeClr val="accent6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[1,2,3,4,5,6,7,8,9]</a:t>
            </a:r>
          </a:p>
          <a:p>
            <a:pPr lvl="1">
              <a:spcBef>
                <a:spcPts val="0"/>
              </a:spcBef>
              <a:buFontTx/>
              <a:buNone/>
            </a:pPr>
            <a:r>
              <a:rPr lang="en-US" sz="2800" spc="-30" dirty="0">
                <a:solidFill>
                  <a:schemeClr val="bg1"/>
                </a:solidFill>
                <a:latin typeface="Lucida Console" panose="020B0609040504020204" pitchFamily="49" charset="0"/>
                <a:cs typeface="Courier New" pitchFamily="49" charset="0"/>
              </a:rPr>
              <a:t>&gt;&gt;&gt; </a:t>
            </a:r>
            <a:r>
              <a:rPr lang="en-US" sz="2800" spc="-30" dirty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del</a:t>
            </a:r>
            <a:r>
              <a:rPr lang="en-US" sz="2800" spc="-30" dirty="0">
                <a:solidFill>
                  <a:srgbClr val="0070C0"/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sz="2800" spc="-30" dirty="0" smtClean="0">
                <a:solidFill>
                  <a:srgbClr val="0070C0"/>
                </a:solidFill>
                <a:latin typeface="Lucida Console" panose="020B0609040504020204" pitchFamily="49" charset="0"/>
                <a:cs typeface="Courier New" pitchFamily="49" charset="0"/>
              </a:rPr>
              <a:t>L[7:2</a:t>
            </a:r>
            <a:r>
              <a:rPr lang="en-US" sz="2800" spc="-30" dirty="0">
                <a:solidFill>
                  <a:srgbClr val="0070C0"/>
                </a:solidFill>
                <a:latin typeface="Lucida Console" panose="020B0609040504020204" pitchFamily="49" charset="0"/>
                <a:cs typeface="Courier New" pitchFamily="49" charset="0"/>
              </a:rPr>
              <a:t>:-1]</a:t>
            </a:r>
          </a:p>
          <a:p>
            <a:pPr lvl="1">
              <a:spcBef>
                <a:spcPts val="0"/>
              </a:spcBef>
              <a:buFontTx/>
              <a:buNone/>
            </a:pPr>
            <a:r>
              <a:rPr lang="en-US" sz="2800" spc="-30" dirty="0">
                <a:solidFill>
                  <a:schemeClr val="bg1"/>
                </a:solidFill>
                <a:latin typeface="Lucida Console" panose="020B0609040504020204" pitchFamily="49" charset="0"/>
                <a:cs typeface="Courier New" pitchFamily="49" charset="0"/>
              </a:rPr>
              <a:t>&gt;&gt;&gt; </a:t>
            </a:r>
            <a:r>
              <a:rPr lang="en-US" sz="2800" spc="-30" dirty="0">
                <a:solidFill>
                  <a:srgbClr val="0070C0"/>
                </a:solidFill>
                <a:latin typeface="Lucida Console" panose="020B0609040504020204" pitchFamily="49" charset="0"/>
                <a:cs typeface="Courier New" pitchFamily="49" charset="0"/>
              </a:rPr>
              <a:t>L</a:t>
            </a:r>
          </a:p>
          <a:p>
            <a:pPr lvl="1">
              <a:spcBef>
                <a:spcPts val="0"/>
              </a:spcBef>
              <a:buFontTx/>
              <a:buNone/>
            </a:pPr>
            <a:r>
              <a:rPr lang="en-US" sz="2800" spc="-30" dirty="0">
                <a:solidFill>
                  <a:schemeClr val="accent6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[1, 2, 3</a:t>
            </a:r>
            <a:r>
              <a:rPr lang="en-US" sz="2800" spc="-30" dirty="0" smtClean="0">
                <a:solidFill>
                  <a:schemeClr val="accent6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, </a:t>
            </a:r>
            <a:r>
              <a:rPr lang="en-US" sz="2800" spc="-30" dirty="0">
                <a:solidFill>
                  <a:schemeClr val="accent6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9]</a:t>
            </a:r>
          </a:p>
          <a:p>
            <a:pPr lvl="1">
              <a:lnSpc>
                <a:spcPct val="75000"/>
              </a:lnSpc>
              <a:spcBef>
                <a:spcPts val="0"/>
              </a:spcBef>
              <a:buFontTx/>
              <a:buNone/>
            </a:pPr>
            <a:endParaRPr lang="en-US" sz="2800" spc="-30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  <a:cs typeface="Courier New" pitchFamily="49" charset="0"/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9729788" cy="1161142"/>
          </a:xfrm>
        </p:spPr>
        <p:txBody>
          <a:bodyPr>
            <a:normAutofit/>
          </a:bodyPr>
          <a:lstStyle/>
          <a:p>
            <a:r>
              <a:rPr lang="en-US" sz="4400" dirty="0">
                <a:solidFill>
                  <a:srgbClr val="0070C0"/>
                </a:solidFill>
              </a:rPr>
              <a:t>Deleting List </a:t>
            </a:r>
            <a:r>
              <a:rPr lang="en-US" sz="4400" dirty="0" smtClean="0">
                <a:solidFill>
                  <a:srgbClr val="0070C0"/>
                </a:solidFill>
              </a:rPr>
              <a:t>Elements</a:t>
            </a:r>
            <a:endParaRPr lang="en-US" sz="4400" dirty="0">
              <a:solidFill>
                <a:srgbClr val="0070C0"/>
              </a:solidFill>
            </a:endParaRP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262885" y="1949570"/>
            <a:ext cx="1401610" cy="490843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09672" indent="-209672" algn="l" defTabSz="838688" rtl="0" eaLnBrk="1" latinLnBrk="0" hangingPunct="1">
              <a:lnSpc>
                <a:spcPct val="90000"/>
              </a:lnSpc>
              <a:spcBef>
                <a:spcPts val="917"/>
              </a:spcBef>
              <a:buFont typeface="Arial" panose="020B0604020202020204" pitchFamily="34" charset="0"/>
              <a:buChar char="•"/>
              <a:defRPr sz="36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9016" indent="-209672" algn="l" defTabSz="838688" rtl="0" eaLnBrk="1" latinLnBrk="0" hangingPunct="1">
              <a:lnSpc>
                <a:spcPct val="90000"/>
              </a:lnSpc>
              <a:spcBef>
                <a:spcPts val="459"/>
              </a:spcBef>
              <a:buFont typeface="Arial" panose="020B0604020202020204" pitchFamily="34" charset="0"/>
              <a:buChar char="•"/>
              <a:defRPr sz="33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48360" indent="-209672" algn="l" defTabSz="838688" rtl="0" eaLnBrk="1" latinLnBrk="0" hangingPunct="1">
              <a:lnSpc>
                <a:spcPct val="90000"/>
              </a:lnSpc>
              <a:spcBef>
                <a:spcPts val="459"/>
              </a:spcBef>
              <a:buFont typeface="Arial" panose="020B0604020202020204" pitchFamily="34" charset="0"/>
              <a:buChar char="•"/>
              <a:defRPr sz="293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67703" indent="-209672" algn="l" defTabSz="838688" rtl="0" eaLnBrk="1" latinLnBrk="0" hangingPunct="1">
              <a:lnSpc>
                <a:spcPct val="90000"/>
              </a:lnSpc>
              <a:spcBef>
                <a:spcPts val="459"/>
              </a:spcBef>
              <a:buFont typeface="Arial" panose="020B0604020202020204" pitchFamily="34" charset="0"/>
              <a:buChar char="•"/>
              <a:defRPr sz="25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87047" indent="-209672" algn="l" defTabSz="838688" rtl="0" eaLnBrk="1" latinLnBrk="0" hangingPunct="1">
              <a:lnSpc>
                <a:spcPct val="90000"/>
              </a:lnSpc>
              <a:spcBef>
                <a:spcPts val="459"/>
              </a:spcBef>
              <a:buFont typeface="Arial" panose="020B0604020202020204" pitchFamily="34" charset="0"/>
              <a:buChar char="•"/>
              <a:defRPr sz="25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06391" indent="-209672" algn="l" defTabSz="838688" rtl="0" eaLnBrk="1" latinLnBrk="0" hangingPunct="1">
              <a:lnSpc>
                <a:spcPct val="90000"/>
              </a:lnSpc>
              <a:spcBef>
                <a:spcPts val="459"/>
              </a:spcBef>
              <a:buFont typeface="Arial" panose="020B0604020202020204" pitchFamily="34" charset="0"/>
              <a:buChar char="•"/>
              <a:defRPr sz="165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25735" indent="-209672" algn="l" defTabSz="838688" rtl="0" eaLnBrk="1" latinLnBrk="0" hangingPunct="1">
              <a:lnSpc>
                <a:spcPct val="90000"/>
              </a:lnSpc>
              <a:spcBef>
                <a:spcPts val="459"/>
              </a:spcBef>
              <a:buFont typeface="Arial" panose="020B0604020202020204" pitchFamily="34" charset="0"/>
              <a:buChar char="•"/>
              <a:defRPr sz="165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45079" indent="-209672" algn="l" defTabSz="838688" rtl="0" eaLnBrk="1" latinLnBrk="0" hangingPunct="1">
              <a:lnSpc>
                <a:spcPct val="90000"/>
              </a:lnSpc>
              <a:spcBef>
                <a:spcPts val="459"/>
              </a:spcBef>
              <a:buFont typeface="Arial" panose="020B0604020202020204" pitchFamily="34" charset="0"/>
              <a:buChar char="•"/>
              <a:defRPr sz="165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564423" indent="-209672" algn="l" defTabSz="838688" rtl="0" eaLnBrk="1" latinLnBrk="0" hangingPunct="1">
              <a:lnSpc>
                <a:spcPct val="90000"/>
              </a:lnSpc>
              <a:spcBef>
                <a:spcPts val="459"/>
              </a:spcBef>
              <a:buFont typeface="Arial" panose="020B0604020202020204" pitchFamily="34" charset="0"/>
              <a:buChar char="•"/>
              <a:defRPr sz="165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spcBef>
                <a:spcPts val="0"/>
              </a:spcBef>
              <a:buFontTx/>
              <a:buNone/>
            </a:pPr>
            <a:r>
              <a:rPr lang="en-US" sz="2800" spc="-30" dirty="0" smtClean="0">
                <a:solidFill>
                  <a:prstClr val="white">
                    <a:lumMod val="75000"/>
                  </a:prstClr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  <a:endParaRPr lang="en-US" sz="2800" spc="-30" dirty="0" smtClean="0">
              <a:solidFill>
                <a:srgbClr val="70AD47">
                  <a:lumMod val="75000"/>
                </a:srgbClr>
              </a:solidFill>
              <a:latin typeface="Lucida Console" panose="020B0609040504020204" pitchFamily="49" charset="0"/>
              <a:cs typeface="Courier New" pitchFamily="49" charset="0"/>
            </a:endParaRPr>
          </a:p>
          <a:p>
            <a:pPr lvl="1">
              <a:spcBef>
                <a:spcPts val="0"/>
              </a:spcBef>
              <a:buFontTx/>
              <a:buNone/>
            </a:pPr>
            <a:r>
              <a:rPr lang="en-US" sz="2800" spc="-30" dirty="0" smtClean="0">
                <a:solidFill>
                  <a:prstClr val="white">
                    <a:lumMod val="75000"/>
                  </a:prstClr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  <a:endParaRPr lang="en-US" sz="2800" spc="-30" dirty="0" smtClean="0">
              <a:solidFill>
                <a:srgbClr val="0070C0"/>
              </a:solidFill>
              <a:latin typeface="Lucida Console" panose="020B0609040504020204" pitchFamily="49" charset="0"/>
              <a:cs typeface="Courier New" pitchFamily="49" charset="0"/>
            </a:endParaRPr>
          </a:p>
          <a:p>
            <a:pPr lvl="1">
              <a:spcBef>
                <a:spcPts val="0"/>
              </a:spcBef>
              <a:buFontTx/>
              <a:buNone/>
            </a:pPr>
            <a:r>
              <a:rPr lang="en-US" sz="2800" spc="-30" dirty="0" smtClean="0">
                <a:solidFill>
                  <a:prstClr val="white">
                    <a:lumMod val="75000"/>
                  </a:prstClr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  <a:endParaRPr lang="en-US" sz="2800" spc="-30" dirty="0" smtClean="0">
              <a:solidFill>
                <a:srgbClr val="0070C0"/>
              </a:solidFill>
              <a:latin typeface="Lucida Console" panose="020B0609040504020204" pitchFamily="49" charset="0"/>
              <a:cs typeface="Courier New" pitchFamily="49" charset="0"/>
            </a:endParaRPr>
          </a:p>
          <a:p>
            <a:pPr lvl="1">
              <a:spcBef>
                <a:spcPts val="0"/>
              </a:spcBef>
              <a:buFontTx/>
              <a:buNone/>
            </a:pPr>
            <a:endParaRPr lang="en-US" sz="2800" spc="-30" dirty="0" smtClean="0">
              <a:solidFill>
                <a:srgbClr val="70AD47">
                  <a:lumMod val="75000"/>
                </a:srgbClr>
              </a:solidFill>
              <a:latin typeface="Lucida Console" panose="020B0609040504020204" pitchFamily="49" charset="0"/>
              <a:cs typeface="Courier New" pitchFamily="49" charset="0"/>
            </a:endParaRPr>
          </a:p>
          <a:p>
            <a:pPr lvl="1">
              <a:spcBef>
                <a:spcPts val="0"/>
              </a:spcBef>
              <a:buFontTx/>
              <a:buNone/>
            </a:pPr>
            <a:r>
              <a:rPr lang="en-US" sz="2800" spc="-30" dirty="0" smtClean="0">
                <a:solidFill>
                  <a:prstClr val="white">
                    <a:lumMod val="75000"/>
                  </a:prstClr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  <a:endParaRPr lang="en-US" sz="2800" spc="-30" dirty="0" smtClean="0">
              <a:solidFill>
                <a:srgbClr val="70AD47">
                  <a:lumMod val="75000"/>
                </a:srgbClr>
              </a:solidFill>
              <a:latin typeface="Lucida Console" panose="020B0609040504020204" pitchFamily="49" charset="0"/>
              <a:cs typeface="Courier New" pitchFamily="49" charset="0"/>
            </a:endParaRPr>
          </a:p>
          <a:p>
            <a:pPr lvl="1">
              <a:spcBef>
                <a:spcPts val="0"/>
              </a:spcBef>
              <a:buFontTx/>
              <a:buNone/>
            </a:pPr>
            <a:r>
              <a:rPr lang="en-US" sz="2800" spc="-30" dirty="0" smtClean="0">
                <a:solidFill>
                  <a:prstClr val="white">
                    <a:lumMod val="75000"/>
                  </a:prstClr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  <a:endParaRPr lang="en-US" sz="2800" spc="-30" dirty="0" smtClean="0">
              <a:solidFill>
                <a:srgbClr val="0070C0"/>
              </a:solidFill>
              <a:latin typeface="Lucida Console" panose="020B0609040504020204" pitchFamily="49" charset="0"/>
              <a:cs typeface="Courier New" pitchFamily="49" charset="0"/>
            </a:endParaRPr>
          </a:p>
          <a:p>
            <a:pPr lvl="1">
              <a:spcBef>
                <a:spcPts val="0"/>
              </a:spcBef>
              <a:buFontTx/>
              <a:buNone/>
            </a:pPr>
            <a:r>
              <a:rPr lang="en-US" sz="2800" spc="-30" dirty="0" smtClean="0">
                <a:solidFill>
                  <a:prstClr val="white">
                    <a:lumMod val="75000"/>
                  </a:prstClr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  <a:endParaRPr lang="en-US" sz="2800" spc="-30" dirty="0" smtClean="0">
              <a:solidFill>
                <a:srgbClr val="0070C0"/>
              </a:solidFill>
              <a:latin typeface="Lucida Console" panose="020B0609040504020204" pitchFamily="49" charset="0"/>
              <a:cs typeface="Courier New" pitchFamily="49" charset="0"/>
            </a:endParaRPr>
          </a:p>
          <a:p>
            <a:pPr lvl="1">
              <a:spcBef>
                <a:spcPts val="0"/>
              </a:spcBef>
              <a:buFontTx/>
              <a:buNone/>
            </a:pPr>
            <a:endParaRPr lang="en-US" sz="2800" spc="-30" dirty="0" smtClean="0">
              <a:solidFill>
                <a:srgbClr val="70AD47">
                  <a:lumMod val="75000"/>
                </a:srgbClr>
              </a:solidFill>
              <a:latin typeface="Lucida Console" panose="020B0609040504020204" pitchFamily="49" charset="0"/>
              <a:cs typeface="Courier New" pitchFamily="49" charset="0"/>
            </a:endParaRPr>
          </a:p>
          <a:p>
            <a:pPr lvl="1">
              <a:spcBef>
                <a:spcPts val="0"/>
              </a:spcBef>
              <a:buFontTx/>
              <a:buNone/>
            </a:pPr>
            <a:r>
              <a:rPr lang="en-US" sz="2800" spc="-30" dirty="0" smtClean="0">
                <a:solidFill>
                  <a:prstClr val="white">
                    <a:lumMod val="75000"/>
                  </a:prstClr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  <a:endParaRPr lang="en-US" sz="2800" spc="-30" dirty="0" smtClean="0">
              <a:solidFill>
                <a:srgbClr val="70AD47">
                  <a:lumMod val="75000"/>
                </a:srgbClr>
              </a:solidFill>
              <a:latin typeface="Lucida Console" panose="020B0609040504020204" pitchFamily="49" charset="0"/>
              <a:cs typeface="Courier New" pitchFamily="49" charset="0"/>
            </a:endParaRPr>
          </a:p>
          <a:p>
            <a:pPr lvl="1">
              <a:spcBef>
                <a:spcPts val="0"/>
              </a:spcBef>
              <a:buFontTx/>
              <a:buNone/>
            </a:pPr>
            <a:r>
              <a:rPr lang="en-US" sz="2800" spc="-30" dirty="0" smtClean="0">
                <a:solidFill>
                  <a:prstClr val="white">
                    <a:lumMod val="75000"/>
                  </a:prstClr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  <a:endParaRPr lang="en-US" sz="2800" spc="-30" dirty="0" smtClean="0">
              <a:solidFill>
                <a:srgbClr val="0070C0"/>
              </a:solidFill>
              <a:latin typeface="Lucida Console" panose="020B0609040504020204" pitchFamily="49" charset="0"/>
              <a:cs typeface="Courier New" pitchFamily="49" charset="0"/>
            </a:endParaRPr>
          </a:p>
          <a:p>
            <a:pPr lvl="1">
              <a:spcBef>
                <a:spcPts val="0"/>
              </a:spcBef>
              <a:buFontTx/>
              <a:buNone/>
            </a:pPr>
            <a:r>
              <a:rPr lang="en-US" sz="2800" spc="-30" dirty="0" smtClean="0">
                <a:solidFill>
                  <a:prstClr val="white">
                    <a:lumMod val="75000"/>
                  </a:prstClr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  <a:endParaRPr lang="en-US" sz="2800" spc="-30" dirty="0" smtClean="0">
              <a:solidFill>
                <a:srgbClr val="0070C0"/>
              </a:solidFill>
              <a:latin typeface="Lucida Console" panose="020B0609040504020204" pitchFamily="49" charset="0"/>
              <a:cs typeface="Courier New" pitchFamily="49" charset="0"/>
            </a:endParaRPr>
          </a:p>
          <a:p>
            <a:pPr lvl="1">
              <a:spcBef>
                <a:spcPts val="0"/>
              </a:spcBef>
              <a:buFontTx/>
              <a:buNone/>
            </a:pPr>
            <a:endParaRPr lang="en-US" sz="2800" spc="-30" dirty="0" smtClean="0">
              <a:solidFill>
                <a:srgbClr val="70AD47">
                  <a:lumMod val="75000"/>
                </a:srgbClr>
              </a:solidFill>
              <a:latin typeface="Lucida Console" panose="020B0609040504020204" pitchFamily="49" charset="0"/>
              <a:cs typeface="Courier New" pitchFamily="49" charset="0"/>
            </a:endParaRPr>
          </a:p>
          <a:p>
            <a:pPr lvl="1">
              <a:lnSpc>
                <a:spcPct val="75000"/>
              </a:lnSpc>
              <a:spcBef>
                <a:spcPts val="0"/>
              </a:spcBef>
              <a:buFontTx/>
              <a:buNone/>
            </a:pPr>
            <a:r>
              <a:rPr lang="en-US" sz="2800" spc="-30" dirty="0" smtClean="0">
                <a:solidFill>
                  <a:prstClr val="white">
                    <a:lumMod val="75000"/>
                  </a:prstClr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  <a:endParaRPr lang="en-US" sz="2800" spc="-30" dirty="0">
              <a:solidFill>
                <a:prstClr val="white">
                  <a:lumMod val="75000"/>
                </a:prstClr>
              </a:solidFill>
              <a:latin typeface="Lucida Console" panose="020B0609040504020204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3776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5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5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51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8" dur="500"/>
                                        <p:tgtEl>
                                          <p:spTgt spid="51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1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6" dur="500"/>
                                        <p:tgtEl>
                                          <p:spTgt spid="51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9" dur="500"/>
                                        <p:tgtEl>
                                          <p:spTgt spid="51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2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7" dur="500"/>
                                        <p:tgtEl>
                                          <p:spTgt spid="512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0" dur="5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3" dur="500"/>
                                        <p:tgtEl>
                                          <p:spTgt spid="512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6" dur="50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1" dur="500"/>
                                        <p:tgtEl>
                                          <p:spTgt spid="512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4" dur="500"/>
                                        <p:tgtEl>
                                          <p:spTgt spid="512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7" dur="500"/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Content Placeholder 2"/>
          <p:cNvSpPr>
            <a:spLocks noGrp="1"/>
          </p:cNvSpPr>
          <p:nvPr>
            <p:ph idx="1"/>
          </p:nvPr>
        </p:nvSpPr>
        <p:spPr>
          <a:xfrm>
            <a:off x="301941" y="1037572"/>
            <a:ext cx="9427847" cy="5568496"/>
          </a:xfrm>
        </p:spPr>
        <p:txBody>
          <a:bodyPr>
            <a:noAutofit/>
          </a:bodyPr>
          <a:lstStyle/>
          <a:p>
            <a:pPr>
              <a:lnSpc>
                <a:spcPct val="84000"/>
              </a:lnSpc>
              <a:spcBef>
                <a:spcPts val="0"/>
              </a:spcBef>
              <a:buNone/>
            </a:pPr>
            <a:r>
              <a:rPr lang="en-US" altLang="en-US" sz="2568" dirty="0">
                <a:solidFill>
                  <a:srgbClr val="FFC000"/>
                </a:solidFill>
                <a:latin typeface="Lucida Console" pitchFamily="49" charset="0"/>
                <a:ea typeface="MS Gothic" pitchFamily="49" charset="-128"/>
                <a:cs typeface="Times New Roman" panose="02020603050405020304" pitchFamily="18" charset="0"/>
              </a:rPr>
              <a:t>%</a:t>
            </a:r>
            <a:r>
              <a:rPr lang="en-US" altLang="en-US" sz="2568" dirty="0">
                <a:solidFill>
                  <a:srgbClr val="FFC00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 cat test.py</a:t>
            </a:r>
          </a:p>
          <a:p>
            <a:pPr>
              <a:lnSpc>
                <a:spcPct val="84000"/>
              </a:lnSpc>
              <a:spcBef>
                <a:spcPts val="0"/>
              </a:spcBef>
              <a:buNone/>
            </a:pPr>
            <a:r>
              <a:rPr lang="en-US" altLang="en-US" sz="2568" dirty="0">
                <a:solidFill>
                  <a:srgbClr val="0070C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L = [ </a:t>
            </a:r>
            <a:r>
              <a:rPr lang="en-US" altLang="en-US" sz="2568" dirty="0">
                <a:solidFill>
                  <a:srgbClr val="0070C0"/>
                </a:solidFill>
                <a:latin typeface="Lucida Sans" panose="020B0602030504020204" pitchFamily="34" charset="0"/>
                <a:ea typeface="MS Gothic" pitchFamily="49" charset="-128"/>
                <a:cs typeface="Times New Roman" panose="02020603050405020304" pitchFamily="18" charset="0"/>
              </a:rPr>
              <a:t>'</a:t>
            </a:r>
            <a:r>
              <a:rPr lang="en-US" altLang="en-US" sz="2568" dirty="0" err="1">
                <a:solidFill>
                  <a:srgbClr val="0070C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abcd</a:t>
            </a:r>
            <a:r>
              <a:rPr lang="en-US" altLang="en-US" sz="2568" dirty="0">
                <a:solidFill>
                  <a:srgbClr val="0070C0"/>
                </a:solidFill>
                <a:latin typeface="Lucida Sans" panose="020B0602030504020204" pitchFamily="34" charset="0"/>
                <a:ea typeface="MS Gothic" pitchFamily="49" charset="-128"/>
                <a:cs typeface="Times New Roman" panose="02020603050405020304" pitchFamily="18" charset="0"/>
              </a:rPr>
              <a:t>'</a:t>
            </a:r>
            <a:r>
              <a:rPr lang="en-US" altLang="en-US" sz="2568" dirty="0">
                <a:solidFill>
                  <a:srgbClr val="0070C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, 786, 2.23, </a:t>
            </a:r>
            <a:r>
              <a:rPr lang="en-US" altLang="en-US" sz="2568" dirty="0">
                <a:solidFill>
                  <a:srgbClr val="0070C0"/>
                </a:solidFill>
                <a:latin typeface="Lucida Sans" panose="020B0602030504020204" pitchFamily="34" charset="0"/>
                <a:ea typeface="MS Gothic" pitchFamily="49" charset="-128"/>
                <a:cs typeface="Times New Roman" panose="02020603050405020304" pitchFamily="18" charset="0"/>
              </a:rPr>
              <a:t>'</a:t>
            </a:r>
            <a:r>
              <a:rPr lang="en-US" altLang="en-US" sz="2568" dirty="0">
                <a:solidFill>
                  <a:srgbClr val="0070C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john</a:t>
            </a:r>
            <a:r>
              <a:rPr lang="en-US" altLang="en-US" sz="2568" dirty="0">
                <a:solidFill>
                  <a:srgbClr val="0070C0"/>
                </a:solidFill>
                <a:latin typeface="Lucida Sans" panose="020B0602030504020204" pitchFamily="34" charset="0"/>
                <a:ea typeface="MS Gothic" pitchFamily="49" charset="-128"/>
                <a:cs typeface="Times New Roman" panose="02020603050405020304" pitchFamily="18" charset="0"/>
              </a:rPr>
              <a:t>'</a:t>
            </a:r>
            <a:r>
              <a:rPr lang="en-US" altLang="en-US" sz="2568" dirty="0">
                <a:solidFill>
                  <a:srgbClr val="0070C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, 70.2, 1, 2, 3, 4, 5, 6]</a:t>
            </a:r>
          </a:p>
          <a:p>
            <a:pPr>
              <a:lnSpc>
                <a:spcPct val="84000"/>
              </a:lnSpc>
              <a:spcBef>
                <a:spcPts val="0"/>
              </a:spcBef>
              <a:buNone/>
            </a:pPr>
            <a:r>
              <a:rPr lang="en-US" altLang="en-US" sz="2568" dirty="0">
                <a:solidFill>
                  <a:srgbClr val="0070C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print (L[2]); </a:t>
            </a:r>
          </a:p>
          <a:p>
            <a:pPr>
              <a:lnSpc>
                <a:spcPct val="84000"/>
              </a:lnSpc>
              <a:spcBef>
                <a:spcPts val="0"/>
              </a:spcBef>
              <a:buNone/>
            </a:pPr>
            <a:r>
              <a:rPr lang="en-US" altLang="en-US" sz="2568" dirty="0">
                <a:solidFill>
                  <a:srgbClr val="0070C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del L[2]; print (L[2]) #L[3] is now in the L[2] spot</a:t>
            </a:r>
          </a:p>
          <a:p>
            <a:pPr>
              <a:lnSpc>
                <a:spcPct val="84000"/>
              </a:lnSpc>
              <a:spcBef>
                <a:spcPts val="0"/>
              </a:spcBef>
              <a:buNone/>
            </a:pPr>
            <a:r>
              <a:rPr lang="en-US" altLang="en-US" sz="2568" dirty="0">
                <a:solidFill>
                  <a:srgbClr val="0070C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print (L)    # See that L[3:] have now all shifted down</a:t>
            </a:r>
          </a:p>
          <a:p>
            <a:pPr>
              <a:lnSpc>
                <a:spcPct val="84000"/>
              </a:lnSpc>
              <a:spcBef>
                <a:spcPts val="0"/>
              </a:spcBef>
              <a:buNone/>
            </a:pPr>
            <a:r>
              <a:rPr lang="en-US" altLang="en-US" sz="2568" dirty="0">
                <a:solidFill>
                  <a:srgbClr val="0070C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del L[2:7:2]; print (L)#This deletes 3</a:t>
            </a:r>
            <a:r>
              <a:rPr lang="en-US" altLang="en-US" sz="2568" baseline="30000" dirty="0">
                <a:solidFill>
                  <a:srgbClr val="0070C0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rd</a:t>
            </a:r>
            <a:r>
              <a:rPr lang="en-US" altLang="en-US" sz="2568" dirty="0">
                <a:solidFill>
                  <a:srgbClr val="0070C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,5</a:t>
            </a:r>
            <a:r>
              <a:rPr lang="en-US" altLang="en-US" sz="2568" baseline="30000" dirty="0">
                <a:solidFill>
                  <a:srgbClr val="0070C0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th</a:t>
            </a:r>
            <a:r>
              <a:rPr lang="en-US" altLang="en-US" sz="2568" dirty="0">
                <a:solidFill>
                  <a:srgbClr val="0070C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,and 7</a:t>
            </a:r>
            <a:r>
              <a:rPr lang="en-US" altLang="en-US" sz="2568" baseline="30000" dirty="0">
                <a:solidFill>
                  <a:srgbClr val="0070C0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th</a:t>
            </a:r>
            <a:r>
              <a:rPr lang="en-US" altLang="en-US" sz="2568" dirty="0">
                <a:solidFill>
                  <a:srgbClr val="0070C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84000"/>
              </a:lnSpc>
              <a:spcBef>
                <a:spcPts val="0"/>
              </a:spcBef>
              <a:buNone/>
            </a:pPr>
            <a:r>
              <a:rPr lang="en-US" altLang="en-US" sz="2568" dirty="0">
                <a:solidFill>
                  <a:srgbClr val="0070C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del L                  #This deletes the entire list</a:t>
            </a:r>
          </a:p>
          <a:p>
            <a:pPr>
              <a:lnSpc>
                <a:spcPct val="84000"/>
              </a:lnSpc>
              <a:spcBef>
                <a:spcPts val="0"/>
              </a:spcBef>
              <a:buNone/>
            </a:pPr>
            <a:r>
              <a:rPr lang="en-US" altLang="en-US" sz="2568" dirty="0">
                <a:solidFill>
                  <a:srgbClr val="0070C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print (L)              #What prints if there is no list?</a:t>
            </a:r>
          </a:p>
          <a:p>
            <a:pPr>
              <a:lnSpc>
                <a:spcPct val="84000"/>
              </a:lnSpc>
              <a:spcBef>
                <a:spcPts val="0"/>
              </a:spcBef>
              <a:buNone/>
            </a:pPr>
            <a:r>
              <a:rPr lang="en-US" altLang="en-US" sz="2568" dirty="0">
                <a:solidFill>
                  <a:srgbClr val="FFC000"/>
                </a:solidFill>
                <a:latin typeface="Lucida Console" pitchFamily="49" charset="0"/>
                <a:ea typeface="MS Gothic" pitchFamily="49" charset="-128"/>
                <a:cs typeface="Times New Roman" panose="02020603050405020304" pitchFamily="18" charset="0"/>
              </a:rPr>
              <a:t>%</a:t>
            </a:r>
            <a:r>
              <a:rPr lang="en-US" altLang="en-US" sz="2568" dirty="0">
                <a:solidFill>
                  <a:srgbClr val="FFC00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 python3 test.py</a:t>
            </a:r>
          </a:p>
          <a:p>
            <a:pPr>
              <a:lnSpc>
                <a:spcPct val="84000"/>
              </a:lnSpc>
              <a:spcBef>
                <a:spcPts val="0"/>
              </a:spcBef>
              <a:buNone/>
            </a:pPr>
            <a:r>
              <a:rPr lang="en-US" altLang="en-US" sz="2568" dirty="0">
                <a:solidFill>
                  <a:srgbClr val="FF000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2.23</a:t>
            </a:r>
          </a:p>
          <a:p>
            <a:pPr>
              <a:lnSpc>
                <a:spcPct val="84000"/>
              </a:lnSpc>
              <a:spcBef>
                <a:spcPts val="0"/>
              </a:spcBef>
              <a:buNone/>
            </a:pPr>
            <a:r>
              <a:rPr lang="en-US" altLang="en-US" sz="2568" dirty="0">
                <a:solidFill>
                  <a:srgbClr val="FF000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john</a:t>
            </a:r>
          </a:p>
          <a:p>
            <a:pPr>
              <a:lnSpc>
                <a:spcPct val="84000"/>
              </a:lnSpc>
              <a:spcBef>
                <a:spcPts val="0"/>
              </a:spcBef>
              <a:buNone/>
            </a:pPr>
            <a:r>
              <a:rPr lang="en-US" altLang="en-US" sz="2568" dirty="0">
                <a:solidFill>
                  <a:srgbClr val="FF000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['</a:t>
            </a:r>
            <a:r>
              <a:rPr lang="en-US" altLang="en-US" sz="2568" dirty="0" err="1">
                <a:solidFill>
                  <a:srgbClr val="FF000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abcd</a:t>
            </a:r>
            <a:r>
              <a:rPr lang="en-US" altLang="en-US" sz="2568" dirty="0">
                <a:solidFill>
                  <a:srgbClr val="FF000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', 786, 'john', 70.2, 1, 2, 3, 4, 5, 6]</a:t>
            </a:r>
          </a:p>
          <a:p>
            <a:pPr>
              <a:lnSpc>
                <a:spcPct val="84000"/>
              </a:lnSpc>
              <a:spcBef>
                <a:spcPts val="0"/>
              </a:spcBef>
              <a:buNone/>
            </a:pPr>
            <a:r>
              <a:rPr lang="en-US" altLang="en-US" sz="2568" dirty="0">
                <a:solidFill>
                  <a:srgbClr val="FF000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['</a:t>
            </a:r>
            <a:r>
              <a:rPr lang="en-US" altLang="en-US" sz="2568" dirty="0" err="1">
                <a:solidFill>
                  <a:srgbClr val="FF000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abcd</a:t>
            </a:r>
            <a:r>
              <a:rPr lang="en-US" altLang="en-US" sz="2568" dirty="0">
                <a:solidFill>
                  <a:srgbClr val="FF000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', 786, 70.2, 2, 4, 5, 6]</a:t>
            </a:r>
          </a:p>
          <a:p>
            <a:pPr>
              <a:lnSpc>
                <a:spcPct val="84000"/>
              </a:lnSpc>
              <a:spcBef>
                <a:spcPts val="0"/>
              </a:spcBef>
              <a:buNone/>
            </a:pPr>
            <a:r>
              <a:rPr lang="en-US" altLang="en-US" sz="2568" dirty="0" err="1">
                <a:solidFill>
                  <a:srgbClr val="FFC8C8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Traceback</a:t>
            </a:r>
            <a:r>
              <a:rPr lang="en-US" altLang="en-US" sz="2568" dirty="0">
                <a:solidFill>
                  <a:srgbClr val="FFC8C8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 (most recent call last):</a:t>
            </a:r>
          </a:p>
          <a:p>
            <a:pPr>
              <a:lnSpc>
                <a:spcPct val="84000"/>
              </a:lnSpc>
              <a:spcBef>
                <a:spcPts val="0"/>
              </a:spcBef>
              <a:buNone/>
            </a:pPr>
            <a:r>
              <a:rPr lang="en-US" altLang="en-US" sz="2568" dirty="0">
                <a:solidFill>
                  <a:srgbClr val="FFC8C8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  File "&lt;</a:t>
            </a:r>
            <a:r>
              <a:rPr lang="en-US" altLang="en-US" sz="2568" dirty="0" err="1">
                <a:solidFill>
                  <a:srgbClr val="FFC8C8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stdin</a:t>
            </a:r>
            <a:r>
              <a:rPr lang="en-US" altLang="en-US" sz="2568" dirty="0">
                <a:solidFill>
                  <a:srgbClr val="FFC8C8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&gt;", line 1, in &lt;module&gt;</a:t>
            </a:r>
          </a:p>
          <a:p>
            <a:pPr>
              <a:lnSpc>
                <a:spcPct val="84000"/>
              </a:lnSpc>
              <a:spcBef>
                <a:spcPts val="0"/>
              </a:spcBef>
              <a:buNone/>
            </a:pPr>
            <a:r>
              <a:rPr lang="en-US" altLang="en-US" sz="2568" dirty="0" err="1">
                <a:solidFill>
                  <a:srgbClr val="FF000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NameError</a:t>
            </a:r>
            <a:r>
              <a:rPr lang="en-US" altLang="en-US" sz="2568" dirty="0">
                <a:solidFill>
                  <a:srgbClr val="FF000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: name 'L' is not defined</a:t>
            </a:r>
          </a:p>
          <a:p>
            <a:pPr>
              <a:lnSpc>
                <a:spcPct val="84000"/>
              </a:lnSpc>
              <a:spcBef>
                <a:spcPts val="0"/>
              </a:spcBef>
              <a:buNone/>
            </a:pPr>
            <a:r>
              <a:rPr lang="en-US" altLang="en-US" sz="2568" dirty="0">
                <a:solidFill>
                  <a:srgbClr val="FFC000"/>
                </a:solidFill>
                <a:latin typeface="Lucida Console" pitchFamily="49" charset="0"/>
                <a:ea typeface="MS Gothic" pitchFamily="49" charset="-128"/>
                <a:cs typeface="Times New Roman" panose="02020603050405020304" pitchFamily="18" charset="0"/>
              </a:rPr>
              <a:t>%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9729788" cy="1161142"/>
          </a:xfrm>
        </p:spPr>
        <p:txBody>
          <a:bodyPr>
            <a:normAutofit/>
          </a:bodyPr>
          <a:lstStyle/>
          <a:p>
            <a:r>
              <a:rPr lang="en-US" sz="4400" dirty="0">
                <a:solidFill>
                  <a:srgbClr val="0070C0"/>
                </a:solidFill>
              </a:rPr>
              <a:t>Deleting List </a:t>
            </a:r>
            <a:r>
              <a:rPr lang="en-US" sz="4400" dirty="0" smtClean="0">
                <a:solidFill>
                  <a:srgbClr val="0070C0"/>
                </a:solidFill>
              </a:rPr>
              <a:t>Elements</a:t>
            </a:r>
            <a:endParaRPr lang="en-US" sz="44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7452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56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560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560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5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560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56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TW" sz="4300" dirty="0">
                <a:solidFill>
                  <a:srgbClr val="0070C0"/>
                </a:solidFill>
              </a:rPr>
              <a:t>Sidebar: About Garbage Collection</a:t>
            </a:r>
            <a:endParaRPr lang="zh-TW" altLang="en-US" sz="4300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A question arises regarding how “del” is handled by the Python programming environment.</a:t>
            </a:r>
          </a:p>
          <a:p>
            <a:r>
              <a:rPr lang="en-US" altLang="zh-TW" dirty="0" smtClean="0"/>
              <a:t>The answer </a:t>
            </a:r>
            <a:r>
              <a:rPr lang="en-US" altLang="zh-TW" dirty="0"/>
              <a:t>i</a:t>
            </a:r>
            <a:r>
              <a:rPr lang="en-US" altLang="zh-TW" dirty="0" smtClean="0"/>
              <a:t>s that it relates to how Python uses garbage collection.</a:t>
            </a:r>
          </a:p>
          <a:p>
            <a:pPr lvl="1"/>
            <a:r>
              <a:rPr lang="en-US" altLang="zh-TW" sz="3669" dirty="0">
                <a:solidFill>
                  <a:srgbClr val="FF0000"/>
                </a:solidFill>
              </a:rPr>
              <a:t>But this concept needs to be clarified, as we’ll see in the following slides…</a:t>
            </a:r>
            <a:endParaRPr lang="zh-TW" altLang="en-US" sz="3669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8137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6" y="987552"/>
            <a:ext cx="4339488" cy="4559877"/>
          </a:xfrm>
          <a:solidFill>
            <a:schemeClr val="tx1"/>
          </a:solidFill>
        </p:spPr>
        <p:txBody>
          <a:bodyPr>
            <a:noAutofit/>
          </a:bodyPr>
          <a:lstStyle/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>
                <a:solidFill>
                  <a:schemeClr val="bg1">
                    <a:lumMod val="65000"/>
                  </a:schemeClr>
                </a:solidFill>
                <a:latin typeface="Lucida Sans Typewriter" panose="020B0509030504030204" pitchFamily="49" charset="0"/>
              </a:rPr>
              <a:t>% cat </a:t>
            </a:r>
            <a:r>
              <a:rPr lang="en-US" altLang="zh-TW" sz="2385" dirty="0" err="1">
                <a:solidFill>
                  <a:schemeClr val="bg1">
                    <a:lumMod val="65000"/>
                  </a:schemeClr>
                </a:solidFill>
                <a:latin typeface="Lucida Sans Typewriter" panose="020B0509030504030204" pitchFamily="49" charset="0"/>
              </a:rPr>
              <a:t>stuff.h</a:t>
            </a:r>
            <a:endParaRPr lang="en-US" altLang="zh-TW" sz="2385" dirty="0">
              <a:solidFill>
                <a:schemeClr val="bg1">
                  <a:lumMod val="65000"/>
                </a:schemeClr>
              </a:solidFill>
              <a:latin typeface="Lucida Sans Typewriter" panose="020B0509030504030204" pitchFamily="49" charset="0"/>
            </a:endParaRP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>
                <a:solidFill>
                  <a:schemeClr val="bg1">
                    <a:lumMod val="65000"/>
                  </a:schemeClr>
                </a:solidFill>
                <a:latin typeface="Lucida Sans Typewriter" panose="020B0509030504030204" pitchFamily="49" charset="0"/>
              </a:rPr>
              <a:t>#include &lt;</a:t>
            </a:r>
            <a:r>
              <a:rPr lang="en-US" altLang="zh-TW" sz="2385" dirty="0" err="1">
                <a:solidFill>
                  <a:schemeClr val="bg1">
                    <a:lumMod val="65000"/>
                  </a:schemeClr>
                </a:solidFill>
                <a:latin typeface="Lucida Sans Typewriter" panose="020B0509030504030204" pitchFamily="49" charset="0"/>
              </a:rPr>
              <a:t>stdio.h</a:t>
            </a:r>
            <a:r>
              <a:rPr lang="en-US" altLang="zh-TW" sz="2385" dirty="0">
                <a:solidFill>
                  <a:schemeClr val="bg1">
                    <a:lumMod val="65000"/>
                  </a:schemeClr>
                </a:solidFill>
                <a:latin typeface="Lucida Sans Typewriter" panose="020B0509030504030204" pitchFamily="49" charset="0"/>
              </a:rPr>
              <a:t>&gt;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>
                <a:solidFill>
                  <a:schemeClr val="bg1">
                    <a:lumMod val="65000"/>
                  </a:schemeClr>
                </a:solidFill>
                <a:latin typeface="Lucida Sans Typewriter" panose="020B0509030504030204" pitchFamily="49" charset="0"/>
              </a:rPr>
              <a:t>#include &lt;</a:t>
            </a:r>
            <a:r>
              <a:rPr lang="en-US" altLang="zh-TW" sz="2385" dirty="0" err="1">
                <a:solidFill>
                  <a:schemeClr val="bg1">
                    <a:lumMod val="65000"/>
                  </a:schemeClr>
                </a:solidFill>
                <a:latin typeface="Lucida Sans Typewriter" panose="020B0509030504030204" pitchFamily="49" charset="0"/>
              </a:rPr>
              <a:t>stdlib.h</a:t>
            </a:r>
            <a:r>
              <a:rPr lang="en-US" altLang="zh-TW" sz="2385" dirty="0">
                <a:solidFill>
                  <a:schemeClr val="bg1">
                    <a:lumMod val="65000"/>
                  </a:schemeClr>
                </a:solidFill>
                <a:latin typeface="Lucida Sans Typewriter" panose="020B0509030504030204" pitchFamily="49" charset="0"/>
              </a:rPr>
              <a:t>&gt;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 err="1">
                <a:solidFill>
                  <a:schemeClr val="bg1">
                    <a:lumMod val="65000"/>
                  </a:schemeClr>
                </a:solidFill>
                <a:latin typeface="Lucida Sans Typewriter" panose="020B0509030504030204" pitchFamily="49" charset="0"/>
              </a:rPr>
              <a:t>typedef</a:t>
            </a:r>
            <a:r>
              <a:rPr lang="en-US" altLang="zh-TW" sz="2385" dirty="0">
                <a:solidFill>
                  <a:schemeClr val="bg1">
                    <a:lumMod val="65000"/>
                  </a:schemeClr>
                </a:solidFill>
                <a:latin typeface="Lucida Sans Typewriter" panose="020B0509030504030204" pitchFamily="49" charset="0"/>
              </a:rPr>
              <a:t> </a:t>
            </a:r>
            <a:r>
              <a:rPr lang="en-US" altLang="zh-TW" sz="2385" dirty="0" err="1">
                <a:solidFill>
                  <a:schemeClr val="bg1">
                    <a:lumMod val="65000"/>
                  </a:schemeClr>
                </a:solidFill>
                <a:latin typeface="Lucida Sans Typewriter" panose="020B0509030504030204" pitchFamily="49" charset="0"/>
              </a:rPr>
              <a:t>struct</a:t>
            </a:r>
            <a:r>
              <a:rPr lang="en-US" altLang="zh-TW" sz="2385" dirty="0">
                <a:solidFill>
                  <a:schemeClr val="bg1">
                    <a:lumMod val="65000"/>
                  </a:schemeClr>
                </a:solidFill>
                <a:latin typeface="Lucida Sans Typewriter" panose="020B0509030504030204" pitchFamily="49" charset="0"/>
              </a:rPr>
              <a:t> {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 err="1">
                <a:solidFill>
                  <a:schemeClr val="bg1">
                    <a:lumMod val="65000"/>
                  </a:schemeClr>
                </a:solidFill>
                <a:latin typeface="Lucida Sans Typewriter" panose="020B0509030504030204" pitchFamily="49" charset="0"/>
              </a:rPr>
              <a:t>int</a:t>
            </a:r>
            <a:r>
              <a:rPr lang="en-US" altLang="zh-TW" sz="2385" dirty="0">
                <a:solidFill>
                  <a:schemeClr val="bg1">
                    <a:lumMod val="65000"/>
                  </a:schemeClr>
                </a:solidFill>
                <a:latin typeface="Lucida Sans Typewriter" panose="020B0509030504030204" pitchFamily="49" charset="0"/>
              </a:rPr>
              <a:t> </a:t>
            </a:r>
            <a:r>
              <a:rPr lang="en-US" altLang="zh-TW" sz="2385" dirty="0" err="1">
                <a:solidFill>
                  <a:schemeClr val="bg1">
                    <a:lumMod val="65000"/>
                  </a:schemeClr>
                </a:solidFill>
                <a:latin typeface="Lucida Sans Typewriter" panose="020B0509030504030204" pitchFamily="49" charset="0"/>
              </a:rPr>
              <a:t>x,y,z</a:t>
            </a:r>
            <a:r>
              <a:rPr lang="en-US" altLang="zh-TW" sz="2385" dirty="0">
                <a:solidFill>
                  <a:schemeClr val="bg1">
                    <a:lumMod val="65000"/>
                  </a:schemeClr>
                </a:solidFill>
                <a:latin typeface="Lucida Sans Typewriter" panose="020B0509030504030204" pitchFamily="49" charset="0"/>
              </a:rPr>
              <a:t>;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>
                <a:solidFill>
                  <a:schemeClr val="bg1">
                    <a:lumMod val="65000"/>
                  </a:schemeClr>
                </a:solidFill>
                <a:latin typeface="Lucida Sans Typewriter" panose="020B0509030504030204" pitchFamily="49" charset="0"/>
              </a:rPr>
              <a:t>} </a:t>
            </a:r>
            <a:r>
              <a:rPr lang="en-US" altLang="zh-TW" sz="2385" dirty="0" err="1">
                <a:solidFill>
                  <a:schemeClr val="bg1">
                    <a:lumMod val="65000"/>
                  </a:schemeClr>
                </a:solidFill>
                <a:latin typeface="Lucida Sans Typewriter" panose="020B0509030504030204" pitchFamily="49" charset="0"/>
              </a:rPr>
              <a:t>coord</a:t>
            </a:r>
            <a:r>
              <a:rPr lang="en-US" altLang="zh-TW" sz="2385" dirty="0">
                <a:solidFill>
                  <a:schemeClr val="bg1">
                    <a:lumMod val="65000"/>
                  </a:schemeClr>
                </a:solidFill>
                <a:latin typeface="Lucida Sans Typewriter" panose="020B0509030504030204" pitchFamily="49" charset="0"/>
              </a:rPr>
              <a:t>;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 err="1">
                <a:solidFill>
                  <a:schemeClr val="bg1">
                    <a:lumMod val="65000"/>
                  </a:schemeClr>
                </a:solidFill>
                <a:latin typeface="Lucida Sans Typewriter" panose="020B0509030504030204" pitchFamily="49" charset="0"/>
              </a:rPr>
              <a:t>coord</a:t>
            </a:r>
            <a:r>
              <a:rPr lang="en-US" altLang="zh-TW" sz="2385" dirty="0">
                <a:solidFill>
                  <a:schemeClr val="bg1">
                    <a:lumMod val="65000"/>
                  </a:schemeClr>
                </a:solidFill>
                <a:latin typeface="Lucida Sans Typewriter" panose="020B0509030504030204" pitchFamily="49" charset="0"/>
              </a:rPr>
              <a:t> *A, *B, *C;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endParaRPr lang="en-US" altLang="zh-TW" sz="2385" dirty="0">
              <a:solidFill>
                <a:schemeClr val="bg1">
                  <a:lumMod val="65000"/>
                </a:schemeClr>
              </a:solidFill>
              <a:latin typeface="Lucida Sans Typewriter" panose="020B0509030504030204" pitchFamily="49" charset="0"/>
            </a:endParaRP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>
                <a:solidFill>
                  <a:schemeClr val="bg1">
                    <a:lumMod val="65000"/>
                  </a:schemeClr>
                </a:solidFill>
                <a:latin typeface="Lucida Sans Typewriter" panose="020B0509030504030204" pitchFamily="49" charset="0"/>
              </a:rPr>
              <a:t>void print(</a:t>
            </a:r>
            <a:r>
              <a:rPr lang="en-US" altLang="zh-TW" sz="2385" dirty="0" err="1">
                <a:solidFill>
                  <a:schemeClr val="bg1">
                    <a:lumMod val="65000"/>
                  </a:schemeClr>
                </a:solidFill>
                <a:latin typeface="Lucida Sans Typewriter" panose="020B0509030504030204" pitchFamily="49" charset="0"/>
              </a:rPr>
              <a:t>coord</a:t>
            </a:r>
            <a:r>
              <a:rPr lang="en-US" altLang="zh-TW" sz="2385" dirty="0">
                <a:solidFill>
                  <a:schemeClr val="bg1">
                    <a:lumMod val="65000"/>
                  </a:schemeClr>
                </a:solidFill>
                <a:latin typeface="Lucida Sans Typewriter" panose="020B0509030504030204" pitchFamily="49" charset="0"/>
              </a:rPr>
              <a:t> *P){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>
                <a:solidFill>
                  <a:schemeClr val="bg1">
                    <a:lumMod val="65000"/>
                  </a:schemeClr>
                </a:solidFill>
                <a:latin typeface="Lucida Sans Typewriter" panose="020B0509030504030204" pitchFamily="49" charset="0"/>
              </a:rPr>
              <a:t>   </a:t>
            </a:r>
            <a:r>
              <a:rPr lang="en-US" altLang="zh-TW" sz="2385" dirty="0" err="1">
                <a:solidFill>
                  <a:schemeClr val="bg1">
                    <a:lumMod val="65000"/>
                  </a:schemeClr>
                </a:solidFill>
                <a:latin typeface="Lucida Sans Typewriter" panose="020B0509030504030204" pitchFamily="49" charset="0"/>
              </a:rPr>
              <a:t>printf</a:t>
            </a:r>
            <a:r>
              <a:rPr lang="en-US" altLang="zh-TW" sz="2385" dirty="0">
                <a:solidFill>
                  <a:schemeClr val="bg1">
                    <a:lumMod val="65000"/>
                  </a:schemeClr>
                </a:solidFill>
                <a:latin typeface="Lucida Sans Typewriter" panose="020B0509030504030204" pitchFamily="49" charset="0"/>
              </a:rPr>
              <a:t>("%</a:t>
            </a:r>
            <a:r>
              <a:rPr lang="en-US" altLang="zh-TW" sz="2385" dirty="0" err="1">
                <a:solidFill>
                  <a:schemeClr val="bg1">
                    <a:lumMod val="65000"/>
                  </a:schemeClr>
                </a:solidFill>
                <a:latin typeface="Lucida Sans Typewriter" panose="020B0509030504030204" pitchFamily="49" charset="0"/>
              </a:rPr>
              <a:t>d,%d,%d</a:t>
            </a:r>
            <a:r>
              <a:rPr lang="en-US" altLang="zh-TW" sz="2385" dirty="0">
                <a:solidFill>
                  <a:schemeClr val="bg1">
                    <a:lumMod val="65000"/>
                  </a:schemeClr>
                </a:solidFill>
                <a:latin typeface="Lucida Sans Typewriter" panose="020B0509030504030204" pitchFamily="49" charset="0"/>
              </a:rPr>
              <a:t>\n",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>
                <a:solidFill>
                  <a:schemeClr val="bg1">
                    <a:lumMod val="65000"/>
                  </a:schemeClr>
                </a:solidFill>
                <a:latin typeface="Lucida Sans Typewriter" panose="020B0509030504030204" pitchFamily="49" charset="0"/>
              </a:rPr>
              <a:t>   P-&gt;</a:t>
            </a:r>
            <a:r>
              <a:rPr lang="en-US" altLang="zh-TW" sz="2385" dirty="0" err="1">
                <a:solidFill>
                  <a:schemeClr val="bg1">
                    <a:lumMod val="65000"/>
                  </a:schemeClr>
                </a:solidFill>
                <a:latin typeface="Lucida Sans Typewriter" panose="020B0509030504030204" pitchFamily="49" charset="0"/>
              </a:rPr>
              <a:t>x,P</a:t>
            </a:r>
            <a:r>
              <a:rPr lang="en-US" altLang="zh-TW" sz="2385" dirty="0">
                <a:solidFill>
                  <a:schemeClr val="bg1">
                    <a:lumMod val="65000"/>
                  </a:schemeClr>
                </a:solidFill>
                <a:latin typeface="Lucida Sans Typewriter" panose="020B0509030504030204" pitchFamily="49" charset="0"/>
              </a:rPr>
              <a:t>-&gt;</a:t>
            </a:r>
            <a:r>
              <a:rPr lang="en-US" altLang="zh-TW" sz="2385" dirty="0" err="1">
                <a:solidFill>
                  <a:schemeClr val="bg1">
                    <a:lumMod val="65000"/>
                  </a:schemeClr>
                </a:solidFill>
                <a:latin typeface="Lucida Sans Typewriter" panose="020B0509030504030204" pitchFamily="49" charset="0"/>
              </a:rPr>
              <a:t>y,P</a:t>
            </a:r>
            <a:r>
              <a:rPr lang="en-US" altLang="zh-TW" sz="2385" dirty="0">
                <a:solidFill>
                  <a:schemeClr val="bg1">
                    <a:lumMod val="65000"/>
                  </a:schemeClr>
                </a:solidFill>
                <a:latin typeface="Lucida Sans Typewriter" panose="020B0509030504030204" pitchFamily="49" charset="0"/>
              </a:rPr>
              <a:t>-&gt;z);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>
                <a:solidFill>
                  <a:schemeClr val="bg1">
                    <a:lumMod val="65000"/>
                  </a:schemeClr>
                </a:solidFill>
                <a:latin typeface="Lucida Sans Typewriter" panose="020B0509030504030204" pitchFamily="49" charset="0"/>
              </a:rPr>
              <a:t>}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>
                <a:solidFill>
                  <a:schemeClr val="bg1">
                    <a:lumMod val="65000"/>
                  </a:schemeClr>
                </a:solidFill>
                <a:latin typeface="Lucida Sans Typewriter" panose="020B0509030504030204" pitchFamily="49" charset="0"/>
              </a:rPr>
              <a:t>%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91440" y="990600"/>
            <a:ext cx="4339488" cy="4559877"/>
          </a:xfrm>
          <a:prstGeom prst="rect">
            <a:avLst/>
          </a:prstGeom>
          <a:noFill/>
        </p:spPr>
        <p:txBody>
          <a:bodyPr vert="horz" lIns="83872" tIns="41936" rIns="83872" bIns="41936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>
                <a:solidFill>
                  <a:srgbClr val="FFFF00"/>
                </a:solidFill>
                <a:latin typeface="Lucida Sans Typewriter" panose="020B0509030504030204" pitchFamily="49" charset="0"/>
              </a:rPr>
              <a:t>% cat </a:t>
            </a:r>
            <a:r>
              <a:rPr lang="en-US" altLang="zh-TW" sz="2385" dirty="0" err="1">
                <a:solidFill>
                  <a:srgbClr val="FFFF00"/>
                </a:solidFill>
                <a:latin typeface="Lucida Sans Typewriter" panose="020B0509030504030204" pitchFamily="49" charset="0"/>
              </a:rPr>
              <a:t>stuff.h</a:t>
            </a:r>
            <a:endParaRPr lang="en-US" altLang="zh-TW" sz="2385" dirty="0">
              <a:solidFill>
                <a:srgbClr val="FFFF00"/>
              </a:solidFill>
              <a:latin typeface="Lucida Sans Typewriter" panose="020B0509030504030204" pitchFamily="49" charset="0"/>
            </a:endParaRP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>
                <a:solidFill>
                  <a:srgbClr val="FFFF00"/>
                </a:solidFill>
                <a:latin typeface="Lucida Sans Typewriter" panose="020B0509030504030204" pitchFamily="49" charset="0"/>
              </a:rPr>
              <a:t>#include &lt;</a:t>
            </a:r>
            <a:r>
              <a:rPr lang="en-US" altLang="zh-TW" sz="2385" dirty="0" err="1">
                <a:solidFill>
                  <a:srgbClr val="FFFF00"/>
                </a:solidFill>
                <a:latin typeface="Lucida Sans Typewriter" panose="020B0509030504030204" pitchFamily="49" charset="0"/>
              </a:rPr>
              <a:t>stdio.h</a:t>
            </a:r>
            <a:r>
              <a:rPr lang="en-US" altLang="zh-TW" sz="2385" dirty="0">
                <a:solidFill>
                  <a:srgbClr val="FFFF00"/>
                </a:solidFill>
                <a:latin typeface="Lucida Sans Typewriter" panose="020B0509030504030204" pitchFamily="49" charset="0"/>
              </a:rPr>
              <a:t>&gt;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>
                <a:solidFill>
                  <a:srgbClr val="FFFF00"/>
                </a:solidFill>
                <a:latin typeface="Lucida Sans Typewriter" panose="020B0509030504030204" pitchFamily="49" charset="0"/>
              </a:rPr>
              <a:t>#include &lt;</a:t>
            </a:r>
            <a:r>
              <a:rPr lang="en-US" altLang="zh-TW" sz="2385" dirty="0" err="1">
                <a:solidFill>
                  <a:srgbClr val="FFFF00"/>
                </a:solidFill>
                <a:latin typeface="Lucida Sans Typewriter" panose="020B0509030504030204" pitchFamily="49" charset="0"/>
              </a:rPr>
              <a:t>stdlib.h</a:t>
            </a:r>
            <a:r>
              <a:rPr lang="en-US" altLang="zh-TW" sz="2385" dirty="0">
                <a:solidFill>
                  <a:srgbClr val="FFFF00"/>
                </a:solidFill>
                <a:latin typeface="Lucida Sans Typewriter" panose="020B0509030504030204" pitchFamily="49" charset="0"/>
              </a:rPr>
              <a:t>&gt;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 err="1">
                <a:solidFill>
                  <a:srgbClr val="FFFF00"/>
                </a:solidFill>
                <a:latin typeface="Lucida Sans Typewriter" panose="020B0509030504030204" pitchFamily="49" charset="0"/>
              </a:rPr>
              <a:t>typedef</a:t>
            </a:r>
            <a:r>
              <a:rPr lang="en-US" altLang="zh-TW" sz="2385" dirty="0">
                <a:solidFill>
                  <a:srgbClr val="FFFF00"/>
                </a:solidFill>
                <a:latin typeface="Lucida Sans Typewriter" panose="020B0509030504030204" pitchFamily="49" charset="0"/>
              </a:rPr>
              <a:t> </a:t>
            </a:r>
            <a:r>
              <a:rPr lang="en-US" altLang="zh-TW" sz="2385" dirty="0" err="1">
                <a:solidFill>
                  <a:srgbClr val="FFFF00"/>
                </a:solidFill>
                <a:latin typeface="Lucida Sans Typewriter" panose="020B0509030504030204" pitchFamily="49" charset="0"/>
              </a:rPr>
              <a:t>struct</a:t>
            </a:r>
            <a:r>
              <a:rPr lang="en-US" altLang="zh-TW" sz="2385" dirty="0">
                <a:solidFill>
                  <a:srgbClr val="FFFF00"/>
                </a:solidFill>
                <a:latin typeface="Lucida Sans Typewriter" panose="020B0509030504030204" pitchFamily="49" charset="0"/>
              </a:rPr>
              <a:t> {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 err="1">
                <a:solidFill>
                  <a:srgbClr val="FFFF00"/>
                </a:solidFill>
                <a:latin typeface="Lucida Sans Typewriter" panose="020B0509030504030204" pitchFamily="49" charset="0"/>
              </a:rPr>
              <a:t>int</a:t>
            </a:r>
            <a:r>
              <a:rPr lang="en-US" altLang="zh-TW" sz="2385" dirty="0">
                <a:solidFill>
                  <a:srgbClr val="FFFF00"/>
                </a:solidFill>
                <a:latin typeface="Lucida Sans Typewriter" panose="020B0509030504030204" pitchFamily="49" charset="0"/>
              </a:rPr>
              <a:t> </a:t>
            </a:r>
            <a:r>
              <a:rPr lang="en-US" altLang="zh-TW" sz="2385" dirty="0" err="1">
                <a:solidFill>
                  <a:srgbClr val="FFFF00"/>
                </a:solidFill>
                <a:latin typeface="Lucida Sans Typewriter" panose="020B0509030504030204" pitchFamily="49" charset="0"/>
              </a:rPr>
              <a:t>x,y,z</a:t>
            </a:r>
            <a:r>
              <a:rPr lang="en-US" altLang="zh-TW" sz="2385" dirty="0">
                <a:solidFill>
                  <a:srgbClr val="FFFF00"/>
                </a:solidFill>
                <a:latin typeface="Lucida Sans Typewriter" panose="020B0509030504030204" pitchFamily="49" charset="0"/>
              </a:rPr>
              <a:t>;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>
                <a:solidFill>
                  <a:srgbClr val="FFFF00"/>
                </a:solidFill>
                <a:latin typeface="Lucida Sans Typewriter" panose="020B0509030504030204" pitchFamily="49" charset="0"/>
              </a:rPr>
              <a:t>} </a:t>
            </a:r>
            <a:r>
              <a:rPr lang="en-US" altLang="zh-TW" sz="2385" dirty="0" err="1">
                <a:solidFill>
                  <a:srgbClr val="FFFF00"/>
                </a:solidFill>
                <a:latin typeface="Lucida Sans Typewriter" panose="020B0509030504030204" pitchFamily="49" charset="0"/>
              </a:rPr>
              <a:t>coord</a:t>
            </a:r>
            <a:r>
              <a:rPr lang="en-US" altLang="zh-TW" sz="2385" dirty="0">
                <a:solidFill>
                  <a:srgbClr val="FFFF00"/>
                </a:solidFill>
                <a:latin typeface="Lucida Sans Typewriter" panose="020B0509030504030204" pitchFamily="49" charset="0"/>
              </a:rPr>
              <a:t>;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 err="1">
                <a:solidFill>
                  <a:srgbClr val="FFFF00"/>
                </a:solidFill>
                <a:latin typeface="Lucida Sans Typewriter" panose="020B0509030504030204" pitchFamily="49" charset="0"/>
              </a:rPr>
              <a:t>coord</a:t>
            </a:r>
            <a:r>
              <a:rPr lang="en-US" altLang="zh-TW" sz="2385" dirty="0">
                <a:solidFill>
                  <a:srgbClr val="FFFF00"/>
                </a:solidFill>
                <a:latin typeface="Lucida Sans Typewriter" panose="020B0509030504030204" pitchFamily="49" charset="0"/>
              </a:rPr>
              <a:t> *A, *B, *C;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endParaRPr lang="en-US" altLang="zh-TW" sz="2385" dirty="0">
              <a:solidFill>
                <a:srgbClr val="FFFF00"/>
              </a:solidFill>
              <a:latin typeface="Lucida Sans Typewriter" panose="020B0509030504030204" pitchFamily="49" charset="0"/>
            </a:endParaRP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>
                <a:solidFill>
                  <a:srgbClr val="FFFF00"/>
                </a:solidFill>
                <a:latin typeface="Lucida Sans Typewriter" panose="020B0509030504030204" pitchFamily="49" charset="0"/>
              </a:rPr>
              <a:t>void print(</a:t>
            </a:r>
            <a:r>
              <a:rPr lang="en-US" altLang="zh-TW" sz="2385" dirty="0" err="1">
                <a:solidFill>
                  <a:srgbClr val="FFFF00"/>
                </a:solidFill>
                <a:latin typeface="Lucida Sans Typewriter" panose="020B0509030504030204" pitchFamily="49" charset="0"/>
              </a:rPr>
              <a:t>coord</a:t>
            </a:r>
            <a:r>
              <a:rPr lang="en-US" altLang="zh-TW" sz="2385" dirty="0">
                <a:solidFill>
                  <a:srgbClr val="FFFF00"/>
                </a:solidFill>
                <a:latin typeface="Lucida Sans Typewriter" panose="020B0509030504030204" pitchFamily="49" charset="0"/>
              </a:rPr>
              <a:t> *P){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>
                <a:solidFill>
                  <a:srgbClr val="FFFF00"/>
                </a:solidFill>
                <a:latin typeface="Lucida Sans Typewriter" panose="020B0509030504030204" pitchFamily="49" charset="0"/>
              </a:rPr>
              <a:t>   </a:t>
            </a:r>
            <a:r>
              <a:rPr lang="en-US" altLang="zh-TW" sz="2385" dirty="0" err="1">
                <a:solidFill>
                  <a:srgbClr val="FFFF00"/>
                </a:solidFill>
                <a:latin typeface="Lucida Sans Typewriter" panose="020B0509030504030204" pitchFamily="49" charset="0"/>
              </a:rPr>
              <a:t>printf</a:t>
            </a:r>
            <a:r>
              <a:rPr lang="en-US" altLang="zh-TW" sz="2385" dirty="0">
                <a:solidFill>
                  <a:srgbClr val="FFFF00"/>
                </a:solidFill>
                <a:latin typeface="Lucida Sans Typewriter" panose="020B0509030504030204" pitchFamily="49" charset="0"/>
              </a:rPr>
              <a:t>("%</a:t>
            </a:r>
            <a:r>
              <a:rPr lang="en-US" altLang="zh-TW" sz="2385" dirty="0" err="1">
                <a:solidFill>
                  <a:srgbClr val="FFFF00"/>
                </a:solidFill>
                <a:latin typeface="Lucida Sans Typewriter" panose="020B0509030504030204" pitchFamily="49" charset="0"/>
              </a:rPr>
              <a:t>d,%d,%d</a:t>
            </a:r>
            <a:r>
              <a:rPr lang="en-US" altLang="zh-TW" sz="2385" dirty="0">
                <a:solidFill>
                  <a:srgbClr val="FFFF00"/>
                </a:solidFill>
                <a:latin typeface="Lucida Sans Typewriter" panose="020B0509030504030204" pitchFamily="49" charset="0"/>
              </a:rPr>
              <a:t>\n",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>
                <a:solidFill>
                  <a:srgbClr val="FFFF00"/>
                </a:solidFill>
                <a:latin typeface="Lucida Sans Typewriter" panose="020B0509030504030204" pitchFamily="49" charset="0"/>
              </a:rPr>
              <a:t>   P-&gt;</a:t>
            </a:r>
            <a:r>
              <a:rPr lang="en-US" altLang="zh-TW" sz="2385" dirty="0" err="1">
                <a:solidFill>
                  <a:srgbClr val="FFFF00"/>
                </a:solidFill>
                <a:latin typeface="Lucida Sans Typewriter" panose="020B0509030504030204" pitchFamily="49" charset="0"/>
              </a:rPr>
              <a:t>x,P</a:t>
            </a:r>
            <a:r>
              <a:rPr lang="en-US" altLang="zh-TW" sz="2385" dirty="0">
                <a:solidFill>
                  <a:srgbClr val="FFFF00"/>
                </a:solidFill>
                <a:latin typeface="Lucida Sans Typewriter" panose="020B0509030504030204" pitchFamily="49" charset="0"/>
              </a:rPr>
              <a:t>-&gt;</a:t>
            </a:r>
            <a:r>
              <a:rPr lang="en-US" altLang="zh-TW" sz="2385" dirty="0" err="1">
                <a:solidFill>
                  <a:srgbClr val="FFFF00"/>
                </a:solidFill>
                <a:latin typeface="Lucida Sans Typewriter" panose="020B0509030504030204" pitchFamily="49" charset="0"/>
              </a:rPr>
              <a:t>y,P</a:t>
            </a:r>
            <a:r>
              <a:rPr lang="en-US" altLang="zh-TW" sz="2385" dirty="0">
                <a:solidFill>
                  <a:srgbClr val="FFFF00"/>
                </a:solidFill>
                <a:latin typeface="Lucida Sans Typewriter" panose="020B0509030504030204" pitchFamily="49" charset="0"/>
              </a:rPr>
              <a:t>-&gt;z);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>
                <a:solidFill>
                  <a:srgbClr val="FFFF00"/>
                </a:solidFill>
                <a:latin typeface="Lucida Sans Typewriter" panose="020B0509030504030204" pitchFamily="49" charset="0"/>
              </a:rPr>
              <a:t>}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>
                <a:solidFill>
                  <a:srgbClr val="FFFF00"/>
                </a:solidFill>
                <a:latin typeface="Lucida Sans Typewriter" panose="020B0509030504030204" pitchFamily="49" charset="0"/>
              </a:rPr>
              <a:t>%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4953591" y="958409"/>
            <a:ext cx="4699997" cy="5615808"/>
          </a:xfrm>
          <a:prstGeom prst="rect">
            <a:avLst/>
          </a:prstGeom>
          <a:solidFill>
            <a:schemeClr val="tx1"/>
          </a:solidFill>
        </p:spPr>
        <p:txBody>
          <a:bodyPr vert="horz" lIns="83872" tIns="41936" rIns="83872" bIns="41936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</a:rPr>
              <a:t>% cat </a:t>
            </a:r>
            <a:r>
              <a:rPr lang="en-US" altLang="zh-TW" sz="2385" dirty="0" err="1" smtClean="0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</a:rPr>
              <a:t>prog.c</a:t>
            </a:r>
            <a:endParaRPr lang="en-US" altLang="zh-TW" sz="2385" dirty="0">
              <a:solidFill>
                <a:prstClr val="white">
                  <a:lumMod val="65000"/>
                </a:prstClr>
              </a:solidFill>
              <a:latin typeface="Lucida Sans Typewriter" panose="020B0509030504030204" pitchFamily="49" charset="0"/>
            </a:endParaRP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</a:rPr>
              <a:t>#include "</a:t>
            </a:r>
            <a:r>
              <a:rPr lang="en-US" altLang="zh-TW" sz="2385" dirty="0" err="1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</a:rPr>
              <a:t>stuff.h</a:t>
            </a:r>
            <a:r>
              <a:rPr lang="en-US" altLang="zh-TW" sz="2385" dirty="0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</a:rPr>
              <a:t>"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 err="1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</a:rPr>
              <a:t>int</a:t>
            </a:r>
            <a:r>
              <a:rPr lang="en-US" altLang="zh-TW" sz="2385" dirty="0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</a:rPr>
              <a:t> main() {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</a:rPr>
              <a:t>   A=(</a:t>
            </a:r>
            <a:r>
              <a:rPr lang="en-US" altLang="zh-TW" sz="2385" dirty="0" err="1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</a:rPr>
              <a:t>coord</a:t>
            </a:r>
            <a:r>
              <a:rPr lang="en-US" altLang="zh-TW" sz="2385" dirty="0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</a:rPr>
              <a:t>*)</a:t>
            </a:r>
            <a:r>
              <a:rPr lang="en-US" altLang="zh-TW" sz="2385" dirty="0" err="1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</a:rPr>
              <a:t>malloc</a:t>
            </a:r>
            <a:r>
              <a:rPr lang="en-US" altLang="zh-TW" sz="2385" dirty="0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</a:rPr>
              <a:t>     </a:t>
            </a:r>
            <a:br>
              <a:rPr lang="en-US" altLang="zh-TW" sz="2385" dirty="0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</a:rPr>
            </a:br>
            <a:r>
              <a:rPr lang="en-US" altLang="zh-TW" sz="2385" dirty="0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</a:rPr>
              <a:t>     (</a:t>
            </a:r>
            <a:r>
              <a:rPr lang="en-US" altLang="zh-TW" sz="2385" dirty="0" err="1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</a:rPr>
              <a:t>sizeof</a:t>
            </a:r>
            <a:r>
              <a:rPr lang="en-US" altLang="zh-TW" sz="2385" dirty="0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</a:rPr>
              <a:t>(</a:t>
            </a:r>
            <a:r>
              <a:rPr lang="en-US" altLang="zh-TW" sz="2385" dirty="0" err="1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</a:rPr>
              <a:t>coord</a:t>
            </a:r>
            <a:r>
              <a:rPr lang="en-US" altLang="zh-TW" sz="2385" dirty="0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</a:rPr>
              <a:t>));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</a:rPr>
              <a:t>   A-&gt;x=1;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</a:rPr>
              <a:t>   B=A; C=B;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</a:rPr>
              <a:t>   A-&gt;y=2; C-&gt;z=3;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</a:rPr>
              <a:t>   A=NULL; </a:t>
            </a:r>
            <a:r>
              <a:rPr lang="en-US" altLang="zh-TW" sz="2385" dirty="0" smtClean="0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</a:rPr>
              <a:t>B=NULL;</a:t>
            </a:r>
            <a:endParaRPr lang="en-US" altLang="zh-TW" sz="2385" dirty="0">
              <a:solidFill>
                <a:prstClr val="white">
                  <a:lumMod val="65000"/>
                </a:prstClr>
              </a:solidFill>
              <a:latin typeface="Lucida Sans Typewriter" panose="020B0509030504030204" pitchFamily="49" charset="0"/>
            </a:endParaRP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</a:rPr>
              <a:t>   print(C);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</a:rPr>
              <a:t>   C=NULL;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</a:rPr>
              <a:t>   print(C);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</a:rPr>
              <a:t>}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</a:rPr>
              <a:t>% ./</a:t>
            </a:r>
            <a:r>
              <a:rPr lang="en-US" altLang="zh-TW" sz="2385" dirty="0" err="1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</a:rPr>
              <a:t>prog.x</a:t>
            </a:r>
            <a:endParaRPr lang="en-US" altLang="zh-TW" sz="2385" dirty="0">
              <a:solidFill>
                <a:prstClr val="white">
                  <a:lumMod val="65000"/>
                </a:prstClr>
              </a:solidFill>
              <a:latin typeface="Lucida Sans Typewriter" panose="020B0509030504030204" pitchFamily="49" charset="0"/>
            </a:endParaRP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</a:rPr>
              <a:t>(1,2,3)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 err="1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</a:rPr>
              <a:t>Error:Segmentation</a:t>
            </a:r>
            <a:r>
              <a:rPr lang="en-US" altLang="zh-TW" sz="2385" dirty="0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</a:rPr>
              <a:t> Fault</a:t>
            </a: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4953591" y="958409"/>
            <a:ext cx="4699997" cy="5615808"/>
          </a:xfrm>
          <a:prstGeom prst="rect">
            <a:avLst/>
          </a:prstGeom>
          <a:noFill/>
        </p:spPr>
        <p:txBody>
          <a:bodyPr vert="horz" lIns="83872" tIns="41936" rIns="83872" bIns="41936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>
                <a:solidFill>
                  <a:srgbClr val="FFFF00"/>
                </a:solidFill>
                <a:latin typeface="Lucida Sans Typewriter" panose="020B0509030504030204" pitchFamily="49" charset="0"/>
              </a:rPr>
              <a:t>% cat </a:t>
            </a:r>
            <a:r>
              <a:rPr lang="en-US" altLang="zh-TW" sz="2385" dirty="0" err="1" smtClean="0">
                <a:solidFill>
                  <a:srgbClr val="FFFF00"/>
                </a:solidFill>
                <a:latin typeface="Lucida Sans Typewriter" panose="020B0509030504030204" pitchFamily="49" charset="0"/>
              </a:rPr>
              <a:t>prog.c</a:t>
            </a:r>
            <a:endParaRPr lang="en-US" altLang="zh-TW" sz="2385" dirty="0">
              <a:solidFill>
                <a:srgbClr val="FFFF00"/>
              </a:solidFill>
              <a:latin typeface="Lucida Sans Typewriter" panose="020B0509030504030204" pitchFamily="49" charset="0"/>
            </a:endParaRP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>
                <a:solidFill>
                  <a:srgbClr val="FFFF00"/>
                </a:solidFill>
                <a:latin typeface="Lucida Sans Typewriter" panose="020B0509030504030204" pitchFamily="49" charset="0"/>
              </a:rPr>
              <a:t>#include "</a:t>
            </a:r>
            <a:r>
              <a:rPr lang="en-US" altLang="zh-TW" sz="2385" dirty="0" err="1">
                <a:solidFill>
                  <a:srgbClr val="FFFF00"/>
                </a:solidFill>
                <a:latin typeface="Lucida Sans Typewriter" panose="020B0509030504030204" pitchFamily="49" charset="0"/>
              </a:rPr>
              <a:t>stuff.h</a:t>
            </a:r>
            <a:r>
              <a:rPr lang="en-US" altLang="zh-TW" sz="2385" dirty="0">
                <a:solidFill>
                  <a:srgbClr val="FFFF00"/>
                </a:solidFill>
                <a:latin typeface="Lucida Sans Typewriter" panose="020B0509030504030204" pitchFamily="49" charset="0"/>
              </a:rPr>
              <a:t>"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 err="1">
                <a:solidFill>
                  <a:srgbClr val="FFFF00"/>
                </a:solidFill>
                <a:latin typeface="Lucida Sans Typewriter" panose="020B0509030504030204" pitchFamily="49" charset="0"/>
              </a:rPr>
              <a:t>int</a:t>
            </a:r>
            <a:r>
              <a:rPr lang="en-US" altLang="zh-TW" sz="2385" dirty="0">
                <a:solidFill>
                  <a:srgbClr val="FFFF00"/>
                </a:solidFill>
                <a:latin typeface="Lucida Sans Typewriter" panose="020B0509030504030204" pitchFamily="49" charset="0"/>
              </a:rPr>
              <a:t> main() {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>
                <a:solidFill>
                  <a:srgbClr val="FFFF00"/>
                </a:solidFill>
                <a:latin typeface="Lucida Sans Typewriter" panose="020B0509030504030204" pitchFamily="49" charset="0"/>
              </a:rPr>
              <a:t>   A=(</a:t>
            </a:r>
            <a:r>
              <a:rPr lang="en-US" altLang="zh-TW" sz="2385" dirty="0" err="1">
                <a:solidFill>
                  <a:srgbClr val="FFFF00"/>
                </a:solidFill>
                <a:latin typeface="Lucida Sans Typewriter" panose="020B0509030504030204" pitchFamily="49" charset="0"/>
              </a:rPr>
              <a:t>coord</a:t>
            </a:r>
            <a:r>
              <a:rPr lang="en-US" altLang="zh-TW" sz="2385" dirty="0">
                <a:solidFill>
                  <a:srgbClr val="FFFF00"/>
                </a:solidFill>
                <a:latin typeface="Lucida Sans Typewriter" panose="020B0509030504030204" pitchFamily="49" charset="0"/>
              </a:rPr>
              <a:t>*)</a:t>
            </a:r>
            <a:r>
              <a:rPr lang="en-US" altLang="zh-TW" sz="2385" dirty="0" err="1">
                <a:solidFill>
                  <a:srgbClr val="FFFF00"/>
                </a:solidFill>
                <a:latin typeface="Lucida Sans Typewriter" panose="020B0509030504030204" pitchFamily="49" charset="0"/>
              </a:rPr>
              <a:t>malloc</a:t>
            </a:r>
            <a:r>
              <a:rPr lang="en-US" altLang="zh-TW" sz="2385" dirty="0">
                <a:solidFill>
                  <a:srgbClr val="FFFF00"/>
                </a:solidFill>
                <a:latin typeface="Lucida Sans Typewriter" panose="020B0509030504030204" pitchFamily="49" charset="0"/>
              </a:rPr>
              <a:t>     </a:t>
            </a:r>
            <a:br>
              <a:rPr lang="en-US" altLang="zh-TW" sz="2385" dirty="0">
                <a:solidFill>
                  <a:srgbClr val="FFFF00"/>
                </a:solidFill>
                <a:latin typeface="Lucida Sans Typewriter" panose="020B0509030504030204" pitchFamily="49" charset="0"/>
              </a:rPr>
            </a:br>
            <a:r>
              <a:rPr lang="en-US" altLang="zh-TW" sz="2385" dirty="0">
                <a:solidFill>
                  <a:srgbClr val="FFFF00"/>
                </a:solidFill>
                <a:latin typeface="Lucida Sans Typewriter" panose="020B0509030504030204" pitchFamily="49" charset="0"/>
              </a:rPr>
              <a:t>     (</a:t>
            </a:r>
            <a:r>
              <a:rPr lang="en-US" altLang="zh-TW" sz="2385" dirty="0" err="1">
                <a:solidFill>
                  <a:srgbClr val="FFFF00"/>
                </a:solidFill>
                <a:latin typeface="Lucida Sans Typewriter" panose="020B0509030504030204" pitchFamily="49" charset="0"/>
              </a:rPr>
              <a:t>sizeof</a:t>
            </a:r>
            <a:r>
              <a:rPr lang="en-US" altLang="zh-TW" sz="2385" dirty="0">
                <a:solidFill>
                  <a:srgbClr val="FFFF00"/>
                </a:solidFill>
                <a:latin typeface="Lucida Sans Typewriter" panose="020B0509030504030204" pitchFamily="49" charset="0"/>
              </a:rPr>
              <a:t>(</a:t>
            </a:r>
            <a:r>
              <a:rPr lang="en-US" altLang="zh-TW" sz="2385" dirty="0" err="1">
                <a:solidFill>
                  <a:srgbClr val="FFFF00"/>
                </a:solidFill>
                <a:latin typeface="Lucida Sans Typewriter" panose="020B0509030504030204" pitchFamily="49" charset="0"/>
              </a:rPr>
              <a:t>coord</a:t>
            </a:r>
            <a:r>
              <a:rPr lang="en-US" altLang="zh-TW" sz="2385" dirty="0">
                <a:solidFill>
                  <a:srgbClr val="FFFF00"/>
                </a:solidFill>
                <a:latin typeface="Lucida Sans Typewriter" panose="020B0509030504030204" pitchFamily="49" charset="0"/>
              </a:rPr>
              <a:t>));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>
                <a:solidFill>
                  <a:srgbClr val="FFFF00"/>
                </a:solidFill>
                <a:latin typeface="Lucida Sans Typewriter" panose="020B0509030504030204" pitchFamily="49" charset="0"/>
              </a:rPr>
              <a:t>   A-&gt;x=1;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>
                <a:solidFill>
                  <a:srgbClr val="FFFF00"/>
                </a:solidFill>
                <a:latin typeface="Lucida Sans Typewriter" panose="020B0509030504030204" pitchFamily="49" charset="0"/>
              </a:rPr>
              <a:t>  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" y="0"/>
            <a:ext cx="9729788" cy="958410"/>
          </a:xfrm>
        </p:spPr>
        <p:txBody>
          <a:bodyPr>
            <a:normAutofit/>
          </a:bodyPr>
          <a:lstStyle/>
          <a:p>
            <a:r>
              <a:rPr lang="en-US" altLang="zh-TW" sz="4200" dirty="0">
                <a:solidFill>
                  <a:srgbClr val="0070C0"/>
                </a:solidFill>
              </a:rPr>
              <a:t>In C, you manage your own garbage</a:t>
            </a:r>
            <a:endParaRPr lang="zh-TW" altLang="en-US" sz="4200" dirty="0">
              <a:solidFill>
                <a:srgbClr val="0070C0"/>
              </a:solidFill>
            </a:endParaRPr>
          </a:p>
        </p:txBody>
      </p:sp>
      <p:grpSp>
        <p:nvGrpSpPr>
          <p:cNvPr id="12" name="Group 11"/>
          <p:cNvGrpSpPr/>
          <p:nvPr/>
        </p:nvGrpSpPr>
        <p:grpSpPr>
          <a:xfrm>
            <a:off x="1692415" y="5680794"/>
            <a:ext cx="932931" cy="787068"/>
            <a:chOff x="377687" y="5883965"/>
            <a:chExt cx="1017106" cy="858083"/>
          </a:xfrm>
        </p:grpSpPr>
        <p:sp>
          <p:nvSpPr>
            <p:cNvPr id="10" name="Rectangle 9"/>
            <p:cNvSpPr/>
            <p:nvPr/>
          </p:nvSpPr>
          <p:spPr>
            <a:xfrm>
              <a:off x="377687" y="5883965"/>
              <a:ext cx="993913" cy="46713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651" dirty="0" err="1">
                  <a:solidFill>
                    <a:prstClr val="white"/>
                  </a:solidFill>
                </a:rPr>
                <a:t>undef</a:t>
              </a:r>
              <a:endParaRPr lang="zh-TW" altLang="en-US" sz="1651" dirty="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00880" y="6274909"/>
              <a:ext cx="993913" cy="46713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651" dirty="0">
                  <a:solidFill>
                    <a:prstClr val="black"/>
                  </a:solidFill>
                </a:rPr>
                <a:t>*B</a:t>
              </a:r>
              <a:endParaRPr lang="zh-TW" altLang="en-US" sz="1651" dirty="0">
                <a:solidFill>
                  <a:prstClr val="black"/>
                </a:solidFill>
              </a:endParaRP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3333393" y="5680794"/>
            <a:ext cx="932931" cy="787068"/>
            <a:chOff x="377687" y="5883965"/>
            <a:chExt cx="1017106" cy="858083"/>
          </a:xfrm>
        </p:grpSpPr>
        <p:sp>
          <p:nvSpPr>
            <p:cNvPr id="14" name="Rectangle 13"/>
            <p:cNvSpPr/>
            <p:nvPr/>
          </p:nvSpPr>
          <p:spPr>
            <a:xfrm>
              <a:off x="377687" y="5883965"/>
              <a:ext cx="993913" cy="46713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651" dirty="0" err="1">
                  <a:solidFill>
                    <a:prstClr val="white"/>
                  </a:solidFill>
                </a:rPr>
                <a:t>undef</a:t>
              </a:r>
              <a:endParaRPr lang="zh-TW" altLang="en-US" sz="1651" dirty="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400880" y="6274909"/>
              <a:ext cx="993913" cy="46713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651" dirty="0">
                  <a:solidFill>
                    <a:prstClr val="black"/>
                  </a:solidFill>
                </a:rPr>
                <a:t>*C</a:t>
              </a:r>
              <a:endParaRPr lang="zh-TW" altLang="en-US" sz="1651" dirty="0">
                <a:solidFill>
                  <a:prstClr val="black"/>
                </a:solidFill>
              </a:endParaRP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270230" y="5680794"/>
            <a:ext cx="932931" cy="787068"/>
            <a:chOff x="377687" y="5883965"/>
            <a:chExt cx="1017106" cy="858083"/>
          </a:xfrm>
        </p:grpSpPr>
        <p:sp>
          <p:nvSpPr>
            <p:cNvPr id="17" name="Rectangle 16"/>
            <p:cNvSpPr/>
            <p:nvPr/>
          </p:nvSpPr>
          <p:spPr>
            <a:xfrm>
              <a:off x="377687" y="5883965"/>
              <a:ext cx="993913" cy="46713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651" dirty="0" err="1">
                  <a:solidFill>
                    <a:prstClr val="white"/>
                  </a:solidFill>
                </a:rPr>
                <a:t>undef</a:t>
              </a:r>
              <a:endParaRPr lang="zh-TW" altLang="en-US" sz="1651" dirty="0">
                <a:solidFill>
                  <a:prstClr val="white"/>
                </a:solidFill>
              </a:endParaRP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00880" y="6274909"/>
              <a:ext cx="993913" cy="46713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651" dirty="0">
                  <a:solidFill>
                    <a:prstClr val="black"/>
                  </a:solidFill>
                </a:rPr>
                <a:t>*A</a:t>
              </a:r>
              <a:endParaRPr lang="zh-TW" altLang="en-US" sz="1651" dirty="0">
                <a:solidFill>
                  <a:prstClr val="black"/>
                </a:solidFill>
              </a:endParaRPr>
            </a:p>
          </p:txBody>
        </p:sp>
      </p:grpSp>
      <p:cxnSp>
        <p:nvCxnSpPr>
          <p:cNvPr id="21" name="Straight Arrow Connector 20"/>
          <p:cNvCxnSpPr>
            <a:stCxn id="17" idx="0"/>
          </p:cNvCxnSpPr>
          <p:nvPr/>
        </p:nvCxnSpPr>
        <p:spPr>
          <a:xfrm flipV="1">
            <a:off x="726060" y="2736141"/>
            <a:ext cx="1331019" cy="2944652"/>
          </a:xfrm>
          <a:prstGeom prst="straightConnector1">
            <a:avLst/>
          </a:prstGeom>
          <a:ln w="50800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7" name="Group 10"/>
          <p:cNvGrpSpPr/>
          <p:nvPr/>
        </p:nvGrpSpPr>
        <p:grpSpPr>
          <a:xfrm>
            <a:off x="270230" y="5680794"/>
            <a:ext cx="932931" cy="787068"/>
            <a:chOff x="377687" y="5883965"/>
            <a:chExt cx="1017106" cy="858083"/>
          </a:xfrm>
        </p:grpSpPr>
        <p:sp>
          <p:nvSpPr>
            <p:cNvPr id="38" name="Rectangle 11"/>
            <p:cNvSpPr/>
            <p:nvPr/>
          </p:nvSpPr>
          <p:spPr>
            <a:xfrm>
              <a:off x="377687" y="5883965"/>
              <a:ext cx="993913" cy="46713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80000"/>
                </a:lnSpc>
              </a:pPr>
              <a:r>
                <a:rPr lang="en-US" altLang="zh-TW" sz="1651" dirty="0">
                  <a:solidFill>
                    <a:prstClr val="white"/>
                  </a:solidFill>
                </a:rPr>
                <a:t>t</a:t>
              </a:r>
              <a:r>
                <a:rPr lang="en-US" altLang="zh-TW" sz="1651" dirty="0" smtClean="0">
                  <a:solidFill>
                    <a:prstClr val="white"/>
                  </a:solidFill>
                </a:rPr>
                <a:t>hat</a:t>
              </a:r>
              <a:br>
                <a:rPr lang="en-US" altLang="zh-TW" sz="1651" dirty="0" smtClean="0">
                  <a:solidFill>
                    <a:prstClr val="white"/>
                  </a:solidFill>
                </a:rPr>
              </a:br>
              <a:r>
                <a:rPr lang="en-US" altLang="zh-TW" sz="1651" dirty="0" smtClean="0">
                  <a:solidFill>
                    <a:prstClr val="white"/>
                  </a:solidFill>
                </a:rPr>
                <a:t>memory</a:t>
              </a:r>
              <a:endParaRPr lang="zh-TW" altLang="en-US" sz="1651" dirty="0">
                <a:solidFill>
                  <a:prstClr val="white"/>
                </a:solidFill>
              </a:endParaRPr>
            </a:p>
          </p:txBody>
        </p:sp>
        <p:sp>
          <p:nvSpPr>
            <p:cNvPr id="39" name="Rectangle 12"/>
            <p:cNvSpPr/>
            <p:nvPr/>
          </p:nvSpPr>
          <p:spPr>
            <a:xfrm>
              <a:off x="400880" y="6274909"/>
              <a:ext cx="993913" cy="46713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651" dirty="0">
                  <a:solidFill>
                    <a:prstClr val="black"/>
                  </a:solidFill>
                </a:rPr>
                <a:t>*A</a:t>
              </a:r>
              <a:endParaRPr lang="zh-TW" altLang="en-US" sz="1651" dirty="0">
                <a:solidFill>
                  <a:prstClr val="black"/>
                </a:solidFill>
              </a:endParaRPr>
            </a:p>
          </p:txBody>
        </p:sp>
      </p:grpSp>
      <p:sp>
        <p:nvSpPr>
          <p:cNvPr id="22" name="Rectangle 21"/>
          <p:cNvSpPr/>
          <p:nvPr/>
        </p:nvSpPr>
        <p:spPr>
          <a:xfrm>
            <a:off x="653126" y="1988582"/>
            <a:ext cx="2807905" cy="74755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dirty="0">
                <a:solidFill>
                  <a:prstClr val="white"/>
                </a:solidFill>
              </a:rPr>
              <a:t>x=?, </a:t>
            </a:r>
            <a:r>
              <a:rPr lang="en-US" altLang="zh-TW" sz="500" dirty="0" smtClean="0">
                <a:solidFill>
                  <a:prstClr val="white"/>
                </a:solidFill>
              </a:rPr>
              <a:t> </a:t>
            </a:r>
            <a:r>
              <a:rPr lang="en-US" altLang="zh-TW" sz="2800" dirty="0" smtClean="0">
                <a:solidFill>
                  <a:prstClr val="white"/>
                </a:solidFill>
              </a:rPr>
              <a:t>y</a:t>
            </a:r>
            <a:r>
              <a:rPr lang="en-US" altLang="zh-TW" sz="2800" dirty="0">
                <a:solidFill>
                  <a:prstClr val="white"/>
                </a:solidFill>
              </a:rPr>
              <a:t>=?, </a:t>
            </a:r>
            <a:r>
              <a:rPr lang="en-US" altLang="zh-TW" sz="500" dirty="0" smtClean="0">
                <a:solidFill>
                  <a:prstClr val="white"/>
                </a:solidFill>
              </a:rPr>
              <a:t> </a:t>
            </a:r>
            <a:r>
              <a:rPr lang="en-US" altLang="zh-TW" sz="2800" dirty="0" smtClean="0">
                <a:solidFill>
                  <a:prstClr val="white"/>
                </a:solidFill>
              </a:rPr>
              <a:t>z</a:t>
            </a:r>
            <a:r>
              <a:rPr lang="en-US" altLang="zh-TW" sz="2800" dirty="0">
                <a:solidFill>
                  <a:prstClr val="white"/>
                </a:solidFill>
              </a:rPr>
              <a:t>=?</a:t>
            </a:r>
            <a:endParaRPr lang="zh-TW" altLang="en-US" sz="280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1454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35" presetID="14" presetClass="entr" presetSubtype="1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4" presetClass="entr" presetSubtype="1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4" presetClass="entr" presetSubtype="1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7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7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7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8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83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86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89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92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95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98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01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04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07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10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13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16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19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22" dur="5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25" dur="50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28" dur="500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31" dur="500"/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41" presetID="14" presetClass="entr" presetSubtype="1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22" presetClass="entr" presetSubtype="4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" fill="hold">
                            <p:stCondLst>
                              <p:cond delay="1250"/>
                            </p:stCondLst>
                            <p:childTnLst>
                              <p:par>
                                <p:cTn id="148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animBg="1"/>
      <p:bldP spid="7" grpId="0" build="allAtOnce"/>
      <p:bldP spid="22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 txBox="1">
            <a:spLocks/>
          </p:cNvSpPr>
          <p:nvPr/>
        </p:nvSpPr>
        <p:spPr>
          <a:xfrm>
            <a:off x="4953591" y="958409"/>
            <a:ext cx="4699997" cy="5615808"/>
          </a:xfrm>
          <a:prstGeom prst="rect">
            <a:avLst/>
          </a:prstGeom>
          <a:solidFill>
            <a:schemeClr val="tx1"/>
          </a:solidFill>
        </p:spPr>
        <p:txBody>
          <a:bodyPr vert="horz" lIns="83872" tIns="41936" rIns="83872" bIns="41936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</a:rPr>
              <a:t>% cat </a:t>
            </a:r>
            <a:r>
              <a:rPr lang="en-US" altLang="zh-TW" sz="2385" dirty="0" err="1" smtClean="0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</a:rPr>
              <a:t>prog.c</a:t>
            </a:r>
            <a:endParaRPr lang="en-US" altLang="zh-TW" sz="2385" dirty="0">
              <a:solidFill>
                <a:prstClr val="white">
                  <a:lumMod val="65000"/>
                </a:prstClr>
              </a:solidFill>
              <a:latin typeface="Lucida Sans Typewriter" panose="020B0509030504030204" pitchFamily="49" charset="0"/>
            </a:endParaRP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</a:rPr>
              <a:t>#include "</a:t>
            </a:r>
            <a:r>
              <a:rPr lang="en-US" altLang="zh-TW" sz="2385" dirty="0" err="1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</a:rPr>
              <a:t>stuff.h</a:t>
            </a:r>
            <a:r>
              <a:rPr lang="en-US" altLang="zh-TW" sz="2385" dirty="0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</a:rPr>
              <a:t>"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 err="1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</a:rPr>
              <a:t>int</a:t>
            </a:r>
            <a:r>
              <a:rPr lang="en-US" altLang="zh-TW" sz="2385" dirty="0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</a:rPr>
              <a:t> main() {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</a:rPr>
              <a:t>   A=(</a:t>
            </a:r>
            <a:r>
              <a:rPr lang="en-US" altLang="zh-TW" sz="2385" dirty="0" err="1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</a:rPr>
              <a:t>coord</a:t>
            </a:r>
            <a:r>
              <a:rPr lang="en-US" altLang="zh-TW" sz="2385" dirty="0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</a:rPr>
              <a:t>*)</a:t>
            </a:r>
            <a:r>
              <a:rPr lang="en-US" altLang="zh-TW" sz="2385" dirty="0" err="1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</a:rPr>
              <a:t>malloc</a:t>
            </a:r>
            <a:r>
              <a:rPr lang="en-US" altLang="zh-TW" sz="2385" dirty="0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</a:rPr>
              <a:t>     </a:t>
            </a:r>
            <a:br>
              <a:rPr lang="en-US" altLang="zh-TW" sz="2385" dirty="0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</a:rPr>
            </a:br>
            <a:r>
              <a:rPr lang="en-US" altLang="zh-TW" sz="2385" dirty="0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</a:rPr>
              <a:t>     (</a:t>
            </a:r>
            <a:r>
              <a:rPr lang="en-US" altLang="zh-TW" sz="2385" dirty="0" err="1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</a:rPr>
              <a:t>sizeof</a:t>
            </a:r>
            <a:r>
              <a:rPr lang="en-US" altLang="zh-TW" sz="2385" dirty="0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</a:rPr>
              <a:t>(</a:t>
            </a:r>
            <a:r>
              <a:rPr lang="en-US" altLang="zh-TW" sz="2385" dirty="0" err="1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</a:rPr>
              <a:t>coord</a:t>
            </a:r>
            <a:r>
              <a:rPr lang="en-US" altLang="zh-TW" sz="2385" dirty="0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</a:rPr>
              <a:t>));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</a:rPr>
              <a:t>   A-&gt;x=1;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</a:rPr>
              <a:t>   B=A; C=B;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</a:rPr>
              <a:t>   A-&gt;y=2; C-&gt;z=3;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</a:rPr>
              <a:t>   A=NULL; </a:t>
            </a:r>
            <a:r>
              <a:rPr lang="en-US" altLang="zh-TW" sz="2385" dirty="0" smtClean="0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</a:rPr>
              <a:t>B=NULL;</a:t>
            </a:r>
            <a:endParaRPr lang="en-US" altLang="zh-TW" sz="2385" dirty="0">
              <a:solidFill>
                <a:prstClr val="white">
                  <a:lumMod val="65000"/>
                </a:prstClr>
              </a:solidFill>
              <a:latin typeface="Lucida Sans Typewriter" panose="020B0509030504030204" pitchFamily="49" charset="0"/>
            </a:endParaRP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</a:rPr>
              <a:t>   print(C);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</a:rPr>
              <a:t>   C=NULL;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</a:rPr>
              <a:t>   print(C);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</a:rPr>
              <a:t>}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</a:rPr>
              <a:t>% ./</a:t>
            </a:r>
            <a:r>
              <a:rPr lang="en-US" altLang="zh-TW" sz="2385" dirty="0" err="1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</a:rPr>
              <a:t>prog.x</a:t>
            </a:r>
            <a:endParaRPr lang="en-US" altLang="zh-TW" sz="2385" dirty="0">
              <a:solidFill>
                <a:prstClr val="white">
                  <a:lumMod val="65000"/>
                </a:prstClr>
              </a:solidFill>
              <a:latin typeface="Lucida Sans Typewriter" panose="020B0509030504030204" pitchFamily="49" charset="0"/>
            </a:endParaRP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</a:rPr>
              <a:t>(1,2,3)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 err="1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</a:rPr>
              <a:t>Error:Segmentation</a:t>
            </a:r>
            <a:r>
              <a:rPr lang="en-US" altLang="zh-TW" sz="2385" dirty="0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</a:rPr>
              <a:t> Fault</a:t>
            </a: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4953591" y="958409"/>
            <a:ext cx="4699997" cy="5615808"/>
          </a:xfrm>
          <a:prstGeom prst="rect">
            <a:avLst/>
          </a:prstGeom>
          <a:noFill/>
        </p:spPr>
        <p:txBody>
          <a:bodyPr vert="horz" lIns="83872" tIns="41936" rIns="83872" bIns="41936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% cat </a:t>
            </a:r>
            <a:r>
              <a:rPr lang="en-US" altLang="zh-TW" sz="2385" dirty="0" err="1" smtClean="0">
                <a:solidFill>
                  <a:prstClr val="white"/>
                </a:solidFill>
                <a:latin typeface="Lucida Sans Typewriter" panose="020B0509030504030204" pitchFamily="49" charset="0"/>
              </a:rPr>
              <a:t>prog.c</a:t>
            </a:r>
            <a:endParaRPr lang="en-US" altLang="zh-TW" sz="2385" dirty="0">
              <a:solidFill>
                <a:prstClr val="white"/>
              </a:solidFill>
              <a:latin typeface="Lucida Sans Typewriter" panose="020B0509030504030204" pitchFamily="49" charset="0"/>
            </a:endParaRP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#include "</a:t>
            </a:r>
            <a:r>
              <a:rPr lang="en-US" altLang="zh-TW" sz="2385" dirty="0" err="1">
                <a:solidFill>
                  <a:prstClr val="white"/>
                </a:solidFill>
                <a:latin typeface="Lucida Sans Typewriter" panose="020B0509030504030204" pitchFamily="49" charset="0"/>
              </a:rPr>
              <a:t>stuff.h</a:t>
            </a: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"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 err="1">
                <a:solidFill>
                  <a:prstClr val="white"/>
                </a:solidFill>
                <a:latin typeface="Lucida Sans Typewriter" panose="020B0509030504030204" pitchFamily="49" charset="0"/>
              </a:rPr>
              <a:t>int</a:t>
            </a: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 main() {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   A=(</a:t>
            </a:r>
            <a:r>
              <a:rPr lang="en-US" altLang="zh-TW" sz="2385" dirty="0" err="1">
                <a:solidFill>
                  <a:prstClr val="white"/>
                </a:solidFill>
                <a:latin typeface="Lucida Sans Typewriter" panose="020B0509030504030204" pitchFamily="49" charset="0"/>
              </a:rPr>
              <a:t>coord</a:t>
            </a: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*)</a:t>
            </a:r>
            <a:r>
              <a:rPr lang="en-US" altLang="zh-TW" sz="2385" dirty="0" err="1">
                <a:solidFill>
                  <a:prstClr val="white"/>
                </a:solidFill>
                <a:latin typeface="Lucida Sans Typewriter" panose="020B0509030504030204" pitchFamily="49" charset="0"/>
              </a:rPr>
              <a:t>malloc</a:t>
            </a: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     </a:t>
            </a:r>
            <a:b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</a:b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     (</a:t>
            </a:r>
            <a:r>
              <a:rPr lang="en-US" altLang="zh-TW" sz="2385" dirty="0" err="1">
                <a:solidFill>
                  <a:prstClr val="white"/>
                </a:solidFill>
                <a:latin typeface="Lucida Sans Typewriter" panose="020B0509030504030204" pitchFamily="49" charset="0"/>
              </a:rPr>
              <a:t>sizeof</a:t>
            </a: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(</a:t>
            </a:r>
            <a:r>
              <a:rPr lang="en-US" altLang="zh-TW" sz="2385" dirty="0" err="1">
                <a:solidFill>
                  <a:prstClr val="white"/>
                </a:solidFill>
                <a:latin typeface="Lucida Sans Typewriter" panose="020B0509030504030204" pitchFamily="49" charset="0"/>
              </a:rPr>
              <a:t>coord</a:t>
            </a: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));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   </a:t>
            </a:r>
            <a:r>
              <a:rPr lang="en-US" altLang="zh-TW" sz="2385" dirty="0">
                <a:solidFill>
                  <a:srgbClr val="FFFF00"/>
                </a:solidFill>
                <a:latin typeface="Lucida Sans Typewriter" panose="020B0509030504030204" pitchFamily="49" charset="0"/>
              </a:rPr>
              <a:t>A-&gt;x=1;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>
                <a:solidFill>
                  <a:srgbClr val="FFFF00"/>
                </a:solidFill>
                <a:latin typeface="Lucida Sans Typewriter" panose="020B0509030504030204" pitchFamily="49" charset="0"/>
              </a:rPr>
              <a:t>   B=A; C=B;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endParaRPr lang="en-US" altLang="zh-TW" sz="2385" dirty="0">
              <a:solidFill>
                <a:srgbClr val="FFFF00"/>
              </a:solidFill>
              <a:latin typeface="Lucida Sans Typewriter" panose="020B0509030504030204" pitchFamily="49" charset="0"/>
            </a:endParaRP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>
                <a:solidFill>
                  <a:srgbClr val="FFFF00"/>
                </a:solidFill>
                <a:latin typeface="Lucida Sans Typewriter" panose="020B0509030504030204" pitchFamily="49" charset="0"/>
              </a:rPr>
              <a:t>  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" y="0"/>
            <a:ext cx="9729788" cy="958410"/>
          </a:xfrm>
        </p:spPr>
        <p:txBody>
          <a:bodyPr>
            <a:normAutofit/>
          </a:bodyPr>
          <a:lstStyle/>
          <a:p>
            <a:r>
              <a:rPr lang="en-US" altLang="zh-TW" sz="4200" dirty="0">
                <a:solidFill>
                  <a:srgbClr val="0070C0"/>
                </a:solidFill>
              </a:rPr>
              <a:t>In C, you manage your own garbage</a:t>
            </a:r>
            <a:endParaRPr lang="zh-TW" altLang="en-US" sz="4200" dirty="0">
              <a:solidFill>
                <a:srgbClr val="0070C0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53126" y="1988582"/>
            <a:ext cx="2807905" cy="74755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dirty="0">
                <a:solidFill>
                  <a:prstClr val="white"/>
                </a:solidFill>
              </a:rPr>
              <a:t>x=</a:t>
            </a:r>
            <a:r>
              <a:rPr lang="en-US" altLang="zh-TW" sz="2800" b="1" spc="-30" dirty="0">
                <a:solidFill>
                  <a:srgbClr val="FFFF00"/>
                </a:solidFill>
              </a:rPr>
              <a:t>1</a:t>
            </a:r>
            <a:r>
              <a:rPr lang="en-US" altLang="zh-TW" sz="2800" dirty="0">
                <a:solidFill>
                  <a:prstClr val="white"/>
                </a:solidFill>
              </a:rPr>
              <a:t>, y=?, </a:t>
            </a:r>
            <a:r>
              <a:rPr lang="en-US" altLang="zh-TW" sz="500" dirty="0" smtClean="0">
                <a:solidFill>
                  <a:prstClr val="white"/>
                </a:solidFill>
              </a:rPr>
              <a:t> </a:t>
            </a:r>
            <a:r>
              <a:rPr lang="en-US" altLang="zh-TW" sz="2800" dirty="0" smtClean="0">
                <a:solidFill>
                  <a:prstClr val="white"/>
                </a:solidFill>
              </a:rPr>
              <a:t>z</a:t>
            </a:r>
            <a:r>
              <a:rPr lang="en-US" altLang="zh-TW" sz="2800" dirty="0">
                <a:solidFill>
                  <a:prstClr val="white"/>
                </a:solidFill>
              </a:rPr>
              <a:t>=?</a:t>
            </a:r>
            <a:endParaRPr lang="zh-TW" altLang="en-US" sz="2800" dirty="0">
              <a:solidFill>
                <a:prstClr val="white"/>
              </a:solidFill>
            </a:endParaRPr>
          </a:p>
        </p:txBody>
      </p:sp>
      <p:cxnSp>
        <p:nvCxnSpPr>
          <p:cNvPr id="20" name="Straight Arrow Connector 19"/>
          <p:cNvCxnSpPr/>
          <p:nvPr/>
        </p:nvCxnSpPr>
        <p:spPr>
          <a:xfrm flipV="1">
            <a:off x="726060" y="2736141"/>
            <a:ext cx="1331019" cy="2944652"/>
          </a:xfrm>
          <a:prstGeom prst="straightConnector1">
            <a:avLst/>
          </a:prstGeom>
          <a:ln w="50800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10" idx="0"/>
          </p:cNvCxnSpPr>
          <p:nvPr/>
        </p:nvCxnSpPr>
        <p:spPr>
          <a:xfrm flipV="1">
            <a:off x="2148245" y="2736141"/>
            <a:ext cx="72933" cy="2944652"/>
          </a:xfrm>
          <a:prstGeom prst="straightConnector1">
            <a:avLst/>
          </a:prstGeom>
          <a:ln w="50800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14" idx="0"/>
          </p:cNvCxnSpPr>
          <p:nvPr/>
        </p:nvCxnSpPr>
        <p:spPr>
          <a:xfrm flipH="1" flipV="1">
            <a:off x="2430859" y="2736141"/>
            <a:ext cx="1358364" cy="2944652"/>
          </a:xfrm>
          <a:prstGeom prst="straightConnector1">
            <a:avLst/>
          </a:prstGeom>
          <a:ln w="50800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" name="Group 10"/>
          <p:cNvGrpSpPr/>
          <p:nvPr/>
        </p:nvGrpSpPr>
        <p:grpSpPr>
          <a:xfrm>
            <a:off x="270230" y="5680794"/>
            <a:ext cx="932931" cy="787068"/>
            <a:chOff x="377687" y="5883965"/>
            <a:chExt cx="1017106" cy="858083"/>
          </a:xfrm>
        </p:grpSpPr>
        <p:sp>
          <p:nvSpPr>
            <p:cNvPr id="39" name="Rectangle 11"/>
            <p:cNvSpPr/>
            <p:nvPr/>
          </p:nvSpPr>
          <p:spPr>
            <a:xfrm>
              <a:off x="377687" y="5883965"/>
              <a:ext cx="993913" cy="46713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80000"/>
                </a:lnSpc>
              </a:pPr>
              <a:r>
                <a:rPr lang="en-US" altLang="zh-TW" sz="1651" dirty="0">
                  <a:solidFill>
                    <a:prstClr val="white"/>
                  </a:solidFill>
                </a:rPr>
                <a:t>t</a:t>
              </a:r>
              <a:r>
                <a:rPr lang="en-US" altLang="zh-TW" sz="1651" dirty="0" smtClean="0">
                  <a:solidFill>
                    <a:prstClr val="white"/>
                  </a:solidFill>
                </a:rPr>
                <a:t>hat</a:t>
              </a:r>
              <a:br>
                <a:rPr lang="en-US" altLang="zh-TW" sz="1651" dirty="0" smtClean="0">
                  <a:solidFill>
                    <a:prstClr val="white"/>
                  </a:solidFill>
                </a:rPr>
              </a:br>
              <a:r>
                <a:rPr lang="en-US" altLang="zh-TW" sz="1651" dirty="0" smtClean="0">
                  <a:solidFill>
                    <a:prstClr val="white"/>
                  </a:solidFill>
                </a:rPr>
                <a:t>memory</a:t>
              </a:r>
              <a:endParaRPr lang="zh-TW" altLang="en-US" sz="1651" dirty="0">
                <a:solidFill>
                  <a:prstClr val="white"/>
                </a:solidFill>
              </a:endParaRPr>
            </a:p>
          </p:txBody>
        </p:sp>
        <p:sp>
          <p:nvSpPr>
            <p:cNvPr id="40" name="Rectangle 12"/>
            <p:cNvSpPr/>
            <p:nvPr/>
          </p:nvSpPr>
          <p:spPr>
            <a:xfrm>
              <a:off x="400880" y="6274909"/>
              <a:ext cx="993913" cy="46713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651" dirty="0">
                  <a:solidFill>
                    <a:prstClr val="black"/>
                  </a:solidFill>
                </a:rPr>
                <a:t>*A</a:t>
              </a:r>
              <a:endParaRPr lang="zh-TW" altLang="en-US" sz="1651" dirty="0">
                <a:solidFill>
                  <a:prstClr val="black"/>
                </a:solidFill>
              </a:endParaRP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1692415" y="5680794"/>
            <a:ext cx="932931" cy="787068"/>
            <a:chOff x="377687" y="5883965"/>
            <a:chExt cx="1017106" cy="858083"/>
          </a:xfrm>
        </p:grpSpPr>
        <p:sp>
          <p:nvSpPr>
            <p:cNvPr id="23" name="Rectangle 22"/>
            <p:cNvSpPr/>
            <p:nvPr/>
          </p:nvSpPr>
          <p:spPr>
            <a:xfrm>
              <a:off x="377687" y="5883965"/>
              <a:ext cx="993913" cy="46713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651" dirty="0" err="1">
                  <a:solidFill>
                    <a:prstClr val="white"/>
                  </a:solidFill>
                </a:rPr>
                <a:t>undef</a:t>
              </a:r>
              <a:endParaRPr lang="zh-TW" altLang="en-US" sz="1651" dirty="0">
                <a:solidFill>
                  <a:prstClr val="white"/>
                </a:solidFill>
              </a:endParaRP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400880" y="6274909"/>
              <a:ext cx="993913" cy="46713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651" dirty="0">
                  <a:solidFill>
                    <a:prstClr val="black"/>
                  </a:solidFill>
                </a:rPr>
                <a:t>*B</a:t>
              </a:r>
              <a:endParaRPr lang="zh-TW" altLang="en-US" sz="1651" dirty="0">
                <a:solidFill>
                  <a:prstClr val="black"/>
                </a:solidFill>
              </a:endParaRPr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3333393" y="5680794"/>
            <a:ext cx="932931" cy="787068"/>
            <a:chOff x="377687" y="5883965"/>
            <a:chExt cx="1017106" cy="858083"/>
          </a:xfrm>
        </p:grpSpPr>
        <p:sp>
          <p:nvSpPr>
            <p:cNvPr id="26" name="Rectangle 25"/>
            <p:cNvSpPr/>
            <p:nvPr/>
          </p:nvSpPr>
          <p:spPr>
            <a:xfrm>
              <a:off x="377687" y="5883965"/>
              <a:ext cx="993913" cy="46713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651" dirty="0" err="1">
                  <a:solidFill>
                    <a:prstClr val="white"/>
                  </a:solidFill>
                </a:rPr>
                <a:t>undef</a:t>
              </a:r>
              <a:endParaRPr lang="zh-TW" altLang="en-US" sz="1651" dirty="0">
                <a:solidFill>
                  <a:prstClr val="white"/>
                </a:solidFill>
              </a:endParaRP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400880" y="6274909"/>
              <a:ext cx="993913" cy="46713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651" dirty="0">
                  <a:solidFill>
                    <a:prstClr val="black"/>
                  </a:solidFill>
                </a:rPr>
                <a:t>*C</a:t>
              </a:r>
              <a:endParaRPr lang="zh-TW" altLang="en-US" sz="1651" dirty="0">
                <a:solidFill>
                  <a:prstClr val="black"/>
                </a:solidFill>
              </a:endParaRPr>
            </a:p>
          </p:txBody>
        </p:sp>
      </p:grpSp>
      <p:grpSp>
        <p:nvGrpSpPr>
          <p:cNvPr id="28" name="Group 4"/>
          <p:cNvGrpSpPr/>
          <p:nvPr/>
        </p:nvGrpSpPr>
        <p:grpSpPr>
          <a:xfrm>
            <a:off x="1692415" y="5680794"/>
            <a:ext cx="932931" cy="787068"/>
            <a:chOff x="377687" y="5883965"/>
            <a:chExt cx="1017106" cy="858083"/>
          </a:xfrm>
        </p:grpSpPr>
        <p:sp>
          <p:nvSpPr>
            <p:cNvPr id="29" name="Rectangle 5"/>
            <p:cNvSpPr/>
            <p:nvPr/>
          </p:nvSpPr>
          <p:spPr>
            <a:xfrm>
              <a:off x="377687" y="5883965"/>
              <a:ext cx="993913" cy="46713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80000"/>
                </a:lnSpc>
              </a:pPr>
              <a:r>
                <a:rPr lang="en-US" altLang="zh-TW" sz="1651" dirty="0" smtClean="0">
                  <a:solidFill>
                    <a:prstClr val="white"/>
                  </a:solidFill>
                </a:rPr>
                <a:t>that memory</a:t>
              </a:r>
              <a:endParaRPr lang="zh-TW" altLang="en-US" sz="1651" dirty="0">
                <a:solidFill>
                  <a:prstClr val="white"/>
                </a:solidFill>
              </a:endParaRPr>
            </a:p>
          </p:txBody>
        </p:sp>
        <p:sp>
          <p:nvSpPr>
            <p:cNvPr id="30" name="Rectangle 6"/>
            <p:cNvSpPr/>
            <p:nvPr/>
          </p:nvSpPr>
          <p:spPr>
            <a:xfrm>
              <a:off x="400880" y="6274909"/>
              <a:ext cx="993913" cy="46713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651" dirty="0">
                  <a:solidFill>
                    <a:prstClr val="black"/>
                  </a:solidFill>
                </a:rPr>
                <a:t>*B</a:t>
              </a:r>
              <a:endParaRPr lang="zh-TW" altLang="en-US" sz="1651" dirty="0">
                <a:solidFill>
                  <a:prstClr val="black"/>
                </a:solidFill>
              </a:endParaRPr>
            </a:p>
          </p:txBody>
        </p:sp>
      </p:grpSp>
      <p:grpSp>
        <p:nvGrpSpPr>
          <p:cNvPr id="31" name="Group 7"/>
          <p:cNvGrpSpPr/>
          <p:nvPr/>
        </p:nvGrpSpPr>
        <p:grpSpPr>
          <a:xfrm>
            <a:off x="3333393" y="5680794"/>
            <a:ext cx="932931" cy="787068"/>
            <a:chOff x="377687" y="5883965"/>
            <a:chExt cx="1017106" cy="858083"/>
          </a:xfrm>
        </p:grpSpPr>
        <p:sp>
          <p:nvSpPr>
            <p:cNvPr id="41" name="Rectangle 8"/>
            <p:cNvSpPr/>
            <p:nvPr/>
          </p:nvSpPr>
          <p:spPr>
            <a:xfrm>
              <a:off x="377687" y="5883965"/>
              <a:ext cx="993913" cy="46713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80000"/>
                </a:lnSpc>
              </a:pPr>
              <a:r>
                <a:rPr lang="en-US" altLang="zh-TW" sz="1651" dirty="0">
                  <a:solidFill>
                    <a:prstClr val="white"/>
                  </a:solidFill>
                </a:rPr>
                <a:t>t</a:t>
              </a:r>
              <a:r>
                <a:rPr lang="en-US" altLang="zh-TW" sz="1651" dirty="0" smtClean="0">
                  <a:solidFill>
                    <a:prstClr val="white"/>
                  </a:solidFill>
                </a:rPr>
                <a:t>hat</a:t>
              </a:r>
              <a:br>
                <a:rPr lang="en-US" altLang="zh-TW" sz="1651" dirty="0" smtClean="0">
                  <a:solidFill>
                    <a:prstClr val="white"/>
                  </a:solidFill>
                </a:rPr>
              </a:br>
              <a:r>
                <a:rPr lang="en-US" altLang="zh-TW" sz="1651" dirty="0" smtClean="0">
                  <a:solidFill>
                    <a:prstClr val="white"/>
                  </a:solidFill>
                </a:rPr>
                <a:t>memory</a:t>
              </a:r>
              <a:endParaRPr lang="zh-TW" altLang="en-US" sz="1651" dirty="0">
                <a:solidFill>
                  <a:prstClr val="white"/>
                </a:solidFill>
              </a:endParaRPr>
            </a:p>
          </p:txBody>
        </p:sp>
        <p:sp>
          <p:nvSpPr>
            <p:cNvPr id="42" name="Rectangle 9"/>
            <p:cNvSpPr/>
            <p:nvPr/>
          </p:nvSpPr>
          <p:spPr>
            <a:xfrm>
              <a:off x="400880" y="6274909"/>
              <a:ext cx="993913" cy="46713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651" dirty="0">
                  <a:solidFill>
                    <a:prstClr val="black"/>
                  </a:solidFill>
                </a:rPr>
                <a:t>*C</a:t>
              </a:r>
              <a:endParaRPr lang="zh-TW" altLang="en-US" sz="1651" dirty="0"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9183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 txBox="1">
            <a:spLocks/>
          </p:cNvSpPr>
          <p:nvPr/>
        </p:nvSpPr>
        <p:spPr>
          <a:xfrm>
            <a:off x="4953591" y="958409"/>
            <a:ext cx="4699997" cy="5615808"/>
          </a:xfrm>
          <a:prstGeom prst="rect">
            <a:avLst/>
          </a:prstGeom>
          <a:solidFill>
            <a:schemeClr val="tx1"/>
          </a:solidFill>
        </p:spPr>
        <p:txBody>
          <a:bodyPr vert="horz" lIns="83872" tIns="41936" rIns="83872" bIns="41936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</a:rPr>
              <a:t>% cat </a:t>
            </a:r>
            <a:r>
              <a:rPr lang="en-US" altLang="zh-TW" sz="2385" dirty="0" err="1" smtClean="0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</a:rPr>
              <a:t>prog.c</a:t>
            </a:r>
            <a:endParaRPr lang="en-US" altLang="zh-TW" sz="2385" dirty="0">
              <a:solidFill>
                <a:prstClr val="white">
                  <a:lumMod val="65000"/>
                </a:prstClr>
              </a:solidFill>
              <a:latin typeface="Lucida Sans Typewriter" panose="020B0509030504030204" pitchFamily="49" charset="0"/>
            </a:endParaRP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</a:rPr>
              <a:t>#include "</a:t>
            </a:r>
            <a:r>
              <a:rPr lang="en-US" altLang="zh-TW" sz="2385" dirty="0" err="1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</a:rPr>
              <a:t>stuff.h</a:t>
            </a:r>
            <a:r>
              <a:rPr lang="en-US" altLang="zh-TW" sz="2385" dirty="0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</a:rPr>
              <a:t>"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 err="1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</a:rPr>
              <a:t>int</a:t>
            </a:r>
            <a:r>
              <a:rPr lang="en-US" altLang="zh-TW" sz="2385" dirty="0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</a:rPr>
              <a:t> main() {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</a:rPr>
              <a:t>   A=(</a:t>
            </a:r>
            <a:r>
              <a:rPr lang="en-US" altLang="zh-TW" sz="2385" dirty="0" err="1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</a:rPr>
              <a:t>coord</a:t>
            </a:r>
            <a:r>
              <a:rPr lang="en-US" altLang="zh-TW" sz="2385" dirty="0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</a:rPr>
              <a:t>*)</a:t>
            </a:r>
            <a:r>
              <a:rPr lang="en-US" altLang="zh-TW" sz="2385" dirty="0" err="1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</a:rPr>
              <a:t>malloc</a:t>
            </a:r>
            <a:r>
              <a:rPr lang="en-US" altLang="zh-TW" sz="2385" dirty="0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</a:rPr>
              <a:t>     </a:t>
            </a:r>
            <a:br>
              <a:rPr lang="en-US" altLang="zh-TW" sz="2385" dirty="0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</a:rPr>
            </a:br>
            <a:r>
              <a:rPr lang="en-US" altLang="zh-TW" sz="2385" dirty="0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</a:rPr>
              <a:t>     (</a:t>
            </a:r>
            <a:r>
              <a:rPr lang="en-US" altLang="zh-TW" sz="2385" dirty="0" err="1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</a:rPr>
              <a:t>sizeof</a:t>
            </a:r>
            <a:r>
              <a:rPr lang="en-US" altLang="zh-TW" sz="2385" dirty="0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</a:rPr>
              <a:t>(</a:t>
            </a:r>
            <a:r>
              <a:rPr lang="en-US" altLang="zh-TW" sz="2385" dirty="0" err="1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</a:rPr>
              <a:t>coord</a:t>
            </a:r>
            <a:r>
              <a:rPr lang="en-US" altLang="zh-TW" sz="2385" dirty="0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</a:rPr>
              <a:t>));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</a:rPr>
              <a:t>   A-&gt;x=1;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</a:rPr>
              <a:t>   B=A; C=B;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</a:rPr>
              <a:t>   A-&gt;y=2; C-&gt;z=3;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</a:rPr>
              <a:t>   A=NULL; </a:t>
            </a:r>
            <a:r>
              <a:rPr lang="en-US" altLang="zh-TW" sz="2385" dirty="0" smtClean="0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</a:rPr>
              <a:t>B=NULL;</a:t>
            </a:r>
            <a:endParaRPr lang="en-US" altLang="zh-TW" sz="2385" dirty="0">
              <a:solidFill>
                <a:prstClr val="white">
                  <a:lumMod val="65000"/>
                </a:prstClr>
              </a:solidFill>
              <a:latin typeface="Lucida Sans Typewriter" panose="020B0509030504030204" pitchFamily="49" charset="0"/>
            </a:endParaRP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</a:rPr>
              <a:t>   print(C);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</a:rPr>
              <a:t>   C=NULL;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</a:rPr>
              <a:t>   print(C);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</a:rPr>
              <a:t>}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</a:rPr>
              <a:t>% ./</a:t>
            </a:r>
            <a:r>
              <a:rPr lang="en-US" altLang="zh-TW" sz="2385" dirty="0" err="1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</a:rPr>
              <a:t>prog.x</a:t>
            </a:r>
            <a:endParaRPr lang="en-US" altLang="zh-TW" sz="2385" dirty="0">
              <a:solidFill>
                <a:prstClr val="white">
                  <a:lumMod val="65000"/>
                </a:prstClr>
              </a:solidFill>
              <a:latin typeface="Lucida Sans Typewriter" panose="020B0509030504030204" pitchFamily="49" charset="0"/>
            </a:endParaRP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</a:rPr>
              <a:t>(1,2,3)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 err="1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</a:rPr>
              <a:t>Error:Segmentation</a:t>
            </a:r>
            <a:r>
              <a:rPr lang="en-US" altLang="zh-TW" sz="2385" dirty="0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</a:rPr>
              <a:t> Fault</a:t>
            </a: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4953591" y="958409"/>
            <a:ext cx="4699997" cy="5615808"/>
          </a:xfrm>
          <a:prstGeom prst="rect">
            <a:avLst/>
          </a:prstGeom>
          <a:noFill/>
        </p:spPr>
        <p:txBody>
          <a:bodyPr vert="horz" lIns="83872" tIns="41936" rIns="83872" bIns="41936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% cat </a:t>
            </a:r>
            <a:r>
              <a:rPr lang="en-US" altLang="zh-TW" sz="2385" dirty="0" err="1" smtClean="0">
                <a:solidFill>
                  <a:prstClr val="white"/>
                </a:solidFill>
                <a:latin typeface="Lucida Sans Typewriter" panose="020B0509030504030204" pitchFamily="49" charset="0"/>
              </a:rPr>
              <a:t>prog.c</a:t>
            </a:r>
            <a:endParaRPr lang="en-US" altLang="zh-TW" sz="2385" dirty="0">
              <a:solidFill>
                <a:prstClr val="white"/>
              </a:solidFill>
              <a:latin typeface="Lucida Sans Typewriter" panose="020B0509030504030204" pitchFamily="49" charset="0"/>
            </a:endParaRP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#include "</a:t>
            </a:r>
            <a:r>
              <a:rPr lang="en-US" altLang="zh-TW" sz="2385" dirty="0" err="1">
                <a:solidFill>
                  <a:prstClr val="white"/>
                </a:solidFill>
                <a:latin typeface="Lucida Sans Typewriter" panose="020B0509030504030204" pitchFamily="49" charset="0"/>
              </a:rPr>
              <a:t>stuff.h</a:t>
            </a: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"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 err="1">
                <a:solidFill>
                  <a:prstClr val="white"/>
                </a:solidFill>
                <a:latin typeface="Lucida Sans Typewriter" panose="020B0509030504030204" pitchFamily="49" charset="0"/>
              </a:rPr>
              <a:t>int</a:t>
            </a: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 main() {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   A=(</a:t>
            </a:r>
            <a:r>
              <a:rPr lang="en-US" altLang="zh-TW" sz="2385" dirty="0" err="1">
                <a:solidFill>
                  <a:prstClr val="white"/>
                </a:solidFill>
                <a:latin typeface="Lucida Sans Typewriter" panose="020B0509030504030204" pitchFamily="49" charset="0"/>
              </a:rPr>
              <a:t>coord</a:t>
            </a: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*)</a:t>
            </a:r>
            <a:r>
              <a:rPr lang="en-US" altLang="zh-TW" sz="2385" dirty="0" err="1">
                <a:solidFill>
                  <a:prstClr val="white"/>
                </a:solidFill>
                <a:latin typeface="Lucida Sans Typewriter" panose="020B0509030504030204" pitchFamily="49" charset="0"/>
              </a:rPr>
              <a:t>malloc</a:t>
            </a: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     </a:t>
            </a:r>
            <a:b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</a:b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     (</a:t>
            </a:r>
            <a:r>
              <a:rPr lang="en-US" altLang="zh-TW" sz="2385" dirty="0" err="1">
                <a:solidFill>
                  <a:prstClr val="white"/>
                </a:solidFill>
                <a:latin typeface="Lucida Sans Typewriter" panose="020B0509030504030204" pitchFamily="49" charset="0"/>
              </a:rPr>
              <a:t>sizeof</a:t>
            </a: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(</a:t>
            </a:r>
            <a:r>
              <a:rPr lang="en-US" altLang="zh-TW" sz="2385" dirty="0" err="1">
                <a:solidFill>
                  <a:prstClr val="white"/>
                </a:solidFill>
                <a:latin typeface="Lucida Sans Typewriter" panose="020B0509030504030204" pitchFamily="49" charset="0"/>
              </a:rPr>
              <a:t>coord</a:t>
            </a: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));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endParaRPr lang="en-US" altLang="zh-TW" sz="2385" dirty="0">
              <a:solidFill>
                <a:srgbClr val="FFFF00"/>
              </a:solidFill>
              <a:latin typeface="Lucida Sans Typewriter" panose="020B0509030504030204" pitchFamily="49" charset="0"/>
            </a:endParaRP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endParaRPr lang="en-US" altLang="zh-TW" sz="2385" dirty="0">
              <a:solidFill>
                <a:srgbClr val="FFFF00"/>
              </a:solidFill>
              <a:latin typeface="Lucida Sans Typewriter" panose="020B0509030504030204" pitchFamily="49" charset="0"/>
            </a:endParaRP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>
                <a:solidFill>
                  <a:srgbClr val="FFFF00"/>
                </a:solidFill>
                <a:latin typeface="Lucida Sans Typewriter" panose="020B0509030504030204" pitchFamily="49" charset="0"/>
              </a:rPr>
              <a:t>   A-&gt;y=2; C-&gt;z=3;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>
                <a:solidFill>
                  <a:srgbClr val="FFFF00"/>
                </a:solidFill>
                <a:latin typeface="Lucida Sans Typewriter" panose="020B0509030504030204" pitchFamily="49" charset="0"/>
              </a:rPr>
              <a:t>  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" y="0"/>
            <a:ext cx="9729788" cy="958410"/>
          </a:xfrm>
        </p:spPr>
        <p:txBody>
          <a:bodyPr>
            <a:normAutofit/>
          </a:bodyPr>
          <a:lstStyle/>
          <a:p>
            <a:r>
              <a:rPr lang="en-US" altLang="zh-TW" sz="4200" dirty="0">
                <a:solidFill>
                  <a:srgbClr val="0070C0"/>
                </a:solidFill>
              </a:rPr>
              <a:t>In C, you manage your own garbage</a:t>
            </a:r>
            <a:endParaRPr lang="zh-TW" altLang="en-US" sz="4200" dirty="0">
              <a:solidFill>
                <a:srgbClr val="0070C0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53126" y="1988582"/>
            <a:ext cx="2807905" cy="74755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dirty="0">
                <a:solidFill>
                  <a:prstClr val="white"/>
                </a:solidFill>
              </a:rPr>
              <a:t>x=</a:t>
            </a:r>
            <a:r>
              <a:rPr lang="en-US" altLang="zh-TW" sz="2800" b="1" spc="-30" dirty="0">
                <a:solidFill>
                  <a:srgbClr val="FFFF00"/>
                </a:solidFill>
              </a:rPr>
              <a:t>1</a:t>
            </a:r>
            <a:r>
              <a:rPr lang="en-US" altLang="zh-TW" sz="2800" dirty="0">
                <a:solidFill>
                  <a:prstClr val="white"/>
                </a:solidFill>
              </a:rPr>
              <a:t>, y=?, </a:t>
            </a:r>
            <a:r>
              <a:rPr lang="en-US" altLang="zh-TW" sz="500" dirty="0" smtClean="0">
                <a:solidFill>
                  <a:prstClr val="white"/>
                </a:solidFill>
              </a:rPr>
              <a:t> </a:t>
            </a:r>
            <a:r>
              <a:rPr lang="en-US" altLang="zh-TW" sz="2800" dirty="0" smtClean="0">
                <a:solidFill>
                  <a:prstClr val="white"/>
                </a:solidFill>
              </a:rPr>
              <a:t>z</a:t>
            </a:r>
            <a:r>
              <a:rPr lang="en-US" altLang="zh-TW" sz="2800" dirty="0">
                <a:solidFill>
                  <a:prstClr val="white"/>
                </a:solidFill>
              </a:rPr>
              <a:t>=?</a:t>
            </a:r>
            <a:endParaRPr lang="zh-TW" altLang="en-US" sz="2800" dirty="0">
              <a:solidFill>
                <a:prstClr val="white"/>
              </a:solidFill>
            </a:endParaRPr>
          </a:p>
        </p:txBody>
      </p:sp>
      <p:cxnSp>
        <p:nvCxnSpPr>
          <p:cNvPr id="20" name="Straight Arrow Connector 19"/>
          <p:cNvCxnSpPr/>
          <p:nvPr/>
        </p:nvCxnSpPr>
        <p:spPr>
          <a:xfrm flipV="1">
            <a:off x="726060" y="2736141"/>
            <a:ext cx="1331019" cy="2944652"/>
          </a:xfrm>
          <a:prstGeom prst="straightConnector1">
            <a:avLst/>
          </a:prstGeom>
          <a:ln w="50800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 flipV="1">
            <a:off x="2148245" y="2736141"/>
            <a:ext cx="72933" cy="2944652"/>
          </a:xfrm>
          <a:prstGeom prst="straightConnector1">
            <a:avLst/>
          </a:prstGeom>
          <a:ln w="50800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 flipH="1" flipV="1">
            <a:off x="2430859" y="2736141"/>
            <a:ext cx="1358364" cy="2944652"/>
          </a:xfrm>
          <a:prstGeom prst="straightConnector1">
            <a:avLst/>
          </a:prstGeom>
          <a:ln w="50800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" name="Group 4"/>
          <p:cNvGrpSpPr/>
          <p:nvPr/>
        </p:nvGrpSpPr>
        <p:grpSpPr>
          <a:xfrm>
            <a:off x="1692415" y="5680794"/>
            <a:ext cx="932931" cy="787068"/>
            <a:chOff x="377687" y="5883965"/>
            <a:chExt cx="1017106" cy="858083"/>
          </a:xfrm>
        </p:grpSpPr>
        <p:sp>
          <p:nvSpPr>
            <p:cNvPr id="33" name="Rectangle 5"/>
            <p:cNvSpPr/>
            <p:nvPr/>
          </p:nvSpPr>
          <p:spPr>
            <a:xfrm>
              <a:off x="377687" y="5883965"/>
              <a:ext cx="993913" cy="46713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80000"/>
                </a:lnSpc>
              </a:pPr>
              <a:r>
                <a:rPr lang="en-US" altLang="zh-TW" sz="1651" dirty="0" smtClean="0">
                  <a:solidFill>
                    <a:prstClr val="white"/>
                  </a:solidFill>
                </a:rPr>
                <a:t>that memory</a:t>
              </a:r>
              <a:endParaRPr lang="zh-TW" altLang="en-US" sz="1651" dirty="0">
                <a:solidFill>
                  <a:prstClr val="white"/>
                </a:solidFill>
              </a:endParaRPr>
            </a:p>
          </p:txBody>
        </p:sp>
        <p:sp>
          <p:nvSpPr>
            <p:cNvPr id="34" name="Rectangle 6"/>
            <p:cNvSpPr/>
            <p:nvPr/>
          </p:nvSpPr>
          <p:spPr>
            <a:xfrm>
              <a:off x="400880" y="6274909"/>
              <a:ext cx="993913" cy="46713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651" dirty="0">
                  <a:solidFill>
                    <a:prstClr val="black"/>
                  </a:solidFill>
                </a:rPr>
                <a:t>*B</a:t>
              </a:r>
              <a:endParaRPr lang="zh-TW" altLang="en-US" sz="1651" dirty="0">
                <a:solidFill>
                  <a:prstClr val="black"/>
                </a:solidFill>
              </a:endParaRPr>
            </a:p>
          </p:txBody>
        </p:sp>
      </p:grpSp>
      <p:grpSp>
        <p:nvGrpSpPr>
          <p:cNvPr id="35" name="Group 7"/>
          <p:cNvGrpSpPr/>
          <p:nvPr/>
        </p:nvGrpSpPr>
        <p:grpSpPr>
          <a:xfrm>
            <a:off x="3333393" y="5680794"/>
            <a:ext cx="932931" cy="787068"/>
            <a:chOff x="377687" y="5883965"/>
            <a:chExt cx="1017106" cy="858083"/>
          </a:xfrm>
        </p:grpSpPr>
        <p:sp>
          <p:nvSpPr>
            <p:cNvPr id="36" name="Rectangle 8"/>
            <p:cNvSpPr/>
            <p:nvPr/>
          </p:nvSpPr>
          <p:spPr>
            <a:xfrm>
              <a:off x="377687" y="5883965"/>
              <a:ext cx="993913" cy="46713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80000"/>
                </a:lnSpc>
              </a:pPr>
              <a:r>
                <a:rPr lang="en-US" altLang="zh-TW" sz="1651" dirty="0">
                  <a:solidFill>
                    <a:prstClr val="white"/>
                  </a:solidFill>
                </a:rPr>
                <a:t>t</a:t>
              </a:r>
              <a:r>
                <a:rPr lang="en-US" altLang="zh-TW" sz="1651" dirty="0" smtClean="0">
                  <a:solidFill>
                    <a:prstClr val="white"/>
                  </a:solidFill>
                </a:rPr>
                <a:t>hat</a:t>
              </a:r>
              <a:br>
                <a:rPr lang="en-US" altLang="zh-TW" sz="1651" dirty="0" smtClean="0">
                  <a:solidFill>
                    <a:prstClr val="white"/>
                  </a:solidFill>
                </a:rPr>
              </a:br>
              <a:r>
                <a:rPr lang="en-US" altLang="zh-TW" sz="1651" dirty="0" smtClean="0">
                  <a:solidFill>
                    <a:prstClr val="white"/>
                  </a:solidFill>
                </a:rPr>
                <a:t>memory</a:t>
              </a:r>
              <a:endParaRPr lang="zh-TW" altLang="en-US" sz="1651" dirty="0">
                <a:solidFill>
                  <a:prstClr val="white"/>
                </a:solidFill>
              </a:endParaRPr>
            </a:p>
          </p:txBody>
        </p:sp>
        <p:sp>
          <p:nvSpPr>
            <p:cNvPr id="37" name="Rectangle 9"/>
            <p:cNvSpPr/>
            <p:nvPr/>
          </p:nvSpPr>
          <p:spPr>
            <a:xfrm>
              <a:off x="400880" y="6274909"/>
              <a:ext cx="993913" cy="46713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651" dirty="0">
                  <a:solidFill>
                    <a:prstClr val="black"/>
                  </a:solidFill>
                </a:rPr>
                <a:t>*C</a:t>
              </a:r>
              <a:endParaRPr lang="zh-TW" altLang="en-US" sz="1651" dirty="0">
                <a:solidFill>
                  <a:prstClr val="black"/>
                </a:solidFill>
              </a:endParaRPr>
            </a:p>
          </p:txBody>
        </p:sp>
      </p:grpSp>
      <p:grpSp>
        <p:nvGrpSpPr>
          <p:cNvPr id="38" name="Group 10"/>
          <p:cNvGrpSpPr/>
          <p:nvPr/>
        </p:nvGrpSpPr>
        <p:grpSpPr>
          <a:xfrm>
            <a:off x="270230" y="5680794"/>
            <a:ext cx="932931" cy="787068"/>
            <a:chOff x="377687" y="5883965"/>
            <a:chExt cx="1017106" cy="858083"/>
          </a:xfrm>
        </p:grpSpPr>
        <p:sp>
          <p:nvSpPr>
            <p:cNvPr id="39" name="Rectangle 11"/>
            <p:cNvSpPr/>
            <p:nvPr/>
          </p:nvSpPr>
          <p:spPr>
            <a:xfrm>
              <a:off x="377687" y="5883965"/>
              <a:ext cx="993913" cy="46713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80000"/>
                </a:lnSpc>
              </a:pPr>
              <a:r>
                <a:rPr lang="en-US" altLang="zh-TW" sz="1651" dirty="0">
                  <a:solidFill>
                    <a:prstClr val="white"/>
                  </a:solidFill>
                </a:rPr>
                <a:t>t</a:t>
              </a:r>
              <a:r>
                <a:rPr lang="en-US" altLang="zh-TW" sz="1651" dirty="0" smtClean="0">
                  <a:solidFill>
                    <a:prstClr val="white"/>
                  </a:solidFill>
                </a:rPr>
                <a:t>hat</a:t>
              </a:r>
              <a:br>
                <a:rPr lang="en-US" altLang="zh-TW" sz="1651" dirty="0" smtClean="0">
                  <a:solidFill>
                    <a:prstClr val="white"/>
                  </a:solidFill>
                </a:rPr>
              </a:br>
              <a:r>
                <a:rPr lang="en-US" altLang="zh-TW" sz="1651" dirty="0" smtClean="0">
                  <a:solidFill>
                    <a:prstClr val="white"/>
                  </a:solidFill>
                </a:rPr>
                <a:t>memory</a:t>
              </a:r>
              <a:endParaRPr lang="zh-TW" altLang="en-US" sz="1651" dirty="0">
                <a:solidFill>
                  <a:prstClr val="white"/>
                </a:solidFill>
              </a:endParaRPr>
            </a:p>
          </p:txBody>
        </p:sp>
        <p:sp>
          <p:nvSpPr>
            <p:cNvPr id="40" name="Rectangle 12"/>
            <p:cNvSpPr/>
            <p:nvPr/>
          </p:nvSpPr>
          <p:spPr>
            <a:xfrm>
              <a:off x="400880" y="6274909"/>
              <a:ext cx="993913" cy="46713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651" dirty="0">
                  <a:solidFill>
                    <a:prstClr val="black"/>
                  </a:solidFill>
                </a:rPr>
                <a:t>*A</a:t>
              </a:r>
              <a:endParaRPr lang="zh-TW" altLang="en-US" sz="1651" dirty="0"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34365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 txBox="1">
            <a:spLocks/>
          </p:cNvSpPr>
          <p:nvPr/>
        </p:nvSpPr>
        <p:spPr>
          <a:xfrm>
            <a:off x="4953591" y="958409"/>
            <a:ext cx="4699997" cy="5615808"/>
          </a:xfrm>
          <a:prstGeom prst="rect">
            <a:avLst/>
          </a:prstGeom>
          <a:solidFill>
            <a:schemeClr val="tx1"/>
          </a:solidFill>
        </p:spPr>
        <p:txBody>
          <a:bodyPr vert="horz" lIns="83872" tIns="41936" rIns="83872" bIns="41936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</a:rPr>
              <a:t>% cat </a:t>
            </a:r>
            <a:r>
              <a:rPr lang="en-US" altLang="zh-TW" sz="2385" dirty="0" err="1" smtClean="0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</a:rPr>
              <a:t>prog.c</a:t>
            </a:r>
            <a:endParaRPr lang="en-US" altLang="zh-TW" sz="2385" dirty="0">
              <a:solidFill>
                <a:prstClr val="white">
                  <a:lumMod val="65000"/>
                </a:prstClr>
              </a:solidFill>
              <a:latin typeface="Lucida Sans Typewriter" panose="020B0509030504030204" pitchFamily="49" charset="0"/>
            </a:endParaRP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</a:rPr>
              <a:t>#include "</a:t>
            </a:r>
            <a:r>
              <a:rPr lang="en-US" altLang="zh-TW" sz="2385" dirty="0" err="1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</a:rPr>
              <a:t>stuff.h</a:t>
            </a:r>
            <a:r>
              <a:rPr lang="en-US" altLang="zh-TW" sz="2385" dirty="0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</a:rPr>
              <a:t>"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 err="1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</a:rPr>
              <a:t>int</a:t>
            </a:r>
            <a:r>
              <a:rPr lang="en-US" altLang="zh-TW" sz="2385" dirty="0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</a:rPr>
              <a:t> main() {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</a:rPr>
              <a:t>   A=(</a:t>
            </a:r>
            <a:r>
              <a:rPr lang="en-US" altLang="zh-TW" sz="2385" dirty="0" err="1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</a:rPr>
              <a:t>coord</a:t>
            </a:r>
            <a:r>
              <a:rPr lang="en-US" altLang="zh-TW" sz="2385" dirty="0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</a:rPr>
              <a:t>*)</a:t>
            </a:r>
            <a:r>
              <a:rPr lang="en-US" altLang="zh-TW" sz="2385" dirty="0" err="1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</a:rPr>
              <a:t>malloc</a:t>
            </a:r>
            <a:r>
              <a:rPr lang="en-US" altLang="zh-TW" sz="2385" dirty="0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</a:rPr>
              <a:t>     </a:t>
            </a:r>
            <a:br>
              <a:rPr lang="en-US" altLang="zh-TW" sz="2385" dirty="0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</a:rPr>
            </a:br>
            <a:r>
              <a:rPr lang="en-US" altLang="zh-TW" sz="2385" dirty="0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</a:rPr>
              <a:t>     (</a:t>
            </a:r>
            <a:r>
              <a:rPr lang="en-US" altLang="zh-TW" sz="2385" dirty="0" err="1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</a:rPr>
              <a:t>sizeof</a:t>
            </a:r>
            <a:r>
              <a:rPr lang="en-US" altLang="zh-TW" sz="2385" dirty="0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</a:rPr>
              <a:t>(</a:t>
            </a:r>
            <a:r>
              <a:rPr lang="en-US" altLang="zh-TW" sz="2385" dirty="0" err="1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</a:rPr>
              <a:t>coord</a:t>
            </a:r>
            <a:r>
              <a:rPr lang="en-US" altLang="zh-TW" sz="2385" dirty="0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</a:rPr>
              <a:t>));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</a:rPr>
              <a:t>   A-&gt;x=1;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</a:rPr>
              <a:t>   B=A; C=B;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</a:rPr>
              <a:t>   A-&gt;y=2; C-&gt;z=3;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</a:rPr>
              <a:t>   A=NULL; </a:t>
            </a:r>
            <a:r>
              <a:rPr lang="en-US" altLang="zh-TW" sz="2385" dirty="0" smtClean="0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</a:rPr>
              <a:t>B=NULL;</a:t>
            </a:r>
            <a:endParaRPr lang="en-US" altLang="zh-TW" sz="2385" dirty="0">
              <a:solidFill>
                <a:prstClr val="white">
                  <a:lumMod val="65000"/>
                </a:prstClr>
              </a:solidFill>
              <a:latin typeface="Lucida Sans Typewriter" panose="020B0509030504030204" pitchFamily="49" charset="0"/>
            </a:endParaRP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</a:rPr>
              <a:t>   print(C);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</a:rPr>
              <a:t>   C=NULL;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</a:rPr>
              <a:t>   print(C);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</a:rPr>
              <a:t>}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</a:rPr>
              <a:t>% ./</a:t>
            </a:r>
            <a:r>
              <a:rPr lang="en-US" altLang="zh-TW" sz="2385" dirty="0" err="1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</a:rPr>
              <a:t>prog.x</a:t>
            </a:r>
            <a:endParaRPr lang="en-US" altLang="zh-TW" sz="2385" dirty="0">
              <a:solidFill>
                <a:prstClr val="white">
                  <a:lumMod val="65000"/>
                </a:prstClr>
              </a:solidFill>
              <a:latin typeface="Lucida Sans Typewriter" panose="020B0509030504030204" pitchFamily="49" charset="0"/>
            </a:endParaRP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</a:rPr>
              <a:t>(1,2,3)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 err="1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</a:rPr>
              <a:t>Error:Segmentation</a:t>
            </a:r>
            <a:r>
              <a:rPr lang="en-US" altLang="zh-TW" sz="2385" dirty="0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</a:rPr>
              <a:t> Fault</a:t>
            </a: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4953591" y="958409"/>
            <a:ext cx="4699997" cy="5615808"/>
          </a:xfrm>
          <a:prstGeom prst="rect">
            <a:avLst/>
          </a:prstGeom>
          <a:noFill/>
        </p:spPr>
        <p:txBody>
          <a:bodyPr vert="horz" lIns="83872" tIns="41936" rIns="83872" bIns="41936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% cat </a:t>
            </a:r>
            <a:r>
              <a:rPr lang="en-US" altLang="zh-TW" sz="2385" dirty="0" err="1" smtClean="0">
                <a:solidFill>
                  <a:prstClr val="white"/>
                </a:solidFill>
                <a:latin typeface="Lucida Sans Typewriter" panose="020B0509030504030204" pitchFamily="49" charset="0"/>
              </a:rPr>
              <a:t>prog.c</a:t>
            </a:r>
            <a:endParaRPr lang="en-US" altLang="zh-TW" sz="2385" dirty="0">
              <a:solidFill>
                <a:prstClr val="white"/>
              </a:solidFill>
              <a:latin typeface="Lucida Sans Typewriter" panose="020B0509030504030204" pitchFamily="49" charset="0"/>
            </a:endParaRP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#include "</a:t>
            </a:r>
            <a:r>
              <a:rPr lang="en-US" altLang="zh-TW" sz="2385" dirty="0" err="1">
                <a:solidFill>
                  <a:prstClr val="white"/>
                </a:solidFill>
                <a:latin typeface="Lucida Sans Typewriter" panose="020B0509030504030204" pitchFamily="49" charset="0"/>
              </a:rPr>
              <a:t>stuff.h</a:t>
            </a: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"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 err="1">
                <a:solidFill>
                  <a:prstClr val="white"/>
                </a:solidFill>
                <a:latin typeface="Lucida Sans Typewriter" panose="020B0509030504030204" pitchFamily="49" charset="0"/>
              </a:rPr>
              <a:t>int</a:t>
            </a: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 main() {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   A=(</a:t>
            </a:r>
            <a:r>
              <a:rPr lang="en-US" altLang="zh-TW" sz="2385" dirty="0" err="1">
                <a:solidFill>
                  <a:prstClr val="white"/>
                </a:solidFill>
                <a:latin typeface="Lucida Sans Typewriter" panose="020B0509030504030204" pitchFamily="49" charset="0"/>
              </a:rPr>
              <a:t>coord</a:t>
            </a: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*)</a:t>
            </a:r>
            <a:r>
              <a:rPr lang="en-US" altLang="zh-TW" sz="2385" dirty="0" err="1">
                <a:solidFill>
                  <a:prstClr val="white"/>
                </a:solidFill>
                <a:latin typeface="Lucida Sans Typewriter" panose="020B0509030504030204" pitchFamily="49" charset="0"/>
              </a:rPr>
              <a:t>malloc</a:t>
            </a: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     </a:t>
            </a:r>
            <a:b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</a:b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     (</a:t>
            </a:r>
            <a:r>
              <a:rPr lang="en-US" altLang="zh-TW" sz="2385" dirty="0" err="1">
                <a:solidFill>
                  <a:prstClr val="white"/>
                </a:solidFill>
                <a:latin typeface="Lucida Sans Typewriter" panose="020B0509030504030204" pitchFamily="49" charset="0"/>
              </a:rPr>
              <a:t>sizeof</a:t>
            </a: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(</a:t>
            </a:r>
            <a:r>
              <a:rPr lang="en-US" altLang="zh-TW" sz="2385" dirty="0" err="1">
                <a:solidFill>
                  <a:prstClr val="white"/>
                </a:solidFill>
                <a:latin typeface="Lucida Sans Typewriter" panose="020B0509030504030204" pitchFamily="49" charset="0"/>
              </a:rPr>
              <a:t>coord</a:t>
            </a: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));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   A-&gt;x=1;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>
                <a:solidFill>
                  <a:srgbClr val="FFFF00"/>
                </a:solidFill>
                <a:latin typeface="Lucida Sans Typewriter" panose="020B0509030504030204" pitchFamily="49" charset="0"/>
              </a:rPr>
              <a:t>   </a:t>
            </a:r>
            <a:r>
              <a:rPr lang="en-US" altLang="zh-TW" sz="2385" dirty="0">
                <a:solidFill>
                  <a:schemeClr val="bg1"/>
                </a:solidFill>
                <a:latin typeface="Lucida Sans Typewriter" panose="020B0509030504030204" pitchFamily="49" charset="0"/>
              </a:rPr>
              <a:t>B=A; C=B;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>
                <a:solidFill>
                  <a:srgbClr val="FFFF00"/>
                </a:solidFill>
                <a:latin typeface="Lucida Sans Typewriter" panose="020B0509030504030204" pitchFamily="49" charset="0"/>
              </a:rPr>
              <a:t>   A-&gt;y=2; C-&gt;z=3;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>
                <a:solidFill>
                  <a:srgbClr val="FFFF00"/>
                </a:solidFill>
                <a:latin typeface="Lucida Sans Typewriter" panose="020B0509030504030204" pitchFamily="49" charset="0"/>
              </a:rPr>
              <a:t>   A=NULL; B=NULL;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>
                <a:solidFill>
                  <a:srgbClr val="FFFF00"/>
                </a:solidFill>
                <a:latin typeface="Lucida Sans Typewriter" panose="020B0509030504030204" pitchFamily="49" charset="0"/>
              </a:rPr>
              <a:t>   print(C);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>
                <a:solidFill>
                  <a:srgbClr val="FFFF00"/>
                </a:solidFill>
                <a:latin typeface="Lucida Sans Typewriter" panose="020B0509030504030204" pitchFamily="49" charset="0"/>
              </a:rPr>
              <a:t>   C=NULL;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>
                <a:solidFill>
                  <a:srgbClr val="FFFF00"/>
                </a:solidFill>
                <a:latin typeface="Lucida Sans Typewriter" panose="020B0509030504030204" pitchFamily="49" charset="0"/>
              </a:rPr>
              <a:t>   print(C);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endParaRPr lang="en-US" altLang="zh-TW" sz="2385" dirty="0">
              <a:solidFill>
                <a:srgbClr val="FFFF00"/>
              </a:solidFill>
              <a:latin typeface="Lucida Sans Typewriter" panose="020B0509030504030204" pitchFamily="49" charset="0"/>
            </a:endParaRP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>
                <a:solidFill>
                  <a:srgbClr val="FFFF00"/>
                </a:solidFill>
                <a:latin typeface="Lucida Sans Typewriter" panose="020B0509030504030204" pitchFamily="49" charset="0"/>
              </a:rPr>
              <a:t>% ./</a:t>
            </a:r>
            <a:r>
              <a:rPr lang="en-US" altLang="zh-TW" sz="2385" dirty="0" err="1">
                <a:solidFill>
                  <a:srgbClr val="FFFF00"/>
                </a:solidFill>
                <a:latin typeface="Lucida Sans Typewriter" panose="020B0509030504030204" pitchFamily="49" charset="0"/>
              </a:rPr>
              <a:t>prog.x</a:t>
            </a:r>
            <a:endParaRPr lang="en-US" altLang="zh-TW" sz="2385" dirty="0">
              <a:solidFill>
                <a:srgbClr val="FFFF00"/>
              </a:solidFill>
              <a:latin typeface="Lucida Sans Typewriter" panose="020B0509030504030204" pitchFamily="49" charset="0"/>
            </a:endParaRP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>
                <a:solidFill>
                  <a:srgbClr val="FFFF00"/>
                </a:solidFill>
                <a:latin typeface="Lucida Sans Typewriter" panose="020B0509030504030204" pitchFamily="49" charset="0"/>
              </a:rPr>
              <a:t>(1,2,3)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 err="1">
                <a:solidFill>
                  <a:srgbClr val="FFFF00"/>
                </a:solidFill>
                <a:latin typeface="Lucida Sans Typewriter" panose="020B0509030504030204" pitchFamily="49" charset="0"/>
              </a:rPr>
              <a:t>Error:Segmentation</a:t>
            </a:r>
            <a:r>
              <a:rPr lang="en-US" altLang="zh-TW" sz="2385" dirty="0">
                <a:solidFill>
                  <a:srgbClr val="FFFF00"/>
                </a:solidFill>
                <a:latin typeface="Lucida Sans Typewriter" panose="020B0509030504030204" pitchFamily="49" charset="0"/>
              </a:rPr>
              <a:t> Fault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" y="0"/>
            <a:ext cx="9729788" cy="958410"/>
          </a:xfrm>
        </p:spPr>
        <p:txBody>
          <a:bodyPr>
            <a:normAutofit/>
          </a:bodyPr>
          <a:lstStyle/>
          <a:p>
            <a:r>
              <a:rPr lang="en-US" altLang="zh-TW" sz="4200" dirty="0">
                <a:solidFill>
                  <a:srgbClr val="0070C0"/>
                </a:solidFill>
              </a:rPr>
              <a:t>In C, you manage your own garbage</a:t>
            </a:r>
            <a:endParaRPr lang="zh-TW" altLang="en-US" sz="4200" dirty="0">
              <a:solidFill>
                <a:srgbClr val="0070C0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53126" y="1988582"/>
            <a:ext cx="2807905" cy="74755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dirty="0">
                <a:solidFill>
                  <a:prstClr val="white"/>
                </a:solidFill>
              </a:rPr>
              <a:t>x=</a:t>
            </a:r>
            <a:r>
              <a:rPr lang="en-US" altLang="zh-TW" sz="2800" b="1" dirty="0">
                <a:solidFill>
                  <a:srgbClr val="FFFF00"/>
                </a:solidFill>
              </a:rPr>
              <a:t>1</a:t>
            </a:r>
            <a:r>
              <a:rPr lang="en-US" altLang="zh-TW" sz="2800" dirty="0">
                <a:solidFill>
                  <a:prstClr val="white"/>
                </a:solidFill>
              </a:rPr>
              <a:t>,</a:t>
            </a:r>
            <a:r>
              <a:rPr lang="en-US" altLang="zh-TW" sz="2000" dirty="0">
                <a:solidFill>
                  <a:prstClr val="white"/>
                </a:solidFill>
              </a:rPr>
              <a:t> </a:t>
            </a:r>
            <a:r>
              <a:rPr lang="en-US" altLang="zh-TW" sz="600" dirty="0" smtClean="0">
                <a:solidFill>
                  <a:prstClr val="white"/>
                </a:solidFill>
              </a:rPr>
              <a:t> </a:t>
            </a:r>
            <a:r>
              <a:rPr lang="en-US" altLang="zh-TW" sz="2800" dirty="0" smtClean="0">
                <a:solidFill>
                  <a:prstClr val="white"/>
                </a:solidFill>
              </a:rPr>
              <a:t>y=</a:t>
            </a:r>
            <a:r>
              <a:rPr lang="en-US" altLang="zh-TW" sz="2800" b="1" dirty="0" smtClean="0">
                <a:solidFill>
                  <a:srgbClr val="FFFF00"/>
                </a:solidFill>
              </a:rPr>
              <a:t>2</a:t>
            </a:r>
            <a:r>
              <a:rPr lang="en-US" altLang="zh-TW" sz="2800" dirty="0">
                <a:solidFill>
                  <a:prstClr val="white"/>
                </a:solidFill>
              </a:rPr>
              <a:t>,</a:t>
            </a:r>
            <a:r>
              <a:rPr lang="en-US" altLang="zh-TW" sz="2000" dirty="0">
                <a:solidFill>
                  <a:prstClr val="white"/>
                </a:solidFill>
              </a:rPr>
              <a:t> </a:t>
            </a:r>
            <a:r>
              <a:rPr lang="en-US" altLang="zh-TW" sz="500" dirty="0" smtClean="0">
                <a:solidFill>
                  <a:prstClr val="white"/>
                </a:solidFill>
              </a:rPr>
              <a:t> </a:t>
            </a:r>
            <a:r>
              <a:rPr lang="en-US" altLang="zh-TW" sz="2800" dirty="0" smtClean="0">
                <a:solidFill>
                  <a:prstClr val="white"/>
                </a:solidFill>
              </a:rPr>
              <a:t>z</a:t>
            </a:r>
            <a:r>
              <a:rPr lang="en-US" altLang="zh-TW" sz="2800" spc="-80" dirty="0" smtClean="0">
                <a:solidFill>
                  <a:prstClr val="white"/>
                </a:solidFill>
              </a:rPr>
              <a:t>=</a:t>
            </a:r>
            <a:r>
              <a:rPr lang="en-US" altLang="zh-TW" sz="2800" b="1" dirty="0" smtClean="0">
                <a:solidFill>
                  <a:srgbClr val="FFFF00"/>
                </a:solidFill>
              </a:rPr>
              <a:t>3</a:t>
            </a:r>
            <a:endParaRPr lang="zh-TW" altLang="en-US" sz="2800" b="1" dirty="0">
              <a:solidFill>
                <a:srgbClr val="FFFF00"/>
              </a:solidFill>
            </a:endParaRPr>
          </a:p>
        </p:txBody>
      </p:sp>
      <p:cxnSp>
        <p:nvCxnSpPr>
          <p:cNvPr id="20" name="Straight Arrow Connector 19"/>
          <p:cNvCxnSpPr/>
          <p:nvPr/>
        </p:nvCxnSpPr>
        <p:spPr>
          <a:xfrm flipV="1">
            <a:off x="726060" y="2736141"/>
            <a:ext cx="1331019" cy="2944652"/>
          </a:xfrm>
          <a:prstGeom prst="straightConnector1">
            <a:avLst/>
          </a:prstGeom>
          <a:ln w="50800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10" idx="0"/>
          </p:cNvCxnSpPr>
          <p:nvPr/>
        </p:nvCxnSpPr>
        <p:spPr>
          <a:xfrm flipV="1">
            <a:off x="2148245" y="2736141"/>
            <a:ext cx="72933" cy="2944652"/>
          </a:xfrm>
          <a:prstGeom prst="straightConnector1">
            <a:avLst/>
          </a:prstGeom>
          <a:ln w="50800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14" idx="0"/>
          </p:cNvCxnSpPr>
          <p:nvPr/>
        </p:nvCxnSpPr>
        <p:spPr>
          <a:xfrm flipH="1" flipV="1">
            <a:off x="2430859" y="2736141"/>
            <a:ext cx="1358364" cy="2944652"/>
          </a:xfrm>
          <a:prstGeom prst="straightConnector1">
            <a:avLst/>
          </a:prstGeom>
          <a:ln w="50800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ounded Rectangular Callout 2"/>
          <p:cNvSpPr/>
          <p:nvPr/>
        </p:nvSpPr>
        <p:spPr>
          <a:xfrm>
            <a:off x="4245050" y="1316999"/>
            <a:ext cx="3820243" cy="1182111"/>
          </a:xfrm>
          <a:prstGeom prst="wedgeRoundRectCallout">
            <a:avLst>
              <a:gd name="adj1" fmla="val -85442"/>
              <a:gd name="adj2" fmla="val 29417"/>
              <a:gd name="adj3" fmla="val 16667"/>
            </a:avLst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TW" sz="2568" dirty="0">
                <a:solidFill>
                  <a:prstClr val="white"/>
                </a:solidFill>
              </a:rPr>
              <a:t>At this point, </a:t>
            </a:r>
            <a:r>
              <a:rPr lang="en-US" altLang="zh-TW" sz="2568" dirty="0" smtClean="0">
                <a:solidFill>
                  <a:prstClr val="white"/>
                </a:solidFill>
              </a:rPr>
              <a:t>you have no</a:t>
            </a:r>
            <a:br>
              <a:rPr lang="en-US" altLang="zh-TW" sz="2568" dirty="0" smtClean="0">
                <a:solidFill>
                  <a:prstClr val="white"/>
                </a:solidFill>
              </a:rPr>
            </a:br>
            <a:r>
              <a:rPr lang="en-US" altLang="zh-TW" sz="2568" dirty="0" smtClean="0">
                <a:solidFill>
                  <a:prstClr val="white"/>
                </a:solidFill>
              </a:rPr>
              <a:t>way to </a:t>
            </a:r>
            <a:r>
              <a:rPr lang="en-US" altLang="zh-TW" sz="2568" dirty="0">
                <a:solidFill>
                  <a:prstClr val="white"/>
                </a:solidFill>
              </a:rPr>
              <a:t>free() this </a:t>
            </a:r>
            <a:r>
              <a:rPr lang="en-US" altLang="zh-TW" sz="2568" dirty="0" smtClean="0">
                <a:solidFill>
                  <a:prstClr val="white"/>
                </a:solidFill>
              </a:rPr>
              <a:t>memory.</a:t>
            </a:r>
            <a:br>
              <a:rPr lang="en-US" altLang="zh-TW" sz="2568" dirty="0" smtClean="0">
                <a:solidFill>
                  <a:prstClr val="white"/>
                </a:solidFill>
              </a:rPr>
            </a:br>
            <a:r>
              <a:rPr lang="en-US" altLang="zh-TW" sz="2568" dirty="0" smtClean="0">
                <a:solidFill>
                  <a:prstClr val="white"/>
                </a:solidFill>
              </a:rPr>
              <a:t>It’s </a:t>
            </a:r>
            <a:r>
              <a:rPr lang="en-US" altLang="zh-TW" sz="2568" dirty="0">
                <a:solidFill>
                  <a:prstClr val="black"/>
                </a:solidFill>
              </a:rPr>
              <a:t>stuck in memory </a:t>
            </a:r>
            <a:r>
              <a:rPr lang="en-US" altLang="zh-TW" sz="2568" dirty="0" smtClean="0">
                <a:solidFill>
                  <a:prstClr val="white"/>
                </a:solidFill>
              </a:rPr>
              <a:t>forever.</a:t>
            </a:r>
            <a:endParaRPr lang="zh-TW" altLang="en-US" sz="2568" dirty="0">
              <a:solidFill>
                <a:prstClr val="white"/>
              </a:solidFill>
            </a:endParaRPr>
          </a:p>
        </p:txBody>
      </p:sp>
      <p:sp>
        <p:nvSpPr>
          <p:cNvPr id="23" name="Rounded Rectangular Callout 22"/>
          <p:cNvSpPr/>
          <p:nvPr/>
        </p:nvSpPr>
        <p:spPr>
          <a:xfrm>
            <a:off x="5850" y="283783"/>
            <a:ext cx="4260474" cy="1182111"/>
          </a:xfrm>
          <a:prstGeom prst="wedgeRoundRectCallout">
            <a:avLst>
              <a:gd name="adj1" fmla="val 60286"/>
              <a:gd name="adj2" fmla="val 109623"/>
              <a:gd name="adj3" fmla="val 16667"/>
            </a:avLst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568" dirty="0">
                <a:solidFill>
                  <a:prstClr val="white"/>
                </a:solidFill>
              </a:rPr>
              <a:t>In languages with garbage collection (Java, </a:t>
            </a:r>
            <a:r>
              <a:rPr lang="en-US" altLang="zh-TW" sz="2568" dirty="0" err="1">
                <a:solidFill>
                  <a:prstClr val="white"/>
                </a:solidFill>
              </a:rPr>
              <a:t>Python,etc</a:t>
            </a:r>
            <a:r>
              <a:rPr lang="en-US" altLang="zh-TW" sz="2568" dirty="0">
                <a:solidFill>
                  <a:prstClr val="white"/>
                </a:solidFill>
              </a:rPr>
              <a:t>) this error cannot happen.</a:t>
            </a:r>
            <a:endParaRPr lang="zh-TW" altLang="en-US" sz="2568" dirty="0">
              <a:solidFill>
                <a:prstClr val="white"/>
              </a:solidFill>
            </a:endParaRPr>
          </a:p>
        </p:txBody>
      </p:sp>
      <p:grpSp>
        <p:nvGrpSpPr>
          <p:cNvPr id="24" name="Group 4"/>
          <p:cNvGrpSpPr/>
          <p:nvPr/>
        </p:nvGrpSpPr>
        <p:grpSpPr>
          <a:xfrm>
            <a:off x="1692415" y="5680794"/>
            <a:ext cx="932931" cy="787068"/>
            <a:chOff x="377687" y="5883965"/>
            <a:chExt cx="1017106" cy="858083"/>
          </a:xfrm>
        </p:grpSpPr>
        <p:sp>
          <p:nvSpPr>
            <p:cNvPr id="25" name="Rectangle 5"/>
            <p:cNvSpPr/>
            <p:nvPr/>
          </p:nvSpPr>
          <p:spPr>
            <a:xfrm>
              <a:off x="377687" y="5883965"/>
              <a:ext cx="993913" cy="46713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80000"/>
                </a:lnSpc>
              </a:pPr>
              <a:r>
                <a:rPr lang="en-US" altLang="zh-TW" sz="1651" dirty="0" smtClean="0">
                  <a:solidFill>
                    <a:prstClr val="white"/>
                  </a:solidFill>
                </a:rPr>
                <a:t>that memory</a:t>
              </a:r>
              <a:endParaRPr lang="zh-TW" altLang="en-US" sz="1651" dirty="0">
                <a:solidFill>
                  <a:prstClr val="white"/>
                </a:solidFill>
              </a:endParaRPr>
            </a:p>
          </p:txBody>
        </p:sp>
        <p:sp>
          <p:nvSpPr>
            <p:cNvPr id="26" name="Rectangle 6"/>
            <p:cNvSpPr/>
            <p:nvPr/>
          </p:nvSpPr>
          <p:spPr>
            <a:xfrm>
              <a:off x="400880" y="6274909"/>
              <a:ext cx="993913" cy="46713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651" dirty="0">
                  <a:solidFill>
                    <a:prstClr val="black"/>
                  </a:solidFill>
                </a:rPr>
                <a:t>*B</a:t>
              </a:r>
              <a:endParaRPr lang="zh-TW" altLang="en-US" sz="1651" dirty="0">
                <a:solidFill>
                  <a:prstClr val="black"/>
                </a:solidFill>
              </a:endParaRPr>
            </a:p>
          </p:txBody>
        </p:sp>
      </p:grpSp>
      <p:grpSp>
        <p:nvGrpSpPr>
          <p:cNvPr id="27" name="Group 7"/>
          <p:cNvGrpSpPr/>
          <p:nvPr/>
        </p:nvGrpSpPr>
        <p:grpSpPr>
          <a:xfrm>
            <a:off x="3333393" y="5680794"/>
            <a:ext cx="932931" cy="787068"/>
            <a:chOff x="377687" y="5883965"/>
            <a:chExt cx="1017106" cy="858083"/>
          </a:xfrm>
        </p:grpSpPr>
        <p:sp>
          <p:nvSpPr>
            <p:cNvPr id="28" name="Rectangle 8"/>
            <p:cNvSpPr/>
            <p:nvPr/>
          </p:nvSpPr>
          <p:spPr>
            <a:xfrm>
              <a:off x="377687" y="5883965"/>
              <a:ext cx="993913" cy="46713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80000"/>
                </a:lnSpc>
              </a:pPr>
              <a:r>
                <a:rPr lang="en-US" altLang="zh-TW" sz="1651" dirty="0">
                  <a:solidFill>
                    <a:prstClr val="white"/>
                  </a:solidFill>
                </a:rPr>
                <a:t>t</a:t>
              </a:r>
              <a:r>
                <a:rPr lang="en-US" altLang="zh-TW" sz="1651" dirty="0" smtClean="0">
                  <a:solidFill>
                    <a:prstClr val="white"/>
                  </a:solidFill>
                </a:rPr>
                <a:t>hat</a:t>
              </a:r>
              <a:br>
                <a:rPr lang="en-US" altLang="zh-TW" sz="1651" dirty="0" smtClean="0">
                  <a:solidFill>
                    <a:prstClr val="white"/>
                  </a:solidFill>
                </a:rPr>
              </a:br>
              <a:r>
                <a:rPr lang="en-US" altLang="zh-TW" sz="1651" dirty="0" smtClean="0">
                  <a:solidFill>
                    <a:prstClr val="white"/>
                  </a:solidFill>
                </a:rPr>
                <a:t>memory</a:t>
              </a:r>
              <a:endParaRPr lang="zh-TW" altLang="en-US" sz="1651" dirty="0">
                <a:solidFill>
                  <a:prstClr val="white"/>
                </a:solidFill>
              </a:endParaRPr>
            </a:p>
          </p:txBody>
        </p:sp>
        <p:sp>
          <p:nvSpPr>
            <p:cNvPr id="29" name="Rectangle 9"/>
            <p:cNvSpPr/>
            <p:nvPr/>
          </p:nvSpPr>
          <p:spPr>
            <a:xfrm>
              <a:off x="400880" y="6274909"/>
              <a:ext cx="993913" cy="46713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651" dirty="0">
                  <a:solidFill>
                    <a:prstClr val="black"/>
                  </a:solidFill>
                </a:rPr>
                <a:t>*C</a:t>
              </a:r>
              <a:endParaRPr lang="zh-TW" altLang="en-US" sz="1651" dirty="0">
                <a:solidFill>
                  <a:prstClr val="black"/>
                </a:solidFill>
              </a:endParaRPr>
            </a:p>
          </p:txBody>
        </p:sp>
      </p:grpSp>
      <p:grpSp>
        <p:nvGrpSpPr>
          <p:cNvPr id="30" name="Group 10"/>
          <p:cNvGrpSpPr/>
          <p:nvPr/>
        </p:nvGrpSpPr>
        <p:grpSpPr>
          <a:xfrm>
            <a:off x="270230" y="5680794"/>
            <a:ext cx="932931" cy="787068"/>
            <a:chOff x="377687" y="5883965"/>
            <a:chExt cx="1017106" cy="858083"/>
          </a:xfrm>
        </p:grpSpPr>
        <p:sp>
          <p:nvSpPr>
            <p:cNvPr id="31" name="Rectangle 11"/>
            <p:cNvSpPr/>
            <p:nvPr/>
          </p:nvSpPr>
          <p:spPr>
            <a:xfrm>
              <a:off x="377687" y="5883965"/>
              <a:ext cx="993913" cy="46713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80000"/>
                </a:lnSpc>
              </a:pPr>
              <a:r>
                <a:rPr lang="en-US" altLang="zh-TW" sz="1651" dirty="0">
                  <a:solidFill>
                    <a:prstClr val="white"/>
                  </a:solidFill>
                </a:rPr>
                <a:t>t</a:t>
              </a:r>
              <a:r>
                <a:rPr lang="en-US" altLang="zh-TW" sz="1651" dirty="0" smtClean="0">
                  <a:solidFill>
                    <a:prstClr val="white"/>
                  </a:solidFill>
                </a:rPr>
                <a:t>hat</a:t>
              </a:r>
              <a:br>
                <a:rPr lang="en-US" altLang="zh-TW" sz="1651" dirty="0" smtClean="0">
                  <a:solidFill>
                    <a:prstClr val="white"/>
                  </a:solidFill>
                </a:rPr>
              </a:br>
              <a:r>
                <a:rPr lang="en-US" altLang="zh-TW" sz="1651" dirty="0" smtClean="0">
                  <a:solidFill>
                    <a:prstClr val="white"/>
                  </a:solidFill>
                </a:rPr>
                <a:t>memory</a:t>
              </a:r>
              <a:endParaRPr lang="zh-TW" altLang="en-US" sz="1651" dirty="0">
                <a:solidFill>
                  <a:prstClr val="white"/>
                </a:solidFill>
              </a:endParaRPr>
            </a:p>
          </p:txBody>
        </p:sp>
        <p:sp>
          <p:nvSpPr>
            <p:cNvPr id="32" name="Rectangle 12"/>
            <p:cNvSpPr/>
            <p:nvPr/>
          </p:nvSpPr>
          <p:spPr>
            <a:xfrm>
              <a:off x="400880" y="6274909"/>
              <a:ext cx="993913" cy="46713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651" dirty="0">
                  <a:solidFill>
                    <a:prstClr val="black"/>
                  </a:solidFill>
                </a:rPr>
                <a:t>*A</a:t>
              </a:r>
              <a:endParaRPr lang="zh-TW" altLang="en-US" sz="1651" dirty="0">
                <a:solidFill>
                  <a:prstClr val="black"/>
                </a:solidFill>
              </a:endParaRPr>
            </a:p>
          </p:txBody>
        </p:sp>
      </p:grpSp>
      <p:grpSp>
        <p:nvGrpSpPr>
          <p:cNvPr id="33" name="Group 15"/>
          <p:cNvGrpSpPr/>
          <p:nvPr/>
        </p:nvGrpSpPr>
        <p:grpSpPr>
          <a:xfrm>
            <a:off x="270230" y="5680794"/>
            <a:ext cx="932931" cy="787068"/>
            <a:chOff x="377687" y="5883965"/>
            <a:chExt cx="1017106" cy="858083"/>
          </a:xfrm>
        </p:grpSpPr>
        <p:sp>
          <p:nvSpPr>
            <p:cNvPr id="34" name="Rectangle 16"/>
            <p:cNvSpPr/>
            <p:nvPr/>
          </p:nvSpPr>
          <p:spPr>
            <a:xfrm>
              <a:off x="377687" y="5883965"/>
              <a:ext cx="993913" cy="46713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651" dirty="0" smtClean="0">
                  <a:solidFill>
                    <a:prstClr val="white"/>
                  </a:solidFill>
                </a:rPr>
                <a:t>NULL</a:t>
              </a:r>
              <a:endParaRPr lang="zh-TW" altLang="en-US" sz="1651" dirty="0">
                <a:solidFill>
                  <a:prstClr val="white"/>
                </a:solidFill>
              </a:endParaRPr>
            </a:p>
          </p:txBody>
        </p:sp>
        <p:sp>
          <p:nvSpPr>
            <p:cNvPr id="35" name="Rectangle 17"/>
            <p:cNvSpPr/>
            <p:nvPr/>
          </p:nvSpPr>
          <p:spPr>
            <a:xfrm>
              <a:off x="400880" y="6274909"/>
              <a:ext cx="993913" cy="46713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651" dirty="0">
                  <a:solidFill>
                    <a:prstClr val="black"/>
                  </a:solidFill>
                </a:rPr>
                <a:t>*A</a:t>
              </a:r>
              <a:endParaRPr lang="zh-TW" altLang="en-US" sz="1651" dirty="0">
                <a:solidFill>
                  <a:prstClr val="black"/>
                </a:solidFill>
              </a:endParaRPr>
            </a:p>
          </p:txBody>
        </p:sp>
      </p:grpSp>
      <p:grpSp>
        <p:nvGrpSpPr>
          <p:cNvPr id="36" name="Group 11"/>
          <p:cNvGrpSpPr/>
          <p:nvPr/>
        </p:nvGrpSpPr>
        <p:grpSpPr>
          <a:xfrm>
            <a:off x="1692415" y="5680794"/>
            <a:ext cx="932931" cy="787068"/>
            <a:chOff x="377687" y="5883965"/>
            <a:chExt cx="1017106" cy="858083"/>
          </a:xfrm>
        </p:grpSpPr>
        <p:sp>
          <p:nvSpPr>
            <p:cNvPr id="37" name="Rectangle 9"/>
            <p:cNvSpPr/>
            <p:nvPr/>
          </p:nvSpPr>
          <p:spPr>
            <a:xfrm>
              <a:off x="377687" y="5883965"/>
              <a:ext cx="993913" cy="46713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651" dirty="0" smtClean="0">
                  <a:solidFill>
                    <a:prstClr val="white"/>
                  </a:solidFill>
                </a:rPr>
                <a:t>NULL</a:t>
              </a:r>
              <a:endParaRPr lang="zh-TW" altLang="en-US" sz="1651" dirty="0">
                <a:solidFill>
                  <a:prstClr val="white"/>
                </a:solidFill>
              </a:endParaRPr>
            </a:p>
          </p:txBody>
        </p:sp>
        <p:sp>
          <p:nvSpPr>
            <p:cNvPr id="38" name="Rectangle 10"/>
            <p:cNvSpPr/>
            <p:nvPr/>
          </p:nvSpPr>
          <p:spPr>
            <a:xfrm>
              <a:off x="400880" y="6274909"/>
              <a:ext cx="993913" cy="46713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651" dirty="0">
                  <a:solidFill>
                    <a:prstClr val="black"/>
                  </a:solidFill>
                </a:rPr>
                <a:t>*B</a:t>
              </a:r>
              <a:endParaRPr lang="zh-TW" altLang="en-US" sz="1651" dirty="0">
                <a:solidFill>
                  <a:prstClr val="black"/>
                </a:solidFill>
              </a:endParaRPr>
            </a:p>
          </p:txBody>
        </p:sp>
      </p:grpSp>
      <p:grpSp>
        <p:nvGrpSpPr>
          <p:cNvPr id="39" name="Group 7"/>
          <p:cNvGrpSpPr/>
          <p:nvPr/>
        </p:nvGrpSpPr>
        <p:grpSpPr>
          <a:xfrm>
            <a:off x="3333393" y="5680794"/>
            <a:ext cx="932931" cy="787068"/>
            <a:chOff x="377687" y="5883965"/>
            <a:chExt cx="1017106" cy="858083"/>
          </a:xfrm>
        </p:grpSpPr>
        <p:sp>
          <p:nvSpPr>
            <p:cNvPr id="40" name="Rectangle 8"/>
            <p:cNvSpPr/>
            <p:nvPr/>
          </p:nvSpPr>
          <p:spPr>
            <a:xfrm>
              <a:off x="377687" y="5883965"/>
              <a:ext cx="993913" cy="46713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80000"/>
                </a:lnSpc>
              </a:pPr>
              <a:r>
                <a:rPr lang="en-US" altLang="zh-TW" sz="1651" dirty="0" smtClean="0">
                  <a:solidFill>
                    <a:prstClr val="white"/>
                  </a:solidFill>
                </a:rPr>
                <a:t>NULL</a:t>
              </a:r>
              <a:endParaRPr lang="zh-TW" altLang="en-US" sz="1651" dirty="0">
                <a:solidFill>
                  <a:prstClr val="white"/>
                </a:solidFill>
              </a:endParaRPr>
            </a:p>
          </p:txBody>
        </p:sp>
        <p:sp>
          <p:nvSpPr>
            <p:cNvPr id="41" name="Rectangle 9"/>
            <p:cNvSpPr/>
            <p:nvPr/>
          </p:nvSpPr>
          <p:spPr>
            <a:xfrm>
              <a:off x="400880" y="6274909"/>
              <a:ext cx="993913" cy="46713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651" dirty="0">
                  <a:solidFill>
                    <a:prstClr val="black"/>
                  </a:solidFill>
                </a:rPr>
                <a:t>*C</a:t>
              </a:r>
              <a:endParaRPr lang="zh-TW" altLang="en-US" sz="1651" dirty="0"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84703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xit" presetSubtype="4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22" presetClass="exit" presetSubtype="4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35" presetID="14" presetClass="entr" presetSubtype="1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xit" presetSubtype="4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23" grpId="0" animBg="1"/>
      <p:bldP spid="23" grpId="1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 txBox="1">
            <a:spLocks/>
          </p:cNvSpPr>
          <p:nvPr/>
        </p:nvSpPr>
        <p:spPr>
          <a:xfrm>
            <a:off x="4953591" y="958409"/>
            <a:ext cx="4699997" cy="5615808"/>
          </a:xfrm>
          <a:prstGeom prst="rect">
            <a:avLst/>
          </a:prstGeom>
          <a:solidFill>
            <a:schemeClr val="tx1"/>
          </a:solidFill>
        </p:spPr>
        <p:txBody>
          <a:bodyPr vert="horz" lIns="83872" tIns="41936" rIns="83872" bIns="41936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</a:rPr>
              <a:t>% cat </a:t>
            </a:r>
            <a:r>
              <a:rPr lang="en-US" altLang="zh-TW" sz="2385" dirty="0" smtClean="0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</a:rPr>
              <a:t>prog2.c</a:t>
            </a:r>
            <a:endParaRPr lang="en-US" altLang="zh-TW" sz="2385" dirty="0">
              <a:solidFill>
                <a:prstClr val="white">
                  <a:lumMod val="65000"/>
                </a:prstClr>
              </a:solidFill>
              <a:latin typeface="Lucida Sans Typewriter" panose="020B0509030504030204" pitchFamily="49" charset="0"/>
            </a:endParaRP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</a:rPr>
              <a:t>#include "</a:t>
            </a:r>
            <a:r>
              <a:rPr lang="en-US" altLang="zh-TW" sz="2385" dirty="0" err="1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</a:rPr>
              <a:t>stuff.h</a:t>
            </a:r>
            <a:r>
              <a:rPr lang="en-US" altLang="zh-TW" sz="2385" dirty="0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</a:rPr>
              <a:t>"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 err="1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</a:rPr>
              <a:t>int</a:t>
            </a:r>
            <a:r>
              <a:rPr lang="en-US" altLang="zh-TW" sz="2385" dirty="0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</a:rPr>
              <a:t> main() {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</a:rPr>
              <a:t>   A=(</a:t>
            </a:r>
            <a:r>
              <a:rPr lang="en-US" altLang="zh-TW" sz="2385" dirty="0" err="1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</a:rPr>
              <a:t>coord</a:t>
            </a:r>
            <a:r>
              <a:rPr lang="en-US" altLang="zh-TW" sz="2385" dirty="0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</a:rPr>
              <a:t>*)</a:t>
            </a:r>
            <a:r>
              <a:rPr lang="en-US" altLang="zh-TW" sz="2385" dirty="0" err="1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</a:rPr>
              <a:t>malloc</a:t>
            </a:r>
            <a:r>
              <a:rPr lang="en-US" altLang="zh-TW" sz="2385" dirty="0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</a:rPr>
              <a:t>     </a:t>
            </a:r>
            <a:br>
              <a:rPr lang="en-US" altLang="zh-TW" sz="2385" dirty="0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</a:rPr>
            </a:br>
            <a:r>
              <a:rPr lang="en-US" altLang="zh-TW" sz="2385" dirty="0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</a:rPr>
              <a:t>     (</a:t>
            </a:r>
            <a:r>
              <a:rPr lang="en-US" altLang="zh-TW" sz="2385" dirty="0" err="1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</a:rPr>
              <a:t>sizeof</a:t>
            </a:r>
            <a:r>
              <a:rPr lang="en-US" altLang="zh-TW" sz="2385" dirty="0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</a:rPr>
              <a:t>(</a:t>
            </a:r>
            <a:r>
              <a:rPr lang="en-US" altLang="zh-TW" sz="2385" dirty="0" err="1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</a:rPr>
              <a:t>coord</a:t>
            </a:r>
            <a:r>
              <a:rPr lang="en-US" altLang="zh-TW" sz="2385" dirty="0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</a:rPr>
              <a:t>));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</a:rPr>
              <a:t>   A-&gt;x=1;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</a:rPr>
              <a:t>   B=A; C=B;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</a:rPr>
              <a:t>   A-&gt;y=2; C-&gt;z=3;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</a:rPr>
              <a:t>   A=NULL; 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</a:rPr>
              <a:t>   print(C);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</a:rPr>
              <a:t>   </a:t>
            </a:r>
            <a:r>
              <a:rPr lang="en-US" altLang="zh-TW" sz="2385" dirty="0">
                <a:solidFill>
                  <a:srgbClr val="FFFF00"/>
                </a:solidFill>
                <a:latin typeface="Lucida Sans Typewriter" panose="020B0509030504030204" pitchFamily="49" charset="0"/>
              </a:rPr>
              <a:t>free(B);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</a:rPr>
              <a:t>   print(C);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</a:rPr>
              <a:t>}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</a:rPr>
              <a:t>%</a:t>
            </a:r>
            <a:r>
              <a:rPr lang="en-US" altLang="zh-TW" sz="2385" dirty="0">
                <a:solidFill>
                  <a:prstClr val="black"/>
                </a:solidFill>
                <a:latin typeface="Lucida Sans Typewriter" panose="020B0509030504030204" pitchFamily="49" charset="0"/>
              </a:rPr>
              <a:t> ./</a:t>
            </a:r>
            <a:r>
              <a:rPr lang="en-US" altLang="zh-TW" sz="2385" dirty="0" err="1">
                <a:solidFill>
                  <a:prstClr val="black"/>
                </a:solidFill>
                <a:latin typeface="Lucida Sans Typewriter" panose="020B0509030504030204" pitchFamily="49" charset="0"/>
              </a:rPr>
              <a:t>prog.x</a:t>
            </a:r>
            <a:endParaRPr lang="en-US" altLang="zh-TW" sz="2385" dirty="0">
              <a:solidFill>
                <a:prstClr val="black"/>
              </a:solidFill>
              <a:latin typeface="Lucida Sans Typewriter" panose="020B0509030504030204" pitchFamily="49" charset="0"/>
            </a:endParaRP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>
                <a:solidFill>
                  <a:prstClr val="black"/>
                </a:solidFill>
                <a:latin typeface="Lucida Sans Typewriter" panose="020B0509030504030204" pitchFamily="49" charset="0"/>
              </a:rPr>
              <a:t>(1,2,3)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>
                <a:solidFill>
                  <a:prstClr val="black"/>
                </a:solidFill>
                <a:latin typeface="Lucida Sans Typewriter" panose="020B0509030504030204" pitchFamily="49" charset="0"/>
              </a:rPr>
              <a:t>(</a:t>
            </a:r>
            <a:r>
              <a:rPr lang="en-US" altLang="zh-TW" sz="2385" dirty="0" err="1">
                <a:solidFill>
                  <a:prstClr val="black"/>
                </a:solidFill>
                <a:latin typeface="Lucida Sans Typewriter" panose="020B0509030504030204" pitchFamily="49" charset="0"/>
              </a:rPr>
              <a:t>garbage,garbage,garbage</a:t>
            </a:r>
            <a:r>
              <a:rPr lang="en-US" altLang="zh-TW" sz="2385" dirty="0">
                <a:solidFill>
                  <a:prstClr val="black"/>
                </a:solidFill>
                <a:latin typeface="Lucida Sans Typewriter" panose="020B0509030504030204" pitchFamily="49" charset="0"/>
              </a:rPr>
              <a:t>)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" y="0"/>
            <a:ext cx="9729788" cy="958410"/>
          </a:xfrm>
        </p:spPr>
        <p:txBody>
          <a:bodyPr>
            <a:normAutofit/>
          </a:bodyPr>
          <a:lstStyle/>
          <a:p>
            <a:r>
              <a:rPr lang="en-US" altLang="zh-TW" sz="4200" dirty="0">
                <a:solidFill>
                  <a:srgbClr val="0070C0"/>
                </a:solidFill>
              </a:rPr>
              <a:t>In C, you manage your own garbage</a:t>
            </a:r>
            <a:endParaRPr lang="zh-TW" altLang="en-US" sz="4200" dirty="0">
              <a:solidFill>
                <a:srgbClr val="0070C0"/>
              </a:solidFill>
            </a:endParaRPr>
          </a:p>
        </p:txBody>
      </p:sp>
      <p:sp>
        <p:nvSpPr>
          <p:cNvPr id="24" name="Rounded Rectangular Callout 23"/>
          <p:cNvSpPr/>
          <p:nvPr/>
        </p:nvSpPr>
        <p:spPr>
          <a:xfrm>
            <a:off x="291505" y="2549251"/>
            <a:ext cx="4260474" cy="1182111"/>
          </a:xfrm>
          <a:prstGeom prst="wedgeRoundRectCallout">
            <a:avLst>
              <a:gd name="adj1" fmla="val 72911"/>
              <a:gd name="adj2" fmla="val 111165"/>
              <a:gd name="adj3" fmla="val 16667"/>
            </a:avLst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568" dirty="0">
                <a:solidFill>
                  <a:prstClr val="white"/>
                </a:solidFill>
              </a:rPr>
              <a:t>But what if we ran this program instead? </a:t>
            </a:r>
          </a:p>
          <a:p>
            <a:pPr algn="ctr"/>
            <a:r>
              <a:rPr lang="en-US" altLang="zh-TW" sz="2568" dirty="0">
                <a:solidFill>
                  <a:prstClr val="white"/>
                </a:solidFill>
              </a:rPr>
              <a:t>Now B get’s freed… </a:t>
            </a:r>
            <a:endParaRPr lang="zh-TW" altLang="en-US" sz="2568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53001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10"/>
          <p:cNvGrpSpPr/>
          <p:nvPr/>
        </p:nvGrpSpPr>
        <p:grpSpPr>
          <a:xfrm>
            <a:off x="270230" y="5680794"/>
            <a:ext cx="932931" cy="787068"/>
            <a:chOff x="377687" y="5883965"/>
            <a:chExt cx="1017106" cy="858083"/>
          </a:xfrm>
        </p:grpSpPr>
        <p:sp>
          <p:nvSpPr>
            <p:cNvPr id="27" name="Rectangle 11"/>
            <p:cNvSpPr/>
            <p:nvPr/>
          </p:nvSpPr>
          <p:spPr>
            <a:xfrm>
              <a:off x="377687" y="5883965"/>
              <a:ext cx="993913" cy="46713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80000"/>
                </a:lnSpc>
              </a:pPr>
              <a:r>
                <a:rPr lang="en-US" altLang="zh-TW" sz="1651" dirty="0">
                  <a:solidFill>
                    <a:prstClr val="white"/>
                  </a:solidFill>
                </a:rPr>
                <a:t>t</a:t>
              </a:r>
              <a:r>
                <a:rPr lang="en-US" altLang="zh-TW" sz="1651" dirty="0" smtClean="0">
                  <a:solidFill>
                    <a:prstClr val="white"/>
                  </a:solidFill>
                </a:rPr>
                <a:t>hat</a:t>
              </a:r>
              <a:br>
                <a:rPr lang="en-US" altLang="zh-TW" sz="1651" dirty="0" smtClean="0">
                  <a:solidFill>
                    <a:prstClr val="white"/>
                  </a:solidFill>
                </a:rPr>
              </a:br>
              <a:r>
                <a:rPr lang="en-US" altLang="zh-TW" sz="1651" dirty="0" smtClean="0">
                  <a:solidFill>
                    <a:prstClr val="white"/>
                  </a:solidFill>
                </a:rPr>
                <a:t>memory</a:t>
              </a:r>
              <a:endParaRPr lang="zh-TW" altLang="en-US" sz="1651" dirty="0">
                <a:solidFill>
                  <a:prstClr val="white"/>
                </a:solidFill>
              </a:endParaRPr>
            </a:p>
          </p:txBody>
        </p:sp>
        <p:sp>
          <p:nvSpPr>
            <p:cNvPr id="28" name="Rectangle 12"/>
            <p:cNvSpPr/>
            <p:nvPr/>
          </p:nvSpPr>
          <p:spPr>
            <a:xfrm>
              <a:off x="400880" y="6274909"/>
              <a:ext cx="993913" cy="46713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651" dirty="0">
                  <a:solidFill>
                    <a:prstClr val="black"/>
                  </a:solidFill>
                </a:rPr>
                <a:t>*A</a:t>
              </a:r>
              <a:endParaRPr lang="zh-TW" altLang="en-US" sz="1651" dirty="0">
                <a:solidFill>
                  <a:prstClr val="black"/>
                </a:solidFill>
              </a:endParaRPr>
            </a:p>
          </p:txBody>
        </p:sp>
      </p:grpSp>
      <p:sp>
        <p:nvSpPr>
          <p:cNvPr id="4" name="Content Placeholder 2"/>
          <p:cNvSpPr txBox="1">
            <a:spLocks/>
          </p:cNvSpPr>
          <p:nvPr/>
        </p:nvSpPr>
        <p:spPr>
          <a:xfrm>
            <a:off x="4953591" y="958409"/>
            <a:ext cx="4699997" cy="5615808"/>
          </a:xfrm>
          <a:prstGeom prst="rect">
            <a:avLst/>
          </a:prstGeom>
          <a:solidFill>
            <a:schemeClr val="tx1"/>
          </a:solidFill>
        </p:spPr>
        <p:txBody>
          <a:bodyPr vert="horz" lIns="83872" tIns="41936" rIns="83872" bIns="41936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% cat </a:t>
            </a:r>
            <a:r>
              <a:rPr lang="en-US" altLang="zh-TW" sz="2385" dirty="0" smtClean="0">
                <a:solidFill>
                  <a:prstClr val="white"/>
                </a:solidFill>
                <a:latin typeface="Lucida Sans Typewriter" panose="020B0509030504030204" pitchFamily="49" charset="0"/>
              </a:rPr>
              <a:t>prog2.c</a:t>
            </a:r>
            <a:endParaRPr lang="en-US" altLang="zh-TW" sz="2385" dirty="0">
              <a:solidFill>
                <a:prstClr val="white"/>
              </a:solidFill>
              <a:latin typeface="Lucida Sans Typewriter" panose="020B0509030504030204" pitchFamily="49" charset="0"/>
            </a:endParaRP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#include "</a:t>
            </a:r>
            <a:r>
              <a:rPr lang="en-US" altLang="zh-TW" sz="2385" dirty="0" err="1">
                <a:solidFill>
                  <a:prstClr val="white"/>
                </a:solidFill>
                <a:latin typeface="Lucida Sans Typewriter" panose="020B0509030504030204" pitchFamily="49" charset="0"/>
              </a:rPr>
              <a:t>stuff.h</a:t>
            </a: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"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 err="1">
                <a:solidFill>
                  <a:prstClr val="white"/>
                </a:solidFill>
                <a:latin typeface="Lucida Sans Typewriter" panose="020B0509030504030204" pitchFamily="49" charset="0"/>
              </a:rPr>
              <a:t>int</a:t>
            </a: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 main() {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   A=(</a:t>
            </a:r>
            <a:r>
              <a:rPr lang="en-US" altLang="zh-TW" sz="2385" dirty="0" err="1">
                <a:solidFill>
                  <a:prstClr val="white"/>
                </a:solidFill>
                <a:latin typeface="Lucida Sans Typewriter" panose="020B0509030504030204" pitchFamily="49" charset="0"/>
              </a:rPr>
              <a:t>coord</a:t>
            </a: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*)</a:t>
            </a:r>
            <a:r>
              <a:rPr lang="en-US" altLang="zh-TW" sz="2385" dirty="0" err="1">
                <a:solidFill>
                  <a:prstClr val="white"/>
                </a:solidFill>
                <a:latin typeface="Lucida Sans Typewriter" panose="020B0509030504030204" pitchFamily="49" charset="0"/>
              </a:rPr>
              <a:t>malloc</a:t>
            </a: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     </a:t>
            </a:r>
            <a:b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</a:b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     (</a:t>
            </a:r>
            <a:r>
              <a:rPr lang="en-US" altLang="zh-TW" sz="2385" dirty="0" err="1">
                <a:solidFill>
                  <a:prstClr val="white"/>
                </a:solidFill>
                <a:latin typeface="Lucida Sans Typewriter" panose="020B0509030504030204" pitchFamily="49" charset="0"/>
              </a:rPr>
              <a:t>sizeof</a:t>
            </a: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(</a:t>
            </a:r>
            <a:r>
              <a:rPr lang="en-US" altLang="zh-TW" sz="2385" dirty="0" err="1">
                <a:solidFill>
                  <a:prstClr val="white"/>
                </a:solidFill>
                <a:latin typeface="Lucida Sans Typewriter" panose="020B0509030504030204" pitchFamily="49" charset="0"/>
              </a:rPr>
              <a:t>coord</a:t>
            </a: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));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   A-&gt;x=1;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   B=A; C=B;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   A-&gt;y=2; C-&gt;z=3;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</a:rPr>
              <a:t>   A=NULL; 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</a:rPr>
              <a:t>   print(C);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</a:rPr>
              <a:t>   </a:t>
            </a:r>
            <a:r>
              <a:rPr lang="en-US" altLang="zh-TW" sz="2385" dirty="0">
                <a:solidFill>
                  <a:srgbClr val="A6A6A6"/>
                </a:solidFill>
                <a:latin typeface="Lucida Sans Typewriter" panose="020B0509030504030204" pitchFamily="49" charset="0"/>
              </a:rPr>
              <a:t>free(B);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>
                <a:solidFill>
                  <a:srgbClr val="A6A6A6"/>
                </a:solidFill>
                <a:latin typeface="Lucida Sans Typewriter" panose="020B0509030504030204" pitchFamily="49" charset="0"/>
              </a:rPr>
              <a:t>   </a:t>
            </a:r>
            <a:r>
              <a:rPr lang="en-US" altLang="zh-TW" sz="2385" dirty="0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</a:rPr>
              <a:t>print(C);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</a:rPr>
              <a:t>}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</a:rPr>
              <a:t>%</a:t>
            </a:r>
            <a:r>
              <a:rPr lang="en-US" altLang="zh-TW" sz="2385" dirty="0">
                <a:solidFill>
                  <a:prstClr val="black"/>
                </a:solidFill>
                <a:latin typeface="Lucida Sans Typewriter" panose="020B0509030504030204" pitchFamily="49" charset="0"/>
              </a:rPr>
              <a:t> ./</a:t>
            </a:r>
            <a:r>
              <a:rPr lang="en-US" altLang="zh-TW" sz="2385" dirty="0" err="1">
                <a:solidFill>
                  <a:prstClr val="black"/>
                </a:solidFill>
                <a:latin typeface="Lucida Sans Typewriter" panose="020B0509030504030204" pitchFamily="49" charset="0"/>
              </a:rPr>
              <a:t>prog.x</a:t>
            </a:r>
            <a:endParaRPr lang="en-US" altLang="zh-TW" sz="2385" dirty="0">
              <a:solidFill>
                <a:prstClr val="black"/>
              </a:solidFill>
              <a:latin typeface="Lucida Sans Typewriter" panose="020B0509030504030204" pitchFamily="49" charset="0"/>
            </a:endParaRP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>
                <a:solidFill>
                  <a:prstClr val="black"/>
                </a:solidFill>
                <a:latin typeface="Lucida Sans Typewriter" panose="020B0509030504030204" pitchFamily="49" charset="0"/>
              </a:rPr>
              <a:t>(1,2,3)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>
                <a:solidFill>
                  <a:prstClr val="black"/>
                </a:solidFill>
                <a:latin typeface="Lucida Sans Typewriter" panose="020B0509030504030204" pitchFamily="49" charset="0"/>
              </a:rPr>
              <a:t>(</a:t>
            </a:r>
            <a:r>
              <a:rPr lang="en-US" altLang="zh-TW" sz="2385" dirty="0" err="1">
                <a:solidFill>
                  <a:prstClr val="black"/>
                </a:solidFill>
                <a:latin typeface="Lucida Sans Typewriter" panose="020B0509030504030204" pitchFamily="49" charset="0"/>
              </a:rPr>
              <a:t>garbage,garbage,garbage</a:t>
            </a:r>
            <a:r>
              <a:rPr lang="en-US" altLang="zh-TW" sz="2385" dirty="0">
                <a:solidFill>
                  <a:prstClr val="black"/>
                </a:solidFill>
                <a:latin typeface="Lucida Sans Typewriter" panose="020B0509030504030204" pitchFamily="49" charset="0"/>
              </a:rPr>
              <a:t>)</a:t>
            </a:r>
          </a:p>
        </p:txBody>
      </p:sp>
      <p:sp>
        <p:nvSpPr>
          <p:cNvPr id="18" name="Content Placeholder 2"/>
          <p:cNvSpPr txBox="1">
            <a:spLocks/>
          </p:cNvSpPr>
          <p:nvPr/>
        </p:nvSpPr>
        <p:spPr>
          <a:xfrm>
            <a:off x="4953591" y="958409"/>
            <a:ext cx="4699997" cy="5615808"/>
          </a:xfrm>
          <a:prstGeom prst="rect">
            <a:avLst/>
          </a:prstGeom>
          <a:noFill/>
        </p:spPr>
        <p:txBody>
          <a:bodyPr vert="horz" lIns="83872" tIns="41936" rIns="83872" bIns="41936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% cat </a:t>
            </a:r>
            <a:r>
              <a:rPr lang="en-US" altLang="zh-TW" sz="2385" dirty="0" smtClean="0">
                <a:solidFill>
                  <a:prstClr val="white"/>
                </a:solidFill>
                <a:latin typeface="Lucida Sans Typewriter" panose="020B0509030504030204" pitchFamily="49" charset="0"/>
              </a:rPr>
              <a:t>prog2.c</a:t>
            </a:r>
            <a:endParaRPr lang="en-US" altLang="zh-TW" sz="2385" dirty="0">
              <a:solidFill>
                <a:prstClr val="white"/>
              </a:solidFill>
              <a:latin typeface="Lucida Sans Typewriter" panose="020B0509030504030204" pitchFamily="49" charset="0"/>
            </a:endParaRP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#include "</a:t>
            </a:r>
            <a:r>
              <a:rPr lang="en-US" altLang="zh-TW" sz="2385" dirty="0" err="1">
                <a:solidFill>
                  <a:prstClr val="white"/>
                </a:solidFill>
                <a:latin typeface="Lucida Sans Typewriter" panose="020B0509030504030204" pitchFamily="49" charset="0"/>
              </a:rPr>
              <a:t>stuff.h</a:t>
            </a: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"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 err="1">
                <a:solidFill>
                  <a:prstClr val="white"/>
                </a:solidFill>
                <a:latin typeface="Lucida Sans Typewriter" panose="020B0509030504030204" pitchFamily="49" charset="0"/>
              </a:rPr>
              <a:t>int</a:t>
            </a: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 main() {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   A=(</a:t>
            </a:r>
            <a:r>
              <a:rPr lang="en-US" altLang="zh-TW" sz="2385" dirty="0" err="1">
                <a:solidFill>
                  <a:prstClr val="white"/>
                </a:solidFill>
                <a:latin typeface="Lucida Sans Typewriter" panose="020B0509030504030204" pitchFamily="49" charset="0"/>
              </a:rPr>
              <a:t>coord</a:t>
            </a: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*)</a:t>
            </a:r>
            <a:r>
              <a:rPr lang="en-US" altLang="zh-TW" sz="2385" dirty="0" err="1">
                <a:solidFill>
                  <a:prstClr val="white"/>
                </a:solidFill>
                <a:latin typeface="Lucida Sans Typewriter" panose="020B0509030504030204" pitchFamily="49" charset="0"/>
              </a:rPr>
              <a:t>malloc</a:t>
            </a: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     </a:t>
            </a:r>
            <a:b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</a:b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     (</a:t>
            </a:r>
            <a:r>
              <a:rPr lang="en-US" altLang="zh-TW" sz="2385" dirty="0" err="1">
                <a:solidFill>
                  <a:prstClr val="white"/>
                </a:solidFill>
                <a:latin typeface="Lucida Sans Typewriter" panose="020B0509030504030204" pitchFamily="49" charset="0"/>
              </a:rPr>
              <a:t>sizeof</a:t>
            </a: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(</a:t>
            </a:r>
            <a:r>
              <a:rPr lang="en-US" altLang="zh-TW" sz="2385" dirty="0" err="1">
                <a:solidFill>
                  <a:prstClr val="white"/>
                </a:solidFill>
                <a:latin typeface="Lucida Sans Typewriter" panose="020B0509030504030204" pitchFamily="49" charset="0"/>
              </a:rPr>
              <a:t>coord</a:t>
            </a: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));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   A-&gt;x=1;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   B=A; C=B;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   A-&gt;y=2; C-&gt;z=3;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>
                <a:solidFill>
                  <a:srgbClr val="FFFF00"/>
                </a:solidFill>
                <a:latin typeface="Lucida Sans Typewriter" panose="020B0509030504030204" pitchFamily="49" charset="0"/>
              </a:rPr>
              <a:t>   A=NULL; 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>
                <a:solidFill>
                  <a:srgbClr val="FFFF00"/>
                </a:solidFill>
                <a:latin typeface="Lucida Sans Typewriter" panose="020B0509030504030204" pitchFamily="49" charset="0"/>
              </a:rPr>
              <a:t>   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3126" y="1988582"/>
            <a:ext cx="2807905" cy="74755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dirty="0">
                <a:solidFill>
                  <a:prstClr val="white"/>
                </a:solidFill>
              </a:rPr>
              <a:t>x=</a:t>
            </a:r>
            <a:r>
              <a:rPr lang="en-US" altLang="zh-TW" sz="2800" b="1" dirty="0">
                <a:solidFill>
                  <a:srgbClr val="FFFF00"/>
                </a:solidFill>
              </a:rPr>
              <a:t>1</a:t>
            </a:r>
            <a:r>
              <a:rPr lang="en-US" altLang="zh-TW" sz="2800" dirty="0">
                <a:solidFill>
                  <a:prstClr val="white"/>
                </a:solidFill>
              </a:rPr>
              <a:t>, y=</a:t>
            </a:r>
            <a:r>
              <a:rPr lang="en-US" altLang="zh-TW" sz="2800" b="1" dirty="0">
                <a:solidFill>
                  <a:srgbClr val="FFFF00"/>
                </a:solidFill>
              </a:rPr>
              <a:t>2</a:t>
            </a:r>
            <a:r>
              <a:rPr lang="en-US" altLang="zh-TW" sz="2800" dirty="0">
                <a:solidFill>
                  <a:prstClr val="white"/>
                </a:solidFill>
              </a:rPr>
              <a:t>, z=</a:t>
            </a:r>
            <a:r>
              <a:rPr lang="en-US" altLang="zh-TW" sz="2800" b="1" dirty="0">
                <a:solidFill>
                  <a:srgbClr val="FFFF00"/>
                </a:solidFill>
              </a:rPr>
              <a:t>3</a:t>
            </a:r>
            <a:endParaRPr lang="zh-TW" altLang="en-US" sz="2800" b="1" dirty="0">
              <a:solidFill>
                <a:srgbClr val="FFFF00"/>
              </a:solidFill>
            </a:endParaRPr>
          </a:p>
        </p:txBody>
      </p:sp>
      <p:cxnSp>
        <p:nvCxnSpPr>
          <p:cNvPr id="15" name="Straight Arrow Connector 14"/>
          <p:cNvCxnSpPr/>
          <p:nvPr/>
        </p:nvCxnSpPr>
        <p:spPr>
          <a:xfrm flipV="1">
            <a:off x="726060" y="2736141"/>
            <a:ext cx="1331019" cy="2944652"/>
          </a:xfrm>
          <a:prstGeom prst="straightConnector1">
            <a:avLst/>
          </a:prstGeom>
          <a:ln w="50800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6" idx="0"/>
          </p:cNvCxnSpPr>
          <p:nvPr/>
        </p:nvCxnSpPr>
        <p:spPr>
          <a:xfrm flipV="1">
            <a:off x="2148245" y="2736141"/>
            <a:ext cx="72933" cy="2944652"/>
          </a:xfrm>
          <a:prstGeom prst="straightConnector1">
            <a:avLst/>
          </a:prstGeom>
          <a:ln w="50800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9" idx="0"/>
          </p:cNvCxnSpPr>
          <p:nvPr/>
        </p:nvCxnSpPr>
        <p:spPr>
          <a:xfrm flipH="1" flipV="1">
            <a:off x="2430859" y="2736141"/>
            <a:ext cx="1358364" cy="2944652"/>
          </a:xfrm>
          <a:prstGeom prst="straightConnector1">
            <a:avLst/>
          </a:prstGeom>
          <a:ln w="50800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" y="0"/>
            <a:ext cx="9729788" cy="958410"/>
          </a:xfrm>
        </p:spPr>
        <p:txBody>
          <a:bodyPr>
            <a:normAutofit/>
          </a:bodyPr>
          <a:lstStyle/>
          <a:p>
            <a:r>
              <a:rPr lang="en-US" altLang="zh-TW" sz="4200" dirty="0">
                <a:solidFill>
                  <a:srgbClr val="0070C0"/>
                </a:solidFill>
              </a:rPr>
              <a:t>In C, you manage your own garbage</a:t>
            </a:r>
            <a:endParaRPr lang="zh-TW" altLang="en-US" sz="4200" dirty="0">
              <a:solidFill>
                <a:srgbClr val="0070C0"/>
              </a:solidFill>
            </a:endParaRPr>
          </a:p>
        </p:txBody>
      </p:sp>
      <p:sp>
        <p:nvSpPr>
          <p:cNvPr id="24" name="Rounded Rectangular Callout 23"/>
          <p:cNvSpPr/>
          <p:nvPr/>
        </p:nvSpPr>
        <p:spPr>
          <a:xfrm>
            <a:off x="291505" y="2549251"/>
            <a:ext cx="4260474" cy="1182111"/>
          </a:xfrm>
          <a:prstGeom prst="wedgeRoundRectCallout">
            <a:avLst>
              <a:gd name="adj1" fmla="val 71841"/>
              <a:gd name="adj2" fmla="val 37900"/>
              <a:gd name="adj3" fmla="val 16667"/>
            </a:avLst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568" dirty="0">
                <a:solidFill>
                  <a:prstClr val="white"/>
                </a:solidFill>
              </a:rPr>
              <a:t>Up to this point, </a:t>
            </a:r>
            <a:br>
              <a:rPr lang="en-US" altLang="zh-TW" sz="2568" dirty="0">
                <a:solidFill>
                  <a:prstClr val="white"/>
                </a:solidFill>
              </a:rPr>
            </a:br>
            <a:r>
              <a:rPr lang="en-US" altLang="zh-TW" sz="2568" dirty="0">
                <a:solidFill>
                  <a:prstClr val="white"/>
                </a:solidFill>
              </a:rPr>
              <a:t>everything is the same…</a:t>
            </a:r>
          </a:p>
        </p:txBody>
      </p:sp>
      <p:grpSp>
        <p:nvGrpSpPr>
          <p:cNvPr id="19" name="Group 4"/>
          <p:cNvGrpSpPr/>
          <p:nvPr/>
        </p:nvGrpSpPr>
        <p:grpSpPr>
          <a:xfrm>
            <a:off x="1692415" y="5680794"/>
            <a:ext cx="932931" cy="787068"/>
            <a:chOff x="377687" y="5883965"/>
            <a:chExt cx="1017106" cy="858083"/>
          </a:xfrm>
        </p:grpSpPr>
        <p:sp>
          <p:nvSpPr>
            <p:cNvPr id="20" name="Rectangle 5"/>
            <p:cNvSpPr/>
            <p:nvPr/>
          </p:nvSpPr>
          <p:spPr>
            <a:xfrm>
              <a:off x="377687" y="5883965"/>
              <a:ext cx="993913" cy="46713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80000"/>
                </a:lnSpc>
              </a:pPr>
              <a:r>
                <a:rPr lang="en-US" altLang="zh-TW" sz="1651" dirty="0" smtClean="0">
                  <a:solidFill>
                    <a:prstClr val="white"/>
                  </a:solidFill>
                </a:rPr>
                <a:t>that memory</a:t>
              </a:r>
              <a:endParaRPr lang="zh-TW" altLang="en-US" sz="1651" dirty="0">
                <a:solidFill>
                  <a:prstClr val="white"/>
                </a:solidFill>
              </a:endParaRPr>
            </a:p>
          </p:txBody>
        </p:sp>
        <p:sp>
          <p:nvSpPr>
            <p:cNvPr id="21" name="Rectangle 6"/>
            <p:cNvSpPr/>
            <p:nvPr/>
          </p:nvSpPr>
          <p:spPr>
            <a:xfrm>
              <a:off x="400880" y="6274909"/>
              <a:ext cx="993913" cy="46713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651" dirty="0">
                  <a:solidFill>
                    <a:prstClr val="black"/>
                  </a:solidFill>
                </a:rPr>
                <a:t>*B</a:t>
              </a:r>
              <a:endParaRPr lang="zh-TW" altLang="en-US" sz="1651" dirty="0">
                <a:solidFill>
                  <a:prstClr val="black"/>
                </a:solidFill>
              </a:endParaRPr>
            </a:p>
          </p:txBody>
        </p:sp>
      </p:grpSp>
      <p:grpSp>
        <p:nvGrpSpPr>
          <p:cNvPr id="22" name="Group 7"/>
          <p:cNvGrpSpPr/>
          <p:nvPr/>
        </p:nvGrpSpPr>
        <p:grpSpPr>
          <a:xfrm>
            <a:off x="3333393" y="5680794"/>
            <a:ext cx="932931" cy="787068"/>
            <a:chOff x="377687" y="5883965"/>
            <a:chExt cx="1017106" cy="858083"/>
          </a:xfrm>
        </p:grpSpPr>
        <p:sp>
          <p:nvSpPr>
            <p:cNvPr id="23" name="Rectangle 8"/>
            <p:cNvSpPr/>
            <p:nvPr/>
          </p:nvSpPr>
          <p:spPr>
            <a:xfrm>
              <a:off x="377687" y="5883965"/>
              <a:ext cx="993913" cy="46713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80000"/>
                </a:lnSpc>
              </a:pPr>
              <a:r>
                <a:rPr lang="en-US" altLang="zh-TW" sz="1651" dirty="0">
                  <a:solidFill>
                    <a:prstClr val="white"/>
                  </a:solidFill>
                </a:rPr>
                <a:t>t</a:t>
              </a:r>
              <a:r>
                <a:rPr lang="en-US" altLang="zh-TW" sz="1651" dirty="0" smtClean="0">
                  <a:solidFill>
                    <a:prstClr val="white"/>
                  </a:solidFill>
                </a:rPr>
                <a:t>hat</a:t>
              </a:r>
              <a:br>
                <a:rPr lang="en-US" altLang="zh-TW" sz="1651" dirty="0" smtClean="0">
                  <a:solidFill>
                    <a:prstClr val="white"/>
                  </a:solidFill>
                </a:rPr>
              </a:br>
              <a:r>
                <a:rPr lang="en-US" altLang="zh-TW" sz="1651" dirty="0" smtClean="0">
                  <a:solidFill>
                    <a:prstClr val="white"/>
                  </a:solidFill>
                </a:rPr>
                <a:t>memory</a:t>
              </a:r>
              <a:endParaRPr lang="zh-TW" altLang="en-US" sz="1651" dirty="0">
                <a:solidFill>
                  <a:prstClr val="white"/>
                </a:solidFill>
              </a:endParaRPr>
            </a:p>
          </p:txBody>
        </p:sp>
        <p:sp>
          <p:nvSpPr>
            <p:cNvPr id="25" name="Rectangle 9"/>
            <p:cNvSpPr/>
            <p:nvPr/>
          </p:nvSpPr>
          <p:spPr>
            <a:xfrm>
              <a:off x="400880" y="6274909"/>
              <a:ext cx="993913" cy="46713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651" dirty="0">
                  <a:solidFill>
                    <a:prstClr val="black"/>
                  </a:solidFill>
                </a:rPr>
                <a:t>*C</a:t>
              </a:r>
              <a:endParaRPr lang="zh-TW" altLang="en-US" sz="1651" dirty="0">
                <a:solidFill>
                  <a:prstClr val="black"/>
                </a:solidFill>
              </a:endParaRPr>
            </a:p>
          </p:txBody>
        </p:sp>
      </p:grpSp>
      <p:grpSp>
        <p:nvGrpSpPr>
          <p:cNvPr id="29" name="Group 10"/>
          <p:cNvGrpSpPr/>
          <p:nvPr/>
        </p:nvGrpSpPr>
        <p:grpSpPr>
          <a:xfrm>
            <a:off x="270230" y="5680794"/>
            <a:ext cx="932931" cy="787068"/>
            <a:chOff x="377687" y="5883965"/>
            <a:chExt cx="1017106" cy="858083"/>
          </a:xfrm>
        </p:grpSpPr>
        <p:sp>
          <p:nvSpPr>
            <p:cNvPr id="30" name="Rectangle 11"/>
            <p:cNvSpPr/>
            <p:nvPr/>
          </p:nvSpPr>
          <p:spPr>
            <a:xfrm>
              <a:off x="377687" y="5883965"/>
              <a:ext cx="993913" cy="46713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651" dirty="0" smtClean="0">
                  <a:solidFill>
                    <a:prstClr val="white"/>
                  </a:solidFill>
                </a:rPr>
                <a:t>NULL</a:t>
              </a:r>
              <a:endParaRPr lang="zh-TW" altLang="en-US" sz="1651" dirty="0">
                <a:solidFill>
                  <a:prstClr val="white"/>
                </a:solidFill>
              </a:endParaRPr>
            </a:p>
          </p:txBody>
        </p:sp>
        <p:sp>
          <p:nvSpPr>
            <p:cNvPr id="31" name="Rectangle 12"/>
            <p:cNvSpPr/>
            <p:nvPr/>
          </p:nvSpPr>
          <p:spPr>
            <a:xfrm>
              <a:off x="400880" y="6274909"/>
              <a:ext cx="993913" cy="46713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651" dirty="0">
                  <a:solidFill>
                    <a:prstClr val="black"/>
                  </a:solidFill>
                </a:rPr>
                <a:t>*A</a:t>
              </a:r>
              <a:endParaRPr lang="zh-TW" altLang="en-US" sz="1651" dirty="0"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83687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xit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4" grpId="1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 txBox="1">
            <a:spLocks/>
          </p:cNvSpPr>
          <p:nvPr/>
        </p:nvSpPr>
        <p:spPr>
          <a:xfrm>
            <a:off x="4953591" y="958409"/>
            <a:ext cx="4699997" cy="5615808"/>
          </a:xfrm>
          <a:prstGeom prst="rect">
            <a:avLst/>
          </a:prstGeom>
          <a:solidFill>
            <a:schemeClr val="tx1"/>
          </a:solidFill>
        </p:spPr>
        <p:txBody>
          <a:bodyPr vert="horz" lIns="83872" tIns="41936" rIns="83872" bIns="41936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% cat </a:t>
            </a:r>
            <a:r>
              <a:rPr lang="en-US" altLang="zh-TW" sz="2385" dirty="0" smtClean="0">
                <a:solidFill>
                  <a:prstClr val="white"/>
                </a:solidFill>
                <a:latin typeface="Lucida Sans Typewriter" panose="020B0509030504030204" pitchFamily="49" charset="0"/>
              </a:rPr>
              <a:t>prog2.c</a:t>
            </a:r>
            <a:endParaRPr lang="en-US" altLang="zh-TW" sz="2385" dirty="0">
              <a:solidFill>
                <a:prstClr val="white"/>
              </a:solidFill>
              <a:latin typeface="Lucida Sans Typewriter" panose="020B0509030504030204" pitchFamily="49" charset="0"/>
            </a:endParaRP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#include "</a:t>
            </a:r>
            <a:r>
              <a:rPr lang="en-US" altLang="zh-TW" sz="2385" dirty="0" err="1">
                <a:solidFill>
                  <a:prstClr val="white"/>
                </a:solidFill>
                <a:latin typeface="Lucida Sans Typewriter" panose="020B0509030504030204" pitchFamily="49" charset="0"/>
              </a:rPr>
              <a:t>stuff.h</a:t>
            </a: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"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 err="1">
                <a:solidFill>
                  <a:prstClr val="white"/>
                </a:solidFill>
                <a:latin typeface="Lucida Sans Typewriter" panose="020B0509030504030204" pitchFamily="49" charset="0"/>
              </a:rPr>
              <a:t>int</a:t>
            </a: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 main() {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   A=(</a:t>
            </a:r>
            <a:r>
              <a:rPr lang="en-US" altLang="zh-TW" sz="2385" dirty="0" err="1">
                <a:solidFill>
                  <a:prstClr val="white"/>
                </a:solidFill>
                <a:latin typeface="Lucida Sans Typewriter" panose="020B0509030504030204" pitchFamily="49" charset="0"/>
              </a:rPr>
              <a:t>coord</a:t>
            </a: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*)</a:t>
            </a:r>
            <a:r>
              <a:rPr lang="en-US" altLang="zh-TW" sz="2385" dirty="0" err="1">
                <a:solidFill>
                  <a:prstClr val="white"/>
                </a:solidFill>
                <a:latin typeface="Lucida Sans Typewriter" panose="020B0509030504030204" pitchFamily="49" charset="0"/>
              </a:rPr>
              <a:t>malloc</a:t>
            </a: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     </a:t>
            </a:r>
            <a:b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</a:b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     (</a:t>
            </a:r>
            <a:r>
              <a:rPr lang="en-US" altLang="zh-TW" sz="2385" dirty="0" err="1">
                <a:solidFill>
                  <a:prstClr val="white"/>
                </a:solidFill>
                <a:latin typeface="Lucida Sans Typewriter" panose="020B0509030504030204" pitchFamily="49" charset="0"/>
              </a:rPr>
              <a:t>sizeof</a:t>
            </a: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(</a:t>
            </a:r>
            <a:r>
              <a:rPr lang="en-US" altLang="zh-TW" sz="2385" dirty="0" err="1">
                <a:solidFill>
                  <a:prstClr val="white"/>
                </a:solidFill>
                <a:latin typeface="Lucida Sans Typewriter" panose="020B0509030504030204" pitchFamily="49" charset="0"/>
              </a:rPr>
              <a:t>coord</a:t>
            </a: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));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   A-&gt;x=1;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   B=A; C=B;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   A-&gt;y=2; C-&gt;z=3;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</a:rPr>
              <a:t>   A=NULL; 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</a:rPr>
              <a:t>   print(C);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</a:rPr>
              <a:t>   </a:t>
            </a:r>
            <a:r>
              <a:rPr lang="en-US" altLang="zh-TW" sz="2385" dirty="0">
                <a:solidFill>
                  <a:srgbClr val="A6A6A6"/>
                </a:solidFill>
                <a:latin typeface="Lucida Sans Typewriter" panose="020B0509030504030204" pitchFamily="49" charset="0"/>
              </a:rPr>
              <a:t>free(B);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>
                <a:solidFill>
                  <a:srgbClr val="A6A6A6"/>
                </a:solidFill>
                <a:latin typeface="Lucida Sans Typewriter" panose="020B0509030504030204" pitchFamily="49" charset="0"/>
              </a:rPr>
              <a:t>   </a:t>
            </a:r>
            <a:r>
              <a:rPr lang="en-US" altLang="zh-TW" sz="2385" dirty="0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</a:rPr>
              <a:t>print(C);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</a:rPr>
              <a:t>}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</a:rPr>
              <a:t>%</a:t>
            </a:r>
            <a:r>
              <a:rPr lang="en-US" altLang="zh-TW" sz="2385" dirty="0">
                <a:solidFill>
                  <a:prstClr val="black"/>
                </a:solidFill>
                <a:latin typeface="Lucida Sans Typewriter" panose="020B0509030504030204" pitchFamily="49" charset="0"/>
              </a:rPr>
              <a:t> ./</a:t>
            </a:r>
            <a:r>
              <a:rPr lang="en-US" altLang="zh-TW" sz="2385" dirty="0" err="1">
                <a:solidFill>
                  <a:prstClr val="black"/>
                </a:solidFill>
                <a:latin typeface="Lucida Sans Typewriter" panose="020B0509030504030204" pitchFamily="49" charset="0"/>
              </a:rPr>
              <a:t>prog.x</a:t>
            </a:r>
            <a:endParaRPr lang="en-US" altLang="zh-TW" sz="2385" dirty="0">
              <a:solidFill>
                <a:prstClr val="black"/>
              </a:solidFill>
              <a:latin typeface="Lucida Sans Typewriter" panose="020B0509030504030204" pitchFamily="49" charset="0"/>
            </a:endParaRP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>
                <a:solidFill>
                  <a:prstClr val="black"/>
                </a:solidFill>
                <a:latin typeface="Lucida Sans Typewriter" panose="020B0509030504030204" pitchFamily="49" charset="0"/>
              </a:rPr>
              <a:t>(1,2,3)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>
                <a:solidFill>
                  <a:prstClr val="black"/>
                </a:solidFill>
                <a:latin typeface="Lucida Sans Typewriter" panose="020B0509030504030204" pitchFamily="49" charset="0"/>
              </a:rPr>
              <a:t>(</a:t>
            </a:r>
            <a:r>
              <a:rPr lang="en-US" altLang="zh-TW" sz="2385" dirty="0" err="1">
                <a:solidFill>
                  <a:prstClr val="black"/>
                </a:solidFill>
                <a:latin typeface="Lucida Sans Typewriter" panose="020B0509030504030204" pitchFamily="49" charset="0"/>
              </a:rPr>
              <a:t>garbage,garbage,garbage</a:t>
            </a:r>
            <a:r>
              <a:rPr lang="en-US" altLang="zh-TW" sz="2385" dirty="0">
                <a:solidFill>
                  <a:prstClr val="black"/>
                </a:solidFill>
                <a:latin typeface="Lucida Sans Typewriter" panose="020B0509030504030204" pitchFamily="49" charset="0"/>
              </a:rPr>
              <a:t>)</a:t>
            </a:r>
          </a:p>
        </p:txBody>
      </p:sp>
      <p:sp>
        <p:nvSpPr>
          <p:cNvPr id="18" name="Content Placeholder 2"/>
          <p:cNvSpPr txBox="1">
            <a:spLocks/>
          </p:cNvSpPr>
          <p:nvPr/>
        </p:nvSpPr>
        <p:spPr>
          <a:xfrm>
            <a:off x="4953591" y="958409"/>
            <a:ext cx="4699997" cy="5615808"/>
          </a:xfrm>
          <a:prstGeom prst="rect">
            <a:avLst/>
          </a:prstGeom>
          <a:noFill/>
        </p:spPr>
        <p:txBody>
          <a:bodyPr vert="horz" lIns="83872" tIns="41936" rIns="83872" bIns="41936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% cat </a:t>
            </a:r>
            <a:r>
              <a:rPr lang="en-US" altLang="zh-TW" sz="2385" dirty="0" smtClean="0">
                <a:solidFill>
                  <a:prstClr val="white"/>
                </a:solidFill>
                <a:latin typeface="Lucida Sans Typewriter" panose="020B0509030504030204" pitchFamily="49" charset="0"/>
              </a:rPr>
              <a:t>prog2.c</a:t>
            </a:r>
            <a:endParaRPr lang="en-US" altLang="zh-TW" sz="2385" dirty="0">
              <a:solidFill>
                <a:prstClr val="white"/>
              </a:solidFill>
              <a:latin typeface="Lucida Sans Typewriter" panose="020B0509030504030204" pitchFamily="49" charset="0"/>
            </a:endParaRP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#include "</a:t>
            </a:r>
            <a:r>
              <a:rPr lang="en-US" altLang="zh-TW" sz="2385" dirty="0" err="1">
                <a:solidFill>
                  <a:prstClr val="white"/>
                </a:solidFill>
                <a:latin typeface="Lucida Sans Typewriter" panose="020B0509030504030204" pitchFamily="49" charset="0"/>
              </a:rPr>
              <a:t>stuff.h</a:t>
            </a: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"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 err="1">
                <a:solidFill>
                  <a:prstClr val="white"/>
                </a:solidFill>
                <a:latin typeface="Lucida Sans Typewriter" panose="020B0509030504030204" pitchFamily="49" charset="0"/>
              </a:rPr>
              <a:t>int</a:t>
            </a: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 main() {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   A=(</a:t>
            </a:r>
            <a:r>
              <a:rPr lang="en-US" altLang="zh-TW" sz="2385" dirty="0" err="1">
                <a:solidFill>
                  <a:prstClr val="white"/>
                </a:solidFill>
                <a:latin typeface="Lucida Sans Typewriter" panose="020B0509030504030204" pitchFamily="49" charset="0"/>
              </a:rPr>
              <a:t>coord</a:t>
            </a: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*)</a:t>
            </a:r>
            <a:r>
              <a:rPr lang="en-US" altLang="zh-TW" sz="2385" dirty="0" err="1">
                <a:solidFill>
                  <a:prstClr val="white"/>
                </a:solidFill>
                <a:latin typeface="Lucida Sans Typewriter" panose="020B0509030504030204" pitchFamily="49" charset="0"/>
              </a:rPr>
              <a:t>malloc</a:t>
            </a: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     </a:t>
            </a:r>
            <a:b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</a:b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     (</a:t>
            </a:r>
            <a:r>
              <a:rPr lang="en-US" altLang="zh-TW" sz="2385" dirty="0" err="1">
                <a:solidFill>
                  <a:prstClr val="white"/>
                </a:solidFill>
                <a:latin typeface="Lucida Sans Typewriter" panose="020B0509030504030204" pitchFamily="49" charset="0"/>
              </a:rPr>
              <a:t>sizeof</a:t>
            </a: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(</a:t>
            </a:r>
            <a:r>
              <a:rPr lang="en-US" altLang="zh-TW" sz="2385" dirty="0" err="1">
                <a:solidFill>
                  <a:prstClr val="white"/>
                </a:solidFill>
                <a:latin typeface="Lucida Sans Typewriter" panose="020B0509030504030204" pitchFamily="49" charset="0"/>
              </a:rPr>
              <a:t>coord</a:t>
            </a: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));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   A-&gt;x=1;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   B=A; C=B;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   A-&gt;y=2; C-&gt;z=3;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>
                <a:solidFill>
                  <a:srgbClr val="FFFF00"/>
                </a:solidFill>
                <a:latin typeface="Lucida Sans Typewriter" panose="020B0509030504030204" pitchFamily="49" charset="0"/>
              </a:rPr>
              <a:t>   </a:t>
            </a: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A=NULL;</a:t>
            </a:r>
            <a:r>
              <a:rPr lang="en-US" altLang="zh-TW" sz="2385" dirty="0">
                <a:solidFill>
                  <a:srgbClr val="FFFF00"/>
                </a:solidFill>
                <a:latin typeface="Lucida Sans Typewriter" panose="020B0509030504030204" pitchFamily="49" charset="0"/>
              </a:rPr>
              <a:t> 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>
                <a:solidFill>
                  <a:srgbClr val="FFFF00"/>
                </a:solidFill>
                <a:latin typeface="Lucida Sans Typewriter" panose="020B0509030504030204" pitchFamily="49" charset="0"/>
              </a:rPr>
              <a:t>   print(C);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>
                <a:solidFill>
                  <a:srgbClr val="FFFF00"/>
                </a:solidFill>
                <a:latin typeface="Lucida Sans Typewriter" panose="020B0509030504030204" pitchFamily="49" charset="0"/>
              </a:rPr>
              <a:t>   free(B);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>
                <a:solidFill>
                  <a:srgbClr val="FFFF00"/>
                </a:solidFill>
                <a:latin typeface="Lucida Sans Typewriter" panose="020B0509030504030204" pitchFamily="49" charset="0"/>
              </a:rPr>
              <a:t>   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endParaRPr lang="en-US" altLang="zh-TW" sz="2385" dirty="0">
              <a:solidFill>
                <a:srgbClr val="FFFF00"/>
              </a:solidFill>
              <a:latin typeface="Lucida Sans Typewriter" panose="020B0509030504030204" pitchFamily="49" charset="0"/>
            </a:endParaRP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>
                <a:solidFill>
                  <a:srgbClr val="FFFF00"/>
                </a:solidFill>
                <a:latin typeface="Lucida Sans Typewriter" panose="020B0509030504030204" pitchFamily="49" charset="0"/>
              </a:rPr>
              <a:t>% ./</a:t>
            </a:r>
            <a:r>
              <a:rPr lang="en-US" altLang="zh-TW" sz="2385" dirty="0" smtClean="0">
                <a:solidFill>
                  <a:srgbClr val="FFFF00"/>
                </a:solidFill>
                <a:latin typeface="Lucida Sans Typewriter" panose="020B0509030504030204" pitchFamily="49" charset="0"/>
              </a:rPr>
              <a:t>prog2.x</a:t>
            </a:r>
            <a:endParaRPr lang="en-US" altLang="zh-TW" sz="2385" dirty="0">
              <a:solidFill>
                <a:srgbClr val="FFFF00"/>
              </a:solidFill>
              <a:latin typeface="Lucida Sans Typewriter" panose="020B0509030504030204" pitchFamily="49" charset="0"/>
            </a:endParaRP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>
                <a:solidFill>
                  <a:srgbClr val="FFFF00"/>
                </a:solidFill>
                <a:latin typeface="Lucida Sans Typewriter" panose="020B0509030504030204" pitchFamily="49" charset="0"/>
              </a:rPr>
              <a:t>(1,2,3)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endParaRPr lang="en-US" altLang="zh-TW" sz="2385" dirty="0">
              <a:solidFill>
                <a:srgbClr val="FFFF00"/>
              </a:solidFill>
              <a:latin typeface="Lucida Sans Typewriter" panose="020B0509030504030204" pitchFamily="49" charset="0"/>
            </a:endParaRPr>
          </a:p>
        </p:txBody>
      </p:sp>
      <p:cxnSp>
        <p:nvCxnSpPr>
          <p:cNvPr id="16" name="Straight Arrow Connector 15"/>
          <p:cNvCxnSpPr>
            <a:stCxn id="6" idx="0"/>
          </p:cNvCxnSpPr>
          <p:nvPr/>
        </p:nvCxnSpPr>
        <p:spPr>
          <a:xfrm flipV="1">
            <a:off x="2148245" y="2736141"/>
            <a:ext cx="72933" cy="2944652"/>
          </a:xfrm>
          <a:prstGeom prst="straightConnector1">
            <a:avLst/>
          </a:prstGeom>
          <a:ln w="50800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9" idx="0"/>
          </p:cNvCxnSpPr>
          <p:nvPr/>
        </p:nvCxnSpPr>
        <p:spPr>
          <a:xfrm flipH="1" flipV="1">
            <a:off x="2430859" y="2736141"/>
            <a:ext cx="1358364" cy="2944652"/>
          </a:xfrm>
          <a:prstGeom prst="straightConnector1">
            <a:avLst/>
          </a:prstGeom>
          <a:ln w="50800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" y="0"/>
            <a:ext cx="9729788" cy="958410"/>
          </a:xfrm>
        </p:spPr>
        <p:txBody>
          <a:bodyPr>
            <a:normAutofit/>
          </a:bodyPr>
          <a:lstStyle/>
          <a:p>
            <a:r>
              <a:rPr lang="en-US" altLang="zh-TW" sz="4200" dirty="0">
                <a:solidFill>
                  <a:srgbClr val="0070C0"/>
                </a:solidFill>
              </a:rPr>
              <a:t>In C, you manage your own garbage</a:t>
            </a:r>
            <a:endParaRPr lang="zh-TW" altLang="en-US" sz="4200" dirty="0">
              <a:solidFill>
                <a:srgbClr val="0070C0"/>
              </a:solidFill>
            </a:endParaRPr>
          </a:p>
        </p:txBody>
      </p:sp>
      <p:grpSp>
        <p:nvGrpSpPr>
          <p:cNvPr id="19" name="Group 4"/>
          <p:cNvGrpSpPr/>
          <p:nvPr/>
        </p:nvGrpSpPr>
        <p:grpSpPr>
          <a:xfrm>
            <a:off x="1692415" y="5680794"/>
            <a:ext cx="932931" cy="787068"/>
            <a:chOff x="377687" y="5883965"/>
            <a:chExt cx="1017106" cy="858083"/>
          </a:xfrm>
        </p:grpSpPr>
        <p:sp>
          <p:nvSpPr>
            <p:cNvPr id="20" name="Rectangle 5"/>
            <p:cNvSpPr/>
            <p:nvPr/>
          </p:nvSpPr>
          <p:spPr>
            <a:xfrm>
              <a:off x="377687" y="5883965"/>
              <a:ext cx="993913" cy="46713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80000"/>
                </a:lnSpc>
              </a:pPr>
              <a:r>
                <a:rPr lang="en-US" altLang="zh-TW" sz="1651" dirty="0" smtClean="0">
                  <a:solidFill>
                    <a:prstClr val="white"/>
                  </a:solidFill>
                </a:rPr>
                <a:t>that memory</a:t>
              </a:r>
              <a:endParaRPr lang="zh-TW" altLang="en-US" sz="1651" dirty="0">
                <a:solidFill>
                  <a:prstClr val="white"/>
                </a:solidFill>
              </a:endParaRPr>
            </a:p>
          </p:txBody>
        </p:sp>
        <p:sp>
          <p:nvSpPr>
            <p:cNvPr id="21" name="Rectangle 6"/>
            <p:cNvSpPr/>
            <p:nvPr/>
          </p:nvSpPr>
          <p:spPr>
            <a:xfrm>
              <a:off x="400880" y="6274909"/>
              <a:ext cx="993913" cy="46713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651" dirty="0">
                  <a:solidFill>
                    <a:prstClr val="black"/>
                  </a:solidFill>
                </a:rPr>
                <a:t>*B</a:t>
              </a:r>
              <a:endParaRPr lang="zh-TW" altLang="en-US" sz="1651" dirty="0">
                <a:solidFill>
                  <a:prstClr val="black"/>
                </a:solidFill>
              </a:endParaRPr>
            </a:p>
          </p:txBody>
        </p:sp>
      </p:grpSp>
      <p:grpSp>
        <p:nvGrpSpPr>
          <p:cNvPr id="22" name="Group 7"/>
          <p:cNvGrpSpPr/>
          <p:nvPr/>
        </p:nvGrpSpPr>
        <p:grpSpPr>
          <a:xfrm>
            <a:off x="3333393" y="5680794"/>
            <a:ext cx="932931" cy="787068"/>
            <a:chOff x="377687" y="5883965"/>
            <a:chExt cx="1017106" cy="858083"/>
          </a:xfrm>
        </p:grpSpPr>
        <p:sp>
          <p:nvSpPr>
            <p:cNvPr id="23" name="Rectangle 8"/>
            <p:cNvSpPr/>
            <p:nvPr/>
          </p:nvSpPr>
          <p:spPr>
            <a:xfrm>
              <a:off x="377687" y="5883965"/>
              <a:ext cx="993913" cy="46713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80000"/>
                </a:lnSpc>
              </a:pPr>
              <a:r>
                <a:rPr lang="en-US" altLang="zh-TW" sz="1651" dirty="0">
                  <a:solidFill>
                    <a:prstClr val="white"/>
                  </a:solidFill>
                </a:rPr>
                <a:t>t</a:t>
              </a:r>
              <a:r>
                <a:rPr lang="en-US" altLang="zh-TW" sz="1651" dirty="0" smtClean="0">
                  <a:solidFill>
                    <a:prstClr val="white"/>
                  </a:solidFill>
                </a:rPr>
                <a:t>hat</a:t>
              </a:r>
              <a:br>
                <a:rPr lang="en-US" altLang="zh-TW" sz="1651" dirty="0" smtClean="0">
                  <a:solidFill>
                    <a:prstClr val="white"/>
                  </a:solidFill>
                </a:rPr>
              </a:br>
              <a:r>
                <a:rPr lang="en-US" altLang="zh-TW" sz="1651" dirty="0" smtClean="0">
                  <a:solidFill>
                    <a:prstClr val="white"/>
                  </a:solidFill>
                </a:rPr>
                <a:t>memory</a:t>
              </a:r>
              <a:endParaRPr lang="zh-TW" altLang="en-US" sz="1651" dirty="0">
                <a:solidFill>
                  <a:prstClr val="white"/>
                </a:solidFill>
              </a:endParaRPr>
            </a:p>
          </p:txBody>
        </p:sp>
        <p:sp>
          <p:nvSpPr>
            <p:cNvPr id="24" name="Rectangle 9"/>
            <p:cNvSpPr/>
            <p:nvPr/>
          </p:nvSpPr>
          <p:spPr>
            <a:xfrm>
              <a:off x="400880" y="6274909"/>
              <a:ext cx="993913" cy="46713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651" dirty="0">
                  <a:solidFill>
                    <a:prstClr val="black"/>
                  </a:solidFill>
                </a:rPr>
                <a:t>*C</a:t>
              </a:r>
              <a:endParaRPr lang="zh-TW" altLang="en-US" sz="1651" dirty="0">
                <a:solidFill>
                  <a:prstClr val="black"/>
                </a:solidFill>
              </a:endParaRPr>
            </a:p>
          </p:txBody>
        </p:sp>
      </p:grpSp>
      <p:grpSp>
        <p:nvGrpSpPr>
          <p:cNvPr id="25" name="Group 10"/>
          <p:cNvGrpSpPr/>
          <p:nvPr/>
        </p:nvGrpSpPr>
        <p:grpSpPr>
          <a:xfrm>
            <a:off x="270230" y="5680794"/>
            <a:ext cx="932931" cy="787068"/>
            <a:chOff x="377687" y="5883965"/>
            <a:chExt cx="1017106" cy="858083"/>
          </a:xfrm>
        </p:grpSpPr>
        <p:sp>
          <p:nvSpPr>
            <p:cNvPr id="26" name="Rectangle 11"/>
            <p:cNvSpPr/>
            <p:nvPr/>
          </p:nvSpPr>
          <p:spPr>
            <a:xfrm>
              <a:off x="377687" y="5883965"/>
              <a:ext cx="993913" cy="46713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651" dirty="0" smtClean="0">
                  <a:solidFill>
                    <a:prstClr val="white"/>
                  </a:solidFill>
                </a:rPr>
                <a:t>NULL</a:t>
              </a:r>
              <a:endParaRPr lang="zh-TW" altLang="en-US" sz="1651" dirty="0">
                <a:solidFill>
                  <a:prstClr val="white"/>
                </a:solidFill>
              </a:endParaRPr>
            </a:p>
          </p:txBody>
        </p:sp>
        <p:sp>
          <p:nvSpPr>
            <p:cNvPr id="27" name="Rectangle 12"/>
            <p:cNvSpPr/>
            <p:nvPr/>
          </p:nvSpPr>
          <p:spPr>
            <a:xfrm>
              <a:off x="400880" y="6274909"/>
              <a:ext cx="993913" cy="46713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651" dirty="0">
                  <a:solidFill>
                    <a:prstClr val="black"/>
                  </a:solidFill>
                </a:rPr>
                <a:t>*A</a:t>
              </a:r>
              <a:endParaRPr lang="zh-TW" altLang="en-US" sz="1651" dirty="0">
                <a:solidFill>
                  <a:prstClr val="black"/>
                </a:solidFill>
              </a:endParaRPr>
            </a:p>
          </p:txBody>
        </p:sp>
      </p:grpSp>
      <p:sp>
        <p:nvSpPr>
          <p:cNvPr id="14" name="Rectangle 13"/>
          <p:cNvSpPr/>
          <p:nvPr/>
        </p:nvSpPr>
        <p:spPr>
          <a:xfrm>
            <a:off x="653126" y="1988582"/>
            <a:ext cx="2807905" cy="74755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dirty="0">
                <a:solidFill>
                  <a:prstClr val="white"/>
                </a:solidFill>
              </a:rPr>
              <a:t>x=</a:t>
            </a:r>
            <a:r>
              <a:rPr lang="en-US" altLang="zh-TW" sz="2800" b="1" dirty="0">
                <a:solidFill>
                  <a:srgbClr val="FFFF00"/>
                </a:solidFill>
              </a:rPr>
              <a:t>1</a:t>
            </a:r>
            <a:r>
              <a:rPr lang="en-US" altLang="zh-TW" sz="2800" dirty="0">
                <a:solidFill>
                  <a:prstClr val="white"/>
                </a:solidFill>
              </a:rPr>
              <a:t>, y=</a:t>
            </a:r>
            <a:r>
              <a:rPr lang="en-US" altLang="zh-TW" sz="2800" b="1" dirty="0">
                <a:solidFill>
                  <a:srgbClr val="FFFF00"/>
                </a:solidFill>
              </a:rPr>
              <a:t>2</a:t>
            </a:r>
            <a:r>
              <a:rPr lang="en-US" altLang="zh-TW" sz="2800" dirty="0">
                <a:solidFill>
                  <a:prstClr val="white"/>
                </a:solidFill>
              </a:rPr>
              <a:t>, z=</a:t>
            </a:r>
            <a:r>
              <a:rPr lang="en-US" altLang="zh-TW" sz="2800" b="1" dirty="0">
                <a:solidFill>
                  <a:srgbClr val="FFFF00"/>
                </a:solidFill>
              </a:rPr>
              <a:t>3</a:t>
            </a:r>
            <a:endParaRPr lang="zh-TW" altLang="en-US" sz="2800" b="1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9775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8" presetClass="exit" presetSubtype="0" ac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7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4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 txBox="1">
            <a:spLocks/>
          </p:cNvSpPr>
          <p:nvPr/>
        </p:nvSpPr>
        <p:spPr>
          <a:xfrm>
            <a:off x="4953591" y="958409"/>
            <a:ext cx="4699997" cy="5615808"/>
          </a:xfrm>
          <a:prstGeom prst="rect">
            <a:avLst/>
          </a:prstGeom>
          <a:solidFill>
            <a:schemeClr val="tx1"/>
          </a:solidFill>
        </p:spPr>
        <p:txBody>
          <a:bodyPr vert="horz" lIns="83872" tIns="41936" rIns="83872" bIns="41936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% cat </a:t>
            </a:r>
            <a:r>
              <a:rPr lang="en-US" altLang="zh-TW" sz="2385" dirty="0" smtClean="0">
                <a:solidFill>
                  <a:prstClr val="white"/>
                </a:solidFill>
                <a:latin typeface="Lucida Sans Typewriter" panose="020B0509030504030204" pitchFamily="49" charset="0"/>
              </a:rPr>
              <a:t>prog2.c</a:t>
            </a:r>
            <a:endParaRPr lang="en-US" altLang="zh-TW" sz="2385" dirty="0">
              <a:solidFill>
                <a:prstClr val="white"/>
              </a:solidFill>
              <a:latin typeface="Lucida Sans Typewriter" panose="020B0509030504030204" pitchFamily="49" charset="0"/>
            </a:endParaRP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#include "</a:t>
            </a:r>
            <a:r>
              <a:rPr lang="en-US" altLang="zh-TW" sz="2385" dirty="0" err="1">
                <a:solidFill>
                  <a:prstClr val="white"/>
                </a:solidFill>
                <a:latin typeface="Lucida Sans Typewriter" panose="020B0509030504030204" pitchFamily="49" charset="0"/>
              </a:rPr>
              <a:t>stuff.h</a:t>
            </a: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"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 err="1">
                <a:solidFill>
                  <a:prstClr val="white"/>
                </a:solidFill>
                <a:latin typeface="Lucida Sans Typewriter" panose="020B0509030504030204" pitchFamily="49" charset="0"/>
              </a:rPr>
              <a:t>int</a:t>
            </a: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 main() {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   A=(</a:t>
            </a:r>
            <a:r>
              <a:rPr lang="en-US" altLang="zh-TW" sz="2385" dirty="0" err="1">
                <a:solidFill>
                  <a:prstClr val="white"/>
                </a:solidFill>
                <a:latin typeface="Lucida Sans Typewriter" panose="020B0509030504030204" pitchFamily="49" charset="0"/>
              </a:rPr>
              <a:t>coord</a:t>
            </a: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*)</a:t>
            </a:r>
            <a:r>
              <a:rPr lang="en-US" altLang="zh-TW" sz="2385" dirty="0" err="1">
                <a:solidFill>
                  <a:prstClr val="white"/>
                </a:solidFill>
                <a:latin typeface="Lucida Sans Typewriter" panose="020B0509030504030204" pitchFamily="49" charset="0"/>
              </a:rPr>
              <a:t>malloc</a:t>
            </a: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     </a:t>
            </a:r>
            <a:b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</a:b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     (</a:t>
            </a:r>
            <a:r>
              <a:rPr lang="en-US" altLang="zh-TW" sz="2385" dirty="0" err="1">
                <a:solidFill>
                  <a:prstClr val="white"/>
                </a:solidFill>
                <a:latin typeface="Lucida Sans Typewriter" panose="020B0509030504030204" pitchFamily="49" charset="0"/>
              </a:rPr>
              <a:t>sizeof</a:t>
            </a: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(</a:t>
            </a:r>
            <a:r>
              <a:rPr lang="en-US" altLang="zh-TW" sz="2385" dirty="0" err="1">
                <a:solidFill>
                  <a:prstClr val="white"/>
                </a:solidFill>
                <a:latin typeface="Lucida Sans Typewriter" panose="020B0509030504030204" pitchFamily="49" charset="0"/>
              </a:rPr>
              <a:t>coord</a:t>
            </a: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));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   A-&gt;x=1;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   B=A; C=B;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   A-&gt;y=2; C-&gt;z=3;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</a:rPr>
              <a:t>   A=NULL; 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</a:rPr>
              <a:t>   print(C);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</a:rPr>
              <a:t>   </a:t>
            </a:r>
            <a:r>
              <a:rPr lang="en-US" altLang="zh-TW" sz="2385" dirty="0">
                <a:solidFill>
                  <a:srgbClr val="A6A6A6"/>
                </a:solidFill>
                <a:latin typeface="Lucida Sans Typewriter" panose="020B0509030504030204" pitchFamily="49" charset="0"/>
              </a:rPr>
              <a:t>free(B);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>
                <a:solidFill>
                  <a:srgbClr val="A6A6A6"/>
                </a:solidFill>
                <a:latin typeface="Lucida Sans Typewriter" panose="020B0509030504030204" pitchFamily="49" charset="0"/>
              </a:rPr>
              <a:t>   </a:t>
            </a:r>
            <a:r>
              <a:rPr lang="en-US" altLang="zh-TW" sz="2385" dirty="0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</a:rPr>
              <a:t>print(C);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</a:rPr>
              <a:t>}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</a:rPr>
              <a:t>%</a:t>
            </a:r>
            <a:r>
              <a:rPr lang="en-US" altLang="zh-TW" sz="2385" dirty="0">
                <a:solidFill>
                  <a:prstClr val="black"/>
                </a:solidFill>
                <a:latin typeface="Lucida Sans Typewriter" panose="020B0509030504030204" pitchFamily="49" charset="0"/>
              </a:rPr>
              <a:t> ./</a:t>
            </a:r>
            <a:r>
              <a:rPr lang="en-US" altLang="zh-TW" sz="2385" dirty="0" err="1">
                <a:solidFill>
                  <a:prstClr val="black"/>
                </a:solidFill>
                <a:latin typeface="Lucida Sans Typewriter" panose="020B0509030504030204" pitchFamily="49" charset="0"/>
              </a:rPr>
              <a:t>prog.x</a:t>
            </a:r>
            <a:endParaRPr lang="en-US" altLang="zh-TW" sz="2385" dirty="0">
              <a:solidFill>
                <a:prstClr val="black"/>
              </a:solidFill>
              <a:latin typeface="Lucida Sans Typewriter" panose="020B0509030504030204" pitchFamily="49" charset="0"/>
            </a:endParaRP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>
                <a:solidFill>
                  <a:prstClr val="black"/>
                </a:solidFill>
                <a:latin typeface="Lucida Sans Typewriter" panose="020B0509030504030204" pitchFamily="49" charset="0"/>
              </a:rPr>
              <a:t>(1,2,3)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>
                <a:solidFill>
                  <a:prstClr val="black"/>
                </a:solidFill>
                <a:latin typeface="Lucida Sans Typewriter" panose="020B0509030504030204" pitchFamily="49" charset="0"/>
              </a:rPr>
              <a:t>(</a:t>
            </a:r>
            <a:r>
              <a:rPr lang="en-US" altLang="zh-TW" sz="2385" dirty="0" err="1">
                <a:solidFill>
                  <a:prstClr val="black"/>
                </a:solidFill>
                <a:latin typeface="Lucida Sans Typewriter" panose="020B0509030504030204" pitchFamily="49" charset="0"/>
              </a:rPr>
              <a:t>garbage,garbage,garbage</a:t>
            </a:r>
            <a:r>
              <a:rPr lang="en-US" altLang="zh-TW" sz="2385" dirty="0">
                <a:solidFill>
                  <a:prstClr val="black"/>
                </a:solidFill>
                <a:latin typeface="Lucida Sans Typewriter" panose="020B0509030504030204" pitchFamily="49" charset="0"/>
              </a:rPr>
              <a:t>)</a:t>
            </a:r>
          </a:p>
        </p:txBody>
      </p:sp>
      <p:sp>
        <p:nvSpPr>
          <p:cNvPr id="18" name="Content Placeholder 2"/>
          <p:cNvSpPr txBox="1">
            <a:spLocks/>
          </p:cNvSpPr>
          <p:nvPr/>
        </p:nvSpPr>
        <p:spPr>
          <a:xfrm>
            <a:off x="4953591" y="958409"/>
            <a:ext cx="4699997" cy="5615808"/>
          </a:xfrm>
          <a:prstGeom prst="rect">
            <a:avLst/>
          </a:prstGeom>
          <a:noFill/>
        </p:spPr>
        <p:txBody>
          <a:bodyPr vert="horz" lIns="83872" tIns="41936" rIns="83872" bIns="41936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% cat </a:t>
            </a:r>
            <a:r>
              <a:rPr lang="en-US" altLang="zh-TW" sz="2385" dirty="0" smtClean="0">
                <a:solidFill>
                  <a:prstClr val="white"/>
                </a:solidFill>
                <a:latin typeface="Lucida Sans Typewriter" panose="020B0509030504030204" pitchFamily="49" charset="0"/>
              </a:rPr>
              <a:t>prog2.c</a:t>
            </a:r>
            <a:endParaRPr lang="en-US" altLang="zh-TW" sz="2385" dirty="0">
              <a:solidFill>
                <a:prstClr val="white"/>
              </a:solidFill>
              <a:latin typeface="Lucida Sans Typewriter" panose="020B0509030504030204" pitchFamily="49" charset="0"/>
            </a:endParaRP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#include "</a:t>
            </a:r>
            <a:r>
              <a:rPr lang="en-US" altLang="zh-TW" sz="2385" dirty="0" err="1">
                <a:solidFill>
                  <a:prstClr val="white"/>
                </a:solidFill>
                <a:latin typeface="Lucida Sans Typewriter" panose="020B0509030504030204" pitchFamily="49" charset="0"/>
              </a:rPr>
              <a:t>stuff.h</a:t>
            </a: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"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 err="1">
                <a:solidFill>
                  <a:prstClr val="white"/>
                </a:solidFill>
                <a:latin typeface="Lucida Sans Typewriter" panose="020B0509030504030204" pitchFamily="49" charset="0"/>
              </a:rPr>
              <a:t>int</a:t>
            </a: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 main() {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   A=(</a:t>
            </a:r>
            <a:r>
              <a:rPr lang="en-US" altLang="zh-TW" sz="2385" dirty="0" err="1">
                <a:solidFill>
                  <a:prstClr val="white"/>
                </a:solidFill>
                <a:latin typeface="Lucida Sans Typewriter" panose="020B0509030504030204" pitchFamily="49" charset="0"/>
              </a:rPr>
              <a:t>coord</a:t>
            </a: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*)</a:t>
            </a:r>
            <a:r>
              <a:rPr lang="en-US" altLang="zh-TW" sz="2385" dirty="0" err="1">
                <a:solidFill>
                  <a:prstClr val="white"/>
                </a:solidFill>
                <a:latin typeface="Lucida Sans Typewriter" panose="020B0509030504030204" pitchFamily="49" charset="0"/>
              </a:rPr>
              <a:t>malloc</a:t>
            </a: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     </a:t>
            </a:r>
            <a:b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</a:b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     (</a:t>
            </a:r>
            <a:r>
              <a:rPr lang="en-US" altLang="zh-TW" sz="2385" dirty="0" err="1">
                <a:solidFill>
                  <a:prstClr val="white"/>
                </a:solidFill>
                <a:latin typeface="Lucida Sans Typewriter" panose="020B0509030504030204" pitchFamily="49" charset="0"/>
              </a:rPr>
              <a:t>sizeof</a:t>
            </a: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(</a:t>
            </a:r>
            <a:r>
              <a:rPr lang="en-US" altLang="zh-TW" sz="2385" dirty="0" err="1">
                <a:solidFill>
                  <a:prstClr val="white"/>
                </a:solidFill>
                <a:latin typeface="Lucida Sans Typewriter" panose="020B0509030504030204" pitchFamily="49" charset="0"/>
              </a:rPr>
              <a:t>coord</a:t>
            </a: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));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   A-&gt;x=1;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   B=A; C=B;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   A-&gt;y=2; C-&gt;z=3;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>
                <a:solidFill>
                  <a:srgbClr val="FFFF00"/>
                </a:solidFill>
                <a:latin typeface="Lucida Sans Typewriter" panose="020B0509030504030204" pitchFamily="49" charset="0"/>
              </a:rPr>
              <a:t>   </a:t>
            </a: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A=NULL;</a:t>
            </a:r>
            <a:r>
              <a:rPr lang="en-US" altLang="zh-TW" sz="2385" dirty="0">
                <a:solidFill>
                  <a:srgbClr val="FFFF00"/>
                </a:solidFill>
                <a:latin typeface="Lucida Sans Typewriter" panose="020B0509030504030204" pitchFamily="49" charset="0"/>
              </a:rPr>
              <a:t> </a:t>
            </a:r>
            <a:endParaRPr lang="en-US" altLang="zh-TW" sz="2385" dirty="0">
              <a:solidFill>
                <a:prstClr val="white"/>
              </a:solidFill>
              <a:latin typeface="Lucida Sans Typewriter" panose="020B0509030504030204" pitchFamily="49" charset="0"/>
            </a:endParaRP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   print(C);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   free(B);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>
                <a:solidFill>
                  <a:srgbClr val="FFFF00"/>
                </a:solidFill>
                <a:latin typeface="Lucida Sans Typewriter" panose="020B0509030504030204" pitchFamily="49" charset="0"/>
              </a:rPr>
              <a:t>   print(C);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endParaRPr lang="en-US" altLang="zh-TW" sz="2385" dirty="0">
              <a:solidFill>
                <a:srgbClr val="FFFF00"/>
              </a:solidFill>
              <a:latin typeface="Lucida Sans Typewriter" panose="020B0509030504030204" pitchFamily="49" charset="0"/>
            </a:endParaRP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% ./</a:t>
            </a:r>
            <a:r>
              <a:rPr lang="en-US" altLang="zh-TW" sz="2385" dirty="0" smtClean="0">
                <a:solidFill>
                  <a:prstClr val="white"/>
                </a:solidFill>
                <a:latin typeface="Lucida Sans Typewriter" panose="020B0509030504030204" pitchFamily="49" charset="0"/>
              </a:rPr>
              <a:t>prog2.x</a:t>
            </a:r>
            <a:endParaRPr lang="en-US" altLang="zh-TW" sz="2385" dirty="0">
              <a:solidFill>
                <a:prstClr val="white"/>
              </a:solidFill>
              <a:latin typeface="Lucida Sans Typewriter" panose="020B0509030504030204" pitchFamily="49" charset="0"/>
            </a:endParaRP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(1,2,3)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 smtClean="0">
                <a:solidFill>
                  <a:srgbClr val="FFFF00"/>
                </a:solidFill>
                <a:latin typeface="Lucida Fax" panose="02060602050505020204" pitchFamily="18" charset="0"/>
              </a:rPr>
              <a:t>This output is unpredictable</a:t>
            </a:r>
            <a:endParaRPr lang="en-US" altLang="zh-TW" sz="2385" dirty="0">
              <a:solidFill>
                <a:srgbClr val="FFFF00"/>
              </a:solidFill>
              <a:latin typeface="Lucida Fax" panose="02060602050505020204" pitchFamily="18" charset="0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1692415" y="5680794"/>
            <a:ext cx="932931" cy="787068"/>
            <a:chOff x="377687" y="5883965"/>
            <a:chExt cx="1017106" cy="858083"/>
          </a:xfrm>
        </p:grpSpPr>
        <p:sp>
          <p:nvSpPr>
            <p:cNvPr id="6" name="Rectangle 5"/>
            <p:cNvSpPr/>
            <p:nvPr/>
          </p:nvSpPr>
          <p:spPr>
            <a:xfrm>
              <a:off x="377687" y="5883965"/>
              <a:ext cx="993913" cy="46713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80000"/>
                </a:lnSpc>
              </a:pPr>
              <a:r>
                <a:rPr lang="en-US" altLang="zh-TW" sz="1651" dirty="0" smtClean="0">
                  <a:solidFill>
                    <a:prstClr val="white"/>
                  </a:solidFill>
                </a:rPr>
                <a:t>that memory</a:t>
              </a:r>
              <a:endParaRPr lang="zh-TW" altLang="en-US" sz="1651" dirty="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400880" y="6274909"/>
              <a:ext cx="993913" cy="46713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651" dirty="0">
                  <a:solidFill>
                    <a:prstClr val="black"/>
                  </a:solidFill>
                </a:rPr>
                <a:t>*B</a:t>
              </a:r>
              <a:endParaRPr lang="zh-TW" altLang="en-US" sz="1651" dirty="0">
                <a:solidFill>
                  <a:prstClr val="black"/>
                </a:solidFill>
              </a:endParaRP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3333393" y="5680794"/>
            <a:ext cx="932931" cy="787068"/>
            <a:chOff x="377687" y="5883965"/>
            <a:chExt cx="1017106" cy="858083"/>
          </a:xfrm>
        </p:grpSpPr>
        <p:sp>
          <p:nvSpPr>
            <p:cNvPr id="9" name="Rectangle 8"/>
            <p:cNvSpPr/>
            <p:nvPr/>
          </p:nvSpPr>
          <p:spPr>
            <a:xfrm>
              <a:off x="377687" y="5883965"/>
              <a:ext cx="993913" cy="46713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80000"/>
                </a:lnSpc>
              </a:pPr>
              <a:r>
                <a:rPr lang="en-US" altLang="zh-TW" sz="1651" dirty="0">
                  <a:solidFill>
                    <a:prstClr val="white"/>
                  </a:solidFill>
                </a:rPr>
                <a:t>t</a:t>
              </a:r>
              <a:r>
                <a:rPr lang="en-US" altLang="zh-TW" sz="1651" dirty="0" smtClean="0">
                  <a:solidFill>
                    <a:prstClr val="white"/>
                  </a:solidFill>
                </a:rPr>
                <a:t>hat</a:t>
              </a:r>
              <a:br>
                <a:rPr lang="en-US" altLang="zh-TW" sz="1651" dirty="0" smtClean="0">
                  <a:solidFill>
                    <a:prstClr val="white"/>
                  </a:solidFill>
                </a:rPr>
              </a:br>
              <a:r>
                <a:rPr lang="en-US" altLang="zh-TW" sz="1651" dirty="0" smtClean="0">
                  <a:solidFill>
                    <a:prstClr val="white"/>
                  </a:solidFill>
                </a:rPr>
                <a:t>memory</a:t>
              </a:r>
              <a:endParaRPr lang="zh-TW" altLang="en-US" sz="1651" dirty="0">
                <a:solidFill>
                  <a:prstClr val="white"/>
                </a:solidFill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400880" y="6274909"/>
              <a:ext cx="993913" cy="46713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651" dirty="0">
                  <a:solidFill>
                    <a:prstClr val="black"/>
                  </a:solidFill>
                </a:rPr>
                <a:t>*C</a:t>
              </a:r>
              <a:endParaRPr lang="zh-TW" altLang="en-US" sz="1651" dirty="0">
                <a:solidFill>
                  <a:prstClr val="black"/>
                </a:solidFill>
              </a:endParaRP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270230" y="5680794"/>
            <a:ext cx="932931" cy="787068"/>
            <a:chOff x="377687" y="5883965"/>
            <a:chExt cx="1017106" cy="858083"/>
          </a:xfrm>
        </p:grpSpPr>
        <p:sp>
          <p:nvSpPr>
            <p:cNvPr id="12" name="Rectangle 11"/>
            <p:cNvSpPr/>
            <p:nvPr/>
          </p:nvSpPr>
          <p:spPr>
            <a:xfrm>
              <a:off x="377687" y="5883965"/>
              <a:ext cx="993913" cy="46713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651" dirty="0" smtClean="0">
                  <a:solidFill>
                    <a:prstClr val="white"/>
                  </a:solidFill>
                </a:rPr>
                <a:t>NULL</a:t>
              </a:r>
              <a:endParaRPr lang="zh-TW" altLang="en-US" sz="1651" dirty="0">
                <a:solidFill>
                  <a:prstClr val="white"/>
                </a:solidFill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00880" y="6274909"/>
              <a:ext cx="993913" cy="46713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651" dirty="0">
                  <a:solidFill>
                    <a:prstClr val="black"/>
                  </a:solidFill>
                </a:rPr>
                <a:t>*A</a:t>
              </a:r>
              <a:endParaRPr lang="zh-TW" altLang="en-US" sz="1651" dirty="0">
                <a:solidFill>
                  <a:prstClr val="black"/>
                </a:solidFill>
              </a:endParaRPr>
            </a:p>
          </p:txBody>
        </p:sp>
      </p:grpSp>
      <p:cxnSp>
        <p:nvCxnSpPr>
          <p:cNvPr id="16" name="Straight Arrow Connector 15"/>
          <p:cNvCxnSpPr>
            <a:stCxn id="6" idx="0"/>
          </p:cNvCxnSpPr>
          <p:nvPr/>
        </p:nvCxnSpPr>
        <p:spPr>
          <a:xfrm flipV="1">
            <a:off x="2148245" y="2736141"/>
            <a:ext cx="72933" cy="2944652"/>
          </a:xfrm>
          <a:prstGeom prst="straightConnector1">
            <a:avLst/>
          </a:prstGeom>
          <a:ln w="50800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9" idx="0"/>
          </p:cNvCxnSpPr>
          <p:nvPr/>
        </p:nvCxnSpPr>
        <p:spPr>
          <a:xfrm flipH="1" flipV="1">
            <a:off x="2430859" y="2736141"/>
            <a:ext cx="1358364" cy="2944652"/>
          </a:xfrm>
          <a:prstGeom prst="straightConnector1">
            <a:avLst/>
          </a:prstGeom>
          <a:ln w="50800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" y="0"/>
            <a:ext cx="9729788" cy="958410"/>
          </a:xfrm>
        </p:spPr>
        <p:txBody>
          <a:bodyPr>
            <a:normAutofit/>
          </a:bodyPr>
          <a:lstStyle/>
          <a:p>
            <a:r>
              <a:rPr lang="en-US" altLang="zh-TW" sz="4200" dirty="0">
                <a:solidFill>
                  <a:srgbClr val="0070C0"/>
                </a:solidFill>
              </a:rPr>
              <a:t>In C, you manage your own garbage</a:t>
            </a:r>
            <a:endParaRPr lang="zh-TW" altLang="en-US" sz="42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421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 txBox="1">
            <a:spLocks/>
          </p:cNvSpPr>
          <p:nvPr/>
        </p:nvSpPr>
        <p:spPr>
          <a:xfrm>
            <a:off x="4953591" y="958409"/>
            <a:ext cx="4699997" cy="5615808"/>
          </a:xfrm>
          <a:prstGeom prst="rect">
            <a:avLst/>
          </a:prstGeom>
          <a:solidFill>
            <a:schemeClr val="tx1"/>
          </a:solidFill>
        </p:spPr>
        <p:txBody>
          <a:bodyPr vert="horz" lIns="83872" tIns="41936" rIns="83872" bIns="41936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% cat </a:t>
            </a:r>
            <a:r>
              <a:rPr lang="en-US" altLang="zh-TW" sz="2385" dirty="0" smtClean="0">
                <a:solidFill>
                  <a:prstClr val="white"/>
                </a:solidFill>
                <a:latin typeface="Lucida Sans Typewriter" panose="020B0509030504030204" pitchFamily="49" charset="0"/>
              </a:rPr>
              <a:t>prog2.c</a:t>
            </a:r>
            <a:endParaRPr lang="en-US" altLang="zh-TW" sz="2385" dirty="0">
              <a:solidFill>
                <a:prstClr val="white"/>
              </a:solidFill>
              <a:latin typeface="Lucida Sans Typewriter" panose="020B0509030504030204" pitchFamily="49" charset="0"/>
            </a:endParaRP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#include "</a:t>
            </a:r>
            <a:r>
              <a:rPr lang="en-US" altLang="zh-TW" sz="2385" dirty="0" err="1">
                <a:solidFill>
                  <a:prstClr val="white"/>
                </a:solidFill>
                <a:latin typeface="Lucida Sans Typewriter" panose="020B0509030504030204" pitchFamily="49" charset="0"/>
              </a:rPr>
              <a:t>stuff.h</a:t>
            </a: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"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 err="1">
                <a:solidFill>
                  <a:prstClr val="white"/>
                </a:solidFill>
                <a:latin typeface="Lucida Sans Typewriter" panose="020B0509030504030204" pitchFamily="49" charset="0"/>
              </a:rPr>
              <a:t>int</a:t>
            </a: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 main() {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   A=(</a:t>
            </a:r>
            <a:r>
              <a:rPr lang="en-US" altLang="zh-TW" sz="2385" dirty="0" err="1">
                <a:solidFill>
                  <a:prstClr val="white"/>
                </a:solidFill>
                <a:latin typeface="Lucida Sans Typewriter" panose="020B0509030504030204" pitchFamily="49" charset="0"/>
              </a:rPr>
              <a:t>coord</a:t>
            </a: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*)</a:t>
            </a:r>
            <a:r>
              <a:rPr lang="en-US" altLang="zh-TW" sz="2385" dirty="0" err="1">
                <a:solidFill>
                  <a:prstClr val="white"/>
                </a:solidFill>
                <a:latin typeface="Lucida Sans Typewriter" panose="020B0509030504030204" pitchFamily="49" charset="0"/>
              </a:rPr>
              <a:t>malloc</a:t>
            </a: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     </a:t>
            </a:r>
            <a:b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</a:b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     (</a:t>
            </a:r>
            <a:r>
              <a:rPr lang="en-US" altLang="zh-TW" sz="2385" dirty="0" err="1">
                <a:solidFill>
                  <a:prstClr val="white"/>
                </a:solidFill>
                <a:latin typeface="Lucida Sans Typewriter" panose="020B0509030504030204" pitchFamily="49" charset="0"/>
              </a:rPr>
              <a:t>sizeof</a:t>
            </a: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(</a:t>
            </a:r>
            <a:r>
              <a:rPr lang="en-US" altLang="zh-TW" sz="2385" dirty="0" err="1">
                <a:solidFill>
                  <a:prstClr val="white"/>
                </a:solidFill>
                <a:latin typeface="Lucida Sans Typewriter" panose="020B0509030504030204" pitchFamily="49" charset="0"/>
              </a:rPr>
              <a:t>coord</a:t>
            </a: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));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   A-&gt;x=1;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   B=A; C=B;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   A-&gt;y=2; C-&gt;z=3;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</a:rPr>
              <a:t>   A=NULL; 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</a:rPr>
              <a:t>   print(C);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</a:rPr>
              <a:t>   </a:t>
            </a:r>
            <a:r>
              <a:rPr lang="en-US" altLang="zh-TW" sz="2385" dirty="0">
                <a:solidFill>
                  <a:srgbClr val="A6A6A6"/>
                </a:solidFill>
                <a:latin typeface="Lucida Sans Typewriter" panose="020B0509030504030204" pitchFamily="49" charset="0"/>
              </a:rPr>
              <a:t>free(B);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>
                <a:solidFill>
                  <a:srgbClr val="A6A6A6"/>
                </a:solidFill>
                <a:latin typeface="Lucida Sans Typewriter" panose="020B0509030504030204" pitchFamily="49" charset="0"/>
              </a:rPr>
              <a:t>   </a:t>
            </a:r>
            <a:r>
              <a:rPr lang="en-US" altLang="zh-TW" sz="2385" dirty="0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</a:rPr>
              <a:t>print(C);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</a:rPr>
              <a:t>}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</a:rPr>
              <a:t>%</a:t>
            </a:r>
            <a:r>
              <a:rPr lang="en-US" altLang="zh-TW" sz="2385" dirty="0">
                <a:solidFill>
                  <a:prstClr val="black"/>
                </a:solidFill>
                <a:latin typeface="Lucida Sans Typewriter" panose="020B0509030504030204" pitchFamily="49" charset="0"/>
              </a:rPr>
              <a:t> ./</a:t>
            </a:r>
            <a:r>
              <a:rPr lang="en-US" altLang="zh-TW" sz="2385" dirty="0" err="1">
                <a:solidFill>
                  <a:prstClr val="black"/>
                </a:solidFill>
                <a:latin typeface="Lucida Sans Typewriter" panose="020B0509030504030204" pitchFamily="49" charset="0"/>
              </a:rPr>
              <a:t>prog.x</a:t>
            </a:r>
            <a:endParaRPr lang="en-US" altLang="zh-TW" sz="2385" dirty="0">
              <a:solidFill>
                <a:prstClr val="black"/>
              </a:solidFill>
              <a:latin typeface="Lucida Sans Typewriter" panose="020B0509030504030204" pitchFamily="49" charset="0"/>
            </a:endParaRP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>
                <a:solidFill>
                  <a:prstClr val="black"/>
                </a:solidFill>
                <a:latin typeface="Lucida Sans Typewriter" panose="020B0509030504030204" pitchFamily="49" charset="0"/>
              </a:rPr>
              <a:t>(1,2,3)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>
                <a:solidFill>
                  <a:prstClr val="black"/>
                </a:solidFill>
                <a:latin typeface="Lucida Sans Typewriter" panose="020B0509030504030204" pitchFamily="49" charset="0"/>
              </a:rPr>
              <a:t>(</a:t>
            </a:r>
            <a:r>
              <a:rPr lang="en-US" altLang="zh-TW" sz="2385" dirty="0" err="1">
                <a:solidFill>
                  <a:prstClr val="black"/>
                </a:solidFill>
                <a:latin typeface="Lucida Sans Typewriter" panose="020B0509030504030204" pitchFamily="49" charset="0"/>
              </a:rPr>
              <a:t>garbage,garbage,garbage</a:t>
            </a:r>
            <a:r>
              <a:rPr lang="en-US" altLang="zh-TW" sz="2385" dirty="0">
                <a:solidFill>
                  <a:prstClr val="black"/>
                </a:solidFill>
                <a:latin typeface="Lucida Sans Typewriter" panose="020B0509030504030204" pitchFamily="49" charset="0"/>
              </a:rPr>
              <a:t>)</a:t>
            </a:r>
          </a:p>
        </p:txBody>
      </p:sp>
      <p:sp>
        <p:nvSpPr>
          <p:cNvPr id="18" name="Content Placeholder 2"/>
          <p:cNvSpPr txBox="1">
            <a:spLocks/>
          </p:cNvSpPr>
          <p:nvPr/>
        </p:nvSpPr>
        <p:spPr>
          <a:xfrm>
            <a:off x="4953591" y="958409"/>
            <a:ext cx="4699997" cy="5615808"/>
          </a:xfrm>
          <a:prstGeom prst="rect">
            <a:avLst/>
          </a:prstGeom>
          <a:noFill/>
        </p:spPr>
        <p:txBody>
          <a:bodyPr vert="horz" lIns="83872" tIns="41936" rIns="83872" bIns="41936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% cat </a:t>
            </a:r>
            <a:r>
              <a:rPr lang="en-US" altLang="zh-TW" sz="2385" dirty="0" smtClean="0">
                <a:solidFill>
                  <a:prstClr val="white"/>
                </a:solidFill>
                <a:latin typeface="Lucida Sans Typewriter" panose="020B0509030504030204" pitchFamily="49" charset="0"/>
              </a:rPr>
              <a:t>prog2.c</a:t>
            </a:r>
            <a:endParaRPr lang="en-US" altLang="zh-TW" sz="2385" dirty="0">
              <a:solidFill>
                <a:prstClr val="white"/>
              </a:solidFill>
              <a:latin typeface="Lucida Sans Typewriter" panose="020B0509030504030204" pitchFamily="49" charset="0"/>
            </a:endParaRP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#include "</a:t>
            </a:r>
            <a:r>
              <a:rPr lang="en-US" altLang="zh-TW" sz="2385" dirty="0" err="1">
                <a:solidFill>
                  <a:prstClr val="white"/>
                </a:solidFill>
                <a:latin typeface="Lucida Sans Typewriter" panose="020B0509030504030204" pitchFamily="49" charset="0"/>
              </a:rPr>
              <a:t>stuff.h</a:t>
            </a: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"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 err="1">
                <a:solidFill>
                  <a:prstClr val="white"/>
                </a:solidFill>
                <a:latin typeface="Lucida Sans Typewriter" panose="020B0509030504030204" pitchFamily="49" charset="0"/>
              </a:rPr>
              <a:t>int</a:t>
            </a: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 main() {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   A=(</a:t>
            </a:r>
            <a:r>
              <a:rPr lang="en-US" altLang="zh-TW" sz="2385" dirty="0" err="1">
                <a:solidFill>
                  <a:prstClr val="white"/>
                </a:solidFill>
                <a:latin typeface="Lucida Sans Typewriter" panose="020B0509030504030204" pitchFamily="49" charset="0"/>
              </a:rPr>
              <a:t>coord</a:t>
            </a: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*)</a:t>
            </a:r>
            <a:r>
              <a:rPr lang="en-US" altLang="zh-TW" sz="2385" dirty="0" err="1">
                <a:solidFill>
                  <a:prstClr val="white"/>
                </a:solidFill>
                <a:latin typeface="Lucida Sans Typewriter" panose="020B0509030504030204" pitchFamily="49" charset="0"/>
              </a:rPr>
              <a:t>malloc</a:t>
            </a: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     </a:t>
            </a:r>
            <a:b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</a:b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     (</a:t>
            </a:r>
            <a:r>
              <a:rPr lang="en-US" altLang="zh-TW" sz="2385" dirty="0" err="1">
                <a:solidFill>
                  <a:prstClr val="white"/>
                </a:solidFill>
                <a:latin typeface="Lucida Sans Typewriter" panose="020B0509030504030204" pitchFamily="49" charset="0"/>
              </a:rPr>
              <a:t>sizeof</a:t>
            </a: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(</a:t>
            </a:r>
            <a:r>
              <a:rPr lang="en-US" altLang="zh-TW" sz="2385" dirty="0" err="1">
                <a:solidFill>
                  <a:prstClr val="white"/>
                </a:solidFill>
                <a:latin typeface="Lucida Sans Typewriter" panose="020B0509030504030204" pitchFamily="49" charset="0"/>
              </a:rPr>
              <a:t>coord</a:t>
            </a: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));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   A-&gt;x=1;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   B=A; C=B;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   A-&gt;y=2; C-&gt;z=3;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>
                <a:solidFill>
                  <a:srgbClr val="FFFF00"/>
                </a:solidFill>
                <a:latin typeface="Lucida Sans Typewriter" panose="020B0509030504030204" pitchFamily="49" charset="0"/>
              </a:rPr>
              <a:t>   </a:t>
            </a: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A=NULL;</a:t>
            </a:r>
            <a:r>
              <a:rPr lang="en-US" altLang="zh-TW" sz="2385" dirty="0">
                <a:solidFill>
                  <a:srgbClr val="FFFF00"/>
                </a:solidFill>
                <a:latin typeface="Lucida Sans Typewriter" panose="020B0509030504030204" pitchFamily="49" charset="0"/>
              </a:rPr>
              <a:t> </a:t>
            </a:r>
            <a:endParaRPr lang="en-US" altLang="zh-TW" sz="2385" dirty="0">
              <a:solidFill>
                <a:prstClr val="white"/>
              </a:solidFill>
              <a:latin typeface="Lucida Sans Typewriter" panose="020B0509030504030204" pitchFamily="49" charset="0"/>
            </a:endParaRP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   print(C);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   </a:t>
            </a:r>
            <a:r>
              <a:rPr lang="en-US" altLang="zh-TW" sz="2385" dirty="0">
                <a:solidFill>
                  <a:srgbClr val="FFFF00"/>
                </a:solidFill>
                <a:latin typeface="Lucida Sans Typewriter" panose="020B0509030504030204" pitchFamily="49" charset="0"/>
              </a:rPr>
              <a:t>free(B);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>
                <a:solidFill>
                  <a:srgbClr val="FFFF00"/>
                </a:solidFill>
                <a:latin typeface="Lucida Sans Typewriter" panose="020B0509030504030204" pitchFamily="49" charset="0"/>
              </a:rPr>
              <a:t>   </a:t>
            </a: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print(C);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}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% ./</a:t>
            </a:r>
            <a:r>
              <a:rPr lang="en-US" altLang="zh-TW" sz="2385" dirty="0" smtClean="0">
                <a:solidFill>
                  <a:prstClr val="white"/>
                </a:solidFill>
                <a:latin typeface="Lucida Sans Typewriter" panose="020B0509030504030204" pitchFamily="49" charset="0"/>
              </a:rPr>
              <a:t>prog2.x</a:t>
            </a:r>
            <a:endParaRPr lang="en-US" altLang="zh-TW" sz="2385" dirty="0">
              <a:solidFill>
                <a:prstClr val="white"/>
              </a:solidFill>
              <a:latin typeface="Lucida Sans Typewriter" panose="020B0509030504030204" pitchFamily="49" charset="0"/>
            </a:endParaRP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>
                <a:solidFill>
                  <a:schemeClr val="bg1"/>
                </a:solidFill>
                <a:latin typeface="Lucida Sans Typewriter" panose="020B0509030504030204" pitchFamily="49" charset="0"/>
              </a:rPr>
              <a:t>(1,2,3)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85" dirty="0">
                <a:solidFill>
                  <a:schemeClr val="bg1"/>
                </a:solidFill>
                <a:latin typeface="Lucida Fax" panose="02060602050505020204" pitchFamily="18" charset="0"/>
              </a:rPr>
              <a:t>This output is unpredictable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" y="0"/>
            <a:ext cx="9729788" cy="958410"/>
          </a:xfrm>
        </p:spPr>
        <p:txBody>
          <a:bodyPr>
            <a:normAutofit/>
          </a:bodyPr>
          <a:lstStyle/>
          <a:p>
            <a:r>
              <a:rPr lang="en-US" altLang="zh-TW" sz="4200" dirty="0">
                <a:solidFill>
                  <a:srgbClr val="0070C0"/>
                </a:solidFill>
              </a:rPr>
              <a:t>In C, you manage your own garbage</a:t>
            </a:r>
            <a:endParaRPr lang="zh-TW" altLang="en-US" sz="4200" dirty="0">
              <a:solidFill>
                <a:srgbClr val="0070C0"/>
              </a:solidFill>
            </a:endParaRPr>
          </a:p>
        </p:txBody>
      </p:sp>
      <p:sp>
        <p:nvSpPr>
          <p:cNvPr id="12" name="Rounded Rectangular Callout 11"/>
          <p:cNvSpPr/>
          <p:nvPr/>
        </p:nvSpPr>
        <p:spPr>
          <a:xfrm>
            <a:off x="2874213" y="2891123"/>
            <a:ext cx="2397659" cy="1270241"/>
          </a:xfrm>
          <a:prstGeom prst="wedgeRoundRectCallout">
            <a:avLst>
              <a:gd name="adj1" fmla="val 57290"/>
              <a:gd name="adj2" fmla="val 84173"/>
              <a:gd name="adj3" fmla="val 16667"/>
            </a:avLst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568" dirty="0">
                <a:solidFill>
                  <a:prstClr val="white"/>
                </a:solidFill>
              </a:rPr>
              <a:t>In Python, we use</a:t>
            </a:r>
            <a:r>
              <a:rPr lang="en-US" altLang="zh-TW" sz="2568" dirty="0">
                <a:solidFill>
                  <a:prstClr val="black"/>
                </a:solidFill>
              </a:rPr>
              <a:t> </a:t>
            </a:r>
            <a:r>
              <a:rPr lang="en-US" altLang="zh-TW" sz="2568" b="1" dirty="0">
                <a:solidFill>
                  <a:prstClr val="black"/>
                </a:solidFill>
              </a:rPr>
              <a:t>del</a:t>
            </a:r>
            <a:r>
              <a:rPr lang="en-US" altLang="zh-TW" sz="2568" dirty="0">
                <a:solidFill>
                  <a:prstClr val="black"/>
                </a:solidFill>
              </a:rPr>
              <a:t> </a:t>
            </a:r>
            <a:r>
              <a:rPr lang="en-US" altLang="zh-TW" sz="2568" dirty="0">
                <a:solidFill>
                  <a:prstClr val="white"/>
                </a:solidFill>
              </a:rPr>
              <a:t>instead of free. </a:t>
            </a:r>
            <a:endParaRPr lang="zh-TW" altLang="en-US" sz="2568" dirty="0">
              <a:solidFill>
                <a:prstClr val="white"/>
              </a:solidFill>
            </a:endParaRPr>
          </a:p>
        </p:txBody>
      </p:sp>
      <p:sp>
        <p:nvSpPr>
          <p:cNvPr id="13" name="Rounded Rectangular Callout 12"/>
          <p:cNvSpPr/>
          <p:nvPr/>
        </p:nvSpPr>
        <p:spPr>
          <a:xfrm>
            <a:off x="0" y="384065"/>
            <a:ext cx="2350294" cy="1914481"/>
          </a:xfrm>
          <a:prstGeom prst="wedgeRoundRectCallout">
            <a:avLst>
              <a:gd name="adj1" fmla="val 100660"/>
              <a:gd name="adj2" fmla="val 108855"/>
              <a:gd name="adj3" fmla="val 16667"/>
            </a:avLst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TW" sz="2568" dirty="0">
                <a:solidFill>
                  <a:prstClr val="white"/>
                </a:solidFill>
              </a:rPr>
              <a:t>Well, not quite:</a:t>
            </a:r>
          </a:p>
          <a:p>
            <a:pPr algn="ctr"/>
            <a:r>
              <a:rPr lang="en-US" altLang="zh-TW" sz="2568" dirty="0">
                <a:solidFill>
                  <a:prstClr val="white"/>
                </a:solidFill>
              </a:rPr>
              <a:t>Yes, we </a:t>
            </a:r>
            <a:r>
              <a:rPr lang="en-US" altLang="zh-TW" sz="2568" i="1" dirty="0">
                <a:solidFill>
                  <a:prstClr val="black"/>
                </a:solidFill>
              </a:rPr>
              <a:t>can</a:t>
            </a:r>
            <a:r>
              <a:rPr lang="en-US" altLang="zh-TW" sz="2568" dirty="0">
                <a:solidFill>
                  <a:prstClr val="black"/>
                </a:solidFill>
              </a:rPr>
              <a:t> </a:t>
            </a:r>
            <a:r>
              <a:rPr lang="en-US" altLang="zh-TW" sz="2568" dirty="0">
                <a:solidFill>
                  <a:prstClr val="white"/>
                </a:solidFill>
              </a:rPr>
              <a:t>use del</a:t>
            </a:r>
            <a:r>
              <a:rPr lang="en-US" altLang="zh-TW" sz="2568" dirty="0" smtClean="0">
                <a:solidFill>
                  <a:prstClr val="white"/>
                </a:solidFill>
              </a:rPr>
              <a:t>. </a:t>
            </a:r>
            <a:r>
              <a:rPr lang="en-US" altLang="zh-TW" sz="2568" dirty="0">
                <a:solidFill>
                  <a:prstClr val="white"/>
                </a:solidFill>
              </a:rPr>
              <a:t>But No, we </a:t>
            </a:r>
            <a:br>
              <a:rPr lang="en-US" altLang="zh-TW" sz="2568" dirty="0">
                <a:solidFill>
                  <a:prstClr val="white"/>
                </a:solidFill>
              </a:rPr>
            </a:br>
            <a:r>
              <a:rPr lang="en-US" altLang="zh-TW" sz="2568" i="1" dirty="0">
                <a:solidFill>
                  <a:prstClr val="black"/>
                </a:solidFill>
              </a:rPr>
              <a:t>don’t</a:t>
            </a:r>
            <a:r>
              <a:rPr lang="en-US" altLang="zh-TW" sz="2568" dirty="0">
                <a:solidFill>
                  <a:prstClr val="black"/>
                </a:solidFill>
              </a:rPr>
              <a:t> </a:t>
            </a:r>
            <a:r>
              <a:rPr lang="en-US" altLang="zh-TW" sz="2568" i="1" dirty="0">
                <a:solidFill>
                  <a:prstClr val="black"/>
                </a:solidFill>
              </a:rPr>
              <a:t>have to</a:t>
            </a:r>
            <a:r>
              <a:rPr lang="en-US" altLang="zh-TW" sz="2568" dirty="0">
                <a:solidFill>
                  <a:prstClr val="white"/>
                </a:solidFill>
              </a:rPr>
              <a:t>.</a:t>
            </a:r>
          </a:p>
        </p:txBody>
      </p:sp>
      <p:sp>
        <p:nvSpPr>
          <p:cNvPr id="14" name="Rounded Rectangular Callout 13"/>
          <p:cNvSpPr/>
          <p:nvPr/>
        </p:nvSpPr>
        <p:spPr>
          <a:xfrm>
            <a:off x="2502695" y="283784"/>
            <a:ext cx="2438400" cy="2349035"/>
          </a:xfrm>
          <a:prstGeom prst="wedgeRoundRectCallout">
            <a:avLst>
              <a:gd name="adj1" fmla="val -74988"/>
              <a:gd name="adj2" fmla="val 18196"/>
              <a:gd name="adj3" fmla="val 16667"/>
            </a:avLst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TW" sz="2568" dirty="0" smtClean="0">
                <a:solidFill>
                  <a:prstClr val="white"/>
                </a:solidFill>
              </a:rPr>
              <a:t>See</a:t>
            </a:r>
            <a:r>
              <a:rPr lang="en-US" altLang="zh-TW" sz="2568" dirty="0">
                <a:solidFill>
                  <a:prstClr val="white"/>
                </a:solidFill>
              </a:rPr>
              <a:t>: </a:t>
            </a:r>
            <a:r>
              <a:rPr lang="en-US" altLang="zh-TW" sz="2568" dirty="0" smtClean="0">
                <a:solidFill>
                  <a:prstClr val="white"/>
                </a:solidFill>
              </a:rPr>
              <a:t>whereas not </a:t>
            </a:r>
            <a:r>
              <a:rPr lang="en-US" altLang="zh-TW" sz="2568" dirty="0">
                <a:solidFill>
                  <a:prstClr val="white"/>
                </a:solidFill>
              </a:rPr>
              <a:t>using free() in </a:t>
            </a:r>
            <a:r>
              <a:rPr lang="en-US" altLang="zh-TW" sz="2568" dirty="0" smtClean="0">
                <a:solidFill>
                  <a:prstClr val="white"/>
                </a:solidFill>
              </a:rPr>
              <a:t>C is </a:t>
            </a:r>
            <a:r>
              <a:rPr lang="en-US" altLang="zh-TW" sz="2568" dirty="0">
                <a:solidFill>
                  <a:prstClr val="white"/>
                </a:solidFill>
              </a:rPr>
              <a:t>a </a:t>
            </a:r>
            <a:r>
              <a:rPr lang="en-US" altLang="zh-TW" sz="2568" dirty="0" smtClean="0">
                <a:solidFill>
                  <a:prstClr val="white"/>
                </a:solidFill>
              </a:rPr>
              <a:t>bug, in Python there</a:t>
            </a:r>
            <a:br>
              <a:rPr lang="en-US" altLang="zh-TW" sz="2568" dirty="0" smtClean="0">
                <a:solidFill>
                  <a:prstClr val="white"/>
                </a:solidFill>
              </a:rPr>
            </a:br>
            <a:r>
              <a:rPr lang="en-US" altLang="zh-TW" sz="2568" dirty="0" smtClean="0">
                <a:solidFill>
                  <a:prstClr val="white"/>
                </a:solidFill>
              </a:rPr>
              <a:t> is </a:t>
            </a:r>
            <a:r>
              <a:rPr lang="en-US" altLang="zh-TW" sz="2568" b="1" dirty="0">
                <a:solidFill>
                  <a:prstClr val="white"/>
                </a:solidFill>
              </a:rPr>
              <a:t>garbage collection</a:t>
            </a:r>
            <a:r>
              <a:rPr lang="en-US" altLang="zh-TW" sz="2568" dirty="0">
                <a:solidFill>
                  <a:prstClr val="white"/>
                </a:solidFill>
              </a:rPr>
              <a:t>.</a:t>
            </a:r>
            <a:endParaRPr lang="zh-TW" altLang="en-US" sz="2568" dirty="0">
              <a:solidFill>
                <a:prstClr val="white"/>
              </a:solidFill>
            </a:endParaRPr>
          </a:p>
        </p:txBody>
      </p:sp>
      <p:sp>
        <p:nvSpPr>
          <p:cNvPr id="15" name="Rounded Rectangular Callout 14"/>
          <p:cNvSpPr/>
          <p:nvPr/>
        </p:nvSpPr>
        <p:spPr>
          <a:xfrm>
            <a:off x="6350986" y="2786285"/>
            <a:ext cx="2935534" cy="2037554"/>
          </a:xfrm>
          <a:prstGeom prst="wedgeRoundRectCallout">
            <a:avLst>
              <a:gd name="adj1" fmla="val -103888"/>
              <a:gd name="adj2" fmla="val -74075"/>
              <a:gd name="adj3" fmla="val 16667"/>
            </a:avLst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568" dirty="0">
                <a:solidFill>
                  <a:prstClr val="white"/>
                </a:solidFill>
              </a:rPr>
              <a:t>So, we only use</a:t>
            </a:r>
            <a:r>
              <a:rPr lang="en-US" altLang="zh-TW" sz="2568" dirty="0">
                <a:solidFill>
                  <a:prstClr val="black"/>
                </a:solidFill>
              </a:rPr>
              <a:t> del</a:t>
            </a:r>
            <a:r>
              <a:rPr lang="en-US" altLang="zh-TW" sz="2568" dirty="0">
                <a:solidFill>
                  <a:prstClr val="white"/>
                </a:solidFill>
              </a:rPr>
              <a:t> if we want to let Python know that it can reclaim the memory.</a:t>
            </a:r>
            <a:endParaRPr lang="zh-TW" altLang="en-US" sz="2568" dirty="0">
              <a:solidFill>
                <a:prstClr val="white"/>
              </a:solidFill>
            </a:endParaRPr>
          </a:p>
        </p:txBody>
      </p:sp>
      <p:sp>
        <p:nvSpPr>
          <p:cNvPr id="16" name="Rounded Rectangular Callout 15"/>
          <p:cNvSpPr/>
          <p:nvPr/>
        </p:nvSpPr>
        <p:spPr>
          <a:xfrm>
            <a:off x="5105400" y="0"/>
            <a:ext cx="4636294" cy="2586507"/>
          </a:xfrm>
          <a:prstGeom prst="wedgeRoundRectCallout">
            <a:avLst>
              <a:gd name="adj1" fmla="val 29729"/>
              <a:gd name="adj2" fmla="val 61212"/>
              <a:gd name="adj3" fmla="val 16667"/>
            </a:avLst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endParaRPr lang="en-US" altLang="zh-TW" sz="2800" dirty="0">
              <a:solidFill>
                <a:prstClr val="white"/>
              </a:solidFill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5099304" y="0"/>
            <a:ext cx="4642390" cy="2590800"/>
          </a:xfrm>
          <a:prstGeom prst="round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zh-TW" sz="2800" dirty="0" smtClean="0">
                <a:solidFill>
                  <a:prstClr val="white"/>
                </a:solidFill>
              </a:rPr>
              <a:t>Now note: del automatically</a:t>
            </a:r>
            <a:br>
              <a:rPr lang="en-US" altLang="zh-TW" sz="2800" dirty="0" smtClean="0">
                <a:solidFill>
                  <a:prstClr val="white"/>
                </a:solidFill>
              </a:rPr>
            </a:br>
            <a:r>
              <a:rPr lang="en-US" altLang="zh-TW" sz="2800" dirty="0" smtClean="0">
                <a:solidFill>
                  <a:prstClr val="white"/>
                </a:solidFill>
              </a:rPr>
              <a:t>happens when a variable is</a:t>
            </a:r>
            <a:br>
              <a:rPr lang="en-US" altLang="zh-TW" sz="2800" dirty="0" smtClean="0">
                <a:solidFill>
                  <a:prstClr val="white"/>
                </a:solidFill>
              </a:rPr>
            </a:br>
            <a:r>
              <a:rPr lang="en-US" altLang="zh-TW" sz="2800" dirty="0" smtClean="0">
                <a:solidFill>
                  <a:prstClr val="white"/>
                </a:solidFill>
              </a:rPr>
              <a:t>reassigned. So using del on a</a:t>
            </a:r>
            <a:br>
              <a:rPr lang="en-US" altLang="zh-TW" sz="2800" dirty="0" smtClean="0">
                <a:solidFill>
                  <a:prstClr val="white"/>
                </a:solidFill>
              </a:rPr>
            </a:br>
            <a:r>
              <a:rPr lang="en-US" altLang="zh-TW" sz="2800" dirty="0" smtClean="0">
                <a:solidFill>
                  <a:prstClr val="white"/>
                </a:solidFill>
              </a:rPr>
              <a:t>whole variable isn’t so useful.</a:t>
            </a:r>
            <a:br>
              <a:rPr lang="en-US" altLang="zh-TW" sz="2800" dirty="0" smtClean="0">
                <a:solidFill>
                  <a:prstClr val="white"/>
                </a:solidFill>
              </a:rPr>
            </a:br>
            <a:r>
              <a:rPr lang="en-US" altLang="zh-TW" sz="2800" spc="-160" dirty="0" smtClean="0">
                <a:solidFill>
                  <a:prstClr val="white"/>
                </a:solidFill>
              </a:rPr>
              <a:t>(</a:t>
            </a:r>
            <a:r>
              <a:rPr lang="en-US" altLang="zh-TW" sz="2800" spc="-10" dirty="0" smtClean="0">
                <a:solidFill>
                  <a:prstClr val="white"/>
                </a:solidFill>
              </a:rPr>
              <a:t>Using</a:t>
            </a:r>
            <a:r>
              <a:rPr lang="en-US" altLang="zh-TW" sz="2000" spc="-10" dirty="0" smtClean="0">
                <a:solidFill>
                  <a:prstClr val="white"/>
                </a:solidFill>
              </a:rPr>
              <a:t> </a:t>
            </a:r>
            <a:r>
              <a:rPr lang="en-US" altLang="zh-TW" sz="2800" spc="-10" dirty="0" smtClean="0">
                <a:solidFill>
                  <a:prstClr val="white"/>
                </a:solidFill>
              </a:rPr>
              <a:t>it</a:t>
            </a:r>
            <a:r>
              <a:rPr lang="en-US" altLang="zh-TW" sz="2000" spc="-10" dirty="0" smtClean="0">
                <a:solidFill>
                  <a:prstClr val="white"/>
                </a:solidFill>
              </a:rPr>
              <a:t> </a:t>
            </a:r>
            <a:r>
              <a:rPr lang="en-US" altLang="zh-TW" sz="2800" spc="-10" dirty="0" smtClean="0">
                <a:solidFill>
                  <a:prstClr val="white"/>
                </a:solidFill>
              </a:rPr>
              <a:t>on</a:t>
            </a:r>
            <a:r>
              <a:rPr lang="en-US" altLang="zh-TW" sz="2000" spc="-10" dirty="0" smtClean="0">
                <a:solidFill>
                  <a:prstClr val="white"/>
                </a:solidFill>
              </a:rPr>
              <a:t> </a:t>
            </a:r>
            <a:r>
              <a:rPr lang="en-US" altLang="zh-TW" sz="2800" spc="-10" dirty="0" smtClean="0">
                <a:solidFill>
                  <a:prstClr val="white"/>
                </a:solidFill>
              </a:rPr>
              <a:t>individual</a:t>
            </a:r>
            <a:r>
              <a:rPr lang="en-US" altLang="zh-TW" sz="2000" spc="-10" dirty="0" smtClean="0">
                <a:solidFill>
                  <a:prstClr val="white"/>
                </a:solidFill>
              </a:rPr>
              <a:t> </a:t>
            </a:r>
            <a:r>
              <a:rPr lang="en-US" altLang="zh-TW" sz="2800" spc="-10" dirty="0" smtClean="0">
                <a:solidFill>
                  <a:prstClr val="white"/>
                </a:solidFill>
              </a:rPr>
              <a:t>element</a:t>
            </a:r>
            <a:r>
              <a:rPr lang="en-US" altLang="zh-TW" sz="2800" spc="-100" dirty="0" smtClean="0">
                <a:solidFill>
                  <a:prstClr val="white"/>
                </a:solidFill>
              </a:rPr>
              <a:t>s</a:t>
            </a:r>
            <a:r>
              <a:rPr lang="en-US" altLang="zh-TW" sz="2800" dirty="0" smtClean="0">
                <a:solidFill>
                  <a:prstClr val="white"/>
                </a:solidFill>
              </a:rPr>
              <a:t>,</a:t>
            </a:r>
            <a:br>
              <a:rPr lang="en-US" altLang="zh-TW" sz="2800" dirty="0" smtClean="0">
                <a:solidFill>
                  <a:prstClr val="white"/>
                </a:solidFill>
              </a:rPr>
            </a:br>
            <a:r>
              <a:rPr lang="en-US" altLang="zh-TW" sz="2800" dirty="0" smtClean="0">
                <a:solidFill>
                  <a:prstClr val="white"/>
                </a:solidFill>
              </a:rPr>
              <a:t>however, is quite common.)</a:t>
            </a:r>
            <a:endParaRPr lang="en-US" altLang="zh-TW" sz="280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0159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3" grpId="1" animBg="1"/>
      <p:bldP spid="14" grpId="0" animBg="1"/>
      <p:bldP spid="14" grpId="1" animBg="1"/>
      <p:bldP spid="15" grpId="0" animBg="1"/>
      <p:bldP spid="15" grpId="1" animBg="1"/>
      <p:bldP spid="16" grpId="0" animBg="1"/>
      <p:bldP spid="16" grpId="1" animBg="1"/>
      <p:bldP spid="17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 txBox="1">
            <a:spLocks/>
          </p:cNvSpPr>
          <p:nvPr/>
        </p:nvSpPr>
        <p:spPr>
          <a:xfrm>
            <a:off x="4953591" y="958409"/>
            <a:ext cx="4699997" cy="5615808"/>
          </a:xfrm>
          <a:prstGeom prst="rect">
            <a:avLst/>
          </a:prstGeom>
          <a:solidFill>
            <a:schemeClr val="tx1"/>
          </a:solidFill>
        </p:spPr>
        <p:txBody>
          <a:bodyPr vert="horz" lIns="83872" tIns="41936" rIns="83872" bIns="41936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% cat </a:t>
            </a:r>
            <a:r>
              <a:rPr lang="en-US" altLang="zh-TW" sz="2385" dirty="0" smtClean="0">
                <a:solidFill>
                  <a:prstClr val="white"/>
                </a:solidFill>
                <a:latin typeface="Lucida Sans Typewriter" panose="020B0509030504030204" pitchFamily="49" charset="0"/>
              </a:rPr>
              <a:t>prog2.c</a:t>
            </a:r>
            <a:endParaRPr lang="en-US" altLang="zh-TW" sz="2385" dirty="0">
              <a:solidFill>
                <a:prstClr val="white"/>
              </a:solidFill>
              <a:latin typeface="Lucida Sans Typewriter" panose="020B0509030504030204" pitchFamily="49" charset="0"/>
            </a:endParaRP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#include "</a:t>
            </a:r>
            <a:r>
              <a:rPr lang="en-US" altLang="zh-TW" sz="2385" dirty="0" err="1">
                <a:solidFill>
                  <a:prstClr val="white"/>
                </a:solidFill>
                <a:latin typeface="Lucida Sans Typewriter" panose="020B0509030504030204" pitchFamily="49" charset="0"/>
              </a:rPr>
              <a:t>stuff.h</a:t>
            </a: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"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385" dirty="0" err="1">
                <a:solidFill>
                  <a:prstClr val="white"/>
                </a:solidFill>
                <a:latin typeface="Lucida Sans Typewriter" panose="020B0509030504030204" pitchFamily="49" charset="0"/>
              </a:rPr>
              <a:t>int</a:t>
            </a: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 main() {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   A=(</a:t>
            </a:r>
            <a:r>
              <a:rPr lang="en-US" altLang="zh-TW" sz="2385" dirty="0" err="1">
                <a:solidFill>
                  <a:prstClr val="white"/>
                </a:solidFill>
                <a:latin typeface="Lucida Sans Typewriter" panose="020B0509030504030204" pitchFamily="49" charset="0"/>
              </a:rPr>
              <a:t>coord</a:t>
            </a: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*)</a:t>
            </a:r>
            <a:r>
              <a:rPr lang="en-US" altLang="zh-TW" sz="2385" dirty="0" err="1">
                <a:solidFill>
                  <a:prstClr val="white"/>
                </a:solidFill>
                <a:latin typeface="Lucida Sans Typewriter" panose="020B0509030504030204" pitchFamily="49" charset="0"/>
              </a:rPr>
              <a:t>malloc</a:t>
            </a: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     </a:t>
            </a:r>
            <a:b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</a:b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     (</a:t>
            </a:r>
            <a:r>
              <a:rPr lang="en-US" altLang="zh-TW" sz="2385" dirty="0" err="1">
                <a:solidFill>
                  <a:prstClr val="white"/>
                </a:solidFill>
                <a:latin typeface="Lucida Sans Typewriter" panose="020B0509030504030204" pitchFamily="49" charset="0"/>
              </a:rPr>
              <a:t>sizeof</a:t>
            </a: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(</a:t>
            </a:r>
            <a:r>
              <a:rPr lang="en-US" altLang="zh-TW" sz="2385" dirty="0" err="1">
                <a:solidFill>
                  <a:prstClr val="white"/>
                </a:solidFill>
                <a:latin typeface="Lucida Sans Typewriter" panose="020B0509030504030204" pitchFamily="49" charset="0"/>
              </a:rPr>
              <a:t>coord</a:t>
            </a: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));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   A-&gt;x=1;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   B=A; C=B;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   A-&gt;y=2; C-&gt;z=3;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385" dirty="0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</a:rPr>
              <a:t>   A=NULL; 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385" dirty="0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</a:rPr>
              <a:t>   print(C);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385" dirty="0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</a:rPr>
              <a:t>   </a:t>
            </a:r>
            <a:r>
              <a:rPr lang="en-US" altLang="zh-TW" sz="2385" dirty="0">
                <a:solidFill>
                  <a:srgbClr val="A6A6A6"/>
                </a:solidFill>
                <a:latin typeface="Lucida Sans Typewriter" panose="020B0509030504030204" pitchFamily="49" charset="0"/>
              </a:rPr>
              <a:t>free(B);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385" dirty="0">
                <a:solidFill>
                  <a:srgbClr val="A6A6A6"/>
                </a:solidFill>
                <a:latin typeface="Lucida Sans Typewriter" panose="020B0509030504030204" pitchFamily="49" charset="0"/>
              </a:rPr>
              <a:t>   </a:t>
            </a:r>
            <a:r>
              <a:rPr lang="en-US" altLang="zh-TW" sz="2385" dirty="0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</a:rPr>
              <a:t>print(C);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}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385" dirty="0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</a:rPr>
              <a:t>%</a:t>
            </a:r>
            <a:r>
              <a:rPr lang="en-US" altLang="zh-TW" sz="2385" dirty="0">
                <a:solidFill>
                  <a:prstClr val="black"/>
                </a:solidFill>
                <a:latin typeface="Lucida Sans Typewriter" panose="020B0509030504030204" pitchFamily="49" charset="0"/>
              </a:rPr>
              <a:t> ./</a:t>
            </a:r>
            <a:r>
              <a:rPr lang="en-US" altLang="zh-TW" sz="2385" dirty="0" err="1">
                <a:solidFill>
                  <a:prstClr val="black"/>
                </a:solidFill>
                <a:latin typeface="Lucida Sans Typewriter" panose="020B0509030504030204" pitchFamily="49" charset="0"/>
              </a:rPr>
              <a:t>prog.x</a:t>
            </a:r>
            <a:endParaRPr lang="en-US" altLang="zh-TW" sz="2385" dirty="0">
              <a:solidFill>
                <a:prstClr val="black"/>
              </a:solidFill>
              <a:latin typeface="Lucida Sans Typewriter" panose="020B0509030504030204" pitchFamily="49" charset="0"/>
            </a:endParaRP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385" dirty="0">
                <a:solidFill>
                  <a:prstClr val="black"/>
                </a:solidFill>
                <a:latin typeface="Lucida Sans Typewriter" panose="020B0509030504030204" pitchFamily="49" charset="0"/>
              </a:rPr>
              <a:t>(1,2,3)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385" dirty="0">
                <a:solidFill>
                  <a:prstClr val="black"/>
                </a:solidFill>
                <a:latin typeface="Lucida Sans Typewriter" panose="020B0509030504030204" pitchFamily="49" charset="0"/>
              </a:rPr>
              <a:t>(</a:t>
            </a:r>
            <a:r>
              <a:rPr lang="en-US" altLang="zh-TW" sz="2385" dirty="0" err="1">
                <a:solidFill>
                  <a:prstClr val="black"/>
                </a:solidFill>
                <a:latin typeface="Lucida Sans Typewriter" panose="020B0509030504030204" pitchFamily="49" charset="0"/>
              </a:rPr>
              <a:t>garbage,garbage,garbage</a:t>
            </a:r>
            <a:r>
              <a:rPr lang="en-US" altLang="zh-TW" sz="2385" dirty="0">
                <a:solidFill>
                  <a:prstClr val="black"/>
                </a:solidFill>
                <a:latin typeface="Lucida Sans Typewriter" panose="020B0509030504030204" pitchFamily="49" charset="0"/>
              </a:rPr>
              <a:t>)</a:t>
            </a:r>
          </a:p>
        </p:txBody>
      </p:sp>
      <p:sp>
        <p:nvSpPr>
          <p:cNvPr id="18" name="Content Placeholder 2"/>
          <p:cNvSpPr txBox="1">
            <a:spLocks/>
          </p:cNvSpPr>
          <p:nvPr/>
        </p:nvSpPr>
        <p:spPr>
          <a:xfrm>
            <a:off x="4953591" y="958409"/>
            <a:ext cx="4699997" cy="5615808"/>
          </a:xfrm>
          <a:prstGeom prst="rect">
            <a:avLst/>
          </a:prstGeom>
          <a:noFill/>
        </p:spPr>
        <p:txBody>
          <a:bodyPr vert="horz" lIns="83872" tIns="41936" rIns="83872" bIns="41936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% cat </a:t>
            </a:r>
            <a:r>
              <a:rPr lang="en-US" altLang="zh-TW" sz="2385" dirty="0" smtClean="0">
                <a:solidFill>
                  <a:prstClr val="white"/>
                </a:solidFill>
                <a:latin typeface="Lucida Sans Typewriter" panose="020B0509030504030204" pitchFamily="49" charset="0"/>
              </a:rPr>
              <a:t>prog2.c</a:t>
            </a:r>
            <a:endParaRPr lang="en-US" altLang="zh-TW" sz="2385" dirty="0">
              <a:solidFill>
                <a:prstClr val="white"/>
              </a:solidFill>
              <a:latin typeface="Lucida Sans Typewriter" panose="020B0509030504030204" pitchFamily="49" charset="0"/>
            </a:endParaRP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#include "</a:t>
            </a:r>
            <a:r>
              <a:rPr lang="en-US" altLang="zh-TW" sz="2385" dirty="0" err="1">
                <a:solidFill>
                  <a:prstClr val="white"/>
                </a:solidFill>
                <a:latin typeface="Lucida Sans Typewriter" panose="020B0509030504030204" pitchFamily="49" charset="0"/>
              </a:rPr>
              <a:t>stuff.h</a:t>
            </a: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"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385" dirty="0" err="1">
                <a:solidFill>
                  <a:prstClr val="white"/>
                </a:solidFill>
                <a:latin typeface="Lucida Sans Typewriter" panose="020B0509030504030204" pitchFamily="49" charset="0"/>
              </a:rPr>
              <a:t>int</a:t>
            </a: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 main() {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   A=(</a:t>
            </a:r>
            <a:r>
              <a:rPr lang="en-US" altLang="zh-TW" sz="2385" dirty="0" err="1">
                <a:solidFill>
                  <a:prstClr val="white"/>
                </a:solidFill>
                <a:latin typeface="Lucida Sans Typewriter" panose="020B0509030504030204" pitchFamily="49" charset="0"/>
              </a:rPr>
              <a:t>coord</a:t>
            </a: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*)</a:t>
            </a:r>
            <a:r>
              <a:rPr lang="en-US" altLang="zh-TW" sz="2385" dirty="0" err="1">
                <a:solidFill>
                  <a:prstClr val="white"/>
                </a:solidFill>
                <a:latin typeface="Lucida Sans Typewriter" panose="020B0509030504030204" pitchFamily="49" charset="0"/>
              </a:rPr>
              <a:t>malloc</a:t>
            </a: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     </a:t>
            </a:r>
            <a:b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</a:b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     (</a:t>
            </a:r>
            <a:r>
              <a:rPr lang="en-US" altLang="zh-TW" sz="2385" dirty="0" err="1">
                <a:solidFill>
                  <a:prstClr val="white"/>
                </a:solidFill>
                <a:latin typeface="Lucida Sans Typewriter" panose="020B0509030504030204" pitchFamily="49" charset="0"/>
              </a:rPr>
              <a:t>sizeof</a:t>
            </a: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(</a:t>
            </a:r>
            <a:r>
              <a:rPr lang="en-US" altLang="zh-TW" sz="2385" dirty="0" err="1">
                <a:solidFill>
                  <a:prstClr val="white"/>
                </a:solidFill>
                <a:latin typeface="Lucida Sans Typewriter" panose="020B0509030504030204" pitchFamily="49" charset="0"/>
              </a:rPr>
              <a:t>coord</a:t>
            </a: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));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   A-&gt;x=1;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   B=A; C=B;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   A-&gt;y=2; C-&gt;z=3;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385" dirty="0">
                <a:solidFill>
                  <a:srgbClr val="FFFF00"/>
                </a:solidFill>
                <a:latin typeface="Lucida Sans Typewriter" panose="020B0509030504030204" pitchFamily="49" charset="0"/>
              </a:rPr>
              <a:t>   </a:t>
            </a: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A=NULL;</a:t>
            </a:r>
            <a:r>
              <a:rPr lang="en-US" altLang="zh-TW" sz="2385" dirty="0">
                <a:solidFill>
                  <a:srgbClr val="FFFF00"/>
                </a:solidFill>
                <a:latin typeface="Lucida Sans Typewriter" panose="020B0509030504030204" pitchFamily="49" charset="0"/>
              </a:rPr>
              <a:t> </a:t>
            </a:r>
            <a:endParaRPr lang="en-US" altLang="zh-TW" sz="2385" dirty="0">
              <a:solidFill>
                <a:prstClr val="white"/>
              </a:solidFill>
              <a:latin typeface="Lucida Sans Typewriter" panose="020B0509030504030204" pitchFamily="49" charset="0"/>
            </a:endParaRP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   print(C);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   </a:t>
            </a:r>
            <a:r>
              <a:rPr lang="en-US" altLang="zh-TW" sz="2385" dirty="0">
                <a:solidFill>
                  <a:srgbClr val="FFFF00"/>
                </a:solidFill>
                <a:latin typeface="Lucida Sans Typewriter" panose="020B0509030504030204" pitchFamily="49" charset="0"/>
              </a:rPr>
              <a:t>free(B);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   print(C);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altLang="zh-TW" sz="2385" dirty="0">
              <a:solidFill>
                <a:prstClr val="white"/>
              </a:solidFill>
              <a:latin typeface="Lucida Sans Typewriter" panose="020B0509030504030204" pitchFamily="49" charset="0"/>
            </a:endParaRP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% ./</a:t>
            </a:r>
            <a:r>
              <a:rPr lang="en-US" altLang="zh-TW" sz="2385" dirty="0" smtClean="0">
                <a:solidFill>
                  <a:prstClr val="white"/>
                </a:solidFill>
                <a:latin typeface="Lucida Sans Typewriter" panose="020B0509030504030204" pitchFamily="49" charset="0"/>
              </a:rPr>
              <a:t>prog2.x</a:t>
            </a:r>
            <a:endParaRPr lang="en-US" altLang="zh-TW" sz="2385" dirty="0">
              <a:solidFill>
                <a:prstClr val="white"/>
              </a:solidFill>
              <a:latin typeface="Lucida Sans Typewriter" panose="020B0509030504030204" pitchFamily="49" charset="0"/>
            </a:endParaRP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(1,2,3)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385" dirty="0">
                <a:solidFill>
                  <a:prstClr val="white"/>
                </a:solidFill>
                <a:latin typeface="Lucida Fax" panose="02060602050505020204" pitchFamily="18" charset="0"/>
              </a:rPr>
              <a:t>This output is unpredictable</a:t>
            </a:r>
          </a:p>
        </p:txBody>
      </p:sp>
      <p:sp>
        <p:nvSpPr>
          <p:cNvPr id="24" name="Content Placeholder 2"/>
          <p:cNvSpPr txBox="1">
            <a:spLocks/>
          </p:cNvSpPr>
          <p:nvPr/>
        </p:nvSpPr>
        <p:spPr>
          <a:xfrm>
            <a:off x="78783" y="975054"/>
            <a:ext cx="4339488" cy="4559877"/>
          </a:xfrm>
          <a:prstGeom prst="rect">
            <a:avLst/>
          </a:prstGeom>
          <a:solidFill>
            <a:schemeClr val="tx1"/>
          </a:solidFill>
        </p:spPr>
        <p:txBody>
          <a:bodyPr vert="horz" lIns="83872" tIns="41936" rIns="83872" bIns="41936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&gt;&gt;&gt; A=[1]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&gt;&gt;&gt; B=A; C=B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&gt;&gt;&gt; A+=[2];C+=[3]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print(A)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[1, 2, 3]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&gt;&gt;&gt; A=0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&gt;&gt;&gt; print(C)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[1, 2, 3]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385" dirty="0">
                <a:solidFill>
                  <a:srgbClr val="FFFF00"/>
                </a:solidFill>
                <a:latin typeface="Lucida Sans Typewriter" panose="020B0509030504030204" pitchFamily="49" charset="0"/>
              </a:rPr>
              <a:t>&gt;&gt;&gt; del B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385" dirty="0">
                <a:solidFill>
                  <a:srgbClr val="FFFF00"/>
                </a:solidFill>
                <a:latin typeface="Lucida Sans Typewriter" panose="020B0509030504030204" pitchFamily="49" charset="0"/>
              </a:rPr>
              <a:t>&gt;&gt;&gt;</a:t>
            </a:r>
            <a:r>
              <a:rPr lang="en-US" altLang="zh-TW" sz="2385" dirty="0">
                <a:solidFill>
                  <a:prstClr val="black"/>
                </a:solidFill>
                <a:latin typeface="Lucida Sans Typewriter" panose="020B0509030504030204" pitchFamily="49" charset="0"/>
              </a:rPr>
              <a:t>t(C)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385" dirty="0">
                <a:solidFill>
                  <a:prstClr val="black"/>
                </a:solidFill>
                <a:latin typeface="Lucida Sans Typewriter" panose="020B0509030504030204" pitchFamily="49" charset="0"/>
              </a:rPr>
              <a:t>[1, 2, 3]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385" dirty="0">
                <a:solidFill>
                  <a:prstClr val="black"/>
                </a:solidFill>
                <a:latin typeface="Lucida Sans Typewriter" panose="020B0509030504030204" pitchFamily="49" charset="0"/>
              </a:rPr>
              <a:t>print(B)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385" dirty="0">
                <a:solidFill>
                  <a:prstClr val="black"/>
                </a:solidFill>
                <a:latin typeface="Lucida Sans Typewriter" panose="020B0509030504030204" pitchFamily="49" charset="0"/>
              </a:rPr>
              <a:t>[1, 2, 3]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altLang="zh-TW" sz="2385" dirty="0">
              <a:solidFill>
                <a:srgbClr val="FFFF00"/>
              </a:solidFill>
              <a:latin typeface="Lucida Sans Typewriter" panose="020B0509030504030204" pitchFamily="49" charset="0"/>
            </a:endParaRP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altLang="zh-TW" sz="2385" dirty="0">
              <a:solidFill>
                <a:srgbClr val="FFFF00"/>
              </a:solidFill>
              <a:latin typeface="Lucida Sans Typewriter" panose="020B0509030504030204" pitchFamily="49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" y="0"/>
            <a:ext cx="9729788" cy="958410"/>
          </a:xfrm>
        </p:spPr>
        <p:txBody>
          <a:bodyPr>
            <a:normAutofit/>
          </a:bodyPr>
          <a:lstStyle/>
          <a:p>
            <a:r>
              <a:rPr lang="en-US" altLang="zh-TW" sz="4200" dirty="0">
                <a:solidFill>
                  <a:srgbClr val="0070C0"/>
                </a:solidFill>
              </a:rPr>
              <a:t>In C, you manage your own garbage</a:t>
            </a:r>
            <a:endParaRPr lang="zh-TW" altLang="en-US" sz="4200" dirty="0">
              <a:solidFill>
                <a:srgbClr val="0070C0"/>
              </a:solidFill>
            </a:endParaRPr>
          </a:p>
        </p:txBody>
      </p:sp>
      <p:sp>
        <p:nvSpPr>
          <p:cNvPr id="19" name="Rounded Rectangular Callout 18"/>
          <p:cNvSpPr/>
          <p:nvPr/>
        </p:nvSpPr>
        <p:spPr>
          <a:xfrm>
            <a:off x="2874213" y="2891123"/>
            <a:ext cx="2397659" cy="1270241"/>
          </a:xfrm>
          <a:prstGeom prst="wedgeRoundRectCallout">
            <a:avLst>
              <a:gd name="adj1" fmla="val -94041"/>
              <a:gd name="adj2" fmla="val 33216"/>
              <a:gd name="adj3" fmla="val 16667"/>
            </a:avLst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568" dirty="0">
                <a:solidFill>
                  <a:prstClr val="white"/>
                </a:solidFill>
              </a:rPr>
              <a:t>In Python, we use</a:t>
            </a:r>
            <a:r>
              <a:rPr lang="en-US" altLang="zh-TW" sz="2568" dirty="0">
                <a:solidFill>
                  <a:prstClr val="black"/>
                </a:solidFill>
              </a:rPr>
              <a:t> </a:t>
            </a:r>
            <a:r>
              <a:rPr lang="en-US" altLang="zh-TW" sz="2568" b="1" dirty="0">
                <a:solidFill>
                  <a:prstClr val="black"/>
                </a:solidFill>
              </a:rPr>
              <a:t>del</a:t>
            </a:r>
            <a:r>
              <a:rPr lang="en-US" altLang="zh-TW" sz="2568" dirty="0">
                <a:solidFill>
                  <a:prstClr val="black"/>
                </a:solidFill>
              </a:rPr>
              <a:t> </a:t>
            </a:r>
            <a:r>
              <a:rPr lang="en-US" altLang="zh-TW" sz="2568" dirty="0">
                <a:solidFill>
                  <a:prstClr val="white"/>
                </a:solidFill>
              </a:rPr>
              <a:t>instead of free. </a:t>
            </a:r>
            <a:endParaRPr lang="zh-TW" altLang="en-US" sz="2568" dirty="0">
              <a:solidFill>
                <a:prstClr val="white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099304" y="0"/>
            <a:ext cx="4642390" cy="25908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zh-TW" sz="2800" dirty="0" smtClean="0">
                <a:solidFill>
                  <a:prstClr val="white"/>
                </a:solidFill>
              </a:rPr>
              <a:t>Now note: del automatically</a:t>
            </a:r>
            <a:br>
              <a:rPr lang="en-US" altLang="zh-TW" sz="2800" dirty="0" smtClean="0">
                <a:solidFill>
                  <a:prstClr val="white"/>
                </a:solidFill>
              </a:rPr>
            </a:br>
            <a:r>
              <a:rPr lang="en-US" altLang="zh-TW" sz="2800" dirty="0" smtClean="0">
                <a:solidFill>
                  <a:prstClr val="white"/>
                </a:solidFill>
              </a:rPr>
              <a:t>happens when a variable is</a:t>
            </a:r>
            <a:br>
              <a:rPr lang="en-US" altLang="zh-TW" sz="2800" dirty="0" smtClean="0">
                <a:solidFill>
                  <a:prstClr val="white"/>
                </a:solidFill>
              </a:rPr>
            </a:br>
            <a:r>
              <a:rPr lang="en-US" altLang="zh-TW" sz="2800" dirty="0" smtClean="0">
                <a:solidFill>
                  <a:prstClr val="white"/>
                </a:solidFill>
              </a:rPr>
              <a:t>reassigned. So using del on a</a:t>
            </a:r>
            <a:br>
              <a:rPr lang="en-US" altLang="zh-TW" sz="2800" dirty="0" smtClean="0">
                <a:solidFill>
                  <a:prstClr val="white"/>
                </a:solidFill>
              </a:rPr>
            </a:br>
            <a:r>
              <a:rPr lang="en-US" altLang="zh-TW" sz="2800" dirty="0" smtClean="0">
                <a:solidFill>
                  <a:prstClr val="white"/>
                </a:solidFill>
              </a:rPr>
              <a:t>whole variable isn’t so useful.</a:t>
            </a:r>
            <a:br>
              <a:rPr lang="en-US" altLang="zh-TW" sz="2800" dirty="0" smtClean="0">
                <a:solidFill>
                  <a:prstClr val="white"/>
                </a:solidFill>
              </a:rPr>
            </a:br>
            <a:r>
              <a:rPr lang="en-US" altLang="zh-TW" sz="2800" spc="-160" dirty="0" smtClean="0">
                <a:solidFill>
                  <a:prstClr val="white"/>
                </a:solidFill>
              </a:rPr>
              <a:t>(</a:t>
            </a:r>
            <a:r>
              <a:rPr lang="en-US" altLang="zh-TW" sz="2800" spc="-10" dirty="0" smtClean="0">
                <a:solidFill>
                  <a:prstClr val="white"/>
                </a:solidFill>
              </a:rPr>
              <a:t>Using</a:t>
            </a:r>
            <a:r>
              <a:rPr lang="en-US" altLang="zh-TW" sz="2000" spc="-10" dirty="0" smtClean="0">
                <a:solidFill>
                  <a:prstClr val="white"/>
                </a:solidFill>
              </a:rPr>
              <a:t> </a:t>
            </a:r>
            <a:r>
              <a:rPr lang="en-US" altLang="zh-TW" sz="2800" spc="-10" dirty="0" smtClean="0">
                <a:solidFill>
                  <a:prstClr val="white"/>
                </a:solidFill>
              </a:rPr>
              <a:t>it</a:t>
            </a:r>
            <a:r>
              <a:rPr lang="en-US" altLang="zh-TW" sz="2000" spc="-10" dirty="0" smtClean="0">
                <a:solidFill>
                  <a:prstClr val="white"/>
                </a:solidFill>
              </a:rPr>
              <a:t> </a:t>
            </a:r>
            <a:r>
              <a:rPr lang="en-US" altLang="zh-TW" sz="2800" spc="-10" dirty="0" smtClean="0">
                <a:solidFill>
                  <a:prstClr val="white"/>
                </a:solidFill>
              </a:rPr>
              <a:t>on</a:t>
            </a:r>
            <a:r>
              <a:rPr lang="en-US" altLang="zh-TW" sz="2000" spc="-10" dirty="0" smtClean="0">
                <a:solidFill>
                  <a:prstClr val="white"/>
                </a:solidFill>
              </a:rPr>
              <a:t> </a:t>
            </a:r>
            <a:r>
              <a:rPr lang="en-US" altLang="zh-TW" sz="2800" spc="-10" dirty="0" smtClean="0">
                <a:solidFill>
                  <a:prstClr val="white"/>
                </a:solidFill>
              </a:rPr>
              <a:t>individual</a:t>
            </a:r>
            <a:r>
              <a:rPr lang="en-US" altLang="zh-TW" sz="2000" spc="-10" dirty="0" smtClean="0">
                <a:solidFill>
                  <a:prstClr val="white"/>
                </a:solidFill>
              </a:rPr>
              <a:t> </a:t>
            </a:r>
            <a:r>
              <a:rPr lang="en-US" altLang="zh-TW" sz="2800" spc="-10" dirty="0" smtClean="0">
                <a:solidFill>
                  <a:prstClr val="white"/>
                </a:solidFill>
              </a:rPr>
              <a:t>element</a:t>
            </a:r>
            <a:r>
              <a:rPr lang="en-US" altLang="zh-TW" sz="2800" spc="-100" dirty="0" smtClean="0">
                <a:solidFill>
                  <a:prstClr val="white"/>
                </a:solidFill>
              </a:rPr>
              <a:t>s</a:t>
            </a:r>
            <a:r>
              <a:rPr lang="en-US" altLang="zh-TW" sz="2800" dirty="0" smtClean="0">
                <a:solidFill>
                  <a:prstClr val="white"/>
                </a:solidFill>
              </a:rPr>
              <a:t>,</a:t>
            </a:r>
            <a:br>
              <a:rPr lang="en-US" altLang="zh-TW" sz="2800" dirty="0" smtClean="0">
                <a:solidFill>
                  <a:prstClr val="white"/>
                </a:solidFill>
              </a:rPr>
            </a:br>
            <a:r>
              <a:rPr lang="en-US" altLang="zh-TW" sz="2800" dirty="0" smtClean="0">
                <a:solidFill>
                  <a:prstClr val="white"/>
                </a:solidFill>
              </a:rPr>
              <a:t>however, is quite common.)</a:t>
            </a:r>
            <a:endParaRPr lang="en-US" altLang="zh-TW" sz="280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22655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4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19" grpId="0" animBg="1"/>
      <p:bldP spid="8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 txBox="1">
            <a:spLocks/>
          </p:cNvSpPr>
          <p:nvPr/>
        </p:nvSpPr>
        <p:spPr>
          <a:xfrm>
            <a:off x="4953591" y="958409"/>
            <a:ext cx="4699997" cy="5615808"/>
          </a:xfrm>
          <a:prstGeom prst="rect">
            <a:avLst/>
          </a:prstGeom>
          <a:solidFill>
            <a:schemeClr val="tx1"/>
          </a:solidFill>
        </p:spPr>
        <p:txBody>
          <a:bodyPr vert="horz" lIns="83872" tIns="41936" rIns="83872" bIns="41936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% cat </a:t>
            </a:r>
            <a:r>
              <a:rPr lang="en-US" altLang="zh-TW" sz="2385" dirty="0" smtClean="0">
                <a:solidFill>
                  <a:prstClr val="white"/>
                </a:solidFill>
                <a:latin typeface="Lucida Sans Typewriter" panose="020B0509030504030204" pitchFamily="49" charset="0"/>
              </a:rPr>
              <a:t>prog2.c</a:t>
            </a:r>
            <a:endParaRPr lang="en-US" altLang="zh-TW" sz="2385" dirty="0">
              <a:solidFill>
                <a:prstClr val="white"/>
              </a:solidFill>
              <a:latin typeface="Lucida Sans Typewriter" panose="020B0509030504030204" pitchFamily="49" charset="0"/>
            </a:endParaRP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#include "</a:t>
            </a:r>
            <a:r>
              <a:rPr lang="en-US" altLang="zh-TW" sz="2385" dirty="0" err="1">
                <a:solidFill>
                  <a:prstClr val="white"/>
                </a:solidFill>
                <a:latin typeface="Lucida Sans Typewriter" panose="020B0509030504030204" pitchFamily="49" charset="0"/>
              </a:rPr>
              <a:t>stuff.h</a:t>
            </a: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"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385" dirty="0" err="1">
                <a:solidFill>
                  <a:prstClr val="white"/>
                </a:solidFill>
                <a:latin typeface="Lucida Sans Typewriter" panose="020B0509030504030204" pitchFamily="49" charset="0"/>
              </a:rPr>
              <a:t>int</a:t>
            </a: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 main() {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   A=(</a:t>
            </a:r>
            <a:r>
              <a:rPr lang="en-US" altLang="zh-TW" sz="2385" dirty="0" err="1">
                <a:solidFill>
                  <a:prstClr val="white"/>
                </a:solidFill>
                <a:latin typeface="Lucida Sans Typewriter" panose="020B0509030504030204" pitchFamily="49" charset="0"/>
              </a:rPr>
              <a:t>coord</a:t>
            </a: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*)</a:t>
            </a:r>
            <a:r>
              <a:rPr lang="en-US" altLang="zh-TW" sz="2385" dirty="0" err="1">
                <a:solidFill>
                  <a:prstClr val="white"/>
                </a:solidFill>
                <a:latin typeface="Lucida Sans Typewriter" panose="020B0509030504030204" pitchFamily="49" charset="0"/>
              </a:rPr>
              <a:t>malloc</a:t>
            </a: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     </a:t>
            </a:r>
            <a:b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</a:b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     (</a:t>
            </a:r>
            <a:r>
              <a:rPr lang="en-US" altLang="zh-TW" sz="2385" dirty="0" err="1">
                <a:solidFill>
                  <a:prstClr val="white"/>
                </a:solidFill>
                <a:latin typeface="Lucida Sans Typewriter" panose="020B0509030504030204" pitchFamily="49" charset="0"/>
              </a:rPr>
              <a:t>sizeof</a:t>
            </a: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(</a:t>
            </a:r>
            <a:r>
              <a:rPr lang="en-US" altLang="zh-TW" sz="2385" dirty="0" err="1">
                <a:solidFill>
                  <a:prstClr val="white"/>
                </a:solidFill>
                <a:latin typeface="Lucida Sans Typewriter" panose="020B0509030504030204" pitchFamily="49" charset="0"/>
              </a:rPr>
              <a:t>coord</a:t>
            </a: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));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   A-&gt;x=1;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   B=A; C=B;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   A-&gt;y=2; C-&gt;z=3;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385" dirty="0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</a:rPr>
              <a:t>   A=NULL; 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385" dirty="0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</a:rPr>
              <a:t>   print(C);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385" dirty="0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</a:rPr>
              <a:t>   </a:t>
            </a:r>
            <a:r>
              <a:rPr lang="en-US" altLang="zh-TW" sz="2385" dirty="0">
                <a:solidFill>
                  <a:srgbClr val="A6A6A6"/>
                </a:solidFill>
                <a:latin typeface="Lucida Sans Typewriter" panose="020B0509030504030204" pitchFamily="49" charset="0"/>
              </a:rPr>
              <a:t>free(B);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385" dirty="0">
                <a:solidFill>
                  <a:srgbClr val="A6A6A6"/>
                </a:solidFill>
                <a:latin typeface="Lucida Sans Typewriter" panose="020B0509030504030204" pitchFamily="49" charset="0"/>
              </a:rPr>
              <a:t>   </a:t>
            </a:r>
            <a:r>
              <a:rPr lang="en-US" altLang="zh-TW" sz="2385" dirty="0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</a:rPr>
              <a:t>print(C);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}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385" dirty="0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</a:rPr>
              <a:t>%</a:t>
            </a:r>
            <a:r>
              <a:rPr lang="en-US" altLang="zh-TW" sz="2385" dirty="0">
                <a:solidFill>
                  <a:prstClr val="black"/>
                </a:solidFill>
                <a:latin typeface="Lucida Sans Typewriter" panose="020B0509030504030204" pitchFamily="49" charset="0"/>
              </a:rPr>
              <a:t> ./</a:t>
            </a:r>
            <a:r>
              <a:rPr lang="en-US" altLang="zh-TW" sz="2385" dirty="0" err="1">
                <a:solidFill>
                  <a:prstClr val="black"/>
                </a:solidFill>
                <a:latin typeface="Lucida Sans Typewriter" panose="020B0509030504030204" pitchFamily="49" charset="0"/>
              </a:rPr>
              <a:t>prog.x</a:t>
            </a:r>
            <a:endParaRPr lang="en-US" altLang="zh-TW" sz="2385" dirty="0">
              <a:solidFill>
                <a:prstClr val="black"/>
              </a:solidFill>
              <a:latin typeface="Lucida Sans Typewriter" panose="020B0509030504030204" pitchFamily="49" charset="0"/>
            </a:endParaRP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385" dirty="0">
                <a:solidFill>
                  <a:prstClr val="black"/>
                </a:solidFill>
                <a:latin typeface="Lucida Sans Typewriter" panose="020B0509030504030204" pitchFamily="49" charset="0"/>
              </a:rPr>
              <a:t>(1,2,3)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385" dirty="0">
                <a:solidFill>
                  <a:prstClr val="black"/>
                </a:solidFill>
                <a:latin typeface="Lucida Sans Typewriter" panose="020B0509030504030204" pitchFamily="49" charset="0"/>
              </a:rPr>
              <a:t>(</a:t>
            </a:r>
            <a:r>
              <a:rPr lang="en-US" altLang="zh-TW" sz="2385" dirty="0" err="1">
                <a:solidFill>
                  <a:prstClr val="black"/>
                </a:solidFill>
                <a:latin typeface="Lucida Sans Typewriter" panose="020B0509030504030204" pitchFamily="49" charset="0"/>
              </a:rPr>
              <a:t>garbage,garbage,garbage</a:t>
            </a:r>
            <a:r>
              <a:rPr lang="en-US" altLang="zh-TW" sz="2385" dirty="0">
                <a:solidFill>
                  <a:prstClr val="black"/>
                </a:solidFill>
                <a:latin typeface="Lucida Sans Typewriter" panose="020B0509030504030204" pitchFamily="49" charset="0"/>
              </a:rPr>
              <a:t>)</a:t>
            </a:r>
          </a:p>
        </p:txBody>
      </p:sp>
      <p:sp>
        <p:nvSpPr>
          <p:cNvPr id="18" name="Content Placeholder 2"/>
          <p:cNvSpPr txBox="1">
            <a:spLocks/>
          </p:cNvSpPr>
          <p:nvPr/>
        </p:nvSpPr>
        <p:spPr>
          <a:xfrm>
            <a:off x="4953591" y="958409"/>
            <a:ext cx="4699997" cy="5615808"/>
          </a:xfrm>
          <a:prstGeom prst="rect">
            <a:avLst/>
          </a:prstGeom>
          <a:noFill/>
        </p:spPr>
        <p:txBody>
          <a:bodyPr vert="horz" lIns="83872" tIns="41936" rIns="83872" bIns="41936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% cat </a:t>
            </a:r>
            <a:r>
              <a:rPr lang="en-US" altLang="zh-TW" sz="2385" dirty="0" smtClean="0">
                <a:solidFill>
                  <a:prstClr val="white"/>
                </a:solidFill>
                <a:latin typeface="Lucida Sans Typewriter" panose="020B0509030504030204" pitchFamily="49" charset="0"/>
              </a:rPr>
              <a:t>prog2.c</a:t>
            </a:r>
            <a:endParaRPr lang="en-US" altLang="zh-TW" sz="2385" dirty="0">
              <a:solidFill>
                <a:prstClr val="white"/>
              </a:solidFill>
              <a:latin typeface="Lucida Sans Typewriter" panose="020B0509030504030204" pitchFamily="49" charset="0"/>
            </a:endParaRP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#include "</a:t>
            </a:r>
            <a:r>
              <a:rPr lang="en-US" altLang="zh-TW" sz="2385" dirty="0" err="1">
                <a:solidFill>
                  <a:prstClr val="white"/>
                </a:solidFill>
                <a:latin typeface="Lucida Sans Typewriter" panose="020B0509030504030204" pitchFamily="49" charset="0"/>
              </a:rPr>
              <a:t>stuff.h</a:t>
            </a: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"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385" dirty="0" err="1">
                <a:solidFill>
                  <a:prstClr val="white"/>
                </a:solidFill>
                <a:latin typeface="Lucida Sans Typewriter" panose="020B0509030504030204" pitchFamily="49" charset="0"/>
              </a:rPr>
              <a:t>int</a:t>
            </a: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 main() {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   A=(</a:t>
            </a:r>
            <a:r>
              <a:rPr lang="en-US" altLang="zh-TW" sz="2385" dirty="0" err="1">
                <a:solidFill>
                  <a:prstClr val="white"/>
                </a:solidFill>
                <a:latin typeface="Lucida Sans Typewriter" panose="020B0509030504030204" pitchFamily="49" charset="0"/>
              </a:rPr>
              <a:t>coord</a:t>
            </a: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*)</a:t>
            </a:r>
            <a:r>
              <a:rPr lang="en-US" altLang="zh-TW" sz="2385" dirty="0" err="1">
                <a:solidFill>
                  <a:prstClr val="white"/>
                </a:solidFill>
                <a:latin typeface="Lucida Sans Typewriter" panose="020B0509030504030204" pitchFamily="49" charset="0"/>
              </a:rPr>
              <a:t>malloc</a:t>
            </a: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     </a:t>
            </a:r>
            <a:b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</a:b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     (</a:t>
            </a:r>
            <a:r>
              <a:rPr lang="en-US" altLang="zh-TW" sz="2385" dirty="0" err="1">
                <a:solidFill>
                  <a:prstClr val="white"/>
                </a:solidFill>
                <a:latin typeface="Lucida Sans Typewriter" panose="020B0509030504030204" pitchFamily="49" charset="0"/>
              </a:rPr>
              <a:t>sizeof</a:t>
            </a: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(</a:t>
            </a:r>
            <a:r>
              <a:rPr lang="en-US" altLang="zh-TW" sz="2385" dirty="0" err="1">
                <a:solidFill>
                  <a:prstClr val="white"/>
                </a:solidFill>
                <a:latin typeface="Lucida Sans Typewriter" panose="020B0509030504030204" pitchFamily="49" charset="0"/>
              </a:rPr>
              <a:t>coord</a:t>
            </a: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));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   A-&gt;x=1;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   B=A; C=B;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   A-&gt;y=2; C-&gt;z=3;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385" dirty="0">
                <a:solidFill>
                  <a:srgbClr val="FFFF00"/>
                </a:solidFill>
                <a:latin typeface="Lucida Sans Typewriter" panose="020B0509030504030204" pitchFamily="49" charset="0"/>
              </a:rPr>
              <a:t>   </a:t>
            </a: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A=NULL;</a:t>
            </a:r>
            <a:r>
              <a:rPr lang="en-US" altLang="zh-TW" sz="2385" dirty="0">
                <a:solidFill>
                  <a:srgbClr val="FFFF00"/>
                </a:solidFill>
                <a:latin typeface="Lucida Sans Typewriter" panose="020B0509030504030204" pitchFamily="49" charset="0"/>
              </a:rPr>
              <a:t> </a:t>
            </a:r>
            <a:endParaRPr lang="en-US" altLang="zh-TW" sz="2385" dirty="0">
              <a:solidFill>
                <a:prstClr val="white"/>
              </a:solidFill>
              <a:latin typeface="Lucida Sans Typewriter" panose="020B0509030504030204" pitchFamily="49" charset="0"/>
            </a:endParaRP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   print(C);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   free(B);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   </a:t>
            </a:r>
            <a:r>
              <a:rPr lang="en-US" altLang="zh-TW" sz="2385" dirty="0">
                <a:solidFill>
                  <a:srgbClr val="FFFF00"/>
                </a:solidFill>
                <a:latin typeface="Lucida Sans Typewriter" panose="020B0509030504030204" pitchFamily="49" charset="0"/>
              </a:rPr>
              <a:t>print(C);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altLang="zh-TW" sz="2385" dirty="0">
              <a:solidFill>
                <a:prstClr val="white"/>
              </a:solidFill>
              <a:latin typeface="Lucida Sans Typewriter" panose="020B0509030504030204" pitchFamily="49" charset="0"/>
            </a:endParaRP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% ./</a:t>
            </a:r>
            <a:r>
              <a:rPr lang="en-US" altLang="zh-TW" sz="2385" dirty="0" smtClean="0">
                <a:solidFill>
                  <a:prstClr val="white"/>
                </a:solidFill>
                <a:latin typeface="Lucida Sans Typewriter" panose="020B0509030504030204" pitchFamily="49" charset="0"/>
              </a:rPr>
              <a:t>prog2.x</a:t>
            </a:r>
            <a:endParaRPr lang="en-US" altLang="zh-TW" sz="2385" dirty="0">
              <a:solidFill>
                <a:prstClr val="white"/>
              </a:solidFill>
              <a:latin typeface="Lucida Sans Typewriter" panose="020B0509030504030204" pitchFamily="49" charset="0"/>
            </a:endParaRP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(1,2,3)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385" dirty="0">
                <a:solidFill>
                  <a:prstClr val="white"/>
                </a:solidFill>
                <a:latin typeface="Lucida Fax" panose="02060602050505020204" pitchFamily="18" charset="0"/>
              </a:rPr>
              <a:t>This output is unpredictable</a:t>
            </a:r>
          </a:p>
        </p:txBody>
      </p:sp>
      <p:sp>
        <p:nvSpPr>
          <p:cNvPr id="24" name="Content Placeholder 2"/>
          <p:cNvSpPr txBox="1">
            <a:spLocks/>
          </p:cNvSpPr>
          <p:nvPr/>
        </p:nvSpPr>
        <p:spPr>
          <a:xfrm>
            <a:off x="78783" y="975054"/>
            <a:ext cx="4339488" cy="4559877"/>
          </a:xfrm>
          <a:prstGeom prst="rect">
            <a:avLst/>
          </a:prstGeom>
          <a:solidFill>
            <a:schemeClr val="tx1"/>
          </a:solidFill>
        </p:spPr>
        <p:txBody>
          <a:bodyPr vert="horz" lIns="83872" tIns="41936" rIns="83872" bIns="41936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&gt;&gt;&gt; A=[1]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&gt;&gt;&gt; B=A; C=B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&gt;&gt;&gt; A+=[2];C+=[3]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print(A)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[1, 2, 3]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&gt;&gt;&gt; A=0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&gt;&gt;&gt; print(C)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[1, 2, 3]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&gt;&gt;&gt; del B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385" dirty="0">
                <a:solidFill>
                  <a:srgbClr val="FFFF00"/>
                </a:solidFill>
                <a:latin typeface="Lucida Sans Typewriter" panose="020B0509030504030204" pitchFamily="49" charset="0"/>
              </a:rPr>
              <a:t>&gt;&gt;&gt; print(C)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385" dirty="0">
                <a:solidFill>
                  <a:srgbClr val="FFFF00"/>
                </a:solidFill>
                <a:latin typeface="Lucida Sans Typewriter" panose="020B0509030504030204" pitchFamily="49" charset="0"/>
              </a:rPr>
              <a:t>[1, 2, 3]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385" dirty="0">
                <a:solidFill>
                  <a:srgbClr val="FFFF00"/>
                </a:solidFill>
                <a:latin typeface="Lucida Sans Typewriter" panose="020B0509030504030204" pitchFamily="49" charset="0"/>
              </a:rPr>
              <a:t>&gt;&gt;&gt;</a:t>
            </a:r>
            <a:r>
              <a:rPr lang="en-US" altLang="zh-TW" sz="2385" dirty="0">
                <a:solidFill>
                  <a:prstClr val="black"/>
                </a:solidFill>
                <a:latin typeface="Lucida Sans Typewriter" panose="020B0509030504030204" pitchFamily="49" charset="0"/>
              </a:rPr>
              <a:t>print(B)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385" dirty="0">
                <a:solidFill>
                  <a:prstClr val="black"/>
                </a:solidFill>
                <a:latin typeface="Lucida Sans Typewriter" panose="020B0509030504030204" pitchFamily="49" charset="0"/>
              </a:rPr>
              <a:t>[1, 2, 3]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altLang="zh-TW" sz="2385" dirty="0">
              <a:solidFill>
                <a:srgbClr val="FFFF00"/>
              </a:solidFill>
              <a:latin typeface="Lucida Sans Typewriter" panose="020B0509030504030204" pitchFamily="49" charset="0"/>
            </a:endParaRP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altLang="zh-TW" sz="2385" dirty="0">
              <a:solidFill>
                <a:srgbClr val="FFFF00"/>
              </a:solidFill>
              <a:latin typeface="Lucida Sans Typewriter" panose="020B0509030504030204" pitchFamily="49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" y="0"/>
            <a:ext cx="9729788" cy="958410"/>
          </a:xfrm>
        </p:spPr>
        <p:txBody>
          <a:bodyPr>
            <a:normAutofit/>
          </a:bodyPr>
          <a:lstStyle/>
          <a:p>
            <a:r>
              <a:rPr lang="en-US" altLang="zh-TW" sz="4200" dirty="0">
                <a:solidFill>
                  <a:srgbClr val="0070C0"/>
                </a:solidFill>
              </a:rPr>
              <a:t>In C, you manage your own garbage</a:t>
            </a:r>
            <a:endParaRPr lang="zh-TW" altLang="en-US" sz="4200" dirty="0">
              <a:solidFill>
                <a:srgbClr val="0070C0"/>
              </a:solidFill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3263589" y="1754591"/>
            <a:ext cx="3625266" cy="3044931"/>
            <a:chOff x="3263589" y="1754591"/>
            <a:chExt cx="3625266" cy="3044931"/>
          </a:xfrm>
        </p:grpSpPr>
        <p:sp>
          <p:nvSpPr>
            <p:cNvPr id="19" name="Rounded Rectangular Callout 18"/>
            <p:cNvSpPr/>
            <p:nvPr/>
          </p:nvSpPr>
          <p:spPr>
            <a:xfrm>
              <a:off x="3451909" y="1760667"/>
              <a:ext cx="3436946" cy="3038855"/>
            </a:xfrm>
            <a:prstGeom prst="wedgeRoundRectCallout">
              <a:avLst>
                <a:gd name="adj1" fmla="val -98815"/>
                <a:gd name="adj2" fmla="val 43716"/>
                <a:gd name="adj3" fmla="val 16667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2568" dirty="0">
                  <a:solidFill>
                    <a:prstClr val="white"/>
                  </a:solidFill>
                </a:rPr>
                <a:t>See the difference?</a:t>
              </a:r>
              <a:br>
                <a:rPr lang="en-US" altLang="zh-TW" sz="2568" dirty="0">
                  <a:solidFill>
                    <a:prstClr val="white"/>
                  </a:solidFill>
                </a:rPr>
              </a:br>
              <a:r>
                <a:rPr lang="en-US" altLang="zh-TW" sz="2568" dirty="0">
                  <a:solidFill>
                    <a:prstClr val="white"/>
                  </a:solidFill>
                </a:rPr>
                <a:t>Del is smarter than free. It frees the object’s space only if nothing else points to it. (And, either way, it deletes the variable.)</a:t>
              </a:r>
              <a:endParaRPr lang="zh-TW" altLang="en-US" sz="2568" dirty="0">
                <a:solidFill>
                  <a:prstClr val="white"/>
                </a:solidFill>
              </a:endParaRPr>
            </a:p>
          </p:txBody>
        </p:sp>
        <p:sp>
          <p:nvSpPr>
            <p:cNvPr id="8" name="Rounded Rectangular Callout 7"/>
            <p:cNvSpPr/>
            <p:nvPr/>
          </p:nvSpPr>
          <p:spPr>
            <a:xfrm>
              <a:off x="3445834" y="1754591"/>
              <a:ext cx="3436946" cy="3038855"/>
            </a:xfrm>
            <a:prstGeom prst="wedgeRoundRectCallout">
              <a:avLst>
                <a:gd name="adj1" fmla="val -407"/>
                <a:gd name="adj2" fmla="val 96516"/>
                <a:gd name="adj3" fmla="val 16667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2568" dirty="0">
                  <a:solidFill>
                    <a:prstClr val="white"/>
                  </a:solidFill>
                </a:rPr>
                <a:t>See the difference?</a:t>
              </a:r>
              <a:br>
                <a:rPr lang="en-US" altLang="zh-TW" sz="2568" dirty="0">
                  <a:solidFill>
                    <a:prstClr val="white"/>
                  </a:solidFill>
                </a:rPr>
              </a:br>
              <a:r>
                <a:rPr lang="en-US" altLang="zh-TW" sz="2568" dirty="0">
                  <a:solidFill>
                    <a:prstClr val="white"/>
                  </a:solidFill>
                </a:rPr>
                <a:t>Del is smarter than </a:t>
              </a:r>
              <a:r>
                <a:rPr lang="en-US" altLang="zh-TW" sz="2568" dirty="0" smtClean="0">
                  <a:solidFill>
                    <a:prstClr val="white"/>
                  </a:solidFill>
                </a:rPr>
                <a:t>free(). </a:t>
              </a:r>
              <a:r>
                <a:rPr lang="en-US" altLang="zh-TW" sz="2568" dirty="0">
                  <a:solidFill>
                    <a:prstClr val="white"/>
                  </a:solidFill>
                </a:rPr>
                <a:t>It frees </a:t>
              </a:r>
              <a:r>
                <a:rPr lang="en-US" altLang="zh-TW" sz="2568" dirty="0" smtClean="0">
                  <a:solidFill>
                    <a:prstClr val="white"/>
                  </a:solidFill>
                </a:rPr>
                <a:t>the space only </a:t>
              </a:r>
              <a:r>
                <a:rPr lang="en-US" altLang="zh-TW" sz="2568" dirty="0">
                  <a:solidFill>
                    <a:prstClr val="white"/>
                  </a:solidFill>
                </a:rPr>
                <a:t>if nothing else points to it. </a:t>
              </a:r>
              <a:r>
                <a:rPr lang="en-US" altLang="zh-TW" sz="2568" dirty="0" smtClean="0">
                  <a:solidFill>
                    <a:prstClr val="white"/>
                  </a:solidFill>
                </a:rPr>
                <a:t/>
              </a:r>
              <a:br>
                <a:rPr lang="en-US" altLang="zh-TW" sz="2568" dirty="0" smtClean="0">
                  <a:solidFill>
                    <a:prstClr val="white"/>
                  </a:solidFill>
                </a:rPr>
              </a:br>
              <a:r>
                <a:rPr lang="en-US" altLang="zh-TW" sz="2568" dirty="0" smtClean="0">
                  <a:solidFill>
                    <a:srgbClr val="ED7D31"/>
                  </a:solidFill>
                </a:rPr>
                <a:t>(</a:t>
              </a:r>
              <a:r>
                <a:rPr lang="en-US" altLang="zh-TW" sz="2568" dirty="0">
                  <a:solidFill>
                    <a:srgbClr val="ED7D31"/>
                  </a:solidFill>
                </a:rPr>
                <a:t>And, either way, it deletes the variable.)</a:t>
              </a:r>
              <a:endParaRPr lang="zh-TW" altLang="en-US" sz="2568" dirty="0">
                <a:solidFill>
                  <a:srgbClr val="ED7D31"/>
                </a:solidFill>
              </a:endParaRPr>
            </a:p>
          </p:txBody>
        </p:sp>
        <p:sp>
          <p:nvSpPr>
            <p:cNvPr id="9" name="Rounded Rectangle 8"/>
            <p:cNvSpPr/>
            <p:nvPr/>
          </p:nvSpPr>
          <p:spPr>
            <a:xfrm rot="2026893">
              <a:off x="3263589" y="3537871"/>
              <a:ext cx="533400" cy="731520"/>
            </a:xfrm>
            <a:prstGeom prst="roundRect">
              <a:avLst/>
            </a:prstGeom>
            <a:solidFill>
              <a:srgbClr val="ED7D31"/>
            </a:solidFill>
            <a:ln>
              <a:solidFill>
                <a:srgbClr val="ED7D3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874579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 txBox="1">
            <a:spLocks/>
          </p:cNvSpPr>
          <p:nvPr/>
        </p:nvSpPr>
        <p:spPr>
          <a:xfrm>
            <a:off x="4953591" y="958409"/>
            <a:ext cx="4699997" cy="5615808"/>
          </a:xfrm>
          <a:prstGeom prst="rect">
            <a:avLst/>
          </a:prstGeom>
          <a:solidFill>
            <a:schemeClr val="tx1"/>
          </a:solidFill>
        </p:spPr>
        <p:txBody>
          <a:bodyPr vert="horz" lIns="83872" tIns="41936" rIns="83872" bIns="41936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% cat </a:t>
            </a:r>
            <a:r>
              <a:rPr lang="en-US" altLang="zh-TW" sz="2385" dirty="0" smtClean="0">
                <a:solidFill>
                  <a:prstClr val="white"/>
                </a:solidFill>
                <a:latin typeface="Lucida Sans Typewriter" panose="020B0509030504030204" pitchFamily="49" charset="0"/>
              </a:rPr>
              <a:t>prog2.c</a:t>
            </a:r>
            <a:endParaRPr lang="en-US" altLang="zh-TW" sz="2385" dirty="0">
              <a:solidFill>
                <a:prstClr val="white"/>
              </a:solidFill>
              <a:latin typeface="Lucida Sans Typewriter" panose="020B0509030504030204" pitchFamily="49" charset="0"/>
            </a:endParaRP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#include "</a:t>
            </a:r>
            <a:r>
              <a:rPr lang="en-US" altLang="zh-TW" sz="2385" dirty="0" err="1">
                <a:solidFill>
                  <a:prstClr val="white"/>
                </a:solidFill>
                <a:latin typeface="Lucida Sans Typewriter" panose="020B0509030504030204" pitchFamily="49" charset="0"/>
              </a:rPr>
              <a:t>stuff.h</a:t>
            </a: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"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385" dirty="0" err="1">
                <a:solidFill>
                  <a:prstClr val="white"/>
                </a:solidFill>
                <a:latin typeface="Lucida Sans Typewriter" panose="020B0509030504030204" pitchFamily="49" charset="0"/>
              </a:rPr>
              <a:t>int</a:t>
            </a: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 main() {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   A=(</a:t>
            </a:r>
            <a:r>
              <a:rPr lang="en-US" altLang="zh-TW" sz="2385" dirty="0" err="1">
                <a:solidFill>
                  <a:prstClr val="white"/>
                </a:solidFill>
                <a:latin typeface="Lucida Sans Typewriter" panose="020B0509030504030204" pitchFamily="49" charset="0"/>
              </a:rPr>
              <a:t>coord</a:t>
            </a: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*)</a:t>
            </a:r>
            <a:r>
              <a:rPr lang="en-US" altLang="zh-TW" sz="2385" dirty="0" err="1">
                <a:solidFill>
                  <a:prstClr val="white"/>
                </a:solidFill>
                <a:latin typeface="Lucida Sans Typewriter" panose="020B0509030504030204" pitchFamily="49" charset="0"/>
              </a:rPr>
              <a:t>malloc</a:t>
            </a: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     </a:t>
            </a:r>
            <a:b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</a:b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     (</a:t>
            </a:r>
            <a:r>
              <a:rPr lang="en-US" altLang="zh-TW" sz="2385" dirty="0" err="1">
                <a:solidFill>
                  <a:prstClr val="white"/>
                </a:solidFill>
                <a:latin typeface="Lucida Sans Typewriter" panose="020B0509030504030204" pitchFamily="49" charset="0"/>
              </a:rPr>
              <a:t>sizeof</a:t>
            </a: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(</a:t>
            </a:r>
            <a:r>
              <a:rPr lang="en-US" altLang="zh-TW" sz="2385" dirty="0" err="1">
                <a:solidFill>
                  <a:prstClr val="white"/>
                </a:solidFill>
                <a:latin typeface="Lucida Sans Typewriter" panose="020B0509030504030204" pitchFamily="49" charset="0"/>
              </a:rPr>
              <a:t>coord</a:t>
            </a: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));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   A-&gt;x=1;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   B=A; C=B;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   A-&gt;y=2; C-&gt;z=3;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385" dirty="0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</a:rPr>
              <a:t>   A=NULL; 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385" dirty="0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</a:rPr>
              <a:t>   print(C);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385" dirty="0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</a:rPr>
              <a:t>   </a:t>
            </a:r>
            <a:r>
              <a:rPr lang="en-US" altLang="zh-TW" sz="2385" dirty="0">
                <a:solidFill>
                  <a:srgbClr val="A6A6A6"/>
                </a:solidFill>
                <a:latin typeface="Lucida Sans Typewriter" panose="020B0509030504030204" pitchFamily="49" charset="0"/>
              </a:rPr>
              <a:t>free(B);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385" dirty="0">
                <a:solidFill>
                  <a:srgbClr val="A6A6A6"/>
                </a:solidFill>
                <a:latin typeface="Lucida Sans Typewriter" panose="020B0509030504030204" pitchFamily="49" charset="0"/>
              </a:rPr>
              <a:t>   </a:t>
            </a:r>
            <a:r>
              <a:rPr lang="en-US" altLang="zh-TW" sz="2385" dirty="0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</a:rPr>
              <a:t>print(C);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}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385" dirty="0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</a:rPr>
              <a:t>%</a:t>
            </a:r>
            <a:r>
              <a:rPr lang="en-US" altLang="zh-TW" sz="2385" dirty="0">
                <a:solidFill>
                  <a:prstClr val="black"/>
                </a:solidFill>
                <a:latin typeface="Lucida Sans Typewriter" panose="020B0509030504030204" pitchFamily="49" charset="0"/>
              </a:rPr>
              <a:t> ./</a:t>
            </a:r>
            <a:r>
              <a:rPr lang="en-US" altLang="zh-TW" sz="2385" dirty="0" err="1">
                <a:solidFill>
                  <a:prstClr val="black"/>
                </a:solidFill>
                <a:latin typeface="Lucida Sans Typewriter" panose="020B0509030504030204" pitchFamily="49" charset="0"/>
              </a:rPr>
              <a:t>prog.x</a:t>
            </a:r>
            <a:endParaRPr lang="en-US" altLang="zh-TW" sz="2385" dirty="0">
              <a:solidFill>
                <a:prstClr val="black"/>
              </a:solidFill>
              <a:latin typeface="Lucida Sans Typewriter" panose="020B0509030504030204" pitchFamily="49" charset="0"/>
            </a:endParaRP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385" dirty="0">
                <a:solidFill>
                  <a:prstClr val="black"/>
                </a:solidFill>
                <a:latin typeface="Lucida Sans Typewriter" panose="020B0509030504030204" pitchFamily="49" charset="0"/>
              </a:rPr>
              <a:t>(1,2,3)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385" dirty="0">
                <a:solidFill>
                  <a:prstClr val="black"/>
                </a:solidFill>
                <a:latin typeface="Lucida Sans Typewriter" panose="020B0509030504030204" pitchFamily="49" charset="0"/>
              </a:rPr>
              <a:t>(</a:t>
            </a:r>
            <a:r>
              <a:rPr lang="en-US" altLang="zh-TW" sz="2385" dirty="0" err="1">
                <a:solidFill>
                  <a:prstClr val="black"/>
                </a:solidFill>
                <a:latin typeface="Lucida Sans Typewriter" panose="020B0509030504030204" pitchFamily="49" charset="0"/>
              </a:rPr>
              <a:t>garbage,garbage,garbage</a:t>
            </a:r>
            <a:r>
              <a:rPr lang="en-US" altLang="zh-TW" sz="2385" dirty="0">
                <a:solidFill>
                  <a:prstClr val="black"/>
                </a:solidFill>
                <a:latin typeface="Lucida Sans Typewriter" panose="020B0509030504030204" pitchFamily="49" charset="0"/>
              </a:rPr>
              <a:t>)</a:t>
            </a:r>
          </a:p>
        </p:txBody>
      </p:sp>
      <p:sp>
        <p:nvSpPr>
          <p:cNvPr id="18" name="Content Placeholder 2"/>
          <p:cNvSpPr txBox="1">
            <a:spLocks/>
          </p:cNvSpPr>
          <p:nvPr/>
        </p:nvSpPr>
        <p:spPr>
          <a:xfrm>
            <a:off x="4953591" y="958409"/>
            <a:ext cx="4699997" cy="5615808"/>
          </a:xfrm>
          <a:prstGeom prst="rect">
            <a:avLst/>
          </a:prstGeom>
          <a:noFill/>
        </p:spPr>
        <p:txBody>
          <a:bodyPr vert="horz" lIns="83872" tIns="41936" rIns="83872" bIns="41936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% cat </a:t>
            </a:r>
            <a:r>
              <a:rPr lang="en-US" altLang="zh-TW" sz="2385" dirty="0" smtClean="0">
                <a:solidFill>
                  <a:prstClr val="white"/>
                </a:solidFill>
                <a:latin typeface="Lucida Sans Typewriter" panose="020B0509030504030204" pitchFamily="49" charset="0"/>
              </a:rPr>
              <a:t>prog2.c</a:t>
            </a:r>
            <a:endParaRPr lang="en-US" altLang="zh-TW" sz="2385" dirty="0">
              <a:solidFill>
                <a:prstClr val="white"/>
              </a:solidFill>
              <a:latin typeface="Lucida Sans Typewriter" panose="020B0509030504030204" pitchFamily="49" charset="0"/>
            </a:endParaRP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#include "</a:t>
            </a:r>
            <a:r>
              <a:rPr lang="en-US" altLang="zh-TW" sz="2385" dirty="0" err="1">
                <a:solidFill>
                  <a:prstClr val="white"/>
                </a:solidFill>
                <a:latin typeface="Lucida Sans Typewriter" panose="020B0509030504030204" pitchFamily="49" charset="0"/>
              </a:rPr>
              <a:t>stuff.h</a:t>
            </a: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"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385" dirty="0" err="1">
                <a:solidFill>
                  <a:prstClr val="white"/>
                </a:solidFill>
                <a:latin typeface="Lucida Sans Typewriter" panose="020B0509030504030204" pitchFamily="49" charset="0"/>
              </a:rPr>
              <a:t>int</a:t>
            </a: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 main() {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   A=(</a:t>
            </a:r>
            <a:r>
              <a:rPr lang="en-US" altLang="zh-TW" sz="2385" dirty="0" err="1">
                <a:solidFill>
                  <a:prstClr val="white"/>
                </a:solidFill>
                <a:latin typeface="Lucida Sans Typewriter" panose="020B0509030504030204" pitchFamily="49" charset="0"/>
              </a:rPr>
              <a:t>coord</a:t>
            </a: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*)</a:t>
            </a:r>
            <a:r>
              <a:rPr lang="en-US" altLang="zh-TW" sz="2385" dirty="0" err="1">
                <a:solidFill>
                  <a:prstClr val="white"/>
                </a:solidFill>
                <a:latin typeface="Lucida Sans Typewriter" panose="020B0509030504030204" pitchFamily="49" charset="0"/>
              </a:rPr>
              <a:t>malloc</a:t>
            </a: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     </a:t>
            </a:r>
            <a:b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</a:b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     (</a:t>
            </a:r>
            <a:r>
              <a:rPr lang="en-US" altLang="zh-TW" sz="2385" dirty="0" err="1">
                <a:solidFill>
                  <a:prstClr val="white"/>
                </a:solidFill>
                <a:latin typeface="Lucida Sans Typewriter" panose="020B0509030504030204" pitchFamily="49" charset="0"/>
              </a:rPr>
              <a:t>sizeof</a:t>
            </a: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(</a:t>
            </a:r>
            <a:r>
              <a:rPr lang="en-US" altLang="zh-TW" sz="2385" dirty="0" err="1">
                <a:solidFill>
                  <a:prstClr val="white"/>
                </a:solidFill>
                <a:latin typeface="Lucida Sans Typewriter" panose="020B0509030504030204" pitchFamily="49" charset="0"/>
              </a:rPr>
              <a:t>coord</a:t>
            </a: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));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   A-&gt;x=1;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   B=A; C=B;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   A-&gt;y=2; C-&gt;z=3;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385" dirty="0">
                <a:solidFill>
                  <a:srgbClr val="FFFF00"/>
                </a:solidFill>
                <a:latin typeface="Lucida Sans Typewriter" panose="020B0509030504030204" pitchFamily="49" charset="0"/>
              </a:rPr>
              <a:t>   </a:t>
            </a: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A=NULL;</a:t>
            </a:r>
            <a:r>
              <a:rPr lang="en-US" altLang="zh-TW" sz="2385" dirty="0">
                <a:solidFill>
                  <a:srgbClr val="FFFF00"/>
                </a:solidFill>
                <a:latin typeface="Lucida Sans Typewriter" panose="020B0509030504030204" pitchFamily="49" charset="0"/>
              </a:rPr>
              <a:t> </a:t>
            </a:r>
            <a:endParaRPr lang="en-US" altLang="zh-TW" sz="2385" dirty="0">
              <a:solidFill>
                <a:prstClr val="white"/>
              </a:solidFill>
              <a:latin typeface="Lucida Sans Typewriter" panose="020B0509030504030204" pitchFamily="49" charset="0"/>
            </a:endParaRP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   print(C);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   free(B);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   print(C);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altLang="zh-TW" sz="2385" dirty="0">
              <a:solidFill>
                <a:prstClr val="white"/>
              </a:solidFill>
              <a:latin typeface="Lucida Sans Typewriter" panose="020B0509030504030204" pitchFamily="49" charset="0"/>
            </a:endParaRP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% ./</a:t>
            </a:r>
            <a:r>
              <a:rPr lang="en-US" altLang="zh-TW" sz="2385" dirty="0" smtClean="0">
                <a:solidFill>
                  <a:prstClr val="white"/>
                </a:solidFill>
                <a:latin typeface="Lucida Sans Typewriter" panose="020B0509030504030204" pitchFamily="49" charset="0"/>
              </a:rPr>
              <a:t>prog2.x</a:t>
            </a:r>
            <a:endParaRPr lang="en-US" altLang="zh-TW" sz="2385" dirty="0">
              <a:solidFill>
                <a:prstClr val="white"/>
              </a:solidFill>
              <a:latin typeface="Lucida Sans Typewriter" panose="020B0509030504030204" pitchFamily="49" charset="0"/>
            </a:endParaRP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(1,2,3)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385" dirty="0">
                <a:solidFill>
                  <a:prstClr val="white"/>
                </a:solidFill>
                <a:latin typeface="Lucida Fax" panose="02060602050505020204" pitchFamily="18" charset="0"/>
              </a:rPr>
              <a:t>This output is unpredictable</a:t>
            </a:r>
          </a:p>
        </p:txBody>
      </p:sp>
      <p:sp>
        <p:nvSpPr>
          <p:cNvPr id="24" name="Content Placeholder 2"/>
          <p:cNvSpPr txBox="1">
            <a:spLocks/>
          </p:cNvSpPr>
          <p:nvPr/>
        </p:nvSpPr>
        <p:spPr>
          <a:xfrm>
            <a:off x="78783" y="975054"/>
            <a:ext cx="4339488" cy="4559877"/>
          </a:xfrm>
          <a:prstGeom prst="rect">
            <a:avLst/>
          </a:prstGeom>
          <a:solidFill>
            <a:schemeClr val="tx1"/>
          </a:solidFill>
        </p:spPr>
        <p:txBody>
          <a:bodyPr vert="horz" lIns="83872" tIns="41936" rIns="83872" bIns="41936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&gt;&gt;&gt; A=[1]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&gt;&gt;&gt; B=A; C=B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&gt;&gt;&gt; A+=[2];C+=[3]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print(A)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[1, 2, 3]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&gt;&gt;&gt; A=0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&gt;&gt;&gt; print(C)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[1, 2, 3]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&gt;&gt;&gt; del B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&gt;&gt;&gt; print(C)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385" dirty="0">
                <a:solidFill>
                  <a:prstClr val="white"/>
                </a:solidFill>
                <a:latin typeface="Lucida Sans Typewriter" panose="020B0509030504030204" pitchFamily="49" charset="0"/>
              </a:rPr>
              <a:t>[1, 2, 3]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385" dirty="0">
                <a:solidFill>
                  <a:srgbClr val="FFFF00"/>
                </a:solidFill>
                <a:latin typeface="Lucida Sans Typewriter" panose="020B0509030504030204" pitchFamily="49" charset="0"/>
              </a:rPr>
              <a:t>&gt;&gt;&gt; print(B)</a:t>
            </a:r>
            <a:r>
              <a:rPr lang="en-US" altLang="zh-TW" sz="2385" dirty="0" err="1">
                <a:solidFill>
                  <a:prstClr val="black"/>
                </a:solidFill>
                <a:latin typeface="Lucida Sans Typewriter" panose="020B0509030504030204" pitchFamily="49" charset="0"/>
              </a:rPr>
              <a:t>rint</a:t>
            </a:r>
            <a:r>
              <a:rPr lang="en-US" altLang="zh-TW" sz="2385" dirty="0">
                <a:solidFill>
                  <a:prstClr val="black"/>
                </a:solidFill>
                <a:latin typeface="Lucida Sans Typewriter" panose="020B0509030504030204" pitchFamily="49" charset="0"/>
              </a:rPr>
              <a:t>(B)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568" dirty="0" err="1">
                <a:solidFill>
                  <a:srgbClr val="FFFF00"/>
                </a:solidFill>
                <a:latin typeface="Arial Narrow" panose="020B0606020202030204" pitchFamily="34" charset="0"/>
              </a:rPr>
              <a:t>NameError</a:t>
            </a:r>
            <a:r>
              <a:rPr lang="en-US" altLang="zh-TW" sz="2568" dirty="0">
                <a:solidFill>
                  <a:srgbClr val="FFFF00"/>
                </a:solidFill>
                <a:latin typeface="Arial Narrow" panose="020B0606020202030204" pitchFamily="34" charset="0"/>
              </a:rPr>
              <a:t>: name 'B' is not defined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altLang="zh-TW" sz="2385" dirty="0">
              <a:solidFill>
                <a:srgbClr val="FFFF00"/>
              </a:solidFill>
              <a:latin typeface="Lucida Sans Typewriter" panose="020B0509030504030204" pitchFamily="49" charset="0"/>
            </a:endParaRP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altLang="zh-TW" sz="2385" dirty="0">
              <a:solidFill>
                <a:srgbClr val="FFFF00"/>
              </a:solidFill>
              <a:latin typeface="Lucida Sans Typewriter" panose="020B0509030504030204" pitchFamily="49" charset="0"/>
            </a:endParaRP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altLang="zh-TW" sz="2385" dirty="0">
              <a:solidFill>
                <a:srgbClr val="FFFF00"/>
              </a:solidFill>
              <a:latin typeface="Lucida Sans Typewriter" panose="020B0509030504030204" pitchFamily="49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" y="0"/>
            <a:ext cx="9729788" cy="958410"/>
          </a:xfrm>
        </p:spPr>
        <p:txBody>
          <a:bodyPr>
            <a:normAutofit/>
          </a:bodyPr>
          <a:lstStyle/>
          <a:p>
            <a:r>
              <a:rPr lang="en-US" altLang="zh-TW" sz="4200" dirty="0">
                <a:solidFill>
                  <a:srgbClr val="0070C0"/>
                </a:solidFill>
              </a:rPr>
              <a:t>In C, you manage your own garbage</a:t>
            </a:r>
            <a:endParaRPr lang="zh-TW" altLang="en-US" sz="4200" dirty="0">
              <a:solidFill>
                <a:srgbClr val="0070C0"/>
              </a:solidFill>
            </a:endParaRPr>
          </a:p>
        </p:txBody>
      </p:sp>
      <p:sp>
        <p:nvSpPr>
          <p:cNvPr id="19" name="Rounded Rectangular Callout 18"/>
          <p:cNvSpPr/>
          <p:nvPr/>
        </p:nvSpPr>
        <p:spPr>
          <a:xfrm>
            <a:off x="3451909" y="1760667"/>
            <a:ext cx="3436946" cy="3038855"/>
          </a:xfrm>
          <a:prstGeom prst="wedgeRoundRectCallout">
            <a:avLst>
              <a:gd name="adj1" fmla="val -82104"/>
              <a:gd name="adj2" fmla="val 61116"/>
              <a:gd name="adj3" fmla="val 16667"/>
            </a:avLst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568" dirty="0">
                <a:solidFill>
                  <a:srgbClr val="F5B88F"/>
                </a:solidFill>
              </a:rPr>
              <a:t>See the difference?</a:t>
            </a:r>
            <a:br>
              <a:rPr lang="en-US" altLang="zh-TW" sz="2568" dirty="0">
                <a:solidFill>
                  <a:srgbClr val="F5B88F"/>
                </a:solidFill>
              </a:rPr>
            </a:br>
            <a:r>
              <a:rPr lang="en-US" altLang="zh-TW" sz="2568" dirty="0">
                <a:solidFill>
                  <a:srgbClr val="F5B88F"/>
                </a:solidFill>
              </a:rPr>
              <a:t>Del is smarter than free. It frees </a:t>
            </a:r>
            <a:r>
              <a:rPr lang="en-US" altLang="zh-TW" sz="2568" dirty="0" smtClean="0">
                <a:solidFill>
                  <a:srgbClr val="F5B88F"/>
                </a:solidFill>
              </a:rPr>
              <a:t>the </a:t>
            </a:r>
            <a:r>
              <a:rPr lang="en-US" altLang="zh-TW" sz="2568" dirty="0">
                <a:solidFill>
                  <a:srgbClr val="F5B88F"/>
                </a:solidFill>
              </a:rPr>
              <a:t>space only if nothing else points to it. </a:t>
            </a:r>
            <a:r>
              <a:rPr lang="en-US" altLang="zh-TW" sz="2568" dirty="0" smtClean="0">
                <a:solidFill>
                  <a:prstClr val="white"/>
                </a:solidFill>
              </a:rPr>
              <a:t/>
            </a:r>
            <a:br>
              <a:rPr lang="en-US" altLang="zh-TW" sz="2568" dirty="0" smtClean="0">
                <a:solidFill>
                  <a:prstClr val="white"/>
                </a:solidFill>
              </a:rPr>
            </a:br>
            <a:r>
              <a:rPr lang="en-US" altLang="zh-TW" sz="2568" b="1" dirty="0" smtClean="0">
                <a:solidFill>
                  <a:prstClr val="white"/>
                </a:solidFill>
              </a:rPr>
              <a:t>(</a:t>
            </a:r>
            <a:r>
              <a:rPr lang="en-US" altLang="zh-TW" sz="2568" b="1" dirty="0">
                <a:solidFill>
                  <a:prstClr val="white"/>
                </a:solidFill>
              </a:rPr>
              <a:t>And, either way, it deletes the variable.)</a:t>
            </a:r>
            <a:endParaRPr lang="zh-TW" altLang="en-US" sz="2568" b="1" dirty="0">
              <a:solidFill>
                <a:prstClr val="white"/>
              </a:solidFill>
            </a:endParaRPr>
          </a:p>
        </p:txBody>
      </p:sp>
      <p:sp>
        <p:nvSpPr>
          <p:cNvPr id="7" name="Rounded Rectangular Callout 6"/>
          <p:cNvSpPr/>
          <p:nvPr/>
        </p:nvSpPr>
        <p:spPr>
          <a:xfrm>
            <a:off x="3445834" y="1754591"/>
            <a:ext cx="3436946" cy="3038855"/>
          </a:xfrm>
          <a:prstGeom prst="wedgeRoundRectCallout">
            <a:avLst>
              <a:gd name="adj1" fmla="val -407"/>
              <a:gd name="adj2" fmla="val 96516"/>
              <a:gd name="adj3" fmla="val 16667"/>
            </a:avLst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568" dirty="0">
                <a:solidFill>
                  <a:srgbClr val="F5B88F"/>
                </a:solidFill>
              </a:rPr>
              <a:t>See the difference?</a:t>
            </a:r>
            <a:br>
              <a:rPr lang="en-US" altLang="zh-TW" sz="2568" dirty="0">
                <a:solidFill>
                  <a:srgbClr val="F5B88F"/>
                </a:solidFill>
              </a:rPr>
            </a:br>
            <a:r>
              <a:rPr lang="en-US" altLang="zh-TW" sz="2568" dirty="0">
                <a:solidFill>
                  <a:srgbClr val="F5B88F"/>
                </a:solidFill>
              </a:rPr>
              <a:t>Del is smarter than </a:t>
            </a:r>
            <a:r>
              <a:rPr lang="en-US" altLang="zh-TW" sz="2568" dirty="0" smtClean="0">
                <a:solidFill>
                  <a:srgbClr val="F5B88F"/>
                </a:solidFill>
              </a:rPr>
              <a:t>free(). </a:t>
            </a:r>
            <a:r>
              <a:rPr lang="en-US" altLang="zh-TW" sz="2568" dirty="0">
                <a:solidFill>
                  <a:srgbClr val="F5B88F"/>
                </a:solidFill>
              </a:rPr>
              <a:t>It frees the space only if nothing else points to it. </a:t>
            </a:r>
            <a:r>
              <a:rPr lang="en-US" altLang="zh-TW" sz="2568" dirty="0">
                <a:solidFill>
                  <a:prstClr val="white"/>
                </a:solidFill>
              </a:rPr>
              <a:t/>
            </a:r>
            <a:br>
              <a:rPr lang="en-US" altLang="zh-TW" sz="2568" dirty="0">
                <a:solidFill>
                  <a:prstClr val="white"/>
                </a:solidFill>
              </a:rPr>
            </a:br>
            <a:r>
              <a:rPr lang="en-US" altLang="zh-TW" sz="2568" b="1" dirty="0">
                <a:solidFill>
                  <a:prstClr val="white"/>
                </a:solidFill>
              </a:rPr>
              <a:t>(And, either way, it deletes the variable.)</a:t>
            </a:r>
            <a:endParaRPr lang="zh-TW" altLang="en-US" sz="2568" b="1" dirty="0">
              <a:solidFill>
                <a:prstClr val="white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 rot="2026893">
            <a:off x="3266411" y="3556008"/>
            <a:ext cx="533400" cy="721368"/>
          </a:xfrm>
          <a:prstGeom prst="round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36120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4400" dirty="0">
                <a:solidFill>
                  <a:srgbClr val="0070C0"/>
                </a:solidFill>
              </a:rPr>
              <a:t>Data Types:</a:t>
            </a:r>
          </a:p>
        </p:txBody>
      </p:sp>
      <p:sp>
        <p:nvSpPr>
          <p:cNvPr id="19459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Tx/>
              <a:buNone/>
            </a:pPr>
            <a:r>
              <a:rPr lang="en-US" altLang="en-US" sz="3302" dirty="0"/>
              <a:t>Python has six standard data types:</a:t>
            </a:r>
          </a:p>
          <a:p>
            <a:pPr marL="685802" indent="-583879">
              <a:buFont typeface="+mj-lt"/>
              <a:buAutoNum type="arabicPeriod"/>
              <a:tabLst>
                <a:tab pos="685802" algn="l"/>
              </a:tabLst>
            </a:pPr>
            <a:r>
              <a:rPr lang="en-US" altLang="en-US" sz="2800" dirty="0">
                <a:solidFill>
                  <a:schemeClr val="bg1">
                    <a:lumMod val="50000"/>
                  </a:schemeClr>
                </a:solidFill>
                <a:latin typeface="Elephant" panose="02020904090505020303" pitchFamily="18" charset="0"/>
              </a:rPr>
              <a:t>Number</a:t>
            </a:r>
          </a:p>
          <a:p>
            <a:pPr marL="685802" indent="-583879">
              <a:buFont typeface="+mj-lt"/>
              <a:buAutoNum type="arabicPeriod"/>
              <a:tabLst>
                <a:tab pos="685802" algn="l"/>
              </a:tabLst>
            </a:pPr>
            <a:r>
              <a:rPr lang="en-US" altLang="en-US" sz="2800" dirty="0">
                <a:solidFill>
                  <a:schemeClr val="bg1">
                    <a:lumMod val="50000"/>
                  </a:schemeClr>
                </a:solidFill>
                <a:latin typeface="Elephant" panose="02020904090505020303" pitchFamily="18" charset="0"/>
              </a:rPr>
              <a:t>String</a:t>
            </a:r>
          </a:p>
          <a:p>
            <a:pPr marL="685802" indent="-583879">
              <a:buFont typeface="+mj-lt"/>
              <a:buAutoNum type="arabicPeriod"/>
              <a:tabLst>
                <a:tab pos="685802" algn="l"/>
              </a:tabLst>
            </a:pPr>
            <a:r>
              <a:rPr lang="en-US" altLang="en-US" sz="2800" dirty="0">
                <a:solidFill>
                  <a:srgbClr val="FF0000"/>
                </a:solidFill>
                <a:latin typeface="Elephant" panose="02020904090505020303" pitchFamily="18" charset="0"/>
              </a:rPr>
              <a:t>List</a:t>
            </a:r>
          </a:p>
          <a:p>
            <a:pPr marL="685802" indent="-583879">
              <a:buFont typeface="+mj-lt"/>
              <a:buAutoNum type="arabicPeriod"/>
              <a:tabLst>
                <a:tab pos="685802" algn="l"/>
              </a:tabLst>
            </a:pPr>
            <a:r>
              <a:rPr lang="en-US" altLang="en-US" sz="2800" dirty="0">
                <a:solidFill>
                  <a:schemeClr val="bg1">
                    <a:lumMod val="50000"/>
                  </a:schemeClr>
                </a:solidFill>
                <a:latin typeface="Elephant" panose="02020904090505020303" pitchFamily="18" charset="0"/>
              </a:rPr>
              <a:t>Tuple</a:t>
            </a:r>
          </a:p>
          <a:p>
            <a:pPr marL="685802" indent="-583879">
              <a:buFont typeface="+mj-lt"/>
              <a:buAutoNum type="arabicPeriod"/>
              <a:tabLst>
                <a:tab pos="685802" algn="l"/>
              </a:tabLst>
            </a:pPr>
            <a:r>
              <a:rPr lang="en-US" altLang="en-US" sz="2800" dirty="0">
                <a:solidFill>
                  <a:schemeClr val="bg1">
                    <a:lumMod val="50000"/>
                  </a:schemeClr>
                </a:solidFill>
                <a:latin typeface="Elephant" panose="02020904090505020303" pitchFamily="18" charset="0"/>
              </a:rPr>
              <a:t>Set</a:t>
            </a:r>
          </a:p>
          <a:p>
            <a:pPr marL="685802" indent="-583879">
              <a:buFont typeface="+mj-lt"/>
              <a:buAutoNum type="arabicPeriod"/>
              <a:tabLst>
                <a:tab pos="685802" algn="l"/>
              </a:tabLst>
            </a:pPr>
            <a:r>
              <a:rPr lang="en-US" altLang="en-US" sz="2800" dirty="0" smtClean="0">
                <a:solidFill>
                  <a:schemeClr val="bg1">
                    <a:lumMod val="50000"/>
                  </a:schemeClr>
                </a:solidFill>
                <a:latin typeface="Elephant" panose="02020904090505020303" pitchFamily="18" charset="0"/>
              </a:rPr>
              <a:t>Dictionary</a:t>
            </a:r>
            <a:endParaRPr lang="en-US" altLang="en-US" sz="2800" dirty="0">
              <a:solidFill>
                <a:schemeClr val="bg1">
                  <a:lumMod val="50000"/>
                </a:schemeClr>
              </a:solidFill>
              <a:latin typeface="Elephant" panose="02020904090505020303" pitchFamily="18" charset="0"/>
            </a:endParaRPr>
          </a:p>
          <a:p>
            <a:endParaRPr lang="en-US" altLang="en-US" sz="2568" dirty="0"/>
          </a:p>
        </p:txBody>
      </p:sp>
    </p:spTree>
    <p:extLst>
      <p:ext uri="{BB962C8B-B14F-4D97-AF65-F5344CB8AC3E}">
        <p14:creationId xmlns:p14="http://schemas.microsoft.com/office/powerpoint/2010/main" val="3935634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9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808080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9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115782" y="1138124"/>
            <a:ext cx="9578829" cy="5719876"/>
          </a:xfrm>
        </p:spPr>
        <p:txBody>
          <a:bodyPr>
            <a:noAutofit/>
          </a:bodyPr>
          <a:lstStyle/>
          <a:p>
            <a:r>
              <a:rPr lang="en-US" altLang="en-US" sz="4000" dirty="0"/>
              <a:t>A tuple is similar to a list. </a:t>
            </a:r>
          </a:p>
          <a:p>
            <a:pPr marL="0" indent="0">
              <a:buNone/>
            </a:pPr>
            <a:endParaRPr lang="en-US" altLang="en-US" sz="1200" dirty="0"/>
          </a:p>
          <a:p>
            <a:r>
              <a:rPr lang="en-US" altLang="en-US" sz="4000" spc="-20" dirty="0"/>
              <a:t>But whereas lists are enclosed in brackets [ ], </a:t>
            </a:r>
            <a:r>
              <a:rPr lang="en-US" altLang="en-US" sz="4000" dirty="0"/>
              <a:t>tuples are enclosed in parentheses </a:t>
            </a:r>
            <a:r>
              <a:rPr lang="en-US" altLang="en-US" sz="4000" dirty="0">
                <a:solidFill>
                  <a:srgbClr val="FF0000"/>
                </a:solidFill>
              </a:rPr>
              <a:t>( )</a:t>
            </a:r>
            <a:r>
              <a:rPr lang="en-US" altLang="en-US" sz="4000" dirty="0"/>
              <a:t> .</a:t>
            </a:r>
          </a:p>
          <a:p>
            <a:pPr marL="0" indent="0">
              <a:buNone/>
            </a:pPr>
            <a:endParaRPr lang="en-US" altLang="en-US" sz="1200" dirty="0"/>
          </a:p>
          <a:p>
            <a:r>
              <a:rPr lang="en-US" altLang="en-US" sz="4000" dirty="0"/>
              <a:t>Also </a:t>
            </a:r>
            <a:r>
              <a:rPr lang="en-US" altLang="en-US" sz="4000" dirty="0" smtClean="0"/>
              <a:t>tuples are immutable (cannot update). </a:t>
            </a:r>
            <a:endParaRPr lang="en-US" altLang="en-US" sz="4000" dirty="0"/>
          </a:p>
          <a:p>
            <a:pPr marL="569913" lvl="1" indent="-284163"/>
            <a:r>
              <a:rPr lang="en-US" altLang="en-US" sz="3652" dirty="0"/>
              <a:t>So tuples can be thought of as </a:t>
            </a:r>
            <a:r>
              <a:rPr lang="en-US" altLang="en-US" sz="3652" b="1" dirty="0">
                <a:solidFill>
                  <a:srgbClr val="0070C0"/>
                </a:solidFill>
              </a:rPr>
              <a:t>read-only</a:t>
            </a:r>
            <a:r>
              <a:rPr lang="en-US" altLang="en-US" sz="3652" dirty="0">
                <a:solidFill>
                  <a:srgbClr val="0070C0"/>
                </a:solidFill>
              </a:rPr>
              <a:t> lists</a:t>
            </a:r>
            <a:r>
              <a:rPr lang="en-US" altLang="en-US" sz="3652" dirty="0"/>
              <a:t>.</a:t>
            </a:r>
          </a:p>
          <a:p>
            <a:pPr marL="855663" lvl="2" indent="-227013"/>
            <a:r>
              <a:rPr lang="en-US" altLang="en-US" sz="3304" dirty="0"/>
              <a:t>And, for that matter, strings can be thought of as </a:t>
            </a:r>
            <a:r>
              <a:rPr lang="en-US" altLang="en-US" sz="3304" dirty="0" smtClean="0"/>
              <a:t>tuples </a:t>
            </a:r>
            <a:r>
              <a:rPr lang="en-US" altLang="en-US" sz="3304" dirty="0"/>
              <a:t>of </a:t>
            </a:r>
            <a:r>
              <a:rPr lang="en-US" altLang="en-US" sz="3304" b="1" dirty="0" smtClean="0">
                <a:solidFill>
                  <a:srgbClr val="0070C0"/>
                </a:solidFill>
              </a:rPr>
              <a:t>characters</a:t>
            </a:r>
            <a:r>
              <a:rPr lang="en-US" altLang="en-US" sz="3304" dirty="0" smtClean="0"/>
              <a:t>.</a:t>
            </a:r>
            <a:endParaRPr lang="en-US" altLang="en-US" sz="3652" dirty="0"/>
          </a:p>
          <a:p>
            <a:endParaRPr lang="en-US" altLang="en-US" sz="4000" dirty="0"/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1" y="1"/>
            <a:ext cx="9729787" cy="1161142"/>
          </a:xfrm>
        </p:spPr>
        <p:txBody>
          <a:bodyPr>
            <a:normAutofit/>
          </a:bodyPr>
          <a:lstStyle/>
          <a:p>
            <a:r>
              <a:rPr lang="en-US" altLang="en-US" sz="4400" dirty="0" smtClean="0">
                <a:solidFill>
                  <a:srgbClr val="0070C0"/>
                </a:solidFill>
              </a:rPr>
              <a:t>Python Tuples:</a:t>
            </a:r>
          </a:p>
        </p:txBody>
      </p:sp>
    </p:spTree>
    <p:extLst>
      <p:ext uri="{BB962C8B-B14F-4D97-AF65-F5344CB8AC3E}">
        <p14:creationId xmlns:p14="http://schemas.microsoft.com/office/powerpoint/2010/main" val="36371806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Content Placeholder 2"/>
          <p:cNvSpPr>
            <a:spLocks noGrp="1"/>
          </p:cNvSpPr>
          <p:nvPr>
            <p:ph idx="1"/>
          </p:nvPr>
        </p:nvSpPr>
        <p:spPr>
          <a:xfrm>
            <a:off x="301941" y="903239"/>
            <a:ext cx="9592153" cy="5670978"/>
          </a:xfrm>
        </p:spPr>
        <p:txBody>
          <a:bodyPr>
            <a:noAutofit/>
          </a:bodyPr>
          <a:lstStyle/>
          <a:p>
            <a:pPr>
              <a:lnSpc>
                <a:spcPct val="89000"/>
              </a:lnSpc>
              <a:spcBef>
                <a:spcPts val="0"/>
              </a:spcBef>
              <a:buNone/>
            </a:pPr>
            <a:r>
              <a:rPr lang="en-US" altLang="en-US" sz="2568" dirty="0">
                <a:solidFill>
                  <a:srgbClr val="FFC000"/>
                </a:solidFill>
                <a:latin typeface="Lucida Console" pitchFamily="49" charset="0"/>
                <a:ea typeface="MS Gothic" pitchFamily="49" charset="-128"/>
                <a:cs typeface="Times New Roman" panose="02020603050405020304" pitchFamily="18" charset="0"/>
              </a:rPr>
              <a:t>%</a:t>
            </a:r>
            <a:r>
              <a:rPr lang="en-US" altLang="en-US" sz="2568" dirty="0">
                <a:solidFill>
                  <a:srgbClr val="FFC00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 cat test.py</a:t>
            </a:r>
          </a:p>
          <a:p>
            <a:pPr>
              <a:lnSpc>
                <a:spcPct val="89000"/>
              </a:lnSpc>
              <a:spcBef>
                <a:spcPts val="0"/>
              </a:spcBef>
              <a:buNone/>
            </a:pPr>
            <a:r>
              <a:rPr lang="en-US" altLang="en-US" sz="2568" dirty="0">
                <a:solidFill>
                  <a:srgbClr val="0070C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tuple = </a:t>
            </a:r>
            <a:r>
              <a:rPr lang="en-US" altLang="en-US" sz="2568" b="1" dirty="0">
                <a:solidFill>
                  <a:srgbClr val="0070C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(</a:t>
            </a:r>
            <a:r>
              <a:rPr lang="en-US" altLang="en-US" sz="2568" dirty="0">
                <a:solidFill>
                  <a:srgbClr val="0070C0"/>
                </a:solidFill>
                <a:latin typeface="Lucida Sans" panose="020B0602030504020204" pitchFamily="34" charset="0"/>
                <a:ea typeface="MS Gothic" pitchFamily="49" charset="-128"/>
                <a:cs typeface="Times New Roman" panose="02020603050405020304" pitchFamily="18" charset="0"/>
              </a:rPr>
              <a:t>'</a:t>
            </a:r>
            <a:r>
              <a:rPr lang="en-US" altLang="en-US" sz="2568" dirty="0" err="1">
                <a:solidFill>
                  <a:srgbClr val="0070C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abcd</a:t>
            </a:r>
            <a:r>
              <a:rPr lang="en-US" altLang="en-US" sz="2568" dirty="0">
                <a:solidFill>
                  <a:srgbClr val="0070C0"/>
                </a:solidFill>
                <a:latin typeface="Lucida Sans" panose="020B0602030504020204" pitchFamily="34" charset="0"/>
                <a:ea typeface="MS Gothic" pitchFamily="49" charset="-128"/>
                <a:cs typeface="Times New Roman" panose="02020603050405020304" pitchFamily="18" charset="0"/>
              </a:rPr>
              <a:t>'</a:t>
            </a:r>
            <a:r>
              <a:rPr lang="en-US" altLang="en-US" sz="2568" dirty="0">
                <a:solidFill>
                  <a:srgbClr val="0070C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, 786, 2.23, </a:t>
            </a:r>
            <a:r>
              <a:rPr lang="en-US" altLang="en-US" sz="2568" dirty="0">
                <a:solidFill>
                  <a:srgbClr val="0070C0"/>
                </a:solidFill>
                <a:latin typeface="Lucida Sans" panose="020B0602030504020204" pitchFamily="34" charset="0"/>
                <a:ea typeface="MS Gothic" pitchFamily="49" charset="-128"/>
                <a:cs typeface="Times New Roman" panose="02020603050405020304" pitchFamily="18" charset="0"/>
              </a:rPr>
              <a:t>'</a:t>
            </a:r>
            <a:r>
              <a:rPr lang="en-US" altLang="en-US" sz="2568" dirty="0">
                <a:solidFill>
                  <a:srgbClr val="0070C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john</a:t>
            </a:r>
            <a:r>
              <a:rPr lang="en-US" altLang="en-US" sz="2568" dirty="0">
                <a:solidFill>
                  <a:srgbClr val="0070C0"/>
                </a:solidFill>
                <a:latin typeface="Lucida Sans" panose="020B0602030504020204" pitchFamily="34" charset="0"/>
                <a:ea typeface="MS Gothic" pitchFamily="49" charset="-128"/>
                <a:cs typeface="Times New Roman" panose="02020603050405020304" pitchFamily="18" charset="0"/>
              </a:rPr>
              <a:t>'</a:t>
            </a:r>
            <a:r>
              <a:rPr lang="en-US" altLang="en-US" sz="2568" dirty="0">
                <a:solidFill>
                  <a:srgbClr val="0070C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, 70.2</a:t>
            </a:r>
            <a:r>
              <a:rPr lang="en-US" altLang="en-US" sz="2568" b="1" dirty="0">
                <a:solidFill>
                  <a:srgbClr val="0070C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89000"/>
              </a:lnSpc>
              <a:spcBef>
                <a:spcPts val="0"/>
              </a:spcBef>
              <a:buNone/>
            </a:pPr>
            <a:r>
              <a:rPr lang="en-US" altLang="en-US" sz="2568" dirty="0" err="1" smtClean="0">
                <a:solidFill>
                  <a:srgbClr val="0070C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ttup</a:t>
            </a:r>
            <a:r>
              <a:rPr lang="en-US" altLang="en-US" sz="2568" dirty="0" smtClean="0">
                <a:solidFill>
                  <a:srgbClr val="0070C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 </a:t>
            </a:r>
            <a:r>
              <a:rPr lang="en-US" altLang="en-US" sz="2568" dirty="0">
                <a:solidFill>
                  <a:srgbClr val="0070C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= </a:t>
            </a:r>
            <a:r>
              <a:rPr lang="en-US" altLang="en-US" sz="2568" b="1" dirty="0">
                <a:solidFill>
                  <a:srgbClr val="0070C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(</a:t>
            </a:r>
            <a:r>
              <a:rPr lang="en-US" altLang="en-US" sz="2568" dirty="0">
                <a:solidFill>
                  <a:srgbClr val="0070C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123, </a:t>
            </a:r>
            <a:r>
              <a:rPr lang="en-US" altLang="en-US" sz="2568" dirty="0">
                <a:solidFill>
                  <a:srgbClr val="0070C0"/>
                </a:solidFill>
                <a:latin typeface="Lucida Sans" panose="020B0602030504020204" pitchFamily="34" charset="0"/>
                <a:ea typeface="MS Gothic" pitchFamily="49" charset="-128"/>
                <a:cs typeface="Times New Roman" panose="02020603050405020304" pitchFamily="18" charset="0"/>
              </a:rPr>
              <a:t>'</a:t>
            </a:r>
            <a:r>
              <a:rPr lang="en-US" altLang="en-US" sz="2568" dirty="0">
                <a:solidFill>
                  <a:srgbClr val="0070C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john</a:t>
            </a:r>
            <a:r>
              <a:rPr lang="en-US" altLang="en-US" sz="2568" dirty="0">
                <a:solidFill>
                  <a:srgbClr val="0070C0"/>
                </a:solidFill>
                <a:latin typeface="Lucida Sans" panose="020B0602030504020204" pitchFamily="34" charset="0"/>
                <a:ea typeface="MS Gothic" pitchFamily="49" charset="-128"/>
                <a:cs typeface="Times New Roman" panose="02020603050405020304" pitchFamily="18" charset="0"/>
              </a:rPr>
              <a:t>'</a:t>
            </a:r>
            <a:r>
              <a:rPr lang="en-US" altLang="en-US" sz="2568" b="1" dirty="0">
                <a:solidFill>
                  <a:srgbClr val="0070C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89000"/>
              </a:lnSpc>
              <a:spcBef>
                <a:spcPts val="0"/>
              </a:spcBef>
              <a:buNone/>
            </a:pPr>
            <a:r>
              <a:rPr lang="en-US" altLang="en-US" sz="2568" dirty="0">
                <a:solidFill>
                  <a:srgbClr val="0070C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print </a:t>
            </a:r>
            <a:r>
              <a:rPr lang="en-US" altLang="en-US" sz="2568" b="1" dirty="0">
                <a:solidFill>
                  <a:srgbClr val="0070C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(</a:t>
            </a:r>
            <a:r>
              <a:rPr lang="en-US" altLang="en-US" sz="2568" dirty="0">
                <a:solidFill>
                  <a:srgbClr val="0070C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tuple</a:t>
            </a:r>
            <a:r>
              <a:rPr lang="en-US" altLang="en-US" sz="2568" b="1" dirty="0">
                <a:solidFill>
                  <a:srgbClr val="0070C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)</a:t>
            </a:r>
            <a:r>
              <a:rPr lang="en-US" altLang="en-US" sz="2568" dirty="0">
                <a:solidFill>
                  <a:srgbClr val="0070C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      # Prints complete tuple</a:t>
            </a:r>
          </a:p>
          <a:p>
            <a:pPr>
              <a:lnSpc>
                <a:spcPct val="89000"/>
              </a:lnSpc>
              <a:spcBef>
                <a:spcPts val="0"/>
              </a:spcBef>
              <a:buNone/>
            </a:pPr>
            <a:r>
              <a:rPr lang="en-US" altLang="en-US" sz="2568" dirty="0">
                <a:solidFill>
                  <a:srgbClr val="0070C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print </a:t>
            </a:r>
            <a:r>
              <a:rPr lang="en-US" altLang="en-US" sz="2568" b="1" dirty="0">
                <a:solidFill>
                  <a:srgbClr val="0070C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(</a:t>
            </a:r>
            <a:r>
              <a:rPr lang="en-US" altLang="en-US" sz="2568" dirty="0">
                <a:solidFill>
                  <a:srgbClr val="0070C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tuple[-2]</a:t>
            </a:r>
            <a:r>
              <a:rPr lang="en-US" altLang="en-US" sz="2568" b="1" dirty="0">
                <a:solidFill>
                  <a:srgbClr val="0070C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)</a:t>
            </a:r>
            <a:r>
              <a:rPr lang="en-US" altLang="en-US" sz="2568" dirty="0">
                <a:solidFill>
                  <a:srgbClr val="0070C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  # Prints the </a:t>
            </a:r>
            <a:r>
              <a:rPr lang="en-US" altLang="en-US" sz="2568" dirty="0" smtClean="0">
                <a:solidFill>
                  <a:srgbClr val="0070C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second-from-back </a:t>
            </a:r>
            <a:r>
              <a:rPr lang="en-US" altLang="en-US" sz="2568" dirty="0">
                <a:solidFill>
                  <a:srgbClr val="0070C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element </a:t>
            </a:r>
          </a:p>
          <a:p>
            <a:pPr>
              <a:lnSpc>
                <a:spcPct val="86000"/>
              </a:lnSpc>
              <a:spcBef>
                <a:spcPts val="0"/>
              </a:spcBef>
              <a:buNone/>
            </a:pPr>
            <a:r>
              <a:rPr lang="en-US" altLang="en-US" sz="2568" dirty="0">
                <a:solidFill>
                  <a:srgbClr val="0070C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print </a:t>
            </a:r>
            <a:r>
              <a:rPr lang="en-US" altLang="en-US" sz="2568" b="1" dirty="0">
                <a:solidFill>
                  <a:srgbClr val="0070C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(</a:t>
            </a:r>
            <a:r>
              <a:rPr lang="en-US" altLang="en-US" sz="2568" dirty="0">
                <a:solidFill>
                  <a:srgbClr val="0070C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tuple[1:4]</a:t>
            </a:r>
            <a:r>
              <a:rPr lang="en-US" altLang="en-US" sz="2568" b="1" dirty="0">
                <a:solidFill>
                  <a:srgbClr val="0070C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)</a:t>
            </a:r>
            <a:r>
              <a:rPr lang="en-US" altLang="en-US" sz="2568" dirty="0">
                <a:solidFill>
                  <a:srgbClr val="0070C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 # Prints</a:t>
            </a:r>
            <a:r>
              <a:rPr lang="en-US" altLang="en-US" sz="2400" dirty="0">
                <a:solidFill>
                  <a:srgbClr val="0070C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 </a:t>
            </a:r>
            <a:r>
              <a:rPr lang="en-US" altLang="en-US" sz="2568" dirty="0">
                <a:solidFill>
                  <a:srgbClr val="0070C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elements</a:t>
            </a:r>
            <a:r>
              <a:rPr lang="en-US" altLang="en-US" sz="2400" dirty="0">
                <a:solidFill>
                  <a:srgbClr val="0070C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 </a:t>
            </a:r>
            <a:r>
              <a:rPr lang="en-US" altLang="en-US" sz="2568" dirty="0">
                <a:solidFill>
                  <a:srgbClr val="0070C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from</a:t>
            </a:r>
            <a:r>
              <a:rPr lang="en-US" altLang="en-US" sz="2400" dirty="0">
                <a:solidFill>
                  <a:srgbClr val="0070C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 </a:t>
            </a:r>
            <a:r>
              <a:rPr lang="en-US" altLang="en-US" sz="2568" dirty="0">
                <a:solidFill>
                  <a:srgbClr val="0070C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2</a:t>
            </a:r>
            <a:r>
              <a:rPr lang="en-US" altLang="en-US" sz="2568" baseline="30000" dirty="0">
                <a:solidFill>
                  <a:srgbClr val="0070C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nd</a:t>
            </a:r>
            <a:r>
              <a:rPr lang="en-US" altLang="en-US" sz="2568" spc="-400" dirty="0">
                <a:solidFill>
                  <a:srgbClr val="0070C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(</a:t>
            </a:r>
            <a:r>
              <a:rPr lang="en-US" altLang="en-US" sz="2568" spc="-400" dirty="0" err="1">
                <a:solidFill>
                  <a:srgbClr val="0070C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i</a:t>
            </a:r>
            <a:r>
              <a:rPr lang="en-US" altLang="en-US" sz="2568" spc="-200" dirty="0" err="1">
                <a:solidFill>
                  <a:srgbClr val="0070C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e</a:t>
            </a:r>
            <a:r>
              <a:rPr lang="en-US" altLang="en-US" sz="2568" dirty="0">
                <a:solidFill>
                  <a:srgbClr val="0070C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 </a:t>
            </a:r>
            <a:r>
              <a:rPr lang="en-US" altLang="en-US" sz="2568" spc="-300" dirty="0">
                <a:solidFill>
                  <a:srgbClr val="0070C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1</a:t>
            </a:r>
            <a:r>
              <a:rPr lang="en-US" altLang="en-US" sz="2568" baseline="30000" dirty="0">
                <a:solidFill>
                  <a:srgbClr val="0070C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th</a:t>
            </a:r>
            <a:r>
              <a:rPr lang="en-US" altLang="en-US" sz="2568" dirty="0">
                <a:solidFill>
                  <a:srgbClr val="0070C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)</a:t>
            </a:r>
            <a:r>
              <a:rPr lang="en-US" altLang="en-US" sz="1800" dirty="0">
                <a:solidFill>
                  <a:srgbClr val="0070C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 </a:t>
            </a:r>
            <a:r>
              <a:rPr lang="en-US" altLang="en-US" sz="2568" dirty="0">
                <a:solidFill>
                  <a:srgbClr val="0070C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to</a:t>
            </a:r>
            <a:r>
              <a:rPr lang="en-US" altLang="en-US" sz="2400" dirty="0">
                <a:solidFill>
                  <a:srgbClr val="0070C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 </a:t>
            </a:r>
            <a:r>
              <a:rPr lang="en-US" altLang="en-US" sz="2568" dirty="0">
                <a:solidFill>
                  <a:srgbClr val="0070C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4</a:t>
            </a:r>
            <a:r>
              <a:rPr lang="en-US" altLang="en-US" sz="2568" baseline="30000" dirty="0">
                <a:solidFill>
                  <a:srgbClr val="0070C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th</a:t>
            </a:r>
            <a:r>
              <a:rPr lang="en-US" altLang="en-US" sz="2568" dirty="0">
                <a:solidFill>
                  <a:srgbClr val="0070C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86000"/>
              </a:lnSpc>
              <a:spcBef>
                <a:spcPts val="0"/>
              </a:spcBef>
              <a:buNone/>
            </a:pPr>
            <a:r>
              <a:rPr lang="en-US" altLang="en-US" sz="2568" dirty="0" smtClean="0">
                <a:solidFill>
                  <a:srgbClr val="0070C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print </a:t>
            </a:r>
            <a:r>
              <a:rPr lang="en-US" altLang="en-US" sz="2568" b="1" dirty="0">
                <a:solidFill>
                  <a:srgbClr val="0070C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(</a:t>
            </a:r>
            <a:r>
              <a:rPr lang="en-US" altLang="en-US" sz="2568" dirty="0">
                <a:solidFill>
                  <a:srgbClr val="0070C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tuple[2:]</a:t>
            </a:r>
            <a:r>
              <a:rPr lang="en-US" altLang="en-US" sz="2568" b="1" dirty="0">
                <a:solidFill>
                  <a:srgbClr val="0070C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)</a:t>
            </a:r>
            <a:r>
              <a:rPr lang="en-US" altLang="en-US" sz="2568" dirty="0">
                <a:solidFill>
                  <a:srgbClr val="0070C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 </a:t>
            </a:r>
            <a:r>
              <a:rPr lang="en-US" altLang="en-US" sz="2568" dirty="0" smtClean="0">
                <a:solidFill>
                  <a:srgbClr val="0070C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 # </a:t>
            </a:r>
            <a:r>
              <a:rPr lang="en-US" altLang="en-US" sz="2568" dirty="0">
                <a:solidFill>
                  <a:srgbClr val="0070C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Prints elements</a:t>
            </a:r>
            <a:r>
              <a:rPr lang="en-US" altLang="en-US" sz="2400" dirty="0">
                <a:solidFill>
                  <a:srgbClr val="0070C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 </a:t>
            </a:r>
            <a:r>
              <a:rPr lang="en-US" altLang="en-US" sz="2568" spc="-10" dirty="0">
                <a:solidFill>
                  <a:srgbClr val="0070C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starting</a:t>
            </a:r>
            <a:r>
              <a:rPr lang="en-US" altLang="en-US" sz="2400" dirty="0">
                <a:solidFill>
                  <a:srgbClr val="0070C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 </a:t>
            </a:r>
            <a:r>
              <a:rPr lang="en-US" altLang="en-US" sz="2568" spc="-100" dirty="0">
                <a:solidFill>
                  <a:srgbClr val="0070C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a</a:t>
            </a:r>
            <a:r>
              <a:rPr lang="en-US" altLang="en-US" sz="2568" dirty="0">
                <a:solidFill>
                  <a:srgbClr val="0070C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t</a:t>
            </a:r>
            <a:r>
              <a:rPr lang="en-US" altLang="en-US" sz="2000" dirty="0">
                <a:solidFill>
                  <a:srgbClr val="0070C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 </a:t>
            </a:r>
            <a:r>
              <a:rPr lang="en-US" altLang="en-US" sz="2568" dirty="0">
                <a:solidFill>
                  <a:srgbClr val="0070C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3</a:t>
            </a:r>
            <a:r>
              <a:rPr lang="en-US" altLang="en-US" sz="2568" baseline="30000" dirty="0">
                <a:solidFill>
                  <a:srgbClr val="0070C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rd</a:t>
            </a:r>
            <a:r>
              <a:rPr lang="en-US" altLang="en-US" sz="2568" spc="-400" dirty="0">
                <a:solidFill>
                  <a:srgbClr val="0070C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(</a:t>
            </a:r>
            <a:r>
              <a:rPr lang="en-US" altLang="en-US" sz="2568" spc="-400" dirty="0" err="1">
                <a:solidFill>
                  <a:srgbClr val="0070C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i</a:t>
            </a:r>
            <a:r>
              <a:rPr lang="en-US" altLang="en-US" sz="2568" spc="-200" dirty="0" err="1">
                <a:solidFill>
                  <a:srgbClr val="0070C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e</a:t>
            </a:r>
            <a:r>
              <a:rPr lang="en-US" altLang="en-US" sz="2568" dirty="0">
                <a:solidFill>
                  <a:srgbClr val="0070C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 </a:t>
            </a:r>
            <a:r>
              <a:rPr lang="en-US" altLang="en-US" sz="2568" spc="-200" dirty="0">
                <a:solidFill>
                  <a:srgbClr val="0070C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2</a:t>
            </a:r>
            <a:r>
              <a:rPr lang="en-US" altLang="en-US" sz="2568" spc="-200" baseline="30000" dirty="0">
                <a:solidFill>
                  <a:srgbClr val="0070C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th</a:t>
            </a:r>
            <a:r>
              <a:rPr lang="en-US" altLang="en-US" sz="2568" dirty="0">
                <a:solidFill>
                  <a:srgbClr val="0070C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)</a:t>
            </a:r>
            <a:r>
              <a:rPr lang="en-US" altLang="en-US" sz="1800" dirty="0">
                <a:solidFill>
                  <a:srgbClr val="0070C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 </a:t>
            </a:r>
            <a:endParaRPr lang="en-US" altLang="en-US" sz="2568" dirty="0">
              <a:solidFill>
                <a:srgbClr val="0070C0"/>
              </a:solidFill>
              <a:latin typeface="MS Gothic" pitchFamily="49" charset="-128"/>
              <a:ea typeface="MS Gothic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89000"/>
              </a:lnSpc>
              <a:spcBef>
                <a:spcPts val="0"/>
              </a:spcBef>
              <a:buNone/>
            </a:pPr>
            <a:r>
              <a:rPr lang="en-US" altLang="en-US" sz="2568" dirty="0" smtClean="0">
                <a:solidFill>
                  <a:srgbClr val="0070C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print </a:t>
            </a:r>
            <a:r>
              <a:rPr lang="en-US" altLang="en-US" sz="2568" b="1" dirty="0">
                <a:solidFill>
                  <a:srgbClr val="0070C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(</a:t>
            </a:r>
            <a:r>
              <a:rPr lang="en-US" altLang="en-US" sz="2568" dirty="0" err="1">
                <a:solidFill>
                  <a:srgbClr val="0070C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ttuple</a:t>
            </a:r>
            <a:r>
              <a:rPr lang="en-US" altLang="en-US" sz="2568" dirty="0">
                <a:solidFill>
                  <a:srgbClr val="0070C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 * 2</a:t>
            </a:r>
            <a:r>
              <a:rPr lang="en-US" altLang="en-US" sz="2568" b="1" dirty="0">
                <a:solidFill>
                  <a:srgbClr val="0070C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)</a:t>
            </a:r>
            <a:r>
              <a:rPr lang="en-US" altLang="en-US" sz="2568" dirty="0">
                <a:solidFill>
                  <a:srgbClr val="0070C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 </a:t>
            </a:r>
            <a:r>
              <a:rPr lang="en-US" altLang="en-US" sz="2568" dirty="0" smtClean="0">
                <a:solidFill>
                  <a:srgbClr val="0070C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# Prints </a:t>
            </a:r>
            <a:r>
              <a:rPr lang="en-US" altLang="en-US" sz="2568" dirty="0">
                <a:solidFill>
                  <a:srgbClr val="0070C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the tuple two times</a:t>
            </a:r>
          </a:p>
          <a:p>
            <a:pPr>
              <a:lnSpc>
                <a:spcPct val="89000"/>
              </a:lnSpc>
              <a:spcBef>
                <a:spcPts val="0"/>
              </a:spcBef>
              <a:buNone/>
            </a:pPr>
            <a:r>
              <a:rPr lang="en-US" altLang="en-US" sz="2568" dirty="0">
                <a:solidFill>
                  <a:srgbClr val="0070C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print </a:t>
            </a:r>
            <a:r>
              <a:rPr lang="en-US" altLang="en-US" sz="2568" b="1" dirty="0">
                <a:solidFill>
                  <a:srgbClr val="0070C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(</a:t>
            </a:r>
            <a:r>
              <a:rPr lang="en-US" altLang="en-US" sz="2568" dirty="0" err="1" smtClean="0">
                <a:solidFill>
                  <a:srgbClr val="0070C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tuple+ttup</a:t>
            </a:r>
            <a:r>
              <a:rPr lang="en-US" altLang="en-US" sz="2568" b="1" spc="-200" dirty="0" smtClean="0">
                <a:solidFill>
                  <a:srgbClr val="0070C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) </a:t>
            </a:r>
            <a:r>
              <a:rPr lang="en-US" altLang="en-US" sz="1400" b="1" spc="-200" dirty="0" smtClean="0">
                <a:solidFill>
                  <a:srgbClr val="0070C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 </a:t>
            </a:r>
            <a:r>
              <a:rPr lang="en-US" altLang="en-US" sz="2568" dirty="0" smtClean="0">
                <a:solidFill>
                  <a:srgbClr val="0070C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#</a:t>
            </a:r>
            <a:r>
              <a:rPr lang="en-US" altLang="en-US" sz="600" dirty="0" smtClean="0">
                <a:solidFill>
                  <a:srgbClr val="0070C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    </a:t>
            </a:r>
            <a:r>
              <a:rPr lang="en-US" altLang="en-US" sz="2568" dirty="0" smtClean="0">
                <a:solidFill>
                  <a:srgbClr val="0070C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Prints </a:t>
            </a:r>
            <a:r>
              <a:rPr lang="en-US" altLang="en-US" sz="2568" dirty="0">
                <a:solidFill>
                  <a:srgbClr val="0070C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concatenated tuples</a:t>
            </a:r>
          </a:p>
          <a:p>
            <a:pPr>
              <a:lnSpc>
                <a:spcPct val="89000"/>
              </a:lnSpc>
              <a:spcBef>
                <a:spcPts val="0"/>
              </a:spcBef>
              <a:buNone/>
            </a:pPr>
            <a:r>
              <a:rPr lang="en-US" altLang="en-US" sz="2568" dirty="0">
                <a:solidFill>
                  <a:srgbClr val="FFC000"/>
                </a:solidFill>
                <a:latin typeface="Lucida Console" pitchFamily="49" charset="0"/>
                <a:ea typeface="MS Gothic" pitchFamily="49" charset="-128"/>
                <a:cs typeface="Times New Roman" panose="02020603050405020304" pitchFamily="18" charset="0"/>
              </a:rPr>
              <a:t>%</a:t>
            </a:r>
            <a:r>
              <a:rPr lang="en-US" altLang="en-US" sz="2568" dirty="0">
                <a:solidFill>
                  <a:srgbClr val="FFC00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 python3 test.py</a:t>
            </a:r>
          </a:p>
          <a:p>
            <a:pPr>
              <a:lnSpc>
                <a:spcPct val="89000"/>
              </a:lnSpc>
              <a:spcBef>
                <a:spcPts val="0"/>
              </a:spcBef>
              <a:buNone/>
            </a:pPr>
            <a:r>
              <a:rPr lang="en-US" altLang="en-US" sz="2568" b="1" dirty="0">
                <a:solidFill>
                  <a:srgbClr val="FF000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(</a:t>
            </a:r>
            <a:r>
              <a:rPr lang="en-US" altLang="en-US" sz="2568" dirty="0">
                <a:solidFill>
                  <a:srgbClr val="FF0000"/>
                </a:solidFill>
                <a:latin typeface="Lucida Sans" panose="020B0602030504020204" pitchFamily="34" charset="0"/>
                <a:ea typeface="MS Gothic" pitchFamily="49" charset="-128"/>
                <a:cs typeface="Times New Roman" panose="02020603050405020304" pitchFamily="18" charset="0"/>
              </a:rPr>
              <a:t>'</a:t>
            </a:r>
            <a:r>
              <a:rPr lang="en-US" altLang="en-US" sz="2568" dirty="0" err="1">
                <a:solidFill>
                  <a:srgbClr val="FF000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abcd</a:t>
            </a:r>
            <a:r>
              <a:rPr lang="en-US" altLang="en-US" sz="2568" dirty="0">
                <a:solidFill>
                  <a:srgbClr val="FF000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', 786, 2.23, </a:t>
            </a:r>
            <a:r>
              <a:rPr lang="en-US" altLang="en-US" sz="2568" dirty="0">
                <a:solidFill>
                  <a:srgbClr val="FF0000"/>
                </a:solidFill>
                <a:latin typeface="Lucida Sans" panose="020B0602030504020204" pitchFamily="34" charset="0"/>
                <a:ea typeface="MS Gothic" pitchFamily="49" charset="-128"/>
                <a:cs typeface="Times New Roman" panose="02020603050405020304" pitchFamily="18" charset="0"/>
              </a:rPr>
              <a:t>'</a:t>
            </a:r>
            <a:r>
              <a:rPr lang="en-US" altLang="en-US" sz="2568" dirty="0">
                <a:solidFill>
                  <a:srgbClr val="FF000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john</a:t>
            </a:r>
            <a:r>
              <a:rPr lang="en-US" altLang="en-US" sz="2568" dirty="0">
                <a:solidFill>
                  <a:srgbClr val="FF0000"/>
                </a:solidFill>
                <a:latin typeface="Lucida Sans" panose="020B0602030504020204" pitchFamily="34" charset="0"/>
                <a:ea typeface="MS Gothic" pitchFamily="49" charset="-128"/>
                <a:cs typeface="Times New Roman" panose="02020603050405020304" pitchFamily="18" charset="0"/>
              </a:rPr>
              <a:t>'</a:t>
            </a:r>
            <a:r>
              <a:rPr lang="en-US" altLang="en-US" sz="2568" dirty="0">
                <a:solidFill>
                  <a:srgbClr val="FF000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, 70.2</a:t>
            </a:r>
            <a:r>
              <a:rPr lang="en-US" altLang="en-US" sz="2568" b="1" dirty="0">
                <a:solidFill>
                  <a:srgbClr val="FF000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89000"/>
              </a:lnSpc>
              <a:spcBef>
                <a:spcPts val="0"/>
              </a:spcBef>
              <a:buNone/>
            </a:pPr>
            <a:r>
              <a:rPr lang="en-US" altLang="en-US" sz="2568" dirty="0">
                <a:solidFill>
                  <a:srgbClr val="FF0000"/>
                </a:solidFill>
                <a:latin typeface="Lucida Sans" panose="020B0602030504020204" pitchFamily="34" charset="0"/>
                <a:ea typeface="MS Gothic" pitchFamily="49" charset="-128"/>
                <a:cs typeface="Times New Roman" panose="02020603050405020304" pitchFamily="18" charset="0"/>
              </a:rPr>
              <a:t>'</a:t>
            </a:r>
            <a:r>
              <a:rPr lang="en-US" altLang="en-US" sz="2568" dirty="0">
                <a:solidFill>
                  <a:srgbClr val="FF000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john</a:t>
            </a:r>
            <a:r>
              <a:rPr lang="en-US" altLang="en-US" sz="2568" dirty="0">
                <a:solidFill>
                  <a:srgbClr val="FF0000"/>
                </a:solidFill>
                <a:latin typeface="Lucida Sans" panose="020B0602030504020204" pitchFamily="34" charset="0"/>
                <a:ea typeface="MS Gothic" pitchFamily="49" charset="-128"/>
                <a:cs typeface="Times New Roman" panose="02020603050405020304" pitchFamily="18" charset="0"/>
              </a:rPr>
              <a:t>'</a:t>
            </a:r>
          </a:p>
          <a:p>
            <a:pPr>
              <a:lnSpc>
                <a:spcPct val="89000"/>
              </a:lnSpc>
              <a:spcBef>
                <a:spcPts val="0"/>
              </a:spcBef>
              <a:buNone/>
            </a:pPr>
            <a:r>
              <a:rPr lang="en-US" altLang="en-US" sz="2568" b="1" dirty="0">
                <a:solidFill>
                  <a:srgbClr val="FF000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(</a:t>
            </a:r>
            <a:r>
              <a:rPr lang="en-US" altLang="en-US" sz="2568" dirty="0">
                <a:solidFill>
                  <a:srgbClr val="FF000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786, 2.23, </a:t>
            </a:r>
            <a:r>
              <a:rPr lang="en-US" altLang="en-US" sz="2568" dirty="0">
                <a:solidFill>
                  <a:srgbClr val="FF0000"/>
                </a:solidFill>
                <a:latin typeface="Lucida Sans" panose="020B0602030504020204" pitchFamily="34" charset="0"/>
                <a:ea typeface="MS Gothic" pitchFamily="49" charset="-128"/>
                <a:cs typeface="Times New Roman" panose="02020603050405020304" pitchFamily="18" charset="0"/>
              </a:rPr>
              <a:t>'</a:t>
            </a:r>
            <a:r>
              <a:rPr lang="en-US" altLang="en-US" sz="2568" dirty="0">
                <a:solidFill>
                  <a:srgbClr val="FF000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john</a:t>
            </a:r>
            <a:r>
              <a:rPr lang="en-US" altLang="en-US" sz="2568" dirty="0">
                <a:solidFill>
                  <a:srgbClr val="FF0000"/>
                </a:solidFill>
                <a:latin typeface="Lucida Sans" panose="020B0602030504020204" pitchFamily="34" charset="0"/>
                <a:ea typeface="MS Gothic" pitchFamily="49" charset="-128"/>
                <a:cs typeface="Times New Roman" panose="02020603050405020304" pitchFamily="18" charset="0"/>
              </a:rPr>
              <a:t>'</a:t>
            </a:r>
            <a:r>
              <a:rPr lang="en-US" altLang="en-US" sz="2568" b="1" dirty="0">
                <a:solidFill>
                  <a:srgbClr val="FF000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89000"/>
              </a:lnSpc>
              <a:spcBef>
                <a:spcPts val="0"/>
              </a:spcBef>
              <a:buNone/>
            </a:pPr>
            <a:r>
              <a:rPr lang="en-US" altLang="en-US" sz="2568" b="1" dirty="0">
                <a:solidFill>
                  <a:srgbClr val="FF000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(</a:t>
            </a:r>
            <a:r>
              <a:rPr lang="en-US" altLang="en-US" sz="2568" dirty="0">
                <a:solidFill>
                  <a:srgbClr val="FF000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2.23, </a:t>
            </a:r>
            <a:r>
              <a:rPr lang="en-US" altLang="en-US" sz="2568" dirty="0">
                <a:solidFill>
                  <a:srgbClr val="FF0000"/>
                </a:solidFill>
                <a:latin typeface="Lucida Sans" panose="020B0602030504020204" pitchFamily="34" charset="0"/>
                <a:ea typeface="MS Gothic" pitchFamily="49" charset="-128"/>
                <a:cs typeface="Times New Roman" panose="02020603050405020304" pitchFamily="18" charset="0"/>
              </a:rPr>
              <a:t>'</a:t>
            </a:r>
            <a:r>
              <a:rPr lang="en-US" altLang="en-US" sz="2568" dirty="0">
                <a:solidFill>
                  <a:srgbClr val="FF000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john</a:t>
            </a:r>
            <a:r>
              <a:rPr lang="en-US" altLang="en-US" sz="2568" dirty="0">
                <a:solidFill>
                  <a:srgbClr val="FF0000"/>
                </a:solidFill>
                <a:latin typeface="Lucida Sans" panose="020B0602030504020204" pitchFamily="34" charset="0"/>
                <a:ea typeface="MS Gothic" pitchFamily="49" charset="-128"/>
                <a:cs typeface="Times New Roman" panose="02020603050405020304" pitchFamily="18" charset="0"/>
              </a:rPr>
              <a:t>'</a:t>
            </a:r>
            <a:r>
              <a:rPr lang="en-US" altLang="en-US" sz="2568" dirty="0">
                <a:solidFill>
                  <a:srgbClr val="FF000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, 70.2</a:t>
            </a:r>
            <a:r>
              <a:rPr lang="en-US" altLang="en-US" sz="2568" b="1" dirty="0">
                <a:solidFill>
                  <a:srgbClr val="FF000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89000"/>
              </a:lnSpc>
              <a:spcBef>
                <a:spcPts val="0"/>
              </a:spcBef>
              <a:buNone/>
            </a:pPr>
            <a:r>
              <a:rPr lang="en-US" altLang="en-US" sz="2568" b="1" dirty="0">
                <a:solidFill>
                  <a:srgbClr val="FF000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(</a:t>
            </a:r>
            <a:r>
              <a:rPr lang="en-US" altLang="en-US" sz="2568" dirty="0">
                <a:solidFill>
                  <a:srgbClr val="FF000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123, </a:t>
            </a:r>
            <a:r>
              <a:rPr lang="en-US" altLang="en-US" sz="2568" dirty="0">
                <a:solidFill>
                  <a:srgbClr val="FF0000"/>
                </a:solidFill>
                <a:latin typeface="Lucida Sans" panose="020B0602030504020204" pitchFamily="34" charset="0"/>
                <a:ea typeface="MS Gothic" pitchFamily="49" charset="-128"/>
                <a:cs typeface="Times New Roman" panose="02020603050405020304" pitchFamily="18" charset="0"/>
              </a:rPr>
              <a:t>'</a:t>
            </a:r>
            <a:r>
              <a:rPr lang="en-US" altLang="en-US" sz="2568" dirty="0">
                <a:solidFill>
                  <a:srgbClr val="FF000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john</a:t>
            </a:r>
            <a:r>
              <a:rPr lang="en-US" altLang="en-US" sz="2568" dirty="0">
                <a:solidFill>
                  <a:srgbClr val="FF0000"/>
                </a:solidFill>
                <a:latin typeface="Lucida Sans" panose="020B0602030504020204" pitchFamily="34" charset="0"/>
                <a:ea typeface="MS Gothic" pitchFamily="49" charset="-128"/>
                <a:cs typeface="Times New Roman" panose="02020603050405020304" pitchFamily="18" charset="0"/>
              </a:rPr>
              <a:t>'</a:t>
            </a:r>
            <a:r>
              <a:rPr lang="en-US" altLang="en-US" sz="2568" dirty="0">
                <a:solidFill>
                  <a:srgbClr val="FF000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, 123, </a:t>
            </a:r>
            <a:r>
              <a:rPr lang="en-US" altLang="en-US" sz="2568" dirty="0">
                <a:solidFill>
                  <a:srgbClr val="FF0000"/>
                </a:solidFill>
                <a:latin typeface="Lucida Sans" panose="020B0602030504020204" pitchFamily="34" charset="0"/>
                <a:ea typeface="MS Gothic" pitchFamily="49" charset="-128"/>
                <a:cs typeface="Times New Roman" panose="02020603050405020304" pitchFamily="18" charset="0"/>
              </a:rPr>
              <a:t>'</a:t>
            </a:r>
            <a:r>
              <a:rPr lang="en-US" altLang="en-US" sz="2568" dirty="0">
                <a:solidFill>
                  <a:srgbClr val="FF000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john</a:t>
            </a:r>
            <a:r>
              <a:rPr lang="en-US" altLang="en-US" sz="2568" dirty="0">
                <a:solidFill>
                  <a:srgbClr val="FF0000"/>
                </a:solidFill>
                <a:latin typeface="Lucida Sans" panose="020B0602030504020204" pitchFamily="34" charset="0"/>
                <a:ea typeface="MS Gothic" pitchFamily="49" charset="-128"/>
                <a:cs typeface="Times New Roman" panose="02020603050405020304" pitchFamily="18" charset="0"/>
              </a:rPr>
              <a:t>'</a:t>
            </a:r>
            <a:r>
              <a:rPr lang="en-US" altLang="en-US" sz="2568" b="1" dirty="0">
                <a:solidFill>
                  <a:srgbClr val="FF000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89000"/>
              </a:lnSpc>
              <a:spcBef>
                <a:spcPts val="0"/>
              </a:spcBef>
              <a:buNone/>
            </a:pPr>
            <a:r>
              <a:rPr lang="en-US" altLang="en-US" sz="2568" b="1" dirty="0">
                <a:solidFill>
                  <a:srgbClr val="FF000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(</a:t>
            </a:r>
            <a:r>
              <a:rPr lang="en-US" altLang="en-US" sz="2568" dirty="0">
                <a:solidFill>
                  <a:srgbClr val="FF0000"/>
                </a:solidFill>
                <a:latin typeface="Lucida Sans" panose="020B0602030504020204" pitchFamily="34" charset="0"/>
                <a:ea typeface="MS Gothic" pitchFamily="49" charset="-128"/>
                <a:cs typeface="Times New Roman" panose="02020603050405020304" pitchFamily="18" charset="0"/>
              </a:rPr>
              <a:t>'</a:t>
            </a:r>
            <a:r>
              <a:rPr lang="en-US" altLang="en-US" sz="2568" dirty="0" err="1">
                <a:solidFill>
                  <a:srgbClr val="FF000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abcd</a:t>
            </a:r>
            <a:r>
              <a:rPr lang="en-US" altLang="en-US" sz="2568" dirty="0">
                <a:solidFill>
                  <a:srgbClr val="FF0000"/>
                </a:solidFill>
                <a:latin typeface="Lucida Sans" panose="020B0602030504020204" pitchFamily="34" charset="0"/>
                <a:ea typeface="MS Gothic" pitchFamily="49" charset="-128"/>
                <a:cs typeface="Times New Roman" panose="02020603050405020304" pitchFamily="18" charset="0"/>
              </a:rPr>
              <a:t>'</a:t>
            </a:r>
            <a:r>
              <a:rPr lang="en-US" altLang="en-US" sz="2568" dirty="0">
                <a:solidFill>
                  <a:srgbClr val="FF000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, 786, 2.23, </a:t>
            </a:r>
            <a:r>
              <a:rPr lang="en-US" altLang="en-US" sz="2568" dirty="0">
                <a:solidFill>
                  <a:srgbClr val="FF0000"/>
                </a:solidFill>
                <a:latin typeface="Lucida Sans" panose="020B0602030504020204" pitchFamily="34" charset="0"/>
                <a:ea typeface="MS Gothic" pitchFamily="49" charset="-128"/>
                <a:cs typeface="Times New Roman" panose="02020603050405020304" pitchFamily="18" charset="0"/>
              </a:rPr>
              <a:t>'</a:t>
            </a:r>
            <a:r>
              <a:rPr lang="en-US" altLang="en-US" sz="2568" dirty="0">
                <a:solidFill>
                  <a:srgbClr val="FF000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john</a:t>
            </a:r>
            <a:r>
              <a:rPr lang="en-US" altLang="en-US" sz="2568" dirty="0">
                <a:solidFill>
                  <a:srgbClr val="FF0000"/>
                </a:solidFill>
                <a:latin typeface="Lucida Sans" panose="020B0602030504020204" pitchFamily="34" charset="0"/>
                <a:ea typeface="MS Gothic" pitchFamily="49" charset="-128"/>
                <a:cs typeface="Times New Roman" panose="02020603050405020304" pitchFamily="18" charset="0"/>
              </a:rPr>
              <a:t>'</a:t>
            </a:r>
            <a:r>
              <a:rPr lang="en-US" altLang="en-US" sz="2568" dirty="0">
                <a:solidFill>
                  <a:srgbClr val="FF000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, 70.2, 123, </a:t>
            </a:r>
            <a:r>
              <a:rPr lang="en-US" altLang="en-US" sz="2568" dirty="0">
                <a:solidFill>
                  <a:srgbClr val="FF0000"/>
                </a:solidFill>
                <a:latin typeface="Lucida Sans" panose="020B0602030504020204" pitchFamily="34" charset="0"/>
                <a:ea typeface="MS Gothic" pitchFamily="49" charset="-128"/>
                <a:cs typeface="Times New Roman" panose="02020603050405020304" pitchFamily="18" charset="0"/>
              </a:rPr>
              <a:t>'</a:t>
            </a:r>
            <a:r>
              <a:rPr lang="en-US" altLang="en-US" sz="2568" dirty="0">
                <a:solidFill>
                  <a:srgbClr val="FF000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john</a:t>
            </a:r>
            <a:r>
              <a:rPr lang="en-US" altLang="en-US" sz="2568" dirty="0">
                <a:solidFill>
                  <a:srgbClr val="FF0000"/>
                </a:solidFill>
                <a:latin typeface="Lucida Sans" panose="020B0602030504020204" pitchFamily="34" charset="0"/>
                <a:ea typeface="MS Gothic" pitchFamily="49" charset="-128"/>
                <a:cs typeface="Times New Roman" panose="02020603050405020304" pitchFamily="18" charset="0"/>
              </a:rPr>
              <a:t>'</a:t>
            </a:r>
            <a:r>
              <a:rPr lang="en-US" altLang="en-US" sz="2568" b="1" dirty="0">
                <a:solidFill>
                  <a:srgbClr val="FF0000"/>
                </a:solidFill>
                <a:latin typeface="MS Gothic" pitchFamily="49" charset="-128"/>
                <a:ea typeface="MS Gothic" pitchFamily="49" charset="-128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89000"/>
              </a:lnSpc>
              <a:spcBef>
                <a:spcPts val="0"/>
              </a:spcBef>
              <a:buNone/>
            </a:pPr>
            <a:r>
              <a:rPr lang="en-US" altLang="en-US" sz="2568" dirty="0">
                <a:solidFill>
                  <a:srgbClr val="FFC000"/>
                </a:solidFill>
                <a:latin typeface="Lucida Console" pitchFamily="49" charset="0"/>
                <a:ea typeface="MS Gothic" pitchFamily="49" charset="-128"/>
                <a:cs typeface="Times New Roman" panose="02020603050405020304" pitchFamily="18" charset="0"/>
              </a:rPr>
              <a:t>%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" y="1"/>
            <a:ext cx="9729787" cy="1161142"/>
          </a:xfrm>
        </p:spPr>
        <p:txBody>
          <a:bodyPr>
            <a:normAutofit/>
          </a:bodyPr>
          <a:lstStyle/>
          <a:p>
            <a:r>
              <a:rPr lang="en-US" altLang="en-US" sz="4400" dirty="0" smtClean="0">
                <a:solidFill>
                  <a:srgbClr val="0070C0"/>
                </a:solidFill>
              </a:rPr>
              <a:t>Python Tuples:</a:t>
            </a:r>
          </a:p>
        </p:txBody>
      </p:sp>
    </p:spTree>
    <p:extLst>
      <p:ext uri="{BB962C8B-B14F-4D97-AF65-F5344CB8AC3E}">
        <p14:creationId xmlns:p14="http://schemas.microsoft.com/office/powerpoint/2010/main" val="3076999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2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6" presetID="14" presetClass="entr" presetSubtype="1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2560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560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2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4" presetID="14" presetClass="entr" presetSubtype="1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2560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560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25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5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32" presetID="14" presetClass="entr" presetSubtype="1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2560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560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256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56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40" presetID="14" presetClass="entr" presetSubtype="1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2560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560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256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56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48" presetID="14" presetClass="entr" presetSubtype="1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0" dur="500"/>
                                        <p:tgtEl>
                                          <p:spTgt spid="2560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560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5" dur="500"/>
                                        <p:tgtEl>
                                          <p:spTgt spid="256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4" presetClass="entr" presetSubtype="1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8" dur="500"/>
                                        <p:tgtEl>
                                          <p:spTgt spid="2560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 smtClean="0">
                <a:solidFill>
                  <a:srgbClr val="0070C0"/>
                </a:solidFill>
              </a:rPr>
              <a:t>Creating Singleton Tuples</a:t>
            </a:r>
            <a:endParaRPr lang="en-US" sz="4400" dirty="0">
              <a:solidFill>
                <a:srgbClr val="0070C0"/>
              </a:solidFill>
            </a:endParaRP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175256" y="1012724"/>
            <a:ext cx="9554531" cy="18189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436" indent="-182436" algn="l" defTabSz="729742" rtl="0" eaLnBrk="1" latinLnBrk="0" hangingPunct="1">
              <a:lnSpc>
                <a:spcPct val="90000"/>
              </a:lnSpc>
              <a:spcBef>
                <a:spcPts val="798"/>
              </a:spcBef>
              <a:buFont typeface="Arial" panose="020B0604020202020204" pitchFamily="34" charset="0"/>
              <a:buChar char="•"/>
              <a:defRPr sz="31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7307" indent="-182436" algn="l" defTabSz="729742" rtl="0" eaLnBrk="1" latinLnBrk="0" hangingPunct="1">
              <a:lnSpc>
                <a:spcPct val="90000"/>
              </a:lnSpc>
              <a:spcBef>
                <a:spcPts val="399"/>
              </a:spcBef>
              <a:buFont typeface="Arial" panose="020B0604020202020204" pitchFamily="34" charset="0"/>
              <a:buChar char="•"/>
              <a:defRPr sz="28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2177" indent="-182436" algn="l" defTabSz="729742" rtl="0" eaLnBrk="1" latinLnBrk="0" hangingPunct="1">
              <a:lnSpc>
                <a:spcPct val="90000"/>
              </a:lnSpc>
              <a:spcBef>
                <a:spcPts val="399"/>
              </a:spcBef>
              <a:buFont typeface="Arial" panose="020B0604020202020204" pitchFamily="34" charset="0"/>
              <a:buChar char="•"/>
              <a:defRPr sz="25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77049" indent="-182436" algn="l" defTabSz="729742" rtl="0" eaLnBrk="1" latinLnBrk="0" hangingPunct="1">
              <a:lnSpc>
                <a:spcPct val="90000"/>
              </a:lnSpc>
              <a:spcBef>
                <a:spcPts val="399"/>
              </a:spcBef>
              <a:buFont typeface="Arial" panose="020B0604020202020204" pitchFamily="34" charset="0"/>
              <a:buChar char="•"/>
              <a:defRPr sz="22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41920" indent="-182436" algn="l" defTabSz="729742" rtl="0" eaLnBrk="1" latinLnBrk="0" hangingPunct="1">
              <a:lnSpc>
                <a:spcPct val="90000"/>
              </a:lnSpc>
              <a:spcBef>
                <a:spcPts val="399"/>
              </a:spcBef>
              <a:buFont typeface="Arial" panose="020B0604020202020204" pitchFamily="34" charset="0"/>
              <a:buChar char="•"/>
              <a:defRPr sz="22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06790" indent="-182436" algn="l" defTabSz="729742" rtl="0" eaLnBrk="1" latinLnBrk="0" hangingPunct="1">
              <a:lnSpc>
                <a:spcPct val="90000"/>
              </a:lnSpc>
              <a:spcBef>
                <a:spcPts val="399"/>
              </a:spcBef>
              <a:buFont typeface="Arial" panose="020B0604020202020204" pitchFamily="34" charset="0"/>
              <a:buChar char="•"/>
              <a:defRPr sz="14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1662" indent="-182436" algn="l" defTabSz="729742" rtl="0" eaLnBrk="1" latinLnBrk="0" hangingPunct="1">
              <a:lnSpc>
                <a:spcPct val="90000"/>
              </a:lnSpc>
              <a:spcBef>
                <a:spcPts val="399"/>
              </a:spcBef>
              <a:buFont typeface="Arial" panose="020B0604020202020204" pitchFamily="34" charset="0"/>
              <a:buChar char="•"/>
              <a:defRPr sz="14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36533" indent="-182436" algn="l" defTabSz="729742" rtl="0" eaLnBrk="1" latinLnBrk="0" hangingPunct="1">
              <a:lnSpc>
                <a:spcPct val="90000"/>
              </a:lnSpc>
              <a:spcBef>
                <a:spcPts val="399"/>
              </a:spcBef>
              <a:buFont typeface="Arial" panose="020B0604020202020204" pitchFamily="34" charset="0"/>
              <a:buChar char="•"/>
              <a:defRPr sz="14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1404" indent="-182436" algn="l" defTabSz="729742" rtl="0" eaLnBrk="1" latinLnBrk="0" hangingPunct="1">
              <a:lnSpc>
                <a:spcPct val="90000"/>
              </a:lnSpc>
              <a:spcBef>
                <a:spcPts val="399"/>
              </a:spcBef>
              <a:buFont typeface="Arial" panose="020B0604020202020204" pitchFamily="34" charset="0"/>
              <a:buChar char="•"/>
              <a:defRPr sz="14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600" dirty="0" smtClean="0">
                <a:solidFill>
                  <a:srgbClr val="FF0000"/>
                </a:solidFill>
              </a:rPr>
              <a:t>You can create a tuple with any number of entries, including zero:</a:t>
            </a:r>
          </a:p>
          <a:p>
            <a:pPr lvl="1">
              <a:buFontTx/>
              <a:buNone/>
            </a:pPr>
            <a:r>
              <a:rPr lang="en-US" sz="2600" dirty="0" smtClean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tup1=</a:t>
            </a:r>
            <a:r>
              <a:rPr lang="en-US" sz="2600" b="1" dirty="0" smtClean="0">
                <a:solidFill>
                  <a:srgbClr val="7030A0"/>
                </a:solidFill>
                <a:latin typeface="Lucida Console" panose="020B0609040504020204" pitchFamily="49" charset="0"/>
                <a:cs typeface="Courier New" pitchFamily="49" charset="0"/>
              </a:rPr>
              <a:t>(</a:t>
            </a:r>
            <a:r>
              <a:rPr lang="en-US" sz="2600" dirty="0" smtClean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'phys','chem',2017,2019</a:t>
            </a:r>
            <a:r>
              <a:rPr lang="en-US" sz="2600" b="1" dirty="0" smtClean="0">
                <a:solidFill>
                  <a:srgbClr val="7030A0"/>
                </a:solidFill>
                <a:latin typeface="Lucida Console" panose="020B0609040504020204" pitchFamily="49" charset="0"/>
                <a:cs typeface="Courier New" pitchFamily="49" charset="0"/>
              </a:rPr>
              <a:t>)</a:t>
            </a:r>
            <a:r>
              <a:rPr lang="en-US" sz="2600" dirty="0" smtClean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; tup2=</a:t>
            </a:r>
            <a:r>
              <a:rPr lang="en-US" sz="2600" b="1" dirty="0" smtClean="0">
                <a:solidFill>
                  <a:srgbClr val="7030A0"/>
                </a:solidFill>
                <a:latin typeface="Lucida Console" panose="020B0609040504020204" pitchFamily="49" charset="0"/>
                <a:cs typeface="Courier New" pitchFamily="49" charset="0"/>
              </a:rPr>
              <a:t>()</a:t>
            </a:r>
            <a:endParaRPr lang="en-US" sz="2600" dirty="0" smtClean="0">
              <a:latin typeface="Lucida Console" panose="020B0609040504020204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9564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Content Placeholder 2"/>
          <p:cNvSpPr>
            <a:spLocks noGrp="1"/>
          </p:cNvSpPr>
          <p:nvPr>
            <p:ph idx="1"/>
          </p:nvPr>
        </p:nvSpPr>
        <p:spPr>
          <a:xfrm>
            <a:off x="-198369" y="2644877"/>
            <a:ext cx="9928155" cy="4218039"/>
          </a:xfrm>
        </p:spPr>
        <p:txBody>
          <a:bodyPr>
            <a:normAutofit/>
          </a:bodyPr>
          <a:lstStyle/>
          <a:p>
            <a:pPr marL="419344" lvl="1" indent="0">
              <a:buNone/>
            </a:pPr>
            <a:r>
              <a:rPr lang="en-US" sz="2201" dirty="0"/>
              <a:t>	</a:t>
            </a:r>
            <a:r>
              <a:rPr lang="en-US" sz="2400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x = </a:t>
            </a:r>
            <a:r>
              <a:rPr lang="en-US" sz="2400" b="1" dirty="0">
                <a:solidFill>
                  <a:srgbClr val="0070C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sz="2400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2+3*</a:t>
            </a:r>
            <a:r>
              <a:rPr lang="en-US" sz="2400" b="1" dirty="0">
                <a:solidFill>
                  <a:srgbClr val="0070C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sz="2400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4+1</a:t>
            </a:r>
            <a:r>
              <a:rPr lang="en-US" sz="2400" b="1" dirty="0" smtClean="0">
                <a:solidFill>
                  <a:srgbClr val="0070C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))</a:t>
            </a:r>
            <a:endParaRPr lang="en-US" sz="2400" b="1" dirty="0">
              <a:solidFill>
                <a:srgbClr val="0070C0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</p:txBody>
      </p:sp>
      <p:sp>
        <p:nvSpPr>
          <p:cNvPr id="11266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 smtClean="0">
                <a:solidFill>
                  <a:srgbClr val="0070C0"/>
                </a:solidFill>
              </a:rPr>
              <a:t>Creating Singleton Tuples</a:t>
            </a:r>
            <a:endParaRPr lang="en-US" sz="4400" dirty="0">
              <a:solidFill>
                <a:srgbClr val="0070C0"/>
              </a:solidFill>
            </a:endParaRP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175256" y="1012724"/>
            <a:ext cx="9554531" cy="18189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436" indent="-182436" algn="l" defTabSz="729742" rtl="0" eaLnBrk="1" latinLnBrk="0" hangingPunct="1">
              <a:lnSpc>
                <a:spcPct val="90000"/>
              </a:lnSpc>
              <a:spcBef>
                <a:spcPts val="798"/>
              </a:spcBef>
              <a:buFont typeface="Arial" panose="020B0604020202020204" pitchFamily="34" charset="0"/>
              <a:buChar char="•"/>
              <a:defRPr sz="31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7307" indent="-182436" algn="l" defTabSz="729742" rtl="0" eaLnBrk="1" latinLnBrk="0" hangingPunct="1">
              <a:lnSpc>
                <a:spcPct val="90000"/>
              </a:lnSpc>
              <a:spcBef>
                <a:spcPts val="399"/>
              </a:spcBef>
              <a:buFont typeface="Arial" panose="020B0604020202020204" pitchFamily="34" charset="0"/>
              <a:buChar char="•"/>
              <a:defRPr sz="28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2177" indent="-182436" algn="l" defTabSz="729742" rtl="0" eaLnBrk="1" latinLnBrk="0" hangingPunct="1">
              <a:lnSpc>
                <a:spcPct val="90000"/>
              </a:lnSpc>
              <a:spcBef>
                <a:spcPts val="399"/>
              </a:spcBef>
              <a:buFont typeface="Arial" panose="020B0604020202020204" pitchFamily="34" charset="0"/>
              <a:buChar char="•"/>
              <a:defRPr sz="25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77049" indent="-182436" algn="l" defTabSz="729742" rtl="0" eaLnBrk="1" latinLnBrk="0" hangingPunct="1">
              <a:lnSpc>
                <a:spcPct val="90000"/>
              </a:lnSpc>
              <a:spcBef>
                <a:spcPts val="399"/>
              </a:spcBef>
              <a:buFont typeface="Arial" panose="020B0604020202020204" pitchFamily="34" charset="0"/>
              <a:buChar char="•"/>
              <a:defRPr sz="22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41920" indent="-182436" algn="l" defTabSz="729742" rtl="0" eaLnBrk="1" latinLnBrk="0" hangingPunct="1">
              <a:lnSpc>
                <a:spcPct val="90000"/>
              </a:lnSpc>
              <a:spcBef>
                <a:spcPts val="399"/>
              </a:spcBef>
              <a:buFont typeface="Arial" panose="020B0604020202020204" pitchFamily="34" charset="0"/>
              <a:buChar char="•"/>
              <a:defRPr sz="22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06790" indent="-182436" algn="l" defTabSz="729742" rtl="0" eaLnBrk="1" latinLnBrk="0" hangingPunct="1">
              <a:lnSpc>
                <a:spcPct val="90000"/>
              </a:lnSpc>
              <a:spcBef>
                <a:spcPts val="399"/>
              </a:spcBef>
              <a:buFont typeface="Arial" panose="020B0604020202020204" pitchFamily="34" charset="0"/>
              <a:buChar char="•"/>
              <a:defRPr sz="14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1662" indent="-182436" algn="l" defTabSz="729742" rtl="0" eaLnBrk="1" latinLnBrk="0" hangingPunct="1">
              <a:lnSpc>
                <a:spcPct val="90000"/>
              </a:lnSpc>
              <a:spcBef>
                <a:spcPts val="399"/>
              </a:spcBef>
              <a:buFont typeface="Arial" panose="020B0604020202020204" pitchFamily="34" charset="0"/>
              <a:buChar char="•"/>
              <a:defRPr sz="14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36533" indent="-182436" algn="l" defTabSz="729742" rtl="0" eaLnBrk="1" latinLnBrk="0" hangingPunct="1">
              <a:lnSpc>
                <a:spcPct val="90000"/>
              </a:lnSpc>
              <a:spcBef>
                <a:spcPts val="399"/>
              </a:spcBef>
              <a:buFont typeface="Arial" panose="020B0604020202020204" pitchFamily="34" charset="0"/>
              <a:buChar char="•"/>
              <a:defRPr sz="14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1404" indent="-182436" algn="l" defTabSz="729742" rtl="0" eaLnBrk="1" latinLnBrk="0" hangingPunct="1">
              <a:lnSpc>
                <a:spcPct val="90000"/>
              </a:lnSpc>
              <a:spcBef>
                <a:spcPts val="399"/>
              </a:spcBef>
              <a:buFont typeface="Arial" panose="020B0604020202020204" pitchFamily="34" charset="0"/>
              <a:buChar char="•"/>
              <a:defRPr sz="14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600" dirty="0" smtClean="0"/>
              <a:t>You can create a tuple with any number of entries, including zero:</a:t>
            </a:r>
          </a:p>
          <a:p>
            <a:pPr lvl="1">
              <a:buFontTx/>
              <a:buNone/>
            </a:pPr>
            <a:r>
              <a:rPr lang="en-US" sz="2600" dirty="0" smtClean="0">
                <a:latin typeface="Lucida Console" panose="020B0609040504020204" pitchFamily="49" charset="0"/>
                <a:cs typeface="Courier New" pitchFamily="49" charset="0"/>
              </a:rPr>
              <a:t>tup1=</a:t>
            </a:r>
            <a:r>
              <a:rPr lang="en-US" sz="2600" b="1" dirty="0" smtClean="0">
                <a:solidFill>
                  <a:srgbClr val="7030A0"/>
                </a:solidFill>
                <a:latin typeface="Lucida Console" panose="020B0609040504020204" pitchFamily="49" charset="0"/>
                <a:cs typeface="Courier New" pitchFamily="49" charset="0"/>
              </a:rPr>
              <a:t>(</a:t>
            </a:r>
            <a:r>
              <a:rPr lang="en-US" sz="2600" dirty="0" smtClean="0">
                <a:latin typeface="Lucida Console" panose="020B0609040504020204" pitchFamily="49" charset="0"/>
                <a:cs typeface="Courier New" pitchFamily="49" charset="0"/>
              </a:rPr>
              <a:t>'phys','chem',2017,2019</a:t>
            </a:r>
            <a:r>
              <a:rPr lang="en-US" sz="2600" b="1" dirty="0" smtClean="0">
                <a:solidFill>
                  <a:srgbClr val="7030A0"/>
                </a:solidFill>
                <a:latin typeface="Lucida Console" panose="020B0609040504020204" pitchFamily="49" charset="0"/>
                <a:cs typeface="Courier New" pitchFamily="49" charset="0"/>
              </a:rPr>
              <a:t>)</a:t>
            </a:r>
            <a:r>
              <a:rPr lang="en-US" sz="2600" dirty="0" smtClean="0">
                <a:latin typeface="Lucida Console" panose="020B0609040504020204" pitchFamily="49" charset="0"/>
                <a:cs typeface="Courier New" pitchFamily="49" charset="0"/>
              </a:rPr>
              <a:t>; tup2=</a:t>
            </a:r>
            <a:r>
              <a:rPr lang="en-US" sz="2600" b="1" dirty="0" smtClean="0">
                <a:solidFill>
                  <a:srgbClr val="7030A0"/>
                </a:solidFill>
                <a:latin typeface="Lucida Console" panose="020B0609040504020204" pitchFamily="49" charset="0"/>
                <a:cs typeface="Courier New" pitchFamily="49" charset="0"/>
              </a:rPr>
              <a:t>()</a:t>
            </a:r>
            <a:endParaRPr lang="en-US" sz="2600" dirty="0" smtClean="0">
              <a:latin typeface="Lucida Console" panose="020B0609040504020204" pitchFamily="49" charset="0"/>
              <a:cs typeface="Courier New" pitchFamily="49" charset="0"/>
            </a:endParaRPr>
          </a:p>
          <a:p>
            <a:pPr>
              <a:spcBef>
                <a:spcPts val="1200"/>
              </a:spcBef>
            </a:pPr>
            <a:r>
              <a:rPr lang="en-US" sz="2600" dirty="0">
                <a:solidFill>
                  <a:srgbClr val="FF0000"/>
                </a:solidFill>
              </a:rPr>
              <a:t>But a tuple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600" dirty="0">
                <a:solidFill>
                  <a:srgbClr val="FF0000"/>
                </a:solidFill>
              </a:rPr>
              <a:t>with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600" dirty="0">
                <a:solidFill>
                  <a:srgbClr val="FF0000"/>
                </a:solidFill>
              </a:rPr>
              <a:t>one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600" spc="-50" dirty="0">
                <a:solidFill>
                  <a:srgbClr val="FF0000"/>
                </a:solidFill>
              </a:rPr>
              <a:t>v</a:t>
            </a:r>
            <a:r>
              <a:rPr lang="en-US" sz="2600" dirty="0">
                <a:solidFill>
                  <a:srgbClr val="FF0000"/>
                </a:solidFill>
              </a:rPr>
              <a:t>alue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600" spc="-100" dirty="0">
                <a:solidFill>
                  <a:srgbClr val="FF0000"/>
                </a:solidFill>
              </a:rPr>
              <a:t>(</a:t>
            </a:r>
            <a:r>
              <a:rPr lang="en-US" sz="2600" dirty="0">
                <a:solidFill>
                  <a:srgbClr val="FF0000"/>
                </a:solidFill>
              </a:rPr>
              <a:t>mathematicall</a:t>
            </a:r>
            <a:r>
              <a:rPr lang="en-US" sz="2600" spc="-100" dirty="0">
                <a:solidFill>
                  <a:srgbClr val="FF0000"/>
                </a:solidFill>
              </a:rPr>
              <a:t>y</a:t>
            </a:r>
            <a:r>
              <a:rPr lang="en-US" sz="2600" dirty="0">
                <a:solidFill>
                  <a:srgbClr val="FF0000"/>
                </a:solidFill>
              </a:rPr>
              <a:t>,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600" dirty="0">
                <a:solidFill>
                  <a:srgbClr val="FF0000"/>
                </a:solidFill>
              </a:rPr>
              <a:t>this is called a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600" i="1" dirty="0">
                <a:solidFill>
                  <a:srgbClr val="008000"/>
                </a:solidFill>
              </a:rPr>
              <a:t>singleto</a:t>
            </a:r>
            <a:r>
              <a:rPr lang="en-US" sz="2600" i="1" spc="-100" dirty="0">
                <a:solidFill>
                  <a:srgbClr val="008000"/>
                </a:solidFill>
              </a:rPr>
              <a:t>n</a:t>
            </a:r>
            <a:r>
              <a:rPr lang="en-US" sz="2600" dirty="0">
                <a:solidFill>
                  <a:srgbClr val="FF0000"/>
                </a:solidFill>
              </a:rPr>
              <a:t>) has </a:t>
            </a:r>
            <a:r>
              <a:rPr lang="en-US" sz="2600" dirty="0" smtClean="0">
                <a:solidFill>
                  <a:srgbClr val="FF0000"/>
                </a:solidFill>
              </a:rPr>
              <a:t>a problem, because numerical expressions use parentheses too: </a:t>
            </a:r>
          </a:p>
        </p:txBody>
      </p:sp>
    </p:spTree>
    <p:extLst>
      <p:ext uri="{BB962C8B-B14F-4D97-AF65-F5344CB8AC3E}">
        <p14:creationId xmlns:p14="http://schemas.microsoft.com/office/powerpoint/2010/main" val="28179732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Content Placeholder 2"/>
          <p:cNvSpPr>
            <a:spLocks noGrp="1"/>
          </p:cNvSpPr>
          <p:nvPr>
            <p:ph idx="1"/>
          </p:nvPr>
        </p:nvSpPr>
        <p:spPr>
          <a:xfrm>
            <a:off x="-198369" y="2644877"/>
            <a:ext cx="9928155" cy="4218039"/>
          </a:xfrm>
        </p:spPr>
        <p:txBody>
          <a:bodyPr>
            <a:normAutofit/>
          </a:bodyPr>
          <a:lstStyle/>
          <a:p>
            <a:pPr marL="419344" lvl="1" indent="0">
              <a:buNone/>
            </a:pPr>
            <a:r>
              <a:rPr lang="en-US" sz="2201" dirty="0"/>
              <a:t>	</a:t>
            </a:r>
            <a:r>
              <a:rPr lang="en-US" sz="2400" dirty="0">
                <a:latin typeface="Lucida Console" panose="020B0609040504020204" pitchFamily="49" charset="0"/>
                <a:cs typeface="Courier New" panose="02070309020205020404" pitchFamily="49" charset="0"/>
              </a:rPr>
              <a:t>x = </a:t>
            </a:r>
            <a:r>
              <a:rPr lang="en-US" sz="2400" b="1" dirty="0">
                <a:solidFill>
                  <a:srgbClr val="0070C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sz="2400" dirty="0">
                <a:latin typeface="Lucida Console" panose="020B0609040504020204" pitchFamily="49" charset="0"/>
                <a:cs typeface="Courier New" panose="02070309020205020404" pitchFamily="49" charset="0"/>
              </a:rPr>
              <a:t>2+3*</a:t>
            </a:r>
            <a:r>
              <a:rPr lang="en-US" sz="2400" b="1" dirty="0">
                <a:solidFill>
                  <a:srgbClr val="0070C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sz="2400" dirty="0">
                <a:latin typeface="Lucida Console" panose="020B0609040504020204" pitchFamily="49" charset="0"/>
                <a:cs typeface="Courier New" panose="02070309020205020404" pitchFamily="49" charset="0"/>
              </a:rPr>
              <a:t>4+1</a:t>
            </a:r>
            <a:r>
              <a:rPr lang="en-US" sz="2400" b="1" dirty="0">
                <a:solidFill>
                  <a:srgbClr val="0070C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))</a:t>
            </a:r>
          </a:p>
          <a:p>
            <a:pPr lvl="2"/>
            <a:r>
              <a:rPr lang="en-US" sz="2400" dirty="0">
                <a:solidFill>
                  <a:srgbClr val="FF0000"/>
                </a:solidFill>
              </a:rPr>
              <a:t>But an expression can be as simple as just a number:</a:t>
            </a:r>
          </a:p>
          <a:p>
            <a:pPr marL="1258032" lvl="3" indent="0">
              <a:lnSpc>
                <a:spcPct val="84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r>
              <a:rPr lang="en-US" sz="2400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x = </a:t>
            </a:r>
            <a:r>
              <a:rPr lang="en-US" sz="2400" b="1" dirty="0">
                <a:solidFill>
                  <a:srgbClr val="0070C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sz="2400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50</a:t>
            </a:r>
            <a:r>
              <a:rPr lang="en-US" sz="2400" b="1" dirty="0">
                <a:solidFill>
                  <a:srgbClr val="0070C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  <a:r>
              <a:rPr lang="en-US" sz="2400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;</a:t>
            </a:r>
            <a:r>
              <a:rPr lang="en-US" sz="2400" dirty="0">
                <a:solidFill>
                  <a:srgbClr val="0070C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print (</a:t>
            </a:r>
            <a:r>
              <a:rPr lang="en-US" sz="2400" b="1" dirty="0">
                <a:solidFill>
                  <a:srgbClr val="0066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x*2</a:t>
            </a:r>
            <a:r>
              <a:rPr lang="en-US" sz="2400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</a:p>
          <a:p>
            <a:pPr marL="1258032" lvl="3" indent="0">
              <a:lnSpc>
                <a:spcPct val="84000"/>
              </a:lnSpc>
              <a:spcBef>
                <a:spcPts val="0"/>
              </a:spcBef>
              <a:buNone/>
            </a:pPr>
            <a:r>
              <a:rPr lang="en-US" sz="2400" b="1" dirty="0">
                <a:solidFill>
                  <a:srgbClr val="7030A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100</a:t>
            </a:r>
          </a:p>
          <a:p>
            <a:pPr marL="1258032" lvl="3" indent="0">
              <a:lnSpc>
                <a:spcPct val="84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r>
              <a:rPr lang="en-US" sz="2400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 smtClean="0">
                <a:latin typeface="Lucida Console" panose="020B0609040504020204" pitchFamily="49" charset="0"/>
                <a:cs typeface="Courier New" panose="02070309020205020404" pitchFamily="49" charset="0"/>
              </a:rPr>
              <a:t># </a:t>
            </a:r>
            <a:r>
              <a:rPr lang="en-US" sz="2400" b="1" dirty="0">
                <a:solidFill>
                  <a:srgbClr val="0066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sz="2400" b="1" dirty="0" smtClean="0">
                <a:solidFill>
                  <a:srgbClr val="0066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50)*2</a:t>
            </a:r>
            <a:r>
              <a:rPr lang="en-US" sz="2400" dirty="0" smtClean="0">
                <a:latin typeface="Lucida Console" panose="020B0609040504020204" pitchFamily="49" charset="0"/>
                <a:cs typeface="Courier New" panose="02070309020205020404" pitchFamily="49" charset="0"/>
              </a:rPr>
              <a:t> == </a:t>
            </a:r>
            <a:r>
              <a:rPr lang="en-US" sz="2400" b="1" dirty="0" smtClean="0">
                <a:solidFill>
                  <a:srgbClr val="7030A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100</a:t>
            </a:r>
            <a:r>
              <a:rPr lang="en-US" sz="2400" dirty="0" smtClean="0">
                <a:latin typeface="Lucida Console" panose="020B0609040504020204" pitchFamily="49" charset="0"/>
                <a:cs typeface="Courier New" panose="02070309020205020404" pitchFamily="49" charset="0"/>
              </a:rPr>
              <a:t> tells us </a:t>
            </a:r>
            <a:r>
              <a:rPr lang="en-US" sz="2400" b="1" dirty="0" smtClean="0">
                <a:solidFill>
                  <a:srgbClr val="0070C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sz="2400" dirty="0" smtClean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50</a:t>
            </a:r>
            <a:r>
              <a:rPr lang="en-US" sz="2400" b="1" dirty="0" smtClean="0">
                <a:solidFill>
                  <a:srgbClr val="0070C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  <a:r>
              <a:rPr lang="en-US" sz="2400" dirty="0" smtClean="0">
                <a:latin typeface="Lucida Console" panose="020B0609040504020204" pitchFamily="49" charset="0"/>
                <a:cs typeface="Courier New" panose="02070309020205020404" pitchFamily="49" charset="0"/>
              </a:rPr>
              <a:t> is </a:t>
            </a:r>
            <a:r>
              <a:rPr lang="en-US" sz="2400" dirty="0">
                <a:latin typeface="Lucida Console" panose="020B0609040504020204" pitchFamily="49" charset="0"/>
                <a:cs typeface="Courier New" panose="02070309020205020404" pitchFamily="49" charset="0"/>
              </a:rPr>
              <a:t>a </a:t>
            </a:r>
            <a:r>
              <a:rPr lang="en-US" sz="2400" dirty="0" smtClean="0">
                <a:latin typeface="Lucida Console" panose="020B0609040504020204" pitchFamily="49" charset="0"/>
                <a:cs typeface="Courier New" panose="02070309020205020404" pitchFamily="49" charset="0"/>
              </a:rPr>
              <a:t>number</a:t>
            </a:r>
            <a:endParaRPr lang="en-US" altLang="zh-TW" sz="2400" dirty="0">
              <a:latin typeface="Lucida Console" panose="020B0609040504020204" pitchFamily="49" charset="0"/>
              <a:cs typeface="Courier New" panose="02070309020205020404" pitchFamily="49" charset="0"/>
            </a:endParaRPr>
          </a:p>
        </p:txBody>
      </p:sp>
      <p:sp>
        <p:nvSpPr>
          <p:cNvPr id="11266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 smtClean="0">
                <a:solidFill>
                  <a:srgbClr val="0070C0"/>
                </a:solidFill>
              </a:rPr>
              <a:t>Creating Singleton Tuples</a:t>
            </a:r>
            <a:endParaRPr lang="en-US" sz="4400" dirty="0">
              <a:solidFill>
                <a:srgbClr val="0070C0"/>
              </a:solidFill>
            </a:endParaRP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175256" y="1012724"/>
            <a:ext cx="9554531" cy="18189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436" indent="-182436" algn="l" defTabSz="729742" rtl="0" eaLnBrk="1" latinLnBrk="0" hangingPunct="1">
              <a:lnSpc>
                <a:spcPct val="90000"/>
              </a:lnSpc>
              <a:spcBef>
                <a:spcPts val="798"/>
              </a:spcBef>
              <a:buFont typeface="Arial" panose="020B0604020202020204" pitchFamily="34" charset="0"/>
              <a:buChar char="•"/>
              <a:defRPr sz="31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7307" indent="-182436" algn="l" defTabSz="729742" rtl="0" eaLnBrk="1" latinLnBrk="0" hangingPunct="1">
              <a:lnSpc>
                <a:spcPct val="90000"/>
              </a:lnSpc>
              <a:spcBef>
                <a:spcPts val="399"/>
              </a:spcBef>
              <a:buFont typeface="Arial" panose="020B0604020202020204" pitchFamily="34" charset="0"/>
              <a:buChar char="•"/>
              <a:defRPr sz="28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2177" indent="-182436" algn="l" defTabSz="729742" rtl="0" eaLnBrk="1" latinLnBrk="0" hangingPunct="1">
              <a:lnSpc>
                <a:spcPct val="90000"/>
              </a:lnSpc>
              <a:spcBef>
                <a:spcPts val="399"/>
              </a:spcBef>
              <a:buFont typeface="Arial" panose="020B0604020202020204" pitchFamily="34" charset="0"/>
              <a:buChar char="•"/>
              <a:defRPr sz="25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77049" indent="-182436" algn="l" defTabSz="729742" rtl="0" eaLnBrk="1" latinLnBrk="0" hangingPunct="1">
              <a:lnSpc>
                <a:spcPct val="90000"/>
              </a:lnSpc>
              <a:spcBef>
                <a:spcPts val="399"/>
              </a:spcBef>
              <a:buFont typeface="Arial" panose="020B0604020202020204" pitchFamily="34" charset="0"/>
              <a:buChar char="•"/>
              <a:defRPr sz="22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41920" indent="-182436" algn="l" defTabSz="729742" rtl="0" eaLnBrk="1" latinLnBrk="0" hangingPunct="1">
              <a:lnSpc>
                <a:spcPct val="90000"/>
              </a:lnSpc>
              <a:spcBef>
                <a:spcPts val="399"/>
              </a:spcBef>
              <a:buFont typeface="Arial" panose="020B0604020202020204" pitchFamily="34" charset="0"/>
              <a:buChar char="•"/>
              <a:defRPr sz="22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06790" indent="-182436" algn="l" defTabSz="729742" rtl="0" eaLnBrk="1" latinLnBrk="0" hangingPunct="1">
              <a:lnSpc>
                <a:spcPct val="90000"/>
              </a:lnSpc>
              <a:spcBef>
                <a:spcPts val="399"/>
              </a:spcBef>
              <a:buFont typeface="Arial" panose="020B0604020202020204" pitchFamily="34" charset="0"/>
              <a:buChar char="•"/>
              <a:defRPr sz="14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1662" indent="-182436" algn="l" defTabSz="729742" rtl="0" eaLnBrk="1" latinLnBrk="0" hangingPunct="1">
              <a:lnSpc>
                <a:spcPct val="90000"/>
              </a:lnSpc>
              <a:spcBef>
                <a:spcPts val="399"/>
              </a:spcBef>
              <a:buFont typeface="Arial" panose="020B0604020202020204" pitchFamily="34" charset="0"/>
              <a:buChar char="•"/>
              <a:defRPr sz="14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36533" indent="-182436" algn="l" defTabSz="729742" rtl="0" eaLnBrk="1" latinLnBrk="0" hangingPunct="1">
              <a:lnSpc>
                <a:spcPct val="90000"/>
              </a:lnSpc>
              <a:spcBef>
                <a:spcPts val="399"/>
              </a:spcBef>
              <a:buFont typeface="Arial" panose="020B0604020202020204" pitchFamily="34" charset="0"/>
              <a:buChar char="•"/>
              <a:defRPr sz="14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1404" indent="-182436" algn="l" defTabSz="729742" rtl="0" eaLnBrk="1" latinLnBrk="0" hangingPunct="1">
              <a:lnSpc>
                <a:spcPct val="90000"/>
              </a:lnSpc>
              <a:spcBef>
                <a:spcPts val="399"/>
              </a:spcBef>
              <a:buFont typeface="Arial" panose="020B0604020202020204" pitchFamily="34" charset="0"/>
              <a:buChar char="•"/>
              <a:defRPr sz="14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600" dirty="0" smtClean="0"/>
              <a:t>You can create a tuple with any number of entries, including zero:</a:t>
            </a:r>
          </a:p>
          <a:p>
            <a:pPr lvl="1">
              <a:buFontTx/>
              <a:buNone/>
            </a:pPr>
            <a:r>
              <a:rPr lang="en-US" sz="2600" dirty="0" smtClean="0">
                <a:latin typeface="Lucida Console" panose="020B0609040504020204" pitchFamily="49" charset="0"/>
                <a:cs typeface="Courier New" pitchFamily="49" charset="0"/>
              </a:rPr>
              <a:t>tup1=</a:t>
            </a:r>
            <a:r>
              <a:rPr lang="en-US" sz="2600" b="1" dirty="0" smtClean="0">
                <a:solidFill>
                  <a:srgbClr val="7030A0"/>
                </a:solidFill>
                <a:latin typeface="Lucida Console" panose="020B0609040504020204" pitchFamily="49" charset="0"/>
                <a:cs typeface="Courier New" pitchFamily="49" charset="0"/>
              </a:rPr>
              <a:t>(</a:t>
            </a:r>
            <a:r>
              <a:rPr lang="en-US" sz="2600" dirty="0" smtClean="0">
                <a:latin typeface="Lucida Console" panose="020B0609040504020204" pitchFamily="49" charset="0"/>
                <a:cs typeface="Courier New" pitchFamily="49" charset="0"/>
              </a:rPr>
              <a:t>'phys','chem',2017,2019</a:t>
            </a:r>
            <a:r>
              <a:rPr lang="en-US" sz="2600" b="1" dirty="0" smtClean="0">
                <a:solidFill>
                  <a:srgbClr val="7030A0"/>
                </a:solidFill>
                <a:latin typeface="Lucida Console" panose="020B0609040504020204" pitchFamily="49" charset="0"/>
                <a:cs typeface="Courier New" pitchFamily="49" charset="0"/>
              </a:rPr>
              <a:t>)</a:t>
            </a:r>
            <a:r>
              <a:rPr lang="en-US" sz="2600" dirty="0" smtClean="0">
                <a:latin typeface="Lucida Console" panose="020B0609040504020204" pitchFamily="49" charset="0"/>
                <a:cs typeface="Courier New" pitchFamily="49" charset="0"/>
              </a:rPr>
              <a:t>; tup2=</a:t>
            </a:r>
            <a:r>
              <a:rPr lang="en-US" sz="2600" b="1" dirty="0" smtClean="0">
                <a:solidFill>
                  <a:srgbClr val="7030A0"/>
                </a:solidFill>
                <a:latin typeface="Lucida Console" panose="020B0609040504020204" pitchFamily="49" charset="0"/>
                <a:cs typeface="Courier New" pitchFamily="49" charset="0"/>
              </a:rPr>
              <a:t>()</a:t>
            </a:r>
            <a:endParaRPr lang="en-US" sz="2600" dirty="0" smtClean="0">
              <a:latin typeface="Lucida Console" panose="020B0609040504020204" pitchFamily="49" charset="0"/>
              <a:cs typeface="Courier New" pitchFamily="49" charset="0"/>
            </a:endParaRPr>
          </a:p>
          <a:p>
            <a:pPr>
              <a:spcBef>
                <a:spcPts val="1200"/>
              </a:spcBef>
            </a:pPr>
            <a:r>
              <a:rPr lang="en-US" sz="2600" dirty="0"/>
              <a:t>But a tuple</a:t>
            </a:r>
            <a:r>
              <a:rPr lang="en-US" sz="2400" dirty="0"/>
              <a:t> </a:t>
            </a:r>
            <a:r>
              <a:rPr lang="en-US" sz="2600" dirty="0"/>
              <a:t>with</a:t>
            </a:r>
            <a:r>
              <a:rPr lang="en-US" sz="2400" dirty="0"/>
              <a:t> </a:t>
            </a:r>
            <a:r>
              <a:rPr lang="en-US" sz="2600" dirty="0"/>
              <a:t>one</a:t>
            </a:r>
            <a:r>
              <a:rPr lang="en-US" sz="2400" dirty="0"/>
              <a:t> </a:t>
            </a:r>
            <a:r>
              <a:rPr lang="en-US" sz="2600" spc="-50" dirty="0"/>
              <a:t>v</a:t>
            </a:r>
            <a:r>
              <a:rPr lang="en-US" sz="2600" dirty="0"/>
              <a:t>alue</a:t>
            </a:r>
            <a:r>
              <a:rPr lang="en-US" sz="2400" dirty="0"/>
              <a:t> </a:t>
            </a:r>
            <a:r>
              <a:rPr lang="en-US" sz="2600" spc="-100" dirty="0"/>
              <a:t>(</a:t>
            </a:r>
            <a:r>
              <a:rPr lang="en-US" sz="2600" dirty="0"/>
              <a:t>mathematicall</a:t>
            </a:r>
            <a:r>
              <a:rPr lang="en-US" sz="2600" spc="-100" dirty="0"/>
              <a:t>y</a:t>
            </a:r>
            <a:r>
              <a:rPr lang="en-US" sz="2600" dirty="0"/>
              <a:t>,</a:t>
            </a:r>
            <a:r>
              <a:rPr lang="en-US" sz="2400" dirty="0"/>
              <a:t> </a:t>
            </a:r>
            <a:r>
              <a:rPr lang="en-US" sz="2600" dirty="0"/>
              <a:t>this is called a</a:t>
            </a:r>
            <a:r>
              <a:rPr lang="en-US" sz="2400" dirty="0"/>
              <a:t> </a:t>
            </a:r>
            <a:r>
              <a:rPr lang="en-US" sz="2600" i="1" dirty="0">
                <a:solidFill>
                  <a:srgbClr val="008000"/>
                </a:solidFill>
              </a:rPr>
              <a:t>singleto</a:t>
            </a:r>
            <a:r>
              <a:rPr lang="en-US" sz="2600" i="1" spc="-100" dirty="0">
                <a:solidFill>
                  <a:srgbClr val="008000"/>
                </a:solidFill>
              </a:rPr>
              <a:t>n</a:t>
            </a:r>
            <a:r>
              <a:rPr lang="en-US" sz="2600" dirty="0"/>
              <a:t>)</a:t>
            </a:r>
            <a:r>
              <a:rPr lang="en-US" sz="2600" dirty="0">
                <a:solidFill>
                  <a:srgbClr val="FF0000"/>
                </a:solidFill>
              </a:rPr>
              <a:t> </a:t>
            </a:r>
            <a:r>
              <a:rPr lang="en-US" sz="2600" dirty="0" smtClean="0"/>
              <a:t>has a problem, because numerical expressions use parentheses too: </a:t>
            </a:r>
          </a:p>
        </p:txBody>
      </p:sp>
    </p:spTree>
    <p:extLst>
      <p:ext uri="{BB962C8B-B14F-4D97-AF65-F5344CB8AC3E}">
        <p14:creationId xmlns:p14="http://schemas.microsoft.com/office/powerpoint/2010/main" val="2659190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Content Placeholder 2"/>
          <p:cNvSpPr>
            <a:spLocks noGrp="1"/>
          </p:cNvSpPr>
          <p:nvPr>
            <p:ph idx="1"/>
          </p:nvPr>
        </p:nvSpPr>
        <p:spPr>
          <a:xfrm>
            <a:off x="-198369" y="2644877"/>
            <a:ext cx="9928155" cy="4218039"/>
          </a:xfrm>
        </p:spPr>
        <p:txBody>
          <a:bodyPr>
            <a:normAutofit/>
          </a:bodyPr>
          <a:lstStyle/>
          <a:p>
            <a:pPr marL="419344" lvl="1" indent="0">
              <a:buNone/>
            </a:pPr>
            <a:r>
              <a:rPr lang="en-US" sz="2000" dirty="0"/>
              <a:t>	</a:t>
            </a:r>
            <a:r>
              <a:rPr lang="en-US" sz="2400" dirty="0">
                <a:latin typeface="Lucida Console" panose="020B0609040504020204" pitchFamily="49" charset="0"/>
                <a:cs typeface="Courier New" panose="02070309020205020404" pitchFamily="49" charset="0"/>
              </a:rPr>
              <a:t>x = </a:t>
            </a:r>
            <a:r>
              <a:rPr lang="en-US" sz="2400" b="1" dirty="0" smtClean="0">
                <a:solidFill>
                  <a:srgbClr val="0070C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sz="2400" dirty="0" smtClean="0">
                <a:latin typeface="Lucida Console" panose="020B0609040504020204" pitchFamily="49" charset="0"/>
                <a:cs typeface="Courier New" panose="02070309020205020404" pitchFamily="49" charset="0"/>
              </a:rPr>
              <a:t>2+3*</a:t>
            </a:r>
            <a:r>
              <a:rPr lang="en-US" sz="2400" b="1" dirty="0" smtClean="0">
                <a:solidFill>
                  <a:srgbClr val="0070C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sz="2400" dirty="0" smtClean="0">
                <a:latin typeface="Lucida Console" panose="020B0609040504020204" pitchFamily="49" charset="0"/>
                <a:cs typeface="Courier New" panose="02070309020205020404" pitchFamily="49" charset="0"/>
              </a:rPr>
              <a:t>4+1</a:t>
            </a:r>
            <a:r>
              <a:rPr lang="en-US" sz="2400" b="1" dirty="0">
                <a:solidFill>
                  <a:srgbClr val="0070C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))</a:t>
            </a:r>
          </a:p>
          <a:p>
            <a:pPr lvl="2"/>
            <a:r>
              <a:rPr lang="en-US" sz="2400" dirty="0"/>
              <a:t>But an expression can be as simple as just a number:</a:t>
            </a:r>
          </a:p>
          <a:p>
            <a:pPr marL="1258032" lvl="3" indent="0">
              <a:lnSpc>
                <a:spcPct val="84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r>
              <a:rPr lang="en-US" sz="2400" dirty="0">
                <a:latin typeface="Lucida Console" panose="020B0609040504020204" pitchFamily="49" charset="0"/>
                <a:cs typeface="Courier New" panose="02070309020205020404" pitchFamily="49" charset="0"/>
              </a:rPr>
              <a:t> x = </a:t>
            </a:r>
            <a:r>
              <a:rPr lang="en-US" sz="2400" b="1" dirty="0" smtClean="0">
                <a:solidFill>
                  <a:srgbClr val="0070C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sz="2400" dirty="0" smtClean="0">
                <a:latin typeface="Lucida Console" panose="020B0609040504020204" pitchFamily="49" charset="0"/>
                <a:cs typeface="Courier New" panose="02070309020205020404" pitchFamily="49" charset="0"/>
              </a:rPr>
              <a:t>50</a:t>
            </a:r>
            <a:r>
              <a:rPr lang="en-US" sz="2400" b="1" dirty="0">
                <a:solidFill>
                  <a:srgbClr val="0070C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;</a:t>
            </a:r>
            <a:r>
              <a:rPr lang="en-US" sz="2400" dirty="0">
                <a:latin typeface="Lucida Console" panose="020B0609040504020204" pitchFamily="49" charset="0"/>
                <a:cs typeface="Courier New" panose="02070309020205020404" pitchFamily="49" charset="0"/>
              </a:rPr>
              <a:t> print (x*2)</a:t>
            </a:r>
          </a:p>
          <a:p>
            <a:pPr marL="1258032" lvl="3" indent="0">
              <a:lnSpc>
                <a:spcPct val="84000"/>
              </a:lnSpc>
              <a:spcBef>
                <a:spcPts val="0"/>
              </a:spcBef>
              <a:buNone/>
            </a:pPr>
            <a:r>
              <a:rPr lang="en-US" sz="2400" dirty="0">
                <a:latin typeface="Lucida Console" panose="020B0609040504020204" pitchFamily="49" charset="0"/>
                <a:cs typeface="Courier New" panose="02070309020205020404" pitchFamily="49" charset="0"/>
              </a:rPr>
              <a:t>100</a:t>
            </a:r>
          </a:p>
          <a:p>
            <a:pPr marL="1258032" lvl="3" indent="0">
              <a:lnSpc>
                <a:spcPct val="84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r>
              <a:rPr lang="en-US" sz="2400" dirty="0">
                <a:latin typeface="Lucida Console" panose="020B0609040504020204" pitchFamily="49" charset="0"/>
                <a:cs typeface="Courier New" panose="02070309020205020404" pitchFamily="49" charset="0"/>
              </a:rPr>
              <a:t> # (50)*2 == 100 tells us (50) is a number</a:t>
            </a:r>
            <a:endParaRPr lang="en-US" altLang="zh-TW" sz="2400" dirty="0"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lvl="2"/>
            <a:r>
              <a:rPr lang="en-US" altLang="zh-TW" sz="2400" dirty="0">
                <a:solidFill>
                  <a:srgbClr val="FF0000"/>
                </a:solidFill>
              </a:rPr>
              <a:t>The solution is for tuple singletons to use a comma at the end:</a:t>
            </a:r>
          </a:p>
          <a:p>
            <a:pPr marL="1258032" lvl="3" indent="0">
              <a:lnSpc>
                <a:spcPct val="84000"/>
              </a:lnSpc>
              <a:spcBef>
                <a:spcPts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r>
              <a:rPr lang="en-US" altLang="zh-TW" sz="2400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x = </a:t>
            </a:r>
            <a:r>
              <a:rPr lang="en-US" altLang="zh-TW" sz="2400" b="1" dirty="0">
                <a:solidFill>
                  <a:srgbClr val="7030A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zh-TW" sz="2400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50</a:t>
            </a:r>
            <a:r>
              <a:rPr lang="en-US" altLang="zh-TW" sz="2400" b="1" dirty="0">
                <a:solidFill>
                  <a:srgbClr val="7030A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,)</a:t>
            </a:r>
            <a:r>
              <a:rPr lang="en-US" altLang="zh-TW" sz="2400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; print (x*2)</a:t>
            </a:r>
          </a:p>
          <a:p>
            <a:pPr marL="1258032" lvl="3" indent="0">
              <a:lnSpc>
                <a:spcPct val="84000"/>
              </a:lnSpc>
              <a:spcBef>
                <a:spcPts val="0"/>
              </a:spcBef>
              <a:buNone/>
            </a:pPr>
            <a:r>
              <a:rPr lang="en-US" altLang="zh-TW" sz="2400" b="1" dirty="0">
                <a:solidFill>
                  <a:srgbClr val="7030A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zh-TW" sz="2400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50, 50</a:t>
            </a:r>
            <a:r>
              <a:rPr lang="en-US" altLang="zh-TW" sz="2400" b="1" dirty="0">
                <a:solidFill>
                  <a:srgbClr val="7030A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</a:p>
          <a:p>
            <a:pPr marL="1258032" lvl="3" indent="0">
              <a:lnSpc>
                <a:spcPct val="84000"/>
              </a:lnSpc>
              <a:spcBef>
                <a:spcPts val="0"/>
              </a:spcBef>
              <a:buNone/>
            </a:pPr>
            <a:r>
              <a:rPr lang="en-US" altLang="zh-TW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 </a:t>
            </a:r>
            <a:r>
              <a:rPr lang="en-US" sz="2400" dirty="0">
                <a:latin typeface="Lucida Console" panose="020B0609040504020204" pitchFamily="49" charset="0"/>
                <a:cs typeface="Courier New" panose="02070309020205020404" pitchFamily="49" charset="0"/>
              </a:rPr>
              <a:t># Clearly (50,) was treated like a </a:t>
            </a:r>
            <a:r>
              <a:rPr lang="en-US" sz="2400" dirty="0" smtClean="0">
                <a:latin typeface="Lucida Console" panose="020B0609040504020204" pitchFamily="49" charset="0"/>
                <a:cs typeface="Courier New" panose="02070309020205020404" pitchFamily="49" charset="0"/>
              </a:rPr>
              <a:t>tuple</a:t>
            </a:r>
            <a:endParaRPr lang="en-US" sz="2400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</p:txBody>
      </p:sp>
      <p:sp>
        <p:nvSpPr>
          <p:cNvPr id="11266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 smtClean="0">
                <a:solidFill>
                  <a:srgbClr val="0070C0"/>
                </a:solidFill>
              </a:rPr>
              <a:t>Creating Singleton Tuples</a:t>
            </a:r>
            <a:endParaRPr lang="en-US" sz="4400" dirty="0">
              <a:solidFill>
                <a:srgbClr val="0070C0"/>
              </a:solidFill>
            </a:endParaRP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175256" y="1012724"/>
            <a:ext cx="9554531" cy="18189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436" indent="-182436" algn="l" defTabSz="729742" rtl="0" eaLnBrk="1" latinLnBrk="0" hangingPunct="1">
              <a:lnSpc>
                <a:spcPct val="90000"/>
              </a:lnSpc>
              <a:spcBef>
                <a:spcPts val="798"/>
              </a:spcBef>
              <a:buFont typeface="Arial" panose="020B0604020202020204" pitchFamily="34" charset="0"/>
              <a:buChar char="•"/>
              <a:defRPr sz="31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7307" indent="-182436" algn="l" defTabSz="729742" rtl="0" eaLnBrk="1" latinLnBrk="0" hangingPunct="1">
              <a:lnSpc>
                <a:spcPct val="90000"/>
              </a:lnSpc>
              <a:spcBef>
                <a:spcPts val="399"/>
              </a:spcBef>
              <a:buFont typeface="Arial" panose="020B0604020202020204" pitchFamily="34" charset="0"/>
              <a:buChar char="•"/>
              <a:defRPr sz="28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2177" indent="-182436" algn="l" defTabSz="729742" rtl="0" eaLnBrk="1" latinLnBrk="0" hangingPunct="1">
              <a:lnSpc>
                <a:spcPct val="90000"/>
              </a:lnSpc>
              <a:spcBef>
                <a:spcPts val="399"/>
              </a:spcBef>
              <a:buFont typeface="Arial" panose="020B0604020202020204" pitchFamily="34" charset="0"/>
              <a:buChar char="•"/>
              <a:defRPr sz="25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77049" indent="-182436" algn="l" defTabSz="729742" rtl="0" eaLnBrk="1" latinLnBrk="0" hangingPunct="1">
              <a:lnSpc>
                <a:spcPct val="90000"/>
              </a:lnSpc>
              <a:spcBef>
                <a:spcPts val="399"/>
              </a:spcBef>
              <a:buFont typeface="Arial" panose="020B0604020202020204" pitchFamily="34" charset="0"/>
              <a:buChar char="•"/>
              <a:defRPr sz="22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41920" indent="-182436" algn="l" defTabSz="729742" rtl="0" eaLnBrk="1" latinLnBrk="0" hangingPunct="1">
              <a:lnSpc>
                <a:spcPct val="90000"/>
              </a:lnSpc>
              <a:spcBef>
                <a:spcPts val="399"/>
              </a:spcBef>
              <a:buFont typeface="Arial" panose="020B0604020202020204" pitchFamily="34" charset="0"/>
              <a:buChar char="•"/>
              <a:defRPr sz="22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06790" indent="-182436" algn="l" defTabSz="729742" rtl="0" eaLnBrk="1" latinLnBrk="0" hangingPunct="1">
              <a:lnSpc>
                <a:spcPct val="90000"/>
              </a:lnSpc>
              <a:spcBef>
                <a:spcPts val="399"/>
              </a:spcBef>
              <a:buFont typeface="Arial" panose="020B0604020202020204" pitchFamily="34" charset="0"/>
              <a:buChar char="•"/>
              <a:defRPr sz="14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1662" indent="-182436" algn="l" defTabSz="729742" rtl="0" eaLnBrk="1" latinLnBrk="0" hangingPunct="1">
              <a:lnSpc>
                <a:spcPct val="90000"/>
              </a:lnSpc>
              <a:spcBef>
                <a:spcPts val="399"/>
              </a:spcBef>
              <a:buFont typeface="Arial" panose="020B0604020202020204" pitchFamily="34" charset="0"/>
              <a:buChar char="•"/>
              <a:defRPr sz="14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36533" indent="-182436" algn="l" defTabSz="729742" rtl="0" eaLnBrk="1" latinLnBrk="0" hangingPunct="1">
              <a:lnSpc>
                <a:spcPct val="90000"/>
              </a:lnSpc>
              <a:spcBef>
                <a:spcPts val="399"/>
              </a:spcBef>
              <a:buFont typeface="Arial" panose="020B0604020202020204" pitchFamily="34" charset="0"/>
              <a:buChar char="•"/>
              <a:defRPr sz="14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1404" indent="-182436" algn="l" defTabSz="729742" rtl="0" eaLnBrk="1" latinLnBrk="0" hangingPunct="1">
              <a:lnSpc>
                <a:spcPct val="90000"/>
              </a:lnSpc>
              <a:spcBef>
                <a:spcPts val="399"/>
              </a:spcBef>
              <a:buFont typeface="Arial" panose="020B0604020202020204" pitchFamily="34" charset="0"/>
              <a:buChar char="•"/>
              <a:defRPr sz="14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600" dirty="0" smtClean="0"/>
              <a:t>You can create a tuple with any number of entries, including zero:</a:t>
            </a:r>
          </a:p>
          <a:p>
            <a:pPr lvl="1">
              <a:buFontTx/>
              <a:buNone/>
            </a:pPr>
            <a:r>
              <a:rPr lang="en-US" sz="2600" dirty="0" smtClean="0">
                <a:latin typeface="Lucida Console" panose="020B0609040504020204" pitchFamily="49" charset="0"/>
                <a:cs typeface="Courier New" pitchFamily="49" charset="0"/>
              </a:rPr>
              <a:t>tup1=</a:t>
            </a:r>
            <a:r>
              <a:rPr lang="en-US" sz="2600" b="1" dirty="0" smtClean="0">
                <a:solidFill>
                  <a:srgbClr val="7030A0"/>
                </a:solidFill>
                <a:latin typeface="Lucida Console" panose="020B0609040504020204" pitchFamily="49" charset="0"/>
                <a:cs typeface="Courier New" pitchFamily="49" charset="0"/>
              </a:rPr>
              <a:t>(</a:t>
            </a:r>
            <a:r>
              <a:rPr lang="en-US" sz="2600" dirty="0" smtClean="0">
                <a:latin typeface="Lucida Console" panose="020B0609040504020204" pitchFamily="49" charset="0"/>
                <a:cs typeface="Courier New" pitchFamily="49" charset="0"/>
              </a:rPr>
              <a:t>'phys','chem',2017,2019</a:t>
            </a:r>
            <a:r>
              <a:rPr lang="en-US" sz="2600" b="1" dirty="0" smtClean="0">
                <a:solidFill>
                  <a:srgbClr val="7030A0"/>
                </a:solidFill>
                <a:latin typeface="Lucida Console" panose="020B0609040504020204" pitchFamily="49" charset="0"/>
                <a:cs typeface="Courier New" pitchFamily="49" charset="0"/>
              </a:rPr>
              <a:t>)</a:t>
            </a:r>
            <a:r>
              <a:rPr lang="en-US" sz="2600" dirty="0" smtClean="0">
                <a:latin typeface="Lucida Console" panose="020B0609040504020204" pitchFamily="49" charset="0"/>
                <a:cs typeface="Courier New" pitchFamily="49" charset="0"/>
              </a:rPr>
              <a:t>; tup2=</a:t>
            </a:r>
            <a:r>
              <a:rPr lang="en-US" sz="2600" b="1" dirty="0" smtClean="0">
                <a:solidFill>
                  <a:srgbClr val="7030A0"/>
                </a:solidFill>
                <a:latin typeface="Lucida Console" panose="020B0609040504020204" pitchFamily="49" charset="0"/>
                <a:cs typeface="Courier New" pitchFamily="49" charset="0"/>
              </a:rPr>
              <a:t>()</a:t>
            </a:r>
            <a:endParaRPr lang="en-US" sz="2600" dirty="0" smtClean="0">
              <a:latin typeface="Lucida Console" panose="020B0609040504020204" pitchFamily="49" charset="0"/>
              <a:cs typeface="Courier New" pitchFamily="49" charset="0"/>
            </a:endParaRPr>
          </a:p>
          <a:p>
            <a:pPr>
              <a:spcBef>
                <a:spcPts val="1200"/>
              </a:spcBef>
            </a:pPr>
            <a:r>
              <a:rPr lang="en-US" sz="2600" dirty="0"/>
              <a:t>But a tuple</a:t>
            </a:r>
            <a:r>
              <a:rPr lang="en-US" sz="2400" dirty="0"/>
              <a:t> </a:t>
            </a:r>
            <a:r>
              <a:rPr lang="en-US" sz="2600" dirty="0"/>
              <a:t>with</a:t>
            </a:r>
            <a:r>
              <a:rPr lang="en-US" sz="2400" dirty="0"/>
              <a:t> </a:t>
            </a:r>
            <a:r>
              <a:rPr lang="en-US" sz="2600" dirty="0"/>
              <a:t>one</a:t>
            </a:r>
            <a:r>
              <a:rPr lang="en-US" sz="2400" dirty="0"/>
              <a:t> </a:t>
            </a:r>
            <a:r>
              <a:rPr lang="en-US" sz="2600" spc="-50" dirty="0"/>
              <a:t>v</a:t>
            </a:r>
            <a:r>
              <a:rPr lang="en-US" sz="2600" dirty="0"/>
              <a:t>alue</a:t>
            </a:r>
            <a:r>
              <a:rPr lang="en-US" sz="2400" dirty="0"/>
              <a:t> </a:t>
            </a:r>
            <a:r>
              <a:rPr lang="en-US" sz="2600" spc="-100" dirty="0"/>
              <a:t>(</a:t>
            </a:r>
            <a:r>
              <a:rPr lang="en-US" sz="2600" dirty="0"/>
              <a:t>mathematicall</a:t>
            </a:r>
            <a:r>
              <a:rPr lang="en-US" sz="2600" spc="-100" dirty="0"/>
              <a:t>y</a:t>
            </a:r>
            <a:r>
              <a:rPr lang="en-US" sz="2600" dirty="0"/>
              <a:t>,</a:t>
            </a:r>
            <a:r>
              <a:rPr lang="en-US" sz="2400" dirty="0"/>
              <a:t> </a:t>
            </a:r>
            <a:r>
              <a:rPr lang="en-US" sz="2600" dirty="0"/>
              <a:t>this is called a</a:t>
            </a:r>
            <a:r>
              <a:rPr lang="en-US" sz="2400" dirty="0"/>
              <a:t> </a:t>
            </a:r>
            <a:r>
              <a:rPr lang="en-US" sz="2600" i="1" dirty="0">
                <a:solidFill>
                  <a:srgbClr val="008000"/>
                </a:solidFill>
              </a:rPr>
              <a:t>singleto</a:t>
            </a:r>
            <a:r>
              <a:rPr lang="en-US" sz="2600" i="1" spc="-100" dirty="0">
                <a:solidFill>
                  <a:srgbClr val="008000"/>
                </a:solidFill>
              </a:rPr>
              <a:t>n</a:t>
            </a:r>
            <a:r>
              <a:rPr lang="en-US" sz="2600" dirty="0"/>
              <a:t>)</a:t>
            </a:r>
            <a:r>
              <a:rPr lang="en-US" sz="2600" dirty="0">
                <a:solidFill>
                  <a:srgbClr val="FF0000"/>
                </a:solidFill>
              </a:rPr>
              <a:t> </a:t>
            </a:r>
            <a:r>
              <a:rPr lang="en-US" sz="2600" dirty="0" smtClean="0"/>
              <a:t>has a problem, because numerical expressions use parentheses too: </a:t>
            </a:r>
          </a:p>
        </p:txBody>
      </p:sp>
    </p:spTree>
    <p:extLst>
      <p:ext uri="{BB962C8B-B14F-4D97-AF65-F5344CB8AC3E}">
        <p14:creationId xmlns:p14="http://schemas.microsoft.com/office/powerpoint/2010/main" val="3513383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1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11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112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112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Content Placeholder 2"/>
          <p:cNvSpPr>
            <a:spLocks noGrp="1"/>
          </p:cNvSpPr>
          <p:nvPr>
            <p:ph idx="1"/>
          </p:nvPr>
        </p:nvSpPr>
        <p:spPr>
          <a:xfrm>
            <a:off x="-198369" y="2644877"/>
            <a:ext cx="10187943" cy="4218039"/>
          </a:xfrm>
        </p:spPr>
        <p:txBody>
          <a:bodyPr>
            <a:normAutofit fontScale="92500"/>
          </a:bodyPr>
          <a:lstStyle/>
          <a:p>
            <a:pPr marL="419344" lvl="1" indent="0">
              <a:buNone/>
            </a:pPr>
            <a:r>
              <a:rPr lang="en-US" sz="2201" dirty="0"/>
              <a:t>	</a:t>
            </a:r>
            <a:r>
              <a:rPr lang="en-US" sz="2600" dirty="0">
                <a:latin typeface="Lucida Console" panose="020B0609040504020204" pitchFamily="49" charset="0"/>
                <a:cs typeface="Courier New" panose="02070309020205020404" pitchFamily="49" charset="0"/>
              </a:rPr>
              <a:t>x = </a:t>
            </a:r>
            <a:r>
              <a:rPr lang="en-US" sz="2600" b="1" dirty="0">
                <a:solidFill>
                  <a:srgbClr val="0070C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sz="2600" dirty="0">
                <a:latin typeface="Lucida Console" panose="020B0609040504020204" pitchFamily="49" charset="0"/>
                <a:cs typeface="Courier New" panose="02070309020205020404" pitchFamily="49" charset="0"/>
              </a:rPr>
              <a:t>2+3*</a:t>
            </a:r>
            <a:r>
              <a:rPr lang="en-US" sz="2600" b="1" dirty="0">
                <a:solidFill>
                  <a:srgbClr val="0070C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sz="2600" dirty="0">
                <a:latin typeface="Lucida Console" panose="020B0609040504020204" pitchFamily="49" charset="0"/>
                <a:cs typeface="Courier New" panose="02070309020205020404" pitchFamily="49" charset="0"/>
              </a:rPr>
              <a:t>4+1</a:t>
            </a:r>
            <a:r>
              <a:rPr lang="en-US" sz="2600" b="1" dirty="0">
                <a:solidFill>
                  <a:srgbClr val="0070C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))</a:t>
            </a:r>
          </a:p>
          <a:p>
            <a:pPr lvl="2"/>
            <a:r>
              <a:rPr lang="en-US" sz="2568" dirty="0"/>
              <a:t>But an expression can be as simple as just a number:</a:t>
            </a:r>
          </a:p>
          <a:p>
            <a:pPr marL="1258032" lvl="3" indent="0">
              <a:lnSpc>
                <a:spcPct val="84000"/>
              </a:lnSpc>
              <a:spcBef>
                <a:spcPts val="0"/>
              </a:spcBef>
              <a:buNone/>
            </a:pPr>
            <a:r>
              <a:rPr lang="en-US" sz="26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r>
              <a:rPr lang="en-US" sz="2600" dirty="0">
                <a:latin typeface="Lucida Console" panose="020B0609040504020204" pitchFamily="49" charset="0"/>
                <a:cs typeface="Courier New" panose="02070309020205020404" pitchFamily="49" charset="0"/>
              </a:rPr>
              <a:t> x = </a:t>
            </a:r>
            <a:r>
              <a:rPr lang="en-US" sz="2600" b="1" dirty="0">
                <a:solidFill>
                  <a:srgbClr val="0070C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sz="2600" dirty="0">
                <a:latin typeface="Lucida Console" panose="020B0609040504020204" pitchFamily="49" charset="0"/>
                <a:cs typeface="Courier New" panose="02070309020205020404" pitchFamily="49" charset="0"/>
              </a:rPr>
              <a:t>50</a:t>
            </a:r>
            <a:r>
              <a:rPr lang="en-US" sz="2600" b="1" dirty="0">
                <a:solidFill>
                  <a:srgbClr val="0070C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  <a:r>
              <a:rPr lang="en-US" sz="2600" dirty="0">
                <a:latin typeface="Lucida Console" panose="020B0609040504020204" pitchFamily="49" charset="0"/>
                <a:cs typeface="Courier New" panose="02070309020205020404" pitchFamily="49" charset="0"/>
              </a:rPr>
              <a:t>; print (x*2)</a:t>
            </a:r>
          </a:p>
          <a:p>
            <a:pPr marL="1258032" lvl="3" indent="0">
              <a:lnSpc>
                <a:spcPct val="84000"/>
              </a:lnSpc>
              <a:spcBef>
                <a:spcPts val="0"/>
              </a:spcBef>
              <a:buNone/>
            </a:pPr>
            <a:r>
              <a:rPr lang="en-US" sz="2600" dirty="0">
                <a:latin typeface="Lucida Console" panose="020B0609040504020204" pitchFamily="49" charset="0"/>
                <a:cs typeface="Courier New" panose="02070309020205020404" pitchFamily="49" charset="0"/>
              </a:rPr>
              <a:t>100</a:t>
            </a:r>
          </a:p>
          <a:p>
            <a:pPr marL="1258032" lvl="3" indent="0">
              <a:lnSpc>
                <a:spcPct val="84000"/>
              </a:lnSpc>
              <a:spcBef>
                <a:spcPts val="0"/>
              </a:spcBef>
              <a:buNone/>
            </a:pPr>
            <a:r>
              <a:rPr lang="en-US" sz="26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r>
              <a:rPr lang="en-US" sz="2600" dirty="0">
                <a:latin typeface="Lucida Console" panose="020B0609040504020204" pitchFamily="49" charset="0"/>
                <a:cs typeface="Courier New" panose="02070309020205020404" pitchFamily="49" charset="0"/>
              </a:rPr>
              <a:t> # (50)*2 == 100 tells us (50) is a number</a:t>
            </a:r>
            <a:endParaRPr lang="en-US" altLang="zh-TW" sz="2600" dirty="0"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lvl="2"/>
            <a:r>
              <a:rPr lang="en-US" altLang="zh-TW" sz="2568" dirty="0"/>
              <a:t>The solution is for tuple singletons to use a comma at the end:</a:t>
            </a:r>
          </a:p>
          <a:p>
            <a:pPr marL="1258032" lvl="3" indent="0">
              <a:lnSpc>
                <a:spcPct val="84000"/>
              </a:lnSpc>
              <a:spcBef>
                <a:spcPts val="0"/>
              </a:spcBef>
              <a:buNone/>
            </a:pPr>
            <a:r>
              <a:rPr lang="en-US" altLang="zh-TW" sz="26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r>
              <a:rPr lang="en-US" altLang="zh-TW" sz="2600" dirty="0">
                <a:latin typeface="Lucida Console" panose="020B0609040504020204" pitchFamily="49" charset="0"/>
                <a:cs typeface="Courier New" panose="02070309020205020404" pitchFamily="49" charset="0"/>
              </a:rPr>
              <a:t> x = </a:t>
            </a:r>
            <a:r>
              <a:rPr lang="en-US" altLang="zh-TW" sz="2600" b="1" dirty="0">
                <a:solidFill>
                  <a:srgbClr val="7030A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zh-TW" sz="2600" dirty="0">
                <a:latin typeface="Lucida Console" panose="020B0609040504020204" pitchFamily="49" charset="0"/>
                <a:cs typeface="Courier New" panose="02070309020205020404" pitchFamily="49" charset="0"/>
              </a:rPr>
              <a:t>50</a:t>
            </a:r>
            <a:r>
              <a:rPr lang="en-US" altLang="zh-TW" sz="2600" b="1" dirty="0">
                <a:solidFill>
                  <a:srgbClr val="7030A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,)</a:t>
            </a:r>
            <a:r>
              <a:rPr lang="en-US" altLang="zh-TW" sz="2600" dirty="0">
                <a:latin typeface="Lucida Console" panose="020B0609040504020204" pitchFamily="49" charset="0"/>
                <a:cs typeface="Courier New" panose="02070309020205020404" pitchFamily="49" charset="0"/>
              </a:rPr>
              <a:t>; print (x*2)</a:t>
            </a:r>
          </a:p>
          <a:p>
            <a:pPr marL="1258032" lvl="3" indent="0">
              <a:lnSpc>
                <a:spcPct val="84000"/>
              </a:lnSpc>
              <a:spcBef>
                <a:spcPts val="0"/>
              </a:spcBef>
              <a:buNone/>
            </a:pPr>
            <a:r>
              <a:rPr lang="en-US" altLang="zh-TW" sz="2600" b="1" dirty="0">
                <a:solidFill>
                  <a:srgbClr val="7030A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zh-TW" sz="2600" dirty="0">
                <a:latin typeface="Lucida Console" panose="020B0609040504020204" pitchFamily="49" charset="0"/>
                <a:cs typeface="Courier New" panose="02070309020205020404" pitchFamily="49" charset="0"/>
              </a:rPr>
              <a:t>50, 50</a:t>
            </a:r>
            <a:r>
              <a:rPr lang="en-US" altLang="zh-TW" sz="2600" b="1" dirty="0">
                <a:solidFill>
                  <a:srgbClr val="7030A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</a:p>
          <a:p>
            <a:pPr marL="1258032" lvl="3" indent="0">
              <a:lnSpc>
                <a:spcPct val="84000"/>
              </a:lnSpc>
              <a:spcBef>
                <a:spcPts val="0"/>
              </a:spcBef>
              <a:buNone/>
            </a:pPr>
            <a:r>
              <a:rPr lang="en-US" altLang="zh-TW" sz="26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r>
              <a:rPr lang="en-US" sz="2600" dirty="0">
                <a:latin typeface="Lucida Console" panose="020B0609040504020204" pitchFamily="49" charset="0"/>
                <a:cs typeface="Courier New" panose="02070309020205020404" pitchFamily="49" charset="0"/>
              </a:rPr>
              <a:t> # Clearly </a:t>
            </a:r>
            <a:r>
              <a:rPr lang="en-US" sz="2600" dirty="0" smtClean="0">
                <a:latin typeface="Lucida Console" panose="020B0609040504020204" pitchFamily="49" charset="0"/>
                <a:cs typeface="Courier New" panose="02070309020205020404" pitchFamily="49" charset="0"/>
              </a:rPr>
              <a:t>(50,) </a:t>
            </a:r>
            <a:r>
              <a:rPr lang="en-US" sz="2600" dirty="0">
                <a:latin typeface="Lucida Console" panose="020B0609040504020204" pitchFamily="49" charset="0"/>
                <a:cs typeface="Courier New" panose="02070309020205020404" pitchFamily="49" charset="0"/>
              </a:rPr>
              <a:t>was treated like a </a:t>
            </a:r>
            <a:r>
              <a:rPr lang="en-US" sz="2600" dirty="0" smtClean="0">
                <a:latin typeface="Lucida Console" panose="020B0609040504020204" pitchFamily="49" charset="0"/>
                <a:cs typeface="Courier New" panose="02070309020205020404" pitchFamily="49" charset="0"/>
              </a:rPr>
              <a:t>tuple</a:t>
            </a:r>
            <a:endParaRPr lang="en-US" sz="2600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lvl="1">
              <a:spcBef>
                <a:spcPts val="1200"/>
              </a:spcBef>
            </a:pPr>
            <a:r>
              <a:rPr lang="en-US" sz="2700" b="1" dirty="0">
                <a:solidFill>
                  <a:srgbClr val="FF0000"/>
                </a:solidFill>
              </a:rPr>
              <a:t>Non-singletons</a:t>
            </a:r>
            <a:r>
              <a:rPr lang="en-US" sz="2700" dirty="0">
                <a:solidFill>
                  <a:srgbClr val="FF0000"/>
                </a:solidFill>
              </a:rPr>
              <a:t> have no problem, because </a:t>
            </a:r>
            <a:r>
              <a:rPr lang="en-US" sz="2700" spc="-100" dirty="0">
                <a:solidFill>
                  <a:srgbClr val="FF0000"/>
                </a:solidFill>
              </a:rPr>
              <a:t>“</a:t>
            </a:r>
            <a:r>
              <a:rPr lang="en-US" sz="2700" b="1" dirty="0">
                <a:solidFill>
                  <a:srgbClr val="FF0000"/>
                </a:solidFill>
              </a:rPr>
              <a:t>,</a:t>
            </a:r>
            <a:r>
              <a:rPr lang="en-US" sz="2700" dirty="0">
                <a:solidFill>
                  <a:srgbClr val="FF0000"/>
                </a:solidFill>
              </a:rPr>
              <a:t>” is</a:t>
            </a:r>
            <a:r>
              <a:rPr lang="en-US" sz="2700" spc="-100" dirty="0">
                <a:solidFill>
                  <a:srgbClr val="FF0000"/>
                </a:solidFill>
              </a:rPr>
              <a:t>n’</a:t>
            </a:r>
            <a:r>
              <a:rPr lang="en-US" sz="2700" dirty="0">
                <a:solidFill>
                  <a:srgbClr val="FF0000"/>
                </a:solidFill>
              </a:rPr>
              <a:t>t used in expressions.</a:t>
            </a:r>
          </a:p>
          <a:p>
            <a:pPr lvl="1">
              <a:spcBef>
                <a:spcPts val="1200"/>
              </a:spcBef>
            </a:pPr>
            <a:r>
              <a:rPr lang="en-US" sz="2700" b="1" u="sng" dirty="0">
                <a:solidFill>
                  <a:srgbClr val="FF0000"/>
                </a:solidFill>
              </a:rPr>
              <a:t>List</a:t>
            </a:r>
            <a:r>
              <a:rPr lang="en-US" sz="2700" dirty="0">
                <a:solidFill>
                  <a:srgbClr val="FF0000"/>
                </a:solidFill>
              </a:rPr>
              <a:t> singletons have no problem, because “</a:t>
            </a:r>
            <a:r>
              <a:rPr lang="en-US" sz="2700" b="1" dirty="0">
                <a:solidFill>
                  <a:srgbClr val="FF0000"/>
                </a:solidFill>
              </a:rPr>
              <a:t>[</a:t>
            </a:r>
            <a:r>
              <a:rPr lang="en-US" sz="2700" dirty="0">
                <a:solidFill>
                  <a:srgbClr val="FF0000"/>
                </a:solidFill>
              </a:rPr>
              <a:t>” isn’t used in expressions.</a:t>
            </a:r>
          </a:p>
        </p:txBody>
      </p:sp>
      <p:sp>
        <p:nvSpPr>
          <p:cNvPr id="11266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 smtClean="0">
                <a:solidFill>
                  <a:srgbClr val="0070C0"/>
                </a:solidFill>
              </a:rPr>
              <a:t>Creating Singleton Tuples</a:t>
            </a:r>
            <a:endParaRPr lang="en-US" sz="4400" dirty="0">
              <a:solidFill>
                <a:srgbClr val="0070C0"/>
              </a:solidFill>
            </a:endParaRP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175256" y="1012724"/>
            <a:ext cx="9554531" cy="18189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436" indent="-182436" algn="l" defTabSz="729742" rtl="0" eaLnBrk="1" latinLnBrk="0" hangingPunct="1">
              <a:lnSpc>
                <a:spcPct val="90000"/>
              </a:lnSpc>
              <a:spcBef>
                <a:spcPts val="798"/>
              </a:spcBef>
              <a:buFont typeface="Arial" panose="020B0604020202020204" pitchFamily="34" charset="0"/>
              <a:buChar char="•"/>
              <a:defRPr sz="31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7307" indent="-182436" algn="l" defTabSz="729742" rtl="0" eaLnBrk="1" latinLnBrk="0" hangingPunct="1">
              <a:lnSpc>
                <a:spcPct val="90000"/>
              </a:lnSpc>
              <a:spcBef>
                <a:spcPts val="399"/>
              </a:spcBef>
              <a:buFont typeface="Arial" panose="020B0604020202020204" pitchFamily="34" charset="0"/>
              <a:buChar char="•"/>
              <a:defRPr sz="28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2177" indent="-182436" algn="l" defTabSz="729742" rtl="0" eaLnBrk="1" latinLnBrk="0" hangingPunct="1">
              <a:lnSpc>
                <a:spcPct val="90000"/>
              </a:lnSpc>
              <a:spcBef>
                <a:spcPts val="399"/>
              </a:spcBef>
              <a:buFont typeface="Arial" panose="020B0604020202020204" pitchFamily="34" charset="0"/>
              <a:buChar char="•"/>
              <a:defRPr sz="25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77049" indent="-182436" algn="l" defTabSz="729742" rtl="0" eaLnBrk="1" latinLnBrk="0" hangingPunct="1">
              <a:lnSpc>
                <a:spcPct val="90000"/>
              </a:lnSpc>
              <a:spcBef>
                <a:spcPts val="399"/>
              </a:spcBef>
              <a:buFont typeface="Arial" panose="020B0604020202020204" pitchFamily="34" charset="0"/>
              <a:buChar char="•"/>
              <a:defRPr sz="22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41920" indent="-182436" algn="l" defTabSz="729742" rtl="0" eaLnBrk="1" latinLnBrk="0" hangingPunct="1">
              <a:lnSpc>
                <a:spcPct val="90000"/>
              </a:lnSpc>
              <a:spcBef>
                <a:spcPts val="399"/>
              </a:spcBef>
              <a:buFont typeface="Arial" panose="020B0604020202020204" pitchFamily="34" charset="0"/>
              <a:buChar char="•"/>
              <a:defRPr sz="22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06790" indent="-182436" algn="l" defTabSz="729742" rtl="0" eaLnBrk="1" latinLnBrk="0" hangingPunct="1">
              <a:lnSpc>
                <a:spcPct val="90000"/>
              </a:lnSpc>
              <a:spcBef>
                <a:spcPts val="399"/>
              </a:spcBef>
              <a:buFont typeface="Arial" panose="020B0604020202020204" pitchFamily="34" charset="0"/>
              <a:buChar char="•"/>
              <a:defRPr sz="14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1662" indent="-182436" algn="l" defTabSz="729742" rtl="0" eaLnBrk="1" latinLnBrk="0" hangingPunct="1">
              <a:lnSpc>
                <a:spcPct val="90000"/>
              </a:lnSpc>
              <a:spcBef>
                <a:spcPts val="399"/>
              </a:spcBef>
              <a:buFont typeface="Arial" panose="020B0604020202020204" pitchFamily="34" charset="0"/>
              <a:buChar char="•"/>
              <a:defRPr sz="14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36533" indent="-182436" algn="l" defTabSz="729742" rtl="0" eaLnBrk="1" latinLnBrk="0" hangingPunct="1">
              <a:lnSpc>
                <a:spcPct val="90000"/>
              </a:lnSpc>
              <a:spcBef>
                <a:spcPts val="399"/>
              </a:spcBef>
              <a:buFont typeface="Arial" panose="020B0604020202020204" pitchFamily="34" charset="0"/>
              <a:buChar char="•"/>
              <a:defRPr sz="14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1404" indent="-182436" algn="l" defTabSz="729742" rtl="0" eaLnBrk="1" latinLnBrk="0" hangingPunct="1">
              <a:lnSpc>
                <a:spcPct val="90000"/>
              </a:lnSpc>
              <a:spcBef>
                <a:spcPts val="399"/>
              </a:spcBef>
              <a:buFont typeface="Arial" panose="020B0604020202020204" pitchFamily="34" charset="0"/>
              <a:buChar char="•"/>
              <a:defRPr sz="14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600" dirty="0" smtClean="0"/>
              <a:t>You can create a tuple with any number of entries, including zero:</a:t>
            </a:r>
          </a:p>
          <a:p>
            <a:pPr lvl="1">
              <a:buFontTx/>
              <a:buNone/>
            </a:pPr>
            <a:r>
              <a:rPr lang="en-US" sz="2600" dirty="0" smtClean="0">
                <a:latin typeface="Lucida Console" panose="020B0609040504020204" pitchFamily="49" charset="0"/>
                <a:cs typeface="Courier New" pitchFamily="49" charset="0"/>
              </a:rPr>
              <a:t>tup1=</a:t>
            </a:r>
            <a:r>
              <a:rPr lang="en-US" sz="2600" b="1" dirty="0" smtClean="0">
                <a:solidFill>
                  <a:srgbClr val="7030A0"/>
                </a:solidFill>
                <a:latin typeface="Lucida Console" panose="020B0609040504020204" pitchFamily="49" charset="0"/>
                <a:cs typeface="Courier New" pitchFamily="49" charset="0"/>
              </a:rPr>
              <a:t>(</a:t>
            </a:r>
            <a:r>
              <a:rPr lang="en-US" sz="2600" dirty="0" smtClean="0">
                <a:latin typeface="Lucida Console" panose="020B0609040504020204" pitchFamily="49" charset="0"/>
                <a:cs typeface="Courier New" pitchFamily="49" charset="0"/>
              </a:rPr>
              <a:t>'phys','chem',2017,2019</a:t>
            </a:r>
            <a:r>
              <a:rPr lang="en-US" sz="2600" b="1" dirty="0" smtClean="0">
                <a:solidFill>
                  <a:srgbClr val="7030A0"/>
                </a:solidFill>
                <a:latin typeface="Lucida Console" panose="020B0609040504020204" pitchFamily="49" charset="0"/>
                <a:cs typeface="Courier New" pitchFamily="49" charset="0"/>
              </a:rPr>
              <a:t>)</a:t>
            </a:r>
            <a:r>
              <a:rPr lang="en-US" sz="2600" dirty="0" smtClean="0">
                <a:latin typeface="Lucida Console" panose="020B0609040504020204" pitchFamily="49" charset="0"/>
                <a:cs typeface="Courier New" pitchFamily="49" charset="0"/>
              </a:rPr>
              <a:t>; tup2=</a:t>
            </a:r>
            <a:r>
              <a:rPr lang="en-US" sz="2600" b="1" dirty="0" smtClean="0">
                <a:solidFill>
                  <a:srgbClr val="7030A0"/>
                </a:solidFill>
                <a:latin typeface="Lucida Console" panose="020B0609040504020204" pitchFamily="49" charset="0"/>
                <a:cs typeface="Courier New" pitchFamily="49" charset="0"/>
              </a:rPr>
              <a:t>()</a:t>
            </a:r>
            <a:endParaRPr lang="en-US" sz="2600" dirty="0" smtClean="0">
              <a:latin typeface="Lucida Console" panose="020B0609040504020204" pitchFamily="49" charset="0"/>
              <a:cs typeface="Courier New" pitchFamily="49" charset="0"/>
            </a:endParaRPr>
          </a:p>
          <a:p>
            <a:pPr>
              <a:spcBef>
                <a:spcPts val="1200"/>
              </a:spcBef>
            </a:pPr>
            <a:r>
              <a:rPr lang="en-US" sz="2600" dirty="0" smtClean="0"/>
              <a:t>But a tuple</a:t>
            </a:r>
            <a:r>
              <a:rPr lang="en-US" sz="2400" dirty="0" smtClean="0"/>
              <a:t> </a:t>
            </a:r>
            <a:r>
              <a:rPr lang="en-US" sz="2600" dirty="0" smtClean="0"/>
              <a:t>with</a:t>
            </a:r>
            <a:r>
              <a:rPr lang="en-US" sz="2400" dirty="0" smtClean="0"/>
              <a:t> </a:t>
            </a:r>
            <a:r>
              <a:rPr lang="en-US" sz="2600" dirty="0" smtClean="0"/>
              <a:t>one</a:t>
            </a:r>
            <a:r>
              <a:rPr lang="en-US" sz="2400" dirty="0" smtClean="0"/>
              <a:t> </a:t>
            </a:r>
            <a:r>
              <a:rPr lang="en-US" sz="2600" spc="-50" dirty="0" smtClean="0"/>
              <a:t>v</a:t>
            </a:r>
            <a:r>
              <a:rPr lang="en-US" sz="2600" dirty="0" smtClean="0"/>
              <a:t>alue</a:t>
            </a:r>
            <a:r>
              <a:rPr lang="en-US" sz="2400" dirty="0" smtClean="0"/>
              <a:t> </a:t>
            </a:r>
            <a:r>
              <a:rPr lang="en-US" sz="2600" spc="-100" dirty="0" smtClean="0"/>
              <a:t>(</a:t>
            </a:r>
            <a:r>
              <a:rPr lang="en-US" sz="2600" dirty="0" smtClean="0"/>
              <a:t>mathematicall</a:t>
            </a:r>
            <a:r>
              <a:rPr lang="en-US" sz="2600" spc="-100" dirty="0" smtClean="0"/>
              <a:t>y</a:t>
            </a:r>
            <a:r>
              <a:rPr lang="en-US" sz="2600" dirty="0" smtClean="0"/>
              <a:t>,</a:t>
            </a:r>
            <a:r>
              <a:rPr lang="en-US" sz="2400" dirty="0" smtClean="0"/>
              <a:t> </a:t>
            </a:r>
            <a:r>
              <a:rPr lang="en-US" sz="2600" dirty="0" smtClean="0"/>
              <a:t>this is called a</a:t>
            </a:r>
            <a:r>
              <a:rPr lang="en-US" sz="2400" dirty="0" smtClean="0"/>
              <a:t> </a:t>
            </a:r>
            <a:r>
              <a:rPr lang="en-US" sz="2600" i="1" dirty="0" smtClean="0">
                <a:solidFill>
                  <a:srgbClr val="008000"/>
                </a:solidFill>
              </a:rPr>
              <a:t>singleto</a:t>
            </a:r>
            <a:r>
              <a:rPr lang="en-US" sz="2600" i="1" spc="-100" dirty="0" smtClean="0">
                <a:solidFill>
                  <a:srgbClr val="008000"/>
                </a:solidFill>
              </a:rPr>
              <a:t>n</a:t>
            </a:r>
            <a:r>
              <a:rPr lang="en-US" sz="2600" dirty="0" smtClean="0"/>
              <a:t>)</a:t>
            </a:r>
            <a:r>
              <a:rPr lang="en-US" sz="2600" dirty="0" smtClean="0">
                <a:solidFill>
                  <a:srgbClr val="FF0000"/>
                </a:solidFill>
              </a:rPr>
              <a:t> </a:t>
            </a:r>
            <a:r>
              <a:rPr lang="en-US" sz="2600" dirty="0" smtClean="0"/>
              <a:t>has a problem, because numerical expressions use parentheses too: </a:t>
            </a:r>
          </a:p>
        </p:txBody>
      </p:sp>
    </p:spTree>
    <p:extLst>
      <p:ext uri="{BB962C8B-B14F-4D97-AF65-F5344CB8AC3E}">
        <p14:creationId xmlns:p14="http://schemas.microsoft.com/office/powerpoint/2010/main" val="2556409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12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126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Content Placeholder 2"/>
          <p:cNvSpPr>
            <a:spLocks noGrp="1"/>
          </p:cNvSpPr>
          <p:nvPr>
            <p:ph idx="1"/>
          </p:nvPr>
        </p:nvSpPr>
        <p:spPr>
          <a:xfrm>
            <a:off x="275031" y="1411106"/>
            <a:ext cx="9314263" cy="5370694"/>
          </a:xfrm>
        </p:spPr>
        <p:txBody>
          <a:bodyPr>
            <a:noAutofit/>
          </a:bodyPr>
          <a:lstStyle/>
          <a:p>
            <a:pPr>
              <a:buClr>
                <a:schemeClr val="bg1"/>
              </a:buClr>
            </a:pPr>
            <a:r>
              <a:rPr lang="en-US" sz="3600" dirty="0"/>
              <a:t>Any set of </a:t>
            </a:r>
            <a:r>
              <a:rPr lang="en-US" sz="3600" dirty="0">
                <a:solidFill>
                  <a:srgbClr val="FFC000"/>
                </a:solidFill>
              </a:rPr>
              <a:t>comma-separated</a:t>
            </a:r>
            <a:r>
              <a:rPr lang="en-US" sz="3600" dirty="0"/>
              <a:t> </a:t>
            </a:r>
            <a:r>
              <a:rPr lang="en-US" altLang="zh-TW" sz="3600" dirty="0"/>
              <a:t>objects</a:t>
            </a:r>
            <a:r>
              <a:rPr lang="en-US" sz="3600" dirty="0"/>
              <a:t>, written </a:t>
            </a:r>
            <a:r>
              <a:rPr lang="en-US" sz="3600" dirty="0">
                <a:solidFill>
                  <a:srgbClr val="FF0000"/>
                </a:solidFill>
              </a:rPr>
              <a:t>without</a:t>
            </a:r>
            <a:r>
              <a:rPr lang="en-US" sz="3600" dirty="0"/>
              <a:t> identifying symbols, </a:t>
            </a:r>
            <a:r>
              <a:rPr lang="en-US" sz="3600" dirty="0">
                <a:solidFill>
                  <a:srgbClr val="FFC000"/>
                </a:solidFill>
              </a:rPr>
              <a:t>defaults </a:t>
            </a:r>
            <a:r>
              <a:rPr lang="en-US" sz="3600" dirty="0" smtClean="0">
                <a:solidFill>
                  <a:srgbClr val="FFC000"/>
                </a:solidFill>
              </a:rPr>
              <a:t>to a </a:t>
            </a:r>
            <a:r>
              <a:rPr lang="en-US" sz="3600" dirty="0">
                <a:solidFill>
                  <a:srgbClr val="FFC000"/>
                </a:solidFill>
              </a:rPr>
              <a:t>tuple</a:t>
            </a:r>
            <a:r>
              <a:rPr lang="en-US" sz="3600" dirty="0"/>
              <a:t>:</a:t>
            </a:r>
          </a:p>
          <a:p>
            <a:pPr lvl="1">
              <a:spcBef>
                <a:spcPts val="0"/>
              </a:spcBef>
              <a:buFontTx/>
              <a:buNone/>
            </a:pPr>
            <a:r>
              <a:rPr lang="en-US" sz="28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r>
              <a:rPr lang="en-US" sz="2800" dirty="0"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sz="2800" b="1" dirty="0">
                <a:solidFill>
                  <a:srgbClr val="FFC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X</a:t>
            </a:r>
            <a:r>
              <a:rPr lang="en-US" sz="2800" dirty="0">
                <a:latin typeface="Lucida Console" panose="020B0609040504020204" pitchFamily="49" charset="0"/>
                <a:cs typeface="Courier New" panose="02070309020205020404" pitchFamily="49" charset="0"/>
              </a:rPr>
              <a:t> = </a:t>
            </a:r>
            <a:r>
              <a:rPr lang="en-US" sz="28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'ab'</a:t>
            </a:r>
            <a:r>
              <a:rPr lang="en-US" sz="2800" b="1" dirty="0">
                <a:solidFill>
                  <a:srgbClr val="FFC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sz="2800" dirty="0"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sz="28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-4.24e93</a:t>
            </a:r>
            <a:r>
              <a:rPr lang="en-US" sz="2800" b="1" dirty="0">
                <a:solidFill>
                  <a:srgbClr val="FFC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sz="2800" dirty="0"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sz="28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7+6.6j</a:t>
            </a:r>
            <a:r>
              <a:rPr lang="en-US" sz="2800" b="1" dirty="0">
                <a:solidFill>
                  <a:srgbClr val="FFC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sz="2800" dirty="0"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sz="28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'xyz'</a:t>
            </a:r>
            <a:r>
              <a:rPr lang="en-US" sz="2800" dirty="0"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</a:p>
          <a:p>
            <a:pPr lvl="1">
              <a:spcBef>
                <a:spcPts val="0"/>
              </a:spcBef>
              <a:buFontTx/>
              <a:buNone/>
            </a:pPr>
            <a:r>
              <a:rPr lang="en-US" sz="28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r>
              <a:rPr lang="en-US" sz="2800" dirty="0"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sz="28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print (</a:t>
            </a:r>
            <a:r>
              <a:rPr lang="en-US" sz="2800" dirty="0">
                <a:latin typeface="Lucida Console" panose="020B0609040504020204" pitchFamily="49" charset="0"/>
                <a:cs typeface="Courier New" panose="02070309020205020404" pitchFamily="49" charset="0"/>
              </a:rPr>
              <a:t>"X =&gt; ", </a:t>
            </a:r>
            <a:r>
              <a:rPr lang="en-US" sz="2800" b="1" dirty="0">
                <a:solidFill>
                  <a:srgbClr val="FFC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X</a:t>
            </a:r>
            <a:r>
              <a:rPr lang="en-US" sz="28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 </a:t>
            </a:r>
          </a:p>
          <a:p>
            <a:pPr lvl="1">
              <a:spcBef>
                <a:spcPts val="0"/>
              </a:spcBef>
              <a:buFontTx/>
              <a:buNone/>
            </a:pPr>
            <a:r>
              <a:rPr lang="en-US" altLang="zh-TW" sz="2800" dirty="0">
                <a:latin typeface="Lucida Console" panose="020B0609040504020204" pitchFamily="49" charset="0"/>
                <a:cs typeface="Courier New" panose="02070309020205020404" pitchFamily="49" charset="0"/>
              </a:rPr>
              <a:t>X =&gt; </a:t>
            </a:r>
            <a:r>
              <a:rPr lang="en-US" altLang="zh-TW" sz="2800" b="1" dirty="0">
                <a:solidFill>
                  <a:srgbClr val="FFC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zh-TW" sz="28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'ab', -4.24e93, 7+6.6j, 'xyz'</a:t>
            </a:r>
            <a:r>
              <a:rPr lang="en-US" altLang="zh-TW" sz="2800" b="1" dirty="0">
                <a:solidFill>
                  <a:srgbClr val="FFC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  <a:endParaRPr lang="en-US" sz="2800" b="1" dirty="0">
              <a:solidFill>
                <a:srgbClr val="FFC000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lvl="1">
              <a:spcBef>
                <a:spcPts val="0"/>
              </a:spcBef>
              <a:buFontTx/>
              <a:buNone/>
            </a:pPr>
            <a:r>
              <a:rPr lang="en-US" sz="28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</a:p>
          <a:p>
            <a:pPr>
              <a:spcBef>
                <a:spcPts val="1800"/>
              </a:spcBef>
              <a:buClr>
                <a:schemeClr val="bg1"/>
              </a:buClr>
            </a:pPr>
            <a:r>
              <a:rPr lang="en-US" sz="3600" dirty="0" smtClean="0"/>
              <a:t>(Of course, if there is also </a:t>
            </a:r>
            <a:r>
              <a:rPr lang="en-US" sz="3600" dirty="0" smtClean="0">
                <a:solidFill>
                  <a:srgbClr val="FF0000"/>
                </a:solidFill>
              </a:rPr>
              <a:t>no comma </a:t>
            </a:r>
            <a:r>
              <a:rPr lang="en-US" sz="3600" dirty="0" smtClean="0"/>
              <a:t>or </a:t>
            </a:r>
            <a:r>
              <a:rPr lang="en-US" sz="3600" dirty="0" smtClean="0">
                <a:solidFill>
                  <a:srgbClr val="FF0000"/>
                </a:solidFill>
              </a:rPr>
              <a:t>quote</a:t>
            </a:r>
            <a:r>
              <a:rPr lang="en-US" sz="3600" dirty="0" smtClean="0"/>
              <a:t>, then it </a:t>
            </a:r>
            <a:r>
              <a:rPr lang="en-US" sz="3600" dirty="0" smtClean="0">
                <a:solidFill>
                  <a:srgbClr val="FF0000"/>
                </a:solidFill>
              </a:rPr>
              <a:t>defaults to a number</a:t>
            </a:r>
            <a:r>
              <a:rPr lang="en-US" sz="3600" dirty="0" smtClean="0"/>
              <a:t>):</a:t>
            </a:r>
            <a:endParaRPr lang="en-US" sz="3600" dirty="0"/>
          </a:p>
          <a:p>
            <a:pPr lvl="1">
              <a:spcBef>
                <a:spcPts val="0"/>
              </a:spcBef>
              <a:buFontTx/>
              <a:buNone/>
            </a:pPr>
            <a:r>
              <a:rPr lang="en-US" sz="28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r>
              <a:rPr lang="en-US" sz="2800" dirty="0"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sz="2800" b="1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X</a:t>
            </a:r>
            <a:r>
              <a:rPr lang="en-US" sz="2800" dirty="0">
                <a:latin typeface="Lucida Console" panose="020B0609040504020204" pitchFamily="49" charset="0"/>
                <a:cs typeface="Courier New" panose="02070309020205020404" pitchFamily="49" charset="0"/>
              </a:rPr>
              <a:t> = </a:t>
            </a:r>
            <a:r>
              <a:rPr lang="en-US" sz="2800" dirty="0" smtClean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1</a:t>
            </a:r>
            <a:r>
              <a:rPr lang="en-US" sz="2800" dirty="0" smtClean="0">
                <a:latin typeface="Lucida Console" panose="020B0609040504020204" pitchFamily="49" charset="0"/>
                <a:cs typeface="Courier New" panose="02070309020205020404" pitchFamily="49" charset="0"/>
              </a:rPr>
              <a:t>; </a:t>
            </a:r>
            <a:r>
              <a:rPr lang="en-US" sz="2800" b="1" dirty="0" smtClean="0">
                <a:solidFill>
                  <a:srgbClr val="FFC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Y</a:t>
            </a:r>
            <a:r>
              <a:rPr lang="en-US" sz="2800" dirty="0" smtClean="0">
                <a:latin typeface="Lucida Console" panose="020B0609040504020204" pitchFamily="49" charset="0"/>
                <a:cs typeface="Courier New" panose="02070309020205020404" pitchFamily="49" charset="0"/>
              </a:rPr>
              <a:t> = </a:t>
            </a:r>
            <a:r>
              <a:rPr lang="en-US" sz="2800" dirty="0" smtClean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1</a:t>
            </a:r>
            <a:r>
              <a:rPr lang="en-US" sz="2800" b="1" dirty="0" smtClean="0">
                <a:solidFill>
                  <a:srgbClr val="FFC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endParaRPr lang="en-US" sz="2800" b="1" dirty="0">
              <a:solidFill>
                <a:srgbClr val="FFC000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lvl="1">
              <a:spcBef>
                <a:spcPts val="0"/>
              </a:spcBef>
              <a:buFontTx/>
              <a:buNone/>
            </a:pPr>
            <a:r>
              <a:rPr lang="en-US" sz="28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r>
              <a:rPr lang="en-US" sz="2800" dirty="0"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sz="28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print (</a:t>
            </a:r>
            <a:r>
              <a:rPr lang="en-US" sz="2800" dirty="0">
                <a:latin typeface="Lucida Console" panose="020B0609040504020204" pitchFamily="49" charset="0"/>
                <a:cs typeface="Courier New" panose="02070309020205020404" pitchFamily="49" charset="0"/>
              </a:rPr>
              <a:t>"X =&gt; ", </a:t>
            </a:r>
            <a:r>
              <a:rPr lang="en-US" sz="2800" b="1" dirty="0" smtClean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X</a:t>
            </a:r>
            <a:r>
              <a:rPr lang="en-US" sz="2800" dirty="0" smtClean="0"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sz="2800" dirty="0"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sz="2800" dirty="0" smtClean="0">
                <a:latin typeface="Lucida Console" panose="020B0609040504020204" pitchFamily="49" charset="0"/>
                <a:cs typeface="Courier New" panose="02070309020205020404" pitchFamily="49" charset="0"/>
              </a:rPr>
              <a:t>"; Y </a:t>
            </a:r>
            <a:r>
              <a:rPr lang="en-US" sz="2800" dirty="0">
                <a:latin typeface="Lucida Console" panose="020B0609040504020204" pitchFamily="49" charset="0"/>
                <a:cs typeface="Courier New" panose="02070309020205020404" pitchFamily="49" charset="0"/>
              </a:rPr>
              <a:t>=&gt; ", </a:t>
            </a:r>
            <a:r>
              <a:rPr lang="en-US" sz="2800" b="1" dirty="0" smtClean="0">
                <a:solidFill>
                  <a:srgbClr val="FFC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Y</a:t>
            </a:r>
            <a:r>
              <a:rPr lang="en-US" sz="2800" dirty="0" smtClean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 </a:t>
            </a:r>
            <a:endParaRPr lang="en-US" sz="2800" dirty="0">
              <a:solidFill>
                <a:schemeClr val="bg1">
                  <a:lumMod val="50000"/>
                </a:schemeClr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lvl="1">
              <a:spcBef>
                <a:spcPts val="0"/>
              </a:spcBef>
              <a:buNone/>
            </a:pPr>
            <a:r>
              <a:rPr lang="en-US" altLang="zh-TW" sz="2800" dirty="0">
                <a:latin typeface="Lucida Console" panose="020B0609040504020204" pitchFamily="49" charset="0"/>
                <a:cs typeface="Courier New" panose="02070309020205020404" pitchFamily="49" charset="0"/>
              </a:rPr>
              <a:t>X =&gt; </a:t>
            </a:r>
            <a:r>
              <a:rPr lang="en-US" altLang="zh-TW" sz="2800" b="1" dirty="0" smtClean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1</a:t>
            </a:r>
            <a:r>
              <a:rPr lang="en-US" altLang="zh-TW" sz="2800" dirty="0" smtClean="0">
                <a:latin typeface="Lucida Console" panose="020B0609040504020204" pitchFamily="49" charset="0"/>
                <a:cs typeface="Courier New" panose="02070309020205020404" pitchFamily="49" charset="0"/>
              </a:rPr>
              <a:t> ; Y </a:t>
            </a:r>
            <a:r>
              <a:rPr lang="en-US" altLang="zh-TW" sz="2800" dirty="0">
                <a:latin typeface="Lucida Console" panose="020B0609040504020204" pitchFamily="49" charset="0"/>
                <a:cs typeface="Courier New" panose="02070309020205020404" pitchFamily="49" charset="0"/>
              </a:rPr>
              <a:t>=&gt; </a:t>
            </a:r>
            <a:r>
              <a:rPr lang="en-US" altLang="zh-TW" sz="2800" b="1" dirty="0" smtClean="0">
                <a:solidFill>
                  <a:srgbClr val="FFC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zh-TW" sz="2800" dirty="0" smtClean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1</a:t>
            </a:r>
            <a:r>
              <a:rPr lang="en-US" altLang="zh-TW" sz="2800" b="1" dirty="0" smtClean="0">
                <a:solidFill>
                  <a:srgbClr val="FFC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,)</a:t>
            </a:r>
            <a:endParaRPr lang="en-US" sz="2800" b="1" dirty="0">
              <a:solidFill>
                <a:srgbClr val="FFC000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lvl="1">
              <a:spcBef>
                <a:spcPts val="0"/>
              </a:spcBef>
              <a:buFontTx/>
              <a:buNone/>
            </a:pPr>
            <a:r>
              <a:rPr lang="en-US" sz="28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</a:p>
          <a:p>
            <a:pPr lvl="1">
              <a:spcBef>
                <a:spcPts val="0"/>
              </a:spcBef>
              <a:buFontTx/>
              <a:buNone/>
            </a:pPr>
            <a:endParaRPr lang="en-US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0" y="0"/>
            <a:ext cx="9729788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29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511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sz="4400" spc="-70" dirty="0" smtClean="0">
                <a:solidFill>
                  <a:srgbClr val="0070C0"/>
                </a:solidFill>
              </a:rPr>
              <a:t>If </a:t>
            </a:r>
            <a:r>
              <a:rPr lang="en-US" sz="4000" spc="-70" dirty="0" smtClean="0">
                <a:solidFill>
                  <a:srgbClr val="0070C0"/>
                </a:solidFill>
              </a:rPr>
              <a:t> </a:t>
            </a:r>
            <a:r>
              <a:rPr lang="en-US" sz="4400" spc="-70" dirty="0" smtClean="0">
                <a:solidFill>
                  <a:srgbClr val="0070C0"/>
                </a:solidFill>
              </a:rPr>
              <a:t>There’s</a:t>
            </a:r>
            <a:r>
              <a:rPr lang="en-US" sz="4000" spc="-70" dirty="0" smtClean="0">
                <a:solidFill>
                  <a:srgbClr val="0070C0"/>
                </a:solidFill>
              </a:rPr>
              <a:t> </a:t>
            </a:r>
            <a:r>
              <a:rPr lang="en-US" sz="4400" spc="-70" dirty="0" smtClean="0">
                <a:solidFill>
                  <a:srgbClr val="0070C0"/>
                </a:solidFill>
              </a:rPr>
              <a:t>No</a:t>
            </a:r>
            <a:r>
              <a:rPr lang="en-US" sz="4000" spc="-70" dirty="0" smtClean="0">
                <a:solidFill>
                  <a:srgbClr val="0070C0"/>
                </a:solidFill>
              </a:rPr>
              <a:t> </a:t>
            </a:r>
            <a:r>
              <a:rPr lang="en-US" sz="4400" spc="-70" dirty="0">
                <a:solidFill>
                  <a:srgbClr val="0070C0"/>
                </a:solidFill>
              </a:rPr>
              <a:t>Enclosing</a:t>
            </a:r>
            <a:r>
              <a:rPr lang="en-US" sz="3600" spc="-70" dirty="0">
                <a:solidFill>
                  <a:srgbClr val="0070C0"/>
                </a:solidFill>
              </a:rPr>
              <a:t> </a:t>
            </a:r>
            <a:r>
              <a:rPr lang="en-US" sz="4400" spc="-70" dirty="0">
                <a:solidFill>
                  <a:srgbClr val="0070C0"/>
                </a:solidFill>
                <a:latin typeface="Bahnschrift" panose="020B0502040204020203" pitchFamily="34" charset="0"/>
              </a:rPr>
              <a:t>[</a:t>
            </a:r>
            <a:r>
              <a:rPr lang="en-US" sz="2000" spc="-70" dirty="0">
                <a:solidFill>
                  <a:srgbClr val="0070C0"/>
                </a:solidFill>
                <a:latin typeface="Bahnschrift" panose="020B0502040204020203" pitchFamily="34" charset="0"/>
              </a:rPr>
              <a:t> </a:t>
            </a:r>
            <a:r>
              <a:rPr lang="en-US" sz="4400" spc="-70" dirty="0">
                <a:solidFill>
                  <a:srgbClr val="0070C0"/>
                </a:solidFill>
                <a:latin typeface="Bahnschrift" panose="020B0502040204020203" pitchFamily="34" charset="0"/>
              </a:rPr>
              <a:t>]</a:t>
            </a:r>
            <a:r>
              <a:rPr lang="en-US" sz="3600" spc="-70" dirty="0">
                <a:solidFill>
                  <a:srgbClr val="0070C0"/>
                </a:solidFill>
              </a:rPr>
              <a:t> </a:t>
            </a:r>
            <a:r>
              <a:rPr lang="en-US" sz="3600" spc="-70" dirty="0" smtClean="0">
                <a:solidFill>
                  <a:srgbClr val="0070C0"/>
                </a:solidFill>
              </a:rPr>
              <a:t/>
            </a:r>
            <a:br>
              <a:rPr lang="en-US" sz="3600" spc="-70" dirty="0" smtClean="0">
                <a:solidFill>
                  <a:srgbClr val="0070C0"/>
                </a:solidFill>
              </a:rPr>
            </a:br>
            <a:r>
              <a:rPr lang="en-US" sz="4400" spc="-70" dirty="0" smtClean="0">
                <a:solidFill>
                  <a:srgbClr val="0070C0"/>
                </a:solidFill>
              </a:rPr>
              <a:t>or</a:t>
            </a:r>
            <a:r>
              <a:rPr lang="en-US" sz="4000" spc="-70" dirty="0" smtClean="0">
                <a:solidFill>
                  <a:srgbClr val="0070C0"/>
                </a:solidFill>
              </a:rPr>
              <a:t> </a:t>
            </a:r>
            <a:r>
              <a:rPr lang="en-US" sz="4400" spc="-70" dirty="0">
                <a:solidFill>
                  <a:srgbClr val="0070C0"/>
                </a:solidFill>
                <a:latin typeface="Bahnschrift" panose="020B0502040204020203" pitchFamily="34" charset="0"/>
              </a:rPr>
              <a:t>(</a:t>
            </a:r>
            <a:r>
              <a:rPr lang="en-US" sz="900" spc="-70" dirty="0">
                <a:solidFill>
                  <a:srgbClr val="0070C0"/>
                </a:solidFill>
                <a:latin typeface="Lucida Console" panose="020B0609040504020204" pitchFamily="49" charset="0"/>
              </a:rPr>
              <a:t> </a:t>
            </a:r>
            <a:r>
              <a:rPr lang="en-US" sz="4400" spc="-70" dirty="0">
                <a:solidFill>
                  <a:srgbClr val="0070C0"/>
                </a:solidFill>
                <a:latin typeface="Bahnschrift" panose="020B0502040204020203" pitchFamily="34" charset="0"/>
              </a:rPr>
              <a:t>)</a:t>
            </a:r>
            <a:r>
              <a:rPr lang="en-US" sz="4000" spc="-70" dirty="0">
                <a:solidFill>
                  <a:srgbClr val="0070C0"/>
                </a:solidFill>
              </a:rPr>
              <a:t> </a:t>
            </a:r>
            <a:r>
              <a:rPr lang="en-US" sz="4400" spc="-70" dirty="0" smtClean="0">
                <a:solidFill>
                  <a:srgbClr val="0070C0"/>
                </a:solidFill>
              </a:rPr>
              <a:t>Symbol</a:t>
            </a:r>
            <a:endParaRPr lang="en-US" sz="4000" spc="-7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684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1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17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17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174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174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174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174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174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20580"/>
            <a:ext cx="9742901" cy="685800"/>
          </a:xfrm>
        </p:spPr>
        <p:txBody>
          <a:bodyPr>
            <a:noAutofit/>
          </a:bodyPr>
          <a:lstStyle/>
          <a:p>
            <a:r>
              <a:rPr lang="en-US" sz="4400" dirty="0" smtClean="0">
                <a:solidFill>
                  <a:srgbClr val="0070C0"/>
                </a:solidFill>
              </a:rPr>
              <a:t>Tuple Operators</a:t>
            </a:r>
            <a:endParaRPr lang="en-US" sz="4400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049" y="1134980"/>
            <a:ext cx="9550739" cy="5562600"/>
          </a:xfrm>
        </p:spPr>
        <p:txBody>
          <a:bodyPr>
            <a:noAutofit/>
          </a:bodyPr>
          <a:lstStyle/>
          <a:p>
            <a:pPr marL="227013" indent="-227013">
              <a:lnSpc>
                <a:spcPct val="85000"/>
              </a:lnSpc>
            </a:pPr>
            <a:r>
              <a:rPr lang="en-US" sz="3600" dirty="0"/>
              <a:t>Tuples are similar to lists, so we won’t talk </a:t>
            </a:r>
            <a:br>
              <a:rPr lang="en-US" sz="3600" dirty="0"/>
            </a:br>
            <a:r>
              <a:rPr lang="en-US" sz="3600" dirty="0"/>
              <a:t>about their operators (which are the same). </a:t>
            </a:r>
          </a:p>
          <a:p>
            <a:pPr marL="227013" indent="-227013">
              <a:lnSpc>
                <a:spcPct val="85000"/>
              </a:lnSpc>
              <a:spcBef>
                <a:spcPts val="1800"/>
              </a:spcBef>
            </a:pPr>
            <a:r>
              <a:rPr lang="en-US" sz="3600" dirty="0" smtClean="0"/>
              <a:t>Well, yes, the operators are the same, but…</a:t>
            </a:r>
            <a:br>
              <a:rPr lang="en-US" sz="3600" dirty="0" smtClean="0"/>
            </a:br>
            <a:r>
              <a:rPr lang="en-US" sz="3600" dirty="0" smtClean="0"/>
              <a:t>you cannot update </a:t>
            </a:r>
            <a:r>
              <a:rPr lang="en-US" sz="3600" dirty="0"/>
              <a:t>or delete tuple </a:t>
            </a:r>
            <a:r>
              <a:rPr lang="en-US" sz="3600" dirty="0" smtClean="0"/>
              <a:t>elements.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6368772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20580"/>
            <a:ext cx="9742901" cy="685800"/>
          </a:xfrm>
        </p:spPr>
        <p:txBody>
          <a:bodyPr>
            <a:noAutofit/>
          </a:bodyPr>
          <a:lstStyle/>
          <a:p>
            <a:r>
              <a:rPr lang="en-US" sz="4400" dirty="0">
                <a:solidFill>
                  <a:srgbClr val="0070C0"/>
                </a:solidFill>
              </a:rPr>
              <a:t>Updating </a:t>
            </a:r>
            <a:r>
              <a:rPr lang="en-US" sz="4400" dirty="0" smtClean="0">
                <a:solidFill>
                  <a:srgbClr val="0070C0"/>
                </a:solidFill>
              </a:rPr>
              <a:t>Tuples</a:t>
            </a:r>
            <a:endParaRPr lang="en-US" sz="4400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049" y="1134980"/>
            <a:ext cx="9550739" cy="5562600"/>
          </a:xfrm>
        </p:spPr>
        <p:txBody>
          <a:bodyPr>
            <a:noAutofit/>
          </a:bodyPr>
          <a:lstStyle/>
          <a:p>
            <a:pPr marL="227013" indent="-227013">
              <a:lnSpc>
                <a:spcPct val="85000"/>
              </a:lnSpc>
            </a:pPr>
            <a:r>
              <a:rPr lang="en-US" sz="3600" dirty="0"/>
              <a:t>Tuples are immutable </a:t>
            </a:r>
            <a:r>
              <a:rPr lang="en-US" sz="3600" dirty="0" smtClean="0"/>
              <a:t>so </a:t>
            </a:r>
            <a:r>
              <a:rPr lang="en-US" sz="3600" dirty="0"/>
              <a:t>you </a:t>
            </a:r>
            <a:r>
              <a:rPr lang="en-US" sz="3600" dirty="0" smtClean="0"/>
              <a:t>can’t modify them. </a:t>
            </a:r>
            <a:endParaRPr lang="en-US" sz="3600" dirty="0"/>
          </a:p>
          <a:p>
            <a:pPr marL="227013" indent="-227013">
              <a:lnSpc>
                <a:spcPct val="85000"/>
              </a:lnSpc>
              <a:spcBef>
                <a:spcPts val="1800"/>
              </a:spcBef>
            </a:pPr>
            <a:r>
              <a:rPr lang="en-US" sz="3600" dirty="0"/>
              <a:t>But </a:t>
            </a:r>
            <a:r>
              <a:rPr lang="en-US" sz="3600" dirty="0" smtClean="0"/>
              <a:t>you can </a:t>
            </a:r>
            <a:r>
              <a:rPr lang="en-US" sz="3600" i="1" dirty="0" smtClean="0"/>
              <a:t>create </a:t>
            </a:r>
            <a:r>
              <a:rPr lang="en-US" sz="3600" i="1" dirty="0">
                <a:solidFill>
                  <a:srgbClr val="00B050"/>
                </a:solidFill>
              </a:rPr>
              <a:t>a new tuple </a:t>
            </a:r>
            <a:r>
              <a:rPr lang="en-US" sz="3600" dirty="0" smtClean="0"/>
              <a:t>from a modified</a:t>
            </a:r>
            <a:r>
              <a:rPr lang="en-US" sz="3600" i="1" dirty="0" smtClean="0"/>
              <a:t> </a:t>
            </a:r>
            <a:r>
              <a:rPr lang="en-US" sz="3600" i="1" dirty="0"/>
              <a:t>existing </a:t>
            </a:r>
            <a:r>
              <a:rPr lang="en-US" sz="3600" i="1" dirty="0" smtClean="0"/>
              <a:t>tuple</a:t>
            </a:r>
            <a:r>
              <a:rPr lang="en-US" sz="3600" dirty="0" smtClean="0"/>
              <a:t>:</a:t>
            </a:r>
            <a:endParaRPr lang="en-US" sz="2800" dirty="0"/>
          </a:p>
          <a:p>
            <a:pPr marL="0" indent="0">
              <a:lnSpc>
                <a:spcPct val="85000"/>
              </a:lnSpc>
              <a:buNone/>
            </a:pPr>
            <a:endParaRPr lang="en-US" sz="1050" b="1" dirty="0"/>
          </a:p>
          <a:p>
            <a:pPr lvl="1">
              <a:lnSpc>
                <a:spcPct val="85000"/>
              </a:lnSpc>
              <a:buFontTx/>
              <a:buNone/>
            </a:pPr>
            <a:r>
              <a:rPr lang="en-US" sz="28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&gt;&gt;&gt;</a:t>
            </a:r>
            <a:r>
              <a:rPr lang="en-US" sz="2800" dirty="0"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sz="2800" dirty="0">
                <a:solidFill>
                  <a:srgbClr val="7030A0"/>
                </a:solidFill>
                <a:latin typeface="Lucida Sans Typewriter" panose="020B0509030504030204" pitchFamily="49" charset="0"/>
                <a:cs typeface="Courier New" pitchFamily="49" charset="0"/>
              </a:rPr>
              <a:t>tup1</a:t>
            </a:r>
            <a:r>
              <a:rPr lang="en-US" sz="2800" dirty="0">
                <a:latin typeface="Lucida Sans Typewriter" panose="020B0509030504030204" pitchFamily="49" charset="0"/>
                <a:cs typeface="Courier New" pitchFamily="49" charset="0"/>
              </a:rPr>
              <a:t> = </a:t>
            </a:r>
            <a:r>
              <a:rPr lang="en-US" sz="2800" dirty="0" smtClean="0">
                <a:latin typeface="Lucida Sans Typewriter" panose="020B0509030504030204" pitchFamily="49" charset="0"/>
                <a:cs typeface="Courier New" pitchFamily="49" charset="0"/>
              </a:rPr>
              <a:t>('</a:t>
            </a:r>
            <a:r>
              <a:rPr lang="en-US" sz="2800" dirty="0" err="1" smtClean="0">
                <a:latin typeface="Lucida Sans Typewriter" panose="020B0509030504030204" pitchFamily="49" charset="0"/>
                <a:cs typeface="Courier New" pitchFamily="49" charset="0"/>
              </a:rPr>
              <a:t>abc</a:t>
            </a:r>
            <a:r>
              <a:rPr lang="en-US" sz="2800" dirty="0">
                <a:latin typeface="Lucida Sans Typewriter" panose="020B0509030504030204" pitchFamily="49" charset="0"/>
                <a:cs typeface="Courier New" pitchFamily="49" charset="0"/>
              </a:rPr>
              <a:t>', </a:t>
            </a:r>
            <a:r>
              <a:rPr lang="en-US" sz="2800" dirty="0" smtClean="0">
                <a:latin typeface="Lucida Sans Typewriter" panose="020B0509030504030204" pitchFamily="49" charset="0"/>
                <a:cs typeface="Courier New" pitchFamily="49" charset="0"/>
              </a:rPr>
              <a:t>'xyz', 12</a:t>
            </a:r>
            <a:r>
              <a:rPr lang="en-US" sz="2800" dirty="0">
                <a:latin typeface="Lucida Sans Typewriter" panose="020B0509030504030204" pitchFamily="49" charset="0"/>
                <a:cs typeface="Courier New" pitchFamily="49" charset="0"/>
              </a:rPr>
              <a:t>, </a:t>
            </a:r>
            <a:r>
              <a:rPr lang="en-US" sz="2800" dirty="0" smtClean="0">
                <a:latin typeface="Lucida Sans Typewriter" panose="020B0509030504030204" pitchFamily="49" charset="0"/>
                <a:cs typeface="Courier New" pitchFamily="49" charset="0"/>
              </a:rPr>
              <a:t>34.56, 7j)</a:t>
            </a:r>
            <a:endParaRPr lang="en-US" sz="2800" dirty="0">
              <a:latin typeface="Lucida Sans Typewriter" panose="020B0509030504030204" pitchFamily="49" charset="0"/>
              <a:cs typeface="Courier New" pitchFamily="49" charset="0"/>
            </a:endParaRPr>
          </a:p>
          <a:p>
            <a:pPr lvl="1">
              <a:lnSpc>
                <a:spcPct val="85000"/>
              </a:lnSpc>
              <a:buFontTx/>
              <a:buNone/>
            </a:pPr>
            <a:r>
              <a:rPr lang="en-US" sz="2800" dirty="0" smtClean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&gt;&gt;&gt;</a:t>
            </a:r>
            <a:r>
              <a:rPr lang="en-US" sz="2800" dirty="0" smtClean="0"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sz="2800" dirty="0" smtClean="0">
                <a:solidFill>
                  <a:schemeClr val="bg1"/>
                </a:solidFill>
                <a:latin typeface="Lucida Sans Typewriter" panose="020B0509030504030204" pitchFamily="49" charset="0"/>
                <a:cs typeface="Courier New" pitchFamily="49" charset="0"/>
              </a:rPr>
              <a:t>tup2 = tup1[:2]; print(tup2)</a:t>
            </a:r>
          </a:p>
          <a:p>
            <a:pPr lvl="1">
              <a:lnSpc>
                <a:spcPct val="85000"/>
              </a:lnSpc>
              <a:buNone/>
            </a:pPr>
            <a:r>
              <a:rPr lang="en-US" sz="2800" dirty="0" smtClean="0">
                <a:solidFill>
                  <a:schemeClr val="bg1"/>
                </a:solidFill>
                <a:latin typeface="Lucida Sans Typewriter" panose="020B0509030504030204" pitchFamily="49" charset="0"/>
                <a:cs typeface="Courier New" pitchFamily="49" charset="0"/>
              </a:rPr>
              <a:t>('</a:t>
            </a:r>
            <a:r>
              <a:rPr lang="en-US" sz="2800" dirty="0" err="1" smtClean="0">
                <a:solidFill>
                  <a:schemeClr val="bg1"/>
                </a:solidFill>
                <a:latin typeface="Lucida Sans Typewriter" panose="020B0509030504030204" pitchFamily="49" charset="0"/>
                <a:cs typeface="Courier New" pitchFamily="49" charset="0"/>
              </a:rPr>
              <a:t>abc</a:t>
            </a:r>
            <a:r>
              <a:rPr lang="en-US" sz="2800" dirty="0" smtClean="0">
                <a:solidFill>
                  <a:schemeClr val="bg1"/>
                </a:solidFill>
                <a:latin typeface="Lucida Sans Typewriter" panose="020B0509030504030204" pitchFamily="49" charset="0"/>
                <a:cs typeface="Courier New" pitchFamily="49" charset="0"/>
              </a:rPr>
              <a:t>', 'xyz')</a:t>
            </a:r>
          </a:p>
          <a:p>
            <a:pPr lvl="1">
              <a:lnSpc>
                <a:spcPct val="85000"/>
              </a:lnSpc>
              <a:buFontTx/>
              <a:buNone/>
            </a:pPr>
            <a:r>
              <a:rPr lang="en-US" sz="2800" dirty="0" smtClean="0">
                <a:solidFill>
                  <a:schemeClr val="bg1"/>
                </a:solidFill>
                <a:latin typeface="Lucida Sans Typewriter" panose="020B0509030504030204" pitchFamily="49" charset="0"/>
                <a:cs typeface="Courier New" pitchFamily="49" charset="0"/>
              </a:rPr>
              <a:t>&gt;&gt;&gt; </a:t>
            </a:r>
            <a:r>
              <a:rPr lang="en-US" sz="2800" dirty="0" smtClean="0">
                <a:solidFill>
                  <a:schemeClr val="bg1"/>
                </a:solidFill>
                <a:latin typeface="Lucida Console" panose="020B0609040504020204" pitchFamily="49" charset="0"/>
                <a:cs typeface="Courier New" pitchFamily="49" charset="0"/>
              </a:rPr>
              <a:t>tup3 = </a:t>
            </a:r>
            <a:r>
              <a:rPr lang="en-US" sz="2800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tup1[-1:]*3 + tup2; </a:t>
            </a:r>
          </a:p>
          <a:p>
            <a:pPr lvl="1">
              <a:lnSpc>
                <a:spcPct val="85000"/>
              </a:lnSpc>
              <a:buFontTx/>
              <a:buNone/>
            </a:pPr>
            <a:r>
              <a:rPr lang="en-US" sz="2800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&gt;&gt;&gt; print(tup3)</a:t>
            </a:r>
          </a:p>
          <a:p>
            <a:pPr lvl="1">
              <a:lnSpc>
                <a:spcPct val="85000"/>
              </a:lnSpc>
              <a:buFontTx/>
              <a:buNone/>
            </a:pPr>
            <a:r>
              <a:rPr lang="en-US" sz="2800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(7j, 7j, 7j, '</a:t>
            </a:r>
            <a:r>
              <a:rPr lang="en-US" sz="2800" dirty="0" err="1" smtClean="0">
                <a:solidFill>
                  <a:schemeClr val="bg1"/>
                </a:solidFill>
                <a:latin typeface="Lucida Console" panose="020B0609040504020204" pitchFamily="49" charset="0"/>
              </a:rPr>
              <a:t>abc</a:t>
            </a:r>
            <a:r>
              <a:rPr lang="en-US" sz="2800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', 'xyz')</a:t>
            </a:r>
          </a:p>
          <a:p>
            <a:pPr lvl="1">
              <a:lnSpc>
                <a:spcPct val="85000"/>
              </a:lnSpc>
              <a:buFontTx/>
              <a:buNone/>
            </a:pPr>
            <a:r>
              <a:rPr lang="en-US" sz="2800" dirty="0" smtClean="0">
                <a:solidFill>
                  <a:schemeClr val="bg1"/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</a:p>
          <a:p>
            <a:pPr lvl="1">
              <a:lnSpc>
                <a:spcPct val="85000"/>
              </a:lnSpc>
              <a:buFontTx/>
              <a:buNone/>
            </a:pPr>
            <a:r>
              <a:rPr lang="en-US" sz="2800" dirty="0" smtClean="0">
                <a:solidFill>
                  <a:schemeClr val="bg1"/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endParaRPr lang="en-US" sz="2800" dirty="0">
              <a:solidFill>
                <a:schemeClr val="bg1"/>
              </a:solidFill>
              <a:latin typeface="Lucida Console" panose="020B0609040504020204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5789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20580"/>
            <a:ext cx="9742901" cy="685800"/>
          </a:xfrm>
        </p:spPr>
        <p:txBody>
          <a:bodyPr>
            <a:noAutofit/>
          </a:bodyPr>
          <a:lstStyle/>
          <a:p>
            <a:r>
              <a:rPr lang="en-US" sz="4400" dirty="0">
                <a:solidFill>
                  <a:srgbClr val="0070C0"/>
                </a:solidFill>
              </a:rPr>
              <a:t>Updating </a:t>
            </a:r>
            <a:r>
              <a:rPr lang="en-US" sz="4400" dirty="0" smtClean="0">
                <a:solidFill>
                  <a:srgbClr val="0070C0"/>
                </a:solidFill>
              </a:rPr>
              <a:t>Tuples</a:t>
            </a:r>
            <a:endParaRPr lang="en-US" sz="4400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049" y="1134980"/>
            <a:ext cx="9550739" cy="5562600"/>
          </a:xfrm>
        </p:spPr>
        <p:txBody>
          <a:bodyPr>
            <a:noAutofit/>
          </a:bodyPr>
          <a:lstStyle/>
          <a:p>
            <a:pPr marL="227013" indent="-227013">
              <a:lnSpc>
                <a:spcPct val="85000"/>
              </a:lnSpc>
            </a:pPr>
            <a:r>
              <a:rPr lang="en-US" sz="3600" dirty="0"/>
              <a:t>Tuples are immutable so you can’t modify them. </a:t>
            </a:r>
          </a:p>
          <a:p>
            <a:pPr marL="227013" indent="-227013">
              <a:lnSpc>
                <a:spcPct val="85000"/>
              </a:lnSpc>
              <a:spcBef>
                <a:spcPts val="1800"/>
              </a:spcBef>
            </a:pPr>
            <a:r>
              <a:rPr lang="en-US" sz="3600" dirty="0"/>
              <a:t>But </a:t>
            </a:r>
            <a:r>
              <a:rPr lang="en-US" sz="3600" dirty="0" smtClean="0"/>
              <a:t>you can </a:t>
            </a:r>
            <a:r>
              <a:rPr lang="en-US" sz="3600" i="1" dirty="0" smtClean="0"/>
              <a:t>create </a:t>
            </a:r>
            <a:r>
              <a:rPr lang="en-US" sz="3600" i="1" dirty="0">
                <a:solidFill>
                  <a:srgbClr val="00B050"/>
                </a:solidFill>
              </a:rPr>
              <a:t>a new tuple </a:t>
            </a:r>
            <a:r>
              <a:rPr lang="en-US" sz="3600" dirty="0" smtClean="0"/>
              <a:t>from a modified</a:t>
            </a:r>
            <a:r>
              <a:rPr lang="en-US" sz="3600" i="1" dirty="0" smtClean="0"/>
              <a:t> </a:t>
            </a:r>
            <a:r>
              <a:rPr lang="en-US" sz="3600" i="1" dirty="0"/>
              <a:t>existing </a:t>
            </a:r>
            <a:r>
              <a:rPr lang="en-US" sz="3600" i="1" dirty="0" smtClean="0"/>
              <a:t>tuple</a:t>
            </a:r>
            <a:r>
              <a:rPr lang="en-US" sz="3600" dirty="0" smtClean="0"/>
              <a:t>:</a:t>
            </a:r>
            <a:endParaRPr lang="en-US" sz="2800" dirty="0"/>
          </a:p>
          <a:p>
            <a:pPr marL="0" indent="0">
              <a:lnSpc>
                <a:spcPct val="85000"/>
              </a:lnSpc>
              <a:buNone/>
            </a:pPr>
            <a:endParaRPr lang="en-US" sz="1050" b="1" dirty="0"/>
          </a:p>
          <a:p>
            <a:pPr lvl="1">
              <a:lnSpc>
                <a:spcPct val="85000"/>
              </a:lnSpc>
              <a:buFontTx/>
              <a:buNone/>
            </a:pPr>
            <a:r>
              <a:rPr lang="en-US" sz="28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&gt;&gt;&gt;</a:t>
            </a:r>
            <a:r>
              <a:rPr lang="en-US" sz="2800" dirty="0"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sz="2800" dirty="0">
                <a:solidFill>
                  <a:srgbClr val="7030A0"/>
                </a:solidFill>
                <a:latin typeface="Lucida Sans Typewriter" panose="020B0509030504030204" pitchFamily="49" charset="0"/>
                <a:cs typeface="Courier New" pitchFamily="49" charset="0"/>
              </a:rPr>
              <a:t>tup1 </a:t>
            </a:r>
            <a:r>
              <a:rPr lang="en-US" sz="2800" dirty="0">
                <a:latin typeface="Lucida Sans Typewriter" panose="020B0509030504030204" pitchFamily="49" charset="0"/>
                <a:cs typeface="Courier New" pitchFamily="49" charset="0"/>
              </a:rPr>
              <a:t>= </a:t>
            </a:r>
            <a:r>
              <a:rPr lang="en-US" sz="2800" dirty="0" smtClean="0">
                <a:latin typeface="Lucida Sans Typewriter" panose="020B0509030504030204" pitchFamily="49" charset="0"/>
                <a:cs typeface="Courier New" pitchFamily="49" charset="0"/>
              </a:rPr>
              <a:t>(</a:t>
            </a:r>
            <a:r>
              <a:rPr lang="en-US" sz="2800" dirty="0" smtClean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'</a:t>
            </a:r>
            <a:r>
              <a:rPr lang="en-US" sz="2800" dirty="0" err="1" smtClean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abc</a:t>
            </a:r>
            <a:r>
              <a:rPr lang="en-US" sz="2800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', </a:t>
            </a:r>
            <a:r>
              <a:rPr lang="en-US" sz="2800" dirty="0" smtClean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'xyz'</a:t>
            </a:r>
            <a:r>
              <a:rPr lang="en-US" sz="2800" dirty="0" smtClean="0">
                <a:latin typeface="Lucida Sans Typewriter" panose="020B0509030504030204" pitchFamily="49" charset="0"/>
                <a:cs typeface="Courier New" pitchFamily="49" charset="0"/>
              </a:rPr>
              <a:t>, 12</a:t>
            </a:r>
            <a:r>
              <a:rPr lang="en-US" sz="2800" dirty="0">
                <a:latin typeface="Lucida Sans Typewriter" panose="020B0509030504030204" pitchFamily="49" charset="0"/>
                <a:cs typeface="Courier New" pitchFamily="49" charset="0"/>
              </a:rPr>
              <a:t>, </a:t>
            </a:r>
            <a:r>
              <a:rPr lang="en-US" sz="2800" dirty="0" smtClean="0">
                <a:latin typeface="Lucida Sans Typewriter" panose="020B0509030504030204" pitchFamily="49" charset="0"/>
                <a:cs typeface="Courier New" pitchFamily="49" charset="0"/>
              </a:rPr>
              <a:t>34.56, 7j)</a:t>
            </a:r>
            <a:endParaRPr lang="en-US" sz="2800" dirty="0">
              <a:latin typeface="Lucida Sans Typewriter" panose="020B0509030504030204" pitchFamily="49" charset="0"/>
              <a:cs typeface="Courier New" pitchFamily="49" charset="0"/>
            </a:endParaRPr>
          </a:p>
          <a:p>
            <a:pPr lvl="1">
              <a:lnSpc>
                <a:spcPct val="85000"/>
              </a:lnSpc>
              <a:buFontTx/>
              <a:buNone/>
            </a:pPr>
            <a:r>
              <a:rPr lang="en-US" sz="28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&gt;&gt;&gt;</a:t>
            </a:r>
            <a:r>
              <a:rPr lang="en-US" sz="2800" dirty="0"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sz="2800" dirty="0" smtClean="0">
                <a:solidFill>
                  <a:srgbClr val="0070C0"/>
                </a:solidFill>
                <a:latin typeface="Lucida Sans Typewriter" panose="020B0509030504030204" pitchFamily="49" charset="0"/>
                <a:cs typeface="Courier New" pitchFamily="49" charset="0"/>
              </a:rPr>
              <a:t>tup2 </a:t>
            </a:r>
            <a:r>
              <a:rPr lang="en-US" sz="2800" dirty="0" smtClean="0">
                <a:latin typeface="Lucida Sans Typewriter" panose="020B0509030504030204" pitchFamily="49" charset="0"/>
                <a:cs typeface="Courier New" pitchFamily="49" charset="0"/>
              </a:rPr>
              <a:t>= </a:t>
            </a:r>
            <a:r>
              <a:rPr lang="en-US" sz="2800" dirty="0" smtClean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tup1[:2]</a:t>
            </a:r>
            <a:r>
              <a:rPr lang="en-US" sz="2800" dirty="0" smtClean="0">
                <a:latin typeface="Lucida Sans Typewriter" panose="020B0509030504030204" pitchFamily="49" charset="0"/>
                <a:cs typeface="Courier New" pitchFamily="49" charset="0"/>
              </a:rPr>
              <a:t>; </a:t>
            </a:r>
            <a:r>
              <a:rPr lang="en-US" sz="2800" dirty="0" smtClean="0">
                <a:solidFill>
                  <a:schemeClr val="bg1"/>
                </a:solidFill>
                <a:latin typeface="Lucida Sans Typewriter" panose="020B0509030504030204" pitchFamily="49" charset="0"/>
                <a:cs typeface="Courier New" pitchFamily="49" charset="0"/>
              </a:rPr>
              <a:t>print(tup2)</a:t>
            </a:r>
          </a:p>
          <a:p>
            <a:pPr lvl="1">
              <a:lnSpc>
                <a:spcPct val="85000"/>
              </a:lnSpc>
              <a:buNone/>
            </a:pPr>
            <a:r>
              <a:rPr lang="en-US" sz="2800" dirty="0" smtClean="0">
                <a:solidFill>
                  <a:schemeClr val="bg1"/>
                </a:solidFill>
                <a:latin typeface="Lucida Sans Typewriter" panose="020B0509030504030204" pitchFamily="49" charset="0"/>
                <a:cs typeface="Courier New" pitchFamily="49" charset="0"/>
              </a:rPr>
              <a:t>('</a:t>
            </a:r>
            <a:r>
              <a:rPr lang="en-US" sz="2800" dirty="0" err="1" smtClean="0">
                <a:solidFill>
                  <a:schemeClr val="bg1"/>
                </a:solidFill>
                <a:latin typeface="Lucida Sans Typewriter" panose="020B0509030504030204" pitchFamily="49" charset="0"/>
                <a:cs typeface="Courier New" pitchFamily="49" charset="0"/>
              </a:rPr>
              <a:t>abc</a:t>
            </a:r>
            <a:r>
              <a:rPr lang="en-US" sz="2800" dirty="0" smtClean="0">
                <a:solidFill>
                  <a:schemeClr val="bg1"/>
                </a:solidFill>
                <a:latin typeface="Lucida Sans Typewriter" panose="020B0509030504030204" pitchFamily="49" charset="0"/>
                <a:cs typeface="Courier New" pitchFamily="49" charset="0"/>
              </a:rPr>
              <a:t>', 'xyz')</a:t>
            </a:r>
          </a:p>
          <a:p>
            <a:pPr lvl="1">
              <a:lnSpc>
                <a:spcPct val="85000"/>
              </a:lnSpc>
              <a:buFontTx/>
              <a:buNone/>
            </a:pPr>
            <a:r>
              <a:rPr lang="en-US" sz="2800" dirty="0" smtClean="0">
                <a:solidFill>
                  <a:schemeClr val="bg1"/>
                </a:solidFill>
                <a:latin typeface="Lucida Sans Typewriter" panose="020B0509030504030204" pitchFamily="49" charset="0"/>
                <a:cs typeface="Courier New" pitchFamily="49" charset="0"/>
              </a:rPr>
              <a:t>&gt;&gt;&gt; </a:t>
            </a:r>
            <a:r>
              <a:rPr lang="en-US" sz="2800" dirty="0" smtClean="0">
                <a:solidFill>
                  <a:schemeClr val="bg1"/>
                </a:solidFill>
                <a:latin typeface="Lucida Console" panose="020B0609040504020204" pitchFamily="49" charset="0"/>
                <a:cs typeface="Courier New" pitchFamily="49" charset="0"/>
              </a:rPr>
              <a:t>tup3 = </a:t>
            </a:r>
            <a:r>
              <a:rPr lang="en-US" sz="2800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tup1[-1:]*3 + tup2; </a:t>
            </a:r>
          </a:p>
          <a:p>
            <a:pPr lvl="1">
              <a:lnSpc>
                <a:spcPct val="85000"/>
              </a:lnSpc>
              <a:buFontTx/>
              <a:buNone/>
            </a:pPr>
            <a:r>
              <a:rPr lang="en-US" sz="2800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&gt;&gt;&gt; print(tup3)</a:t>
            </a:r>
          </a:p>
          <a:p>
            <a:pPr lvl="1">
              <a:lnSpc>
                <a:spcPct val="85000"/>
              </a:lnSpc>
              <a:buFontTx/>
              <a:buNone/>
            </a:pPr>
            <a:r>
              <a:rPr lang="en-US" sz="2800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(7j, 7j, 7j, '</a:t>
            </a:r>
            <a:r>
              <a:rPr lang="en-US" sz="2800" dirty="0" err="1" smtClean="0">
                <a:solidFill>
                  <a:schemeClr val="bg1"/>
                </a:solidFill>
                <a:latin typeface="Lucida Console" panose="020B0609040504020204" pitchFamily="49" charset="0"/>
              </a:rPr>
              <a:t>abc</a:t>
            </a:r>
            <a:r>
              <a:rPr lang="en-US" sz="2800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', 'xyz')</a:t>
            </a:r>
          </a:p>
          <a:p>
            <a:pPr lvl="1">
              <a:lnSpc>
                <a:spcPct val="85000"/>
              </a:lnSpc>
              <a:buFontTx/>
              <a:buNone/>
            </a:pPr>
            <a:r>
              <a:rPr lang="en-US" sz="2800" dirty="0" smtClean="0">
                <a:solidFill>
                  <a:schemeClr val="bg1"/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  <a:endParaRPr lang="en-US" sz="2800" dirty="0">
              <a:solidFill>
                <a:schemeClr val="bg1"/>
              </a:solidFill>
              <a:latin typeface="Lucida Console" panose="020B0609040504020204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2879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20580"/>
            <a:ext cx="9742901" cy="685800"/>
          </a:xfrm>
        </p:spPr>
        <p:txBody>
          <a:bodyPr>
            <a:noAutofit/>
          </a:bodyPr>
          <a:lstStyle/>
          <a:p>
            <a:r>
              <a:rPr lang="en-US" sz="4400" dirty="0">
                <a:solidFill>
                  <a:srgbClr val="0070C0"/>
                </a:solidFill>
              </a:rPr>
              <a:t>Updating </a:t>
            </a:r>
            <a:r>
              <a:rPr lang="en-US" sz="4400" dirty="0" smtClean="0">
                <a:solidFill>
                  <a:srgbClr val="0070C0"/>
                </a:solidFill>
              </a:rPr>
              <a:t>Tuples</a:t>
            </a:r>
            <a:endParaRPr lang="en-US" sz="4400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049" y="1134980"/>
            <a:ext cx="9550739" cy="5562600"/>
          </a:xfrm>
        </p:spPr>
        <p:txBody>
          <a:bodyPr>
            <a:noAutofit/>
          </a:bodyPr>
          <a:lstStyle/>
          <a:p>
            <a:pPr marL="227013" indent="-227013">
              <a:lnSpc>
                <a:spcPct val="85000"/>
              </a:lnSpc>
            </a:pPr>
            <a:r>
              <a:rPr lang="en-US" sz="3600" dirty="0"/>
              <a:t>Tuples are immutable so you can’t modify them. </a:t>
            </a:r>
          </a:p>
          <a:p>
            <a:pPr marL="227013" indent="-227013">
              <a:lnSpc>
                <a:spcPct val="85000"/>
              </a:lnSpc>
              <a:spcBef>
                <a:spcPts val="1800"/>
              </a:spcBef>
            </a:pPr>
            <a:r>
              <a:rPr lang="en-US" sz="3600" dirty="0"/>
              <a:t>But </a:t>
            </a:r>
            <a:r>
              <a:rPr lang="en-US" sz="3600" dirty="0" smtClean="0"/>
              <a:t>you can </a:t>
            </a:r>
            <a:r>
              <a:rPr lang="en-US" sz="3600" i="1" dirty="0" smtClean="0"/>
              <a:t>create </a:t>
            </a:r>
            <a:r>
              <a:rPr lang="en-US" sz="3600" i="1" dirty="0">
                <a:solidFill>
                  <a:srgbClr val="00B050"/>
                </a:solidFill>
              </a:rPr>
              <a:t>a new tuple </a:t>
            </a:r>
            <a:r>
              <a:rPr lang="en-US" sz="3600" dirty="0" smtClean="0"/>
              <a:t>from a modified</a:t>
            </a:r>
            <a:r>
              <a:rPr lang="en-US" sz="3600" i="1" dirty="0" smtClean="0"/>
              <a:t> </a:t>
            </a:r>
            <a:r>
              <a:rPr lang="en-US" sz="3600" i="1" dirty="0"/>
              <a:t>existing </a:t>
            </a:r>
            <a:r>
              <a:rPr lang="en-US" sz="3600" i="1" dirty="0" smtClean="0"/>
              <a:t>tuple</a:t>
            </a:r>
            <a:r>
              <a:rPr lang="en-US" sz="3600" dirty="0" smtClean="0"/>
              <a:t>:</a:t>
            </a:r>
            <a:endParaRPr lang="en-US" sz="2800" dirty="0"/>
          </a:p>
          <a:p>
            <a:pPr marL="0" indent="0">
              <a:lnSpc>
                <a:spcPct val="85000"/>
              </a:lnSpc>
              <a:buNone/>
            </a:pPr>
            <a:endParaRPr lang="en-US" sz="1050" b="1" dirty="0"/>
          </a:p>
          <a:p>
            <a:pPr lvl="1">
              <a:lnSpc>
                <a:spcPct val="85000"/>
              </a:lnSpc>
              <a:buFontTx/>
              <a:buNone/>
            </a:pPr>
            <a:r>
              <a:rPr lang="en-US" sz="28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&gt;&gt;&gt;</a:t>
            </a:r>
            <a:r>
              <a:rPr lang="en-US" sz="2800" dirty="0"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tup1</a:t>
            </a:r>
            <a:r>
              <a:rPr lang="en-US" sz="2800" dirty="0">
                <a:latin typeface="Lucida Sans Typewriter" panose="020B0509030504030204" pitchFamily="49" charset="0"/>
                <a:cs typeface="Courier New" pitchFamily="49" charset="0"/>
              </a:rPr>
              <a:t> = </a:t>
            </a:r>
            <a:r>
              <a:rPr lang="en-US" sz="2800" dirty="0" smtClean="0">
                <a:latin typeface="Lucida Sans Typewriter" panose="020B0509030504030204" pitchFamily="49" charset="0"/>
                <a:cs typeface="Courier New" pitchFamily="49" charset="0"/>
              </a:rPr>
              <a:t>(</a:t>
            </a:r>
            <a:r>
              <a:rPr lang="en-US" sz="2800" dirty="0" smtClean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'</a:t>
            </a:r>
            <a:r>
              <a:rPr lang="en-US" sz="2800" dirty="0" err="1" smtClean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abc</a:t>
            </a:r>
            <a:r>
              <a:rPr lang="en-US" sz="2800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', </a:t>
            </a:r>
            <a:r>
              <a:rPr lang="en-US" sz="2800" dirty="0" smtClean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'xyz'</a:t>
            </a:r>
            <a:r>
              <a:rPr lang="en-US" sz="2800" dirty="0" smtClean="0">
                <a:latin typeface="Lucida Sans Typewriter" panose="020B0509030504030204" pitchFamily="49" charset="0"/>
                <a:cs typeface="Courier New" pitchFamily="49" charset="0"/>
              </a:rPr>
              <a:t>,</a:t>
            </a:r>
            <a:r>
              <a:rPr lang="en-US" sz="2800" dirty="0" smtClean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sz="2800" dirty="0" smtClean="0">
                <a:latin typeface="Lucida Sans Typewriter" panose="020B0509030504030204" pitchFamily="49" charset="0"/>
                <a:cs typeface="Courier New" pitchFamily="49" charset="0"/>
              </a:rPr>
              <a:t>12</a:t>
            </a:r>
            <a:r>
              <a:rPr lang="en-US" sz="2800" dirty="0">
                <a:latin typeface="Lucida Sans Typewriter" panose="020B0509030504030204" pitchFamily="49" charset="0"/>
                <a:cs typeface="Courier New" pitchFamily="49" charset="0"/>
              </a:rPr>
              <a:t>, </a:t>
            </a:r>
            <a:r>
              <a:rPr lang="en-US" sz="2800" dirty="0" smtClean="0">
                <a:latin typeface="Lucida Sans Typewriter" panose="020B0509030504030204" pitchFamily="49" charset="0"/>
                <a:cs typeface="Courier New" pitchFamily="49" charset="0"/>
              </a:rPr>
              <a:t>34.56, 7j)</a:t>
            </a:r>
            <a:endParaRPr lang="en-US" sz="2800" dirty="0">
              <a:latin typeface="Lucida Sans Typewriter" panose="020B0509030504030204" pitchFamily="49" charset="0"/>
              <a:cs typeface="Courier New" pitchFamily="49" charset="0"/>
            </a:endParaRPr>
          </a:p>
          <a:p>
            <a:pPr lvl="1">
              <a:lnSpc>
                <a:spcPct val="85000"/>
              </a:lnSpc>
              <a:buFontTx/>
              <a:buNone/>
            </a:pPr>
            <a:r>
              <a:rPr lang="en-US" sz="28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&gt;&gt;&gt;</a:t>
            </a:r>
            <a:r>
              <a:rPr lang="en-US" sz="2800" dirty="0"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sz="2800" dirty="0" smtClean="0">
                <a:solidFill>
                  <a:srgbClr val="0070C0"/>
                </a:solidFill>
                <a:latin typeface="Lucida Sans Typewriter" panose="020B0509030504030204" pitchFamily="49" charset="0"/>
                <a:cs typeface="Courier New" pitchFamily="49" charset="0"/>
              </a:rPr>
              <a:t>tup2 </a:t>
            </a:r>
            <a:r>
              <a:rPr lang="en-US" sz="2800" dirty="0" smtClean="0">
                <a:latin typeface="Lucida Sans Typewriter" panose="020B0509030504030204" pitchFamily="49" charset="0"/>
                <a:cs typeface="Courier New" pitchFamily="49" charset="0"/>
              </a:rPr>
              <a:t>= </a:t>
            </a:r>
            <a:r>
              <a:rPr lang="en-US" sz="2800" dirty="0" smtClean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tup1[:2]</a:t>
            </a:r>
            <a:r>
              <a:rPr lang="en-US" sz="2800" dirty="0" smtClean="0">
                <a:latin typeface="Lucida Sans Typewriter" panose="020B0509030504030204" pitchFamily="49" charset="0"/>
                <a:cs typeface="Courier New" pitchFamily="49" charset="0"/>
              </a:rPr>
              <a:t>; print(</a:t>
            </a:r>
            <a:r>
              <a:rPr lang="en-US" sz="2800" dirty="0" smtClean="0">
                <a:solidFill>
                  <a:srgbClr val="0070C0"/>
                </a:solidFill>
                <a:latin typeface="Lucida Sans Typewriter" panose="020B0509030504030204" pitchFamily="49" charset="0"/>
                <a:cs typeface="Courier New" pitchFamily="49" charset="0"/>
              </a:rPr>
              <a:t>tup2</a:t>
            </a:r>
            <a:r>
              <a:rPr lang="en-US" sz="2800" dirty="0" smtClean="0">
                <a:latin typeface="Lucida Sans Typewriter" panose="020B0509030504030204" pitchFamily="49" charset="0"/>
                <a:cs typeface="Courier New" pitchFamily="49" charset="0"/>
              </a:rPr>
              <a:t>)</a:t>
            </a:r>
          </a:p>
          <a:p>
            <a:pPr lvl="1">
              <a:lnSpc>
                <a:spcPct val="85000"/>
              </a:lnSpc>
              <a:buNone/>
            </a:pPr>
            <a:r>
              <a:rPr lang="en-US" sz="2800" dirty="0" smtClean="0">
                <a:latin typeface="Lucida Sans Typewriter" panose="020B0509030504030204" pitchFamily="49" charset="0"/>
                <a:cs typeface="Courier New" pitchFamily="49" charset="0"/>
              </a:rPr>
              <a:t>(</a:t>
            </a:r>
            <a:r>
              <a:rPr lang="en-US" sz="2800" dirty="0" smtClean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'</a:t>
            </a:r>
            <a:r>
              <a:rPr lang="en-US" sz="2800" dirty="0" err="1" smtClean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abc</a:t>
            </a:r>
            <a:r>
              <a:rPr lang="en-US" sz="2800" dirty="0" smtClean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', 'xyz'</a:t>
            </a:r>
            <a:r>
              <a:rPr lang="en-US" sz="2800" dirty="0" smtClean="0">
                <a:latin typeface="Lucida Sans Typewriter" panose="020B0509030504030204" pitchFamily="49" charset="0"/>
                <a:cs typeface="Courier New" pitchFamily="49" charset="0"/>
              </a:rPr>
              <a:t>)</a:t>
            </a:r>
          </a:p>
          <a:p>
            <a:pPr lvl="1">
              <a:lnSpc>
                <a:spcPct val="85000"/>
              </a:lnSpc>
              <a:buFontTx/>
              <a:buNone/>
            </a:pPr>
            <a:r>
              <a:rPr lang="en-US" sz="2800" dirty="0" smtClean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&gt;&gt;&gt;</a:t>
            </a:r>
            <a:r>
              <a:rPr lang="en-US" sz="2800" dirty="0" smtClean="0"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sz="2800" dirty="0" smtClean="0">
                <a:solidFill>
                  <a:schemeClr val="bg1"/>
                </a:solidFill>
                <a:latin typeface="Lucida Console" panose="020B0609040504020204" pitchFamily="49" charset="0"/>
                <a:cs typeface="Courier New" pitchFamily="49" charset="0"/>
              </a:rPr>
              <a:t>tup3 = </a:t>
            </a:r>
            <a:r>
              <a:rPr lang="en-US" sz="2800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tup1[-1:]*3 + tup2; </a:t>
            </a:r>
          </a:p>
          <a:p>
            <a:pPr lvl="1">
              <a:lnSpc>
                <a:spcPct val="85000"/>
              </a:lnSpc>
              <a:buFontTx/>
              <a:buNone/>
            </a:pPr>
            <a:r>
              <a:rPr lang="en-US" sz="2800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&gt;&gt;&gt; print(tup3)</a:t>
            </a:r>
          </a:p>
          <a:p>
            <a:pPr lvl="1">
              <a:lnSpc>
                <a:spcPct val="85000"/>
              </a:lnSpc>
              <a:buFontTx/>
              <a:buNone/>
            </a:pPr>
            <a:r>
              <a:rPr lang="en-US" sz="2800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(7j, 7j, 7j, '</a:t>
            </a:r>
            <a:r>
              <a:rPr lang="en-US" sz="2800" dirty="0" err="1" smtClean="0">
                <a:solidFill>
                  <a:schemeClr val="bg1"/>
                </a:solidFill>
                <a:latin typeface="Lucida Console" panose="020B0609040504020204" pitchFamily="49" charset="0"/>
              </a:rPr>
              <a:t>abc</a:t>
            </a:r>
            <a:r>
              <a:rPr lang="en-US" sz="2800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', 'xyz')</a:t>
            </a:r>
          </a:p>
          <a:p>
            <a:pPr lvl="1">
              <a:lnSpc>
                <a:spcPct val="85000"/>
              </a:lnSpc>
              <a:buFontTx/>
              <a:buNone/>
            </a:pPr>
            <a:r>
              <a:rPr lang="en-US" sz="2800" dirty="0" smtClean="0">
                <a:solidFill>
                  <a:schemeClr val="bg1"/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  <a:endParaRPr lang="en-US" sz="2800" dirty="0">
              <a:solidFill>
                <a:schemeClr val="bg1"/>
              </a:solidFill>
              <a:latin typeface="Lucida Console" panose="020B0609040504020204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47966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20580"/>
            <a:ext cx="9742901" cy="685800"/>
          </a:xfrm>
        </p:spPr>
        <p:txBody>
          <a:bodyPr>
            <a:noAutofit/>
          </a:bodyPr>
          <a:lstStyle/>
          <a:p>
            <a:r>
              <a:rPr lang="en-US" sz="4400" dirty="0">
                <a:solidFill>
                  <a:srgbClr val="0070C0"/>
                </a:solidFill>
              </a:rPr>
              <a:t>Updating </a:t>
            </a:r>
            <a:r>
              <a:rPr lang="en-US" sz="4400" dirty="0" smtClean="0">
                <a:solidFill>
                  <a:srgbClr val="0070C0"/>
                </a:solidFill>
              </a:rPr>
              <a:t>Tuples</a:t>
            </a:r>
            <a:endParaRPr lang="en-US" sz="4400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049" y="1134980"/>
            <a:ext cx="9550739" cy="5562600"/>
          </a:xfrm>
        </p:spPr>
        <p:txBody>
          <a:bodyPr>
            <a:noAutofit/>
          </a:bodyPr>
          <a:lstStyle/>
          <a:p>
            <a:pPr marL="227013" indent="-227013">
              <a:lnSpc>
                <a:spcPct val="85000"/>
              </a:lnSpc>
            </a:pPr>
            <a:r>
              <a:rPr lang="en-US" sz="3600" dirty="0"/>
              <a:t>Tuples are immutable so you can’t modify them. </a:t>
            </a:r>
          </a:p>
          <a:p>
            <a:pPr marL="227013" indent="-227013">
              <a:lnSpc>
                <a:spcPct val="85000"/>
              </a:lnSpc>
              <a:spcBef>
                <a:spcPts val="1800"/>
              </a:spcBef>
            </a:pPr>
            <a:r>
              <a:rPr lang="en-US" sz="3600" dirty="0"/>
              <a:t>But </a:t>
            </a:r>
            <a:r>
              <a:rPr lang="en-US" sz="3600" dirty="0" smtClean="0"/>
              <a:t>you can </a:t>
            </a:r>
            <a:r>
              <a:rPr lang="en-US" sz="3600" i="1" dirty="0" smtClean="0"/>
              <a:t>create </a:t>
            </a:r>
            <a:r>
              <a:rPr lang="en-US" sz="3600" i="1" dirty="0">
                <a:solidFill>
                  <a:srgbClr val="00B050"/>
                </a:solidFill>
              </a:rPr>
              <a:t>a new tuple </a:t>
            </a:r>
            <a:r>
              <a:rPr lang="en-US" sz="3600" dirty="0" smtClean="0"/>
              <a:t>from a modified</a:t>
            </a:r>
            <a:r>
              <a:rPr lang="en-US" sz="3600" i="1" dirty="0" smtClean="0"/>
              <a:t> </a:t>
            </a:r>
            <a:r>
              <a:rPr lang="en-US" sz="3600" i="1" dirty="0"/>
              <a:t>existing </a:t>
            </a:r>
            <a:r>
              <a:rPr lang="en-US" sz="3600" i="1" dirty="0" smtClean="0"/>
              <a:t>tuple</a:t>
            </a:r>
            <a:r>
              <a:rPr lang="en-US" sz="3600" dirty="0" smtClean="0"/>
              <a:t>:</a:t>
            </a:r>
            <a:endParaRPr lang="en-US" sz="2800" dirty="0"/>
          </a:p>
          <a:p>
            <a:pPr marL="0" indent="0">
              <a:lnSpc>
                <a:spcPct val="85000"/>
              </a:lnSpc>
              <a:buNone/>
            </a:pPr>
            <a:endParaRPr lang="en-US" sz="1050" b="1" dirty="0"/>
          </a:p>
          <a:p>
            <a:pPr lvl="1">
              <a:lnSpc>
                <a:spcPct val="85000"/>
              </a:lnSpc>
              <a:buFontTx/>
              <a:buNone/>
            </a:pPr>
            <a:r>
              <a:rPr lang="en-US" sz="28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&gt;&gt;&gt;</a:t>
            </a:r>
            <a:r>
              <a:rPr lang="en-US" sz="2800" dirty="0">
                <a:latin typeface="Lucida Sans Typewriter" panose="020B0509030504030204" pitchFamily="49" charset="0"/>
                <a:cs typeface="Courier New" pitchFamily="49" charset="0"/>
              </a:rPr>
              <a:t> tup1 = </a:t>
            </a:r>
            <a:r>
              <a:rPr lang="en-US" sz="2800" dirty="0" smtClean="0">
                <a:latin typeface="Lucida Sans Typewriter" panose="020B0509030504030204" pitchFamily="49" charset="0"/>
                <a:cs typeface="Courier New" pitchFamily="49" charset="0"/>
              </a:rPr>
              <a:t>('</a:t>
            </a:r>
            <a:r>
              <a:rPr lang="en-US" sz="2800" dirty="0" err="1" smtClean="0">
                <a:latin typeface="Lucida Sans Typewriter" panose="020B0509030504030204" pitchFamily="49" charset="0"/>
                <a:cs typeface="Courier New" pitchFamily="49" charset="0"/>
              </a:rPr>
              <a:t>abc</a:t>
            </a:r>
            <a:r>
              <a:rPr lang="en-US" sz="2800" dirty="0">
                <a:latin typeface="Lucida Sans Typewriter" panose="020B0509030504030204" pitchFamily="49" charset="0"/>
                <a:cs typeface="Courier New" pitchFamily="49" charset="0"/>
              </a:rPr>
              <a:t>', </a:t>
            </a:r>
            <a:r>
              <a:rPr lang="en-US" sz="2800" dirty="0" smtClean="0">
                <a:latin typeface="Lucida Sans Typewriter" panose="020B0509030504030204" pitchFamily="49" charset="0"/>
                <a:cs typeface="Courier New" pitchFamily="49" charset="0"/>
              </a:rPr>
              <a:t>'xyz', 12</a:t>
            </a:r>
            <a:r>
              <a:rPr lang="en-US" sz="2800" dirty="0">
                <a:latin typeface="Lucida Sans Typewriter" panose="020B0509030504030204" pitchFamily="49" charset="0"/>
                <a:cs typeface="Courier New" pitchFamily="49" charset="0"/>
              </a:rPr>
              <a:t>, </a:t>
            </a:r>
            <a:r>
              <a:rPr lang="en-US" sz="2800" dirty="0" smtClean="0">
                <a:latin typeface="Lucida Sans Typewriter" panose="020B0509030504030204" pitchFamily="49" charset="0"/>
                <a:cs typeface="Courier New" pitchFamily="49" charset="0"/>
              </a:rPr>
              <a:t>34.56, </a:t>
            </a:r>
            <a:r>
              <a:rPr lang="en-US" sz="2800" dirty="0" smtClean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7j</a:t>
            </a:r>
            <a:r>
              <a:rPr lang="en-US" sz="2800" dirty="0" smtClean="0">
                <a:latin typeface="Lucida Sans Typewriter" panose="020B0509030504030204" pitchFamily="49" charset="0"/>
                <a:cs typeface="Courier New" pitchFamily="49" charset="0"/>
              </a:rPr>
              <a:t>)</a:t>
            </a:r>
            <a:endParaRPr lang="en-US" sz="2800" dirty="0">
              <a:latin typeface="Lucida Sans Typewriter" panose="020B0509030504030204" pitchFamily="49" charset="0"/>
              <a:cs typeface="Courier New" pitchFamily="49" charset="0"/>
            </a:endParaRPr>
          </a:p>
          <a:p>
            <a:pPr lvl="1">
              <a:lnSpc>
                <a:spcPct val="85000"/>
              </a:lnSpc>
              <a:buFontTx/>
              <a:buNone/>
            </a:pPr>
            <a:r>
              <a:rPr lang="en-US" sz="28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&gt;&gt;&gt;</a:t>
            </a:r>
            <a:r>
              <a:rPr lang="en-US" sz="2800" dirty="0"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sz="2800" dirty="0" smtClean="0">
                <a:solidFill>
                  <a:srgbClr val="0070C0"/>
                </a:solidFill>
                <a:latin typeface="Lucida Sans Typewriter" panose="020B0509030504030204" pitchFamily="49" charset="0"/>
                <a:cs typeface="Courier New" pitchFamily="49" charset="0"/>
              </a:rPr>
              <a:t>tup2 </a:t>
            </a:r>
            <a:r>
              <a:rPr lang="en-US" sz="2800" dirty="0" smtClean="0">
                <a:latin typeface="Lucida Sans Typewriter" panose="020B0509030504030204" pitchFamily="49" charset="0"/>
                <a:cs typeface="Courier New" pitchFamily="49" charset="0"/>
              </a:rPr>
              <a:t>= tup1[:2]; print(tup2)</a:t>
            </a:r>
          </a:p>
          <a:p>
            <a:pPr lvl="1">
              <a:lnSpc>
                <a:spcPct val="85000"/>
              </a:lnSpc>
              <a:buNone/>
            </a:pPr>
            <a:r>
              <a:rPr lang="en-US" sz="2800" dirty="0" smtClean="0">
                <a:latin typeface="Lucida Sans Typewriter" panose="020B0509030504030204" pitchFamily="49" charset="0"/>
                <a:cs typeface="Courier New" pitchFamily="49" charset="0"/>
              </a:rPr>
              <a:t>('</a:t>
            </a:r>
            <a:r>
              <a:rPr lang="en-US" sz="2800" dirty="0" err="1" smtClean="0">
                <a:latin typeface="Lucida Sans Typewriter" panose="020B0509030504030204" pitchFamily="49" charset="0"/>
                <a:cs typeface="Courier New" pitchFamily="49" charset="0"/>
              </a:rPr>
              <a:t>abc</a:t>
            </a:r>
            <a:r>
              <a:rPr lang="en-US" sz="2800" dirty="0" smtClean="0">
                <a:latin typeface="Lucida Sans Typewriter" panose="020B0509030504030204" pitchFamily="49" charset="0"/>
                <a:cs typeface="Courier New" pitchFamily="49" charset="0"/>
              </a:rPr>
              <a:t>', 'xyz')</a:t>
            </a:r>
          </a:p>
          <a:p>
            <a:pPr lvl="1">
              <a:lnSpc>
                <a:spcPct val="85000"/>
              </a:lnSpc>
              <a:buFontTx/>
              <a:buNone/>
            </a:pPr>
            <a:r>
              <a:rPr lang="en-US" sz="2800" dirty="0" smtClean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&gt;&gt;&gt;</a:t>
            </a:r>
            <a:r>
              <a:rPr lang="en-US" sz="2800" dirty="0" smtClean="0"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sz="2800" dirty="0" smtClean="0">
                <a:solidFill>
                  <a:srgbClr val="00B050"/>
                </a:solidFill>
                <a:latin typeface="Lucida Console" panose="020B0609040504020204" pitchFamily="49" charset="0"/>
                <a:cs typeface="Courier New" pitchFamily="49" charset="0"/>
              </a:rPr>
              <a:t>tup3</a:t>
            </a:r>
            <a:r>
              <a:rPr lang="en-US" sz="2800" dirty="0" smtClean="0">
                <a:latin typeface="Lucida Console" panose="020B0609040504020204" pitchFamily="49" charset="0"/>
                <a:cs typeface="Courier New" pitchFamily="49" charset="0"/>
              </a:rPr>
              <a:t> = </a:t>
            </a:r>
            <a:r>
              <a:rPr lang="en-US" sz="28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tup1[-1:]*3 </a:t>
            </a:r>
            <a:r>
              <a:rPr lang="en-US" sz="2800" dirty="0" smtClean="0">
                <a:latin typeface="Lucida Console" panose="020B0609040504020204" pitchFamily="49" charset="0"/>
              </a:rPr>
              <a:t>+ </a:t>
            </a:r>
            <a:r>
              <a:rPr lang="en-US" sz="2800" dirty="0" smtClean="0">
                <a:solidFill>
                  <a:srgbClr val="0070C0"/>
                </a:solidFill>
                <a:latin typeface="Lucida Console" panose="020B0609040504020204" pitchFamily="49" charset="0"/>
              </a:rPr>
              <a:t>tup2</a:t>
            </a:r>
            <a:r>
              <a:rPr lang="en-US" sz="2800" dirty="0" smtClean="0">
                <a:latin typeface="Lucida Console" panose="020B0609040504020204" pitchFamily="49" charset="0"/>
              </a:rPr>
              <a:t>; </a:t>
            </a:r>
            <a:r>
              <a:rPr lang="en-US" sz="2800" dirty="0">
                <a:solidFill>
                  <a:schemeClr val="bg1"/>
                </a:solidFill>
                <a:latin typeface="Lucida Console" panose="020B0609040504020204" pitchFamily="49" charset="0"/>
              </a:rPr>
              <a:t>print(tup3)</a:t>
            </a:r>
          </a:p>
          <a:p>
            <a:pPr lvl="1">
              <a:lnSpc>
                <a:spcPct val="85000"/>
              </a:lnSpc>
              <a:buFontTx/>
              <a:buNone/>
            </a:pPr>
            <a:r>
              <a:rPr lang="en-US" sz="2800" dirty="0">
                <a:solidFill>
                  <a:schemeClr val="bg1"/>
                </a:solidFill>
                <a:latin typeface="Lucida Console" panose="020B0609040504020204" pitchFamily="49" charset="0"/>
              </a:rPr>
              <a:t>(7j, 7j, 7j, '</a:t>
            </a:r>
            <a:r>
              <a:rPr lang="en-US" sz="2800" dirty="0" err="1">
                <a:solidFill>
                  <a:schemeClr val="bg1"/>
                </a:solidFill>
                <a:latin typeface="Lucida Console" panose="020B0609040504020204" pitchFamily="49" charset="0"/>
              </a:rPr>
              <a:t>abc</a:t>
            </a:r>
            <a:r>
              <a:rPr lang="en-US" sz="2800" dirty="0">
                <a:solidFill>
                  <a:schemeClr val="bg1"/>
                </a:solidFill>
                <a:latin typeface="Lucida Console" panose="020B0609040504020204" pitchFamily="49" charset="0"/>
              </a:rPr>
              <a:t>', 'xyz')</a:t>
            </a:r>
          </a:p>
          <a:p>
            <a:pPr lvl="1">
              <a:lnSpc>
                <a:spcPct val="85000"/>
              </a:lnSpc>
              <a:buNone/>
            </a:pPr>
            <a:r>
              <a:rPr lang="en-US" sz="2800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&gt;&gt;&gt; </a:t>
            </a:r>
            <a:r>
              <a:rPr lang="en-US" sz="2800" dirty="0" err="1" smtClean="0">
                <a:solidFill>
                  <a:schemeClr val="bg1"/>
                </a:solidFill>
                <a:latin typeface="Lucida Console" panose="020B0609040504020204" pitchFamily="49" charset="0"/>
                <a:cs typeface="Courier New" pitchFamily="49" charset="0"/>
              </a:rPr>
              <a:t>tupX</a:t>
            </a:r>
            <a:r>
              <a:rPr lang="en-US" sz="2800" dirty="0" smtClean="0">
                <a:solidFill>
                  <a:schemeClr val="bg1"/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sz="2800" dirty="0">
                <a:solidFill>
                  <a:schemeClr val="bg1"/>
                </a:solidFill>
                <a:latin typeface="Lucida Console" panose="020B0609040504020204" pitchFamily="49" charset="0"/>
                <a:cs typeface="Courier New" pitchFamily="49" charset="0"/>
              </a:rPr>
              <a:t>= </a:t>
            </a:r>
            <a:r>
              <a:rPr lang="en-US" sz="2800" dirty="0">
                <a:solidFill>
                  <a:schemeClr val="bg1"/>
                </a:solidFill>
                <a:latin typeface="Lucida Console" panose="020B0609040504020204" pitchFamily="49" charset="0"/>
              </a:rPr>
              <a:t>tup1[-</a:t>
            </a:r>
            <a:r>
              <a:rPr lang="en-US" sz="2800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1]*</a:t>
            </a:r>
            <a:r>
              <a:rPr lang="en-US" sz="2800" dirty="0">
                <a:solidFill>
                  <a:schemeClr val="bg1"/>
                </a:solidFill>
                <a:latin typeface="Lucida Console" panose="020B0609040504020204" pitchFamily="49" charset="0"/>
              </a:rPr>
              <a:t>3 + tup2</a:t>
            </a:r>
            <a:r>
              <a:rPr lang="en-US" sz="2800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;</a:t>
            </a:r>
          </a:p>
          <a:p>
            <a:pPr lvl="1">
              <a:lnSpc>
                <a:spcPct val="85000"/>
              </a:lnSpc>
              <a:buFontTx/>
              <a:buNone/>
            </a:pPr>
            <a:r>
              <a:rPr lang="en-US" sz="2800" dirty="0" err="1">
                <a:solidFill>
                  <a:schemeClr val="bg1"/>
                </a:solidFill>
                <a:latin typeface="Arial Narrow" panose="020B0606020202030204" pitchFamily="34" charset="0"/>
              </a:rPr>
              <a:t>Traceback</a:t>
            </a:r>
            <a:r>
              <a:rPr lang="en-US" sz="2800" dirty="0">
                <a:solidFill>
                  <a:schemeClr val="bg1"/>
                </a:solidFill>
                <a:latin typeface="Arial Narrow" panose="020B0606020202030204" pitchFamily="34" charset="0"/>
              </a:rPr>
              <a:t> (most recent call last):</a:t>
            </a:r>
          </a:p>
          <a:p>
            <a:pPr lvl="1">
              <a:lnSpc>
                <a:spcPct val="85000"/>
              </a:lnSpc>
              <a:buFontTx/>
              <a:buNone/>
            </a:pPr>
            <a:r>
              <a:rPr lang="en-US" sz="2800" dirty="0">
                <a:solidFill>
                  <a:schemeClr val="bg1"/>
                </a:solidFill>
                <a:latin typeface="Arial Narrow" panose="020B0606020202030204" pitchFamily="34" charset="0"/>
              </a:rPr>
              <a:t>  File "&lt;</a:t>
            </a:r>
            <a:r>
              <a:rPr lang="en-US" sz="2800" dirty="0" err="1">
                <a:solidFill>
                  <a:schemeClr val="bg1"/>
                </a:solidFill>
                <a:latin typeface="Arial Narrow" panose="020B0606020202030204" pitchFamily="34" charset="0"/>
              </a:rPr>
              <a:t>stdin</a:t>
            </a:r>
            <a:r>
              <a:rPr lang="en-US" sz="2800" dirty="0">
                <a:solidFill>
                  <a:schemeClr val="bg1"/>
                </a:solidFill>
                <a:latin typeface="Arial Narrow" panose="020B0606020202030204" pitchFamily="34" charset="0"/>
              </a:rPr>
              <a:t>&gt;", line 1, in &lt;module&gt;</a:t>
            </a:r>
          </a:p>
          <a:p>
            <a:pPr lvl="1">
              <a:lnSpc>
                <a:spcPct val="85000"/>
              </a:lnSpc>
              <a:buFontTx/>
              <a:buNone/>
            </a:pPr>
            <a:r>
              <a:rPr lang="en-US" sz="2800" dirty="0" err="1">
                <a:solidFill>
                  <a:schemeClr val="bg1"/>
                </a:solidFill>
                <a:latin typeface="Arial Narrow" panose="020B0606020202030204" pitchFamily="34" charset="0"/>
              </a:rPr>
              <a:t>TypeError</a:t>
            </a:r>
            <a:r>
              <a:rPr lang="en-US" sz="2800" dirty="0">
                <a:solidFill>
                  <a:schemeClr val="bg1"/>
                </a:solidFill>
                <a:latin typeface="Arial Narrow" panose="020B0606020202030204" pitchFamily="34" charset="0"/>
              </a:rPr>
              <a:t>: unsupported operand type(s) for +: 'complex' and 'tuple'</a:t>
            </a:r>
          </a:p>
        </p:txBody>
      </p:sp>
    </p:spTree>
    <p:extLst>
      <p:ext uri="{BB962C8B-B14F-4D97-AF65-F5344CB8AC3E}">
        <p14:creationId xmlns:p14="http://schemas.microsoft.com/office/powerpoint/2010/main" val="22669315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20580"/>
            <a:ext cx="9742901" cy="685800"/>
          </a:xfrm>
        </p:spPr>
        <p:txBody>
          <a:bodyPr>
            <a:noAutofit/>
          </a:bodyPr>
          <a:lstStyle/>
          <a:p>
            <a:r>
              <a:rPr lang="en-US" sz="4400" dirty="0">
                <a:solidFill>
                  <a:srgbClr val="0070C0"/>
                </a:solidFill>
              </a:rPr>
              <a:t>Updating </a:t>
            </a:r>
            <a:r>
              <a:rPr lang="en-US" sz="4400" dirty="0" smtClean="0">
                <a:solidFill>
                  <a:srgbClr val="0070C0"/>
                </a:solidFill>
              </a:rPr>
              <a:t>Tuples</a:t>
            </a:r>
            <a:endParaRPr lang="en-US" sz="4400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049" y="1134980"/>
            <a:ext cx="9550739" cy="5562600"/>
          </a:xfrm>
        </p:spPr>
        <p:txBody>
          <a:bodyPr>
            <a:noAutofit/>
          </a:bodyPr>
          <a:lstStyle/>
          <a:p>
            <a:pPr marL="227013" indent="-227013">
              <a:lnSpc>
                <a:spcPct val="85000"/>
              </a:lnSpc>
            </a:pPr>
            <a:r>
              <a:rPr lang="en-US" sz="3600" dirty="0"/>
              <a:t>Tuples are immutable so you can’t modify them. </a:t>
            </a:r>
          </a:p>
          <a:p>
            <a:pPr marL="227013" indent="-227013">
              <a:lnSpc>
                <a:spcPct val="85000"/>
              </a:lnSpc>
              <a:spcBef>
                <a:spcPts val="1800"/>
              </a:spcBef>
            </a:pPr>
            <a:r>
              <a:rPr lang="en-US" sz="3600" dirty="0"/>
              <a:t>But </a:t>
            </a:r>
            <a:r>
              <a:rPr lang="en-US" sz="3600" dirty="0" smtClean="0"/>
              <a:t>you can </a:t>
            </a:r>
            <a:r>
              <a:rPr lang="en-US" sz="3600" i="1" dirty="0" smtClean="0"/>
              <a:t>create </a:t>
            </a:r>
            <a:r>
              <a:rPr lang="en-US" sz="3600" i="1" dirty="0">
                <a:solidFill>
                  <a:srgbClr val="00B050"/>
                </a:solidFill>
              </a:rPr>
              <a:t>a new tuple </a:t>
            </a:r>
            <a:r>
              <a:rPr lang="en-US" sz="3600" dirty="0" smtClean="0"/>
              <a:t>from a modified</a:t>
            </a:r>
            <a:r>
              <a:rPr lang="en-US" sz="3600" i="1" dirty="0" smtClean="0"/>
              <a:t> </a:t>
            </a:r>
            <a:r>
              <a:rPr lang="en-US" sz="3600" i="1" dirty="0"/>
              <a:t>existing </a:t>
            </a:r>
            <a:r>
              <a:rPr lang="en-US" sz="3600" i="1" dirty="0" smtClean="0"/>
              <a:t>tuple</a:t>
            </a:r>
            <a:r>
              <a:rPr lang="en-US" sz="3600" dirty="0" smtClean="0"/>
              <a:t>:</a:t>
            </a:r>
            <a:endParaRPr lang="en-US" sz="2800" dirty="0"/>
          </a:p>
          <a:p>
            <a:pPr marL="0" indent="0">
              <a:lnSpc>
                <a:spcPct val="85000"/>
              </a:lnSpc>
              <a:buNone/>
            </a:pPr>
            <a:endParaRPr lang="en-US" sz="1050" b="1" dirty="0"/>
          </a:p>
          <a:p>
            <a:pPr lvl="1">
              <a:lnSpc>
                <a:spcPct val="85000"/>
              </a:lnSpc>
              <a:buFontTx/>
              <a:buNone/>
            </a:pPr>
            <a:r>
              <a:rPr lang="en-US" sz="28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&gt;&gt;&gt;</a:t>
            </a:r>
            <a:r>
              <a:rPr lang="en-US" sz="2800" dirty="0">
                <a:latin typeface="Lucida Sans Typewriter" panose="020B0509030504030204" pitchFamily="49" charset="0"/>
                <a:cs typeface="Courier New" pitchFamily="49" charset="0"/>
              </a:rPr>
              <a:t> tup1 = </a:t>
            </a:r>
            <a:r>
              <a:rPr lang="en-US" sz="2800" dirty="0" smtClean="0">
                <a:latin typeface="Lucida Sans Typewriter" panose="020B0509030504030204" pitchFamily="49" charset="0"/>
                <a:cs typeface="Courier New" pitchFamily="49" charset="0"/>
              </a:rPr>
              <a:t>('</a:t>
            </a:r>
            <a:r>
              <a:rPr lang="en-US" sz="2800" dirty="0" err="1" smtClean="0">
                <a:latin typeface="Lucida Sans Typewriter" panose="020B0509030504030204" pitchFamily="49" charset="0"/>
                <a:cs typeface="Courier New" pitchFamily="49" charset="0"/>
              </a:rPr>
              <a:t>abc</a:t>
            </a:r>
            <a:r>
              <a:rPr lang="en-US" sz="2800" dirty="0">
                <a:latin typeface="Lucida Sans Typewriter" panose="020B0509030504030204" pitchFamily="49" charset="0"/>
                <a:cs typeface="Courier New" pitchFamily="49" charset="0"/>
              </a:rPr>
              <a:t>', </a:t>
            </a:r>
            <a:r>
              <a:rPr lang="en-US" sz="2800" dirty="0" smtClean="0">
                <a:latin typeface="Lucida Sans Typewriter" panose="020B0509030504030204" pitchFamily="49" charset="0"/>
                <a:cs typeface="Courier New" pitchFamily="49" charset="0"/>
              </a:rPr>
              <a:t>'xyz', 12</a:t>
            </a:r>
            <a:r>
              <a:rPr lang="en-US" sz="2800" dirty="0">
                <a:latin typeface="Lucida Sans Typewriter" panose="020B0509030504030204" pitchFamily="49" charset="0"/>
                <a:cs typeface="Courier New" pitchFamily="49" charset="0"/>
              </a:rPr>
              <a:t>, </a:t>
            </a:r>
            <a:r>
              <a:rPr lang="en-US" sz="2800" dirty="0" smtClean="0">
                <a:latin typeface="Lucida Sans Typewriter" panose="020B0509030504030204" pitchFamily="49" charset="0"/>
                <a:cs typeface="Courier New" pitchFamily="49" charset="0"/>
              </a:rPr>
              <a:t>34.56, </a:t>
            </a:r>
            <a:r>
              <a:rPr lang="en-US" sz="2800" dirty="0" smtClean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7j</a:t>
            </a:r>
            <a:r>
              <a:rPr lang="en-US" sz="2800" dirty="0" smtClean="0">
                <a:latin typeface="Lucida Sans Typewriter" panose="020B0509030504030204" pitchFamily="49" charset="0"/>
                <a:cs typeface="Courier New" pitchFamily="49" charset="0"/>
              </a:rPr>
              <a:t>)</a:t>
            </a:r>
            <a:endParaRPr lang="en-US" sz="2800" dirty="0">
              <a:latin typeface="Lucida Sans Typewriter" panose="020B0509030504030204" pitchFamily="49" charset="0"/>
              <a:cs typeface="Courier New" pitchFamily="49" charset="0"/>
            </a:endParaRPr>
          </a:p>
          <a:p>
            <a:pPr lvl="1">
              <a:lnSpc>
                <a:spcPct val="85000"/>
              </a:lnSpc>
              <a:buFontTx/>
              <a:buNone/>
            </a:pPr>
            <a:r>
              <a:rPr lang="en-US" sz="28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&gt;&gt;&gt;</a:t>
            </a:r>
            <a:r>
              <a:rPr lang="en-US" sz="2800" dirty="0"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sz="2800" dirty="0" smtClean="0">
                <a:solidFill>
                  <a:srgbClr val="0070C0"/>
                </a:solidFill>
                <a:latin typeface="Lucida Sans Typewriter" panose="020B0509030504030204" pitchFamily="49" charset="0"/>
                <a:cs typeface="Courier New" pitchFamily="49" charset="0"/>
              </a:rPr>
              <a:t>tup2 </a:t>
            </a:r>
            <a:r>
              <a:rPr lang="en-US" sz="2800" dirty="0" smtClean="0">
                <a:latin typeface="Lucida Sans Typewriter" panose="020B0509030504030204" pitchFamily="49" charset="0"/>
                <a:cs typeface="Courier New" pitchFamily="49" charset="0"/>
              </a:rPr>
              <a:t>= tup1[:2]; print(tup2)</a:t>
            </a:r>
          </a:p>
          <a:p>
            <a:pPr lvl="1">
              <a:lnSpc>
                <a:spcPct val="85000"/>
              </a:lnSpc>
              <a:buNone/>
            </a:pPr>
            <a:r>
              <a:rPr lang="en-US" sz="2800" dirty="0" smtClean="0">
                <a:latin typeface="Lucida Sans Typewriter" panose="020B0509030504030204" pitchFamily="49" charset="0"/>
                <a:cs typeface="Courier New" pitchFamily="49" charset="0"/>
              </a:rPr>
              <a:t>('</a:t>
            </a:r>
            <a:r>
              <a:rPr lang="en-US" sz="2800" dirty="0" err="1" smtClean="0">
                <a:latin typeface="Lucida Sans Typewriter" panose="020B0509030504030204" pitchFamily="49" charset="0"/>
                <a:cs typeface="Courier New" pitchFamily="49" charset="0"/>
              </a:rPr>
              <a:t>abc</a:t>
            </a:r>
            <a:r>
              <a:rPr lang="en-US" sz="2800" dirty="0" smtClean="0">
                <a:latin typeface="Lucida Sans Typewriter" panose="020B0509030504030204" pitchFamily="49" charset="0"/>
                <a:cs typeface="Courier New" pitchFamily="49" charset="0"/>
              </a:rPr>
              <a:t>', 'xyz')</a:t>
            </a:r>
          </a:p>
          <a:p>
            <a:pPr lvl="1">
              <a:lnSpc>
                <a:spcPct val="85000"/>
              </a:lnSpc>
              <a:buFontTx/>
              <a:buNone/>
            </a:pPr>
            <a:r>
              <a:rPr lang="en-US" sz="2800" dirty="0" smtClean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&gt;&gt;&gt;</a:t>
            </a:r>
            <a:r>
              <a:rPr lang="en-US" sz="2800" dirty="0" smtClean="0"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sz="2800" dirty="0" smtClean="0">
                <a:solidFill>
                  <a:srgbClr val="00B050"/>
                </a:solidFill>
                <a:latin typeface="Lucida Console" panose="020B0609040504020204" pitchFamily="49" charset="0"/>
                <a:cs typeface="Courier New" pitchFamily="49" charset="0"/>
              </a:rPr>
              <a:t>tup3</a:t>
            </a:r>
            <a:r>
              <a:rPr lang="en-US" sz="2800" dirty="0" smtClean="0">
                <a:latin typeface="Lucida Console" panose="020B0609040504020204" pitchFamily="49" charset="0"/>
                <a:cs typeface="Courier New" pitchFamily="49" charset="0"/>
              </a:rPr>
              <a:t> = </a:t>
            </a:r>
            <a:r>
              <a:rPr lang="en-US" sz="28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tup1[-1:]*3 </a:t>
            </a:r>
            <a:r>
              <a:rPr lang="en-US" sz="2800" dirty="0" smtClean="0">
                <a:latin typeface="Lucida Console" panose="020B0609040504020204" pitchFamily="49" charset="0"/>
              </a:rPr>
              <a:t>+ </a:t>
            </a:r>
            <a:r>
              <a:rPr lang="en-US" sz="2800" dirty="0" smtClean="0">
                <a:solidFill>
                  <a:srgbClr val="0070C0"/>
                </a:solidFill>
                <a:latin typeface="Lucida Console" panose="020B0609040504020204" pitchFamily="49" charset="0"/>
              </a:rPr>
              <a:t>tup2</a:t>
            </a:r>
            <a:r>
              <a:rPr lang="en-US" sz="2800" dirty="0" smtClean="0">
                <a:latin typeface="Lucida Console" panose="020B0609040504020204" pitchFamily="49" charset="0"/>
              </a:rPr>
              <a:t>; </a:t>
            </a:r>
            <a:r>
              <a:rPr lang="en-US" sz="2800" dirty="0">
                <a:latin typeface="Lucida Console" panose="020B0609040504020204" pitchFamily="49" charset="0"/>
              </a:rPr>
              <a:t>print(</a:t>
            </a:r>
            <a:r>
              <a:rPr lang="en-US" sz="2800" dirty="0">
                <a:solidFill>
                  <a:srgbClr val="00B050"/>
                </a:solidFill>
                <a:latin typeface="Lucida Console" panose="020B0609040504020204" pitchFamily="49" charset="0"/>
              </a:rPr>
              <a:t>tup3</a:t>
            </a:r>
            <a:r>
              <a:rPr lang="en-US" sz="2800" dirty="0">
                <a:latin typeface="Lucida Console" panose="020B0609040504020204" pitchFamily="49" charset="0"/>
              </a:rPr>
              <a:t>)</a:t>
            </a:r>
          </a:p>
          <a:p>
            <a:pPr lvl="1">
              <a:lnSpc>
                <a:spcPct val="85000"/>
              </a:lnSpc>
              <a:buFontTx/>
              <a:buNone/>
            </a:pPr>
            <a:r>
              <a:rPr lang="en-US" sz="2800" dirty="0">
                <a:latin typeface="Lucida Console" panose="020B0609040504020204" pitchFamily="49" charset="0"/>
              </a:rPr>
              <a:t>(</a:t>
            </a:r>
            <a:r>
              <a:rPr lang="en-US" sz="2800" dirty="0">
                <a:solidFill>
                  <a:srgbClr val="FF0000"/>
                </a:solidFill>
                <a:latin typeface="Lucida Console" panose="020B0609040504020204" pitchFamily="49" charset="0"/>
              </a:rPr>
              <a:t>7j</a:t>
            </a:r>
            <a:r>
              <a:rPr lang="en-US" sz="2800" dirty="0">
                <a:latin typeface="Lucida Console" panose="020B0609040504020204" pitchFamily="49" charset="0"/>
              </a:rPr>
              <a:t>,</a:t>
            </a:r>
            <a:r>
              <a:rPr lang="en-US" sz="2800" dirty="0">
                <a:solidFill>
                  <a:srgbClr val="FF0000"/>
                </a:solidFill>
                <a:latin typeface="Lucida Console" panose="020B0609040504020204" pitchFamily="49" charset="0"/>
              </a:rPr>
              <a:t> 7j</a:t>
            </a:r>
            <a:r>
              <a:rPr lang="en-US" sz="2800" dirty="0">
                <a:latin typeface="Lucida Console" panose="020B0609040504020204" pitchFamily="49" charset="0"/>
              </a:rPr>
              <a:t>,</a:t>
            </a:r>
            <a:r>
              <a:rPr lang="en-US" sz="2800" dirty="0">
                <a:solidFill>
                  <a:srgbClr val="FF0000"/>
                </a:solidFill>
                <a:latin typeface="Lucida Console" panose="020B0609040504020204" pitchFamily="49" charset="0"/>
              </a:rPr>
              <a:t> 7j</a:t>
            </a:r>
            <a:r>
              <a:rPr lang="en-US" sz="2800" dirty="0">
                <a:latin typeface="Lucida Console" panose="020B0609040504020204" pitchFamily="49" charset="0"/>
              </a:rPr>
              <a:t>, </a:t>
            </a:r>
            <a:r>
              <a:rPr lang="en-US" sz="2800" dirty="0">
                <a:solidFill>
                  <a:srgbClr val="0070C0"/>
                </a:solidFill>
                <a:latin typeface="Lucida Console" panose="020B0609040504020204" pitchFamily="49" charset="0"/>
              </a:rPr>
              <a:t>'</a:t>
            </a:r>
            <a:r>
              <a:rPr lang="en-US" sz="2800" dirty="0" err="1">
                <a:solidFill>
                  <a:srgbClr val="0070C0"/>
                </a:solidFill>
                <a:latin typeface="Lucida Console" panose="020B0609040504020204" pitchFamily="49" charset="0"/>
              </a:rPr>
              <a:t>abc</a:t>
            </a:r>
            <a:r>
              <a:rPr lang="en-US" sz="2800" dirty="0">
                <a:solidFill>
                  <a:srgbClr val="0070C0"/>
                </a:solidFill>
                <a:latin typeface="Lucida Console" panose="020B0609040504020204" pitchFamily="49" charset="0"/>
              </a:rPr>
              <a:t>', 'xyz'</a:t>
            </a:r>
            <a:r>
              <a:rPr lang="en-US" sz="2800" dirty="0">
                <a:latin typeface="Lucida Console" panose="020B0609040504020204" pitchFamily="49" charset="0"/>
              </a:rPr>
              <a:t>)</a:t>
            </a:r>
          </a:p>
          <a:p>
            <a:pPr lvl="1">
              <a:lnSpc>
                <a:spcPct val="85000"/>
              </a:lnSpc>
              <a:buNone/>
            </a:pPr>
            <a:r>
              <a:rPr lang="en-US" sz="28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sz="2800" dirty="0" err="1" smtClean="0">
                <a:solidFill>
                  <a:schemeClr val="bg1"/>
                </a:solidFill>
                <a:latin typeface="Lucida Console" panose="020B0609040504020204" pitchFamily="49" charset="0"/>
                <a:cs typeface="Courier New" pitchFamily="49" charset="0"/>
              </a:rPr>
              <a:t>tupX</a:t>
            </a:r>
            <a:r>
              <a:rPr lang="en-US" sz="2800" dirty="0" smtClean="0">
                <a:solidFill>
                  <a:schemeClr val="bg1"/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sz="2800" dirty="0">
                <a:solidFill>
                  <a:schemeClr val="bg1"/>
                </a:solidFill>
                <a:latin typeface="Lucida Console" panose="020B0609040504020204" pitchFamily="49" charset="0"/>
                <a:cs typeface="Courier New" pitchFamily="49" charset="0"/>
              </a:rPr>
              <a:t>= </a:t>
            </a:r>
            <a:r>
              <a:rPr lang="en-US" sz="2800" dirty="0">
                <a:solidFill>
                  <a:schemeClr val="bg1"/>
                </a:solidFill>
                <a:latin typeface="Lucida Console" panose="020B0609040504020204" pitchFamily="49" charset="0"/>
              </a:rPr>
              <a:t>tup1[-</a:t>
            </a:r>
            <a:r>
              <a:rPr lang="en-US" sz="2800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1]*</a:t>
            </a:r>
            <a:r>
              <a:rPr lang="en-US" sz="2800" dirty="0">
                <a:solidFill>
                  <a:schemeClr val="bg1"/>
                </a:solidFill>
                <a:latin typeface="Lucida Console" panose="020B0609040504020204" pitchFamily="49" charset="0"/>
              </a:rPr>
              <a:t>3 + tup2</a:t>
            </a:r>
            <a:r>
              <a:rPr lang="en-US" sz="2800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;</a:t>
            </a:r>
          </a:p>
          <a:p>
            <a:pPr lvl="1">
              <a:lnSpc>
                <a:spcPct val="85000"/>
              </a:lnSpc>
              <a:buFontTx/>
              <a:buNone/>
            </a:pPr>
            <a:r>
              <a:rPr lang="en-US" sz="2800" dirty="0" err="1">
                <a:solidFill>
                  <a:schemeClr val="bg1"/>
                </a:solidFill>
                <a:latin typeface="Arial Narrow" panose="020B0606020202030204" pitchFamily="34" charset="0"/>
              </a:rPr>
              <a:t>Traceback</a:t>
            </a:r>
            <a:r>
              <a:rPr lang="en-US" sz="2800" dirty="0">
                <a:solidFill>
                  <a:schemeClr val="bg1"/>
                </a:solidFill>
                <a:latin typeface="Arial Narrow" panose="020B0606020202030204" pitchFamily="34" charset="0"/>
              </a:rPr>
              <a:t> (most recent call last):</a:t>
            </a:r>
          </a:p>
          <a:p>
            <a:pPr lvl="1">
              <a:lnSpc>
                <a:spcPct val="85000"/>
              </a:lnSpc>
              <a:buFontTx/>
              <a:buNone/>
            </a:pPr>
            <a:r>
              <a:rPr lang="en-US" sz="2800" dirty="0">
                <a:solidFill>
                  <a:schemeClr val="bg1"/>
                </a:solidFill>
                <a:latin typeface="Arial Narrow" panose="020B0606020202030204" pitchFamily="34" charset="0"/>
              </a:rPr>
              <a:t>  File "&lt;</a:t>
            </a:r>
            <a:r>
              <a:rPr lang="en-US" sz="2800" dirty="0" err="1">
                <a:solidFill>
                  <a:schemeClr val="bg1"/>
                </a:solidFill>
                <a:latin typeface="Arial Narrow" panose="020B0606020202030204" pitchFamily="34" charset="0"/>
              </a:rPr>
              <a:t>stdin</a:t>
            </a:r>
            <a:r>
              <a:rPr lang="en-US" sz="2800" dirty="0">
                <a:solidFill>
                  <a:schemeClr val="bg1"/>
                </a:solidFill>
                <a:latin typeface="Arial Narrow" panose="020B0606020202030204" pitchFamily="34" charset="0"/>
              </a:rPr>
              <a:t>&gt;", line 1, in &lt;module&gt;</a:t>
            </a:r>
          </a:p>
          <a:p>
            <a:pPr lvl="1">
              <a:lnSpc>
                <a:spcPct val="85000"/>
              </a:lnSpc>
              <a:buFontTx/>
              <a:buNone/>
            </a:pPr>
            <a:r>
              <a:rPr lang="en-US" sz="2800" dirty="0" err="1">
                <a:solidFill>
                  <a:schemeClr val="bg1"/>
                </a:solidFill>
                <a:latin typeface="Arial Narrow" panose="020B0606020202030204" pitchFamily="34" charset="0"/>
              </a:rPr>
              <a:t>TypeError</a:t>
            </a:r>
            <a:r>
              <a:rPr lang="en-US" sz="2800" dirty="0">
                <a:solidFill>
                  <a:schemeClr val="bg1"/>
                </a:solidFill>
                <a:latin typeface="Arial Narrow" panose="020B0606020202030204" pitchFamily="34" charset="0"/>
              </a:rPr>
              <a:t>: unsupported operand type(s) for +: 'complex' and 'tuple'</a:t>
            </a:r>
          </a:p>
        </p:txBody>
      </p:sp>
    </p:spTree>
    <p:extLst>
      <p:ext uri="{BB962C8B-B14F-4D97-AF65-F5344CB8AC3E}">
        <p14:creationId xmlns:p14="http://schemas.microsoft.com/office/powerpoint/2010/main" val="38006611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20580"/>
            <a:ext cx="9742901" cy="685800"/>
          </a:xfrm>
        </p:spPr>
        <p:txBody>
          <a:bodyPr>
            <a:noAutofit/>
          </a:bodyPr>
          <a:lstStyle/>
          <a:p>
            <a:r>
              <a:rPr lang="en-US" sz="4400" dirty="0">
                <a:solidFill>
                  <a:srgbClr val="0070C0"/>
                </a:solidFill>
              </a:rPr>
              <a:t>Updating </a:t>
            </a:r>
            <a:r>
              <a:rPr lang="en-US" sz="4400" dirty="0" smtClean="0">
                <a:solidFill>
                  <a:srgbClr val="0070C0"/>
                </a:solidFill>
              </a:rPr>
              <a:t>Tuples</a:t>
            </a:r>
            <a:endParaRPr lang="en-US" sz="4400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049" y="1134980"/>
            <a:ext cx="9550739" cy="5562600"/>
          </a:xfrm>
        </p:spPr>
        <p:txBody>
          <a:bodyPr>
            <a:noAutofit/>
          </a:bodyPr>
          <a:lstStyle/>
          <a:p>
            <a:pPr marL="227013" indent="-227013">
              <a:lnSpc>
                <a:spcPct val="85000"/>
              </a:lnSpc>
            </a:pPr>
            <a:r>
              <a:rPr lang="en-US" sz="3600" dirty="0"/>
              <a:t>Tuples are immutable so you can’t modify them. </a:t>
            </a:r>
          </a:p>
          <a:p>
            <a:pPr marL="227013" indent="-227013">
              <a:lnSpc>
                <a:spcPct val="85000"/>
              </a:lnSpc>
              <a:spcBef>
                <a:spcPts val="1800"/>
              </a:spcBef>
            </a:pPr>
            <a:r>
              <a:rPr lang="en-US" sz="3600" dirty="0"/>
              <a:t>But </a:t>
            </a:r>
            <a:r>
              <a:rPr lang="en-US" sz="3600" dirty="0" smtClean="0"/>
              <a:t>you can </a:t>
            </a:r>
            <a:r>
              <a:rPr lang="en-US" sz="3600" i="1" dirty="0" smtClean="0"/>
              <a:t>create </a:t>
            </a:r>
            <a:r>
              <a:rPr lang="en-US" sz="3600" i="1" dirty="0">
                <a:solidFill>
                  <a:srgbClr val="00B050"/>
                </a:solidFill>
              </a:rPr>
              <a:t>a new tuple </a:t>
            </a:r>
            <a:r>
              <a:rPr lang="en-US" sz="3600" dirty="0" smtClean="0"/>
              <a:t>from a modified</a:t>
            </a:r>
            <a:r>
              <a:rPr lang="en-US" sz="3600" i="1" dirty="0" smtClean="0"/>
              <a:t> </a:t>
            </a:r>
            <a:r>
              <a:rPr lang="en-US" sz="3600" i="1" dirty="0"/>
              <a:t>existing </a:t>
            </a:r>
            <a:r>
              <a:rPr lang="en-US" sz="3600" i="1" dirty="0" smtClean="0"/>
              <a:t>tuple</a:t>
            </a:r>
            <a:r>
              <a:rPr lang="en-US" sz="3600" dirty="0" smtClean="0"/>
              <a:t>:</a:t>
            </a:r>
            <a:endParaRPr lang="en-US" sz="2800" dirty="0"/>
          </a:p>
          <a:p>
            <a:pPr marL="0" indent="0">
              <a:lnSpc>
                <a:spcPct val="85000"/>
              </a:lnSpc>
              <a:buNone/>
            </a:pPr>
            <a:endParaRPr lang="en-US" sz="1050" b="1" dirty="0"/>
          </a:p>
          <a:p>
            <a:pPr lvl="1">
              <a:lnSpc>
                <a:spcPct val="85000"/>
              </a:lnSpc>
              <a:buFontTx/>
              <a:buNone/>
            </a:pPr>
            <a:r>
              <a:rPr lang="en-US" sz="28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&gt;&gt;&gt;</a:t>
            </a:r>
            <a:r>
              <a:rPr lang="en-US" sz="2800" dirty="0">
                <a:latin typeface="Lucida Sans Typewriter" panose="020B0509030504030204" pitchFamily="49" charset="0"/>
                <a:cs typeface="Courier New" pitchFamily="49" charset="0"/>
              </a:rPr>
              <a:t> tup1 = </a:t>
            </a:r>
            <a:r>
              <a:rPr lang="en-US" sz="2800" dirty="0" smtClean="0">
                <a:latin typeface="Lucida Sans Typewriter" panose="020B0509030504030204" pitchFamily="49" charset="0"/>
                <a:cs typeface="Courier New" pitchFamily="49" charset="0"/>
              </a:rPr>
              <a:t>('</a:t>
            </a:r>
            <a:r>
              <a:rPr lang="en-US" sz="2800" dirty="0" err="1" smtClean="0">
                <a:latin typeface="Lucida Sans Typewriter" panose="020B0509030504030204" pitchFamily="49" charset="0"/>
                <a:cs typeface="Courier New" pitchFamily="49" charset="0"/>
              </a:rPr>
              <a:t>abc</a:t>
            </a:r>
            <a:r>
              <a:rPr lang="en-US" sz="2800" dirty="0">
                <a:latin typeface="Lucida Sans Typewriter" panose="020B0509030504030204" pitchFamily="49" charset="0"/>
                <a:cs typeface="Courier New" pitchFamily="49" charset="0"/>
              </a:rPr>
              <a:t>', </a:t>
            </a:r>
            <a:r>
              <a:rPr lang="en-US" sz="2800" dirty="0" smtClean="0">
                <a:latin typeface="Lucida Sans Typewriter" panose="020B0509030504030204" pitchFamily="49" charset="0"/>
                <a:cs typeface="Courier New" pitchFamily="49" charset="0"/>
              </a:rPr>
              <a:t>'xyz', 12</a:t>
            </a:r>
            <a:r>
              <a:rPr lang="en-US" sz="2800" dirty="0">
                <a:latin typeface="Lucida Sans Typewriter" panose="020B0509030504030204" pitchFamily="49" charset="0"/>
                <a:cs typeface="Courier New" pitchFamily="49" charset="0"/>
              </a:rPr>
              <a:t>, </a:t>
            </a:r>
            <a:r>
              <a:rPr lang="en-US" sz="2800" dirty="0" smtClean="0">
                <a:latin typeface="Lucida Sans Typewriter" panose="020B0509030504030204" pitchFamily="49" charset="0"/>
                <a:cs typeface="Courier New" pitchFamily="49" charset="0"/>
              </a:rPr>
              <a:t>34.56, </a:t>
            </a:r>
            <a:r>
              <a:rPr lang="en-US" sz="2800" dirty="0" smtClean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7j</a:t>
            </a:r>
            <a:r>
              <a:rPr lang="en-US" sz="2800" dirty="0" smtClean="0">
                <a:latin typeface="Lucida Sans Typewriter" panose="020B0509030504030204" pitchFamily="49" charset="0"/>
                <a:cs typeface="Courier New" pitchFamily="49" charset="0"/>
              </a:rPr>
              <a:t>)</a:t>
            </a:r>
            <a:endParaRPr lang="en-US" sz="2800" dirty="0">
              <a:latin typeface="Lucida Sans Typewriter" panose="020B0509030504030204" pitchFamily="49" charset="0"/>
              <a:cs typeface="Courier New" pitchFamily="49" charset="0"/>
            </a:endParaRPr>
          </a:p>
          <a:p>
            <a:pPr lvl="1">
              <a:lnSpc>
                <a:spcPct val="85000"/>
              </a:lnSpc>
              <a:buFontTx/>
              <a:buNone/>
            </a:pPr>
            <a:r>
              <a:rPr lang="en-US" sz="28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&gt;&gt;&gt;</a:t>
            </a:r>
            <a:r>
              <a:rPr lang="en-US" sz="2800" dirty="0"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sz="2800" dirty="0" smtClean="0">
                <a:solidFill>
                  <a:srgbClr val="0070C0"/>
                </a:solidFill>
                <a:latin typeface="Lucida Sans Typewriter" panose="020B0509030504030204" pitchFamily="49" charset="0"/>
                <a:cs typeface="Courier New" pitchFamily="49" charset="0"/>
              </a:rPr>
              <a:t>tup2 </a:t>
            </a:r>
            <a:r>
              <a:rPr lang="en-US" sz="2800" dirty="0" smtClean="0">
                <a:latin typeface="Lucida Sans Typewriter" panose="020B0509030504030204" pitchFamily="49" charset="0"/>
                <a:cs typeface="Courier New" pitchFamily="49" charset="0"/>
              </a:rPr>
              <a:t>= tup1[:2]; print(tup2)</a:t>
            </a:r>
          </a:p>
          <a:p>
            <a:pPr lvl="1">
              <a:lnSpc>
                <a:spcPct val="85000"/>
              </a:lnSpc>
              <a:buNone/>
            </a:pPr>
            <a:r>
              <a:rPr lang="en-US" sz="2800" dirty="0" smtClean="0">
                <a:latin typeface="Lucida Sans Typewriter" panose="020B0509030504030204" pitchFamily="49" charset="0"/>
                <a:cs typeface="Courier New" pitchFamily="49" charset="0"/>
              </a:rPr>
              <a:t>('</a:t>
            </a:r>
            <a:r>
              <a:rPr lang="en-US" sz="2800" dirty="0" err="1" smtClean="0">
                <a:latin typeface="Lucida Sans Typewriter" panose="020B0509030504030204" pitchFamily="49" charset="0"/>
                <a:cs typeface="Courier New" pitchFamily="49" charset="0"/>
              </a:rPr>
              <a:t>abc</a:t>
            </a:r>
            <a:r>
              <a:rPr lang="en-US" sz="2800" dirty="0" smtClean="0">
                <a:latin typeface="Lucida Sans Typewriter" panose="020B0509030504030204" pitchFamily="49" charset="0"/>
                <a:cs typeface="Courier New" pitchFamily="49" charset="0"/>
              </a:rPr>
              <a:t>', 'xyz')</a:t>
            </a:r>
          </a:p>
          <a:p>
            <a:pPr lvl="1">
              <a:lnSpc>
                <a:spcPct val="85000"/>
              </a:lnSpc>
              <a:buFontTx/>
              <a:buNone/>
            </a:pPr>
            <a:r>
              <a:rPr lang="en-US" sz="2800" dirty="0" smtClean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&gt;&gt;&gt;</a:t>
            </a:r>
            <a:r>
              <a:rPr lang="en-US" sz="2800" dirty="0" smtClean="0"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sz="2800" dirty="0" smtClean="0">
                <a:solidFill>
                  <a:srgbClr val="00B050"/>
                </a:solidFill>
                <a:latin typeface="Lucida Console" panose="020B0609040504020204" pitchFamily="49" charset="0"/>
                <a:cs typeface="Courier New" pitchFamily="49" charset="0"/>
              </a:rPr>
              <a:t>tup3</a:t>
            </a:r>
            <a:r>
              <a:rPr lang="en-US" sz="2800" dirty="0" smtClean="0">
                <a:latin typeface="Lucida Console" panose="020B0609040504020204" pitchFamily="49" charset="0"/>
                <a:cs typeface="Courier New" pitchFamily="49" charset="0"/>
              </a:rPr>
              <a:t> = </a:t>
            </a:r>
            <a:r>
              <a:rPr lang="en-US" sz="28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tup1[-1:]*3 </a:t>
            </a:r>
            <a:r>
              <a:rPr lang="en-US" sz="2800" dirty="0" smtClean="0">
                <a:latin typeface="Lucida Console" panose="020B0609040504020204" pitchFamily="49" charset="0"/>
              </a:rPr>
              <a:t>+ </a:t>
            </a:r>
            <a:r>
              <a:rPr lang="en-US" sz="2800" dirty="0" smtClean="0">
                <a:solidFill>
                  <a:srgbClr val="0070C0"/>
                </a:solidFill>
                <a:latin typeface="Lucida Console" panose="020B0609040504020204" pitchFamily="49" charset="0"/>
              </a:rPr>
              <a:t>tup2</a:t>
            </a:r>
            <a:r>
              <a:rPr lang="en-US" sz="2800" dirty="0" smtClean="0">
                <a:latin typeface="Lucida Console" panose="020B0609040504020204" pitchFamily="49" charset="0"/>
              </a:rPr>
              <a:t>; </a:t>
            </a:r>
            <a:r>
              <a:rPr lang="en-US" sz="2800" dirty="0">
                <a:latin typeface="Lucida Console" panose="020B0609040504020204" pitchFamily="49" charset="0"/>
              </a:rPr>
              <a:t>print(tup3)</a:t>
            </a:r>
          </a:p>
          <a:p>
            <a:pPr lvl="1">
              <a:lnSpc>
                <a:spcPct val="85000"/>
              </a:lnSpc>
              <a:buFontTx/>
              <a:buNone/>
            </a:pPr>
            <a:r>
              <a:rPr lang="en-US" sz="2800" dirty="0">
                <a:latin typeface="Lucida Console" panose="020B0609040504020204" pitchFamily="49" charset="0"/>
              </a:rPr>
              <a:t>(7j, 7j, 7j, '</a:t>
            </a:r>
            <a:r>
              <a:rPr lang="en-US" sz="2800" dirty="0" err="1">
                <a:latin typeface="Lucida Console" panose="020B0609040504020204" pitchFamily="49" charset="0"/>
              </a:rPr>
              <a:t>abc</a:t>
            </a:r>
            <a:r>
              <a:rPr lang="en-US" sz="2800" dirty="0">
                <a:latin typeface="Lucida Console" panose="020B0609040504020204" pitchFamily="49" charset="0"/>
              </a:rPr>
              <a:t>', 'xyz')</a:t>
            </a:r>
          </a:p>
          <a:p>
            <a:pPr lvl="1">
              <a:lnSpc>
                <a:spcPct val="85000"/>
              </a:lnSpc>
              <a:buNone/>
            </a:pPr>
            <a:r>
              <a:rPr lang="en-US" sz="28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2800" dirty="0" smtClean="0">
                <a:latin typeface="Lucida Console" panose="020B0609040504020204" pitchFamily="49" charset="0"/>
              </a:rPr>
              <a:t> </a:t>
            </a:r>
            <a:r>
              <a:rPr lang="en-US" sz="2800" dirty="0" err="1" smtClean="0">
                <a:latin typeface="Lucida Console" panose="020B0609040504020204" pitchFamily="49" charset="0"/>
                <a:cs typeface="Courier New" pitchFamily="49" charset="0"/>
              </a:rPr>
              <a:t>tupX</a:t>
            </a:r>
            <a:r>
              <a:rPr lang="en-US" sz="2800" dirty="0" smtClean="0"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sz="2800" dirty="0">
                <a:latin typeface="Lucida Console" panose="020B0609040504020204" pitchFamily="49" charset="0"/>
                <a:cs typeface="Courier New" pitchFamily="49" charset="0"/>
              </a:rPr>
              <a:t>= </a:t>
            </a:r>
            <a:r>
              <a:rPr lang="en-US" sz="2800" dirty="0">
                <a:solidFill>
                  <a:srgbClr val="FF0000"/>
                </a:solidFill>
                <a:latin typeface="Lucida Console" panose="020B0609040504020204" pitchFamily="49" charset="0"/>
              </a:rPr>
              <a:t>tup1[-</a:t>
            </a:r>
            <a:r>
              <a:rPr lang="en-US" sz="28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1]*</a:t>
            </a:r>
            <a:r>
              <a:rPr lang="en-US" sz="2800" dirty="0">
                <a:solidFill>
                  <a:srgbClr val="FF0000"/>
                </a:solidFill>
                <a:latin typeface="Lucida Console" panose="020B0609040504020204" pitchFamily="49" charset="0"/>
              </a:rPr>
              <a:t>3 </a:t>
            </a:r>
            <a:r>
              <a:rPr lang="en-US" sz="2800" dirty="0">
                <a:latin typeface="Lucida Console" panose="020B0609040504020204" pitchFamily="49" charset="0"/>
              </a:rPr>
              <a:t>+ </a:t>
            </a:r>
            <a:r>
              <a:rPr lang="en-US" sz="2800" dirty="0">
                <a:solidFill>
                  <a:srgbClr val="0070C0"/>
                </a:solidFill>
                <a:latin typeface="Lucida Console" panose="020B0609040504020204" pitchFamily="49" charset="0"/>
              </a:rPr>
              <a:t>tup2</a:t>
            </a:r>
            <a:r>
              <a:rPr lang="en-US" sz="2800" dirty="0" smtClean="0">
                <a:latin typeface="Lucida Console" panose="020B0609040504020204" pitchFamily="49" charset="0"/>
              </a:rPr>
              <a:t>;</a:t>
            </a:r>
          </a:p>
          <a:p>
            <a:pPr lvl="1">
              <a:lnSpc>
                <a:spcPct val="85000"/>
              </a:lnSpc>
              <a:buFontTx/>
              <a:buNone/>
            </a:pPr>
            <a:r>
              <a:rPr lang="en-US" sz="2800" dirty="0" err="1">
                <a:solidFill>
                  <a:srgbClr val="FFAFAF"/>
                </a:solidFill>
                <a:latin typeface="Arial Narrow" panose="020B0606020202030204" pitchFamily="34" charset="0"/>
              </a:rPr>
              <a:t>Traceback</a:t>
            </a:r>
            <a:r>
              <a:rPr lang="en-US" sz="2800" dirty="0">
                <a:solidFill>
                  <a:srgbClr val="FFAFAF"/>
                </a:solidFill>
                <a:latin typeface="Arial Narrow" panose="020B0606020202030204" pitchFamily="34" charset="0"/>
              </a:rPr>
              <a:t> (most recent call last):</a:t>
            </a:r>
          </a:p>
          <a:p>
            <a:pPr lvl="1">
              <a:lnSpc>
                <a:spcPct val="85000"/>
              </a:lnSpc>
              <a:buFontTx/>
              <a:buNone/>
            </a:pPr>
            <a:r>
              <a:rPr lang="en-US" sz="2800" dirty="0">
                <a:solidFill>
                  <a:srgbClr val="FFAFAF"/>
                </a:solidFill>
                <a:latin typeface="Arial Narrow" panose="020B0606020202030204" pitchFamily="34" charset="0"/>
              </a:rPr>
              <a:t>  File "&lt;</a:t>
            </a:r>
            <a:r>
              <a:rPr lang="en-US" sz="2800" dirty="0" err="1">
                <a:solidFill>
                  <a:srgbClr val="FFAFAF"/>
                </a:solidFill>
                <a:latin typeface="Arial Narrow" panose="020B0606020202030204" pitchFamily="34" charset="0"/>
              </a:rPr>
              <a:t>stdin</a:t>
            </a:r>
            <a:r>
              <a:rPr lang="en-US" sz="2800" dirty="0">
                <a:solidFill>
                  <a:srgbClr val="FFAFAF"/>
                </a:solidFill>
                <a:latin typeface="Arial Narrow" panose="020B0606020202030204" pitchFamily="34" charset="0"/>
              </a:rPr>
              <a:t>&gt;", line 1, in &lt;module&gt;</a:t>
            </a:r>
          </a:p>
          <a:p>
            <a:pPr lvl="1">
              <a:lnSpc>
                <a:spcPct val="85000"/>
              </a:lnSpc>
              <a:buFontTx/>
              <a:buNone/>
            </a:pPr>
            <a:r>
              <a:rPr lang="en-US" sz="2800" dirty="0" err="1">
                <a:solidFill>
                  <a:srgbClr val="FFAFAF"/>
                </a:solidFill>
                <a:latin typeface="Arial Narrow" panose="020B0606020202030204" pitchFamily="34" charset="0"/>
              </a:rPr>
              <a:t>TypeError</a:t>
            </a:r>
            <a:r>
              <a:rPr lang="en-US" sz="2800" dirty="0">
                <a:solidFill>
                  <a:srgbClr val="FFAFAF"/>
                </a:solidFill>
                <a:latin typeface="Arial Narrow" panose="020B0606020202030204" pitchFamily="34" charset="0"/>
              </a:rPr>
              <a:t>: unsupported operand type(s) for +: </a:t>
            </a:r>
            <a:r>
              <a:rPr lang="en-US" sz="2800" dirty="0">
                <a:solidFill>
                  <a:srgbClr val="FF0000"/>
                </a:solidFill>
                <a:latin typeface="Arial Narrow" panose="020B0606020202030204" pitchFamily="34" charset="0"/>
              </a:rPr>
              <a:t>'complex'</a:t>
            </a:r>
            <a:r>
              <a:rPr lang="en-US" sz="2800" dirty="0">
                <a:latin typeface="Arial Narrow" panose="020B0606020202030204" pitchFamily="34" charset="0"/>
              </a:rPr>
              <a:t> </a:t>
            </a:r>
            <a:r>
              <a:rPr lang="en-US" sz="2800" dirty="0">
                <a:solidFill>
                  <a:srgbClr val="FFAFAF"/>
                </a:solidFill>
                <a:latin typeface="Arial Narrow" panose="020B0606020202030204" pitchFamily="34" charset="0"/>
              </a:rPr>
              <a:t>and</a:t>
            </a:r>
            <a:r>
              <a:rPr lang="en-US" sz="2800" dirty="0">
                <a:latin typeface="Arial Narrow" panose="020B0606020202030204" pitchFamily="34" charset="0"/>
              </a:rPr>
              <a:t> </a:t>
            </a:r>
            <a:r>
              <a:rPr lang="en-US" sz="2800" dirty="0">
                <a:solidFill>
                  <a:srgbClr val="0070C0"/>
                </a:solidFill>
                <a:latin typeface="Arial Narrow" panose="020B0606020202030204" pitchFamily="34" charset="0"/>
              </a:rPr>
              <a:t>'tuple'</a:t>
            </a:r>
          </a:p>
        </p:txBody>
      </p:sp>
    </p:spTree>
    <p:extLst>
      <p:ext uri="{BB962C8B-B14F-4D97-AF65-F5344CB8AC3E}">
        <p14:creationId xmlns:p14="http://schemas.microsoft.com/office/powerpoint/2010/main" val="38589345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20580"/>
            <a:ext cx="9742901" cy="685800"/>
          </a:xfrm>
        </p:spPr>
        <p:txBody>
          <a:bodyPr>
            <a:noAutofit/>
          </a:bodyPr>
          <a:lstStyle/>
          <a:p>
            <a:r>
              <a:rPr lang="en-US" sz="4400" dirty="0">
                <a:solidFill>
                  <a:srgbClr val="0070C0"/>
                </a:solidFill>
              </a:rPr>
              <a:t>Updating </a:t>
            </a:r>
            <a:r>
              <a:rPr lang="en-US" sz="4400" dirty="0" smtClean="0">
                <a:solidFill>
                  <a:srgbClr val="0070C0"/>
                </a:solidFill>
              </a:rPr>
              <a:t>Tuples</a:t>
            </a:r>
            <a:endParaRPr lang="en-US" sz="4400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049" y="1134980"/>
            <a:ext cx="9550739" cy="5562600"/>
          </a:xfrm>
        </p:spPr>
        <p:txBody>
          <a:bodyPr>
            <a:noAutofit/>
          </a:bodyPr>
          <a:lstStyle/>
          <a:p>
            <a:pPr marL="227013" indent="-227013">
              <a:lnSpc>
                <a:spcPct val="85000"/>
              </a:lnSpc>
            </a:pPr>
            <a:r>
              <a:rPr lang="en-US" sz="3600" dirty="0"/>
              <a:t>Tuples are immutable so you can’t modify them. </a:t>
            </a:r>
          </a:p>
          <a:p>
            <a:pPr marL="227013" indent="-227013">
              <a:lnSpc>
                <a:spcPct val="85000"/>
              </a:lnSpc>
              <a:spcBef>
                <a:spcPts val="1800"/>
              </a:spcBef>
            </a:pPr>
            <a:r>
              <a:rPr lang="en-US" sz="3600" dirty="0"/>
              <a:t>But </a:t>
            </a:r>
            <a:r>
              <a:rPr lang="en-US" sz="3600" dirty="0" smtClean="0"/>
              <a:t>you can </a:t>
            </a:r>
            <a:r>
              <a:rPr lang="en-US" sz="3600" i="1" dirty="0" smtClean="0"/>
              <a:t>create </a:t>
            </a:r>
            <a:r>
              <a:rPr lang="en-US" sz="3600" i="1" dirty="0">
                <a:solidFill>
                  <a:srgbClr val="00B050"/>
                </a:solidFill>
              </a:rPr>
              <a:t>a new tuple </a:t>
            </a:r>
            <a:r>
              <a:rPr lang="en-US" sz="3600" dirty="0" smtClean="0"/>
              <a:t>from a modified</a:t>
            </a:r>
            <a:r>
              <a:rPr lang="en-US" sz="3600" i="1" dirty="0" smtClean="0"/>
              <a:t> </a:t>
            </a:r>
            <a:r>
              <a:rPr lang="en-US" sz="3600" i="1" dirty="0"/>
              <a:t>existing </a:t>
            </a:r>
            <a:r>
              <a:rPr lang="en-US" sz="3600" i="1" dirty="0" smtClean="0"/>
              <a:t>tuple</a:t>
            </a:r>
            <a:r>
              <a:rPr lang="en-US" sz="3600" dirty="0" smtClean="0"/>
              <a:t>:</a:t>
            </a:r>
            <a:endParaRPr lang="en-US" sz="2800" dirty="0"/>
          </a:p>
          <a:p>
            <a:pPr marL="0" indent="0">
              <a:lnSpc>
                <a:spcPct val="85000"/>
              </a:lnSpc>
              <a:buNone/>
            </a:pPr>
            <a:endParaRPr lang="en-US" sz="1050" b="1" dirty="0"/>
          </a:p>
          <a:p>
            <a:pPr lvl="1">
              <a:lnSpc>
                <a:spcPct val="85000"/>
              </a:lnSpc>
              <a:buFontTx/>
              <a:buNone/>
            </a:pPr>
            <a:r>
              <a:rPr lang="en-US" sz="28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&gt;&gt;&gt;</a:t>
            </a:r>
            <a:r>
              <a:rPr lang="en-US" sz="2800" dirty="0">
                <a:latin typeface="Lucida Sans Typewriter" panose="020B0509030504030204" pitchFamily="49" charset="0"/>
                <a:cs typeface="Courier New" pitchFamily="49" charset="0"/>
              </a:rPr>
              <a:t> tup1 = </a:t>
            </a:r>
            <a:r>
              <a:rPr lang="en-US" sz="2800" dirty="0" smtClean="0">
                <a:latin typeface="Lucida Sans Typewriter" panose="020B0509030504030204" pitchFamily="49" charset="0"/>
                <a:cs typeface="Courier New" pitchFamily="49" charset="0"/>
              </a:rPr>
              <a:t>('</a:t>
            </a:r>
            <a:r>
              <a:rPr lang="en-US" sz="2800" dirty="0" err="1" smtClean="0">
                <a:latin typeface="Lucida Sans Typewriter" panose="020B0509030504030204" pitchFamily="49" charset="0"/>
                <a:cs typeface="Courier New" pitchFamily="49" charset="0"/>
              </a:rPr>
              <a:t>abc</a:t>
            </a:r>
            <a:r>
              <a:rPr lang="en-US" sz="2800" dirty="0">
                <a:latin typeface="Lucida Sans Typewriter" panose="020B0509030504030204" pitchFamily="49" charset="0"/>
                <a:cs typeface="Courier New" pitchFamily="49" charset="0"/>
              </a:rPr>
              <a:t>', </a:t>
            </a:r>
            <a:r>
              <a:rPr lang="en-US" sz="2800" dirty="0" smtClean="0">
                <a:latin typeface="Lucida Sans Typewriter" panose="020B0509030504030204" pitchFamily="49" charset="0"/>
                <a:cs typeface="Courier New" pitchFamily="49" charset="0"/>
              </a:rPr>
              <a:t>'xyz', 12</a:t>
            </a:r>
            <a:r>
              <a:rPr lang="en-US" sz="2800" dirty="0">
                <a:latin typeface="Lucida Sans Typewriter" panose="020B0509030504030204" pitchFamily="49" charset="0"/>
                <a:cs typeface="Courier New" pitchFamily="49" charset="0"/>
              </a:rPr>
              <a:t>, </a:t>
            </a:r>
            <a:r>
              <a:rPr lang="en-US" sz="2800" dirty="0" smtClean="0">
                <a:latin typeface="Lucida Sans Typewriter" panose="020B0509030504030204" pitchFamily="49" charset="0"/>
                <a:cs typeface="Courier New" pitchFamily="49" charset="0"/>
              </a:rPr>
              <a:t>34.56, </a:t>
            </a:r>
            <a:r>
              <a:rPr lang="en-US" sz="2800" dirty="0" smtClean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7j</a:t>
            </a:r>
            <a:r>
              <a:rPr lang="en-US" sz="2800" dirty="0" smtClean="0">
                <a:latin typeface="Lucida Sans Typewriter" panose="020B0509030504030204" pitchFamily="49" charset="0"/>
                <a:cs typeface="Courier New" pitchFamily="49" charset="0"/>
              </a:rPr>
              <a:t>)</a:t>
            </a:r>
            <a:endParaRPr lang="en-US" sz="2800" dirty="0">
              <a:latin typeface="Lucida Sans Typewriter" panose="020B0509030504030204" pitchFamily="49" charset="0"/>
              <a:cs typeface="Courier New" pitchFamily="49" charset="0"/>
            </a:endParaRPr>
          </a:p>
          <a:p>
            <a:pPr lvl="1">
              <a:lnSpc>
                <a:spcPct val="85000"/>
              </a:lnSpc>
              <a:buFontTx/>
              <a:buNone/>
            </a:pPr>
            <a:r>
              <a:rPr lang="en-US" sz="28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&gt;&gt;&gt;</a:t>
            </a:r>
            <a:r>
              <a:rPr lang="en-US" sz="2800" dirty="0"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sz="2800" dirty="0" smtClean="0">
                <a:solidFill>
                  <a:srgbClr val="0070C0"/>
                </a:solidFill>
                <a:latin typeface="Lucida Sans Typewriter" panose="020B0509030504030204" pitchFamily="49" charset="0"/>
                <a:cs typeface="Courier New" pitchFamily="49" charset="0"/>
              </a:rPr>
              <a:t>tup2 </a:t>
            </a:r>
            <a:r>
              <a:rPr lang="en-US" sz="2800" dirty="0" smtClean="0">
                <a:latin typeface="Lucida Sans Typewriter" panose="020B0509030504030204" pitchFamily="49" charset="0"/>
                <a:cs typeface="Courier New" pitchFamily="49" charset="0"/>
              </a:rPr>
              <a:t>= tup1[:2]; print(tup2)</a:t>
            </a:r>
          </a:p>
          <a:p>
            <a:pPr lvl="1">
              <a:lnSpc>
                <a:spcPct val="85000"/>
              </a:lnSpc>
              <a:buNone/>
            </a:pPr>
            <a:r>
              <a:rPr lang="en-US" sz="2800" dirty="0" smtClean="0">
                <a:latin typeface="Lucida Sans Typewriter" panose="020B0509030504030204" pitchFamily="49" charset="0"/>
                <a:cs typeface="Courier New" pitchFamily="49" charset="0"/>
              </a:rPr>
              <a:t>('</a:t>
            </a:r>
            <a:r>
              <a:rPr lang="en-US" sz="2800" dirty="0" err="1" smtClean="0">
                <a:latin typeface="Lucida Sans Typewriter" panose="020B0509030504030204" pitchFamily="49" charset="0"/>
                <a:cs typeface="Courier New" pitchFamily="49" charset="0"/>
              </a:rPr>
              <a:t>abc</a:t>
            </a:r>
            <a:r>
              <a:rPr lang="en-US" sz="2800" dirty="0" smtClean="0">
                <a:latin typeface="Lucida Sans Typewriter" panose="020B0509030504030204" pitchFamily="49" charset="0"/>
                <a:cs typeface="Courier New" pitchFamily="49" charset="0"/>
              </a:rPr>
              <a:t>', 'xyz')</a:t>
            </a:r>
          </a:p>
          <a:p>
            <a:pPr lvl="1">
              <a:lnSpc>
                <a:spcPct val="85000"/>
              </a:lnSpc>
              <a:buFontTx/>
              <a:buNone/>
            </a:pPr>
            <a:r>
              <a:rPr lang="en-US" sz="2800" dirty="0" smtClean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&gt;&gt;&gt;</a:t>
            </a:r>
            <a:r>
              <a:rPr lang="en-US" sz="2800" dirty="0" smtClean="0"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sz="2800" dirty="0" smtClean="0">
                <a:latin typeface="Lucida Console" panose="020B0609040504020204" pitchFamily="49" charset="0"/>
                <a:cs typeface="Courier New" pitchFamily="49" charset="0"/>
              </a:rPr>
              <a:t>tup3 = </a:t>
            </a:r>
            <a:r>
              <a:rPr lang="en-US" sz="2800" dirty="0" smtClean="0">
                <a:latin typeface="Lucida Console" panose="020B0609040504020204" pitchFamily="49" charset="0"/>
              </a:rPr>
              <a:t>tup1[-1:]*3</a:t>
            </a:r>
            <a:r>
              <a:rPr lang="en-US" sz="28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sz="2800" dirty="0" smtClean="0">
                <a:latin typeface="Lucida Console" panose="020B0609040504020204" pitchFamily="49" charset="0"/>
              </a:rPr>
              <a:t>+ </a:t>
            </a:r>
            <a:r>
              <a:rPr lang="en-US" sz="2800" dirty="0" smtClean="0">
                <a:solidFill>
                  <a:srgbClr val="0070C0"/>
                </a:solidFill>
                <a:latin typeface="Lucida Console" panose="020B0609040504020204" pitchFamily="49" charset="0"/>
              </a:rPr>
              <a:t>tup2</a:t>
            </a:r>
            <a:r>
              <a:rPr lang="en-US" sz="2800" dirty="0" smtClean="0">
                <a:latin typeface="Lucida Console" panose="020B0609040504020204" pitchFamily="49" charset="0"/>
              </a:rPr>
              <a:t>; </a:t>
            </a:r>
            <a:r>
              <a:rPr lang="en-US" sz="2800" dirty="0">
                <a:latin typeface="Lucida Console" panose="020B0609040504020204" pitchFamily="49" charset="0"/>
              </a:rPr>
              <a:t>print(tup3)</a:t>
            </a:r>
          </a:p>
          <a:p>
            <a:pPr lvl="1">
              <a:lnSpc>
                <a:spcPct val="85000"/>
              </a:lnSpc>
              <a:buFontTx/>
              <a:buNone/>
            </a:pPr>
            <a:r>
              <a:rPr lang="en-US" sz="2800" dirty="0">
                <a:latin typeface="Lucida Console" panose="020B0609040504020204" pitchFamily="49" charset="0"/>
              </a:rPr>
              <a:t>(7j, 7j, 7j, '</a:t>
            </a:r>
            <a:r>
              <a:rPr lang="en-US" sz="2800" dirty="0" err="1">
                <a:latin typeface="Lucida Console" panose="020B0609040504020204" pitchFamily="49" charset="0"/>
              </a:rPr>
              <a:t>abc</a:t>
            </a:r>
            <a:r>
              <a:rPr lang="en-US" sz="2800" dirty="0">
                <a:latin typeface="Lucida Console" panose="020B0609040504020204" pitchFamily="49" charset="0"/>
              </a:rPr>
              <a:t>', 'xyz')</a:t>
            </a:r>
          </a:p>
          <a:p>
            <a:pPr lvl="1">
              <a:lnSpc>
                <a:spcPct val="85000"/>
              </a:lnSpc>
              <a:buNone/>
            </a:pPr>
            <a:r>
              <a:rPr lang="en-US" sz="28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2800" dirty="0" smtClean="0">
                <a:latin typeface="Lucida Console" panose="020B0609040504020204" pitchFamily="49" charset="0"/>
              </a:rPr>
              <a:t> </a:t>
            </a:r>
            <a:r>
              <a:rPr lang="en-US" sz="2800" dirty="0" err="1" smtClean="0">
                <a:latin typeface="Lucida Console" panose="020B0609040504020204" pitchFamily="49" charset="0"/>
                <a:cs typeface="Courier New" pitchFamily="49" charset="0"/>
              </a:rPr>
              <a:t>tupX</a:t>
            </a:r>
            <a:r>
              <a:rPr lang="en-US" sz="2800" dirty="0" smtClean="0"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sz="2800" dirty="0">
                <a:latin typeface="Lucida Console" panose="020B0609040504020204" pitchFamily="49" charset="0"/>
                <a:cs typeface="Courier New" pitchFamily="49" charset="0"/>
              </a:rPr>
              <a:t>= </a:t>
            </a:r>
            <a:r>
              <a:rPr lang="en-US" sz="2800" dirty="0">
                <a:solidFill>
                  <a:srgbClr val="FF0000"/>
                </a:solidFill>
                <a:latin typeface="Lucida Console" panose="020B0609040504020204" pitchFamily="49" charset="0"/>
              </a:rPr>
              <a:t>tup1[-</a:t>
            </a:r>
            <a:r>
              <a:rPr lang="en-US" sz="28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1]</a:t>
            </a:r>
            <a:r>
              <a:rPr lang="en-US" sz="2800" dirty="0" smtClean="0">
                <a:latin typeface="Lucida Console" panose="020B0609040504020204" pitchFamily="49" charset="0"/>
              </a:rPr>
              <a:t>*</a:t>
            </a:r>
            <a:r>
              <a:rPr lang="en-US" sz="2800" dirty="0">
                <a:latin typeface="Lucida Console" panose="020B0609040504020204" pitchFamily="49" charset="0"/>
              </a:rPr>
              <a:t>3 + </a:t>
            </a:r>
            <a:r>
              <a:rPr lang="en-US" sz="2800" dirty="0">
                <a:solidFill>
                  <a:srgbClr val="0070C0"/>
                </a:solidFill>
                <a:latin typeface="Lucida Console" panose="020B0609040504020204" pitchFamily="49" charset="0"/>
              </a:rPr>
              <a:t>tup2</a:t>
            </a:r>
            <a:r>
              <a:rPr lang="en-US" sz="2800" dirty="0" smtClean="0">
                <a:latin typeface="Lucida Console" panose="020B0609040504020204" pitchFamily="49" charset="0"/>
              </a:rPr>
              <a:t>;</a:t>
            </a:r>
          </a:p>
          <a:p>
            <a:pPr lvl="1">
              <a:lnSpc>
                <a:spcPct val="85000"/>
              </a:lnSpc>
              <a:buFontTx/>
              <a:buNone/>
            </a:pPr>
            <a:r>
              <a:rPr lang="en-US" sz="2800" dirty="0" err="1">
                <a:solidFill>
                  <a:srgbClr val="FFAFAF"/>
                </a:solidFill>
                <a:latin typeface="Arial Narrow" panose="020B0606020202030204" pitchFamily="34" charset="0"/>
              </a:rPr>
              <a:t>Traceback</a:t>
            </a:r>
            <a:r>
              <a:rPr lang="en-US" sz="2800" dirty="0">
                <a:solidFill>
                  <a:srgbClr val="FFAFAF"/>
                </a:solidFill>
                <a:latin typeface="Arial Narrow" panose="020B0606020202030204" pitchFamily="34" charset="0"/>
              </a:rPr>
              <a:t> (most recent call last):</a:t>
            </a:r>
          </a:p>
          <a:p>
            <a:pPr lvl="1">
              <a:lnSpc>
                <a:spcPct val="85000"/>
              </a:lnSpc>
              <a:buFontTx/>
              <a:buNone/>
            </a:pPr>
            <a:r>
              <a:rPr lang="en-US" sz="2800" dirty="0">
                <a:solidFill>
                  <a:srgbClr val="FFAFAF"/>
                </a:solidFill>
                <a:latin typeface="Arial Narrow" panose="020B0606020202030204" pitchFamily="34" charset="0"/>
              </a:rPr>
              <a:t>  File "&lt;</a:t>
            </a:r>
            <a:r>
              <a:rPr lang="en-US" sz="2800" dirty="0" err="1">
                <a:solidFill>
                  <a:srgbClr val="FFAFAF"/>
                </a:solidFill>
                <a:latin typeface="Arial Narrow" panose="020B0606020202030204" pitchFamily="34" charset="0"/>
              </a:rPr>
              <a:t>stdin</a:t>
            </a:r>
            <a:r>
              <a:rPr lang="en-US" sz="2800" dirty="0">
                <a:solidFill>
                  <a:srgbClr val="FFAFAF"/>
                </a:solidFill>
                <a:latin typeface="Arial Narrow" panose="020B0606020202030204" pitchFamily="34" charset="0"/>
              </a:rPr>
              <a:t>&gt;", line 1, in &lt;module&gt;</a:t>
            </a:r>
          </a:p>
          <a:p>
            <a:pPr lvl="1">
              <a:lnSpc>
                <a:spcPct val="85000"/>
              </a:lnSpc>
              <a:buFontTx/>
              <a:buNone/>
            </a:pPr>
            <a:r>
              <a:rPr lang="en-US" sz="2800" dirty="0" err="1">
                <a:solidFill>
                  <a:srgbClr val="FFAFAF"/>
                </a:solidFill>
                <a:latin typeface="Arial Narrow" panose="020B0606020202030204" pitchFamily="34" charset="0"/>
              </a:rPr>
              <a:t>TypeError</a:t>
            </a:r>
            <a:r>
              <a:rPr lang="en-US" sz="2800" dirty="0">
                <a:solidFill>
                  <a:srgbClr val="FFAFAF"/>
                </a:solidFill>
                <a:latin typeface="Arial Narrow" panose="020B0606020202030204" pitchFamily="34" charset="0"/>
              </a:rPr>
              <a:t>: unsupported operand type(s) for +: </a:t>
            </a:r>
            <a:r>
              <a:rPr lang="en-US" sz="2800" dirty="0">
                <a:solidFill>
                  <a:srgbClr val="FF0000"/>
                </a:solidFill>
                <a:latin typeface="Arial Narrow" panose="020B0606020202030204" pitchFamily="34" charset="0"/>
              </a:rPr>
              <a:t>'complex'</a:t>
            </a:r>
            <a:r>
              <a:rPr lang="en-US" sz="2800" dirty="0">
                <a:latin typeface="Arial Narrow" panose="020B0606020202030204" pitchFamily="34" charset="0"/>
              </a:rPr>
              <a:t> </a:t>
            </a:r>
            <a:r>
              <a:rPr lang="en-US" sz="2800" dirty="0">
                <a:solidFill>
                  <a:srgbClr val="FFAFAF"/>
                </a:solidFill>
                <a:latin typeface="Arial Narrow" panose="020B0606020202030204" pitchFamily="34" charset="0"/>
              </a:rPr>
              <a:t>and</a:t>
            </a:r>
            <a:r>
              <a:rPr lang="en-US" sz="2800" dirty="0">
                <a:latin typeface="Arial Narrow" panose="020B0606020202030204" pitchFamily="34" charset="0"/>
              </a:rPr>
              <a:t> </a:t>
            </a:r>
            <a:r>
              <a:rPr lang="en-US" sz="2800" dirty="0">
                <a:solidFill>
                  <a:srgbClr val="0070C0"/>
                </a:solidFill>
                <a:latin typeface="Arial Narrow" panose="020B0606020202030204" pitchFamily="34" charset="0"/>
              </a:rPr>
              <a:t>'tuple'</a:t>
            </a:r>
          </a:p>
        </p:txBody>
      </p:sp>
      <p:cxnSp>
        <p:nvCxnSpPr>
          <p:cNvPr id="5" name="Straight Connector 4"/>
          <p:cNvCxnSpPr/>
          <p:nvPr/>
        </p:nvCxnSpPr>
        <p:spPr>
          <a:xfrm flipH="1" flipV="1">
            <a:off x="4636294" y="5486400"/>
            <a:ext cx="2438400" cy="914400"/>
          </a:xfrm>
          <a:prstGeom prst="line">
            <a:avLst/>
          </a:prstGeom>
          <a:ln w="285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 flipV="1">
            <a:off x="4712494" y="3429000"/>
            <a:ext cx="3962400" cy="1676400"/>
          </a:xfrm>
          <a:prstGeom prst="line">
            <a:avLst/>
          </a:prstGeom>
          <a:ln w="285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4670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20580"/>
            <a:ext cx="9742901" cy="685800"/>
          </a:xfrm>
        </p:spPr>
        <p:txBody>
          <a:bodyPr>
            <a:noAutofit/>
          </a:bodyPr>
          <a:lstStyle/>
          <a:p>
            <a:r>
              <a:rPr lang="en-US" sz="4400" dirty="0">
                <a:solidFill>
                  <a:srgbClr val="0070C0"/>
                </a:solidFill>
              </a:rPr>
              <a:t>Updating </a:t>
            </a:r>
            <a:r>
              <a:rPr lang="en-US" sz="4400" dirty="0" smtClean="0">
                <a:solidFill>
                  <a:srgbClr val="0070C0"/>
                </a:solidFill>
              </a:rPr>
              <a:t>Tuples</a:t>
            </a:r>
            <a:endParaRPr lang="en-US" sz="4400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049" y="1134980"/>
            <a:ext cx="9550739" cy="5562600"/>
          </a:xfrm>
        </p:spPr>
        <p:txBody>
          <a:bodyPr>
            <a:noAutofit/>
          </a:bodyPr>
          <a:lstStyle/>
          <a:p>
            <a:pPr marL="227013" indent="-227013">
              <a:lnSpc>
                <a:spcPct val="85000"/>
              </a:lnSpc>
            </a:pPr>
            <a:r>
              <a:rPr lang="en-US" sz="3600" dirty="0"/>
              <a:t>Tuples are immutable so you can’t modify them. </a:t>
            </a:r>
          </a:p>
          <a:p>
            <a:pPr marL="227013" indent="-227013">
              <a:lnSpc>
                <a:spcPct val="85000"/>
              </a:lnSpc>
              <a:spcBef>
                <a:spcPts val="1800"/>
              </a:spcBef>
            </a:pPr>
            <a:r>
              <a:rPr lang="en-US" sz="3600" dirty="0"/>
              <a:t>But </a:t>
            </a:r>
            <a:r>
              <a:rPr lang="en-US" sz="3600" dirty="0" smtClean="0"/>
              <a:t>you can </a:t>
            </a:r>
            <a:r>
              <a:rPr lang="en-US" sz="3600" i="1" dirty="0" smtClean="0"/>
              <a:t>create </a:t>
            </a:r>
            <a:r>
              <a:rPr lang="en-US" sz="3600" i="1" dirty="0">
                <a:solidFill>
                  <a:srgbClr val="00B050"/>
                </a:solidFill>
              </a:rPr>
              <a:t>a new tuple </a:t>
            </a:r>
            <a:r>
              <a:rPr lang="en-US" sz="3600" dirty="0" smtClean="0"/>
              <a:t>from a modified</a:t>
            </a:r>
            <a:r>
              <a:rPr lang="en-US" sz="3600" i="1" dirty="0" smtClean="0"/>
              <a:t> </a:t>
            </a:r>
            <a:r>
              <a:rPr lang="en-US" sz="3600" i="1" dirty="0"/>
              <a:t>existing </a:t>
            </a:r>
            <a:r>
              <a:rPr lang="en-US" sz="3600" i="1" dirty="0" smtClean="0"/>
              <a:t>tuple</a:t>
            </a:r>
            <a:r>
              <a:rPr lang="en-US" sz="3600" dirty="0" smtClean="0"/>
              <a:t>:</a:t>
            </a:r>
            <a:endParaRPr lang="en-US" sz="2800" dirty="0"/>
          </a:p>
          <a:p>
            <a:pPr marL="0" indent="0">
              <a:lnSpc>
                <a:spcPct val="85000"/>
              </a:lnSpc>
              <a:buNone/>
            </a:pPr>
            <a:endParaRPr lang="en-US" sz="1050" b="1" dirty="0"/>
          </a:p>
          <a:p>
            <a:pPr lvl="1">
              <a:lnSpc>
                <a:spcPct val="85000"/>
              </a:lnSpc>
              <a:buFontTx/>
              <a:buNone/>
            </a:pPr>
            <a:r>
              <a:rPr lang="en-US" sz="28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&gt;&gt;&gt;</a:t>
            </a:r>
            <a:r>
              <a:rPr lang="en-US" sz="2800" dirty="0">
                <a:latin typeface="Lucida Sans Typewriter" panose="020B0509030504030204" pitchFamily="49" charset="0"/>
                <a:cs typeface="Courier New" pitchFamily="49" charset="0"/>
              </a:rPr>
              <a:t> tup1 = </a:t>
            </a:r>
            <a:r>
              <a:rPr lang="en-US" sz="2800" dirty="0" smtClean="0">
                <a:latin typeface="Lucida Sans Typewriter" panose="020B0509030504030204" pitchFamily="49" charset="0"/>
                <a:cs typeface="Courier New" pitchFamily="49" charset="0"/>
              </a:rPr>
              <a:t>('</a:t>
            </a:r>
            <a:r>
              <a:rPr lang="en-US" sz="2800" dirty="0" err="1" smtClean="0">
                <a:latin typeface="Lucida Sans Typewriter" panose="020B0509030504030204" pitchFamily="49" charset="0"/>
                <a:cs typeface="Courier New" pitchFamily="49" charset="0"/>
              </a:rPr>
              <a:t>abc</a:t>
            </a:r>
            <a:r>
              <a:rPr lang="en-US" sz="2800" dirty="0">
                <a:latin typeface="Lucida Sans Typewriter" panose="020B0509030504030204" pitchFamily="49" charset="0"/>
                <a:cs typeface="Courier New" pitchFamily="49" charset="0"/>
              </a:rPr>
              <a:t>', </a:t>
            </a:r>
            <a:r>
              <a:rPr lang="en-US" sz="2800" dirty="0" smtClean="0">
                <a:latin typeface="Lucida Sans Typewriter" panose="020B0509030504030204" pitchFamily="49" charset="0"/>
                <a:cs typeface="Courier New" pitchFamily="49" charset="0"/>
              </a:rPr>
              <a:t>'xyz', 12</a:t>
            </a:r>
            <a:r>
              <a:rPr lang="en-US" sz="2800" dirty="0">
                <a:latin typeface="Lucida Sans Typewriter" panose="020B0509030504030204" pitchFamily="49" charset="0"/>
                <a:cs typeface="Courier New" pitchFamily="49" charset="0"/>
              </a:rPr>
              <a:t>, </a:t>
            </a:r>
            <a:r>
              <a:rPr lang="en-US" sz="2800" dirty="0" smtClean="0">
                <a:latin typeface="Lucida Sans Typewriter" panose="020B0509030504030204" pitchFamily="49" charset="0"/>
                <a:cs typeface="Courier New" pitchFamily="49" charset="0"/>
              </a:rPr>
              <a:t>34.56, </a:t>
            </a:r>
            <a:r>
              <a:rPr lang="en-US" sz="2800" dirty="0" smtClean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7j</a:t>
            </a:r>
            <a:r>
              <a:rPr lang="en-US" sz="2800" dirty="0" smtClean="0">
                <a:latin typeface="Lucida Sans Typewriter" panose="020B0509030504030204" pitchFamily="49" charset="0"/>
                <a:cs typeface="Courier New" pitchFamily="49" charset="0"/>
              </a:rPr>
              <a:t>)</a:t>
            </a:r>
            <a:endParaRPr lang="en-US" sz="2800" dirty="0">
              <a:latin typeface="Lucida Sans Typewriter" panose="020B0509030504030204" pitchFamily="49" charset="0"/>
              <a:cs typeface="Courier New" pitchFamily="49" charset="0"/>
            </a:endParaRPr>
          </a:p>
          <a:p>
            <a:pPr lvl="1">
              <a:lnSpc>
                <a:spcPct val="85000"/>
              </a:lnSpc>
              <a:buFontTx/>
              <a:buNone/>
            </a:pPr>
            <a:r>
              <a:rPr lang="en-US" sz="28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&gt;&gt;&gt;</a:t>
            </a:r>
            <a:r>
              <a:rPr lang="en-US" sz="2800" dirty="0"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sz="2800" dirty="0" smtClean="0">
                <a:solidFill>
                  <a:srgbClr val="0070C0"/>
                </a:solidFill>
                <a:latin typeface="Lucida Sans Typewriter" panose="020B0509030504030204" pitchFamily="49" charset="0"/>
                <a:cs typeface="Courier New" pitchFamily="49" charset="0"/>
              </a:rPr>
              <a:t>tup2 </a:t>
            </a:r>
            <a:r>
              <a:rPr lang="en-US" sz="2800" dirty="0" smtClean="0">
                <a:latin typeface="Lucida Sans Typewriter" panose="020B0509030504030204" pitchFamily="49" charset="0"/>
                <a:cs typeface="Courier New" pitchFamily="49" charset="0"/>
              </a:rPr>
              <a:t>= tup1[:2]; print(tup2)</a:t>
            </a:r>
          </a:p>
          <a:p>
            <a:pPr lvl="1">
              <a:lnSpc>
                <a:spcPct val="85000"/>
              </a:lnSpc>
              <a:buNone/>
            </a:pPr>
            <a:r>
              <a:rPr lang="en-US" sz="2800" dirty="0" smtClean="0">
                <a:latin typeface="Lucida Sans Typewriter" panose="020B0509030504030204" pitchFamily="49" charset="0"/>
                <a:cs typeface="Courier New" pitchFamily="49" charset="0"/>
              </a:rPr>
              <a:t>('</a:t>
            </a:r>
            <a:r>
              <a:rPr lang="en-US" sz="2800" dirty="0" err="1" smtClean="0">
                <a:latin typeface="Lucida Sans Typewriter" panose="020B0509030504030204" pitchFamily="49" charset="0"/>
                <a:cs typeface="Courier New" pitchFamily="49" charset="0"/>
              </a:rPr>
              <a:t>abc</a:t>
            </a:r>
            <a:r>
              <a:rPr lang="en-US" sz="2800" dirty="0" smtClean="0">
                <a:latin typeface="Lucida Sans Typewriter" panose="020B0509030504030204" pitchFamily="49" charset="0"/>
                <a:cs typeface="Courier New" pitchFamily="49" charset="0"/>
              </a:rPr>
              <a:t>', 'xyz')</a:t>
            </a:r>
          </a:p>
          <a:p>
            <a:pPr lvl="1">
              <a:lnSpc>
                <a:spcPct val="85000"/>
              </a:lnSpc>
              <a:buFontTx/>
              <a:buNone/>
            </a:pPr>
            <a:r>
              <a:rPr lang="en-US" sz="2800" dirty="0" smtClean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&gt;&gt;&gt;</a:t>
            </a:r>
            <a:r>
              <a:rPr lang="en-US" sz="2800" dirty="0" smtClean="0"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sz="2800" dirty="0" smtClean="0">
                <a:latin typeface="Lucida Console" panose="020B0609040504020204" pitchFamily="49" charset="0"/>
                <a:cs typeface="Courier New" pitchFamily="49" charset="0"/>
              </a:rPr>
              <a:t>tup3 = </a:t>
            </a:r>
            <a:r>
              <a:rPr lang="en-US" sz="2800" dirty="0" smtClean="0">
                <a:solidFill>
                  <a:srgbClr val="00B050"/>
                </a:solidFill>
                <a:latin typeface="Lucida Console" panose="020B0609040504020204" pitchFamily="49" charset="0"/>
              </a:rPr>
              <a:t>tup1[-1:]</a:t>
            </a:r>
            <a:r>
              <a:rPr lang="en-US" sz="2800" dirty="0" smtClean="0">
                <a:latin typeface="Lucida Console" panose="020B0609040504020204" pitchFamily="49" charset="0"/>
              </a:rPr>
              <a:t>*3</a:t>
            </a:r>
            <a:r>
              <a:rPr lang="en-US" sz="28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sz="2800" dirty="0" smtClean="0">
                <a:latin typeface="Lucida Console" panose="020B0609040504020204" pitchFamily="49" charset="0"/>
              </a:rPr>
              <a:t>+ </a:t>
            </a:r>
            <a:r>
              <a:rPr lang="en-US" sz="2800" dirty="0" smtClean="0">
                <a:solidFill>
                  <a:srgbClr val="0070C0"/>
                </a:solidFill>
                <a:latin typeface="Lucida Console" panose="020B0609040504020204" pitchFamily="49" charset="0"/>
              </a:rPr>
              <a:t>tup2</a:t>
            </a:r>
            <a:r>
              <a:rPr lang="en-US" sz="2800" dirty="0" smtClean="0">
                <a:latin typeface="Lucida Console" panose="020B0609040504020204" pitchFamily="49" charset="0"/>
              </a:rPr>
              <a:t>; </a:t>
            </a:r>
            <a:r>
              <a:rPr lang="en-US" sz="2800" dirty="0">
                <a:latin typeface="Lucida Console" panose="020B0609040504020204" pitchFamily="49" charset="0"/>
              </a:rPr>
              <a:t>print(tup3)</a:t>
            </a:r>
          </a:p>
          <a:p>
            <a:pPr lvl="1">
              <a:lnSpc>
                <a:spcPct val="85000"/>
              </a:lnSpc>
              <a:buFontTx/>
              <a:buNone/>
            </a:pPr>
            <a:r>
              <a:rPr lang="en-US" sz="2800" dirty="0">
                <a:latin typeface="Lucida Console" panose="020B0609040504020204" pitchFamily="49" charset="0"/>
              </a:rPr>
              <a:t>(7j, 7j, 7j, '</a:t>
            </a:r>
            <a:r>
              <a:rPr lang="en-US" sz="2800" dirty="0" err="1">
                <a:latin typeface="Lucida Console" panose="020B0609040504020204" pitchFamily="49" charset="0"/>
              </a:rPr>
              <a:t>abc</a:t>
            </a:r>
            <a:r>
              <a:rPr lang="en-US" sz="2800" dirty="0">
                <a:latin typeface="Lucida Console" panose="020B0609040504020204" pitchFamily="49" charset="0"/>
              </a:rPr>
              <a:t>', 'xyz')</a:t>
            </a:r>
          </a:p>
          <a:p>
            <a:pPr lvl="1">
              <a:lnSpc>
                <a:spcPct val="85000"/>
              </a:lnSpc>
              <a:buNone/>
            </a:pPr>
            <a:r>
              <a:rPr lang="en-US" sz="28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2800" dirty="0" smtClean="0">
                <a:latin typeface="Lucida Console" panose="020B0609040504020204" pitchFamily="49" charset="0"/>
              </a:rPr>
              <a:t> </a:t>
            </a:r>
            <a:r>
              <a:rPr lang="en-US" sz="2800" dirty="0" err="1" smtClean="0">
                <a:latin typeface="Lucida Console" panose="020B0609040504020204" pitchFamily="49" charset="0"/>
                <a:cs typeface="Courier New" pitchFamily="49" charset="0"/>
              </a:rPr>
              <a:t>tupX</a:t>
            </a:r>
            <a:r>
              <a:rPr lang="en-US" sz="2800" dirty="0" smtClean="0"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sz="2800" dirty="0">
                <a:latin typeface="Lucida Console" panose="020B0609040504020204" pitchFamily="49" charset="0"/>
                <a:cs typeface="Courier New" pitchFamily="49" charset="0"/>
              </a:rPr>
              <a:t>= </a:t>
            </a:r>
            <a:r>
              <a:rPr lang="en-US" sz="2800" dirty="0">
                <a:solidFill>
                  <a:srgbClr val="FF0000"/>
                </a:solidFill>
                <a:latin typeface="Lucida Console" panose="020B0609040504020204" pitchFamily="49" charset="0"/>
              </a:rPr>
              <a:t>tup1[-</a:t>
            </a:r>
            <a:r>
              <a:rPr lang="en-US" sz="28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1]</a:t>
            </a:r>
            <a:r>
              <a:rPr lang="en-US" sz="2800" dirty="0" smtClean="0">
                <a:latin typeface="Lucida Console" panose="020B0609040504020204" pitchFamily="49" charset="0"/>
              </a:rPr>
              <a:t>*</a:t>
            </a:r>
            <a:r>
              <a:rPr lang="en-US" sz="2800" dirty="0">
                <a:latin typeface="Lucida Console" panose="020B0609040504020204" pitchFamily="49" charset="0"/>
              </a:rPr>
              <a:t>3 + </a:t>
            </a:r>
            <a:r>
              <a:rPr lang="en-US" sz="2800" dirty="0">
                <a:solidFill>
                  <a:srgbClr val="0070C0"/>
                </a:solidFill>
                <a:latin typeface="Lucida Console" panose="020B0609040504020204" pitchFamily="49" charset="0"/>
              </a:rPr>
              <a:t>tup2</a:t>
            </a:r>
            <a:r>
              <a:rPr lang="en-US" sz="2800" dirty="0" smtClean="0">
                <a:latin typeface="Lucida Console" panose="020B0609040504020204" pitchFamily="49" charset="0"/>
              </a:rPr>
              <a:t>;</a:t>
            </a:r>
          </a:p>
          <a:p>
            <a:pPr lvl="1">
              <a:lnSpc>
                <a:spcPct val="85000"/>
              </a:lnSpc>
              <a:buFontTx/>
              <a:buNone/>
            </a:pPr>
            <a:r>
              <a:rPr lang="en-US" sz="2800" dirty="0" err="1">
                <a:solidFill>
                  <a:srgbClr val="FFAFAF"/>
                </a:solidFill>
                <a:latin typeface="Arial Narrow" panose="020B0606020202030204" pitchFamily="34" charset="0"/>
              </a:rPr>
              <a:t>Traceback</a:t>
            </a:r>
            <a:r>
              <a:rPr lang="en-US" sz="2800" dirty="0">
                <a:solidFill>
                  <a:srgbClr val="FFAFAF"/>
                </a:solidFill>
                <a:latin typeface="Arial Narrow" panose="020B0606020202030204" pitchFamily="34" charset="0"/>
              </a:rPr>
              <a:t> (most recent call last):</a:t>
            </a:r>
          </a:p>
          <a:p>
            <a:pPr lvl="1">
              <a:lnSpc>
                <a:spcPct val="85000"/>
              </a:lnSpc>
              <a:buFontTx/>
              <a:buNone/>
            </a:pPr>
            <a:r>
              <a:rPr lang="en-US" sz="2800" dirty="0">
                <a:solidFill>
                  <a:srgbClr val="FFAFAF"/>
                </a:solidFill>
                <a:latin typeface="Arial Narrow" panose="020B0606020202030204" pitchFamily="34" charset="0"/>
              </a:rPr>
              <a:t>  File "&lt;</a:t>
            </a:r>
            <a:r>
              <a:rPr lang="en-US" sz="2800" dirty="0" err="1">
                <a:solidFill>
                  <a:srgbClr val="FFAFAF"/>
                </a:solidFill>
                <a:latin typeface="Arial Narrow" panose="020B0606020202030204" pitchFamily="34" charset="0"/>
              </a:rPr>
              <a:t>stdin</a:t>
            </a:r>
            <a:r>
              <a:rPr lang="en-US" sz="2800" dirty="0">
                <a:solidFill>
                  <a:srgbClr val="FFAFAF"/>
                </a:solidFill>
                <a:latin typeface="Arial Narrow" panose="020B0606020202030204" pitchFamily="34" charset="0"/>
              </a:rPr>
              <a:t>&gt;", line 1, in &lt;module&gt;</a:t>
            </a:r>
          </a:p>
          <a:p>
            <a:pPr lvl="1">
              <a:lnSpc>
                <a:spcPct val="85000"/>
              </a:lnSpc>
              <a:buFontTx/>
              <a:buNone/>
            </a:pPr>
            <a:r>
              <a:rPr lang="en-US" sz="2800" dirty="0" err="1">
                <a:solidFill>
                  <a:srgbClr val="FFAFAF"/>
                </a:solidFill>
                <a:latin typeface="Arial Narrow" panose="020B0606020202030204" pitchFamily="34" charset="0"/>
              </a:rPr>
              <a:t>TypeError</a:t>
            </a:r>
            <a:r>
              <a:rPr lang="en-US" sz="2800" dirty="0">
                <a:solidFill>
                  <a:srgbClr val="FFAFAF"/>
                </a:solidFill>
                <a:latin typeface="Arial Narrow" panose="020B0606020202030204" pitchFamily="34" charset="0"/>
              </a:rPr>
              <a:t>: unsupported operand type(s) for +: </a:t>
            </a:r>
            <a:r>
              <a:rPr lang="en-US" sz="2800" dirty="0">
                <a:solidFill>
                  <a:srgbClr val="FF0000"/>
                </a:solidFill>
                <a:latin typeface="Arial Narrow" panose="020B0606020202030204" pitchFamily="34" charset="0"/>
              </a:rPr>
              <a:t>'complex'</a:t>
            </a:r>
            <a:r>
              <a:rPr lang="en-US" sz="2800" dirty="0">
                <a:latin typeface="Arial Narrow" panose="020B0606020202030204" pitchFamily="34" charset="0"/>
              </a:rPr>
              <a:t> </a:t>
            </a:r>
            <a:r>
              <a:rPr lang="en-US" sz="2800" dirty="0">
                <a:solidFill>
                  <a:srgbClr val="FFAFAF"/>
                </a:solidFill>
                <a:latin typeface="Arial Narrow" panose="020B0606020202030204" pitchFamily="34" charset="0"/>
              </a:rPr>
              <a:t>and</a:t>
            </a:r>
            <a:r>
              <a:rPr lang="en-US" sz="2800" dirty="0">
                <a:latin typeface="Arial Narrow" panose="020B0606020202030204" pitchFamily="34" charset="0"/>
              </a:rPr>
              <a:t> </a:t>
            </a:r>
            <a:r>
              <a:rPr lang="en-US" sz="2800" dirty="0">
                <a:solidFill>
                  <a:srgbClr val="0070C0"/>
                </a:solidFill>
                <a:latin typeface="Arial Narrow" panose="020B0606020202030204" pitchFamily="34" charset="0"/>
              </a:rPr>
              <a:t>'tuple'</a:t>
            </a:r>
          </a:p>
        </p:txBody>
      </p:sp>
      <p:cxnSp>
        <p:nvCxnSpPr>
          <p:cNvPr id="5" name="Straight Connector 4"/>
          <p:cNvCxnSpPr/>
          <p:nvPr/>
        </p:nvCxnSpPr>
        <p:spPr>
          <a:xfrm flipH="1" flipV="1">
            <a:off x="4636294" y="5486400"/>
            <a:ext cx="2438400" cy="914400"/>
          </a:xfrm>
          <a:prstGeom prst="line">
            <a:avLst/>
          </a:prstGeom>
          <a:ln w="285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 flipV="1">
            <a:off x="4712494" y="3429000"/>
            <a:ext cx="3962400" cy="1676400"/>
          </a:xfrm>
          <a:prstGeom prst="line">
            <a:avLst/>
          </a:prstGeom>
          <a:ln w="285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ounded Rectangular Callout 3"/>
          <p:cNvSpPr/>
          <p:nvPr/>
        </p:nvSpPr>
        <p:spPr>
          <a:xfrm>
            <a:off x="140494" y="838200"/>
            <a:ext cx="4419600" cy="2209800"/>
          </a:xfrm>
          <a:prstGeom prst="wedgeRoundRectCallout">
            <a:avLst>
              <a:gd name="adj1" fmla="val 34500"/>
              <a:gd name="adj2" fmla="val 108056"/>
              <a:gd name="adj3" fmla="val 16667"/>
            </a:avLst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 smtClean="0">
                <a:solidFill>
                  <a:schemeClr val="tx1"/>
                </a:solidFill>
              </a:rPr>
              <a:t>But this one wasn’t complex. It was a one-element tuple (and that element was complex).</a:t>
            </a:r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8" name="Rounded Rectangular Callout 7"/>
          <p:cNvSpPr/>
          <p:nvPr/>
        </p:nvSpPr>
        <p:spPr>
          <a:xfrm>
            <a:off x="5779294" y="4267200"/>
            <a:ext cx="3928428" cy="1600200"/>
          </a:xfrm>
          <a:prstGeom prst="wedgeRoundRectCallout">
            <a:avLst>
              <a:gd name="adj1" fmla="val -83114"/>
              <a:gd name="adj2" fmla="val 14766"/>
              <a:gd name="adj3" fmla="val 16667"/>
            </a:avLst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 smtClean="0">
                <a:solidFill>
                  <a:schemeClr val="tx1"/>
                </a:solidFill>
              </a:rPr>
              <a:t>If we had said</a:t>
            </a:r>
          </a:p>
          <a:p>
            <a:pPr algn="ctr"/>
            <a:r>
              <a:rPr lang="en-US" sz="3200" dirty="0">
                <a:solidFill>
                  <a:schemeClr val="tx1"/>
                </a:solidFill>
              </a:rPr>
              <a:t>“(tup1[-1</a:t>
            </a:r>
            <a:r>
              <a:rPr lang="en-US" sz="3200" dirty="0" smtClean="0">
                <a:solidFill>
                  <a:schemeClr val="tx1"/>
                </a:solidFill>
              </a:rPr>
              <a:t>],)*3</a:t>
            </a:r>
            <a:r>
              <a:rPr lang="en-US" sz="2400" dirty="0" smtClean="0">
                <a:solidFill>
                  <a:schemeClr val="tx1"/>
                </a:solidFill>
              </a:rPr>
              <a:t> </a:t>
            </a:r>
            <a:r>
              <a:rPr lang="en-US" sz="3200" dirty="0">
                <a:solidFill>
                  <a:schemeClr val="tx1"/>
                </a:solidFill>
              </a:rPr>
              <a:t>+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3200" dirty="0" smtClean="0">
                <a:solidFill>
                  <a:schemeClr val="tx1"/>
                </a:solidFill>
              </a:rPr>
              <a:t>tup2”</a:t>
            </a:r>
          </a:p>
          <a:p>
            <a:pPr algn="ctr"/>
            <a:r>
              <a:rPr lang="en-US" sz="3200" dirty="0" smtClean="0">
                <a:solidFill>
                  <a:schemeClr val="tx1"/>
                </a:solidFill>
              </a:rPr>
              <a:t>it would’ve worked.</a:t>
            </a:r>
            <a:endParaRPr lang="en-US" sz="3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2936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8" grpId="0" animBg="1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20580"/>
            <a:ext cx="9742901" cy="685800"/>
          </a:xfrm>
        </p:spPr>
        <p:txBody>
          <a:bodyPr>
            <a:noAutofit/>
          </a:bodyPr>
          <a:lstStyle/>
          <a:p>
            <a:r>
              <a:rPr lang="en-US" sz="4400" dirty="0">
                <a:solidFill>
                  <a:srgbClr val="0070C0"/>
                </a:solidFill>
              </a:rPr>
              <a:t>Updating </a:t>
            </a:r>
            <a:r>
              <a:rPr lang="en-US" sz="4400" dirty="0" smtClean="0">
                <a:solidFill>
                  <a:srgbClr val="0070C0"/>
                </a:solidFill>
              </a:rPr>
              <a:t>Tuples</a:t>
            </a:r>
            <a:endParaRPr lang="en-US" sz="4400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049" y="1134980"/>
            <a:ext cx="9550739" cy="5562600"/>
          </a:xfrm>
        </p:spPr>
        <p:txBody>
          <a:bodyPr>
            <a:noAutofit/>
          </a:bodyPr>
          <a:lstStyle/>
          <a:p>
            <a:pPr marL="227013" indent="-227013">
              <a:lnSpc>
                <a:spcPct val="85000"/>
              </a:lnSpc>
            </a:pPr>
            <a:r>
              <a:rPr lang="en-US" sz="3600" dirty="0"/>
              <a:t>Tuples are immutable so you can’t modify them. </a:t>
            </a:r>
          </a:p>
          <a:p>
            <a:pPr marL="227013" indent="-227013">
              <a:lnSpc>
                <a:spcPct val="85000"/>
              </a:lnSpc>
              <a:spcBef>
                <a:spcPts val="1800"/>
              </a:spcBef>
            </a:pPr>
            <a:r>
              <a:rPr lang="en-US" sz="3600" dirty="0"/>
              <a:t>But </a:t>
            </a:r>
            <a:r>
              <a:rPr lang="en-US" sz="3600" dirty="0" smtClean="0"/>
              <a:t>you can </a:t>
            </a:r>
            <a:r>
              <a:rPr lang="en-US" sz="3600" i="1" dirty="0" smtClean="0"/>
              <a:t>create </a:t>
            </a:r>
            <a:r>
              <a:rPr lang="en-US" sz="3600" i="1" dirty="0">
                <a:solidFill>
                  <a:srgbClr val="00B050"/>
                </a:solidFill>
              </a:rPr>
              <a:t>a new tuple </a:t>
            </a:r>
            <a:r>
              <a:rPr lang="en-US" sz="3600" dirty="0" smtClean="0"/>
              <a:t>from a modified</a:t>
            </a:r>
            <a:r>
              <a:rPr lang="en-US" sz="3600" i="1" dirty="0" smtClean="0"/>
              <a:t> </a:t>
            </a:r>
            <a:r>
              <a:rPr lang="en-US" sz="3600" i="1" dirty="0"/>
              <a:t>existing </a:t>
            </a:r>
            <a:r>
              <a:rPr lang="en-US" sz="3600" i="1" dirty="0" smtClean="0"/>
              <a:t>tuple</a:t>
            </a:r>
            <a:r>
              <a:rPr lang="en-US" sz="3600" dirty="0" smtClean="0"/>
              <a:t>.</a:t>
            </a:r>
          </a:p>
          <a:p>
            <a:pPr marL="591884" lvl="1" indent="-227013">
              <a:lnSpc>
                <a:spcPct val="85000"/>
              </a:lnSpc>
              <a:spcBef>
                <a:spcPts val="1800"/>
              </a:spcBef>
            </a:pPr>
            <a:r>
              <a:rPr lang="en-US" sz="3600" dirty="0" smtClean="0"/>
              <a:t>By the way, that new tuple could even have the same name (and it would still be new):</a:t>
            </a:r>
            <a:endParaRPr lang="en-US" sz="3600" dirty="0"/>
          </a:p>
          <a:p>
            <a:pPr marL="0" indent="0">
              <a:lnSpc>
                <a:spcPct val="85000"/>
              </a:lnSpc>
              <a:buNone/>
            </a:pPr>
            <a:endParaRPr lang="en-US" sz="1050" b="1" dirty="0"/>
          </a:p>
          <a:p>
            <a:pPr lvl="1">
              <a:lnSpc>
                <a:spcPct val="85000"/>
              </a:lnSpc>
              <a:buFontTx/>
              <a:buNone/>
            </a:pPr>
            <a:r>
              <a:rPr lang="en-US" sz="28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&gt;&gt;&gt;</a:t>
            </a:r>
            <a:r>
              <a:rPr lang="en-US" sz="2800" dirty="0">
                <a:latin typeface="Lucida Sans Typewriter" panose="020B0509030504030204" pitchFamily="49" charset="0"/>
                <a:cs typeface="Courier New" pitchFamily="49" charset="0"/>
              </a:rPr>
              <a:t> tup1 = </a:t>
            </a:r>
            <a:r>
              <a:rPr lang="en-US" sz="2800" dirty="0" smtClean="0">
                <a:latin typeface="Lucida Sans Typewriter" panose="020B0509030504030204" pitchFamily="49" charset="0"/>
                <a:cs typeface="Courier New" pitchFamily="49" charset="0"/>
              </a:rPr>
              <a:t>('</a:t>
            </a:r>
            <a:r>
              <a:rPr lang="en-US" sz="2800" dirty="0" err="1" smtClean="0">
                <a:latin typeface="Lucida Sans Typewriter" panose="020B0509030504030204" pitchFamily="49" charset="0"/>
                <a:cs typeface="Courier New" pitchFamily="49" charset="0"/>
              </a:rPr>
              <a:t>abc</a:t>
            </a:r>
            <a:r>
              <a:rPr lang="en-US" sz="2800" dirty="0">
                <a:latin typeface="Lucida Sans Typewriter" panose="020B0509030504030204" pitchFamily="49" charset="0"/>
                <a:cs typeface="Courier New" pitchFamily="49" charset="0"/>
              </a:rPr>
              <a:t>', </a:t>
            </a:r>
            <a:r>
              <a:rPr lang="en-US" sz="2800" dirty="0" smtClean="0">
                <a:latin typeface="Lucida Sans Typewriter" panose="020B0509030504030204" pitchFamily="49" charset="0"/>
                <a:cs typeface="Courier New" pitchFamily="49" charset="0"/>
              </a:rPr>
              <a:t>'xyz', 12</a:t>
            </a:r>
            <a:r>
              <a:rPr lang="en-US" sz="2800" dirty="0">
                <a:latin typeface="Lucida Sans Typewriter" panose="020B0509030504030204" pitchFamily="49" charset="0"/>
                <a:cs typeface="Courier New" pitchFamily="49" charset="0"/>
              </a:rPr>
              <a:t>, </a:t>
            </a:r>
            <a:r>
              <a:rPr lang="en-US" sz="2800" dirty="0" smtClean="0">
                <a:latin typeface="Lucida Sans Typewriter" panose="020B0509030504030204" pitchFamily="49" charset="0"/>
                <a:cs typeface="Courier New" pitchFamily="49" charset="0"/>
              </a:rPr>
              <a:t>34.56, 7j)</a:t>
            </a:r>
            <a:endParaRPr lang="en-US" sz="2800" dirty="0">
              <a:latin typeface="Lucida Sans Typewriter" panose="020B0509030504030204" pitchFamily="49" charset="0"/>
              <a:cs typeface="Courier New" pitchFamily="49" charset="0"/>
            </a:endParaRPr>
          </a:p>
          <a:p>
            <a:pPr lvl="1">
              <a:lnSpc>
                <a:spcPct val="85000"/>
              </a:lnSpc>
              <a:buFontTx/>
              <a:buNone/>
            </a:pPr>
            <a:r>
              <a:rPr lang="en-US" sz="28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&gt;&gt;&gt;</a:t>
            </a:r>
            <a:r>
              <a:rPr lang="en-US" sz="2800" dirty="0"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sz="2800" dirty="0" smtClean="0">
                <a:latin typeface="Lucida Sans Typewriter" panose="020B0509030504030204" pitchFamily="49" charset="0"/>
                <a:cs typeface="Courier New" pitchFamily="49" charset="0"/>
              </a:rPr>
              <a:t>tup1 = (</a:t>
            </a:r>
            <a:r>
              <a:rPr lang="en-US" sz="2800" dirty="0" smtClean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'ABC'</a:t>
            </a:r>
            <a:r>
              <a:rPr lang="en-US" sz="2800" dirty="0" smtClean="0">
                <a:latin typeface="Lucida Sans Typewriter" panose="020B0509030504030204" pitchFamily="49" charset="0"/>
                <a:cs typeface="Courier New" pitchFamily="49" charset="0"/>
              </a:rPr>
              <a:t>,)+tup1[1:]</a:t>
            </a:r>
          </a:p>
          <a:p>
            <a:pPr lvl="1">
              <a:lnSpc>
                <a:spcPct val="85000"/>
              </a:lnSpc>
              <a:buNone/>
            </a:pPr>
            <a:r>
              <a:rPr lang="en-US" sz="28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&gt;&gt;&gt;</a:t>
            </a:r>
            <a:r>
              <a:rPr lang="en-US" sz="2800" dirty="0"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sz="2800" dirty="0" smtClean="0">
                <a:latin typeface="Lucida Sans Typewriter" panose="020B0509030504030204" pitchFamily="49" charset="0"/>
                <a:cs typeface="Courier New" pitchFamily="49" charset="0"/>
              </a:rPr>
              <a:t>print(tup1)</a:t>
            </a:r>
          </a:p>
          <a:p>
            <a:pPr lvl="1">
              <a:lnSpc>
                <a:spcPct val="85000"/>
              </a:lnSpc>
              <a:buNone/>
            </a:pPr>
            <a:r>
              <a:rPr lang="en-US" sz="2800" dirty="0" smtClean="0">
                <a:latin typeface="Lucida Sans Typewriter" panose="020B0509030504030204" pitchFamily="49" charset="0"/>
                <a:cs typeface="Courier New" pitchFamily="49" charset="0"/>
              </a:rPr>
              <a:t>(</a:t>
            </a:r>
            <a:r>
              <a:rPr lang="en-US" sz="2800" dirty="0" smtClean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'ABC'</a:t>
            </a:r>
            <a:r>
              <a:rPr lang="en-US" sz="2800" dirty="0" smtClean="0">
                <a:latin typeface="Lucida Sans Typewriter" panose="020B0509030504030204" pitchFamily="49" charset="0"/>
                <a:cs typeface="Courier New" pitchFamily="49" charset="0"/>
              </a:rPr>
              <a:t>, </a:t>
            </a:r>
            <a:r>
              <a:rPr lang="en-US" sz="2800" dirty="0">
                <a:latin typeface="Lucida Sans Typewriter" panose="020B0509030504030204" pitchFamily="49" charset="0"/>
                <a:cs typeface="Courier New" pitchFamily="49" charset="0"/>
              </a:rPr>
              <a:t>'xyz', 12, 34.56, 7j)</a:t>
            </a:r>
          </a:p>
          <a:p>
            <a:pPr lvl="1">
              <a:lnSpc>
                <a:spcPct val="85000"/>
              </a:lnSpc>
              <a:buFontTx/>
              <a:buNone/>
            </a:pPr>
            <a:r>
              <a:rPr lang="en-US" sz="2800" dirty="0" smtClean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&gt;&gt;&gt;</a:t>
            </a:r>
            <a:endParaRPr lang="en-US" sz="2800" dirty="0">
              <a:latin typeface="Arial Narrow" panose="020B0606020202030204" pitchFamily="34" charset="0"/>
            </a:endParaRPr>
          </a:p>
        </p:txBody>
      </p:sp>
      <p:sp>
        <p:nvSpPr>
          <p:cNvPr id="4" name="Rounded Rectangular Callout 3"/>
          <p:cNvSpPr/>
          <p:nvPr/>
        </p:nvSpPr>
        <p:spPr>
          <a:xfrm>
            <a:off x="140494" y="838200"/>
            <a:ext cx="4419600" cy="2209800"/>
          </a:xfrm>
          <a:prstGeom prst="wedgeRoundRectCallout">
            <a:avLst>
              <a:gd name="adj1" fmla="val 34500"/>
              <a:gd name="adj2" fmla="val 108056"/>
              <a:gd name="adj3" fmla="val 16667"/>
            </a:avLst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 smtClean="0">
                <a:solidFill>
                  <a:schemeClr val="tx1"/>
                </a:solidFill>
              </a:rPr>
              <a:t>But this one wasn’t complex. It was a one-element tuple (and that element was complex).</a:t>
            </a:r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5" name="Rounded Rectangular Callout 4"/>
          <p:cNvSpPr/>
          <p:nvPr/>
        </p:nvSpPr>
        <p:spPr>
          <a:xfrm>
            <a:off x="5779294" y="4267200"/>
            <a:ext cx="3928428" cy="1600200"/>
          </a:xfrm>
          <a:prstGeom prst="wedgeRoundRectCallout">
            <a:avLst>
              <a:gd name="adj1" fmla="val -83114"/>
              <a:gd name="adj2" fmla="val 14766"/>
              <a:gd name="adj3" fmla="val 16667"/>
            </a:avLst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 smtClean="0">
                <a:solidFill>
                  <a:schemeClr val="tx1"/>
                </a:solidFill>
              </a:rPr>
              <a:t>If we had said</a:t>
            </a:r>
          </a:p>
          <a:p>
            <a:pPr algn="ctr"/>
            <a:r>
              <a:rPr lang="en-US" sz="3200" dirty="0">
                <a:solidFill>
                  <a:schemeClr val="tx1"/>
                </a:solidFill>
              </a:rPr>
              <a:t>“(tup1[-1</a:t>
            </a:r>
            <a:r>
              <a:rPr lang="en-US" sz="3200" dirty="0" smtClean="0">
                <a:solidFill>
                  <a:schemeClr val="tx1"/>
                </a:solidFill>
              </a:rPr>
              <a:t>],)*3</a:t>
            </a:r>
            <a:r>
              <a:rPr lang="en-US" sz="2400" dirty="0" smtClean="0">
                <a:solidFill>
                  <a:schemeClr val="tx1"/>
                </a:solidFill>
              </a:rPr>
              <a:t> </a:t>
            </a:r>
            <a:r>
              <a:rPr lang="en-US" sz="3200" dirty="0">
                <a:solidFill>
                  <a:schemeClr val="tx1"/>
                </a:solidFill>
              </a:rPr>
              <a:t>+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3200" dirty="0" smtClean="0">
                <a:solidFill>
                  <a:schemeClr val="tx1"/>
                </a:solidFill>
              </a:rPr>
              <a:t>tup2”</a:t>
            </a:r>
          </a:p>
          <a:p>
            <a:pPr algn="ctr"/>
            <a:r>
              <a:rPr lang="en-US" sz="3200" dirty="0" smtClean="0">
                <a:solidFill>
                  <a:schemeClr val="tx1"/>
                </a:solidFill>
              </a:rPr>
              <a:t>it would’ve worked.</a:t>
            </a:r>
            <a:endParaRPr lang="en-US" sz="3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56063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4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20580"/>
            <a:ext cx="9742901" cy="685800"/>
          </a:xfrm>
        </p:spPr>
        <p:txBody>
          <a:bodyPr>
            <a:noAutofit/>
          </a:bodyPr>
          <a:lstStyle/>
          <a:p>
            <a:r>
              <a:rPr lang="en-US" sz="4400" dirty="0">
                <a:solidFill>
                  <a:srgbClr val="0070C0"/>
                </a:solidFill>
              </a:rPr>
              <a:t>Updating </a:t>
            </a:r>
            <a:r>
              <a:rPr lang="en-US" sz="4400" dirty="0" smtClean="0">
                <a:solidFill>
                  <a:srgbClr val="0070C0"/>
                </a:solidFill>
              </a:rPr>
              <a:t>Tuples</a:t>
            </a:r>
            <a:endParaRPr lang="en-US" sz="4400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049" y="1134980"/>
            <a:ext cx="9550739" cy="5723020"/>
          </a:xfrm>
        </p:spPr>
        <p:txBody>
          <a:bodyPr>
            <a:noAutofit/>
          </a:bodyPr>
          <a:lstStyle/>
          <a:p>
            <a:pPr marL="227013" indent="-227013">
              <a:lnSpc>
                <a:spcPct val="85000"/>
              </a:lnSpc>
            </a:pPr>
            <a:r>
              <a:rPr lang="en-US" sz="3600" dirty="0"/>
              <a:t>Tuples are immutable so you can’t modify them. </a:t>
            </a:r>
          </a:p>
          <a:p>
            <a:pPr marL="227013" indent="-227013">
              <a:lnSpc>
                <a:spcPct val="85000"/>
              </a:lnSpc>
              <a:spcBef>
                <a:spcPts val="1800"/>
              </a:spcBef>
            </a:pPr>
            <a:r>
              <a:rPr lang="en-US" sz="3600" dirty="0"/>
              <a:t>But </a:t>
            </a:r>
            <a:r>
              <a:rPr lang="en-US" sz="3600" dirty="0" smtClean="0"/>
              <a:t>you can </a:t>
            </a:r>
            <a:r>
              <a:rPr lang="en-US" sz="3600" i="1" dirty="0" smtClean="0"/>
              <a:t>create </a:t>
            </a:r>
            <a:r>
              <a:rPr lang="en-US" sz="3600" i="1" dirty="0">
                <a:solidFill>
                  <a:srgbClr val="00B050"/>
                </a:solidFill>
              </a:rPr>
              <a:t>a new tuple </a:t>
            </a:r>
            <a:r>
              <a:rPr lang="en-US" sz="3600" dirty="0" smtClean="0"/>
              <a:t>from a modified</a:t>
            </a:r>
            <a:r>
              <a:rPr lang="en-US" sz="3600" i="1" dirty="0" smtClean="0"/>
              <a:t> </a:t>
            </a:r>
            <a:r>
              <a:rPr lang="en-US" sz="3600" i="1" dirty="0"/>
              <a:t>existing </a:t>
            </a:r>
            <a:r>
              <a:rPr lang="en-US" sz="3600" i="1" dirty="0" smtClean="0"/>
              <a:t>tuple</a:t>
            </a:r>
            <a:r>
              <a:rPr lang="en-US" sz="3600" dirty="0" smtClean="0"/>
              <a:t>.</a:t>
            </a:r>
          </a:p>
          <a:p>
            <a:pPr marL="591884" lvl="1" indent="-227013">
              <a:lnSpc>
                <a:spcPct val="85000"/>
              </a:lnSpc>
              <a:spcBef>
                <a:spcPts val="1800"/>
              </a:spcBef>
            </a:pPr>
            <a:r>
              <a:rPr lang="en-US" sz="3600" dirty="0" smtClean="0"/>
              <a:t>By the way, that new tuple could even have the same name (and it would still be new).</a:t>
            </a:r>
            <a:endParaRPr lang="en-US" sz="3600" dirty="0"/>
          </a:p>
          <a:p>
            <a:pPr marL="227013" indent="-227013">
              <a:lnSpc>
                <a:spcPct val="85000"/>
              </a:lnSpc>
              <a:spcBef>
                <a:spcPts val="1800"/>
              </a:spcBef>
            </a:pPr>
            <a:r>
              <a:rPr lang="en-US" sz="3600" dirty="0" smtClean="0"/>
              <a:t>By the additional way, the same thing can be said for </a:t>
            </a:r>
            <a:r>
              <a:rPr lang="en-US" sz="3600" i="1" dirty="0" smtClean="0">
                <a:solidFill>
                  <a:srgbClr val="00B050"/>
                </a:solidFill>
              </a:rPr>
              <a:t>strings</a:t>
            </a:r>
            <a:r>
              <a:rPr lang="en-US" sz="3600" dirty="0" smtClean="0"/>
              <a:t> (which are also immutable):</a:t>
            </a:r>
            <a:endParaRPr lang="en-US" sz="3600" dirty="0"/>
          </a:p>
          <a:p>
            <a:pPr lvl="1">
              <a:lnSpc>
                <a:spcPct val="75000"/>
              </a:lnSpc>
              <a:buFontTx/>
              <a:buNone/>
            </a:pPr>
            <a:r>
              <a:rPr lang="en-US" sz="2800" dirty="0" smtClean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&gt;&gt;&gt;</a:t>
            </a:r>
            <a:r>
              <a:rPr lang="en-US" sz="2800" dirty="0" smtClean="0">
                <a:latin typeface="Lucida Sans Typewriter" panose="020B0509030504030204" pitchFamily="49" charset="0"/>
                <a:cs typeface="Courier New" pitchFamily="49" charset="0"/>
              </a:rPr>
              <a:t> S = "Hello"; print(S)</a:t>
            </a:r>
          </a:p>
          <a:p>
            <a:pPr lvl="1">
              <a:lnSpc>
                <a:spcPct val="75000"/>
              </a:lnSpc>
              <a:buNone/>
            </a:pPr>
            <a:r>
              <a:rPr lang="en-US" sz="2800" dirty="0">
                <a:latin typeface="Lucida Sans Typewriter" panose="020B0509030504030204" pitchFamily="49" charset="0"/>
                <a:cs typeface="Courier New" pitchFamily="49" charset="0"/>
              </a:rPr>
              <a:t>Hello</a:t>
            </a:r>
          </a:p>
          <a:p>
            <a:pPr lvl="1">
              <a:lnSpc>
                <a:spcPct val="75000"/>
              </a:lnSpc>
              <a:buNone/>
            </a:pPr>
            <a:r>
              <a:rPr lang="en-US" sz="28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&gt;&gt;&gt;</a:t>
            </a:r>
            <a:r>
              <a:rPr lang="en-US" sz="2800" dirty="0">
                <a:latin typeface="Lucida Sans Typewriter" panose="020B0509030504030204" pitchFamily="49" charset="0"/>
                <a:cs typeface="Courier New" pitchFamily="49" charset="0"/>
              </a:rPr>
              <a:t> S = "</a:t>
            </a:r>
            <a:r>
              <a:rPr lang="en-US" sz="2800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J</a:t>
            </a:r>
            <a:r>
              <a:rPr lang="en-US" sz="2800" dirty="0">
                <a:latin typeface="Lucida Sans Typewriter" panose="020B0509030504030204" pitchFamily="49" charset="0"/>
                <a:cs typeface="Courier New" pitchFamily="49" charset="0"/>
              </a:rPr>
              <a:t>" + S[1:]; print(S)</a:t>
            </a:r>
          </a:p>
          <a:p>
            <a:pPr lvl="1">
              <a:lnSpc>
                <a:spcPct val="75000"/>
              </a:lnSpc>
              <a:buNone/>
            </a:pPr>
            <a:r>
              <a:rPr lang="en-US" sz="2800" dirty="0" err="1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J</a:t>
            </a:r>
            <a:r>
              <a:rPr lang="en-US" sz="2800" dirty="0" err="1">
                <a:latin typeface="Lucida Sans Typewriter" panose="020B0509030504030204" pitchFamily="49" charset="0"/>
                <a:cs typeface="Courier New" pitchFamily="49" charset="0"/>
              </a:rPr>
              <a:t>ello</a:t>
            </a:r>
            <a:endParaRPr lang="en-US" sz="2800" dirty="0">
              <a:latin typeface="Lucida Sans Typewriter" panose="020B0509030504030204" pitchFamily="49" charset="0"/>
              <a:cs typeface="Courier New" pitchFamily="49" charset="0"/>
            </a:endParaRPr>
          </a:p>
          <a:p>
            <a:pPr lvl="1">
              <a:lnSpc>
                <a:spcPct val="55000"/>
              </a:lnSpc>
              <a:buNone/>
            </a:pPr>
            <a:r>
              <a:rPr lang="en-US" sz="28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&gt;&gt;&gt;</a:t>
            </a:r>
          </a:p>
        </p:txBody>
      </p:sp>
    </p:spTree>
    <p:extLst>
      <p:ext uri="{BB962C8B-B14F-4D97-AF65-F5344CB8AC3E}">
        <p14:creationId xmlns:p14="http://schemas.microsoft.com/office/powerpoint/2010/main" val="25725406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220580"/>
            <a:ext cx="9733069" cy="685800"/>
          </a:xfrm>
        </p:spPr>
        <p:txBody>
          <a:bodyPr>
            <a:noAutofit/>
          </a:bodyPr>
          <a:lstStyle/>
          <a:p>
            <a:r>
              <a:rPr lang="en-US" sz="4400" dirty="0" smtClean="0">
                <a:solidFill>
                  <a:srgbClr val="0070C0"/>
                </a:solidFill>
              </a:rPr>
              <a:t>Deleting </a:t>
            </a:r>
            <a:r>
              <a:rPr lang="en-US" sz="4400" dirty="0">
                <a:solidFill>
                  <a:srgbClr val="0070C0"/>
                </a:solidFill>
              </a:rPr>
              <a:t>Tuple </a:t>
            </a:r>
            <a:r>
              <a:rPr lang="en-US" sz="4400" dirty="0" smtClean="0">
                <a:solidFill>
                  <a:srgbClr val="0070C0"/>
                </a:solidFill>
              </a:rPr>
              <a:t>Elements</a:t>
            </a:r>
            <a:endParaRPr lang="en-US" sz="4400" dirty="0">
              <a:solidFill>
                <a:srgbClr val="0070C0"/>
              </a:solidFill>
            </a:endParaRP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196644" y="1160205"/>
            <a:ext cx="9533144" cy="5316796"/>
          </a:xfrm>
        </p:spPr>
        <p:txBody>
          <a:bodyPr>
            <a:normAutofit fontScale="92500" lnSpcReduction="20000"/>
          </a:bodyPr>
          <a:lstStyle/>
          <a:p>
            <a:r>
              <a:rPr lang="en-US" sz="4300" dirty="0" smtClean="0"/>
              <a:t>You can’t remove </a:t>
            </a:r>
            <a:r>
              <a:rPr lang="en-US" sz="4300" dirty="0"/>
              <a:t>individual tuple </a:t>
            </a:r>
            <a:r>
              <a:rPr lang="en-US" sz="4300" dirty="0" smtClean="0"/>
              <a:t>elements.</a:t>
            </a:r>
            <a:endParaRPr lang="en-US" sz="4300" dirty="0"/>
          </a:p>
          <a:p>
            <a:pPr marL="546100" lvl="1" indent="-180975"/>
            <a:r>
              <a:rPr lang="en-US" sz="3600" dirty="0"/>
              <a:t> </a:t>
            </a:r>
            <a:r>
              <a:rPr lang="en-US" sz="3900" dirty="0"/>
              <a:t>But you can </a:t>
            </a:r>
            <a:r>
              <a:rPr lang="en-US" sz="3900" u="sng" dirty="0">
                <a:solidFill>
                  <a:srgbClr val="00B050"/>
                </a:solidFill>
              </a:rPr>
              <a:t>put together </a:t>
            </a:r>
            <a:r>
              <a:rPr lang="en-US" sz="3900" u="sng" dirty="0" smtClean="0">
                <a:solidFill>
                  <a:srgbClr val="00B050"/>
                </a:solidFill>
              </a:rPr>
              <a:t>a new </a:t>
            </a:r>
            <a:r>
              <a:rPr lang="en-US" sz="3900" u="sng" dirty="0">
                <a:solidFill>
                  <a:srgbClr val="00B050"/>
                </a:solidFill>
              </a:rPr>
              <a:t>tuple</a:t>
            </a:r>
            <a:r>
              <a:rPr lang="en-US" sz="3900" dirty="0"/>
              <a:t>, while </a:t>
            </a:r>
            <a:r>
              <a:rPr lang="en-US" sz="3900" dirty="0" smtClean="0"/>
              <a:t> </a:t>
            </a:r>
          </a:p>
          <a:p>
            <a:pPr marL="365125" lvl="1" indent="0">
              <a:buNone/>
            </a:pPr>
            <a:r>
              <a:rPr lang="en-US" sz="3900" dirty="0" smtClean="0"/>
              <a:t>   choosing </a:t>
            </a:r>
            <a:r>
              <a:rPr lang="en-US" sz="3900" dirty="0"/>
              <a:t>to </a:t>
            </a:r>
            <a:r>
              <a:rPr lang="en-US" sz="3900" i="1" dirty="0">
                <a:solidFill>
                  <a:srgbClr val="FF0000"/>
                </a:solidFill>
              </a:rPr>
              <a:t>leave out </a:t>
            </a:r>
            <a:r>
              <a:rPr lang="en-US" sz="3900" i="1" dirty="0"/>
              <a:t>the undesired </a:t>
            </a:r>
            <a:r>
              <a:rPr lang="en-US" sz="3900" i="1" dirty="0" smtClean="0"/>
              <a:t>elements</a:t>
            </a:r>
            <a:r>
              <a:rPr lang="en-US" sz="3900" dirty="0" smtClean="0"/>
              <a:t>:</a:t>
            </a:r>
          </a:p>
          <a:p>
            <a:pPr marL="364871" lvl="1" indent="0">
              <a:spcBef>
                <a:spcPts val="1200"/>
              </a:spcBef>
              <a:buNone/>
            </a:pPr>
            <a:r>
              <a:rPr lang="en-US" sz="2800" dirty="0" smtClean="0">
                <a:latin typeface="Lucida Sans Typewriter" panose="020B0509030504030204" pitchFamily="49" charset="0"/>
                <a:cs typeface="Courier New" pitchFamily="49" charset="0"/>
              </a:rPr>
              <a:t>	</a:t>
            </a:r>
            <a:r>
              <a:rPr lang="en-US" sz="2800" dirty="0" smtClean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&gt;&gt;&gt;</a:t>
            </a:r>
            <a:r>
              <a:rPr lang="en-US" sz="2800" dirty="0" smtClean="0"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sz="2800" dirty="0" err="1">
                <a:latin typeface="Lucida Sans Typewriter" panose="020B0509030504030204" pitchFamily="49" charset="0"/>
                <a:cs typeface="Courier New" pitchFamily="49" charset="0"/>
              </a:rPr>
              <a:t>tup</a:t>
            </a:r>
            <a:r>
              <a:rPr lang="en-US" sz="2800" dirty="0">
                <a:latin typeface="Lucida Sans Typewriter" panose="020B0509030504030204" pitchFamily="49" charset="0"/>
                <a:cs typeface="Courier New" pitchFamily="49" charset="0"/>
              </a:rPr>
              <a:t> = (</a:t>
            </a:r>
            <a:r>
              <a:rPr lang="en-US" sz="2800" dirty="0">
                <a:solidFill>
                  <a:srgbClr val="00B0F0"/>
                </a:solidFill>
                <a:latin typeface="Lucida Sans Typewriter" panose="020B0509030504030204" pitchFamily="49" charset="0"/>
                <a:cs typeface="Courier New" pitchFamily="49" charset="0"/>
              </a:rPr>
              <a:t>'</a:t>
            </a:r>
            <a:r>
              <a:rPr lang="en-US" sz="2800" dirty="0" err="1">
                <a:solidFill>
                  <a:srgbClr val="00B0F0"/>
                </a:solidFill>
                <a:latin typeface="Lucida Sans Typewriter" panose="020B0509030504030204" pitchFamily="49" charset="0"/>
                <a:cs typeface="Courier New" pitchFamily="49" charset="0"/>
              </a:rPr>
              <a:t>phys</a:t>
            </a:r>
            <a:r>
              <a:rPr lang="en-US" sz="2800" dirty="0">
                <a:solidFill>
                  <a:srgbClr val="00B0F0"/>
                </a:solidFill>
                <a:latin typeface="Lucida Sans Typewriter" panose="020B0509030504030204" pitchFamily="49" charset="0"/>
                <a:cs typeface="Courier New" pitchFamily="49" charset="0"/>
              </a:rPr>
              <a:t>'</a:t>
            </a:r>
            <a:r>
              <a:rPr lang="en-US" sz="2800" dirty="0">
                <a:latin typeface="Lucida Sans Typewriter" panose="020B0509030504030204" pitchFamily="49" charset="0"/>
                <a:cs typeface="Courier New" pitchFamily="49" charset="0"/>
              </a:rPr>
              <a:t>, </a:t>
            </a:r>
            <a:r>
              <a:rPr lang="en-US" sz="2800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'</a:t>
            </a:r>
            <a:r>
              <a:rPr lang="en-US" sz="2800" dirty="0" err="1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chem</a:t>
            </a:r>
            <a:r>
              <a:rPr lang="en-US" sz="2800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', 2017, </a:t>
            </a:r>
            <a:r>
              <a:rPr lang="en-US" sz="2800" dirty="0">
                <a:solidFill>
                  <a:srgbClr val="00B0F0"/>
                </a:solidFill>
                <a:latin typeface="Lucida Sans Typewriter" panose="020B0509030504030204" pitchFamily="49" charset="0"/>
                <a:cs typeface="Courier New" pitchFamily="49" charset="0"/>
              </a:rPr>
              <a:t>2019</a:t>
            </a:r>
            <a:r>
              <a:rPr lang="en-US" sz="2800" dirty="0" smtClean="0">
                <a:latin typeface="Lucida Sans Typewriter" panose="020B0509030504030204" pitchFamily="49" charset="0"/>
                <a:cs typeface="Courier New" pitchFamily="49" charset="0"/>
              </a:rPr>
              <a:t>) </a:t>
            </a:r>
            <a:endParaRPr lang="en-US" sz="2800" dirty="0">
              <a:latin typeface="Lucida Sans Typewriter" panose="020B0509030504030204" pitchFamily="49" charset="0"/>
              <a:cs typeface="Courier New" pitchFamily="49" charset="0"/>
            </a:endParaRPr>
          </a:p>
          <a:p>
            <a:pPr marL="364871" lvl="1" indent="0">
              <a:buNone/>
            </a:pPr>
            <a:r>
              <a:rPr lang="en-US" sz="2800" dirty="0" smtClean="0">
                <a:latin typeface="Lucida Sans Typewriter" panose="020B0509030504030204" pitchFamily="49" charset="0"/>
                <a:cs typeface="Courier New" pitchFamily="49" charset="0"/>
              </a:rPr>
              <a:t>	</a:t>
            </a:r>
            <a:r>
              <a:rPr lang="en-US" sz="2800" dirty="0" smtClean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&gt;&gt;&gt;</a:t>
            </a:r>
            <a:r>
              <a:rPr lang="en-US" sz="2800" dirty="0" smtClean="0"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sz="2800" dirty="0" err="1" smtClean="0">
                <a:solidFill>
                  <a:srgbClr val="00B050"/>
                </a:solidFill>
                <a:latin typeface="Lucida Sans Typewriter" panose="020B0509030504030204" pitchFamily="49" charset="0"/>
                <a:cs typeface="Courier New" pitchFamily="49" charset="0"/>
              </a:rPr>
              <a:t>tup</a:t>
            </a:r>
            <a:r>
              <a:rPr lang="en-US" sz="2800" dirty="0" smtClean="0">
                <a:latin typeface="Lucida Sans Typewriter" panose="020B0509030504030204" pitchFamily="49" charset="0"/>
                <a:cs typeface="Courier New" pitchFamily="49" charset="0"/>
              </a:rPr>
              <a:t> = </a:t>
            </a:r>
            <a:r>
              <a:rPr lang="en-US" sz="2800" dirty="0" err="1" smtClean="0">
                <a:solidFill>
                  <a:srgbClr val="00B0F0"/>
                </a:solidFill>
                <a:latin typeface="Lucida Sans Typewriter" panose="020B0509030504030204" pitchFamily="49" charset="0"/>
                <a:cs typeface="Courier New" pitchFamily="49" charset="0"/>
              </a:rPr>
              <a:t>tup</a:t>
            </a:r>
            <a:r>
              <a:rPr lang="en-US" sz="2800" dirty="0" smtClean="0">
                <a:solidFill>
                  <a:srgbClr val="00B0F0"/>
                </a:solidFill>
                <a:latin typeface="Lucida Sans Typewriter" panose="020B0509030504030204" pitchFamily="49" charset="0"/>
                <a:cs typeface="Courier New" pitchFamily="49" charset="0"/>
              </a:rPr>
              <a:t>[:1]</a:t>
            </a:r>
            <a:r>
              <a:rPr lang="en-US" sz="2800" dirty="0" smtClean="0">
                <a:latin typeface="Lucida Sans Typewriter" panose="020B0509030504030204" pitchFamily="49" charset="0"/>
                <a:cs typeface="Courier New" pitchFamily="49" charset="0"/>
              </a:rPr>
              <a:t>+</a:t>
            </a:r>
            <a:r>
              <a:rPr lang="en-US" sz="2800" dirty="0" err="1" smtClean="0">
                <a:solidFill>
                  <a:srgbClr val="00B0F0"/>
                </a:solidFill>
                <a:latin typeface="Lucida Sans Typewriter" panose="020B0509030504030204" pitchFamily="49" charset="0"/>
                <a:cs typeface="Courier New" pitchFamily="49" charset="0"/>
              </a:rPr>
              <a:t>tup</a:t>
            </a:r>
            <a:r>
              <a:rPr lang="en-US" sz="2800" dirty="0" smtClean="0">
                <a:solidFill>
                  <a:srgbClr val="00B0F0"/>
                </a:solidFill>
                <a:latin typeface="Lucida Sans Typewriter" panose="020B0509030504030204" pitchFamily="49" charset="0"/>
                <a:cs typeface="Courier New" pitchFamily="49" charset="0"/>
              </a:rPr>
              <a:t>[-1:]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#can even reuse name</a:t>
            </a:r>
          </a:p>
          <a:p>
            <a:pPr marL="364871" lvl="1" indent="0">
              <a:buNone/>
            </a:pPr>
            <a:r>
              <a:rPr lang="en-US" sz="2800" dirty="0" smtClean="0">
                <a:latin typeface="Lucida Sans Typewriter" panose="020B0509030504030204" pitchFamily="49" charset="0"/>
                <a:cs typeface="Courier New" pitchFamily="49" charset="0"/>
              </a:rPr>
              <a:t>	</a:t>
            </a:r>
            <a:r>
              <a:rPr lang="en-US" sz="2800" dirty="0" smtClean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&gt;&gt;&gt;</a:t>
            </a:r>
            <a:r>
              <a:rPr lang="en-US" sz="2800" dirty="0" smtClean="0"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sz="2800" dirty="0" err="1" smtClean="0">
                <a:solidFill>
                  <a:srgbClr val="00B050"/>
                </a:solidFill>
                <a:latin typeface="Lucida Sans Typewriter" panose="020B0509030504030204" pitchFamily="49" charset="0"/>
                <a:cs typeface="Courier New" pitchFamily="49" charset="0"/>
              </a:rPr>
              <a:t>tup</a:t>
            </a:r>
            <a:endParaRPr lang="en-US" sz="2800" dirty="0" smtClean="0">
              <a:solidFill>
                <a:srgbClr val="00B050"/>
              </a:solidFill>
              <a:latin typeface="Lucida Sans Typewriter" panose="020B0509030504030204" pitchFamily="49" charset="0"/>
              <a:cs typeface="Courier New" pitchFamily="49" charset="0"/>
            </a:endParaRPr>
          </a:p>
          <a:p>
            <a:pPr marL="364871" lvl="1" indent="0">
              <a:buNone/>
            </a:pPr>
            <a:r>
              <a:rPr lang="en-US" sz="2800" dirty="0" smtClean="0">
                <a:latin typeface="Lucida Sans Typewriter" panose="020B0509030504030204" pitchFamily="49" charset="0"/>
                <a:cs typeface="Courier New" pitchFamily="49" charset="0"/>
              </a:rPr>
              <a:t>	(</a:t>
            </a:r>
            <a:r>
              <a:rPr lang="en-US" sz="2800" dirty="0" smtClean="0">
                <a:solidFill>
                  <a:srgbClr val="00B0F0"/>
                </a:solidFill>
                <a:latin typeface="Lucida Sans Typewriter" panose="020B0509030504030204" pitchFamily="49" charset="0"/>
                <a:cs typeface="Courier New" pitchFamily="49" charset="0"/>
              </a:rPr>
              <a:t>'</a:t>
            </a:r>
            <a:r>
              <a:rPr lang="en-US" sz="2800" dirty="0" err="1" smtClean="0">
                <a:solidFill>
                  <a:srgbClr val="00B0F0"/>
                </a:solidFill>
                <a:latin typeface="Lucida Sans Typewriter" panose="020B0509030504030204" pitchFamily="49" charset="0"/>
                <a:cs typeface="Courier New" pitchFamily="49" charset="0"/>
              </a:rPr>
              <a:t>phys</a:t>
            </a:r>
            <a:r>
              <a:rPr lang="en-US" sz="2800" dirty="0" smtClean="0">
                <a:solidFill>
                  <a:srgbClr val="00B0F0"/>
                </a:solidFill>
                <a:latin typeface="Lucida Sans Typewriter" panose="020B0509030504030204" pitchFamily="49" charset="0"/>
                <a:cs typeface="Courier New" pitchFamily="49" charset="0"/>
              </a:rPr>
              <a:t>'</a:t>
            </a:r>
            <a:r>
              <a:rPr lang="en-US" sz="2800" dirty="0" smtClean="0">
                <a:latin typeface="Lucida Sans Typewriter" panose="020B0509030504030204" pitchFamily="49" charset="0"/>
                <a:cs typeface="Courier New" pitchFamily="49" charset="0"/>
              </a:rPr>
              <a:t>, </a:t>
            </a:r>
            <a:r>
              <a:rPr lang="en-US" sz="2800" dirty="0" smtClean="0">
                <a:solidFill>
                  <a:srgbClr val="00B0F0"/>
                </a:solidFill>
                <a:latin typeface="Lucida Sans Typewriter" panose="020B0509030504030204" pitchFamily="49" charset="0"/>
                <a:cs typeface="Courier New" pitchFamily="49" charset="0"/>
              </a:rPr>
              <a:t>2019</a:t>
            </a:r>
            <a:r>
              <a:rPr lang="en-US" sz="2800" dirty="0" smtClean="0">
                <a:latin typeface="Lucida Sans Typewriter" panose="020B0509030504030204" pitchFamily="49" charset="0"/>
                <a:cs typeface="Courier New" pitchFamily="49" charset="0"/>
              </a:rPr>
              <a:t>) </a:t>
            </a:r>
          </a:p>
          <a:p>
            <a:pPr marL="364871" lvl="1" indent="0">
              <a:buNone/>
            </a:pPr>
            <a:r>
              <a:rPr lang="en-US" sz="2800" dirty="0" smtClean="0">
                <a:latin typeface="Lucida Sans Typewriter" panose="020B0509030504030204" pitchFamily="49" charset="0"/>
                <a:cs typeface="Courier New" pitchFamily="49" charset="0"/>
              </a:rPr>
              <a:t>	</a:t>
            </a:r>
            <a:r>
              <a:rPr lang="en-US" sz="2800" dirty="0" smtClean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&gt;&gt;&gt;</a:t>
            </a:r>
          </a:p>
          <a:p>
            <a:pPr>
              <a:spcBef>
                <a:spcPts val="1800"/>
              </a:spcBef>
            </a:pPr>
            <a:endParaRPr lang="en-US" sz="4300" dirty="0" smtClean="0">
              <a:solidFill>
                <a:schemeClr val="bg1"/>
              </a:solidFill>
            </a:endParaRPr>
          </a:p>
          <a:p>
            <a:pPr marL="855663" lvl="1" indent="-166688">
              <a:spcBef>
                <a:spcPts val="1200"/>
              </a:spcBef>
              <a:buFontTx/>
              <a:buNone/>
              <a:tabLst>
                <a:tab pos="973138" algn="l"/>
              </a:tabLst>
            </a:pPr>
            <a:endParaRPr lang="en-US" sz="2800" dirty="0" smtClean="0">
              <a:solidFill>
                <a:schemeClr val="bg1"/>
              </a:solidFill>
              <a:latin typeface="Lucida Sans Typewriter" panose="020B0509030504030204" pitchFamily="49" charset="0"/>
              <a:cs typeface="Courier New" pitchFamily="49" charset="0"/>
            </a:endParaRPr>
          </a:p>
          <a:p>
            <a:pPr marL="855663" lvl="1" indent="-166688">
              <a:buFontTx/>
              <a:buNone/>
              <a:tabLst>
                <a:tab pos="973138" algn="l"/>
              </a:tabLst>
            </a:pPr>
            <a:endParaRPr lang="en-US" sz="2800" dirty="0" smtClean="0">
              <a:solidFill>
                <a:schemeClr val="bg1"/>
              </a:solidFill>
              <a:latin typeface="Lucida Sans Typewriter" panose="020B0509030504030204" pitchFamily="49" charset="0"/>
              <a:cs typeface="Courier New" pitchFamily="49" charset="0"/>
            </a:endParaRPr>
          </a:p>
          <a:p>
            <a:pPr marL="855663" lvl="1" indent="-166688">
              <a:buFontTx/>
              <a:buNone/>
              <a:tabLst>
                <a:tab pos="973138" algn="l"/>
              </a:tabLst>
            </a:pPr>
            <a:endParaRPr lang="en-US" sz="2800" dirty="0" smtClean="0">
              <a:solidFill>
                <a:schemeClr val="bg1"/>
              </a:solidFill>
              <a:latin typeface="Lucida Sans Typewriter" panose="020B0509030504030204" pitchFamily="49" charset="0"/>
              <a:cs typeface="Courier New" pitchFamily="49" charset="0"/>
            </a:endParaRPr>
          </a:p>
          <a:p>
            <a:pPr marL="855663" lvl="1" indent="-166688">
              <a:buFontTx/>
              <a:buNone/>
              <a:tabLst>
                <a:tab pos="973138" algn="l"/>
              </a:tabLst>
            </a:pPr>
            <a:r>
              <a:rPr lang="en-US" sz="2800" dirty="0" smtClean="0">
                <a:solidFill>
                  <a:schemeClr val="bg1"/>
                </a:solidFill>
                <a:latin typeface="Lucida Sans Typewriter" panose="020B0509030504030204" pitchFamily="49" charset="0"/>
                <a:cs typeface="Courier New" pitchFamily="49" charset="0"/>
              </a:rPr>
              <a:t>&gt;&gt;&gt;</a:t>
            </a:r>
            <a:endParaRPr lang="en-US" sz="2800" dirty="0">
              <a:solidFill>
                <a:schemeClr val="bg1"/>
              </a:solidFill>
              <a:latin typeface="Lucida Sans Typewriter" panose="020B0509030504030204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0215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220580"/>
            <a:ext cx="9733069" cy="685800"/>
          </a:xfrm>
        </p:spPr>
        <p:txBody>
          <a:bodyPr>
            <a:noAutofit/>
          </a:bodyPr>
          <a:lstStyle/>
          <a:p>
            <a:r>
              <a:rPr lang="en-US" sz="4400" dirty="0" smtClean="0">
                <a:solidFill>
                  <a:srgbClr val="0070C0"/>
                </a:solidFill>
              </a:rPr>
              <a:t>Deleting </a:t>
            </a:r>
            <a:r>
              <a:rPr lang="en-US" sz="4400" dirty="0">
                <a:solidFill>
                  <a:srgbClr val="0070C0"/>
                </a:solidFill>
              </a:rPr>
              <a:t>Tuple </a:t>
            </a:r>
            <a:r>
              <a:rPr lang="en-US" sz="4400" dirty="0" smtClean="0">
                <a:solidFill>
                  <a:srgbClr val="0070C0"/>
                </a:solidFill>
              </a:rPr>
              <a:t>Elements</a:t>
            </a:r>
            <a:endParaRPr lang="en-US" sz="4400" dirty="0">
              <a:solidFill>
                <a:srgbClr val="0070C0"/>
              </a:solidFill>
            </a:endParaRP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196644" y="1160204"/>
            <a:ext cx="9533143" cy="5845277"/>
          </a:xfrm>
        </p:spPr>
        <p:txBody>
          <a:bodyPr>
            <a:normAutofit fontScale="92500" lnSpcReduction="20000"/>
          </a:bodyPr>
          <a:lstStyle/>
          <a:p>
            <a:r>
              <a:rPr lang="en-US" sz="4300" dirty="0" smtClean="0"/>
              <a:t>You can’t remove </a:t>
            </a:r>
            <a:r>
              <a:rPr lang="en-US" sz="4300" dirty="0"/>
              <a:t>individual tuple </a:t>
            </a:r>
            <a:r>
              <a:rPr lang="en-US" sz="4300" dirty="0" smtClean="0"/>
              <a:t>elements.</a:t>
            </a:r>
            <a:endParaRPr lang="en-US" sz="4300" dirty="0"/>
          </a:p>
          <a:p>
            <a:pPr marL="546100" lvl="1" indent="-180975"/>
            <a:r>
              <a:rPr lang="en-US" sz="3600" dirty="0"/>
              <a:t> </a:t>
            </a:r>
            <a:r>
              <a:rPr lang="en-US" sz="3900" dirty="0"/>
              <a:t>But you can </a:t>
            </a:r>
            <a:r>
              <a:rPr lang="en-US" sz="3900" u="sng" dirty="0">
                <a:solidFill>
                  <a:srgbClr val="00B050"/>
                </a:solidFill>
              </a:rPr>
              <a:t>put together </a:t>
            </a:r>
            <a:r>
              <a:rPr lang="en-US" sz="3900" u="sng" dirty="0" smtClean="0">
                <a:solidFill>
                  <a:srgbClr val="00B050"/>
                </a:solidFill>
              </a:rPr>
              <a:t>a new </a:t>
            </a:r>
            <a:r>
              <a:rPr lang="en-US" sz="3900" u="sng" dirty="0">
                <a:solidFill>
                  <a:srgbClr val="00B050"/>
                </a:solidFill>
              </a:rPr>
              <a:t>tuple</a:t>
            </a:r>
            <a:r>
              <a:rPr lang="en-US" sz="3900" dirty="0"/>
              <a:t>, while </a:t>
            </a:r>
            <a:r>
              <a:rPr lang="en-US" sz="3900" dirty="0" smtClean="0"/>
              <a:t> </a:t>
            </a:r>
          </a:p>
          <a:p>
            <a:pPr marL="365125" lvl="1" indent="0">
              <a:buNone/>
            </a:pPr>
            <a:r>
              <a:rPr lang="en-US" sz="3900" dirty="0" smtClean="0"/>
              <a:t>   choosing </a:t>
            </a:r>
            <a:r>
              <a:rPr lang="en-US" sz="3900" dirty="0"/>
              <a:t>to </a:t>
            </a:r>
            <a:r>
              <a:rPr lang="en-US" sz="3900" i="1" dirty="0">
                <a:solidFill>
                  <a:srgbClr val="FF0000"/>
                </a:solidFill>
              </a:rPr>
              <a:t>leave out </a:t>
            </a:r>
            <a:r>
              <a:rPr lang="en-US" sz="3900" i="1" dirty="0"/>
              <a:t>the undesired </a:t>
            </a:r>
            <a:r>
              <a:rPr lang="en-US" sz="3900" i="1" dirty="0" smtClean="0"/>
              <a:t>elements</a:t>
            </a:r>
            <a:r>
              <a:rPr lang="en-US" sz="3900" dirty="0" smtClean="0"/>
              <a:t>:</a:t>
            </a:r>
          </a:p>
          <a:p>
            <a:pPr marL="364871" lvl="1" indent="0">
              <a:spcBef>
                <a:spcPts val="1200"/>
              </a:spcBef>
              <a:buNone/>
            </a:pPr>
            <a:r>
              <a:rPr lang="en-US" sz="2800" dirty="0" smtClean="0">
                <a:latin typeface="Lucida Sans Typewriter" panose="020B0509030504030204" pitchFamily="49" charset="0"/>
                <a:cs typeface="Courier New" pitchFamily="49" charset="0"/>
              </a:rPr>
              <a:t>	&gt;&gt;&gt; </a:t>
            </a:r>
            <a:r>
              <a:rPr lang="en-US" sz="2800" dirty="0" err="1">
                <a:latin typeface="Lucida Sans Typewriter" panose="020B0509030504030204" pitchFamily="49" charset="0"/>
                <a:cs typeface="Courier New" pitchFamily="49" charset="0"/>
              </a:rPr>
              <a:t>tup</a:t>
            </a:r>
            <a:r>
              <a:rPr lang="en-US" sz="2800" dirty="0">
                <a:latin typeface="Lucida Sans Typewriter" panose="020B0509030504030204" pitchFamily="49" charset="0"/>
                <a:cs typeface="Courier New" pitchFamily="49" charset="0"/>
              </a:rPr>
              <a:t> = (</a:t>
            </a:r>
            <a:r>
              <a:rPr lang="en-US" sz="2800" dirty="0">
                <a:solidFill>
                  <a:srgbClr val="00B0F0"/>
                </a:solidFill>
                <a:latin typeface="Lucida Sans Typewriter" panose="020B0509030504030204" pitchFamily="49" charset="0"/>
                <a:cs typeface="Courier New" pitchFamily="49" charset="0"/>
              </a:rPr>
              <a:t>'</a:t>
            </a:r>
            <a:r>
              <a:rPr lang="en-US" sz="2800" dirty="0" err="1">
                <a:solidFill>
                  <a:srgbClr val="00B0F0"/>
                </a:solidFill>
                <a:latin typeface="Lucida Sans Typewriter" panose="020B0509030504030204" pitchFamily="49" charset="0"/>
                <a:cs typeface="Courier New" pitchFamily="49" charset="0"/>
              </a:rPr>
              <a:t>phys</a:t>
            </a:r>
            <a:r>
              <a:rPr lang="en-US" sz="2800" dirty="0">
                <a:solidFill>
                  <a:srgbClr val="00B0F0"/>
                </a:solidFill>
                <a:latin typeface="Lucida Sans Typewriter" panose="020B0509030504030204" pitchFamily="49" charset="0"/>
                <a:cs typeface="Courier New" pitchFamily="49" charset="0"/>
              </a:rPr>
              <a:t>'</a:t>
            </a:r>
            <a:r>
              <a:rPr lang="en-US" sz="2800" dirty="0">
                <a:latin typeface="Lucida Sans Typewriter" panose="020B0509030504030204" pitchFamily="49" charset="0"/>
                <a:cs typeface="Courier New" pitchFamily="49" charset="0"/>
              </a:rPr>
              <a:t>, </a:t>
            </a:r>
            <a:r>
              <a:rPr lang="en-US" sz="2800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'</a:t>
            </a:r>
            <a:r>
              <a:rPr lang="en-US" sz="2800" dirty="0" err="1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chem</a:t>
            </a:r>
            <a:r>
              <a:rPr lang="en-US" sz="2800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', 2017, </a:t>
            </a:r>
            <a:r>
              <a:rPr lang="en-US" sz="2800" dirty="0">
                <a:solidFill>
                  <a:srgbClr val="00B0F0"/>
                </a:solidFill>
                <a:latin typeface="Lucida Sans Typewriter" panose="020B0509030504030204" pitchFamily="49" charset="0"/>
                <a:cs typeface="Courier New" pitchFamily="49" charset="0"/>
              </a:rPr>
              <a:t>2019</a:t>
            </a:r>
            <a:r>
              <a:rPr lang="en-US" sz="2800" dirty="0" smtClean="0">
                <a:latin typeface="Lucida Sans Typewriter" panose="020B0509030504030204" pitchFamily="49" charset="0"/>
                <a:cs typeface="Courier New" pitchFamily="49" charset="0"/>
              </a:rPr>
              <a:t>) </a:t>
            </a:r>
            <a:endParaRPr lang="en-US" sz="2800" dirty="0">
              <a:latin typeface="Lucida Sans Typewriter" panose="020B0509030504030204" pitchFamily="49" charset="0"/>
              <a:cs typeface="Courier New" pitchFamily="49" charset="0"/>
            </a:endParaRPr>
          </a:p>
          <a:p>
            <a:pPr marL="364871" lvl="1" indent="0">
              <a:buNone/>
            </a:pPr>
            <a:r>
              <a:rPr lang="en-US" sz="2800" dirty="0" smtClean="0">
                <a:latin typeface="Lucida Sans Typewriter" panose="020B0509030504030204" pitchFamily="49" charset="0"/>
                <a:cs typeface="Courier New" pitchFamily="49" charset="0"/>
              </a:rPr>
              <a:t>	&gt;&gt;&gt; </a:t>
            </a:r>
            <a:r>
              <a:rPr lang="en-US" sz="2800" dirty="0" err="1" smtClean="0">
                <a:solidFill>
                  <a:srgbClr val="00B050"/>
                </a:solidFill>
                <a:latin typeface="Lucida Sans Typewriter" panose="020B0509030504030204" pitchFamily="49" charset="0"/>
                <a:cs typeface="Courier New" pitchFamily="49" charset="0"/>
              </a:rPr>
              <a:t>tup</a:t>
            </a:r>
            <a:r>
              <a:rPr lang="en-US" sz="2800" dirty="0" smtClean="0">
                <a:latin typeface="Lucida Sans Typewriter" panose="020B0509030504030204" pitchFamily="49" charset="0"/>
                <a:cs typeface="Courier New" pitchFamily="49" charset="0"/>
              </a:rPr>
              <a:t> = </a:t>
            </a:r>
            <a:r>
              <a:rPr lang="en-US" sz="2800" dirty="0" err="1" smtClean="0">
                <a:solidFill>
                  <a:srgbClr val="00B0F0"/>
                </a:solidFill>
                <a:latin typeface="Lucida Sans Typewriter" panose="020B0509030504030204" pitchFamily="49" charset="0"/>
                <a:cs typeface="Courier New" pitchFamily="49" charset="0"/>
              </a:rPr>
              <a:t>tup</a:t>
            </a:r>
            <a:r>
              <a:rPr lang="en-US" sz="2800" dirty="0" smtClean="0">
                <a:solidFill>
                  <a:srgbClr val="00B0F0"/>
                </a:solidFill>
                <a:latin typeface="Lucida Sans Typewriter" panose="020B0509030504030204" pitchFamily="49" charset="0"/>
                <a:cs typeface="Courier New" pitchFamily="49" charset="0"/>
              </a:rPr>
              <a:t>[:1]</a:t>
            </a:r>
            <a:r>
              <a:rPr lang="en-US" sz="2800" dirty="0" smtClean="0">
                <a:latin typeface="Lucida Sans Typewriter" panose="020B0509030504030204" pitchFamily="49" charset="0"/>
                <a:cs typeface="Courier New" pitchFamily="49" charset="0"/>
              </a:rPr>
              <a:t>+</a:t>
            </a:r>
            <a:r>
              <a:rPr lang="en-US" sz="2800" dirty="0" err="1" smtClean="0">
                <a:solidFill>
                  <a:srgbClr val="00B0F0"/>
                </a:solidFill>
                <a:latin typeface="Lucida Sans Typewriter" panose="020B0509030504030204" pitchFamily="49" charset="0"/>
                <a:cs typeface="Courier New" pitchFamily="49" charset="0"/>
              </a:rPr>
              <a:t>tup</a:t>
            </a:r>
            <a:r>
              <a:rPr lang="en-US" sz="2800" dirty="0" smtClean="0">
                <a:solidFill>
                  <a:srgbClr val="00B0F0"/>
                </a:solidFill>
                <a:latin typeface="Lucida Sans Typewriter" panose="020B0509030504030204" pitchFamily="49" charset="0"/>
                <a:cs typeface="Courier New" pitchFamily="49" charset="0"/>
              </a:rPr>
              <a:t>[-1:]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#can even reuse name</a:t>
            </a:r>
          </a:p>
          <a:p>
            <a:pPr marL="364871" lvl="1" indent="0">
              <a:buNone/>
            </a:pPr>
            <a:r>
              <a:rPr lang="en-US" sz="2800" dirty="0" smtClean="0">
                <a:latin typeface="Lucida Sans Typewriter" panose="020B0509030504030204" pitchFamily="49" charset="0"/>
                <a:cs typeface="Courier New" pitchFamily="49" charset="0"/>
              </a:rPr>
              <a:t>	&gt;&gt;&gt; </a:t>
            </a:r>
            <a:r>
              <a:rPr lang="en-US" sz="2800" dirty="0" err="1" smtClean="0">
                <a:solidFill>
                  <a:srgbClr val="00B050"/>
                </a:solidFill>
                <a:latin typeface="Lucida Sans Typewriter" panose="020B0509030504030204" pitchFamily="49" charset="0"/>
                <a:cs typeface="Courier New" pitchFamily="49" charset="0"/>
              </a:rPr>
              <a:t>tup</a:t>
            </a:r>
            <a:endParaRPr lang="en-US" sz="2800" dirty="0" smtClean="0">
              <a:solidFill>
                <a:srgbClr val="00B050"/>
              </a:solidFill>
              <a:latin typeface="Lucida Sans Typewriter" panose="020B0509030504030204" pitchFamily="49" charset="0"/>
              <a:cs typeface="Courier New" pitchFamily="49" charset="0"/>
            </a:endParaRPr>
          </a:p>
          <a:p>
            <a:pPr marL="364871" lvl="1" indent="0">
              <a:buNone/>
            </a:pPr>
            <a:r>
              <a:rPr lang="en-US" sz="2800" dirty="0" smtClean="0">
                <a:latin typeface="Lucida Sans Typewriter" panose="020B0509030504030204" pitchFamily="49" charset="0"/>
                <a:cs typeface="Courier New" pitchFamily="49" charset="0"/>
              </a:rPr>
              <a:t>	(</a:t>
            </a:r>
            <a:r>
              <a:rPr lang="en-US" sz="2800" dirty="0" smtClean="0">
                <a:solidFill>
                  <a:srgbClr val="00B0F0"/>
                </a:solidFill>
                <a:latin typeface="Lucida Sans Typewriter" panose="020B0509030504030204" pitchFamily="49" charset="0"/>
                <a:cs typeface="Courier New" pitchFamily="49" charset="0"/>
              </a:rPr>
              <a:t>'</a:t>
            </a:r>
            <a:r>
              <a:rPr lang="en-US" sz="2800" dirty="0" err="1" smtClean="0">
                <a:solidFill>
                  <a:srgbClr val="00B0F0"/>
                </a:solidFill>
                <a:latin typeface="Lucida Sans Typewriter" panose="020B0509030504030204" pitchFamily="49" charset="0"/>
                <a:cs typeface="Courier New" pitchFamily="49" charset="0"/>
              </a:rPr>
              <a:t>phys</a:t>
            </a:r>
            <a:r>
              <a:rPr lang="en-US" sz="2800" dirty="0" smtClean="0">
                <a:solidFill>
                  <a:srgbClr val="00B0F0"/>
                </a:solidFill>
                <a:latin typeface="Lucida Sans Typewriter" panose="020B0509030504030204" pitchFamily="49" charset="0"/>
                <a:cs typeface="Courier New" pitchFamily="49" charset="0"/>
              </a:rPr>
              <a:t>'</a:t>
            </a:r>
            <a:r>
              <a:rPr lang="en-US" sz="2800" dirty="0" smtClean="0">
                <a:latin typeface="Lucida Sans Typewriter" panose="020B0509030504030204" pitchFamily="49" charset="0"/>
                <a:cs typeface="Courier New" pitchFamily="49" charset="0"/>
              </a:rPr>
              <a:t>, </a:t>
            </a:r>
            <a:r>
              <a:rPr lang="en-US" sz="2800" dirty="0" smtClean="0">
                <a:solidFill>
                  <a:srgbClr val="00B0F0"/>
                </a:solidFill>
                <a:latin typeface="Lucida Sans Typewriter" panose="020B0509030504030204" pitchFamily="49" charset="0"/>
                <a:cs typeface="Courier New" pitchFamily="49" charset="0"/>
              </a:rPr>
              <a:t>2019</a:t>
            </a:r>
            <a:r>
              <a:rPr lang="en-US" sz="2800" dirty="0" smtClean="0">
                <a:latin typeface="Lucida Sans Typewriter" panose="020B0509030504030204" pitchFamily="49" charset="0"/>
                <a:cs typeface="Courier New" pitchFamily="49" charset="0"/>
              </a:rPr>
              <a:t>) </a:t>
            </a:r>
          </a:p>
          <a:p>
            <a:pPr marL="364871" lvl="1" indent="0">
              <a:buNone/>
            </a:pPr>
            <a:r>
              <a:rPr lang="en-US" sz="2800" dirty="0" smtClean="0">
                <a:latin typeface="Lucida Sans Typewriter" panose="020B0509030504030204" pitchFamily="49" charset="0"/>
                <a:cs typeface="Courier New" pitchFamily="49" charset="0"/>
              </a:rPr>
              <a:t>	&gt;&gt;&gt;</a:t>
            </a:r>
            <a:endParaRPr lang="en-US" sz="3600" dirty="0" smtClean="0"/>
          </a:p>
          <a:p>
            <a:pPr>
              <a:spcBef>
                <a:spcPts val="1800"/>
              </a:spcBef>
            </a:pPr>
            <a:r>
              <a:rPr lang="en-US" sz="4300" dirty="0" smtClean="0"/>
              <a:t>You </a:t>
            </a:r>
            <a:r>
              <a:rPr lang="en-US" sz="4300" i="1" dirty="0" smtClean="0"/>
              <a:t>can</a:t>
            </a:r>
            <a:r>
              <a:rPr lang="en-US" sz="4300" dirty="0" smtClean="0"/>
              <a:t> delete the </a:t>
            </a:r>
            <a:r>
              <a:rPr lang="en-US" sz="4300" i="1" dirty="0">
                <a:solidFill>
                  <a:srgbClr val="FF0000"/>
                </a:solidFill>
              </a:rPr>
              <a:t>entire </a:t>
            </a:r>
            <a:r>
              <a:rPr lang="en-US" sz="4300" i="1" dirty="0" smtClean="0">
                <a:solidFill>
                  <a:srgbClr val="FF0000"/>
                </a:solidFill>
              </a:rPr>
              <a:t>tuple</a:t>
            </a:r>
            <a:r>
              <a:rPr lang="en-US" sz="4300" dirty="0" smtClean="0"/>
              <a:t>, however:</a:t>
            </a:r>
            <a:endParaRPr lang="en-US" sz="4300" dirty="0"/>
          </a:p>
          <a:p>
            <a:pPr marL="855663" lvl="1" indent="-166688">
              <a:spcBef>
                <a:spcPts val="600"/>
              </a:spcBef>
              <a:buFontTx/>
              <a:buNone/>
              <a:tabLst>
                <a:tab pos="973138" algn="l"/>
              </a:tabLst>
            </a:pPr>
            <a:r>
              <a:rPr lang="en-US" sz="2800" dirty="0" smtClean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&gt;&gt;&gt;</a:t>
            </a:r>
            <a:r>
              <a:rPr lang="en-US" sz="2800" dirty="0" smtClean="0"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del </a:t>
            </a:r>
            <a:r>
              <a:rPr lang="en-US" sz="2800" dirty="0" err="1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tup</a:t>
            </a:r>
            <a:r>
              <a:rPr lang="en-US" sz="2800" dirty="0">
                <a:latin typeface="Lucida Sans Typewriter" panose="020B0509030504030204" pitchFamily="49" charset="0"/>
                <a:cs typeface="Courier New" pitchFamily="49" charset="0"/>
              </a:rPr>
              <a:t>; </a:t>
            </a:r>
          </a:p>
          <a:p>
            <a:pPr marL="855663" lvl="1" indent="-166688">
              <a:buFontTx/>
              <a:buNone/>
              <a:tabLst>
                <a:tab pos="973138" algn="l"/>
              </a:tabLst>
            </a:pPr>
            <a:r>
              <a:rPr lang="en-US" sz="2800" dirty="0">
                <a:solidFill>
                  <a:schemeClr val="bg1"/>
                </a:solidFill>
                <a:latin typeface="Lucida Sans Typewriter" panose="020B0509030504030204" pitchFamily="49" charset="0"/>
                <a:cs typeface="Courier New" pitchFamily="49" charset="0"/>
              </a:rPr>
              <a:t>&gt;&gt;&gt;</a:t>
            </a:r>
            <a:r>
              <a:rPr lang="en-US" sz="2800" dirty="0">
                <a:latin typeface="Lucida Sans Typewriter" panose="020B0509030504030204" pitchFamily="49" charset="0"/>
                <a:cs typeface="Courier New" pitchFamily="49" charset="0"/>
              </a:rPr>
              <a:t> print (</a:t>
            </a:r>
            <a:r>
              <a:rPr lang="en-US" sz="2800" dirty="0" err="1">
                <a:latin typeface="Lucida Sans Typewriter" panose="020B0509030504030204" pitchFamily="49" charset="0"/>
                <a:cs typeface="Courier New" pitchFamily="49" charset="0"/>
              </a:rPr>
              <a:t>tup</a:t>
            </a:r>
            <a:r>
              <a:rPr lang="en-US" sz="2800" dirty="0">
                <a:latin typeface="Lucida Sans Typewriter" panose="020B0509030504030204" pitchFamily="49" charset="0"/>
                <a:cs typeface="Courier New" pitchFamily="49" charset="0"/>
              </a:rPr>
              <a:t>) </a:t>
            </a:r>
          </a:p>
          <a:p>
            <a:pPr marL="855663" lvl="1" indent="-166688">
              <a:buFontTx/>
              <a:buNone/>
              <a:tabLst>
                <a:tab pos="973138" algn="l"/>
              </a:tabLst>
            </a:pPr>
            <a:r>
              <a:rPr lang="en-US" sz="2800" dirty="0" err="1">
                <a:latin typeface="Lucida Sans Typewriter" panose="020B0509030504030204" pitchFamily="49" charset="0"/>
                <a:cs typeface="Courier New" pitchFamily="49" charset="0"/>
              </a:rPr>
              <a:t>Traceback</a:t>
            </a:r>
            <a:r>
              <a:rPr lang="en-US" sz="2800" dirty="0">
                <a:latin typeface="Lucida Sans Typewriter" panose="020B0509030504030204" pitchFamily="49" charset="0"/>
                <a:cs typeface="Courier New" pitchFamily="49" charset="0"/>
              </a:rPr>
              <a:t> (most recent call last):</a:t>
            </a:r>
          </a:p>
          <a:p>
            <a:pPr marL="855663" lvl="1" indent="-166688">
              <a:buFontTx/>
              <a:buNone/>
              <a:tabLst>
                <a:tab pos="973138" algn="l"/>
              </a:tabLst>
            </a:pPr>
            <a:r>
              <a:rPr lang="en-US" sz="2800" dirty="0">
                <a:latin typeface="Lucida Sans Typewriter" panose="020B0509030504030204" pitchFamily="49" charset="0"/>
                <a:cs typeface="Courier New" pitchFamily="49" charset="0"/>
              </a:rPr>
              <a:t>  File "&lt;</a:t>
            </a:r>
            <a:r>
              <a:rPr lang="en-US" sz="2800" dirty="0" err="1">
                <a:latin typeface="Lucida Sans Typewriter" panose="020B0509030504030204" pitchFamily="49" charset="0"/>
                <a:cs typeface="Courier New" pitchFamily="49" charset="0"/>
              </a:rPr>
              <a:t>stdin</a:t>
            </a:r>
            <a:r>
              <a:rPr lang="en-US" sz="2800" dirty="0">
                <a:latin typeface="Lucida Sans Typewriter" panose="020B0509030504030204" pitchFamily="49" charset="0"/>
                <a:cs typeface="Courier New" pitchFamily="49" charset="0"/>
              </a:rPr>
              <a:t>&gt;", line 1, in &lt;module&gt;</a:t>
            </a:r>
          </a:p>
          <a:p>
            <a:pPr marL="855663" lvl="1" indent="-166688">
              <a:buFontTx/>
              <a:buNone/>
              <a:tabLst>
                <a:tab pos="973138" algn="l"/>
              </a:tabLst>
            </a:pPr>
            <a:r>
              <a:rPr lang="en-US" sz="2800" dirty="0" err="1" smtClean="0">
                <a:latin typeface="Lucida Sans Typewriter" panose="020B0509030504030204" pitchFamily="49" charset="0"/>
                <a:cs typeface="Courier New" pitchFamily="49" charset="0"/>
              </a:rPr>
              <a:t>NameError</a:t>
            </a:r>
            <a:r>
              <a:rPr lang="en-US" sz="2800" dirty="0">
                <a:latin typeface="Lucida Sans Typewriter" panose="020B0509030504030204" pitchFamily="49" charset="0"/>
                <a:cs typeface="Courier New" pitchFamily="49" charset="0"/>
              </a:rPr>
              <a:t>: name '</a:t>
            </a:r>
            <a:r>
              <a:rPr lang="en-US" sz="2800" dirty="0" err="1">
                <a:latin typeface="Lucida Sans Typewriter" panose="020B0509030504030204" pitchFamily="49" charset="0"/>
                <a:cs typeface="Courier New" pitchFamily="49" charset="0"/>
              </a:rPr>
              <a:t>tup</a:t>
            </a:r>
            <a:r>
              <a:rPr lang="en-US" sz="2800" dirty="0">
                <a:latin typeface="Lucida Sans Typewriter" panose="020B0509030504030204" pitchFamily="49" charset="0"/>
                <a:cs typeface="Courier New" pitchFamily="49" charset="0"/>
              </a:rPr>
              <a:t>' is not defined </a:t>
            </a:r>
          </a:p>
          <a:p>
            <a:pPr marL="855663" lvl="1" indent="-166688">
              <a:lnSpc>
                <a:spcPct val="80000"/>
              </a:lnSpc>
              <a:buFontTx/>
              <a:buNone/>
              <a:tabLst>
                <a:tab pos="973138" algn="l"/>
              </a:tabLst>
            </a:pPr>
            <a:r>
              <a:rPr lang="en-US" sz="28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&gt;&gt;&gt;</a:t>
            </a:r>
          </a:p>
        </p:txBody>
      </p:sp>
      <p:sp>
        <p:nvSpPr>
          <p:cNvPr id="2" name="Rectangle 1"/>
          <p:cNvSpPr/>
          <p:nvPr/>
        </p:nvSpPr>
        <p:spPr>
          <a:xfrm>
            <a:off x="176213" y="1645920"/>
            <a:ext cx="9589294" cy="2590800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890011" y="5153998"/>
            <a:ext cx="785793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6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&gt;&gt;&gt;</a:t>
            </a: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39748101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" y="0"/>
            <a:ext cx="9729788" cy="1065046"/>
          </a:xfrm>
        </p:spPr>
        <p:txBody>
          <a:bodyPr>
            <a:normAutofit/>
          </a:bodyPr>
          <a:lstStyle/>
          <a:p>
            <a:r>
              <a:rPr lang="en-US" altLang="en-US" sz="4400" dirty="0" smtClean="0">
                <a:solidFill>
                  <a:srgbClr val="0070C0"/>
                </a:solidFill>
              </a:rPr>
              <a:t>Lists Can Combine Together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412707" y="875329"/>
            <a:ext cx="9317082" cy="5415104"/>
          </a:xfrm>
        </p:spPr>
        <p:txBody>
          <a:bodyPr>
            <a:noAutofit/>
          </a:bodyPr>
          <a:lstStyle/>
          <a:p>
            <a:pPr marL="0" indent="0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&gt;&gt;&gt;</a:t>
            </a:r>
            <a:r>
              <a:rPr lang="en-US" altLang="zh-TW" dirty="0"/>
              <a:t> L=[1,2,3,4]</a:t>
            </a:r>
          </a:p>
          <a:p>
            <a:pPr marL="0" indent="0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</a:rPr>
              <a:t>&gt;&gt;&gt;</a:t>
            </a:r>
            <a:r>
              <a:rPr lang="en-US" altLang="zh-TW" dirty="0" smtClean="0"/>
              <a:t> </a:t>
            </a:r>
            <a:r>
              <a:rPr lang="en-US" altLang="zh-TW" dirty="0">
                <a:solidFill>
                  <a:srgbClr val="0070C0"/>
                </a:solidFill>
              </a:rPr>
              <a:t>print (L+L)</a:t>
            </a:r>
          </a:p>
          <a:p>
            <a:pPr marL="0" indent="0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zh-TW" dirty="0">
                <a:solidFill>
                  <a:srgbClr val="0070C0"/>
                </a:solidFill>
              </a:rPr>
              <a:t>[1, 2, 3, 4, 1, 2, 3, 4]</a:t>
            </a:r>
          </a:p>
          <a:p>
            <a:pPr marL="0" indent="0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&gt;&gt;&gt;</a:t>
            </a:r>
            <a:r>
              <a:rPr lang="en-US" altLang="zh-TW" dirty="0"/>
              <a:t> </a:t>
            </a:r>
            <a:endParaRPr lang="en-US" altLang="zh-TW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77796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" y="0"/>
            <a:ext cx="9729788" cy="1065046"/>
          </a:xfrm>
        </p:spPr>
        <p:txBody>
          <a:bodyPr>
            <a:normAutofit/>
          </a:bodyPr>
          <a:lstStyle/>
          <a:p>
            <a:r>
              <a:rPr lang="en-US" altLang="en-US" sz="4400" dirty="0" smtClean="0">
                <a:solidFill>
                  <a:srgbClr val="0070C0"/>
                </a:solidFill>
              </a:rPr>
              <a:t>Tuples Can Combine Together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12707" y="875329"/>
            <a:ext cx="9317082" cy="5415104"/>
          </a:xfrm>
        </p:spPr>
        <p:txBody>
          <a:bodyPr>
            <a:noAutofit/>
          </a:bodyPr>
          <a:lstStyle/>
          <a:p>
            <a:pPr marL="0" indent="0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&gt;&gt;&gt; L=[1,2,3,4]</a:t>
            </a:r>
          </a:p>
          <a:p>
            <a:pPr marL="0" indent="0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</a:rPr>
              <a:t>&gt;&gt;&gt; </a:t>
            </a:r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print (L+L)</a:t>
            </a:r>
          </a:p>
          <a:p>
            <a:pPr marL="0" indent="0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[1, 2, 3, 4, 1, 2, 3, 4]</a:t>
            </a:r>
          </a:p>
          <a:p>
            <a:pPr marL="0" indent="0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&gt;&gt;&gt;</a:t>
            </a:r>
            <a:r>
              <a:rPr lang="en-US" altLang="zh-TW" dirty="0"/>
              <a:t> T=(5,6,7,8)</a:t>
            </a:r>
          </a:p>
          <a:p>
            <a:pPr marL="0" indent="0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</a:rPr>
              <a:t>&gt;&gt;&gt;</a:t>
            </a:r>
            <a:r>
              <a:rPr lang="en-US" altLang="zh-TW" dirty="0" smtClean="0"/>
              <a:t> </a:t>
            </a:r>
            <a:r>
              <a:rPr lang="en-US" altLang="zh-TW" dirty="0" smtClean="0">
                <a:solidFill>
                  <a:srgbClr val="0070C0"/>
                </a:solidFill>
              </a:rPr>
              <a:t>print (T+T)</a:t>
            </a:r>
          </a:p>
          <a:p>
            <a:pPr marL="0" indent="0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zh-TW" dirty="0" smtClean="0">
                <a:solidFill>
                  <a:srgbClr val="0070C0"/>
                </a:solidFill>
              </a:rPr>
              <a:t>(5, 6, 7, 8, 5, 6, 7, 8)</a:t>
            </a:r>
          </a:p>
          <a:p>
            <a:pPr marL="0" indent="0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</a:rPr>
              <a:t>&gt;&gt;&gt;</a:t>
            </a:r>
            <a:endParaRPr lang="zh-TW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62700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" y="0"/>
            <a:ext cx="9729788" cy="1065046"/>
          </a:xfrm>
        </p:spPr>
        <p:txBody>
          <a:bodyPr>
            <a:normAutofit/>
          </a:bodyPr>
          <a:lstStyle/>
          <a:p>
            <a:r>
              <a:rPr lang="en-US" altLang="en-US" sz="4400" dirty="0" smtClean="0">
                <a:solidFill>
                  <a:srgbClr val="0070C0"/>
                </a:solidFill>
              </a:rPr>
              <a:t>Lists and Tuples</a:t>
            </a:r>
            <a:r>
              <a:rPr lang="en-US" altLang="en-US" sz="4400" dirty="0">
                <a:solidFill>
                  <a:srgbClr val="0070C0"/>
                </a:solidFill>
              </a:rPr>
              <a:t> </a:t>
            </a:r>
            <a:r>
              <a:rPr lang="en-US" altLang="en-US" sz="4400" dirty="0" smtClean="0">
                <a:solidFill>
                  <a:srgbClr val="FF0000"/>
                </a:solidFill>
              </a:rPr>
              <a:t>Can’t</a:t>
            </a:r>
            <a:r>
              <a:rPr lang="en-US" altLang="en-US" sz="4400" dirty="0" smtClean="0">
                <a:solidFill>
                  <a:srgbClr val="0070C0"/>
                </a:solidFill>
              </a:rPr>
              <a:t> Combine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12707" y="875329"/>
            <a:ext cx="9317082" cy="5415104"/>
          </a:xfrm>
        </p:spPr>
        <p:txBody>
          <a:bodyPr>
            <a:noAutofit/>
          </a:bodyPr>
          <a:lstStyle/>
          <a:p>
            <a:pPr marL="0" indent="0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&gt;&gt;&gt; L=[1,2,3,4]</a:t>
            </a:r>
          </a:p>
          <a:p>
            <a:pPr marL="0" indent="0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</a:rPr>
              <a:t>&gt;&gt;&gt; </a:t>
            </a:r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print (L+L)</a:t>
            </a:r>
          </a:p>
          <a:p>
            <a:pPr marL="0" indent="0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[1, 2, 3, 4, 1, 2, 3, 4]</a:t>
            </a:r>
          </a:p>
          <a:p>
            <a:pPr marL="0" indent="0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&gt;&gt;&gt; T=(5,6,7,8)</a:t>
            </a:r>
          </a:p>
          <a:p>
            <a:pPr marL="0" indent="0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</a:rPr>
              <a:t>&gt;&gt;&gt; print (T+T)</a:t>
            </a:r>
          </a:p>
          <a:p>
            <a:pPr marL="0" indent="0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</a:rPr>
              <a:t>(5, 6, 7, 8, 5, 6, 7, 8)</a:t>
            </a:r>
          </a:p>
          <a:p>
            <a:pPr marL="0" indent="0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</a:rPr>
              <a:t>&gt;&gt;&gt; </a:t>
            </a:r>
            <a:r>
              <a:rPr lang="en-US" altLang="zh-TW" dirty="0">
                <a:solidFill>
                  <a:srgbClr val="0070C0"/>
                </a:solidFill>
              </a:rPr>
              <a:t>print (L+T)</a:t>
            </a:r>
          </a:p>
          <a:p>
            <a:pPr marL="0" indent="0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zh-TW" dirty="0" err="1">
                <a:solidFill>
                  <a:srgbClr val="FFC8C8"/>
                </a:solidFill>
              </a:rPr>
              <a:t>Traceback</a:t>
            </a:r>
            <a:r>
              <a:rPr lang="en-US" altLang="zh-TW" dirty="0">
                <a:solidFill>
                  <a:srgbClr val="FFC8C8"/>
                </a:solidFill>
              </a:rPr>
              <a:t> (most recent call last):</a:t>
            </a:r>
          </a:p>
          <a:p>
            <a:pPr marL="0" indent="0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zh-TW" dirty="0">
                <a:solidFill>
                  <a:srgbClr val="FFC8C8"/>
                </a:solidFill>
              </a:rPr>
              <a:t>  File "&lt;</a:t>
            </a:r>
            <a:r>
              <a:rPr lang="en-US" altLang="zh-TW" dirty="0" err="1">
                <a:solidFill>
                  <a:srgbClr val="FFC8C8"/>
                </a:solidFill>
              </a:rPr>
              <a:t>stdin</a:t>
            </a:r>
            <a:r>
              <a:rPr lang="en-US" altLang="zh-TW" dirty="0">
                <a:solidFill>
                  <a:srgbClr val="FFC8C8"/>
                </a:solidFill>
              </a:rPr>
              <a:t>&gt;", line 1, in &lt;module&gt;</a:t>
            </a:r>
          </a:p>
          <a:p>
            <a:pPr marL="0" indent="0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zh-TW" dirty="0" err="1">
                <a:solidFill>
                  <a:srgbClr val="FF0000"/>
                </a:solidFill>
              </a:rPr>
              <a:t>TypeError</a:t>
            </a:r>
            <a:r>
              <a:rPr lang="en-US" altLang="zh-TW" dirty="0">
                <a:solidFill>
                  <a:srgbClr val="FF0000"/>
                </a:solidFill>
              </a:rPr>
              <a:t>: can only concatenate list (not "tuple") to list</a:t>
            </a:r>
          </a:p>
          <a:p>
            <a:pPr marL="0" indent="0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</a:rPr>
              <a:t>&gt;&gt;&gt;</a:t>
            </a:r>
            <a:endParaRPr lang="zh-TW" altLang="en-US" dirty="0">
              <a:solidFill>
                <a:srgbClr val="FDFDF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50509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412707" y="875329"/>
            <a:ext cx="9317082" cy="5415104"/>
          </a:xfrm>
        </p:spPr>
        <p:txBody>
          <a:bodyPr>
            <a:noAutofit/>
          </a:bodyPr>
          <a:lstStyle/>
          <a:p>
            <a:pPr marL="0" indent="0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&gt;&gt;&gt; L=[1,2,3,4]</a:t>
            </a:r>
          </a:p>
          <a:p>
            <a:pPr marL="0" indent="0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</a:rPr>
              <a:t>&gt;&gt;&gt; </a:t>
            </a:r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print (L+L)</a:t>
            </a:r>
          </a:p>
          <a:p>
            <a:pPr marL="0" indent="0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[1, 2, 3, 4, 1, 2, 3, 4]</a:t>
            </a:r>
          </a:p>
          <a:p>
            <a:pPr marL="0" indent="0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&gt;&gt;&gt; T=(5,6,7,8)</a:t>
            </a:r>
          </a:p>
          <a:p>
            <a:pPr marL="0" indent="0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</a:rPr>
              <a:t>&gt;&gt;&gt; print (T+T)</a:t>
            </a:r>
          </a:p>
          <a:p>
            <a:pPr marL="0" indent="0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</a:rPr>
              <a:t>(5, 6, 7, 8, 5, 6, 7, 8)</a:t>
            </a:r>
          </a:p>
          <a:p>
            <a:pPr marL="0" indent="0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</a:rPr>
              <a:t>&gt;&gt;&gt; </a:t>
            </a:r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print (L+T)</a:t>
            </a:r>
          </a:p>
          <a:p>
            <a:pPr marL="0" indent="0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zh-TW" dirty="0" err="1"/>
              <a:t>Traceback</a:t>
            </a:r>
            <a:r>
              <a:rPr lang="en-US" altLang="zh-TW" dirty="0"/>
              <a:t> (most recent call last):</a:t>
            </a:r>
          </a:p>
          <a:p>
            <a:pPr marL="0" indent="0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zh-TW" dirty="0"/>
              <a:t>  File "&lt;</a:t>
            </a:r>
            <a:r>
              <a:rPr lang="en-US" altLang="zh-TW" dirty="0" err="1"/>
              <a:t>stdin</a:t>
            </a:r>
            <a:r>
              <a:rPr lang="en-US" altLang="zh-TW" dirty="0"/>
              <a:t>&gt;", line 1, in &lt;module&gt;</a:t>
            </a:r>
          </a:p>
          <a:p>
            <a:pPr marL="0" indent="0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zh-TW" dirty="0" err="1"/>
              <a:t>TypeError</a:t>
            </a:r>
            <a:r>
              <a:rPr lang="en-US" altLang="zh-TW" dirty="0"/>
              <a:t>: can only concatenate list (not "tuple") to list</a:t>
            </a:r>
          </a:p>
          <a:p>
            <a:pPr marL="0" indent="0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&gt;&gt;&gt;</a:t>
            </a:r>
            <a:r>
              <a:rPr lang="en-US" altLang="zh-TW" dirty="0"/>
              <a:t> </a:t>
            </a:r>
            <a:r>
              <a:rPr lang="en-US" altLang="zh-TW" dirty="0">
                <a:solidFill>
                  <a:srgbClr val="0070C0"/>
                </a:solidFill>
              </a:rPr>
              <a:t>print (</a:t>
            </a:r>
            <a:r>
              <a:rPr lang="en-US" altLang="zh-TW" dirty="0" err="1" smtClean="0">
                <a:solidFill>
                  <a:srgbClr val="0070C0"/>
                </a:solidFill>
              </a:rPr>
              <a:t>L+</a:t>
            </a:r>
            <a:r>
              <a:rPr lang="en-US" altLang="zh-TW" dirty="0" err="1" smtClean="0">
                <a:solidFill>
                  <a:srgbClr val="FF0000"/>
                </a:solidFill>
              </a:rPr>
              <a:t>list</a:t>
            </a:r>
            <a:r>
              <a:rPr lang="en-US" altLang="zh-TW" dirty="0" smtClean="0">
                <a:solidFill>
                  <a:srgbClr val="FF0000"/>
                </a:solidFill>
              </a:rPr>
              <a:t>(</a:t>
            </a:r>
            <a:r>
              <a:rPr lang="en-US" altLang="zh-TW" dirty="0" smtClean="0">
                <a:solidFill>
                  <a:srgbClr val="0070C0"/>
                </a:solidFill>
              </a:rPr>
              <a:t>T</a:t>
            </a:r>
            <a:r>
              <a:rPr lang="en-US" altLang="zh-TW" dirty="0" smtClean="0">
                <a:solidFill>
                  <a:srgbClr val="FF0000"/>
                </a:solidFill>
              </a:rPr>
              <a:t>)</a:t>
            </a:r>
            <a:r>
              <a:rPr lang="en-US" altLang="zh-TW" dirty="0" smtClean="0">
                <a:solidFill>
                  <a:srgbClr val="0070C0"/>
                </a:solidFill>
              </a:rPr>
              <a:t>)</a:t>
            </a:r>
            <a:endParaRPr lang="en-US" altLang="zh-TW" dirty="0">
              <a:solidFill>
                <a:srgbClr val="0070C0"/>
              </a:solidFill>
            </a:endParaRPr>
          </a:p>
          <a:p>
            <a:pPr marL="0" indent="0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zh-TW" dirty="0">
                <a:solidFill>
                  <a:srgbClr val="0070C0"/>
                </a:solidFill>
              </a:rPr>
              <a:t>[1, 2, 3, 4, </a:t>
            </a:r>
            <a:r>
              <a:rPr lang="en-US" altLang="zh-TW" dirty="0" smtClean="0">
                <a:solidFill>
                  <a:srgbClr val="0070C0"/>
                </a:solidFill>
              </a:rPr>
              <a:t>5, 6, </a:t>
            </a:r>
            <a:r>
              <a:rPr lang="en-US" altLang="zh-TW" dirty="0">
                <a:solidFill>
                  <a:srgbClr val="0070C0"/>
                </a:solidFill>
              </a:rPr>
              <a:t>7</a:t>
            </a:r>
            <a:r>
              <a:rPr lang="en-US" altLang="zh-TW" dirty="0" smtClean="0">
                <a:solidFill>
                  <a:srgbClr val="0070C0"/>
                </a:solidFill>
              </a:rPr>
              <a:t>, 8]</a:t>
            </a:r>
            <a:endParaRPr lang="en-US" altLang="zh-TW" dirty="0">
              <a:solidFill>
                <a:srgbClr val="0070C0"/>
              </a:solidFill>
            </a:endParaRPr>
          </a:p>
          <a:p>
            <a:pPr marL="0" indent="0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</a:rPr>
              <a:t>&gt;&gt;&gt;</a:t>
            </a:r>
            <a:endParaRPr lang="zh-TW" alt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" y="0"/>
            <a:ext cx="9729788" cy="1143000"/>
          </a:xfrm>
        </p:spPr>
        <p:txBody>
          <a:bodyPr>
            <a:normAutofit/>
          </a:bodyPr>
          <a:lstStyle/>
          <a:p>
            <a:r>
              <a:rPr lang="en-US" altLang="en-US" sz="4400" dirty="0" smtClean="0">
                <a:solidFill>
                  <a:srgbClr val="0070C0"/>
                </a:solidFill>
              </a:rPr>
              <a:t>To Combine, First </a:t>
            </a:r>
            <a:r>
              <a:rPr lang="en-US" altLang="en-US" sz="4400" dirty="0" smtClean="0">
                <a:solidFill>
                  <a:srgbClr val="FF0000"/>
                </a:solidFill>
              </a:rPr>
              <a:t>Type</a:t>
            </a:r>
            <a:r>
              <a:rPr lang="en-US" altLang="en-US" sz="4400" dirty="0" smtClean="0">
                <a:solidFill>
                  <a:srgbClr val="0070C0"/>
                </a:solidFill>
              </a:rPr>
              <a:t> </a:t>
            </a:r>
            <a:r>
              <a:rPr lang="en-US" altLang="en-US" sz="4400" dirty="0" smtClean="0">
                <a:solidFill>
                  <a:srgbClr val="FF0000"/>
                </a:solidFill>
              </a:rPr>
              <a:t>Cast</a:t>
            </a:r>
            <a:r>
              <a:rPr lang="en-US" altLang="en-US" sz="4400" dirty="0" smtClean="0">
                <a:solidFill>
                  <a:srgbClr val="0070C0"/>
                </a:solidFill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12331102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1" y="0"/>
            <a:ext cx="9729788" cy="1143000"/>
          </a:xfrm>
        </p:spPr>
        <p:txBody>
          <a:bodyPr>
            <a:normAutofit/>
          </a:bodyPr>
          <a:lstStyle/>
          <a:p>
            <a:r>
              <a:rPr lang="en-US" altLang="en-US" sz="4400" dirty="0" smtClean="0">
                <a:solidFill>
                  <a:srgbClr val="0070C0"/>
                </a:solidFill>
              </a:rPr>
              <a:t>Lists Can Be Written To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12707" y="1252728"/>
            <a:ext cx="9317082" cy="5225387"/>
          </a:xfrm>
        </p:spPr>
        <p:txBody>
          <a:bodyPr>
            <a:norm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zh-TW" sz="3200" dirty="0" smtClean="0">
                <a:solidFill>
                  <a:schemeClr val="bg1">
                    <a:lumMod val="50000"/>
                  </a:schemeClr>
                </a:solidFill>
              </a:rPr>
              <a:t>&gt;&gt;&gt;</a:t>
            </a:r>
            <a:r>
              <a:rPr lang="en-US" altLang="zh-TW" sz="3200" dirty="0" smtClean="0"/>
              <a:t> </a:t>
            </a:r>
            <a:r>
              <a:rPr lang="en-US" altLang="zh-TW" sz="3200" dirty="0" smtClean="0">
                <a:solidFill>
                  <a:srgbClr val="0070C0"/>
                </a:solidFill>
              </a:rPr>
              <a:t>L=L+['5','6']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zh-TW" sz="3200" dirty="0" smtClean="0">
                <a:solidFill>
                  <a:schemeClr val="bg1">
                    <a:lumMod val="50000"/>
                  </a:schemeClr>
                </a:solidFill>
              </a:rPr>
              <a:t>&gt;&gt;&gt;</a:t>
            </a:r>
            <a:r>
              <a:rPr lang="en-US" altLang="zh-TW" sz="3200" dirty="0" smtClean="0">
                <a:solidFill>
                  <a:srgbClr val="0070C0"/>
                </a:solidFill>
              </a:rPr>
              <a:t> </a:t>
            </a:r>
            <a:r>
              <a:rPr lang="en-US" altLang="zh-TW" sz="3200" dirty="0">
                <a:solidFill>
                  <a:srgbClr val="0070C0"/>
                </a:solidFill>
              </a:rPr>
              <a:t>print(L)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zh-TW" sz="3200" dirty="0">
                <a:solidFill>
                  <a:srgbClr val="0070C0"/>
                </a:solidFill>
              </a:rPr>
              <a:t>[1, 2, 3, 4, '5', '6']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zh-TW" sz="3200" dirty="0" smtClean="0">
                <a:solidFill>
                  <a:schemeClr val="bg1">
                    <a:lumMod val="50000"/>
                  </a:schemeClr>
                </a:solidFill>
              </a:rPr>
              <a:t>&gt;&gt;&gt;</a:t>
            </a:r>
            <a:r>
              <a:rPr lang="en-US" altLang="zh-TW" sz="3200" dirty="0" smtClean="0">
                <a:solidFill>
                  <a:schemeClr val="bg1"/>
                </a:solidFill>
              </a:rPr>
              <a:t>]='X'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zh-TW" dirty="0" smtClean="0">
                <a:solidFill>
                  <a:schemeClr val="bg1"/>
                </a:solidFill>
              </a:rPr>
              <a:t>&gt;&gt;&gt; print(L)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pt-BR" altLang="zh-TW" dirty="0" smtClean="0">
                <a:solidFill>
                  <a:schemeClr val="bg1"/>
                </a:solidFill>
              </a:rPr>
              <a:t>[1, 'X', 3, 4, '5', '6']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zh-TW" dirty="0" smtClean="0">
                <a:solidFill>
                  <a:schemeClr val="bg1"/>
                </a:solidFill>
              </a:rPr>
              <a:t>&gt;&gt;&gt; T[1]='X'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zh-TW" dirty="0" smtClean="0">
                <a:solidFill>
                  <a:schemeClr val="bg1"/>
                </a:solidFill>
              </a:rPr>
              <a:t>'tuple' object does not support item assignment</a:t>
            </a:r>
          </a:p>
          <a:p>
            <a:pPr marL="0" indent="0">
              <a:lnSpc>
                <a:spcPct val="80000"/>
              </a:lnSpc>
              <a:buNone/>
            </a:pPr>
            <a:endParaRPr lang="zh-TW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27559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1" y="0"/>
            <a:ext cx="9729788" cy="1143000"/>
          </a:xfrm>
        </p:spPr>
        <p:txBody>
          <a:bodyPr>
            <a:normAutofit/>
          </a:bodyPr>
          <a:lstStyle/>
          <a:p>
            <a:r>
              <a:rPr lang="en-US" altLang="en-US" sz="4400" dirty="0" smtClean="0">
                <a:solidFill>
                  <a:srgbClr val="0070C0"/>
                </a:solidFill>
              </a:rPr>
              <a:t>Can Tuples Be Written to? 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12707" y="1252728"/>
            <a:ext cx="9317082" cy="5225387"/>
          </a:xfrm>
        </p:spPr>
        <p:txBody>
          <a:bodyPr>
            <a:norm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zh-TW" sz="3200" dirty="0" smtClean="0">
                <a:solidFill>
                  <a:schemeClr val="bg1">
                    <a:lumMod val="50000"/>
                  </a:schemeClr>
                </a:solidFill>
              </a:rPr>
              <a:t>&gt;&gt;&gt; L=L+['5','6']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zh-TW" sz="3200" dirty="0" smtClean="0">
                <a:solidFill>
                  <a:schemeClr val="bg1">
                    <a:lumMod val="50000"/>
                  </a:schemeClr>
                </a:solidFill>
              </a:rPr>
              <a:t>&gt;&gt;&gt; </a:t>
            </a:r>
            <a:r>
              <a:rPr lang="en-US" altLang="zh-TW" sz="3200" dirty="0">
                <a:solidFill>
                  <a:schemeClr val="bg1">
                    <a:lumMod val="50000"/>
                  </a:schemeClr>
                </a:solidFill>
              </a:rPr>
              <a:t>print(L)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zh-TW" sz="3200" dirty="0">
                <a:solidFill>
                  <a:schemeClr val="bg1">
                    <a:lumMod val="50000"/>
                  </a:schemeClr>
                </a:solidFill>
              </a:rPr>
              <a:t>[1, 2, 3, 4, '5', '6']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zh-TW" sz="3200" dirty="0" smtClean="0">
                <a:solidFill>
                  <a:schemeClr val="bg1">
                    <a:lumMod val="50000"/>
                  </a:schemeClr>
                </a:solidFill>
              </a:rPr>
              <a:t>&gt;&gt;&gt; </a:t>
            </a:r>
            <a:r>
              <a:rPr lang="en-US" altLang="zh-TW" sz="3200" dirty="0">
                <a:solidFill>
                  <a:srgbClr val="0070C0"/>
                </a:solidFill>
              </a:rPr>
              <a:t>T=T+('5','6')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zh-TW" sz="3200" dirty="0">
                <a:solidFill>
                  <a:schemeClr val="bg1">
                    <a:lumMod val="50000"/>
                  </a:schemeClr>
                </a:solidFill>
              </a:rPr>
              <a:t>&gt;&gt;&gt;</a:t>
            </a:r>
            <a:r>
              <a:rPr lang="en-US" altLang="zh-TW" sz="3200" dirty="0">
                <a:solidFill>
                  <a:srgbClr val="0070C0"/>
                </a:solidFill>
              </a:rPr>
              <a:t> print(T)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zh-TW" sz="3200" dirty="0">
                <a:solidFill>
                  <a:srgbClr val="0070C0"/>
                </a:solidFill>
              </a:rPr>
              <a:t>(5, 6, 7, 8, '5', '6')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zh-TW" sz="3200" dirty="0">
                <a:solidFill>
                  <a:schemeClr val="bg1">
                    <a:lumMod val="50000"/>
                  </a:schemeClr>
                </a:solidFill>
              </a:rPr>
              <a:t>&gt;&gt;&gt;</a:t>
            </a:r>
            <a:r>
              <a:rPr lang="en-US" altLang="zh-TW" sz="3200" dirty="0">
                <a:solidFill>
                  <a:schemeClr val="bg1"/>
                </a:solidFill>
              </a:rPr>
              <a:t> </a:t>
            </a:r>
            <a:r>
              <a:rPr lang="en-US" altLang="zh-TW" sz="3200" dirty="0" smtClean="0">
                <a:solidFill>
                  <a:schemeClr val="bg1"/>
                </a:solidFill>
              </a:rPr>
              <a:t>L[1]='X'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zh-TW" dirty="0" smtClean="0">
                <a:solidFill>
                  <a:schemeClr val="bg1"/>
                </a:solidFill>
              </a:rPr>
              <a:t>&gt;&gt;&gt; print(L)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pt-BR" altLang="zh-TW" dirty="0" smtClean="0">
                <a:solidFill>
                  <a:schemeClr val="bg1"/>
                </a:solidFill>
              </a:rPr>
              <a:t>[1, 'X', 3, 4, '5', '6']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zh-TW" dirty="0" smtClean="0">
                <a:solidFill>
                  <a:schemeClr val="bg1"/>
                </a:solidFill>
              </a:rPr>
              <a:t>&gt;&gt;&gt; T[1]='X'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zh-TW" dirty="0" smtClean="0">
                <a:solidFill>
                  <a:schemeClr val="bg1"/>
                </a:solidFill>
              </a:rPr>
              <a:t>'tuple' object does not support item assignment</a:t>
            </a:r>
          </a:p>
          <a:p>
            <a:pPr marL="0" indent="0">
              <a:lnSpc>
                <a:spcPct val="80000"/>
              </a:lnSpc>
              <a:buNone/>
            </a:pPr>
            <a:endParaRPr lang="zh-TW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51851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/>
          <p:cNvSpPr>
            <a:spLocks noGrp="1"/>
          </p:cNvSpPr>
          <p:nvPr>
            <p:ph idx="1"/>
          </p:nvPr>
        </p:nvSpPr>
        <p:spPr>
          <a:xfrm>
            <a:off x="412707" y="1252728"/>
            <a:ext cx="9317082" cy="5225387"/>
          </a:xfrm>
        </p:spPr>
        <p:txBody>
          <a:bodyPr>
            <a:norm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zh-TW" sz="3200" dirty="0" smtClean="0">
                <a:solidFill>
                  <a:schemeClr val="bg1">
                    <a:lumMod val="50000"/>
                  </a:schemeClr>
                </a:solidFill>
              </a:rPr>
              <a:t>&gt;&gt;&gt; L=L+['5','6']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zh-TW" sz="3200" dirty="0" smtClean="0">
                <a:solidFill>
                  <a:schemeClr val="bg1">
                    <a:lumMod val="50000"/>
                  </a:schemeClr>
                </a:solidFill>
              </a:rPr>
              <a:t>&gt;&gt;&gt; </a:t>
            </a:r>
            <a:r>
              <a:rPr lang="en-US" altLang="zh-TW" sz="3200" dirty="0">
                <a:solidFill>
                  <a:schemeClr val="bg1">
                    <a:lumMod val="50000"/>
                  </a:schemeClr>
                </a:solidFill>
              </a:rPr>
              <a:t>print(L)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zh-TW" sz="3200" dirty="0">
                <a:solidFill>
                  <a:schemeClr val="bg1">
                    <a:lumMod val="50000"/>
                  </a:schemeClr>
                </a:solidFill>
              </a:rPr>
              <a:t>[1, 2, 3, 4, '5', '6']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zh-TW" sz="3200" dirty="0" smtClean="0">
                <a:solidFill>
                  <a:schemeClr val="bg1">
                    <a:lumMod val="50000"/>
                  </a:schemeClr>
                </a:solidFill>
              </a:rPr>
              <a:t>&gt;&gt;&gt; </a:t>
            </a:r>
            <a:r>
              <a:rPr lang="en-US" altLang="zh-TW" sz="3200" dirty="0">
                <a:solidFill>
                  <a:srgbClr val="0070C0"/>
                </a:solidFill>
              </a:rPr>
              <a:t>T=T+('5','6')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zh-TW" sz="3200" dirty="0">
                <a:solidFill>
                  <a:schemeClr val="bg1">
                    <a:lumMod val="50000"/>
                  </a:schemeClr>
                </a:solidFill>
              </a:rPr>
              <a:t>&gt;&gt;&gt;</a:t>
            </a:r>
            <a:r>
              <a:rPr lang="en-US" altLang="zh-TW" sz="3200" dirty="0">
                <a:solidFill>
                  <a:srgbClr val="0070C0"/>
                </a:solidFill>
              </a:rPr>
              <a:t> print(T)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zh-TW" sz="3200" dirty="0">
                <a:solidFill>
                  <a:srgbClr val="0070C0"/>
                </a:solidFill>
              </a:rPr>
              <a:t>(5, 6, 7, 8, '5', '6')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zh-TW" sz="3200" dirty="0">
                <a:solidFill>
                  <a:schemeClr val="bg1">
                    <a:lumMod val="50000"/>
                  </a:schemeClr>
                </a:solidFill>
              </a:rPr>
              <a:t>&gt;&gt;&gt;</a:t>
            </a:r>
            <a:r>
              <a:rPr lang="en-US" altLang="zh-TW" sz="3200" dirty="0">
                <a:solidFill>
                  <a:schemeClr val="bg1"/>
                </a:solidFill>
              </a:rPr>
              <a:t> </a:t>
            </a:r>
            <a:r>
              <a:rPr lang="en-US" altLang="zh-TW" sz="3200" dirty="0" smtClean="0">
                <a:solidFill>
                  <a:schemeClr val="bg1"/>
                </a:solidFill>
              </a:rPr>
              <a:t>L[1]='X'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zh-TW" dirty="0" smtClean="0">
                <a:solidFill>
                  <a:schemeClr val="bg1"/>
                </a:solidFill>
              </a:rPr>
              <a:t>&gt;&gt;&gt; print(L)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pt-BR" altLang="zh-TW" dirty="0" smtClean="0">
                <a:solidFill>
                  <a:schemeClr val="bg1"/>
                </a:solidFill>
              </a:rPr>
              <a:t>[1, 'X', 3, 4, '5', '6']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zh-TW" dirty="0" smtClean="0">
                <a:solidFill>
                  <a:schemeClr val="bg1"/>
                </a:solidFill>
              </a:rPr>
              <a:t>&gt;&gt;&gt; T[1]='X'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zh-TW" dirty="0" smtClean="0">
                <a:solidFill>
                  <a:schemeClr val="bg1"/>
                </a:solidFill>
              </a:rPr>
              <a:t>'tuple' object does not support item assignment</a:t>
            </a:r>
          </a:p>
          <a:p>
            <a:pPr marL="0" indent="0">
              <a:lnSpc>
                <a:spcPct val="80000"/>
              </a:lnSpc>
              <a:buNone/>
            </a:pP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1" y="110367"/>
            <a:ext cx="9729788" cy="1065046"/>
          </a:xfrm>
        </p:spPr>
        <p:txBody>
          <a:bodyPr>
            <a:noAutofit/>
          </a:bodyPr>
          <a:lstStyle/>
          <a:p>
            <a:r>
              <a:rPr lang="en-US" altLang="en-US" sz="4400" dirty="0" smtClean="0">
                <a:solidFill>
                  <a:srgbClr val="0070C0"/>
                </a:solidFill>
              </a:rPr>
              <a:t>Q: </a:t>
            </a:r>
            <a:r>
              <a:rPr lang="en-US" altLang="en-US" sz="4400" dirty="0">
                <a:solidFill>
                  <a:srgbClr val="0070C0"/>
                </a:solidFill>
              </a:rPr>
              <a:t>D</a:t>
            </a:r>
            <a:r>
              <a:rPr lang="en-US" altLang="en-US" sz="4400" dirty="0" smtClean="0">
                <a:solidFill>
                  <a:srgbClr val="0070C0"/>
                </a:solidFill>
              </a:rPr>
              <a:t>idn’t we say, just a </a:t>
            </a:r>
            <a:r>
              <a:rPr lang="en-US" altLang="en-US" sz="4400" dirty="0">
                <a:solidFill>
                  <a:srgbClr val="0070C0"/>
                </a:solidFill>
              </a:rPr>
              <a:t>f</a:t>
            </a:r>
            <a:r>
              <a:rPr lang="en-US" altLang="en-US" sz="4400" dirty="0" smtClean="0">
                <a:solidFill>
                  <a:srgbClr val="0070C0"/>
                </a:solidFill>
              </a:rPr>
              <a:t>ew slides back, that tuples are read-only</a:t>
            </a:r>
            <a:r>
              <a:rPr lang="en-US" altLang="en-US" sz="4400" dirty="0">
                <a:solidFill>
                  <a:srgbClr val="0070C0"/>
                </a:solidFill>
              </a:rPr>
              <a:t>?</a:t>
            </a:r>
            <a:endParaRPr lang="en-US" altLang="en-US" sz="4400" dirty="0" smtClean="0">
              <a:solidFill>
                <a:srgbClr val="0070C0"/>
              </a:solidFill>
            </a:endParaRPr>
          </a:p>
        </p:txBody>
      </p:sp>
      <p:sp>
        <p:nvSpPr>
          <p:cNvPr id="4" name="Rounded Rectangular Callout 3"/>
          <p:cNvSpPr/>
          <p:nvPr/>
        </p:nvSpPr>
        <p:spPr>
          <a:xfrm>
            <a:off x="2426494" y="3429000"/>
            <a:ext cx="6305413" cy="2970486"/>
          </a:xfrm>
          <a:prstGeom prst="wedgeRoundRectCallout">
            <a:avLst>
              <a:gd name="adj1" fmla="val -63230"/>
              <a:gd name="adj2" fmla="val -75465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568" dirty="0">
                <a:solidFill>
                  <a:prstClr val="black"/>
                </a:solidFill>
              </a:rPr>
              <a:t>Actually, T is not being updated – it is being overwritten. I mean: Python dynamically creates variables when they are first assigned, right? So the old T was read from and was used to create a brand-new, read-only variable (which just-so-happens to also be named T (and therefore kills the old T)).</a:t>
            </a:r>
            <a:endParaRPr lang="zh-TW" altLang="en-US" sz="2568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6841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/>
          <p:cNvSpPr>
            <a:spLocks noGrp="1"/>
          </p:cNvSpPr>
          <p:nvPr>
            <p:ph idx="1"/>
          </p:nvPr>
        </p:nvSpPr>
        <p:spPr>
          <a:xfrm>
            <a:off x="412707" y="1252728"/>
            <a:ext cx="9317082" cy="5716754"/>
          </a:xfrm>
        </p:spPr>
        <p:txBody>
          <a:bodyPr>
            <a:normAutofit lnSpcReduction="10000"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TW" sz="3200" dirty="0" smtClean="0">
                <a:solidFill>
                  <a:schemeClr val="bg1">
                    <a:lumMod val="50000"/>
                  </a:schemeClr>
                </a:solidFill>
              </a:rPr>
              <a:t>&gt;&gt;&gt; L=L+['5','6']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3200" dirty="0" smtClean="0">
                <a:solidFill>
                  <a:schemeClr val="bg1">
                    <a:lumMod val="50000"/>
                  </a:schemeClr>
                </a:solidFill>
              </a:rPr>
              <a:t>&gt;&gt;&gt; </a:t>
            </a:r>
            <a:r>
              <a:rPr lang="en-US" altLang="zh-TW" sz="3200" dirty="0">
                <a:solidFill>
                  <a:schemeClr val="bg1">
                    <a:lumMod val="50000"/>
                  </a:schemeClr>
                </a:solidFill>
              </a:rPr>
              <a:t>print(L)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3200" dirty="0">
                <a:solidFill>
                  <a:schemeClr val="bg1">
                    <a:lumMod val="50000"/>
                  </a:schemeClr>
                </a:solidFill>
              </a:rPr>
              <a:t>[1, 2, 3, 4, '5', '6']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3200" dirty="0" smtClean="0">
                <a:solidFill>
                  <a:schemeClr val="bg1">
                    <a:lumMod val="50000"/>
                  </a:schemeClr>
                </a:solidFill>
              </a:rPr>
              <a:t>&gt;&gt;&gt; </a:t>
            </a:r>
            <a:r>
              <a:rPr lang="en-US" altLang="zh-TW" sz="3200" dirty="0">
                <a:solidFill>
                  <a:schemeClr val="bg1">
                    <a:lumMod val="50000"/>
                  </a:schemeClr>
                </a:solidFill>
              </a:rPr>
              <a:t>T=T+('5</a:t>
            </a:r>
            <a:r>
              <a:rPr lang="en-US" altLang="zh-TW" sz="3200" dirty="0" smtClean="0">
                <a:solidFill>
                  <a:schemeClr val="bg1">
                    <a:lumMod val="50000"/>
                  </a:schemeClr>
                </a:solidFill>
              </a:rPr>
              <a:t>','6</a:t>
            </a:r>
            <a:r>
              <a:rPr lang="en-US" altLang="zh-TW" sz="3200" dirty="0">
                <a:solidFill>
                  <a:schemeClr val="bg1">
                    <a:lumMod val="50000"/>
                  </a:schemeClr>
                </a:solidFill>
              </a:rPr>
              <a:t>')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3200" dirty="0">
                <a:solidFill>
                  <a:schemeClr val="bg1">
                    <a:lumMod val="50000"/>
                  </a:schemeClr>
                </a:solidFill>
              </a:rPr>
              <a:t>&gt;&gt;&gt; print(T)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3200" dirty="0">
                <a:solidFill>
                  <a:schemeClr val="bg1">
                    <a:lumMod val="50000"/>
                  </a:schemeClr>
                </a:solidFill>
              </a:rPr>
              <a:t>(5, 6, 7, 8, '5', '6')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3200" dirty="0" smtClean="0">
                <a:solidFill>
                  <a:schemeClr val="bg1">
                    <a:lumMod val="50000"/>
                  </a:schemeClr>
                </a:solidFill>
              </a:rPr>
              <a:t>&gt;&gt;&gt; </a:t>
            </a:r>
            <a:r>
              <a:rPr lang="en-US" altLang="zh-TW" sz="3200" dirty="0">
                <a:solidFill>
                  <a:srgbClr val="0070C0"/>
                </a:solidFill>
              </a:rPr>
              <a:t>T[1]='X'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3200" dirty="0" err="1">
                <a:solidFill>
                  <a:srgbClr val="FFC8C8"/>
                </a:solidFill>
              </a:rPr>
              <a:t>Traceback</a:t>
            </a:r>
            <a:r>
              <a:rPr lang="en-US" altLang="zh-TW" sz="3200" dirty="0">
                <a:solidFill>
                  <a:srgbClr val="FFC8C8"/>
                </a:solidFill>
              </a:rPr>
              <a:t> (most recent call last):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3200" dirty="0">
                <a:solidFill>
                  <a:srgbClr val="FFC8C8"/>
                </a:solidFill>
              </a:rPr>
              <a:t>  File "&lt;</a:t>
            </a:r>
            <a:r>
              <a:rPr lang="en-US" altLang="zh-TW" sz="3200" dirty="0" err="1">
                <a:solidFill>
                  <a:srgbClr val="FFC8C8"/>
                </a:solidFill>
              </a:rPr>
              <a:t>stdin</a:t>
            </a:r>
            <a:r>
              <a:rPr lang="en-US" altLang="zh-TW" sz="3200" dirty="0">
                <a:solidFill>
                  <a:srgbClr val="FFC8C8"/>
                </a:solidFill>
              </a:rPr>
              <a:t>&gt;", line 1, in &lt;module&gt;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3000" dirty="0" err="1">
                <a:solidFill>
                  <a:srgbClr val="FF0000"/>
                </a:solidFill>
              </a:rPr>
              <a:t>TypeError</a:t>
            </a:r>
            <a:r>
              <a:rPr lang="en-US" altLang="zh-TW" sz="3000" dirty="0">
                <a:solidFill>
                  <a:srgbClr val="FF0000"/>
                </a:solidFill>
              </a:rPr>
              <a:t>: 'tuple' object does not support item </a:t>
            </a:r>
            <a:r>
              <a:rPr lang="en-US" altLang="zh-TW" sz="3000" dirty="0" smtClean="0">
                <a:solidFill>
                  <a:srgbClr val="FF0000"/>
                </a:solidFill>
              </a:rPr>
              <a:t>assignment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3200" dirty="0">
                <a:solidFill>
                  <a:schemeClr val="bg1">
                    <a:lumMod val="50000"/>
                  </a:schemeClr>
                </a:solidFill>
              </a:rPr>
              <a:t>&gt;&gt;&gt;</a:t>
            </a:r>
            <a:r>
              <a:rPr lang="en-US" altLang="zh-TW" sz="3200" dirty="0"/>
              <a:t> </a:t>
            </a:r>
            <a:r>
              <a:rPr lang="en-US" altLang="zh-TW" sz="3000" dirty="0">
                <a:solidFill>
                  <a:schemeClr val="bg1"/>
                </a:solidFill>
              </a:rPr>
              <a:t>L[1]='X'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dirty="0">
                <a:solidFill>
                  <a:schemeClr val="bg1"/>
                </a:solidFill>
              </a:rPr>
              <a:t>&gt;&gt;&gt; print(L)</a:t>
            </a:r>
          </a:p>
          <a:p>
            <a:pPr marL="0" indent="0">
              <a:spcBef>
                <a:spcPts val="0"/>
              </a:spcBef>
              <a:buNone/>
            </a:pPr>
            <a:r>
              <a:rPr lang="pt-BR" altLang="zh-TW" dirty="0">
                <a:solidFill>
                  <a:schemeClr val="bg1"/>
                </a:solidFill>
              </a:rPr>
              <a:t>[1, 'X', 3, 4, '5', '6']</a:t>
            </a:r>
          </a:p>
          <a:p>
            <a:pPr marL="0" indent="0">
              <a:spcBef>
                <a:spcPts val="0"/>
              </a:spcBef>
              <a:buNone/>
            </a:pPr>
            <a:endParaRPr lang="en-US" altLang="zh-TW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3" name="Rounded Rectangular Callout 2"/>
          <p:cNvSpPr/>
          <p:nvPr/>
        </p:nvSpPr>
        <p:spPr>
          <a:xfrm>
            <a:off x="5398294" y="2222235"/>
            <a:ext cx="4179095" cy="1469123"/>
          </a:xfrm>
          <a:prstGeom prst="wedgeRoundRectCallout">
            <a:avLst>
              <a:gd name="adj1" fmla="val -137661"/>
              <a:gd name="adj2" fmla="val 55120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dirty="0">
                <a:solidFill>
                  <a:prstClr val="black"/>
                </a:solidFill>
              </a:rPr>
              <a:t>If we try </a:t>
            </a:r>
            <a:r>
              <a:rPr lang="en-US" altLang="zh-TW" sz="2800" dirty="0" smtClean="0">
                <a:solidFill>
                  <a:prstClr val="black"/>
                </a:solidFill>
              </a:rPr>
              <a:t>changing </a:t>
            </a:r>
            <a:r>
              <a:rPr lang="en-US" altLang="zh-TW" sz="2800" dirty="0">
                <a:solidFill>
                  <a:prstClr val="black"/>
                </a:solidFill>
              </a:rPr>
              <a:t>what </a:t>
            </a:r>
            <a:r>
              <a:rPr lang="en-US" altLang="zh-TW" sz="2800" dirty="0" smtClean="0">
                <a:solidFill>
                  <a:prstClr val="black"/>
                </a:solidFill>
              </a:rPr>
              <a:t/>
            </a:r>
            <a:br>
              <a:rPr lang="en-US" altLang="zh-TW" sz="2800" dirty="0" smtClean="0">
                <a:solidFill>
                  <a:prstClr val="black"/>
                </a:solidFill>
              </a:rPr>
            </a:br>
            <a:r>
              <a:rPr lang="en-US" altLang="zh-TW" sz="2800" dirty="0" smtClean="0">
                <a:solidFill>
                  <a:prstClr val="black"/>
                </a:solidFill>
              </a:rPr>
              <a:t>is </a:t>
            </a:r>
            <a:r>
              <a:rPr lang="en-US" altLang="zh-TW" sz="2800" dirty="0">
                <a:solidFill>
                  <a:prstClr val="black"/>
                </a:solidFill>
              </a:rPr>
              <a:t>truly the existing T, we </a:t>
            </a:r>
            <a:r>
              <a:rPr lang="en-US" altLang="zh-TW" sz="2800" dirty="0" smtClean="0">
                <a:solidFill>
                  <a:prstClr val="black"/>
                </a:solidFill>
              </a:rPr>
              <a:t>will find </a:t>
            </a:r>
            <a:r>
              <a:rPr lang="en-US" altLang="zh-TW" sz="2800" dirty="0">
                <a:solidFill>
                  <a:prstClr val="black"/>
                </a:solidFill>
              </a:rPr>
              <a:t>that we cannot</a:t>
            </a:r>
            <a:r>
              <a:rPr lang="en-US" altLang="zh-TW" sz="2800" dirty="0" smtClean="0">
                <a:solidFill>
                  <a:prstClr val="black"/>
                </a:solidFill>
              </a:rPr>
              <a:t>.</a:t>
            </a:r>
            <a:endParaRPr lang="zh-TW" altLang="en-US" sz="2800" dirty="0">
              <a:solidFill>
                <a:prstClr val="black"/>
              </a:solidFill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" y="0"/>
            <a:ext cx="9729788" cy="1143000"/>
          </a:xfrm>
        </p:spPr>
        <p:txBody>
          <a:bodyPr>
            <a:normAutofit/>
          </a:bodyPr>
          <a:lstStyle/>
          <a:p>
            <a:r>
              <a:rPr lang="en-US" altLang="en-US" sz="4400" dirty="0" smtClean="0">
                <a:solidFill>
                  <a:srgbClr val="0070C0"/>
                </a:solidFill>
              </a:rPr>
              <a:t>Tuples Cannot Be Written to </a:t>
            </a:r>
          </a:p>
        </p:txBody>
      </p:sp>
    </p:spTree>
    <p:extLst>
      <p:ext uri="{BB962C8B-B14F-4D97-AF65-F5344CB8AC3E}">
        <p14:creationId xmlns:p14="http://schemas.microsoft.com/office/powerpoint/2010/main" val="2060751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/>
          <p:cNvSpPr>
            <a:spLocks noGrp="1"/>
          </p:cNvSpPr>
          <p:nvPr>
            <p:ph idx="1"/>
          </p:nvPr>
        </p:nvSpPr>
        <p:spPr>
          <a:xfrm>
            <a:off x="412707" y="1252728"/>
            <a:ext cx="9317082" cy="5716754"/>
          </a:xfrm>
        </p:spPr>
        <p:txBody>
          <a:bodyPr>
            <a:normAutofit fontScale="92500" lnSpcReduction="10000"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TW" sz="3500" dirty="0" smtClean="0">
                <a:solidFill>
                  <a:schemeClr val="bg1">
                    <a:lumMod val="50000"/>
                  </a:schemeClr>
                </a:solidFill>
              </a:rPr>
              <a:t>&gt;&gt;&gt; L=L+['5','6']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3500" dirty="0" smtClean="0">
                <a:solidFill>
                  <a:schemeClr val="bg1">
                    <a:lumMod val="50000"/>
                  </a:schemeClr>
                </a:solidFill>
              </a:rPr>
              <a:t>&gt;&gt;&gt; </a:t>
            </a:r>
            <a:r>
              <a:rPr lang="en-US" altLang="zh-TW" sz="3500" dirty="0">
                <a:solidFill>
                  <a:schemeClr val="bg1">
                    <a:lumMod val="50000"/>
                  </a:schemeClr>
                </a:solidFill>
              </a:rPr>
              <a:t>print(L)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3500" dirty="0">
                <a:solidFill>
                  <a:schemeClr val="bg1">
                    <a:lumMod val="50000"/>
                  </a:schemeClr>
                </a:solidFill>
              </a:rPr>
              <a:t>[1, 2, 3, 4, '5', '6']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3500" dirty="0" smtClean="0">
                <a:solidFill>
                  <a:schemeClr val="bg1">
                    <a:lumMod val="50000"/>
                  </a:schemeClr>
                </a:solidFill>
              </a:rPr>
              <a:t>&gt;&gt;&gt; </a:t>
            </a:r>
            <a:r>
              <a:rPr lang="en-US" altLang="zh-TW" sz="3500" dirty="0">
                <a:solidFill>
                  <a:schemeClr val="bg1">
                    <a:lumMod val="50000"/>
                  </a:schemeClr>
                </a:solidFill>
              </a:rPr>
              <a:t>T=T+('5','6')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3500" dirty="0">
                <a:solidFill>
                  <a:schemeClr val="bg1">
                    <a:lumMod val="50000"/>
                  </a:schemeClr>
                </a:solidFill>
              </a:rPr>
              <a:t>&gt;&gt;&gt; print(T)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3500" dirty="0">
                <a:solidFill>
                  <a:schemeClr val="bg1">
                    <a:lumMod val="50000"/>
                  </a:schemeClr>
                </a:solidFill>
              </a:rPr>
              <a:t>(5, 6, 7, 8, '5', '6')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3500" dirty="0" smtClean="0">
                <a:solidFill>
                  <a:schemeClr val="bg1">
                    <a:lumMod val="50000"/>
                  </a:schemeClr>
                </a:solidFill>
              </a:rPr>
              <a:t>&gt;&gt;&gt; </a:t>
            </a:r>
            <a:r>
              <a:rPr lang="en-US" altLang="zh-TW" sz="3500" dirty="0">
                <a:solidFill>
                  <a:schemeClr val="bg1">
                    <a:lumMod val="50000"/>
                  </a:schemeClr>
                </a:solidFill>
              </a:rPr>
              <a:t>T[1]='X'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3500" dirty="0" err="1">
                <a:solidFill>
                  <a:schemeClr val="bg1">
                    <a:lumMod val="50000"/>
                  </a:schemeClr>
                </a:solidFill>
              </a:rPr>
              <a:t>Traceback</a:t>
            </a:r>
            <a:r>
              <a:rPr lang="en-US" altLang="zh-TW" sz="3500" dirty="0">
                <a:solidFill>
                  <a:schemeClr val="bg1">
                    <a:lumMod val="50000"/>
                  </a:schemeClr>
                </a:solidFill>
              </a:rPr>
              <a:t> (most recent call last):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3500" dirty="0">
                <a:solidFill>
                  <a:schemeClr val="bg1">
                    <a:lumMod val="50000"/>
                  </a:schemeClr>
                </a:solidFill>
              </a:rPr>
              <a:t>  File "&lt;</a:t>
            </a:r>
            <a:r>
              <a:rPr lang="en-US" altLang="zh-TW" sz="3500" dirty="0" err="1">
                <a:solidFill>
                  <a:schemeClr val="bg1">
                    <a:lumMod val="50000"/>
                  </a:schemeClr>
                </a:solidFill>
              </a:rPr>
              <a:t>stdin</a:t>
            </a:r>
            <a:r>
              <a:rPr lang="en-US" altLang="zh-TW" sz="3500" dirty="0">
                <a:solidFill>
                  <a:schemeClr val="bg1">
                    <a:lumMod val="50000"/>
                  </a:schemeClr>
                </a:solidFill>
              </a:rPr>
              <a:t>&gt;", line 1, in &lt;module&gt;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dirty="0" err="1">
                <a:solidFill>
                  <a:schemeClr val="bg1">
                    <a:lumMod val="50000"/>
                  </a:schemeClr>
                </a:solidFill>
              </a:rPr>
              <a:t>TypeError</a:t>
            </a:r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: 'tuple' object does not support item </a:t>
            </a:r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</a:rPr>
              <a:t>assignment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3500" dirty="0">
                <a:solidFill>
                  <a:schemeClr val="bg1">
                    <a:lumMod val="50000"/>
                  </a:schemeClr>
                </a:solidFill>
              </a:rPr>
              <a:t>&gt;&gt;&gt; </a:t>
            </a:r>
            <a:r>
              <a:rPr lang="en-US" altLang="zh-TW" sz="3500" dirty="0">
                <a:solidFill>
                  <a:srgbClr val="0070C0"/>
                </a:solidFill>
              </a:rPr>
              <a:t>L[1]='X'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3500" dirty="0">
                <a:solidFill>
                  <a:schemeClr val="bg1">
                    <a:lumMod val="50000"/>
                  </a:schemeClr>
                </a:solidFill>
              </a:rPr>
              <a:t>&gt;&gt;&gt;</a:t>
            </a:r>
            <a:r>
              <a:rPr lang="en-US" altLang="zh-TW" sz="3500" dirty="0">
                <a:solidFill>
                  <a:srgbClr val="0070C0"/>
                </a:solidFill>
              </a:rPr>
              <a:t> print(L)</a:t>
            </a:r>
          </a:p>
          <a:p>
            <a:pPr marL="0" indent="0">
              <a:spcBef>
                <a:spcPts val="0"/>
              </a:spcBef>
              <a:buNone/>
            </a:pPr>
            <a:r>
              <a:rPr lang="pt-BR" altLang="zh-TW" sz="3500" dirty="0">
                <a:solidFill>
                  <a:srgbClr val="0070C0"/>
                </a:solidFill>
              </a:rPr>
              <a:t>[1, 'X', 3, 4, '5', '6']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3500" dirty="0" smtClean="0">
                <a:solidFill>
                  <a:schemeClr val="bg1">
                    <a:lumMod val="50000"/>
                  </a:schemeClr>
                </a:solidFill>
              </a:rPr>
              <a:t>&gt;&gt;&gt;</a:t>
            </a:r>
            <a:endParaRPr lang="en-US" altLang="zh-TW" sz="3500" dirty="0">
              <a:solidFill>
                <a:schemeClr val="bg1">
                  <a:lumMod val="50000"/>
                </a:schemeClr>
              </a:solidFill>
            </a:endParaRPr>
          </a:p>
          <a:p>
            <a:pPr marL="0" indent="0">
              <a:buNone/>
            </a:pPr>
            <a:endParaRPr lang="zh-TW" altLang="en-US" dirty="0"/>
          </a:p>
        </p:txBody>
      </p:sp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1" y="0"/>
            <a:ext cx="9729788" cy="1143000"/>
          </a:xfrm>
        </p:spPr>
        <p:txBody>
          <a:bodyPr>
            <a:normAutofit/>
          </a:bodyPr>
          <a:lstStyle/>
          <a:p>
            <a:r>
              <a:rPr lang="en-US" altLang="en-US" sz="4400" dirty="0" smtClean="0">
                <a:solidFill>
                  <a:srgbClr val="0070C0"/>
                </a:solidFill>
              </a:rPr>
              <a:t>But </a:t>
            </a:r>
            <a:r>
              <a:rPr lang="en-US" altLang="en-US" sz="4400" b="1" dirty="0" smtClean="0">
                <a:solidFill>
                  <a:srgbClr val="0070C0"/>
                </a:solidFill>
              </a:rPr>
              <a:t>Lists</a:t>
            </a:r>
            <a:r>
              <a:rPr lang="en-US" altLang="en-US" sz="4400" dirty="0" smtClean="0">
                <a:solidFill>
                  <a:srgbClr val="0070C0"/>
                </a:solidFill>
              </a:rPr>
              <a:t> </a:t>
            </a:r>
            <a:r>
              <a:rPr lang="en-US" altLang="en-US" sz="4400" i="1" dirty="0" smtClean="0">
                <a:solidFill>
                  <a:srgbClr val="0070C0"/>
                </a:solidFill>
              </a:rPr>
              <a:t>Can</a:t>
            </a:r>
            <a:r>
              <a:rPr lang="en-US" altLang="en-US" sz="4400" dirty="0" smtClean="0">
                <a:solidFill>
                  <a:srgbClr val="0070C0"/>
                </a:solidFill>
              </a:rPr>
              <a:t> Be Written To</a:t>
            </a:r>
          </a:p>
        </p:txBody>
      </p:sp>
    </p:spTree>
    <p:extLst>
      <p:ext uri="{BB962C8B-B14F-4D97-AF65-F5344CB8AC3E}">
        <p14:creationId xmlns:p14="http://schemas.microsoft.com/office/powerpoint/2010/main" val="3534799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" y="76200"/>
            <a:ext cx="9729788" cy="990600"/>
          </a:xfrm>
        </p:spPr>
        <p:txBody>
          <a:bodyPr>
            <a:normAutofit/>
          </a:bodyPr>
          <a:lstStyle/>
          <a:p>
            <a:r>
              <a:rPr lang="en-US" dirty="0" smtClean="0">
                <a:solidFill>
                  <a:srgbClr val="0070C0"/>
                </a:solidFill>
              </a:rPr>
              <a:t>Sidebar: Consider </a:t>
            </a:r>
            <a:r>
              <a:rPr lang="en-US" dirty="0">
                <a:solidFill>
                  <a:srgbClr val="0070C0"/>
                </a:solidFill>
              </a:rPr>
              <a:t>the following program…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3692" y="954763"/>
            <a:ext cx="9526096" cy="5847108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solidFill>
                  <a:srgbClr val="FF0000"/>
                </a:solidFill>
                <a:latin typeface="Lucida Console" pitchFamily="49" charset="0"/>
              </a:rPr>
              <a:t>% cat check.cpp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solidFill>
                  <a:srgbClr val="FF0000"/>
                </a:solidFill>
                <a:latin typeface="Lucida Console" pitchFamily="49" charset="0"/>
              </a:rPr>
              <a:t>#include &lt;</a:t>
            </a:r>
            <a:r>
              <a:rPr lang="en-US" sz="2000" dirty="0" err="1">
                <a:solidFill>
                  <a:srgbClr val="FF0000"/>
                </a:solidFill>
                <a:latin typeface="Lucida Console" pitchFamily="49" charset="0"/>
              </a:rPr>
              <a:t>iostream</a:t>
            </a:r>
            <a:r>
              <a:rPr lang="en-US" sz="2000" dirty="0">
                <a:solidFill>
                  <a:srgbClr val="FF0000"/>
                </a:solidFill>
                <a:latin typeface="Lucida Console" pitchFamily="49" charset="0"/>
              </a:rPr>
              <a:t>&gt;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solidFill>
                  <a:srgbClr val="FF0000"/>
                </a:solidFill>
                <a:latin typeface="Lucida Console" pitchFamily="49" charset="0"/>
              </a:rPr>
              <a:t>#include &lt;string&gt;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solidFill>
                  <a:srgbClr val="FF0000"/>
                </a:solidFill>
                <a:latin typeface="Lucida Console" pitchFamily="49" charset="0"/>
              </a:rPr>
              <a:t>using namespace std;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solidFill>
                  <a:srgbClr val="FF0000"/>
                </a:solidFill>
                <a:latin typeface="Lucida Console" pitchFamily="49" charset="0"/>
              </a:rPr>
              <a:t>void changer(</a:t>
            </a:r>
            <a:r>
              <a:rPr lang="en-US" sz="2000" dirty="0" err="1">
                <a:solidFill>
                  <a:srgbClr val="FF0000"/>
                </a:solidFill>
                <a:latin typeface="Lucida Console" pitchFamily="49" charset="0"/>
              </a:rPr>
              <a:t>int</a:t>
            </a:r>
            <a:r>
              <a:rPr lang="en-US" sz="2000" dirty="0">
                <a:solidFill>
                  <a:srgbClr val="FF0000"/>
                </a:solidFill>
                <a:latin typeface="Lucida Console" pitchFamily="49" charset="0"/>
              </a:rPr>
              <a:t> a, </a:t>
            </a:r>
            <a:r>
              <a:rPr lang="en-US" sz="2000" dirty="0" err="1">
                <a:solidFill>
                  <a:srgbClr val="FF0000"/>
                </a:solidFill>
                <a:latin typeface="Lucida Console" pitchFamily="49" charset="0"/>
              </a:rPr>
              <a:t>int</a:t>
            </a:r>
            <a:r>
              <a:rPr lang="en-US" sz="2000" dirty="0">
                <a:solidFill>
                  <a:srgbClr val="FF0000"/>
                </a:solidFill>
                <a:latin typeface="Lucida Console" pitchFamily="49" charset="0"/>
              </a:rPr>
              <a:t> &amp;b, </a:t>
            </a:r>
            <a:r>
              <a:rPr lang="en-US" sz="2000" dirty="0" err="1">
                <a:solidFill>
                  <a:srgbClr val="FF0000"/>
                </a:solidFill>
                <a:latin typeface="Lucida Console" pitchFamily="49" charset="0"/>
              </a:rPr>
              <a:t>int</a:t>
            </a:r>
            <a:r>
              <a:rPr lang="en-US" sz="2000" dirty="0">
                <a:solidFill>
                  <a:srgbClr val="FF0000"/>
                </a:solidFill>
                <a:latin typeface="Lucida Console" pitchFamily="49" charset="0"/>
              </a:rPr>
              <a:t> *c, string d, char *e) {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solidFill>
                  <a:srgbClr val="FF0000"/>
                </a:solidFill>
                <a:latin typeface="Lucida Console" pitchFamily="49" charset="0"/>
              </a:rPr>
              <a:t>  </a:t>
            </a:r>
            <a:r>
              <a:rPr lang="en-US" sz="2000" spc="-20" dirty="0" smtClean="0">
                <a:solidFill>
                  <a:srgbClr val="FF0000"/>
                </a:solidFill>
                <a:latin typeface="Lucida Console" pitchFamily="49" charset="0"/>
              </a:rPr>
              <a:t>a=1;b=1;c[0</a:t>
            </a:r>
            <a:r>
              <a:rPr lang="en-US" sz="2000" spc="-20" dirty="0">
                <a:solidFill>
                  <a:srgbClr val="FF0000"/>
                </a:solidFill>
                <a:latin typeface="Lucida Console" pitchFamily="49" charset="0"/>
              </a:rPr>
              <a:t>]=</a:t>
            </a:r>
            <a:r>
              <a:rPr lang="en-US" sz="2000" spc="-20" dirty="0" smtClean="0">
                <a:solidFill>
                  <a:srgbClr val="FF0000"/>
                </a:solidFill>
                <a:latin typeface="Lucida Console" pitchFamily="49" charset="0"/>
              </a:rPr>
              <a:t>1;d</a:t>
            </a:r>
            <a:r>
              <a:rPr lang="en-US" sz="2000" spc="-20" dirty="0">
                <a:solidFill>
                  <a:srgbClr val="FF0000"/>
                </a:solidFill>
                <a:latin typeface="Lucida Console" pitchFamily="49" charset="0"/>
              </a:rPr>
              <a:t>="</a:t>
            </a:r>
            <a:r>
              <a:rPr lang="en-US" sz="2000" spc="-20" dirty="0" err="1">
                <a:solidFill>
                  <a:srgbClr val="FF0000"/>
                </a:solidFill>
                <a:latin typeface="Lucida Console" pitchFamily="49" charset="0"/>
              </a:rPr>
              <a:t>one</a:t>
            </a:r>
            <a:r>
              <a:rPr lang="en-US" sz="2000" spc="-20" dirty="0" err="1" smtClean="0">
                <a:solidFill>
                  <a:srgbClr val="FF0000"/>
                </a:solidFill>
                <a:latin typeface="Lucida Console" pitchFamily="49" charset="0"/>
              </a:rPr>
              <a:t>";e</a:t>
            </a:r>
            <a:r>
              <a:rPr lang="en-US" sz="2000" spc="-20" dirty="0" smtClean="0">
                <a:solidFill>
                  <a:srgbClr val="FF0000"/>
                </a:solidFill>
                <a:latin typeface="Lucida Console" pitchFamily="49" charset="0"/>
              </a:rPr>
              <a:t>[0</a:t>
            </a:r>
            <a:r>
              <a:rPr lang="en-US" sz="2000" spc="-20" dirty="0">
                <a:solidFill>
                  <a:srgbClr val="FF0000"/>
                </a:solidFill>
                <a:latin typeface="Lucida Console" pitchFamily="49" charset="0"/>
              </a:rPr>
              <a:t>]='</a:t>
            </a:r>
            <a:r>
              <a:rPr lang="en-US" sz="2000" spc="-20" dirty="0" err="1">
                <a:solidFill>
                  <a:srgbClr val="FF0000"/>
                </a:solidFill>
                <a:latin typeface="Lucida Console" pitchFamily="49" charset="0"/>
              </a:rPr>
              <a:t>o';</a:t>
            </a:r>
            <a:r>
              <a:rPr lang="en-US" altLang="zh-TW" sz="2000" spc="-20" dirty="0" err="1">
                <a:solidFill>
                  <a:srgbClr val="FF0000"/>
                </a:solidFill>
                <a:latin typeface="Lucida Console" pitchFamily="49" charset="0"/>
              </a:rPr>
              <a:t>e</a:t>
            </a:r>
            <a:r>
              <a:rPr lang="en-US" altLang="zh-TW" sz="2000" spc="-20" dirty="0">
                <a:solidFill>
                  <a:srgbClr val="FF0000"/>
                </a:solidFill>
                <a:latin typeface="Lucida Console" pitchFamily="49" charset="0"/>
              </a:rPr>
              <a:t>[1]='</a:t>
            </a:r>
            <a:r>
              <a:rPr lang="en-US" altLang="zh-TW" sz="2000" spc="-20" dirty="0" err="1">
                <a:solidFill>
                  <a:srgbClr val="FF0000"/>
                </a:solidFill>
                <a:latin typeface="Lucida Console" pitchFamily="49" charset="0"/>
              </a:rPr>
              <a:t>n';</a:t>
            </a:r>
            <a:r>
              <a:rPr lang="en-US" altLang="zh-TW" sz="2000" spc="-20" dirty="0" err="1" smtClean="0">
                <a:solidFill>
                  <a:srgbClr val="FF0000"/>
                </a:solidFill>
                <a:latin typeface="Lucida Console" pitchFamily="49" charset="0"/>
              </a:rPr>
              <a:t>e</a:t>
            </a:r>
            <a:r>
              <a:rPr lang="en-US" altLang="zh-TW" sz="2000" spc="-20" dirty="0" smtClean="0">
                <a:solidFill>
                  <a:srgbClr val="FF0000"/>
                </a:solidFill>
                <a:latin typeface="Lucida Console" pitchFamily="49" charset="0"/>
              </a:rPr>
              <a:t>[2</a:t>
            </a:r>
            <a:r>
              <a:rPr lang="en-US" altLang="zh-TW" sz="2000" spc="-20" dirty="0" smtClean="0">
                <a:solidFill>
                  <a:srgbClr val="FF0000"/>
                </a:solidFill>
                <a:latin typeface="Lucida Console" pitchFamily="49" charset="0"/>
              </a:rPr>
              <a:t>]=</a:t>
            </a:r>
            <a:r>
              <a:rPr lang="en-US" sz="2000" spc="-20" dirty="0" smtClean="0">
                <a:solidFill>
                  <a:srgbClr val="FF0000"/>
                </a:solidFill>
                <a:latin typeface="Lucida Console" pitchFamily="49" charset="0"/>
              </a:rPr>
              <a:t>'</a:t>
            </a:r>
            <a:r>
              <a:rPr lang="en-US" altLang="zh-TW" sz="2000" spc="-20" dirty="0" err="1" smtClean="0">
                <a:solidFill>
                  <a:srgbClr val="FF0000"/>
                </a:solidFill>
                <a:latin typeface="Lucida Console" pitchFamily="49" charset="0"/>
              </a:rPr>
              <a:t>e</a:t>
            </a:r>
            <a:r>
              <a:rPr lang="en-US" sz="2000" spc="-20" dirty="0" err="1">
                <a:solidFill>
                  <a:srgbClr val="FF0000"/>
                </a:solidFill>
                <a:latin typeface="Lucida Console" pitchFamily="49" charset="0"/>
              </a:rPr>
              <a:t>'</a:t>
            </a:r>
            <a:r>
              <a:rPr lang="en-US" altLang="zh-TW" sz="2000" spc="-20" dirty="0" err="1" smtClean="0">
                <a:solidFill>
                  <a:srgbClr val="FF0000"/>
                </a:solidFill>
                <a:latin typeface="Lucida Console" pitchFamily="49" charset="0"/>
              </a:rPr>
              <a:t>;</a:t>
            </a:r>
            <a:r>
              <a:rPr lang="en-US" altLang="zh-TW" sz="2000" spc="-20" dirty="0" err="1" smtClean="0">
                <a:solidFill>
                  <a:srgbClr val="FF0000"/>
                </a:solidFill>
                <a:latin typeface="Lucida Console" pitchFamily="49" charset="0"/>
              </a:rPr>
              <a:t>e</a:t>
            </a:r>
            <a:r>
              <a:rPr lang="en-US" altLang="zh-TW" sz="2000" spc="-20" dirty="0" smtClean="0">
                <a:solidFill>
                  <a:srgbClr val="FF0000"/>
                </a:solidFill>
                <a:latin typeface="Lucida Console" pitchFamily="49" charset="0"/>
              </a:rPr>
              <a:t>[3]='\</a:t>
            </a:r>
            <a:r>
              <a:rPr lang="en-US" altLang="zh-TW" sz="2000" spc="-20" dirty="0">
                <a:solidFill>
                  <a:srgbClr val="FF0000"/>
                </a:solidFill>
                <a:latin typeface="Lucida Console" pitchFamily="49" charset="0"/>
              </a:rPr>
              <a:t>0';</a:t>
            </a:r>
            <a:endParaRPr lang="en-US" sz="2000" spc="-20" dirty="0">
              <a:solidFill>
                <a:srgbClr val="FF0000"/>
              </a:solidFill>
              <a:latin typeface="Lucida Console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latin typeface="Lucida Console" pitchFamily="49" charset="0"/>
              </a:rPr>
              <a:t>}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solidFill>
                  <a:srgbClr val="FF0000"/>
                </a:solidFill>
                <a:latin typeface="Lucida Console" pitchFamily="49" charset="0"/>
              </a:rPr>
              <a:t>main() {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solidFill>
                  <a:srgbClr val="FF0000"/>
                </a:solidFill>
                <a:latin typeface="Lucida Console" pitchFamily="49" charset="0"/>
              </a:rPr>
              <a:t> </a:t>
            </a:r>
            <a:r>
              <a:rPr lang="en-US" sz="2000" dirty="0" err="1">
                <a:solidFill>
                  <a:srgbClr val="FF0000"/>
                </a:solidFill>
                <a:latin typeface="Lucida Console" pitchFamily="49" charset="0"/>
              </a:rPr>
              <a:t>int</a:t>
            </a:r>
            <a:r>
              <a:rPr lang="en-US" sz="2000" dirty="0">
                <a:solidFill>
                  <a:srgbClr val="FF0000"/>
                </a:solidFill>
                <a:latin typeface="Lucida Console" pitchFamily="49" charset="0"/>
              </a:rPr>
              <a:t> a=0, b=0, c[100]={0};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solidFill>
                  <a:srgbClr val="FF0000"/>
                </a:solidFill>
                <a:latin typeface="Lucida Console" pitchFamily="49" charset="0"/>
              </a:rPr>
              <a:t> string d="zero";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solidFill>
                  <a:srgbClr val="FF0000"/>
                </a:solidFill>
                <a:latin typeface="Lucida Console" pitchFamily="49" charset="0"/>
              </a:rPr>
              <a:t> char e[]="zero";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000" dirty="0">
                <a:solidFill>
                  <a:srgbClr val="FF0000"/>
                </a:solidFill>
                <a:latin typeface="Lucida Console" pitchFamily="49" charset="0"/>
              </a:rPr>
              <a:t> </a:t>
            </a:r>
            <a:r>
              <a:rPr lang="pt-BR" sz="2000" spc="-20" dirty="0">
                <a:solidFill>
                  <a:srgbClr val="FF0000"/>
                </a:solidFill>
                <a:latin typeface="Lucida Console" pitchFamily="49" charset="0"/>
              </a:rPr>
              <a:t>cout&lt;&lt;"a="&lt;&lt;a</a:t>
            </a:r>
            <a:r>
              <a:rPr lang="pt-BR" sz="2000" spc="-20" dirty="0" smtClean="0">
                <a:solidFill>
                  <a:srgbClr val="FF0000"/>
                </a:solidFill>
                <a:latin typeface="Lucida Console" pitchFamily="49" charset="0"/>
              </a:rPr>
              <a:t>&lt;&lt;</a:t>
            </a:r>
            <a:r>
              <a:rPr lang="pt-BR" sz="2000" spc="-200" dirty="0">
                <a:solidFill>
                  <a:srgbClr val="FF0000"/>
                </a:solidFill>
                <a:latin typeface="Lucida Console" pitchFamily="49" charset="0"/>
              </a:rPr>
              <a:t>"</a:t>
            </a:r>
            <a:r>
              <a:rPr lang="pt-BR" sz="2000" spc="-50" dirty="0" smtClean="0">
                <a:solidFill>
                  <a:srgbClr val="FF0000"/>
                </a:solidFill>
                <a:latin typeface="Lucida Console" pitchFamily="49" charset="0"/>
              </a:rPr>
              <a:t>,</a:t>
            </a:r>
            <a:r>
              <a:rPr lang="pt-BR" sz="2000" spc="-50" dirty="0" smtClean="0">
                <a:solidFill>
                  <a:srgbClr val="FF0000"/>
                </a:solidFill>
                <a:latin typeface="Lucida Console" pitchFamily="49" charset="0"/>
              </a:rPr>
              <a:t>b</a:t>
            </a:r>
            <a:r>
              <a:rPr lang="pt-BR" sz="2000" spc="-50" dirty="0">
                <a:solidFill>
                  <a:srgbClr val="FF0000"/>
                </a:solidFill>
                <a:latin typeface="Lucida Console" pitchFamily="49" charset="0"/>
              </a:rPr>
              <a:t>="&lt;&lt;b</a:t>
            </a:r>
            <a:r>
              <a:rPr lang="pt-BR" sz="2000" spc="-50" dirty="0" smtClean="0">
                <a:solidFill>
                  <a:srgbClr val="FF0000"/>
                </a:solidFill>
                <a:latin typeface="Lucida Console" pitchFamily="49" charset="0"/>
              </a:rPr>
              <a:t>&lt;&lt;</a:t>
            </a:r>
            <a:r>
              <a:rPr lang="pt-BR" sz="2000" spc="-200" dirty="0">
                <a:solidFill>
                  <a:srgbClr val="FF0000"/>
                </a:solidFill>
                <a:latin typeface="Lucida Console" pitchFamily="49" charset="0"/>
              </a:rPr>
              <a:t>"</a:t>
            </a:r>
            <a:r>
              <a:rPr lang="pt-BR" sz="2000" spc="-50" dirty="0" smtClean="0">
                <a:solidFill>
                  <a:srgbClr val="FF0000"/>
                </a:solidFill>
                <a:latin typeface="Lucida Console" pitchFamily="49" charset="0"/>
              </a:rPr>
              <a:t>,</a:t>
            </a:r>
            <a:r>
              <a:rPr lang="pt-BR" sz="2000" spc="-50" dirty="0" smtClean="0">
                <a:solidFill>
                  <a:srgbClr val="FF0000"/>
                </a:solidFill>
                <a:latin typeface="Lucida Console" pitchFamily="49" charset="0"/>
              </a:rPr>
              <a:t>c</a:t>
            </a:r>
            <a:r>
              <a:rPr lang="pt-BR" sz="2000" spc="-50" dirty="0">
                <a:solidFill>
                  <a:srgbClr val="FF0000"/>
                </a:solidFill>
                <a:latin typeface="Lucida Console" pitchFamily="49" charset="0"/>
              </a:rPr>
              <a:t>="&lt;&lt;c[0</a:t>
            </a:r>
            <a:r>
              <a:rPr lang="pt-BR" sz="2000" spc="-50" dirty="0" smtClean="0">
                <a:solidFill>
                  <a:srgbClr val="FF0000"/>
                </a:solidFill>
                <a:latin typeface="Lucida Console" pitchFamily="49" charset="0"/>
              </a:rPr>
              <a:t>]&lt;&lt;</a:t>
            </a:r>
            <a:r>
              <a:rPr lang="pt-BR" sz="2000" spc="-200" dirty="0">
                <a:solidFill>
                  <a:srgbClr val="FF0000"/>
                </a:solidFill>
                <a:latin typeface="Lucida Console" pitchFamily="49" charset="0"/>
              </a:rPr>
              <a:t>"</a:t>
            </a:r>
            <a:r>
              <a:rPr lang="pt-BR" sz="2000" spc="-50" dirty="0" smtClean="0">
                <a:solidFill>
                  <a:srgbClr val="FF0000"/>
                </a:solidFill>
                <a:latin typeface="Lucida Console" pitchFamily="49" charset="0"/>
              </a:rPr>
              <a:t>,</a:t>
            </a:r>
            <a:r>
              <a:rPr lang="pt-BR" sz="2000" spc="-50" dirty="0" smtClean="0">
                <a:solidFill>
                  <a:srgbClr val="FF0000"/>
                </a:solidFill>
                <a:latin typeface="Lucida Console" pitchFamily="49" charset="0"/>
              </a:rPr>
              <a:t>d</a:t>
            </a:r>
            <a:r>
              <a:rPr lang="pt-BR" sz="2000" spc="-50" dirty="0">
                <a:solidFill>
                  <a:srgbClr val="FF0000"/>
                </a:solidFill>
                <a:latin typeface="Lucida Console" pitchFamily="49" charset="0"/>
              </a:rPr>
              <a:t>="&lt;&lt;d</a:t>
            </a:r>
            <a:r>
              <a:rPr lang="pt-BR" sz="2000" spc="-50" dirty="0" smtClean="0">
                <a:solidFill>
                  <a:srgbClr val="FF0000"/>
                </a:solidFill>
                <a:latin typeface="Lucida Console" pitchFamily="49" charset="0"/>
              </a:rPr>
              <a:t>&lt;&lt;</a:t>
            </a:r>
            <a:r>
              <a:rPr lang="pt-BR" sz="2000" spc="-200" dirty="0">
                <a:solidFill>
                  <a:srgbClr val="FF0000"/>
                </a:solidFill>
                <a:latin typeface="Lucida Console" pitchFamily="49" charset="0"/>
              </a:rPr>
              <a:t>"</a:t>
            </a:r>
            <a:r>
              <a:rPr lang="pt-BR" sz="2000" spc="-50" dirty="0" smtClean="0">
                <a:solidFill>
                  <a:srgbClr val="FF0000"/>
                </a:solidFill>
                <a:latin typeface="Lucida Console" pitchFamily="49" charset="0"/>
              </a:rPr>
              <a:t>,e="&lt;&lt;</a:t>
            </a:r>
            <a:r>
              <a:rPr lang="pt-BR" sz="2000" spc="-50" dirty="0">
                <a:solidFill>
                  <a:srgbClr val="FF0000"/>
                </a:solidFill>
                <a:latin typeface="Lucida Console" pitchFamily="49" charset="0"/>
              </a:rPr>
              <a:t>e&lt;&lt;"\</a:t>
            </a:r>
            <a:r>
              <a:rPr lang="pt-BR" sz="2000" spc="-50" dirty="0" smtClean="0">
                <a:solidFill>
                  <a:srgbClr val="FF0000"/>
                </a:solidFill>
                <a:latin typeface="Lucida Console" pitchFamily="49" charset="0"/>
              </a:rPr>
              <a:t>n</a:t>
            </a:r>
            <a:r>
              <a:rPr lang="pt-BR" sz="2000" spc="-200" dirty="0">
                <a:solidFill>
                  <a:srgbClr val="FF0000"/>
                </a:solidFill>
                <a:latin typeface="Lucida Console" pitchFamily="49" charset="0"/>
              </a:rPr>
              <a:t>"</a:t>
            </a:r>
            <a:r>
              <a:rPr lang="pt-BR" sz="2000" spc="-50" dirty="0" smtClean="0">
                <a:solidFill>
                  <a:srgbClr val="FF0000"/>
                </a:solidFill>
                <a:latin typeface="Lucida Console" pitchFamily="49" charset="0"/>
              </a:rPr>
              <a:t>;</a:t>
            </a:r>
            <a:endParaRPr lang="pt-BR" sz="2000" spc="-50" dirty="0">
              <a:solidFill>
                <a:srgbClr val="FF0000"/>
              </a:solidFill>
              <a:latin typeface="Lucida Console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solidFill>
                  <a:srgbClr val="FF0000"/>
                </a:solidFill>
                <a:latin typeface="Lucida Console" pitchFamily="49" charset="0"/>
              </a:rPr>
              <a:t> changer(</a:t>
            </a:r>
            <a:r>
              <a:rPr lang="en-US" sz="2000" dirty="0" err="1">
                <a:solidFill>
                  <a:srgbClr val="FF0000"/>
                </a:solidFill>
                <a:latin typeface="Lucida Console" pitchFamily="49" charset="0"/>
              </a:rPr>
              <a:t>a,b,c,d,e</a:t>
            </a:r>
            <a:r>
              <a:rPr lang="en-US" sz="2000" dirty="0">
                <a:solidFill>
                  <a:srgbClr val="FF0000"/>
                </a:solidFill>
                <a:latin typeface="Lucida Console" pitchFamily="49" charset="0"/>
              </a:rPr>
              <a:t>);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000" dirty="0">
                <a:solidFill>
                  <a:srgbClr val="FF0000"/>
                </a:solidFill>
                <a:latin typeface="Lucida Console" pitchFamily="49" charset="0"/>
              </a:rPr>
              <a:t> </a:t>
            </a:r>
            <a:r>
              <a:rPr lang="pt-BR" sz="2000" spc="-20" dirty="0">
                <a:solidFill>
                  <a:srgbClr val="FF0000"/>
                </a:solidFill>
                <a:latin typeface="Lucida Console" pitchFamily="49" charset="0"/>
              </a:rPr>
              <a:t>cout&lt;&lt;"a="&lt;&lt;a&lt;&lt;</a:t>
            </a:r>
            <a:r>
              <a:rPr lang="pt-BR" sz="2000" spc="-200" dirty="0">
                <a:solidFill>
                  <a:srgbClr val="FF0000"/>
                </a:solidFill>
                <a:latin typeface="Lucida Console" pitchFamily="49" charset="0"/>
              </a:rPr>
              <a:t>"</a:t>
            </a:r>
            <a:r>
              <a:rPr lang="pt-BR" sz="2000" spc="-50" dirty="0">
                <a:solidFill>
                  <a:srgbClr val="FF0000"/>
                </a:solidFill>
                <a:latin typeface="Lucida Console" pitchFamily="49" charset="0"/>
              </a:rPr>
              <a:t>,b="&lt;&lt;b&lt;&lt;</a:t>
            </a:r>
            <a:r>
              <a:rPr lang="pt-BR" sz="2000" spc="-200" dirty="0">
                <a:solidFill>
                  <a:srgbClr val="FF0000"/>
                </a:solidFill>
                <a:latin typeface="Lucida Console" pitchFamily="49" charset="0"/>
              </a:rPr>
              <a:t>"</a:t>
            </a:r>
            <a:r>
              <a:rPr lang="pt-BR" sz="2000" spc="-50" dirty="0">
                <a:solidFill>
                  <a:srgbClr val="FF0000"/>
                </a:solidFill>
                <a:latin typeface="Lucida Console" pitchFamily="49" charset="0"/>
              </a:rPr>
              <a:t>,c="&lt;&lt;c[0]&lt;&lt;</a:t>
            </a:r>
            <a:r>
              <a:rPr lang="pt-BR" sz="2000" spc="-200" dirty="0">
                <a:solidFill>
                  <a:srgbClr val="FF0000"/>
                </a:solidFill>
                <a:latin typeface="Lucida Console" pitchFamily="49" charset="0"/>
              </a:rPr>
              <a:t>"</a:t>
            </a:r>
            <a:r>
              <a:rPr lang="pt-BR" sz="2000" spc="-50" dirty="0">
                <a:solidFill>
                  <a:srgbClr val="FF0000"/>
                </a:solidFill>
                <a:latin typeface="Lucida Console" pitchFamily="49" charset="0"/>
              </a:rPr>
              <a:t>,d="&lt;&lt;d&lt;&lt;</a:t>
            </a:r>
            <a:r>
              <a:rPr lang="pt-BR" sz="2000" spc="-200" dirty="0">
                <a:solidFill>
                  <a:srgbClr val="FF0000"/>
                </a:solidFill>
                <a:latin typeface="Lucida Console" pitchFamily="49" charset="0"/>
              </a:rPr>
              <a:t>"</a:t>
            </a:r>
            <a:r>
              <a:rPr lang="pt-BR" sz="2000" spc="-50" dirty="0">
                <a:solidFill>
                  <a:srgbClr val="FF0000"/>
                </a:solidFill>
                <a:latin typeface="Lucida Console" pitchFamily="49" charset="0"/>
              </a:rPr>
              <a:t>,e="&lt;&lt;e&lt;&lt;"\n</a:t>
            </a:r>
            <a:r>
              <a:rPr lang="pt-BR" sz="2000" spc="-200" dirty="0" smtClean="0">
                <a:solidFill>
                  <a:srgbClr val="FF0000"/>
                </a:solidFill>
                <a:latin typeface="Lucida Console" pitchFamily="49" charset="0"/>
              </a:rPr>
              <a:t>"</a:t>
            </a:r>
            <a:r>
              <a:rPr lang="pt-BR" sz="2000" spc="-50" dirty="0" smtClean="0">
                <a:solidFill>
                  <a:srgbClr val="FF0000"/>
                </a:solidFill>
                <a:latin typeface="Lucida Console" pitchFamily="49" charset="0"/>
              </a:rPr>
              <a:t>;</a:t>
            </a:r>
            <a:endParaRPr lang="pt-BR" sz="2000" spc="-20" dirty="0">
              <a:solidFill>
                <a:srgbClr val="FF0000"/>
              </a:solidFill>
              <a:latin typeface="Lucida Console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latin typeface="Lucida Console" pitchFamily="49" charset="0"/>
              </a:rPr>
              <a:t>}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solidFill>
                  <a:srgbClr val="FF0000"/>
                </a:solidFill>
                <a:latin typeface="Lucida Console" pitchFamily="49" charset="0"/>
              </a:rPr>
              <a:t>% ./</a:t>
            </a:r>
            <a:r>
              <a:rPr lang="en-US" sz="2000" dirty="0" err="1">
                <a:solidFill>
                  <a:srgbClr val="FF0000"/>
                </a:solidFill>
                <a:latin typeface="Lucida Console" pitchFamily="49" charset="0"/>
              </a:rPr>
              <a:t>check.x</a:t>
            </a:r>
            <a:endParaRPr lang="en-US" sz="2000" dirty="0">
              <a:solidFill>
                <a:srgbClr val="FF0000"/>
              </a:solidFill>
              <a:latin typeface="Lucida Console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solidFill>
                  <a:srgbClr val="FF0000"/>
                </a:solidFill>
                <a:latin typeface="Lucida Console" pitchFamily="49" charset="0"/>
              </a:rPr>
              <a:t>a=0, b=0, c=0, d=zero, </a:t>
            </a:r>
            <a:r>
              <a:rPr lang="en-US" sz="2000" dirty="0" smtClean="0">
                <a:solidFill>
                  <a:srgbClr val="FF0000"/>
                </a:solidFill>
                <a:latin typeface="Lucida Console" pitchFamily="49" charset="0"/>
              </a:rPr>
              <a:t>e=zero</a:t>
            </a:r>
            <a:endParaRPr lang="en-US" sz="2000" dirty="0">
              <a:solidFill>
                <a:srgbClr val="FF0000"/>
              </a:solidFill>
              <a:latin typeface="Lucida Console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solidFill>
                  <a:srgbClr val="FF0000"/>
                </a:solidFill>
                <a:latin typeface="Lucida Console" pitchFamily="49" charset="0"/>
              </a:rPr>
              <a:t>a=0, b=1, c=1, d=zero, </a:t>
            </a:r>
            <a:r>
              <a:rPr lang="en-US" sz="2000" dirty="0" smtClean="0">
                <a:solidFill>
                  <a:srgbClr val="FF0000"/>
                </a:solidFill>
                <a:latin typeface="Lucida Console" pitchFamily="49" charset="0"/>
              </a:rPr>
              <a:t>e=one</a:t>
            </a:r>
            <a:endParaRPr lang="en-US" sz="2000" dirty="0">
              <a:solidFill>
                <a:srgbClr val="FF0000"/>
              </a:solidFill>
              <a:latin typeface="Lucida Console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latin typeface="Lucida Console" pitchFamily="49" charset="0"/>
              </a:rPr>
              <a:t>%</a:t>
            </a:r>
          </a:p>
        </p:txBody>
      </p:sp>
    </p:spTree>
    <p:extLst>
      <p:ext uri="{BB962C8B-B14F-4D97-AF65-F5344CB8AC3E}">
        <p14:creationId xmlns:p14="http://schemas.microsoft.com/office/powerpoint/2010/main" val="18510945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7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0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6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9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47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5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2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5" dur="500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" y="152400"/>
            <a:ext cx="9729788" cy="838200"/>
          </a:xfrm>
        </p:spPr>
        <p:txBody>
          <a:bodyPr/>
          <a:lstStyle/>
          <a:p>
            <a:r>
              <a:rPr lang="en-US" dirty="0" smtClean="0">
                <a:solidFill>
                  <a:srgbClr val="0070C0"/>
                </a:solidFill>
              </a:rPr>
              <a:t>Sidebar: Consider </a:t>
            </a:r>
            <a:r>
              <a:rPr lang="en-US" dirty="0">
                <a:solidFill>
                  <a:srgbClr val="0070C0"/>
                </a:solidFill>
              </a:rPr>
              <a:t>the following program…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3692" y="954763"/>
            <a:ext cx="9526096" cy="5847108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latin typeface="Lucida Console" pitchFamily="49" charset="0"/>
              </a:rPr>
              <a:t>% cat check.cpp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latin typeface="Lucida Console" pitchFamily="49" charset="0"/>
              </a:rPr>
              <a:t>#include &lt;</a:t>
            </a:r>
            <a:r>
              <a:rPr lang="en-US" sz="2000" dirty="0" err="1">
                <a:latin typeface="Lucida Console" pitchFamily="49" charset="0"/>
              </a:rPr>
              <a:t>iostream</a:t>
            </a:r>
            <a:r>
              <a:rPr lang="en-US" sz="2000" dirty="0">
                <a:latin typeface="Lucida Console" pitchFamily="49" charset="0"/>
              </a:rPr>
              <a:t>&gt;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latin typeface="Lucida Console" pitchFamily="49" charset="0"/>
              </a:rPr>
              <a:t>#include &lt;string&gt;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latin typeface="Lucida Console" pitchFamily="49" charset="0"/>
              </a:rPr>
              <a:t>using namespace std;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latin typeface="Lucida Console" pitchFamily="49" charset="0"/>
              </a:rPr>
              <a:t>void changer(</a:t>
            </a:r>
            <a:r>
              <a:rPr lang="en-US" sz="2000" dirty="0" err="1">
                <a:solidFill>
                  <a:srgbClr val="00B050"/>
                </a:solidFill>
                <a:latin typeface="Lucida Console" pitchFamily="49" charset="0"/>
              </a:rPr>
              <a:t>int</a:t>
            </a:r>
            <a:r>
              <a:rPr lang="en-US" sz="2000" dirty="0">
                <a:solidFill>
                  <a:srgbClr val="00B050"/>
                </a:solidFill>
                <a:latin typeface="Lucida Console" pitchFamily="49" charset="0"/>
              </a:rPr>
              <a:t> a, </a:t>
            </a:r>
            <a:r>
              <a:rPr lang="en-US" sz="2000" dirty="0" err="1">
                <a:solidFill>
                  <a:srgbClr val="FF0000"/>
                </a:solidFill>
                <a:latin typeface="Lucida Console" pitchFamily="49" charset="0"/>
              </a:rPr>
              <a:t>int</a:t>
            </a:r>
            <a:r>
              <a:rPr lang="en-US" sz="2000" dirty="0">
                <a:solidFill>
                  <a:srgbClr val="FF0000"/>
                </a:solidFill>
                <a:latin typeface="Lucida Console" pitchFamily="49" charset="0"/>
              </a:rPr>
              <a:t> &amp;b, </a:t>
            </a:r>
            <a:r>
              <a:rPr lang="en-US" sz="2000" dirty="0" err="1">
                <a:solidFill>
                  <a:srgbClr val="FF0000"/>
                </a:solidFill>
                <a:latin typeface="Lucida Console" pitchFamily="49" charset="0"/>
              </a:rPr>
              <a:t>int</a:t>
            </a:r>
            <a:r>
              <a:rPr lang="en-US" sz="2000" dirty="0">
                <a:solidFill>
                  <a:srgbClr val="FF0000"/>
                </a:solidFill>
                <a:latin typeface="Lucida Console" pitchFamily="49" charset="0"/>
              </a:rPr>
              <a:t> *c, </a:t>
            </a:r>
            <a:r>
              <a:rPr lang="en-US" sz="2000" dirty="0">
                <a:solidFill>
                  <a:srgbClr val="00B050"/>
                </a:solidFill>
                <a:latin typeface="Lucida Console" pitchFamily="49" charset="0"/>
              </a:rPr>
              <a:t>string d, </a:t>
            </a:r>
            <a:r>
              <a:rPr lang="en-US" sz="2000" dirty="0">
                <a:solidFill>
                  <a:srgbClr val="FF0000"/>
                </a:solidFill>
                <a:latin typeface="Lucida Console" pitchFamily="49" charset="0"/>
              </a:rPr>
              <a:t>char *e</a:t>
            </a:r>
            <a:r>
              <a:rPr lang="en-US" sz="2000" dirty="0">
                <a:latin typeface="Lucida Console" pitchFamily="49" charset="0"/>
              </a:rPr>
              <a:t>) {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solidFill>
                  <a:srgbClr val="FF0000"/>
                </a:solidFill>
                <a:latin typeface="Lucida Console" pitchFamily="49" charset="0"/>
              </a:rPr>
              <a:t>  </a:t>
            </a:r>
            <a:r>
              <a:rPr lang="en-US" sz="2000" spc="-20" dirty="0" smtClean="0">
                <a:solidFill>
                  <a:srgbClr val="00B050"/>
                </a:solidFill>
                <a:latin typeface="Lucida Console" pitchFamily="49" charset="0"/>
              </a:rPr>
              <a:t>a=1</a:t>
            </a:r>
            <a:r>
              <a:rPr lang="en-US" altLang="zh-TW" sz="2000" spc="-20" dirty="0" smtClean="0">
                <a:solidFill>
                  <a:srgbClr val="00B050"/>
                </a:solidFill>
                <a:latin typeface="Lucida Console" pitchFamily="49" charset="0"/>
              </a:rPr>
              <a:t>;</a:t>
            </a:r>
            <a:r>
              <a:rPr lang="en-US" altLang="zh-TW" sz="2000" spc="-20" dirty="0" smtClean="0">
                <a:solidFill>
                  <a:srgbClr val="FF0000"/>
                </a:solidFill>
                <a:latin typeface="Lucida Console" pitchFamily="49" charset="0"/>
              </a:rPr>
              <a:t>b=1;c[0</a:t>
            </a:r>
            <a:r>
              <a:rPr lang="en-US" altLang="zh-TW" sz="2000" spc="-20" dirty="0">
                <a:solidFill>
                  <a:srgbClr val="FF0000"/>
                </a:solidFill>
                <a:latin typeface="Lucida Console" pitchFamily="49" charset="0"/>
              </a:rPr>
              <a:t>]=</a:t>
            </a:r>
            <a:r>
              <a:rPr lang="en-US" altLang="zh-TW" sz="2000" spc="-20" dirty="0" smtClean="0">
                <a:solidFill>
                  <a:srgbClr val="FF0000"/>
                </a:solidFill>
                <a:latin typeface="Lucida Console" pitchFamily="49" charset="0"/>
              </a:rPr>
              <a:t>1;</a:t>
            </a:r>
            <a:r>
              <a:rPr lang="en-US" altLang="zh-TW" sz="2000" spc="-20" dirty="0" smtClean="0">
                <a:solidFill>
                  <a:srgbClr val="00B050"/>
                </a:solidFill>
                <a:latin typeface="Lucida Console" pitchFamily="49" charset="0"/>
              </a:rPr>
              <a:t>d</a:t>
            </a:r>
            <a:r>
              <a:rPr lang="en-US" altLang="zh-TW" sz="2000" spc="-20" dirty="0">
                <a:solidFill>
                  <a:srgbClr val="00B050"/>
                </a:solidFill>
                <a:latin typeface="Lucida Console" pitchFamily="49" charset="0"/>
              </a:rPr>
              <a:t>="</a:t>
            </a:r>
            <a:r>
              <a:rPr lang="en-US" altLang="zh-TW" sz="2000" spc="-20" dirty="0" err="1">
                <a:solidFill>
                  <a:srgbClr val="00B050"/>
                </a:solidFill>
                <a:latin typeface="Lucida Console" pitchFamily="49" charset="0"/>
              </a:rPr>
              <a:t>one</a:t>
            </a:r>
            <a:r>
              <a:rPr lang="en-US" altLang="zh-TW" sz="2000" spc="-20" dirty="0" err="1" smtClean="0">
                <a:solidFill>
                  <a:srgbClr val="00B050"/>
                </a:solidFill>
                <a:latin typeface="Lucida Console" pitchFamily="49" charset="0"/>
              </a:rPr>
              <a:t>";</a:t>
            </a:r>
            <a:r>
              <a:rPr lang="en-US" altLang="zh-TW" sz="2000" spc="-20" dirty="0" err="1" smtClean="0">
                <a:solidFill>
                  <a:srgbClr val="FF0000"/>
                </a:solidFill>
                <a:latin typeface="Lucida Console" pitchFamily="49" charset="0"/>
              </a:rPr>
              <a:t>e</a:t>
            </a:r>
            <a:r>
              <a:rPr lang="en-US" altLang="zh-TW" sz="2000" spc="-20" dirty="0" smtClean="0">
                <a:solidFill>
                  <a:srgbClr val="FF0000"/>
                </a:solidFill>
                <a:latin typeface="Lucida Console" pitchFamily="49" charset="0"/>
              </a:rPr>
              <a:t>[0</a:t>
            </a:r>
            <a:r>
              <a:rPr lang="en-US" altLang="zh-TW" sz="2000" spc="-20" dirty="0">
                <a:solidFill>
                  <a:srgbClr val="FF0000"/>
                </a:solidFill>
                <a:latin typeface="Lucida Console" pitchFamily="49" charset="0"/>
              </a:rPr>
              <a:t>]='</a:t>
            </a:r>
            <a:r>
              <a:rPr lang="en-US" altLang="zh-TW" sz="2000" spc="-20" dirty="0" err="1">
                <a:solidFill>
                  <a:srgbClr val="FF0000"/>
                </a:solidFill>
                <a:latin typeface="Lucida Console" pitchFamily="49" charset="0"/>
              </a:rPr>
              <a:t>o';e</a:t>
            </a:r>
            <a:r>
              <a:rPr lang="en-US" altLang="zh-TW" sz="2000" spc="-20" dirty="0">
                <a:solidFill>
                  <a:srgbClr val="FF0000"/>
                </a:solidFill>
                <a:latin typeface="Lucida Console" pitchFamily="49" charset="0"/>
              </a:rPr>
              <a:t>[1]='</a:t>
            </a:r>
            <a:r>
              <a:rPr lang="en-US" altLang="zh-TW" sz="2000" spc="-20" dirty="0" err="1">
                <a:solidFill>
                  <a:srgbClr val="FF0000"/>
                </a:solidFill>
                <a:latin typeface="Lucida Console" pitchFamily="49" charset="0"/>
              </a:rPr>
              <a:t>n';</a:t>
            </a:r>
            <a:r>
              <a:rPr lang="en-US" altLang="zh-TW" sz="2000" spc="-20" dirty="0" err="1" smtClean="0">
                <a:solidFill>
                  <a:srgbClr val="FF0000"/>
                </a:solidFill>
                <a:latin typeface="Lucida Console" pitchFamily="49" charset="0"/>
              </a:rPr>
              <a:t>e</a:t>
            </a:r>
            <a:r>
              <a:rPr lang="en-US" altLang="zh-TW" sz="2000" spc="-20" dirty="0" smtClean="0">
                <a:solidFill>
                  <a:srgbClr val="FF0000"/>
                </a:solidFill>
                <a:latin typeface="Lucida Console" pitchFamily="49" charset="0"/>
              </a:rPr>
              <a:t>[2]=</a:t>
            </a:r>
            <a:r>
              <a:rPr lang="en-US" altLang="zh-TW" sz="2000" spc="-20" dirty="0">
                <a:solidFill>
                  <a:srgbClr val="FF0000"/>
                </a:solidFill>
                <a:latin typeface="Lucida Console" pitchFamily="49" charset="0"/>
              </a:rPr>
              <a:t>'</a:t>
            </a:r>
            <a:r>
              <a:rPr lang="en-US" altLang="zh-TW" sz="2000" spc="-20" dirty="0" err="1">
                <a:solidFill>
                  <a:srgbClr val="FF0000"/>
                </a:solidFill>
                <a:latin typeface="Lucida Console" pitchFamily="49" charset="0"/>
              </a:rPr>
              <a:t>e';</a:t>
            </a:r>
            <a:r>
              <a:rPr lang="en-US" altLang="zh-TW" sz="2000" spc="-20" dirty="0" err="1" smtClean="0">
                <a:solidFill>
                  <a:srgbClr val="FF0000"/>
                </a:solidFill>
                <a:latin typeface="Lucida Console" pitchFamily="49" charset="0"/>
              </a:rPr>
              <a:t>e</a:t>
            </a:r>
            <a:r>
              <a:rPr lang="en-US" altLang="zh-TW" sz="2000" spc="-20" dirty="0" smtClean="0">
                <a:solidFill>
                  <a:srgbClr val="FF0000"/>
                </a:solidFill>
                <a:latin typeface="Lucida Console" pitchFamily="49" charset="0"/>
              </a:rPr>
              <a:t>[3]='\</a:t>
            </a:r>
            <a:r>
              <a:rPr lang="en-US" altLang="zh-TW" sz="2000" spc="-20" dirty="0">
                <a:solidFill>
                  <a:srgbClr val="FF0000"/>
                </a:solidFill>
                <a:latin typeface="Lucida Console" pitchFamily="49" charset="0"/>
              </a:rPr>
              <a:t>0'</a:t>
            </a:r>
            <a:r>
              <a:rPr lang="en-US" sz="2000" spc="-20" dirty="0">
                <a:solidFill>
                  <a:srgbClr val="FF0000"/>
                </a:solidFill>
                <a:latin typeface="Lucida Console" pitchFamily="49" charset="0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 smtClean="0">
                <a:latin typeface="Lucida Console" pitchFamily="49" charset="0"/>
              </a:rPr>
              <a:t>}</a:t>
            </a:r>
            <a:endParaRPr lang="en-US" sz="2000" dirty="0">
              <a:latin typeface="Lucida Console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latin typeface="Lucida Console" pitchFamily="49" charset="0"/>
              </a:rPr>
              <a:t>main() {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latin typeface="Lucida Console" pitchFamily="49" charset="0"/>
              </a:rPr>
              <a:t> </a:t>
            </a:r>
            <a:r>
              <a:rPr lang="en-US" sz="2000" dirty="0" err="1">
                <a:latin typeface="Lucida Console" pitchFamily="49" charset="0"/>
              </a:rPr>
              <a:t>int</a:t>
            </a:r>
            <a:r>
              <a:rPr lang="en-US" sz="2000" dirty="0">
                <a:latin typeface="Lucida Console" pitchFamily="49" charset="0"/>
              </a:rPr>
              <a:t> a=0, b=0, c[100]={0};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latin typeface="Lucida Console" pitchFamily="49" charset="0"/>
              </a:rPr>
              <a:t> string d="zero";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latin typeface="Lucida Console" pitchFamily="49" charset="0"/>
              </a:rPr>
              <a:t> char e[]="zero";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000" dirty="0">
                <a:latin typeface="Lucida Console" pitchFamily="49" charset="0"/>
              </a:rPr>
              <a:t> </a:t>
            </a:r>
            <a:r>
              <a:rPr lang="pt-BR" sz="2000" spc="-20" dirty="0">
                <a:latin typeface="Lucida Console" pitchFamily="49" charset="0"/>
              </a:rPr>
              <a:t>cout&lt;&lt;"a="&lt;&lt;a&lt;&lt;</a:t>
            </a:r>
            <a:r>
              <a:rPr lang="pt-BR" sz="2000" spc="-200" dirty="0">
                <a:latin typeface="Lucida Console" pitchFamily="49" charset="0"/>
              </a:rPr>
              <a:t>"</a:t>
            </a:r>
            <a:r>
              <a:rPr lang="pt-BR" sz="2000" spc="-50" dirty="0">
                <a:latin typeface="Lucida Console" pitchFamily="49" charset="0"/>
              </a:rPr>
              <a:t>,b="&lt;&lt;b&lt;&lt;</a:t>
            </a:r>
            <a:r>
              <a:rPr lang="pt-BR" sz="2000" spc="-200" dirty="0">
                <a:latin typeface="Lucida Console" pitchFamily="49" charset="0"/>
              </a:rPr>
              <a:t>"</a:t>
            </a:r>
            <a:r>
              <a:rPr lang="pt-BR" sz="2000" spc="-50" dirty="0">
                <a:latin typeface="Lucida Console" pitchFamily="49" charset="0"/>
              </a:rPr>
              <a:t>,c="&lt;&lt;c[0]&lt;&lt;</a:t>
            </a:r>
            <a:r>
              <a:rPr lang="pt-BR" sz="2000" spc="-200" dirty="0">
                <a:latin typeface="Lucida Console" pitchFamily="49" charset="0"/>
              </a:rPr>
              <a:t>"</a:t>
            </a:r>
            <a:r>
              <a:rPr lang="pt-BR" sz="2000" spc="-50" dirty="0">
                <a:latin typeface="Lucida Console" pitchFamily="49" charset="0"/>
              </a:rPr>
              <a:t>,d="&lt;&lt;d&lt;&lt;</a:t>
            </a:r>
            <a:r>
              <a:rPr lang="pt-BR" sz="2000" spc="-200" dirty="0">
                <a:latin typeface="Lucida Console" pitchFamily="49" charset="0"/>
              </a:rPr>
              <a:t>"</a:t>
            </a:r>
            <a:r>
              <a:rPr lang="pt-BR" sz="2000" spc="-50" dirty="0">
                <a:latin typeface="Lucida Console" pitchFamily="49" charset="0"/>
              </a:rPr>
              <a:t>,e="&lt;&lt;e&lt;&lt;"\n</a:t>
            </a:r>
            <a:r>
              <a:rPr lang="pt-BR" sz="2000" spc="-200" dirty="0">
                <a:latin typeface="Lucida Console" pitchFamily="49" charset="0"/>
              </a:rPr>
              <a:t>"</a:t>
            </a:r>
            <a:r>
              <a:rPr lang="pt-BR" sz="2000" spc="-50" dirty="0">
                <a:latin typeface="Lucida Console" pitchFamily="49" charset="0"/>
              </a:rPr>
              <a:t>;</a:t>
            </a:r>
            <a:endParaRPr lang="pt-BR" sz="2000" spc="-20" dirty="0">
              <a:latin typeface="Lucida Console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latin typeface="Lucida Console" pitchFamily="49" charset="0"/>
              </a:rPr>
              <a:t> changer(</a:t>
            </a:r>
            <a:r>
              <a:rPr lang="en-US" sz="2000" dirty="0" err="1">
                <a:latin typeface="Lucida Console" pitchFamily="49" charset="0"/>
              </a:rPr>
              <a:t>a,b,c,d,e</a:t>
            </a:r>
            <a:r>
              <a:rPr lang="en-US" sz="2000" dirty="0">
                <a:latin typeface="Lucida Console" pitchFamily="49" charset="0"/>
              </a:rPr>
              <a:t>);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000" dirty="0">
                <a:latin typeface="Lucida Console" pitchFamily="49" charset="0"/>
              </a:rPr>
              <a:t> </a:t>
            </a:r>
            <a:r>
              <a:rPr lang="pt-BR" sz="2000" spc="-20" dirty="0">
                <a:latin typeface="Lucida Console" pitchFamily="49" charset="0"/>
              </a:rPr>
              <a:t>cout&lt;&lt;"a="&lt;&lt;a&lt;&lt;</a:t>
            </a:r>
            <a:r>
              <a:rPr lang="pt-BR" sz="2000" spc="-200" dirty="0">
                <a:latin typeface="Lucida Console" pitchFamily="49" charset="0"/>
              </a:rPr>
              <a:t>"</a:t>
            </a:r>
            <a:r>
              <a:rPr lang="pt-BR" sz="2000" spc="-50" dirty="0">
                <a:latin typeface="Lucida Console" pitchFamily="49" charset="0"/>
              </a:rPr>
              <a:t>,b="&lt;&lt;b&lt;&lt;</a:t>
            </a:r>
            <a:r>
              <a:rPr lang="pt-BR" sz="2000" spc="-200" dirty="0">
                <a:latin typeface="Lucida Console" pitchFamily="49" charset="0"/>
              </a:rPr>
              <a:t>"</a:t>
            </a:r>
            <a:r>
              <a:rPr lang="pt-BR" sz="2000" spc="-50" dirty="0">
                <a:latin typeface="Lucida Console" pitchFamily="49" charset="0"/>
              </a:rPr>
              <a:t>,c="&lt;&lt;c[0]&lt;&lt;</a:t>
            </a:r>
            <a:r>
              <a:rPr lang="pt-BR" sz="2000" spc="-200" dirty="0">
                <a:latin typeface="Lucida Console" pitchFamily="49" charset="0"/>
              </a:rPr>
              <a:t>"</a:t>
            </a:r>
            <a:r>
              <a:rPr lang="pt-BR" sz="2000" spc="-50" dirty="0">
                <a:latin typeface="Lucida Console" pitchFamily="49" charset="0"/>
              </a:rPr>
              <a:t>,d="&lt;&lt;d&lt;&lt;</a:t>
            </a:r>
            <a:r>
              <a:rPr lang="pt-BR" sz="2000" spc="-200" dirty="0">
                <a:latin typeface="Lucida Console" pitchFamily="49" charset="0"/>
              </a:rPr>
              <a:t>"</a:t>
            </a:r>
            <a:r>
              <a:rPr lang="pt-BR" sz="2000" spc="-50" dirty="0">
                <a:latin typeface="Lucida Console" pitchFamily="49" charset="0"/>
              </a:rPr>
              <a:t>,e="&lt;&lt;e&lt;&lt;"\n</a:t>
            </a:r>
            <a:r>
              <a:rPr lang="pt-BR" sz="2000" spc="-200" dirty="0">
                <a:latin typeface="Lucida Console" pitchFamily="49" charset="0"/>
              </a:rPr>
              <a:t>"</a:t>
            </a:r>
            <a:r>
              <a:rPr lang="pt-BR" sz="2000" spc="-50" dirty="0">
                <a:latin typeface="Lucida Console" pitchFamily="49" charset="0"/>
              </a:rPr>
              <a:t>;</a:t>
            </a:r>
            <a:endParaRPr lang="pt-BR" sz="2000" spc="-20" dirty="0">
              <a:latin typeface="Lucida Console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latin typeface="Lucida Console" pitchFamily="49" charset="0"/>
              </a:rPr>
              <a:t>}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latin typeface="Lucida Console" pitchFamily="49" charset="0"/>
              </a:rPr>
              <a:t>% ./</a:t>
            </a:r>
            <a:r>
              <a:rPr lang="en-US" sz="2000" dirty="0" err="1">
                <a:latin typeface="Lucida Console" pitchFamily="49" charset="0"/>
              </a:rPr>
              <a:t>check.x</a:t>
            </a:r>
            <a:endParaRPr lang="en-US" sz="2000" dirty="0">
              <a:latin typeface="Lucida Console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latin typeface="Lucida Console" pitchFamily="49" charset="0"/>
              </a:rPr>
              <a:t>a=0, b=0, c=0, d=zero, </a:t>
            </a:r>
            <a:r>
              <a:rPr lang="en-US" sz="2000" dirty="0" smtClean="0">
                <a:latin typeface="Lucida Console" pitchFamily="49" charset="0"/>
              </a:rPr>
              <a:t>e=zero</a:t>
            </a:r>
            <a:endParaRPr lang="en-US" sz="2000" dirty="0">
              <a:latin typeface="Lucida Console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latin typeface="Lucida Console" pitchFamily="49" charset="0"/>
              </a:rPr>
              <a:t>a=0, b=1, c=1, d=zero, </a:t>
            </a:r>
            <a:r>
              <a:rPr lang="en-US" sz="2000" dirty="0" smtClean="0">
                <a:latin typeface="Lucida Console" pitchFamily="49" charset="0"/>
              </a:rPr>
              <a:t>e=one</a:t>
            </a:r>
            <a:endParaRPr lang="en-US" sz="2000" dirty="0">
              <a:latin typeface="Lucida Console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latin typeface="Lucida Console" pitchFamily="49" charset="0"/>
              </a:rPr>
              <a:t>%</a:t>
            </a:r>
          </a:p>
        </p:txBody>
      </p:sp>
      <p:sp>
        <p:nvSpPr>
          <p:cNvPr id="4" name="Rounded Rectangular Callout 3"/>
          <p:cNvSpPr/>
          <p:nvPr/>
        </p:nvSpPr>
        <p:spPr>
          <a:xfrm>
            <a:off x="1066380" y="930800"/>
            <a:ext cx="2959499" cy="850706"/>
          </a:xfrm>
          <a:prstGeom prst="wedgeRoundRectCallout">
            <a:avLst>
              <a:gd name="adj1" fmla="val -590"/>
              <a:gd name="adj2" fmla="val 96303"/>
              <a:gd name="adj3" fmla="val 16667"/>
            </a:avLst>
          </a:prstGeom>
          <a:solidFill>
            <a:srgbClr val="FFFF00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68" dirty="0">
                <a:solidFill>
                  <a:srgbClr val="00B050"/>
                </a:solidFill>
              </a:rPr>
              <a:t>Call by value only changes a copy</a:t>
            </a:r>
          </a:p>
        </p:txBody>
      </p:sp>
      <p:sp>
        <p:nvSpPr>
          <p:cNvPr id="5" name="Rounded Rectangular Callout 4"/>
          <p:cNvSpPr/>
          <p:nvPr/>
        </p:nvSpPr>
        <p:spPr>
          <a:xfrm>
            <a:off x="4117736" y="938789"/>
            <a:ext cx="2959499" cy="850706"/>
          </a:xfrm>
          <a:prstGeom prst="wedgeRoundRectCallout">
            <a:avLst>
              <a:gd name="adj1" fmla="val -56056"/>
              <a:gd name="adj2" fmla="val 92077"/>
              <a:gd name="adj3" fmla="val 16667"/>
            </a:avLst>
          </a:prstGeom>
          <a:solidFill>
            <a:srgbClr val="FFFF00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68" dirty="0">
                <a:solidFill>
                  <a:srgbClr val="FF0000"/>
                </a:solidFill>
              </a:rPr>
              <a:t>Call by reference changes the original</a:t>
            </a:r>
          </a:p>
        </p:txBody>
      </p:sp>
    </p:spTree>
    <p:extLst>
      <p:ext uri="{BB962C8B-B14F-4D97-AF65-F5344CB8AC3E}">
        <p14:creationId xmlns:p14="http://schemas.microsoft.com/office/powerpoint/2010/main" val="1737031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" y="152400"/>
            <a:ext cx="9729788" cy="838200"/>
          </a:xfrm>
        </p:spPr>
        <p:txBody>
          <a:bodyPr/>
          <a:lstStyle/>
          <a:p>
            <a:r>
              <a:rPr lang="en-US" dirty="0" smtClean="0">
                <a:solidFill>
                  <a:srgbClr val="0070C0"/>
                </a:solidFill>
              </a:rPr>
              <a:t>Sidebar: Consider </a:t>
            </a:r>
            <a:r>
              <a:rPr lang="en-US" dirty="0">
                <a:solidFill>
                  <a:srgbClr val="0070C0"/>
                </a:solidFill>
              </a:rPr>
              <a:t>the following program…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3692" y="954763"/>
            <a:ext cx="9614202" cy="5847108"/>
          </a:xfrm>
        </p:spPr>
        <p:txBody>
          <a:bodyPr>
            <a:noAutofit/>
          </a:bodyPr>
          <a:lstStyle/>
          <a:p>
            <a:pPr>
              <a:lnSpc>
                <a:spcPct val="92000"/>
              </a:lnSpc>
              <a:spcBef>
                <a:spcPts val="0"/>
              </a:spcBef>
              <a:buNone/>
            </a:pPr>
            <a:r>
              <a:rPr lang="en-US" sz="2800" dirty="0">
                <a:solidFill>
                  <a:srgbClr val="FF0000"/>
                </a:solidFill>
                <a:latin typeface="Lucida Console" pitchFamily="49" charset="0"/>
              </a:rPr>
              <a:t>% cat test.py</a:t>
            </a:r>
          </a:p>
          <a:p>
            <a:pPr>
              <a:lnSpc>
                <a:spcPct val="92000"/>
              </a:lnSpc>
              <a:spcBef>
                <a:spcPts val="0"/>
              </a:spcBef>
              <a:buNone/>
            </a:pPr>
            <a:r>
              <a:rPr lang="en-US" sz="2800" dirty="0">
                <a:solidFill>
                  <a:srgbClr val="FF0000"/>
                </a:solidFill>
                <a:latin typeface="Lucida Console" pitchFamily="49" charset="0"/>
              </a:rPr>
              <a:t>a=0</a:t>
            </a:r>
          </a:p>
          <a:p>
            <a:pPr>
              <a:lnSpc>
                <a:spcPct val="92000"/>
              </a:lnSpc>
              <a:spcBef>
                <a:spcPts val="0"/>
              </a:spcBef>
              <a:buNone/>
            </a:pPr>
            <a:r>
              <a:rPr lang="en-US" sz="2800" dirty="0">
                <a:solidFill>
                  <a:srgbClr val="FF0000"/>
                </a:solidFill>
                <a:latin typeface="Lucida Console" pitchFamily="49" charset="0"/>
              </a:rPr>
              <a:t>b="zero"</a:t>
            </a:r>
          </a:p>
          <a:p>
            <a:pPr>
              <a:lnSpc>
                <a:spcPct val="92000"/>
              </a:lnSpc>
              <a:spcBef>
                <a:spcPts val="0"/>
              </a:spcBef>
              <a:buNone/>
            </a:pPr>
            <a:r>
              <a:rPr lang="en-US" sz="2800" dirty="0">
                <a:solidFill>
                  <a:srgbClr val="FF0000"/>
                </a:solidFill>
                <a:latin typeface="Lucida Console" pitchFamily="49" charset="0"/>
              </a:rPr>
              <a:t>c=[0]</a:t>
            </a:r>
          </a:p>
          <a:p>
            <a:pPr>
              <a:lnSpc>
                <a:spcPct val="92000"/>
              </a:lnSpc>
              <a:spcBef>
                <a:spcPts val="0"/>
              </a:spcBef>
              <a:buNone/>
            </a:pPr>
            <a:r>
              <a:rPr lang="en-US" sz="2800" dirty="0">
                <a:solidFill>
                  <a:srgbClr val="FF0000"/>
                </a:solidFill>
                <a:latin typeface="Lucida Console" pitchFamily="49" charset="0"/>
              </a:rPr>
              <a:t>d=(0</a:t>
            </a:r>
            <a:r>
              <a:rPr lang="en-US" sz="2800" dirty="0" smtClean="0">
                <a:solidFill>
                  <a:srgbClr val="FF0000"/>
                </a:solidFill>
                <a:latin typeface="Lucida Console" pitchFamily="49" charset="0"/>
              </a:rPr>
              <a:t>,)</a:t>
            </a:r>
            <a:endParaRPr lang="en-US" sz="2800" dirty="0">
              <a:solidFill>
                <a:srgbClr val="FF0000"/>
              </a:solidFill>
              <a:latin typeface="Lucida Console" pitchFamily="49" charset="0"/>
            </a:endParaRPr>
          </a:p>
          <a:p>
            <a:pPr>
              <a:lnSpc>
                <a:spcPct val="92000"/>
              </a:lnSpc>
              <a:spcBef>
                <a:spcPts val="0"/>
              </a:spcBef>
              <a:buNone/>
            </a:pPr>
            <a:r>
              <a:rPr lang="en-US" sz="2800" dirty="0" smtClean="0">
                <a:solidFill>
                  <a:srgbClr val="FF0000"/>
                </a:solidFill>
                <a:latin typeface="Lucida Console" pitchFamily="49" charset="0"/>
              </a:rPr>
              <a:t>print(</a:t>
            </a:r>
            <a:r>
              <a:rPr lang="en-US" sz="2800" dirty="0" err="1" smtClean="0">
                <a:solidFill>
                  <a:srgbClr val="FF0000"/>
                </a:solidFill>
                <a:latin typeface="Lucida Console" pitchFamily="49" charset="0"/>
              </a:rPr>
              <a:t>a,b,c,d</a:t>
            </a:r>
            <a:r>
              <a:rPr lang="en-US" sz="2800" dirty="0" smtClean="0">
                <a:solidFill>
                  <a:srgbClr val="FF0000"/>
                </a:solidFill>
                <a:latin typeface="Lucida Console" pitchFamily="49" charset="0"/>
              </a:rPr>
              <a:t>)</a:t>
            </a:r>
            <a:endParaRPr lang="en-US" sz="2800" dirty="0">
              <a:solidFill>
                <a:srgbClr val="FF0000"/>
              </a:solidFill>
              <a:latin typeface="Lucida Console" pitchFamily="49" charset="0"/>
            </a:endParaRPr>
          </a:p>
          <a:p>
            <a:pPr>
              <a:lnSpc>
                <a:spcPct val="92000"/>
              </a:lnSpc>
              <a:spcBef>
                <a:spcPts val="0"/>
              </a:spcBef>
              <a:buNone/>
            </a:pPr>
            <a:r>
              <a:rPr lang="en-US" sz="2800" dirty="0" smtClean="0">
                <a:solidFill>
                  <a:srgbClr val="FF0000"/>
                </a:solidFill>
                <a:latin typeface="Lucida Console" pitchFamily="49" charset="0"/>
              </a:rPr>
              <a:t>w=</a:t>
            </a:r>
            <a:r>
              <a:rPr lang="en-US" sz="2800" dirty="0" err="1" smtClean="0">
                <a:solidFill>
                  <a:srgbClr val="FF0000"/>
                </a:solidFill>
                <a:latin typeface="Lucida Console" pitchFamily="49" charset="0"/>
              </a:rPr>
              <a:t>a;x</a:t>
            </a:r>
            <a:r>
              <a:rPr lang="en-US" sz="2800" dirty="0" smtClean="0">
                <a:solidFill>
                  <a:srgbClr val="FF0000"/>
                </a:solidFill>
                <a:latin typeface="Lucida Console" pitchFamily="49" charset="0"/>
              </a:rPr>
              <a:t>=</a:t>
            </a:r>
            <a:r>
              <a:rPr lang="en-US" sz="2800" dirty="0" err="1" smtClean="0">
                <a:solidFill>
                  <a:srgbClr val="FF0000"/>
                </a:solidFill>
                <a:latin typeface="Lucida Console" pitchFamily="49" charset="0"/>
              </a:rPr>
              <a:t>b;y</a:t>
            </a:r>
            <a:r>
              <a:rPr lang="en-US" sz="2800" dirty="0" smtClean="0">
                <a:solidFill>
                  <a:srgbClr val="FF0000"/>
                </a:solidFill>
                <a:latin typeface="Lucida Console" pitchFamily="49" charset="0"/>
              </a:rPr>
              <a:t>=</a:t>
            </a:r>
            <a:r>
              <a:rPr lang="en-US" sz="2800" dirty="0" err="1" smtClean="0">
                <a:solidFill>
                  <a:srgbClr val="FF0000"/>
                </a:solidFill>
                <a:latin typeface="Lucida Console" pitchFamily="49" charset="0"/>
              </a:rPr>
              <a:t>c;z</a:t>
            </a:r>
            <a:r>
              <a:rPr lang="en-US" sz="2800" dirty="0" smtClean="0">
                <a:solidFill>
                  <a:srgbClr val="FF0000"/>
                </a:solidFill>
                <a:latin typeface="Lucida Console" pitchFamily="49" charset="0"/>
              </a:rPr>
              <a:t>=d</a:t>
            </a:r>
            <a:endParaRPr lang="en-US" sz="2800" dirty="0">
              <a:solidFill>
                <a:srgbClr val="FF0000"/>
              </a:solidFill>
              <a:latin typeface="Lucida Console" pitchFamily="49" charset="0"/>
            </a:endParaRPr>
          </a:p>
          <a:p>
            <a:pPr>
              <a:lnSpc>
                <a:spcPct val="92000"/>
              </a:lnSpc>
              <a:spcBef>
                <a:spcPts val="0"/>
              </a:spcBef>
              <a:buNone/>
            </a:pPr>
            <a:r>
              <a:rPr lang="en-US" sz="2800" spc="-28" dirty="0" smtClean="0">
                <a:solidFill>
                  <a:srgbClr val="FF0000"/>
                </a:solidFill>
                <a:latin typeface="Lucida Console" pitchFamily="49" charset="0"/>
              </a:rPr>
              <a:t>w=1;x="one</a:t>
            </a:r>
            <a:r>
              <a:rPr lang="en-US" sz="2800" spc="-160" dirty="0" smtClean="0">
                <a:solidFill>
                  <a:srgbClr val="FF0000"/>
                </a:solidFill>
                <a:latin typeface="Lucida Console" pitchFamily="49" charset="0"/>
              </a:rPr>
              <a:t> "</a:t>
            </a:r>
            <a:r>
              <a:rPr lang="en-US" sz="2800" spc="-28" dirty="0" smtClean="0">
                <a:solidFill>
                  <a:srgbClr val="FF0000"/>
                </a:solidFill>
                <a:latin typeface="Lucida Console" pitchFamily="49" charset="0"/>
              </a:rPr>
              <a:t>;y[0]=1;z</a:t>
            </a:r>
            <a:r>
              <a:rPr lang="en-US" sz="2800" spc="-150" dirty="0" smtClean="0">
                <a:solidFill>
                  <a:srgbClr val="FF0000"/>
                </a:solidFill>
                <a:latin typeface="Lucida Console" pitchFamily="49" charset="0"/>
              </a:rPr>
              <a:t>=(</a:t>
            </a:r>
            <a:r>
              <a:rPr lang="en-US" sz="2800" spc="-150" dirty="0">
                <a:solidFill>
                  <a:srgbClr val="FF0000"/>
                </a:solidFill>
                <a:latin typeface="Lucida Console" pitchFamily="49" charset="0"/>
              </a:rPr>
              <a:t>1</a:t>
            </a:r>
            <a:r>
              <a:rPr lang="en-US" sz="2800" spc="-150" dirty="0" smtClean="0">
                <a:solidFill>
                  <a:srgbClr val="FF0000"/>
                </a:solidFill>
                <a:latin typeface="Lucida Console" pitchFamily="49" charset="0"/>
              </a:rPr>
              <a:t>,)</a:t>
            </a:r>
            <a:r>
              <a:rPr lang="en-US" sz="2800" spc="-6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#can’t do w[0], y[0] or z[0]</a:t>
            </a:r>
            <a:endParaRPr lang="en-US" sz="2800" spc="-6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2000"/>
              </a:lnSpc>
              <a:spcBef>
                <a:spcPts val="0"/>
              </a:spcBef>
              <a:buNone/>
            </a:pPr>
            <a:r>
              <a:rPr lang="en-US" sz="2800" dirty="0" smtClean="0">
                <a:solidFill>
                  <a:srgbClr val="FF0000"/>
                </a:solidFill>
                <a:latin typeface="Lucida Console" pitchFamily="49" charset="0"/>
              </a:rPr>
              <a:t>print(</a:t>
            </a:r>
            <a:r>
              <a:rPr lang="en-US" sz="2800" dirty="0" err="1" smtClean="0">
                <a:solidFill>
                  <a:srgbClr val="FF0000"/>
                </a:solidFill>
                <a:latin typeface="Lucida Console" pitchFamily="49" charset="0"/>
              </a:rPr>
              <a:t>w,x,y,z</a:t>
            </a:r>
            <a:r>
              <a:rPr lang="en-US" sz="2800" dirty="0" smtClean="0">
                <a:solidFill>
                  <a:srgbClr val="FF0000"/>
                </a:solidFill>
                <a:latin typeface="Lucida Console" pitchFamily="49" charset="0"/>
              </a:rPr>
              <a:t>)</a:t>
            </a:r>
            <a:endParaRPr lang="en-US" sz="2800" dirty="0">
              <a:solidFill>
                <a:srgbClr val="FF0000"/>
              </a:solidFill>
              <a:latin typeface="Lucida Console" pitchFamily="49" charset="0"/>
            </a:endParaRPr>
          </a:p>
          <a:p>
            <a:pPr>
              <a:lnSpc>
                <a:spcPct val="92000"/>
              </a:lnSpc>
              <a:spcBef>
                <a:spcPts val="0"/>
              </a:spcBef>
              <a:buNone/>
            </a:pPr>
            <a:r>
              <a:rPr lang="en-US" sz="2800" dirty="0" smtClean="0">
                <a:solidFill>
                  <a:srgbClr val="FF0000"/>
                </a:solidFill>
                <a:latin typeface="Lucida Console" pitchFamily="49" charset="0"/>
              </a:rPr>
              <a:t>print(</a:t>
            </a:r>
            <a:r>
              <a:rPr lang="en-US" sz="2800" dirty="0" err="1" smtClean="0">
                <a:solidFill>
                  <a:srgbClr val="FF0000"/>
                </a:solidFill>
                <a:latin typeface="Lucida Console" pitchFamily="49" charset="0"/>
              </a:rPr>
              <a:t>a,b,c,d</a:t>
            </a:r>
            <a:r>
              <a:rPr lang="en-US" sz="2800" dirty="0" smtClean="0">
                <a:solidFill>
                  <a:srgbClr val="FF0000"/>
                </a:solidFill>
                <a:latin typeface="Lucida Console" pitchFamily="49" charset="0"/>
              </a:rPr>
              <a:t>)</a:t>
            </a:r>
            <a:endParaRPr lang="en-US" sz="2800" dirty="0">
              <a:solidFill>
                <a:srgbClr val="FF0000"/>
              </a:solidFill>
              <a:latin typeface="Lucida Console" pitchFamily="49" charset="0"/>
            </a:endParaRPr>
          </a:p>
          <a:p>
            <a:pPr>
              <a:lnSpc>
                <a:spcPct val="92000"/>
              </a:lnSpc>
              <a:spcBef>
                <a:spcPts val="0"/>
              </a:spcBef>
              <a:buNone/>
            </a:pPr>
            <a:r>
              <a:rPr lang="en-US" sz="2800" dirty="0">
                <a:solidFill>
                  <a:srgbClr val="FF0000"/>
                </a:solidFill>
                <a:latin typeface="Lucida Console" pitchFamily="49" charset="0"/>
              </a:rPr>
              <a:t>% python3  test.py</a:t>
            </a:r>
          </a:p>
          <a:p>
            <a:pPr>
              <a:lnSpc>
                <a:spcPct val="92000"/>
              </a:lnSpc>
              <a:spcBef>
                <a:spcPts val="0"/>
              </a:spcBef>
              <a:buNone/>
            </a:pPr>
            <a:r>
              <a:rPr lang="en-US" sz="2800" dirty="0" smtClean="0">
                <a:solidFill>
                  <a:srgbClr val="FF0000"/>
                </a:solidFill>
                <a:latin typeface="Lucida Console" pitchFamily="49" charset="0"/>
              </a:rPr>
              <a:t>0 zero [0] (0,)</a:t>
            </a:r>
          </a:p>
          <a:p>
            <a:pPr>
              <a:lnSpc>
                <a:spcPct val="92000"/>
              </a:lnSpc>
              <a:spcBef>
                <a:spcPts val="0"/>
              </a:spcBef>
              <a:buNone/>
            </a:pPr>
            <a:r>
              <a:rPr lang="en-US" sz="2800" dirty="0" smtClean="0">
                <a:solidFill>
                  <a:srgbClr val="FF0000"/>
                </a:solidFill>
                <a:latin typeface="Lucida Console" pitchFamily="49" charset="0"/>
              </a:rPr>
              <a:t>1 one  [1] (1,)</a:t>
            </a:r>
          </a:p>
          <a:p>
            <a:pPr>
              <a:lnSpc>
                <a:spcPct val="92000"/>
              </a:lnSpc>
              <a:spcBef>
                <a:spcPts val="0"/>
              </a:spcBef>
              <a:buNone/>
            </a:pPr>
            <a:r>
              <a:rPr lang="en-US" sz="2800" dirty="0" smtClean="0">
                <a:solidFill>
                  <a:srgbClr val="FF0000"/>
                </a:solidFill>
                <a:latin typeface="Lucida Console" pitchFamily="49" charset="0"/>
              </a:rPr>
              <a:t>0 zero [1] (0,)</a:t>
            </a:r>
          </a:p>
          <a:p>
            <a:pPr>
              <a:lnSpc>
                <a:spcPct val="92000"/>
              </a:lnSpc>
              <a:spcBef>
                <a:spcPts val="0"/>
              </a:spcBef>
              <a:buNone/>
            </a:pPr>
            <a:r>
              <a:rPr lang="en-US" sz="2800" dirty="0" smtClean="0">
                <a:solidFill>
                  <a:srgbClr val="0070C0"/>
                </a:solidFill>
                <a:latin typeface="Lucida Console" pitchFamily="49" charset="0"/>
              </a:rPr>
              <a:t>%</a:t>
            </a:r>
          </a:p>
        </p:txBody>
      </p:sp>
    </p:spTree>
    <p:extLst>
      <p:ext uri="{BB962C8B-B14F-4D97-AF65-F5344CB8AC3E}">
        <p14:creationId xmlns:p14="http://schemas.microsoft.com/office/powerpoint/2010/main" val="30797181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70C0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7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0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70C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3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4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3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8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1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" y="152400"/>
            <a:ext cx="9729788" cy="838200"/>
          </a:xfrm>
        </p:spPr>
        <p:txBody>
          <a:bodyPr/>
          <a:lstStyle/>
          <a:p>
            <a:r>
              <a:rPr lang="en-US" dirty="0" smtClean="0">
                <a:solidFill>
                  <a:srgbClr val="0070C0"/>
                </a:solidFill>
              </a:rPr>
              <a:t>Sidebar: Consider </a:t>
            </a:r>
            <a:r>
              <a:rPr lang="en-US" dirty="0">
                <a:solidFill>
                  <a:srgbClr val="0070C0"/>
                </a:solidFill>
              </a:rPr>
              <a:t>the following program…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3692" y="954763"/>
            <a:ext cx="9614202" cy="5847108"/>
          </a:xfrm>
        </p:spPr>
        <p:txBody>
          <a:bodyPr>
            <a:noAutofit/>
          </a:bodyPr>
          <a:lstStyle/>
          <a:p>
            <a:pPr>
              <a:lnSpc>
                <a:spcPct val="92000"/>
              </a:lnSpc>
              <a:spcBef>
                <a:spcPts val="0"/>
              </a:spcBef>
              <a:buNone/>
            </a:pPr>
            <a:r>
              <a:rPr lang="en-US" sz="2800" dirty="0">
                <a:solidFill>
                  <a:srgbClr val="A6A6A6"/>
                </a:solidFill>
                <a:latin typeface="Lucida Console" pitchFamily="49" charset="0"/>
              </a:rPr>
              <a:t>% cat test.py</a:t>
            </a:r>
          </a:p>
          <a:p>
            <a:pPr>
              <a:lnSpc>
                <a:spcPct val="92000"/>
              </a:lnSpc>
              <a:spcBef>
                <a:spcPts val="0"/>
              </a:spcBef>
              <a:buNone/>
            </a:pPr>
            <a:r>
              <a:rPr lang="en-US" sz="2800" dirty="0">
                <a:solidFill>
                  <a:srgbClr val="A6A6A6"/>
                </a:solidFill>
                <a:latin typeface="Lucida Console" pitchFamily="49" charset="0"/>
              </a:rPr>
              <a:t>a=0</a:t>
            </a:r>
          </a:p>
          <a:p>
            <a:pPr>
              <a:lnSpc>
                <a:spcPct val="92000"/>
              </a:lnSpc>
              <a:spcBef>
                <a:spcPts val="0"/>
              </a:spcBef>
              <a:buNone/>
            </a:pPr>
            <a:r>
              <a:rPr lang="en-US" sz="2800" dirty="0">
                <a:solidFill>
                  <a:srgbClr val="A6A6A6"/>
                </a:solidFill>
                <a:latin typeface="Lucida Console" pitchFamily="49" charset="0"/>
              </a:rPr>
              <a:t>b="zero"</a:t>
            </a:r>
          </a:p>
          <a:p>
            <a:pPr>
              <a:lnSpc>
                <a:spcPct val="92000"/>
              </a:lnSpc>
              <a:spcBef>
                <a:spcPts val="0"/>
              </a:spcBef>
              <a:buNone/>
            </a:pPr>
            <a:r>
              <a:rPr 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itchFamily="49" charset="0"/>
              </a:rPr>
              <a:t>c=</a:t>
            </a:r>
            <a:r>
              <a:rPr lang="en-US" sz="2800" dirty="0">
                <a:solidFill>
                  <a:srgbClr val="FF0000"/>
                </a:solidFill>
                <a:latin typeface="Lucida Console" pitchFamily="49" charset="0"/>
              </a:rPr>
              <a:t>[0]</a:t>
            </a:r>
          </a:p>
          <a:p>
            <a:pPr>
              <a:lnSpc>
                <a:spcPct val="92000"/>
              </a:lnSpc>
              <a:spcBef>
                <a:spcPts val="0"/>
              </a:spcBef>
              <a:buNone/>
            </a:pPr>
            <a:r>
              <a:rPr lang="en-US" sz="2800" dirty="0">
                <a:solidFill>
                  <a:srgbClr val="A6A6A6"/>
                </a:solidFill>
                <a:latin typeface="Lucida Console" pitchFamily="49" charset="0"/>
              </a:rPr>
              <a:t>d=(0</a:t>
            </a:r>
            <a:r>
              <a:rPr lang="en-US" sz="2800" dirty="0" smtClean="0">
                <a:solidFill>
                  <a:srgbClr val="A6A6A6"/>
                </a:solidFill>
                <a:latin typeface="Lucida Console" pitchFamily="49" charset="0"/>
              </a:rPr>
              <a:t>,)</a:t>
            </a:r>
            <a:endParaRPr lang="en-US" sz="2800" dirty="0">
              <a:solidFill>
                <a:srgbClr val="A6A6A6"/>
              </a:solidFill>
              <a:latin typeface="Lucida Console" pitchFamily="49" charset="0"/>
            </a:endParaRPr>
          </a:p>
          <a:p>
            <a:pPr>
              <a:lnSpc>
                <a:spcPct val="92000"/>
              </a:lnSpc>
              <a:spcBef>
                <a:spcPts val="0"/>
              </a:spcBef>
              <a:buNone/>
            </a:pPr>
            <a:r>
              <a:rPr lang="en-US" sz="2800" dirty="0" smtClean="0">
                <a:solidFill>
                  <a:srgbClr val="A6A6A6"/>
                </a:solidFill>
                <a:latin typeface="Lucida Console" pitchFamily="49" charset="0"/>
              </a:rPr>
              <a:t>print(</a:t>
            </a:r>
            <a:r>
              <a:rPr lang="en-US" sz="2800" dirty="0" err="1" smtClean="0">
                <a:solidFill>
                  <a:srgbClr val="A6A6A6"/>
                </a:solidFill>
                <a:latin typeface="Lucida Console" pitchFamily="49" charset="0"/>
              </a:rPr>
              <a:t>a,b,</a:t>
            </a:r>
            <a:r>
              <a:rPr lang="en-US" sz="2800" dirty="0" err="1" smtClean="0">
                <a:solidFill>
                  <a:srgbClr val="FF0000"/>
                </a:solidFill>
                <a:latin typeface="Lucida Console" pitchFamily="49" charset="0"/>
              </a:rPr>
              <a:t>c</a:t>
            </a:r>
            <a:r>
              <a:rPr lang="en-US" sz="2800" dirty="0" err="1" smtClean="0">
                <a:solidFill>
                  <a:srgbClr val="A6A6A6"/>
                </a:solidFill>
                <a:latin typeface="Lucida Console" pitchFamily="49" charset="0"/>
              </a:rPr>
              <a:t>,d</a:t>
            </a:r>
            <a:r>
              <a:rPr lang="en-US" sz="2800" dirty="0" smtClean="0">
                <a:solidFill>
                  <a:srgbClr val="A6A6A6"/>
                </a:solidFill>
                <a:latin typeface="Lucida Console" pitchFamily="49" charset="0"/>
              </a:rPr>
              <a:t>)</a:t>
            </a:r>
            <a:endParaRPr lang="en-US" sz="2800" dirty="0">
              <a:solidFill>
                <a:srgbClr val="A6A6A6"/>
              </a:solidFill>
              <a:latin typeface="Lucida Console" pitchFamily="49" charset="0"/>
            </a:endParaRPr>
          </a:p>
          <a:p>
            <a:pPr>
              <a:lnSpc>
                <a:spcPct val="92000"/>
              </a:lnSpc>
              <a:spcBef>
                <a:spcPts val="0"/>
              </a:spcBef>
              <a:buNone/>
            </a:pPr>
            <a:r>
              <a:rPr lang="en-US" sz="2800" dirty="0" smtClean="0">
                <a:solidFill>
                  <a:srgbClr val="A6A6A6"/>
                </a:solidFill>
                <a:latin typeface="Lucida Console" pitchFamily="49" charset="0"/>
              </a:rPr>
              <a:t>w=</a:t>
            </a:r>
            <a:r>
              <a:rPr lang="en-US" sz="2800" dirty="0" err="1" smtClean="0">
                <a:solidFill>
                  <a:srgbClr val="A6A6A6"/>
                </a:solidFill>
                <a:latin typeface="Lucida Console" pitchFamily="49" charset="0"/>
              </a:rPr>
              <a:t>a;x</a:t>
            </a:r>
            <a:r>
              <a:rPr lang="en-US" sz="2800" dirty="0" smtClean="0">
                <a:solidFill>
                  <a:srgbClr val="A6A6A6"/>
                </a:solidFill>
                <a:latin typeface="Lucida Console" pitchFamily="49" charset="0"/>
              </a:rPr>
              <a:t>=</a:t>
            </a:r>
            <a:r>
              <a:rPr lang="en-US" sz="2800" dirty="0" err="1" smtClean="0">
                <a:solidFill>
                  <a:srgbClr val="A6A6A6"/>
                </a:solidFill>
                <a:latin typeface="Lucida Console" pitchFamily="49" charset="0"/>
              </a:rPr>
              <a:t>b;</a:t>
            </a:r>
            <a:r>
              <a:rPr lang="en-US" sz="2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itchFamily="49" charset="0"/>
              </a:rPr>
              <a:t>y</a:t>
            </a:r>
            <a:r>
              <a:rPr lang="en-US" sz="2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itchFamily="49" charset="0"/>
              </a:rPr>
              <a:t>=</a:t>
            </a:r>
            <a:r>
              <a:rPr lang="en-US" sz="2800" dirty="0" err="1" smtClean="0">
                <a:solidFill>
                  <a:srgbClr val="FF0000"/>
                </a:solidFill>
                <a:latin typeface="Lucida Console" pitchFamily="49" charset="0"/>
              </a:rPr>
              <a:t>c</a:t>
            </a:r>
            <a:r>
              <a:rPr lang="en-US" sz="2800" dirty="0" err="1" smtClean="0">
                <a:solidFill>
                  <a:srgbClr val="A6A6A6"/>
                </a:solidFill>
                <a:latin typeface="Lucida Console" pitchFamily="49" charset="0"/>
              </a:rPr>
              <a:t>;z</a:t>
            </a:r>
            <a:r>
              <a:rPr lang="en-US" sz="2800" dirty="0" smtClean="0">
                <a:solidFill>
                  <a:srgbClr val="A6A6A6"/>
                </a:solidFill>
                <a:latin typeface="Lucida Console" pitchFamily="49" charset="0"/>
              </a:rPr>
              <a:t>=d</a:t>
            </a:r>
            <a:endParaRPr lang="en-US" sz="2800" dirty="0">
              <a:solidFill>
                <a:srgbClr val="A6A6A6"/>
              </a:solidFill>
              <a:latin typeface="Lucida Console" pitchFamily="49" charset="0"/>
            </a:endParaRPr>
          </a:p>
          <a:p>
            <a:pPr>
              <a:lnSpc>
                <a:spcPct val="92000"/>
              </a:lnSpc>
              <a:spcBef>
                <a:spcPts val="0"/>
              </a:spcBef>
              <a:buNone/>
            </a:pPr>
            <a:r>
              <a:rPr lang="en-US" sz="2800" spc="-28" dirty="0" smtClean="0">
                <a:solidFill>
                  <a:srgbClr val="A6A6A6"/>
                </a:solidFill>
                <a:latin typeface="Lucida Console" pitchFamily="49" charset="0"/>
              </a:rPr>
              <a:t>w=1;x="one</a:t>
            </a:r>
            <a:r>
              <a:rPr lang="en-US" sz="2800" spc="-160" dirty="0" smtClean="0">
                <a:solidFill>
                  <a:srgbClr val="A6A6A6"/>
                </a:solidFill>
                <a:latin typeface="Lucida Console" pitchFamily="49" charset="0"/>
              </a:rPr>
              <a:t> "</a:t>
            </a:r>
            <a:r>
              <a:rPr lang="en-US" sz="2800" spc="-28" dirty="0" smtClean="0">
                <a:solidFill>
                  <a:srgbClr val="A6A6A6"/>
                </a:solidFill>
                <a:latin typeface="Lucida Console" pitchFamily="49" charset="0"/>
              </a:rPr>
              <a:t>;</a:t>
            </a:r>
            <a:r>
              <a:rPr lang="en-US" sz="2800" spc="-28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itchFamily="49" charset="0"/>
              </a:rPr>
              <a:t>y[0]=</a:t>
            </a:r>
            <a:r>
              <a:rPr lang="en-US" sz="2800" spc="-28" dirty="0" smtClean="0">
                <a:solidFill>
                  <a:srgbClr val="00B050"/>
                </a:solidFill>
                <a:latin typeface="Lucida Console" pitchFamily="49" charset="0"/>
              </a:rPr>
              <a:t>1</a:t>
            </a:r>
            <a:r>
              <a:rPr lang="en-US" sz="2800" spc="-28" dirty="0" smtClean="0">
                <a:solidFill>
                  <a:srgbClr val="A6A6A6"/>
                </a:solidFill>
                <a:latin typeface="Lucida Console" pitchFamily="49" charset="0"/>
              </a:rPr>
              <a:t>;z</a:t>
            </a:r>
            <a:r>
              <a:rPr lang="en-US" sz="2800" spc="-150" dirty="0" smtClean="0">
                <a:solidFill>
                  <a:srgbClr val="A6A6A6"/>
                </a:solidFill>
                <a:latin typeface="Lucida Console" pitchFamily="49" charset="0"/>
              </a:rPr>
              <a:t>=(</a:t>
            </a:r>
            <a:r>
              <a:rPr lang="en-US" sz="2800" spc="-150" dirty="0">
                <a:solidFill>
                  <a:srgbClr val="A6A6A6"/>
                </a:solidFill>
                <a:latin typeface="Lucida Console" pitchFamily="49" charset="0"/>
              </a:rPr>
              <a:t>1</a:t>
            </a:r>
            <a:r>
              <a:rPr lang="en-US" sz="2800" spc="-150" dirty="0" smtClean="0">
                <a:solidFill>
                  <a:srgbClr val="A6A6A6"/>
                </a:solidFill>
                <a:latin typeface="Lucida Console" pitchFamily="49" charset="0"/>
              </a:rPr>
              <a:t>,)</a:t>
            </a:r>
            <a:r>
              <a:rPr lang="en-US" sz="2800" spc="-60" dirty="0" smtClean="0">
                <a:solidFill>
                  <a:srgbClr val="A6A6A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#can’t do w[0], y[0] or z[0]</a:t>
            </a:r>
            <a:endParaRPr lang="en-US" sz="2800" spc="-60" dirty="0">
              <a:solidFill>
                <a:srgbClr val="A6A6A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2000"/>
              </a:lnSpc>
              <a:spcBef>
                <a:spcPts val="0"/>
              </a:spcBef>
              <a:buNone/>
            </a:pPr>
            <a:r>
              <a:rPr lang="en-US" sz="2800" dirty="0" smtClean="0">
                <a:solidFill>
                  <a:srgbClr val="A6A6A6"/>
                </a:solidFill>
                <a:latin typeface="Lucida Console" pitchFamily="49" charset="0"/>
              </a:rPr>
              <a:t>print(</a:t>
            </a:r>
            <a:r>
              <a:rPr lang="en-US" sz="2800" dirty="0" err="1" smtClean="0">
                <a:solidFill>
                  <a:srgbClr val="A6A6A6"/>
                </a:solidFill>
                <a:latin typeface="Lucida Console" pitchFamily="49" charset="0"/>
              </a:rPr>
              <a:t>w,x,</a:t>
            </a:r>
            <a:r>
              <a:rPr lang="en-US" sz="2800" dirty="0" err="1" smtClean="0">
                <a:solidFill>
                  <a:srgbClr val="00B050"/>
                </a:solidFill>
                <a:latin typeface="Lucida Console" pitchFamily="49" charset="0"/>
              </a:rPr>
              <a:t>y</a:t>
            </a:r>
            <a:r>
              <a:rPr lang="en-US" sz="2800" dirty="0" err="1" smtClean="0">
                <a:solidFill>
                  <a:srgbClr val="A6A6A6"/>
                </a:solidFill>
                <a:latin typeface="Lucida Console" pitchFamily="49" charset="0"/>
              </a:rPr>
              <a:t>,z</a:t>
            </a:r>
            <a:r>
              <a:rPr lang="en-US" sz="2800" dirty="0" smtClean="0">
                <a:solidFill>
                  <a:srgbClr val="A6A6A6"/>
                </a:solidFill>
                <a:latin typeface="Lucida Console" pitchFamily="49" charset="0"/>
              </a:rPr>
              <a:t>)</a:t>
            </a:r>
            <a:endParaRPr lang="en-US" sz="2800" dirty="0">
              <a:solidFill>
                <a:srgbClr val="A6A6A6"/>
              </a:solidFill>
              <a:latin typeface="Lucida Console" pitchFamily="49" charset="0"/>
            </a:endParaRPr>
          </a:p>
          <a:p>
            <a:pPr>
              <a:lnSpc>
                <a:spcPct val="92000"/>
              </a:lnSpc>
              <a:spcBef>
                <a:spcPts val="0"/>
              </a:spcBef>
              <a:buNone/>
            </a:pPr>
            <a:r>
              <a:rPr lang="en-US" sz="2800" dirty="0" smtClean="0">
                <a:solidFill>
                  <a:srgbClr val="A6A6A6"/>
                </a:solidFill>
                <a:latin typeface="Lucida Console" pitchFamily="49" charset="0"/>
              </a:rPr>
              <a:t>print(</a:t>
            </a:r>
            <a:r>
              <a:rPr lang="en-US" sz="2800" dirty="0" err="1" smtClean="0">
                <a:solidFill>
                  <a:srgbClr val="A6A6A6"/>
                </a:solidFill>
                <a:latin typeface="Lucida Console" pitchFamily="49" charset="0"/>
              </a:rPr>
              <a:t>a,b,</a:t>
            </a:r>
            <a:r>
              <a:rPr lang="en-US" sz="2800" dirty="0" err="1" smtClean="0">
                <a:solidFill>
                  <a:srgbClr val="00B050"/>
                </a:solidFill>
                <a:latin typeface="Lucida Console" pitchFamily="49" charset="0"/>
              </a:rPr>
              <a:t>c</a:t>
            </a:r>
            <a:r>
              <a:rPr lang="en-US" sz="2800" dirty="0" err="1" smtClean="0">
                <a:solidFill>
                  <a:srgbClr val="A6A6A6"/>
                </a:solidFill>
                <a:latin typeface="Lucida Console" pitchFamily="49" charset="0"/>
              </a:rPr>
              <a:t>,d</a:t>
            </a:r>
            <a:r>
              <a:rPr lang="en-US" sz="2800" dirty="0" smtClean="0">
                <a:solidFill>
                  <a:srgbClr val="A6A6A6"/>
                </a:solidFill>
                <a:latin typeface="Lucida Console" pitchFamily="49" charset="0"/>
              </a:rPr>
              <a:t>)</a:t>
            </a:r>
            <a:endParaRPr lang="en-US" sz="2800" dirty="0">
              <a:solidFill>
                <a:srgbClr val="A6A6A6"/>
              </a:solidFill>
              <a:latin typeface="Lucida Console" pitchFamily="49" charset="0"/>
            </a:endParaRPr>
          </a:p>
          <a:p>
            <a:pPr>
              <a:lnSpc>
                <a:spcPct val="92000"/>
              </a:lnSpc>
              <a:spcBef>
                <a:spcPts val="0"/>
              </a:spcBef>
              <a:buNone/>
            </a:pPr>
            <a:r>
              <a:rPr lang="en-US" sz="2800" dirty="0">
                <a:solidFill>
                  <a:srgbClr val="A6A6A6"/>
                </a:solidFill>
                <a:latin typeface="Lucida Console" pitchFamily="49" charset="0"/>
              </a:rPr>
              <a:t>% python3  test.py</a:t>
            </a:r>
          </a:p>
          <a:p>
            <a:pPr>
              <a:lnSpc>
                <a:spcPct val="92000"/>
              </a:lnSpc>
              <a:spcBef>
                <a:spcPts val="0"/>
              </a:spcBef>
              <a:buNone/>
            </a:pPr>
            <a:r>
              <a:rPr lang="en-US" sz="2800" dirty="0" smtClean="0">
                <a:solidFill>
                  <a:srgbClr val="A6A6A6"/>
                </a:solidFill>
                <a:latin typeface="Lucida Console" pitchFamily="49" charset="0"/>
              </a:rPr>
              <a:t>0 zero </a:t>
            </a:r>
            <a:r>
              <a:rPr lang="en-US" sz="2800" dirty="0" smtClean="0">
                <a:solidFill>
                  <a:srgbClr val="FF0000"/>
                </a:solidFill>
                <a:latin typeface="Lucida Console" pitchFamily="49" charset="0"/>
              </a:rPr>
              <a:t>[0]</a:t>
            </a:r>
            <a:r>
              <a:rPr lang="en-US" sz="2800" dirty="0" smtClean="0">
                <a:solidFill>
                  <a:srgbClr val="A6A6A6"/>
                </a:solidFill>
                <a:latin typeface="Lucida Console" pitchFamily="49" charset="0"/>
              </a:rPr>
              <a:t> (0,)</a:t>
            </a:r>
          </a:p>
          <a:p>
            <a:pPr>
              <a:lnSpc>
                <a:spcPct val="92000"/>
              </a:lnSpc>
              <a:spcBef>
                <a:spcPts val="0"/>
              </a:spcBef>
              <a:buNone/>
            </a:pPr>
            <a:r>
              <a:rPr lang="en-US" sz="2800" dirty="0" smtClean="0">
                <a:solidFill>
                  <a:srgbClr val="A6A6A6"/>
                </a:solidFill>
                <a:latin typeface="Lucida Console" pitchFamily="49" charset="0"/>
              </a:rPr>
              <a:t>1 one  </a:t>
            </a:r>
            <a:r>
              <a:rPr lang="en-US" sz="2800" dirty="0" smtClean="0">
                <a:solidFill>
                  <a:srgbClr val="00B050"/>
                </a:solidFill>
                <a:latin typeface="Lucida Console" pitchFamily="49" charset="0"/>
              </a:rPr>
              <a:t>[1]</a:t>
            </a:r>
            <a:r>
              <a:rPr lang="en-US" sz="2800" dirty="0" smtClean="0">
                <a:solidFill>
                  <a:srgbClr val="A6A6A6"/>
                </a:solidFill>
                <a:latin typeface="Lucida Console" pitchFamily="49" charset="0"/>
              </a:rPr>
              <a:t> (1,)</a:t>
            </a:r>
          </a:p>
          <a:p>
            <a:pPr>
              <a:lnSpc>
                <a:spcPct val="92000"/>
              </a:lnSpc>
              <a:spcBef>
                <a:spcPts val="0"/>
              </a:spcBef>
              <a:buNone/>
            </a:pPr>
            <a:r>
              <a:rPr lang="en-US" sz="2800" dirty="0" smtClean="0">
                <a:solidFill>
                  <a:srgbClr val="A6A6A6"/>
                </a:solidFill>
                <a:latin typeface="Lucida Console" pitchFamily="49" charset="0"/>
              </a:rPr>
              <a:t>0 zero </a:t>
            </a:r>
            <a:r>
              <a:rPr lang="en-US" sz="2800" dirty="0" smtClean="0">
                <a:solidFill>
                  <a:srgbClr val="00B050"/>
                </a:solidFill>
                <a:latin typeface="Lucida Console" pitchFamily="49" charset="0"/>
              </a:rPr>
              <a:t>[1]</a:t>
            </a:r>
            <a:r>
              <a:rPr lang="en-US" sz="2800" dirty="0" smtClean="0">
                <a:solidFill>
                  <a:srgbClr val="A6A6A6"/>
                </a:solidFill>
                <a:latin typeface="Lucida Console" pitchFamily="49" charset="0"/>
              </a:rPr>
              <a:t> (0,)</a:t>
            </a:r>
          </a:p>
          <a:p>
            <a:pPr>
              <a:lnSpc>
                <a:spcPct val="92000"/>
              </a:lnSpc>
              <a:spcBef>
                <a:spcPts val="0"/>
              </a:spcBef>
              <a:buNone/>
            </a:pPr>
            <a:r>
              <a:rPr lang="en-US" sz="2800" dirty="0" smtClean="0">
                <a:solidFill>
                  <a:srgbClr val="A6A6A6"/>
                </a:solidFill>
                <a:latin typeface="Lucida Console" pitchFamily="49" charset="0"/>
              </a:rPr>
              <a:t>%</a:t>
            </a:r>
          </a:p>
        </p:txBody>
      </p:sp>
    </p:spTree>
    <p:extLst>
      <p:ext uri="{BB962C8B-B14F-4D97-AF65-F5344CB8AC3E}">
        <p14:creationId xmlns:p14="http://schemas.microsoft.com/office/powerpoint/2010/main" val="9025853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3692" y="954763"/>
            <a:ext cx="9614202" cy="5847108"/>
          </a:xfrm>
        </p:spPr>
        <p:txBody>
          <a:bodyPr>
            <a:noAutofit/>
          </a:bodyPr>
          <a:lstStyle/>
          <a:p>
            <a:pPr>
              <a:lnSpc>
                <a:spcPct val="92000"/>
              </a:lnSpc>
              <a:spcBef>
                <a:spcPts val="0"/>
              </a:spcBef>
              <a:buNone/>
            </a:pPr>
            <a:r>
              <a:rPr lang="en-US" sz="2800" dirty="0">
                <a:solidFill>
                  <a:srgbClr val="A6A6A6"/>
                </a:solidFill>
                <a:latin typeface="Lucida Console" pitchFamily="49" charset="0"/>
              </a:rPr>
              <a:t>% cat test.py</a:t>
            </a:r>
          </a:p>
          <a:p>
            <a:pPr>
              <a:lnSpc>
                <a:spcPct val="92000"/>
              </a:lnSpc>
              <a:spcBef>
                <a:spcPts val="0"/>
              </a:spcBef>
              <a:buNone/>
            </a:pPr>
            <a:r>
              <a:rPr lang="en-US" sz="2800" dirty="0">
                <a:solidFill>
                  <a:srgbClr val="A6A6A6"/>
                </a:solidFill>
                <a:latin typeface="Lucida Console" pitchFamily="49" charset="0"/>
              </a:rPr>
              <a:t>a=0</a:t>
            </a:r>
          </a:p>
          <a:p>
            <a:pPr>
              <a:lnSpc>
                <a:spcPct val="92000"/>
              </a:lnSpc>
              <a:spcBef>
                <a:spcPts val="0"/>
              </a:spcBef>
              <a:buNone/>
            </a:pPr>
            <a:r>
              <a:rPr lang="en-US" sz="2800" dirty="0">
                <a:solidFill>
                  <a:srgbClr val="A6A6A6"/>
                </a:solidFill>
                <a:latin typeface="Lucida Console" pitchFamily="49" charset="0"/>
              </a:rPr>
              <a:t>b="zero"</a:t>
            </a:r>
          </a:p>
          <a:p>
            <a:pPr>
              <a:lnSpc>
                <a:spcPct val="92000"/>
              </a:lnSpc>
              <a:spcBef>
                <a:spcPts val="0"/>
              </a:spcBef>
              <a:buNone/>
            </a:pPr>
            <a:r>
              <a:rPr 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itchFamily="49" charset="0"/>
              </a:rPr>
              <a:t>c=</a:t>
            </a:r>
            <a:r>
              <a:rPr lang="en-US" sz="2800" dirty="0">
                <a:solidFill>
                  <a:srgbClr val="FF0000"/>
                </a:solidFill>
                <a:latin typeface="Lucida Console" pitchFamily="49" charset="0"/>
              </a:rPr>
              <a:t>[0]</a:t>
            </a:r>
          </a:p>
          <a:p>
            <a:pPr>
              <a:lnSpc>
                <a:spcPct val="92000"/>
              </a:lnSpc>
              <a:spcBef>
                <a:spcPts val="0"/>
              </a:spcBef>
              <a:buNone/>
            </a:pPr>
            <a:r>
              <a:rPr lang="en-US" sz="2800" dirty="0">
                <a:solidFill>
                  <a:srgbClr val="A6A6A6"/>
                </a:solidFill>
                <a:latin typeface="Lucida Console" pitchFamily="49" charset="0"/>
              </a:rPr>
              <a:t>d=(0</a:t>
            </a:r>
            <a:r>
              <a:rPr lang="en-US" sz="2800" dirty="0" smtClean="0">
                <a:solidFill>
                  <a:srgbClr val="A6A6A6"/>
                </a:solidFill>
                <a:latin typeface="Lucida Console" pitchFamily="49" charset="0"/>
              </a:rPr>
              <a:t>,)</a:t>
            </a:r>
            <a:endParaRPr lang="en-US" sz="2800" dirty="0">
              <a:solidFill>
                <a:srgbClr val="A6A6A6"/>
              </a:solidFill>
              <a:latin typeface="Lucida Console" pitchFamily="49" charset="0"/>
            </a:endParaRPr>
          </a:p>
          <a:p>
            <a:pPr>
              <a:lnSpc>
                <a:spcPct val="92000"/>
              </a:lnSpc>
              <a:spcBef>
                <a:spcPts val="0"/>
              </a:spcBef>
              <a:buNone/>
            </a:pPr>
            <a:r>
              <a:rPr lang="en-US" sz="2800" dirty="0" smtClean="0">
                <a:solidFill>
                  <a:srgbClr val="A6A6A6"/>
                </a:solidFill>
                <a:latin typeface="Lucida Console" pitchFamily="49" charset="0"/>
              </a:rPr>
              <a:t>print(</a:t>
            </a:r>
            <a:r>
              <a:rPr lang="en-US" sz="2800" dirty="0" err="1" smtClean="0">
                <a:solidFill>
                  <a:srgbClr val="A6A6A6"/>
                </a:solidFill>
                <a:latin typeface="Lucida Console" pitchFamily="49" charset="0"/>
              </a:rPr>
              <a:t>a,b,</a:t>
            </a:r>
            <a:r>
              <a:rPr lang="en-US" sz="2800" dirty="0" err="1" smtClean="0">
                <a:solidFill>
                  <a:srgbClr val="FF0000"/>
                </a:solidFill>
                <a:latin typeface="Lucida Console" pitchFamily="49" charset="0"/>
              </a:rPr>
              <a:t>c</a:t>
            </a:r>
            <a:r>
              <a:rPr lang="en-US" sz="2800" dirty="0" err="1" smtClean="0">
                <a:solidFill>
                  <a:srgbClr val="A6A6A6"/>
                </a:solidFill>
                <a:latin typeface="Lucida Console" pitchFamily="49" charset="0"/>
              </a:rPr>
              <a:t>,d</a:t>
            </a:r>
            <a:r>
              <a:rPr lang="en-US" sz="2800" dirty="0" smtClean="0">
                <a:solidFill>
                  <a:srgbClr val="A6A6A6"/>
                </a:solidFill>
                <a:latin typeface="Lucida Console" pitchFamily="49" charset="0"/>
              </a:rPr>
              <a:t>)</a:t>
            </a:r>
            <a:endParaRPr lang="en-US" sz="2800" dirty="0">
              <a:solidFill>
                <a:srgbClr val="A6A6A6"/>
              </a:solidFill>
              <a:latin typeface="Lucida Console" pitchFamily="49" charset="0"/>
            </a:endParaRPr>
          </a:p>
          <a:p>
            <a:pPr>
              <a:lnSpc>
                <a:spcPct val="92000"/>
              </a:lnSpc>
              <a:spcBef>
                <a:spcPts val="0"/>
              </a:spcBef>
              <a:buNone/>
            </a:pPr>
            <a:r>
              <a:rPr lang="en-US" sz="2800" dirty="0" smtClean="0">
                <a:solidFill>
                  <a:srgbClr val="A6A6A6"/>
                </a:solidFill>
                <a:latin typeface="Lucida Console" pitchFamily="49" charset="0"/>
              </a:rPr>
              <a:t>w=</a:t>
            </a:r>
            <a:r>
              <a:rPr lang="en-US" sz="2800" dirty="0" err="1" smtClean="0">
                <a:solidFill>
                  <a:srgbClr val="A6A6A6"/>
                </a:solidFill>
                <a:latin typeface="Lucida Console" pitchFamily="49" charset="0"/>
              </a:rPr>
              <a:t>a;x</a:t>
            </a:r>
            <a:r>
              <a:rPr lang="en-US" sz="2800" dirty="0" smtClean="0">
                <a:solidFill>
                  <a:srgbClr val="A6A6A6"/>
                </a:solidFill>
                <a:latin typeface="Lucida Console" pitchFamily="49" charset="0"/>
              </a:rPr>
              <a:t>=</a:t>
            </a:r>
            <a:r>
              <a:rPr lang="en-US" sz="2800" dirty="0" err="1" smtClean="0">
                <a:solidFill>
                  <a:srgbClr val="A6A6A6"/>
                </a:solidFill>
                <a:latin typeface="Lucida Console" pitchFamily="49" charset="0"/>
              </a:rPr>
              <a:t>b;</a:t>
            </a:r>
            <a:r>
              <a:rPr lang="en-US" sz="2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itchFamily="49" charset="0"/>
              </a:rPr>
              <a:t>y</a:t>
            </a:r>
            <a:r>
              <a:rPr lang="en-US" sz="2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itchFamily="49" charset="0"/>
              </a:rPr>
              <a:t>=</a:t>
            </a:r>
            <a:r>
              <a:rPr lang="en-US" sz="2800" dirty="0" err="1" smtClean="0">
                <a:solidFill>
                  <a:srgbClr val="FF0000"/>
                </a:solidFill>
                <a:latin typeface="Lucida Console" pitchFamily="49" charset="0"/>
              </a:rPr>
              <a:t>c</a:t>
            </a:r>
            <a:r>
              <a:rPr lang="en-US" sz="2800" dirty="0" err="1" smtClean="0">
                <a:solidFill>
                  <a:srgbClr val="A6A6A6"/>
                </a:solidFill>
                <a:latin typeface="Lucida Console" pitchFamily="49" charset="0"/>
              </a:rPr>
              <a:t>;z</a:t>
            </a:r>
            <a:r>
              <a:rPr lang="en-US" sz="2800" dirty="0" smtClean="0">
                <a:solidFill>
                  <a:srgbClr val="A6A6A6"/>
                </a:solidFill>
                <a:latin typeface="Lucida Console" pitchFamily="49" charset="0"/>
              </a:rPr>
              <a:t>=d</a:t>
            </a:r>
            <a:endParaRPr lang="en-US" sz="2800" dirty="0">
              <a:solidFill>
                <a:srgbClr val="A6A6A6"/>
              </a:solidFill>
              <a:latin typeface="Lucida Console" pitchFamily="49" charset="0"/>
            </a:endParaRPr>
          </a:p>
          <a:p>
            <a:pPr>
              <a:lnSpc>
                <a:spcPct val="92000"/>
              </a:lnSpc>
              <a:spcBef>
                <a:spcPts val="0"/>
              </a:spcBef>
              <a:buNone/>
            </a:pPr>
            <a:r>
              <a:rPr lang="en-US" sz="2800" spc="-28" dirty="0" smtClean="0">
                <a:solidFill>
                  <a:srgbClr val="A6A6A6"/>
                </a:solidFill>
                <a:latin typeface="Lucida Console" pitchFamily="49" charset="0"/>
              </a:rPr>
              <a:t>w=1;x="one</a:t>
            </a:r>
            <a:r>
              <a:rPr lang="en-US" sz="2800" spc="-160" dirty="0" smtClean="0">
                <a:solidFill>
                  <a:srgbClr val="A6A6A6"/>
                </a:solidFill>
                <a:latin typeface="Lucida Console" pitchFamily="49" charset="0"/>
              </a:rPr>
              <a:t> "</a:t>
            </a:r>
            <a:r>
              <a:rPr lang="en-US" sz="2800" spc="-28" dirty="0" smtClean="0">
                <a:solidFill>
                  <a:srgbClr val="A6A6A6"/>
                </a:solidFill>
                <a:latin typeface="Lucida Console" pitchFamily="49" charset="0"/>
              </a:rPr>
              <a:t>;</a:t>
            </a:r>
            <a:r>
              <a:rPr lang="en-US" sz="2800" spc="-28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itchFamily="49" charset="0"/>
              </a:rPr>
              <a:t>y</a:t>
            </a:r>
            <a:r>
              <a:rPr lang="en-US" sz="2800" spc="-28" dirty="0" smtClean="0">
                <a:solidFill>
                  <a:schemeClr val="bg1"/>
                </a:solidFill>
                <a:latin typeface="Lucida Console" pitchFamily="49" charset="0"/>
              </a:rPr>
              <a:t>[</a:t>
            </a:r>
            <a:r>
              <a:rPr lang="en-US" sz="2800" spc="-28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itchFamily="49" charset="0"/>
              </a:rPr>
              <a:t>=</a:t>
            </a:r>
            <a:r>
              <a:rPr lang="en-US" sz="2800" spc="-28" dirty="0" smtClean="0">
                <a:solidFill>
                  <a:srgbClr val="00B050"/>
                </a:solidFill>
                <a:latin typeface="Lucida Console" pitchFamily="49" charset="0"/>
              </a:rPr>
              <a:t>[1]</a:t>
            </a:r>
            <a:r>
              <a:rPr lang="en-US" sz="2800" spc="-28" dirty="0" smtClean="0">
                <a:solidFill>
                  <a:srgbClr val="A6A6A6"/>
                </a:solidFill>
                <a:latin typeface="Lucida Console" pitchFamily="49" charset="0"/>
              </a:rPr>
              <a:t>;z</a:t>
            </a:r>
            <a:r>
              <a:rPr lang="en-US" sz="2800" spc="-150" dirty="0" smtClean="0">
                <a:solidFill>
                  <a:srgbClr val="A6A6A6"/>
                </a:solidFill>
                <a:latin typeface="Lucida Console" pitchFamily="49" charset="0"/>
              </a:rPr>
              <a:t>=(</a:t>
            </a:r>
            <a:r>
              <a:rPr lang="en-US" sz="2800" spc="-150" dirty="0">
                <a:solidFill>
                  <a:srgbClr val="A6A6A6"/>
                </a:solidFill>
                <a:latin typeface="Lucida Console" pitchFamily="49" charset="0"/>
              </a:rPr>
              <a:t>1</a:t>
            </a:r>
            <a:r>
              <a:rPr lang="en-US" sz="2800" spc="-150" dirty="0" smtClean="0">
                <a:solidFill>
                  <a:srgbClr val="A6A6A6"/>
                </a:solidFill>
                <a:latin typeface="Lucida Console" pitchFamily="49" charset="0"/>
              </a:rPr>
              <a:t>,)</a:t>
            </a:r>
            <a:r>
              <a:rPr lang="en-US" sz="2800" spc="-60" dirty="0" smtClean="0">
                <a:solidFill>
                  <a:srgbClr val="A6A6A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#can’t do w[0], y[0] or z[0]</a:t>
            </a:r>
            <a:endParaRPr lang="en-US" sz="2800" spc="-60" dirty="0">
              <a:solidFill>
                <a:srgbClr val="A6A6A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2000"/>
              </a:lnSpc>
              <a:spcBef>
                <a:spcPts val="0"/>
              </a:spcBef>
              <a:buNone/>
            </a:pPr>
            <a:r>
              <a:rPr lang="en-US" sz="2800" dirty="0" smtClean="0">
                <a:solidFill>
                  <a:srgbClr val="A6A6A6"/>
                </a:solidFill>
                <a:latin typeface="Lucida Console" pitchFamily="49" charset="0"/>
              </a:rPr>
              <a:t>print(</a:t>
            </a:r>
            <a:r>
              <a:rPr lang="en-US" sz="2800" dirty="0" err="1" smtClean="0">
                <a:solidFill>
                  <a:srgbClr val="A6A6A6"/>
                </a:solidFill>
                <a:latin typeface="Lucida Console" pitchFamily="49" charset="0"/>
              </a:rPr>
              <a:t>w,x,</a:t>
            </a:r>
            <a:r>
              <a:rPr lang="en-US" sz="2800" dirty="0" err="1" smtClean="0">
                <a:solidFill>
                  <a:srgbClr val="00B050"/>
                </a:solidFill>
                <a:latin typeface="Lucida Console" pitchFamily="49" charset="0"/>
              </a:rPr>
              <a:t>y</a:t>
            </a:r>
            <a:r>
              <a:rPr lang="en-US" sz="2800" dirty="0" err="1" smtClean="0">
                <a:solidFill>
                  <a:srgbClr val="A6A6A6"/>
                </a:solidFill>
                <a:latin typeface="Lucida Console" pitchFamily="49" charset="0"/>
              </a:rPr>
              <a:t>,z</a:t>
            </a:r>
            <a:r>
              <a:rPr lang="en-US" sz="2800" dirty="0" smtClean="0">
                <a:solidFill>
                  <a:srgbClr val="A6A6A6"/>
                </a:solidFill>
                <a:latin typeface="Lucida Console" pitchFamily="49" charset="0"/>
              </a:rPr>
              <a:t>)</a:t>
            </a:r>
            <a:endParaRPr lang="en-US" sz="2800" dirty="0">
              <a:solidFill>
                <a:srgbClr val="A6A6A6"/>
              </a:solidFill>
              <a:latin typeface="Lucida Console" pitchFamily="49" charset="0"/>
            </a:endParaRPr>
          </a:p>
          <a:p>
            <a:pPr>
              <a:lnSpc>
                <a:spcPct val="92000"/>
              </a:lnSpc>
              <a:spcBef>
                <a:spcPts val="0"/>
              </a:spcBef>
              <a:buNone/>
            </a:pPr>
            <a:r>
              <a:rPr lang="en-US" sz="2800" dirty="0" smtClean="0">
                <a:solidFill>
                  <a:srgbClr val="A6A6A6"/>
                </a:solidFill>
                <a:latin typeface="Lucida Console" pitchFamily="49" charset="0"/>
              </a:rPr>
              <a:t>print(</a:t>
            </a:r>
            <a:r>
              <a:rPr lang="en-US" sz="2800" dirty="0" err="1" smtClean="0">
                <a:solidFill>
                  <a:srgbClr val="A6A6A6"/>
                </a:solidFill>
                <a:latin typeface="Lucida Console" pitchFamily="49" charset="0"/>
              </a:rPr>
              <a:t>a,b,</a:t>
            </a:r>
            <a:r>
              <a:rPr lang="en-US" sz="2800" dirty="0" err="1" smtClean="0">
                <a:solidFill>
                  <a:srgbClr val="FF0000"/>
                </a:solidFill>
                <a:latin typeface="Lucida Console" pitchFamily="49" charset="0"/>
              </a:rPr>
              <a:t>c</a:t>
            </a:r>
            <a:r>
              <a:rPr lang="en-US" sz="2800" dirty="0" err="1" smtClean="0">
                <a:solidFill>
                  <a:srgbClr val="A6A6A6"/>
                </a:solidFill>
                <a:latin typeface="Lucida Console" pitchFamily="49" charset="0"/>
              </a:rPr>
              <a:t>,d</a:t>
            </a:r>
            <a:r>
              <a:rPr lang="en-US" sz="2800" dirty="0" smtClean="0">
                <a:solidFill>
                  <a:srgbClr val="A6A6A6"/>
                </a:solidFill>
                <a:latin typeface="Lucida Console" pitchFamily="49" charset="0"/>
              </a:rPr>
              <a:t>)</a:t>
            </a:r>
            <a:endParaRPr lang="en-US" sz="2800" dirty="0">
              <a:solidFill>
                <a:srgbClr val="A6A6A6"/>
              </a:solidFill>
              <a:latin typeface="Lucida Console" pitchFamily="49" charset="0"/>
            </a:endParaRPr>
          </a:p>
          <a:p>
            <a:pPr>
              <a:lnSpc>
                <a:spcPct val="92000"/>
              </a:lnSpc>
              <a:spcBef>
                <a:spcPts val="0"/>
              </a:spcBef>
              <a:buNone/>
            </a:pPr>
            <a:r>
              <a:rPr lang="en-US" sz="2800" dirty="0">
                <a:solidFill>
                  <a:srgbClr val="A6A6A6"/>
                </a:solidFill>
                <a:latin typeface="Lucida Console" pitchFamily="49" charset="0"/>
              </a:rPr>
              <a:t>% python3  test.py</a:t>
            </a:r>
          </a:p>
          <a:p>
            <a:pPr>
              <a:lnSpc>
                <a:spcPct val="92000"/>
              </a:lnSpc>
              <a:spcBef>
                <a:spcPts val="0"/>
              </a:spcBef>
              <a:buNone/>
            </a:pPr>
            <a:r>
              <a:rPr lang="en-US" sz="2800" dirty="0" smtClean="0">
                <a:solidFill>
                  <a:srgbClr val="A6A6A6"/>
                </a:solidFill>
                <a:latin typeface="Lucida Console" pitchFamily="49" charset="0"/>
              </a:rPr>
              <a:t>0 zero </a:t>
            </a:r>
            <a:r>
              <a:rPr lang="en-US" sz="2800" dirty="0" smtClean="0">
                <a:solidFill>
                  <a:srgbClr val="FF0000"/>
                </a:solidFill>
                <a:latin typeface="Lucida Console" pitchFamily="49" charset="0"/>
              </a:rPr>
              <a:t>[0]</a:t>
            </a:r>
            <a:r>
              <a:rPr lang="en-US" sz="2800" dirty="0" smtClean="0">
                <a:solidFill>
                  <a:srgbClr val="A6A6A6"/>
                </a:solidFill>
                <a:latin typeface="Lucida Console" pitchFamily="49" charset="0"/>
              </a:rPr>
              <a:t> (0,)</a:t>
            </a:r>
          </a:p>
          <a:p>
            <a:pPr>
              <a:lnSpc>
                <a:spcPct val="92000"/>
              </a:lnSpc>
              <a:spcBef>
                <a:spcPts val="0"/>
              </a:spcBef>
              <a:buNone/>
            </a:pPr>
            <a:r>
              <a:rPr lang="en-US" sz="2800" dirty="0" smtClean="0">
                <a:solidFill>
                  <a:srgbClr val="A6A6A6"/>
                </a:solidFill>
                <a:latin typeface="Lucida Console" pitchFamily="49" charset="0"/>
              </a:rPr>
              <a:t>1 one  </a:t>
            </a:r>
            <a:r>
              <a:rPr lang="en-US" sz="2800" dirty="0" smtClean="0">
                <a:solidFill>
                  <a:srgbClr val="00B050"/>
                </a:solidFill>
                <a:latin typeface="Lucida Console" pitchFamily="49" charset="0"/>
              </a:rPr>
              <a:t>[1]</a:t>
            </a:r>
            <a:r>
              <a:rPr lang="en-US" sz="2800" dirty="0" smtClean="0">
                <a:solidFill>
                  <a:srgbClr val="A6A6A6"/>
                </a:solidFill>
                <a:latin typeface="Lucida Console" pitchFamily="49" charset="0"/>
              </a:rPr>
              <a:t> (1,)</a:t>
            </a:r>
          </a:p>
          <a:p>
            <a:pPr>
              <a:lnSpc>
                <a:spcPct val="92000"/>
              </a:lnSpc>
              <a:spcBef>
                <a:spcPts val="0"/>
              </a:spcBef>
              <a:buNone/>
            </a:pPr>
            <a:r>
              <a:rPr lang="en-US" sz="2800" dirty="0" smtClean="0">
                <a:solidFill>
                  <a:srgbClr val="A6A6A6"/>
                </a:solidFill>
                <a:latin typeface="Lucida Console" pitchFamily="49" charset="0"/>
              </a:rPr>
              <a:t>0 zero </a:t>
            </a:r>
            <a:r>
              <a:rPr lang="en-US" sz="2800" dirty="0" smtClean="0">
                <a:solidFill>
                  <a:srgbClr val="FF0000"/>
                </a:solidFill>
                <a:latin typeface="Lucida Console" pitchFamily="49" charset="0"/>
              </a:rPr>
              <a:t>[0]</a:t>
            </a:r>
            <a:r>
              <a:rPr lang="en-US" sz="2800" dirty="0" smtClean="0">
                <a:solidFill>
                  <a:srgbClr val="A6A6A6"/>
                </a:solidFill>
                <a:latin typeface="Lucida Console" pitchFamily="49" charset="0"/>
              </a:rPr>
              <a:t> (0,)</a:t>
            </a:r>
          </a:p>
          <a:p>
            <a:pPr>
              <a:lnSpc>
                <a:spcPct val="92000"/>
              </a:lnSpc>
              <a:spcBef>
                <a:spcPts val="0"/>
              </a:spcBef>
              <a:buNone/>
            </a:pPr>
            <a:r>
              <a:rPr lang="en-US" sz="2800" dirty="0" smtClean="0">
                <a:solidFill>
                  <a:srgbClr val="A6A6A6"/>
                </a:solidFill>
                <a:latin typeface="Lucida Console" pitchFamily="49" charset="0"/>
              </a:rPr>
              <a:t>%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4102894" y="5334000"/>
            <a:ext cx="3505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729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511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sz="3200" b="1" dirty="0" smtClean="0">
                <a:solidFill>
                  <a:srgbClr val="0070C0"/>
                </a:solidFill>
                <a:latin typeface="Century" panose="02040604050505020304" pitchFamily="18" charset="0"/>
              </a:rPr>
              <a:t>Can you see why the value of c remained as [0]?</a:t>
            </a:r>
            <a:endParaRPr lang="en-US" sz="3200" b="1" i="1" dirty="0">
              <a:solidFill>
                <a:srgbClr val="0070C0"/>
              </a:solidFill>
              <a:latin typeface="Century" panose="02040604050505020304" pitchFamily="18" charset="0"/>
            </a:endParaRPr>
          </a:p>
        </p:txBody>
      </p:sp>
      <p:cxnSp>
        <p:nvCxnSpPr>
          <p:cNvPr id="6" name="Straight Arrow Connector 5"/>
          <p:cNvCxnSpPr/>
          <p:nvPr/>
        </p:nvCxnSpPr>
        <p:spPr>
          <a:xfrm flipH="1">
            <a:off x="2426494" y="6096000"/>
            <a:ext cx="1905000" cy="15240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0" y="89942"/>
            <a:ext cx="9729787" cy="1891258"/>
          </a:xfrm>
          <a:solidFill>
            <a:srgbClr val="FFFFFF">
              <a:alpha val="75000"/>
            </a:srgbClr>
          </a:solidFill>
        </p:spPr>
        <p:txBody>
          <a:bodyPr>
            <a:noAutofit/>
          </a:bodyPr>
          <a:lstStyle/>
          <a:p>
            <a:r>
              <a:rPr lang="en-US" sz="3600" dirty="0">
                <a:solidFill>
                  <a:srgbClr val="0070C0"/>
                </a:solidFill>
              </a:rPr>
              <a:t>But, of </a:t>
            </a:r>
            <a:r>
              <a:rPr lang="en-US" sz="3600" dirty="0" smtClean="0">
                <a:solidFill>
                  <a:srgbClr val="0070C0"/>
                </a:solidFill>
              </a:rPr>
              <a:t>course, the process of total overwriting is not the same process</a:t>
            </a:r>
            <a:br>
              <a:rPr lang="en-US" sz="3600" dirty="0" smtClean="0">
                <a:solidFill>
                  <a:srgbClr val="0070C0"/>
                </a:solidFill>
              </a:rPr>
            </a:br>
            <a:r>
              <a:rPr lang="en-US" sz="3600" dirty="0" smtClean="0">
                <a:solidFill>
                  <a:srgbClr val="0070C0"/>
                </a:solidFill>
              </a:rPr>
              <a:t>as that of updating, so it doesn’t</a:t>
            </a:r>
            <a:br>
              <a:rPr lang="en-US" sz="3600" dirty="0" smtClean="0">
                <a:solidFill>
                  <a:srgbClr val="0070C0"/>
                </a:solidFill>
              </a:rPr>
            </a:br>
            <a:r>
              <a:rPr lang="en-US" sz="3600" dirty="0" smtClean="0">
                <a:solidFill>
                  <a:srgbClr val="0070C0"/>
                </a:solidFill>
              </a:rPr>
              <a:t>affect the original </a:t>
            </a:r>
            <a:r>
              <a:rPr lang="en-US" sz="3600" smtClean="0">
                <a:solidFill>
                  <a:srgbClr val="0070C0"/>
                </a:solidFill>
              </a:rPr>
              <a:t>variable.</a:t>
            </a:r>
            <a:endParaRPr lang="en-US" sz="36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31470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Content Placeholder 2"/>
          <p:cNvSpPr>
            <a:spLocks noGrp="1"/>
          </p:cNvSpPr>
          <p:nvPr>
            <p:ph idx="1"/>
          </p:nvPr>
        </p:nvSpPr>
        <p:spPr>
          <a:xfrm>
            <a:off x="359076" y="1141246"/>
            <a:ext cx="9034803" cy="5225387"/>
          </a:xfrm>
        </p:spPr>
        <p:txBody>
          <a:bodyPr>
            <a:noAutofit/>
          </a:bodyPr>
          <a:lstStyle/>
          <a:p>
            <a:r>
              <a:rPr lang="en-US" altLang="en-US" sz="2935" dirty="0"/>
              <a:t>Assigning a value to a variable does not update it, instead it creates a new variable.</a:t>
            </a:r>
          </a:p>
          <a:p>
            <a:pPr lvl="1"/>
            <a:r>
              <a:rPr lang="en-US" altLang="en-US" sz="2568" dirty="0"/>
              <a:t>If it is the same type (or even if not</a:t>
            </a:r>
            <a:r>
              <a:rPr lang="en-US" altLang="en-US" sz="2568" dirty="0" smtClean="0"/>
              <a:t>) </a:t>
            </a:r>
            <a:r>
              <a:rPr lang="en-US" altLang="en-US" sz="2568" dirty="0"/>
              <a:t>it might </a:t>
            </a:r>
            <a:r>
              <a:rPr lang="en-US" altLang="en-US" sz="2568" dirty="0" smtClean="0"/>
              <a:t>possibly end </a:t>
            </a:r>
            <a:r>
              <a:rPr lang="en-US" altLang="en-US" sz="2568" dirty="0"/>
              <a:t>up in the same memory location. Nonetheless, it is a new variable.</a:t>
            </a:r>
          </a:p>
          <a:p>
            <a:r>
              <a:rPr lang="en-US" altLang="en-US" sz="2935" dirty="0"/>
              <a:t>But there are multi-value variables. For these, assigning </a:t>
            </a:r>
            <a:r>
              <a:rPr lang="en-US" altLang="en-US" sz="2935" dirty="0" smtClean="0"/>
              <a:t>to one </a:t>
            </a:r>
            <a:r>
              <a:rPr lang="en-US" altLang="en-US" sz="2935" dirty="0"/>
              <a:t>value is different than assigning </a:t>
            </a:r>
            <a:r>
              <a:rPr lang="en-US" altLang="en-US" sz="2935" dirty="0" smtClean="0"/>
              <a:t>to the </a:t>
            </a:r>
            <a:r>
              <a:rPr lang="en-US" altLang="en-US" sz="2935" dirty="0"/>
              <a:t>variable.</a:t>
            </a:r>
          </a:p>
          <a:p>
            <a:r>
              <a:rPr lang="en-US" altLang="en-US" sz="2935" dirty="0"/>
              <a:t>Python divides its types into two categories:</a:t>
            </a:r>
          </a:p>
          <a:p>
            <a:pPr marL="836633" lvl="1" indent="-471762">
              <a:buFont typeface="+mj-lt"/>
              <a:buAutoNum type="arabicPeriod"/>
            </a:pPr>
            <a:r>
              <a:rPr lang="en-US" altLang="en-US" sz="2935" dirty="0" smtClean="0"/>
              <a:t>Numbers, strings, </a:t>
            </a:r>
            <a:r>
              <a:rPr lang="en-US" altLang="en-US" sz="2935" dirty="0"/>
              <a:t>and tuples are </a:t>
            </a:r>
            <a:r>
              <a:rPr lang="en-US" altLang="en-US" sz="2935" b="1" dirty="0">
                <a:solidFill>
                  <a:srgbClr val="00B050"/>
                </a:solidFill>
              </a:rPr>
              <a:t>im</a:t>
            </a:r>
            <a:r>
              <a:rPr lang="en-US" altLang="en-US" sz="2935" b="1" dirty="0">
                <a:solidFill>
                  <a:srgbClr val="FF0000"/>
                </a:solidFill>
              </a:rPr>
              <a:t>mut</a:t>
            </a:r>
            <a:r>
              <a:rPr lang="en-US" altLang="en-US" sz="2935" b="1" dirty="0">
                <a:solidFill>
                  <a:srgbClr val="0070C0"/>
                </a:solidFill>
              </a:rPr>
              <a:t>able</a:t>
            </a:r>
            <a:r>
              <a:rPr lang="en-US" altLang="en-US" sz="2935" dirty="0"/>
              <a:t>.</a:t>
            </a:r>
          </a:p>
          <a:p>
            <a:pPr marL="836633" lvl="1" indent="-471762">
              <a:buFont typeface="+mj-lt"/>
              <a:buAutoNum type="arabicPeriod"/>
            </a:pPr>
            <a:r>
              <a:rPr lang="en-US" altLang="en-US" sz="2935" dirty="0" smtClean="0">
                <a:solidFill>
                  <a:srgbClr val="FF0000"/>
                </a:solidFill>
              </a:rPr>
              <a:t>Lists, sets, </a:t>
            </a:r>
            <a:r>
              <a:rPr lang="en-US" altLang="en-US" sz="2935" dirty="0">
                <a:solidFill>
                  <a:srgbClr val="FF0000"/>
                </a:solidFill>
              </a:rPr>
              <a:t>and dictionaries are mutable.</a:t>
            </a:r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" y="0"/>
            <a:ext cx="9729788" cy="1141246"/>
          </a:xfrm>
        </p:spPr>
        <p:txBody>
          <a:bodyPr>
            <a:normAutofit/>
          </a:bodyPr>
          <a:lstStyle/>
          <a:p>
            <a:r>
              <a:rPr lang="en-US" altLang="en-US" sz="4000" dirty="0" smtClean="0">
                <a:solidFill>
                  <a:srgbClr val="0070C0"/>
                </a:solidFill>
              </a:rPr>
              <a:t>Updating the Values of Variables</a:t>
            </a:r>
          </a:p>
        </p:txBody>
      </p:sp>
      <p:sp>
        <p:nvSpPr>
          <p:cNvPr id="13" name="Content Placeholder 2"/>
          <p:cNvSpPr txBox="1">
            <a:spLocks/>
          </p:cNvSpPr>
          <p:nvPr/>
        </p:nvSpPr>
        <p:spPr>
          <a:xfrm>
            <a:off x="359076" y="1141246"/>
            <a:ext cx="9034803" cy="5225387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Autofit/>
          </a:bodyPr>
          <a:lstStyle>
            <a:lvl1pPr marL="182436" indent="-182436" algn="l" defTabSz="729742" rtl="0" eaLnBrk="1" latinLnBrk="0" hangingPunct="1">
              <a:lnSpc>
                <a:spcPct val="90000"/>
              </a:lnSpc>
              <a:spcBef>
                <a:spcPts val="798"/>
              </a:spcBef>
              <a:buFont typeface="Arial" panose="020B0604020202020204" pitchFamily="34" charset="0"/>
              <a:buChar char="•"/>
              <a:defRPr sz="31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7307" indent="-182436" algn="l" defTabSz="729742" rtl="0" eaLnBrk="1" latinLnBrk="0" hangingPunct="1">
              <a:lnSpc>
                <a:spcPct val="90000"/>
              </a:lnSpc>
              <a:spcBef>
                <a:spcPts val="399"/>
              </a:spcBef>
              <a:buFont typeface="Arial" panose="020B0604020202020204" pitchFamily="34" charset="0"/>
              <a:buChar char="•"/>
              <a:defRPr sz="28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2177" indent="-182436" algn="l" defTabSz="729742" rtl="0" eaLnBrk="1" latinLnBrk="0" hangingPunct="1">
              <a:lnSpc>
                <a:spcPct val="90000"/>
              </a:lnSpc>
              <a:spcBef>
                <a:spcPts val="399"/>
              </a:spcBef>
              <a:buFont typeface="Arial" panose="020B0604020202020204" pitchFamily="34" charset="0"/>
              <a:buChar char="•"/>
              <a:defRPr sz="25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77049" indent="-182436" algn="l" defTabSz="729742" rtl="0" eaLnBrk="1" latinLnBrk="0" hangingPunct="1">
              <a:lnSpc>
                <a:spcPct val="90000"/>
              </a:lnSpc>
              <a:spcBef>
                <a:spcPts val="399"/>
              </a:spcBef>
              <a:buFont typeface="Arial" panose="020B0604020202020204" pitchFamily="34" charset="0"/>
              <a:buChar char="•"/>
              <a:defRPr sz="22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41920" indent="-182436" algn="l" defTabSz="729742" rtl="0" eaLnBrk="1" latinLnBrk="0" hangingPunct="1">
              <a:lnSpc>
                <a:spcPct val="90000"/>
              </a:lnSpc>
              <a:spcBef>
                <a:spcPts val="399"/>
              </a:spcBef>
              <a:buFont typeface="Arial" panose="020B0604020202020204" pitchFamily="34" charset="0"/>
              <a:buChar char="•"/>
              <a:defRPr sz="22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06790" indent="-182436" algn="l" defTabSz="729742" rtl="0" eaLnBrk="1" latinLnBrk="0" hangingPunct="1">
              <a:lnSpc>
                <a:spcPct val="90000"/>
              </a:lnSpc>
              <a:spcBef>
                <a:spcPts val="399"/>
              </a:spcBef>
              <a:buFont typeface="Arial" panose="020B0604020202020204" pitchFamily="34" charset="0"/>
              <a:buChar char="•"/>
              <a:defRPr sz="14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1662" indent="-182436" algn="l" defTabSz="729742" rtl="0" eaLnBrk="1" latinLnBrk="0" hangingPunct="1">
              <a:lnSpc>
                <a:spcPct val="90000"/>
              </a:lnSpc>
              <a:spcBef>
                <a:spcPts val="399"/>
              </a:spcBef>
              <a:buFont typeface="Arial" panose="020B0604020202020204" pitchFamily="34" charset="0"/>
              <a:buChar char="•"/>
              <a:defRPr sz="14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36533" indent="-182436" algn="l" defTabSz="729742" rtl="0" eaLnBrk="1" latinLnBrk="0" hangingPunct="1">
              <a:lnSpc>
                <a:spcPct val="90000"/>
              </a:lnSpc>
              <a:spcBef>
                <a:spcPts val="399"/>
              </a:spcBef>
              <a:buFont typeface="Arial" panose="020B0604020202020204" pitchFamily="34" charset="0"/>
              <a:buChar char="•"/>
              <a:defRPr sz="14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1404" indent="-182436" algn="l" defTabSz="729742" rtl="0" eaLnBrk="1" latinLnBrk="0" hangingPunct="1">
              <a:lnSpc>
                <a:spcPct val="90000"/>
              </a:lnSpc>
              <a:spcBef>
                <a:spcPts val="399"/>
              </a:spcBef>
              <a:buFont typeface="Arial" panose="020B0604020202020204" pitchFamily="34" charset="0"/>
              <a:buChar char="•"/>
              <a:defRPr sz="14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2935" dirty="0" smtClean="0">
                <a:solidFill>
                  <a:schemeClr val="bg1">
                    <a:lumMod val="75000"/>
                  </a:schemeClr>
                </a:solidFill>
              </a:rPr>
              <a:t>Assigning a value to a variable does not update it, instead it creates a new variable.</a:t>
            </a:r>
          </a:p>
          <a:p>
            <a:pPr lvl="1"/>
            <a:r>
              <a:rPr lang="en-US" altLang="en-US" sz="2568" dirty="0" smtClean="0">
                <a:solidFill>
                  <a:schemeClr val="bg1">
                    <a:lumMod val="75000"/>
                  </a:schemeClr>
                </a:solidFill>
              </a:rPr>
              <a:t>If it is the same type (or even if not) it might possibly end up in the same memory location. Nonetheless, it is a new variable.</a:t>
            </a:r>
          </a:p>
          <a:p>
            <a:r>
              <a:rPr lang="en-US" altLang="en-US" sz="2935" dirty="0" smtClean="0">
                <a:solidFill>
                  <a:schemeClr val="bg1">
                    <a:lumMod val="75000"/>
                  </a:schemeClr>
                </a:solidFill>
              </a:rPr>
              <a:t>But there are multi-value variables. For these, assigning to one value is different than assigning to the variable.</a:t>
            </a:r>
          </a:p>
          <a:p>
            <a:r>
              <a:rPr lang="en-US" altLang="en-US" sz="2935" dirty="0" smtClean="0">
                <a:solidFill>
                  <a:schemeClr val="bg1">
                    <a:lumMod val="75000"/>
                  </a:schemeClr>
                </a:solidFill>
              </a:rPr>
              <a:t>Python divides its types into two categories:</a:t>
            </a:r>
          </a:p>
          <a:p>
            <a:pPr marL="836633" lvl="1" indent="-471762">
              <a:buFont typeface="+mj-lt"/>
              <a:buAutoNum type="arabicPeriod"/>
            </a:pPr>
            <a:r>
              <a:rPr lang="en-US" altLang="en-US" sz="2935" dirty="0" smtClean="0">
                <a:solidFill>
                  <a:schemeClr val="bg1">
                    <a:lumMod val="75000"/>
                  </a:schemeClr>
                </a:solidFill>
              </a:rPr>
              <a:t>Numbers, strings, and </a:t>
            </a:r>
            <a:r>
              <a:rPr lang="en-US" altLang="en-US" sz="2935" dirty="0" smtClean="0">
                <a:solidFill>
                  <a:srgbClr val="FF0000"/>
                </a:solidFill>
              </a:rPr>
              <a:t>tuples are </a:t>
            </a:r>
            <a:r>
              <a:rPr lang="en-US" altLang="en-US" sz="2935" b="1" dirty="0" smtClean="0">
                <a:solidFill>
                  <a:srgbClr val="FF0000"/>
                </a:solidFill>
              </a:rPr>
              <a:t>immutable</a:t>
            </a:r>
            <a:r>
              <a:rPr lang="en-US" altLang="en-US" sz="2935" dirty="0" smtClean="0">
                <a:solidFill>
                  <a:srgbClr val="FF0000"/>
                </a:solidFill>
              </a:rPr>
              <a:t>.</a:t>
            </a:r>
          </a:p>
          <a:p>
            <a:pPr marL="836633" lvl="1" indent="-471762">
              <a:buClr>
                <a:srgbClr val="C0C0C0"/>
              </a:buClr>
              <a:buFont typeface="+mj-lt"/>
              <a:buAutoNum type="arabicPeriod"/>
            </a:pPr>
            <a:r>
              <a:rPr lang="en-US" altLang="en-US" sz="2935" dirty="0" smtClean="0">
                <a:solidFill>
                  <a:srgbClr val="FF0000"/>
                </a:solidFill>
              </a:rPr>
              <a:t>Lists</a:t>
            </a:r>
            <a:r>
              <a:rPr lang="en-US" altLang="en-US" sz="2935" dirty="0" smtClean="0">
                <a:solidFill>
                  <a:schemeClr val="bg1">
                    <a:lumMod val="75000"/>
                  </a:schemeClr>
                </a:solidFill>
              </a:rPr>
              <a:t>, se</a:t>
            </a:r>
            <a:r>
              <a:rPr lang="en-US" altLang="en-US" sz="2935" dirty="0" smtClean="0">
                <a:solidFill>
                  <a:srgbClr val="C0C0C0"/>
                </a:solidFill>
              </a:rPr>
              <a:t>t</a:t>
            </a:r>
            <a:r>
              <a:rPr lang="en-US" altLang="en-US" sz="2935" dirty="0" smtClean="0">
                <a:solidFill>
                  <a:schemeClr val="bg1">
                    <a:lumMod val="75000"/>
                  </a:schemeClr>
                </a:solidFill>
              </a:rPr>
              <a:t>s, and dictionaries </a:t>
            </a:r>
            <a:r>
              <a:rPr lang="en-US" altLang="en-US" sz="2935" dirty="0" smtClean="0">
                <a:solidFill>
                  <a:srgbClr val="FF0000"/>
                </a:solidFill>
              </a:rPr>
              <a:t>are mutable.</a:t>
            </a:r>
            <a:endParaRPr lang="en-US" altLang="en-US" sz="2935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4849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Content Placeholder 2"/>
          <p:cNvSpPr>
            <a:spLocks noGrp="1"/>
          </p:cNvSpPr>
          <p:nvPr>
            <p:ph idx="1"/>
          </p:nvPr>
        </p:nvSpPr>
        <p:spPr>
          <a:xfrm>
            <a:off x="359076" y="1141246"/>
            <a:ext cx="9230218" cy="5716754"/>
          </a:xfrm>
        </p:spPr>
        <p:txBody>
          <a:bodyPr>
            <a:noAutofit/>
          </a:bodyPr>
          <a:lstStyle/>
          <a:p>
            <a:r>
              <a:rPr lang="en-US" altLang="en-US" sz="2935" dirty="0">
                <a:solidFill>
                  <a:schemeClr val="bg1">
                    <a:lumMod val="75000"/>
                  </a:schemeClr>
                </a:solidFill>
              </a:rPr>
              <a:t>Assigning a value to a variable does not update it, instead it creates a new variable.</a:t>
            </a:r>
          </a:p>
          <a:p>
            <a:pPr lvl="1"/>
            <a:r>
              <a:rPr lang="en-US" altLang="en-US" sz="2568" dirty="0">
                <a:solidFill>
                  <a:schemeClr val="bg1">
                    <a:lumMod val="75000"/>
                  </a:schemeClr>
                </a:solidFill>
              </a:rPr>
              <a:t>If it is the same type (or even if not</a:t>
            </a:r>
            <a:r>
              <a:rPr lang="en-US" altLang="en-US" sz="2568" dirty="0" smtClean="0">
                <a:solidFill>
                  <a:schemeClr val="bg1">
                    <a:lumMod val="75000"/>
                  </a:schemeClr>
                </a:solidFill>
              </a:rPr>
              <a:t>) </a:t>
            </a:r>
            <a:r>
              <a:rPr lang="en-US" altLang="en-US" sz="2568" dirty="0">
                <a:solidFill>
                  <a:schemeClr val="bg1">
                    <a:lumMod val="75000"/>
                  </a:schemeClr>
                </a:solidFill>
              </a:rPr>
              <a:t>it might </a:t>
            </a:r>
            <a:r>
              <a:rPr lang="en-US" altLang="en-US" sz="2568" dirty="0" smtClean="0">
                <a:solidFill>
                  <a:schemeClr val="bg1">
                    <a:lumMod val="75000"/>
                  </a:schemeClr>
                </a:solidFill>
              </a:rPr>
              <a:t>possibly end </a:t>
            </a:r>
            <a:r>
              <a:rPr lang="en-US" altLang="en-US" sz="2568" dirty="0">
                <a:solidFill>
                  <a:schemeClr val="bg1">
                    <a:lumMod val="75000"/>
                  </a:schemeClr>
                </a:solidFill>
              </a:rPr>
              <a:t>up in the same memory location. Nonetheless, it is a new variable.</a:t>
            </a:r>
          </a:p>
          <a:p>
            <a:r>
              <a:rPr lang="en-US" altLang="en-US" sz="2935" dirty="0">
                <a:solidFill>
                  <a:schemeClr val="bg1">
                    <a:lumMod val="75000"/>
                  </a:schemeClr>
                </a:solidFill>
              </a:rPr>
              <a:t>But there are multi-value variables. For these, assigning </a:t>
            </a:r>
            <a:r>
              <a:rPr lang="en-US" altLang="en-US" sz="2935" dirty="0" smtClean="0">
                <a:solidFill>
                  <a:schemeClr val="bg1">
                    <a:lumMod val="75000"/>
                  </a:schemeClr>
                </a:solidFill>
              </a:rPr>
              <a:t/>
            </a:r>
            <a:br>
              <a:rPr lang="en-US" altLang="en-US" sz="2935" dirty="0" smtClean="0">
                <a:solidFill>
                  <a:schemeClr val="bg1">
                    <a:lumMod val="75000"/>
                  </a:schemeClr>
                </a:solidFill>
              </a:rPr>
            </a:br>
            <a:r>
              <a:rPr lang="en-US" altLang="en-US" sz="2935" dirty="0" smtClean="0">
                <a:solidFill>
                  <a:schemeClr val="bg1">
                    <a:lumMod val="75000"/>
                  </a:schemeClr>
                </a:solidFill>
              </a:rPr>
              <a:t>to one </a:t>
            </a:r>
            <a:r>
              <a:rPr lang="en-US" altLang="en-US" sz="2935" dirty="0">
                <a:solidFill>
                  <a:schemeClr val="bg1">
                    <a:lumMod val="75000"/>
                  </a:schemeClr>
                </a:solidFill>
              </a:rPr>
              <a:t>value is different than assigning </a:t>
            </a:r>
            <a:r>
              <a:rPr lang="en-US" altLang="en-US" sz="2935" dirty="0" smtClean="0">
                <a:solidFill>
                  <a:schemeClr val="bg1">
                    <a:lumMod val="75000"/>
                  </a:schemeClr>
                </a:solidFill>
              </a:rPr>
              <a:t>to the </a:t>
            </a:r>
            <a:r>
              <a:rPr lang="en-US" altLang="en-US" sz="2935" dirty="0">
                <a:solidFill>
                  <a:schemeClr val="bg1">
                    <a:lumMod val="75000"/>
                  </a:schemeClr>
                </a:solidFill>
              </a:rPr>
              <a:t>variable.</a:t>
            </a:r>
          </a:p>
          <a:p>
            <a:r>
              <a:rPr lang="en-US" altLang="en-US" sz="2935" dirty="0">
                <a:solidFill>
                  <a:schemeClr val="bg1">
                    <a:lumMod val="75000"/>
                  </a:schemeClr>
                </a:solidFill>
              </a:rPr>
              <a:t>Python divides its types into two categories:</a:t>
            </a:r>
          </a:p>
          <a:p>
            <a:pPr marL="836633" lvl="1" indent="-471762">
              <a:buFont typeface="+mj-lt"/>
              <a:buAutoNum type="arabicPeriod"/>
            </a:pPr>
            <a:r>
              <a:rPr lang="en-US" altLang="en-US" sz="2935" dirty="0" smtClean="0">
                <a:solidFill>
                  <a:schemeClr val="bg1">
                    <a:lumMod val="75000"/>
                  </a:schemeClr>
                </a:solidFill>
              </a:rPr>
              <a:t>Numbers, strings, </a:t>
            </a:r>
            <a:r>
              <a:rPr lang="en-US" altLang="en-US" sz="2935" dirty="0">
                <a:solidFill>
                  <a:schemeClr val="bg1">
                    <a:lumMod val="75000"/>
                  </a:schemeClr>
                </a:solidFill>
              </a:rPr>
              <a:t>and tuples are </a:t>
            </a:r>
            <a:r>
              <a:rPr lang="en-US" altLang="en-US" sz="2935" b="1" dirty="0">
                <a:solidFill>
                  <a:schemeClr val="bg1">
                    <a:lumMod val="75000"/>
                  </a:schemeClr>
                </a:solidFill>
              </a:rPr>
              <a:t>immutable</a:t>
            </a:r>
            <a:r>
              <a:rPr lang="en-US" altLang="en-US" sz="2935" dirty="0">
                <a:solidFill>
                  <a:schemeClr val="bg1">
                    <a:lumMod val="75000"/>
                  </a:schemeClr>
                </a:solidFill>
              </a:rPr>
              <a:t>.</a:t>
            </a:r>
          </a:p>
          <a:p>
            <a:pPr marL="836633" lvl="1" indent="-471762">
              <a:buClr>
                <a:srgbClr val="C0C0C0"/>
              </a:buClr>
              <a:buFont typeface="+mj-lt"/>
              <a:buAutoNum type="arabicPeriod"/>
            </a:pPr>
            <a:r>
              <a:rPr lang="en-US" altLang="en-US" sz="2935" dirty="0" smtClean="0">
                <a:solidFill>
                  <a:schemeClr val="bg1">
                    <a:lumMod val="75000"/>
                  </a:schemeClr>
                </a:solidFill>
              </a:rPr>
              <a:t>Lists, </a:t>
            </a:r>
            <a:r>
              <a:rPr lang="en-US" altLang="en-US" sz="2935" dirty="0" smtClean="0">
                <a:solidFill>
                  <a:srgbClr val="FF0000"/>
                </a:solidFill>
              </a:rPr>
              <a:t>sets</a:t>
            </a:r>
            <a:r>
              <a:rPr lang="en-US" altLang="en-US" sz="2935" dirty="0" smtClean="0">
                <a:solidFill>
                  <a:schemeClr val="bg1">
                    <a:lumMod val="75000"/>
                  </a:schemeClr>
                </a:solidFill>
              </a:rPr>
              <a:t>, </a:t>
            </a:r>
            <a:r>
              <a:rPr lang="en-US" altLang="en-US" sz="2935" dirty="0">
                <a:solidFill>
                  <a:srgbClr val="FF0000"/>
                </a:solidFill>
              </a:rPr>
              <a:t>and dictionaries are mutable</a:t>
            </a:r>
            <a:r>
              <a:rPr lang="en-US" altLang="en-US" sz="2935" dirty="0" smtClean="0">
                <a:solidFill>
                  <a:srgbClr val="FF0000"/>
                </a:solidFill>
              </a:rPr>
              <a:t>.</a:t>
            </a:r>
          </a:p>
          <a:p>
            <a:pPr marL="914400" lvl="2" indent="0">
              <a:buNone/>
            </a:pPr>
            <a:r>
              <a:rPr lang="en-US" altLang="en-US" sz="2615" dirty="0" smtClean="0">
                <a:solidFill>
                  <a:srgbClr val="00B050"/>
                </a:solidFill>
              </a:rPr>
              <a:t>But, the set and dictionary </a:t>
            </a:r>
            <a:r>
              <a:rPr lang="en-US" altLang="en-US" sz="2615" b="1" i="1" dirty="0" smtClean="0">
                <a:solidFill>
                  <a:srgbClr val="00B050"/>
                </a:solidFill>
              </a:rPr>
              <a:t>elements</a:t>
            </a:r>
            <a:r>
              <a:rPr lang="en-US" altLang="en-US" sz="2615" dirty="0" smtClean="0">
                <a:solidFill>
                  <a:srgbClr val="00B050"/>
                </a:solidFill>
              </a:rPr>
              <a:t> must be </a:t>
            </a:r>
            <a:r>
              <a:rPr lang="en-US" altLang="en-US" sz="2615" b="1" dirty="0" smtClean="0">
                <a:solidFill>
                  <a:srgbClr val="00B050"/>
                </a:solidFill>
              </a:rPr>
              <a:t>immutable</a:t>
            </a:r>
            <a:r>
              <a:rPr lang="en-US" altLang="en-US" sz="2615" dirty="0" smtClean="0">
                <a:solidFill>
                  <a:srgbClr val="00B050"/>
                </a:solidFill>
              </a:rPr>
              <a:t>.</a:t>
            </a:r>
          </a:p>
          <a:p>
            <a:pPr marL="1143000" lvl="2" indent="-228600"/>
            <a:r>
              <a:rPr lang="en-US" altLang="en-US" sz="2600" dirty="0" smtClean="0">
                <a:solidFill>
                  <a:srgbClr val="00B0F0"/>
                </a:solidFill>
              </a:rPr>
              <a:t>As for sets, this restriction lets elements always be unique.</a:t>
            </a:r>
          </a:p>
          <a:p>
            <a:pPr marL="1143000" lvl="2" indent="-228600"/>
            <a:r>
              <a:rPr lang="en-US" altLang="en-US" sz="2600" dirty="0" smtClean="0">
                <a:solidFill>
                  <a:srgbClr val="00B0F0"/>
                </a:solidFill>
              </a:rPr>
              <a:t>As for dictionaries, this restriction (on its keys) is necessary to not lose track of elements.</a:t>
            </a:r>
            <a:endParaRPr lang="en-US" altLang="en-US" sz="2600" dirty="0">
              <a:solidFill>
                <a:srgbClr val="00B0F0"/>
              </a:solidFill>
            </a:endParaRPr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" y="0"/>
            <a:ext cx="9729788" cy="1141246"/>
          </a:xfrm>
        </p:spPr>
        <p:txBody>
          <a:bodyPr>
            <a:normAutofit/>
          </a:bodyPr>
          <a:lstStyle/>
          <a:p>
            <a:r>
              <a:rPr lang="en-US" altLang="en-US" sz="4000" dirty="0" smtClean="0">
                <a:solidFill>
                  <a:srgbClr val="0070C0"/>
                </a:solidFill>
              </a:rPr>
              <a:t>Updating the Values of Variables</a:t>
            </a:r>
          </a:p>
        </p:txBody>
      </p:sp>
    </p:spTree>
    <p:extLst>
      <p:ext uri="{BB962C8B-B14F-4D97-AF65-F5344CB8AC3E}">
        <p14:creationId xmlns:p14="http://schemas.microsoft.com/office/powerpoint/2010/main" val="867318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25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25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25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/>
          <p:cNvSpPr>
            <a:spLocks noGrp="1"/>
          </p:cNvSpPr>
          <p:nvPr>
            <p:ph idx="1"/>
          </p:nvPr>
        </p:nvSpPr>
        <p:spPr>
          <a:xfrm>
            <a:off x="391474" y="1161143"/>
            <a:ext cx="9214642" cy="5015820"/>
          </a:xfrm>
        </p:spPr>
        <p:txBody>
          <a:bodyPr>
            <a:normAutofit/>
          </a:bodyPr>
          <a:lstStyle/>
          <a:p>
            <a:pPr>
              <a:buFontTx/>
              <a:buNone/>
            </a:pPr>
            <a:r>
              <a:rPr lang="en-US" altLang="en-US" sz="3132" dirty="0"/>
              <a:t>Python has six standard data types:</a:t>
            </a:r>
          </a:p>
          <a:p>
            <a:pPr marL="651966" indent="-555276">
              <a:buFont typeface="+mj-lt"/>
              <a:buAutoNum type="arabicPeriod"/>
            </a:pPr>
            <a:r>
              <a:rPr lang="en-US" altLang="en-US" sz="2800" dirty="0" smtClean="0">
                <a:solidFill>
                  <a:srgbClr val="A6A6A6"/>
                </a:solidFill>
                <a:latin typeface="Elephant" panose="02020904090505020303" pitchFamily="18" charset="0"/>
              </a:rPr>
              <a:t>Number</a:t>
            </a:r>
          </a:p>
          <a:p>
            <a:pPr marL="651966" indent="-555276">
              <a:buFont typeface="+mj-lt"/>
              <a:buAutoNum type="arabicPeriod"/>
            </a:pPr>
            <a:r>
              <a:rPr lang="en-US" altLang="en-US" sz="2800" dirty="0" smtClean="0">
                <a:solidFill>
                  <a:srgbClr val="A6A6A6"/>
                </a:solidFill>
                <a:latin typeface="Elephant" panose="02020904090505020303" pitchFamily="18" charset="0"/>
              </a:rPr>
              <a:t>String</a:t>
            </a:r>
          </a:p>
          <a:p>
            <a:pPr marL="651966" indent="-555276">
              <a:buFont typeface="+mj-lt"/>
              <a:buAutoNum type="arabicPeriod"/>
            </a:pPr>
            <a:r>
              <a:rPr lang="en-US" altLang="en-US" sz="2800" dirty="0" smtClean="0">
                <a:solidFill>
                  <a:srgbClr val="A6A6A6"/>
                </a:solidFill>
                <a:latin typeface="Elephant" panose="02020904090505020303" pitchFamily="18" charset="0"/>
              </a:rPr>
              <a:t>List</a:t>
            </a:r>
            <a:endParaRPr lang="en-US" altLang="en-US" sz="2800" dirty="0">
              <a:solidFill>
                <a:srgbClr val="A6A6A6"/>
              </a:solidFill>
              <a:latin typeface="Elephant" panose="02020904090505020303" pitchFamily="18" charset="0"/>
            </a:endParaRPr>
          </a:p>
          <a:p>
            <a:pPr marL="651966" indent="-555276">
              <a:buFont typeface="+mj-lt"/>
              <a:buAutoNum type="arabicPeriod"/>
            </a:pPr>
            <a:r>
              <a:rPr lang="en-US" altLang="en-US" sz="2800" dirty="0" smtClean="0">
                <a:solidFill>
                  <a:srgbClr val="A6A6A6"/>
                </a:solidFill>
                <a:latin typeface="Elephant" panose="02020904090505020303" pitchFamily="18" charset="0"/>
              </a:rPr>
              <a:t>Tuple</a:t>
            </a:r>
          </a:p>
          <a:p>
            <a:pPr marL="651966" indent="-555276">
              <a:buFont typeface="+mj-lt"/>
              <a:buAutoNum type="arabicPeriod"/>
            </a:pPr>
            <a:r>
              <a:rPr lang="en-US" altLang="en-US" sz="2800" dirty="0" smtClean="0">
                <a:solidFill>
                  <a:srgbClr val="FF0000"/>
                </a:solidFill>
                <a:latin typeface="Elephant" panose="02020904090505020303" pitchFamily="18" charset="0"/>
              </a:rPr>
              <a:t>Set</a:t>
            </a:r>
          </a:p>
          <a:p>
            <a:pPr marL="651966" indent="-555276">
              <a:buFont typeface="+mj-lt"/>
              <a:buAutoNum type="arabicPeriod"/>
            </a:pPr>
            <a:r>
              <a:rPr lang="en-US" altLang="en-US" sz="2800" dirty="0" smtClean="0">
                <a:solidFill>
                  <a:srgbClr val="A6A6A6"/>
                </a:solidFill>
                <a:latin typeface="Elephant" panose="02020904090505020303" pitchFamily="18" charset="0"/>
              </a:rPr>
              <a:t>Dictionary</a:t>
            </a:r>
            <a:endParaRPr lang="en-US" altLang="en-US" sz="2800" dirty="0">
              <a:solidFill>
                <a:srgbClr val="A6A6A6"/>
              </a:solidFill>
              <a:latin typeface="Elephant" panose="02020904090505020303" pitchFamily="18" charset="0"/>
            </a:endParaRPr>
          </a:p>
        </p:txBody>
      </p:sp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-1" y="53699"/>
            <a:ext cx="9729789" cy="1010254"/>
          </a:xfrm>
        </p:spPr>
        <p:txBody>
          <a:bodyPr>
            <a:normAutofit/>
          </a:bodyPr>
          <a:lstStyle/>
          <a:p>
            <a:r>
              <a:rPr lang="en-US" altLang="en-US" sz="4400" dirty="0" smtClean="0">
                <a:solidFill>
                  <a:srgbClr val="0070C0"/>
                </a:solidFill>
              </a:rPr>
              <a:t>Data Types:</a:t>
            </a:r>
          </a:p>
        </p:txBody>
      </p:sp>
    </p:spTree>
    <p:extLst>
      <p:ext uri="{BB962C8B-B14F-4D97-AF65-F5344CB8AC3E}">
        <p14:creationId xmlns:p14="http://schemas.microsoft.com/office/powerpoint/2010/main" val="3533786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140494" y="792804"/>
            <a:ext cx="9434055" cy="5939910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 smtClean="0">
                <a:solidFill>
                  <a:srgbClr val="7030A0"/>
                </a:solidFill>
              </a:rPr>
              <a:t>Defining a set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998" dirty="0" smtClean="0">
                <a:solidFill>
                  <a:srgbClr val="FF0000"/>
                </a:solidFill>
              </a:rPr>
              <a:t>In Math </a:t>
            </a:r>
            <a:r>
              <a:rPr lang="en-US" altLang="zh-TW" sz="2998" dirty="0">
                <a:solidFill>
                  <a:srgbClr val="FF0000"/>
                </a:solidFill>
              </a:rPr>
              <a:t>(</a:t>
            </a:r>
            <a:r>
              <a:rPr lang="zh-TW" altLang="en-US" sz="2800" dirty="0">
                <a:solidFill>
                  <a:srgbClr val="FF0000"/>
                </a:solidFill>
              </a:rPr>
              <a:t>數</a:t>
            </a:r>
            <a:r>
              <a:rPr lang="zh-TW" altLang="en-US" sz="2800" dirty="0" smtClean="0">
                <a:solidFill>
                  <a:srgbClr val="FF0000"/>
                </a:solidFill>
              </a:rPr>
              <a:t>學</a:t>
            </a:r>
            <a:r>
              <a:rPr lang="en-US" altLang="zh-TW" sz="2998" dirty="0" smtClean="0">
                <a:solidFill>
                  <a:srgbClr val="FF0000"/>
                </a:solidFill>
              </a:rPr>
              <a:t>), you use the </a:t>
            </a:r>
            <a:r>
              <a:rPr lang="en-US" altLang="zh-TW" sz="2998" dirty="0" smtClean="0">
                <a:solidFill>
                  <a:schemeClr val="tx1"/>
                </a:solidFill>
              </a:rPr>
              <a:t>{</a:t>
            </a:r>
            <a:r>
              <a:rPr lang="en-US" altLang="zh-TW" sz="2998" dirty="0" smtClean="0">
                <a:solidFill>
                  <a:srgbClr val="FF0000"/>
                </a:solidFill>
              </a:rPr>
              <a:t>…</a:t>
            </a:r>
            <a:r>
              <a:rPr lang="en-US" altLang="zh-TW" sz="2998" dirty="0" smtClean="0">
                <a:solidFill>
                  <a:schemeClr val="tx1"/>
                </a:solidFill>
              </a:rPr>
              <a:t>}</a:t>
            </a:r>
            <a:r>
              <a:rPr lang="en-US" altLang="zh-TW" sz="2998" dirty="0" smtClean="0">
                <a:solidFill>
                  <a:srgbClr val="FF0000"/>
                </a:solidFill>
              </a:rPr>
              <a:t> symbols for a set.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US" altLang="zh-TW" sz="2798" dirty="0" smtClean="0">
                <a:solidFill>
                  <a:srgbClr val="F4B400"/>
                </a:solidFill>
              </a:rPr>
              <a:t>Python uses the same notation:</a:t>
            </a:r>
            <a:r>
              <a:rPr lang="en-US" altLang="zh-TW" sz="2798" dirty="0" smtClean="0">
                <a:solidFill>
                  <a:srgbClr val="FFC000"/>
                </a:solidFill>
              </a:rPr>
              <a:t/>
            </a:r>
            <a:br>
              <a:rPr lang="en-US" altLang="zh-TW" sz="2798" dirty="0" smtClean="0">
                <a:solidFill>
                  <a:srgbClr val="FFC000"/>
                </a:solidFill>
              </a:rPr>
            </a:br>
            <a:r>
              <a:rPr lang="en-US" altLang="zh-TW" sz="2798" dirty="0" smtClean="0">
                <a:solidFill>
                  <a:schemeClr val="tx1"/>
                </a:solidFill>
              </a:rPr>
              <a:t>&gt;&gt;&gt; S = {1, 2, 3}</a:t>
            </a:r>
          </a:p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lang="en-US" sz="2000" dirty="0" smtClean="0">
              <a:solidFill>
                <a:srgbClr val="FF0000"/>
              </a:solidFill>
            </a:endParaRPr>
          </a:p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 smtClean="0">
                <a:solidFill>
                  <a:srgbClr val="7030A0"/>
                </a:solidFill>
              </a:rPr>
              <a:t>Operating on a set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998" spc="-80" dirty="0" smtClean="0">
                <a:solidFill>
                  <a:srgbClr val="2D2DB9"/>
                </a:solidFill>
              </a:rPr>
              <a:t>Python uses keyboard equivalents to the math</a:t>
            </a:r>
            <a:r>
              <a:rPr lang="en-US" altLang="zh-TW" sz="2998" spc="-80" dirty="0" smtClean="0">
                <a:solidFill>
                  <a:srgbClr val="2D2DB9"/>
                </a:solidFill>
              </a:rPr>
              <a:t> symbols:</a:t>
            </a:r>
            <a:endParaRPr lang="en-US" altLang="zh-TW" sz="2998" spc="-80" dirty="0">
              <a:solidFill>
                <a:srgbClr val="2D2DB9"/>
              </a:solidFill>
            </a:endParaRPr>
          </a:p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2D2DB9"/>
                </a:solidFill>
              </a:rPr>
              <a:t> </a:t>
            </a:r>
            <a:r>
              <a:rPr lang="en-US" sz="2400" dirty="0" smtClean="0">
                <a:solidFill>
                  <a:srgbClr val="2D2DB9"/>
                </a:solidFill>
              </a:rPr>
              <a:t>   </a:t>
            </a:r>
            <a:r>
              <a:rPr lang="en-US" sz="2400" dirty="0" smtClean="0">
                <a:solidFill>
                  <a:srgbClr val="FF0000"/>
                </a:solidFill>
              </a:rPr>
              <a:t>   Math:    Union</a:t>
            </a:r>
            <a:r>
              <a:rPr lang="en-US" sz="1400" dirty="0" smtClean="0">
                <a:solidFill>
                  <a:srgbClr val="FF0000"/>
                </a:solidFill>
              </a:rPr>
              <a:t> </a:t>
            </a:r>
            <a:r>
              <a:rPr lang="en-US" sz="2400" spc="-100" dirty="0">
                <a:solidFill>
                  <a:srgbClr val="FF0000"/>
                </a:solidFill>
              </a:rPr>
              <a:t>(</a:t>
            </a:r>
            <a:r>
              <a:rPr lang="en-US" sz="2400" b="1" spc="-100" dirty="0">
                <a:solidFill>
                  <a:schemeClr val="tx1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∪</a:t>
            </a:r>
            <a:r>
              <a:rPr lang="en-US" sz="2400" dirty="0">
                <a:solidFill>
                  <a:srgbClr val="FF0000"/>
                </a:solidFill>
              </a:rPr>
              <a:t>),</a:t>
            </a:r>
            <a:r>
              <a:rPr lang="en-US" sz="1800" dirty="0">
                <a:solidFill>
                  <a:srgbClr val="FF0000"/>
                </a:solidFill>
              </a:rPr>
              <a:t> </a:t>
            </a:r>
            <a:r>
              <a:rPr lang="en-US" sz="2400" dirty="0">
                <a:solidFill>
                  <a:srgbClr val="FF0000"/>
                </a:solidFill>
              </a:rPr>
              <a:t>Intersection</a:t>
            </a:r>
            <a:r>
              <a:rPr lang="en-US" sz="1100" dirty="0">
                <a:solidFill>
                  <a:srgbClr val="FF0000"/>
                </a:solidFill>
              </a:rPr>
              <a:t> </a:t>
            </a:r>
            <a:r>
              <a:rPr lang="en-US" sz="2400" spc="-100" dirty="0">
                <a:solidFill>
                  <a:srgbClr val="FF0000"/>
                </a:solidFill>
              </a:rPr>
              <a:t>(</a:t>
            </a:r>
            <a:r>
              <a:rPr lang="en-US" sz="2400" b="1" spc="-100" dirty="0">
                <a:solidFill>
                  <a:schemeClr val="tx1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∩</a:t>
            </a:r>
            <a:r>
              <a:rPr lang="en-US" sz="2400" dirty="0">
                <a:solidFill>
                  <a:srgbClr val="FF0000"/>
                </a:solidFill>
              </a:rPr>
              <a:t>), </a:t>
            </a:r>
            <a:r>
              <a:rPr lang="en-US" sz="2400" dirty="0" err="1" smtClean="0">
                <a:solidFill>
                  <a:srgbClr val="FF0000"/>
                </a:solidFill>
              </a:rPr>
              <a:t>Xor</a:t>
            </a:r>
            <a:r>
              <a:rPr lang="en-US" sz="300" dirty="0">
                <a:solidFill>
                  <a:srgbClr val="FF0000"/>
                </a:solidFill>
              </a:rPr>
              <a:t> </a:t>
            </a:r>
            <a:r>
              <a:rPr lang="en-US" sz="300" dirty="0" smtClean="0">
                <a:solidFill>
                  <a:srgbClr val="FF0000"/>
                </a:solidFill>
              </a:rPr>
              <a:t>  </a:t>
            </a:r>
            <a:r>
              <a:rPr lang="en-US" sz="2400" dirty="0" smtClean="0">
                <a:solidFill>
                  <a:srgbClr val="FF0000"/>
                </a:solidFill>
              </a:rPr>
              <a:t>(</a:t>
            </a:r>
            <a:r>
              <a:rPr lang="en-US" sz="2400" dirty="0" smtClean="0">
                <a:solidFill>
                  <a:schemeClr val="tx1"/>
                </a:solidFill>
              </a:rPr>
              <a:t>⊕</a:t>
            </a:r>
            <a:r>
              <a:rPr lang="en-US" altLang="zh-TW" sz="2400" dirty="0" smtClean="0">
                <a:solidFill>
                  <a:srgbClr val="FF0000"/>
                </a:solidFill>
              </a:rPr>
              <a:t>), Remove subset (</a:t>
            </a:r>
            <a:r>
              <a:rPr lang="en-US" altLang="zh-TW" sz="2400" dirty="0" smtClean="0">
                <a:solidFill>
                  <a:schemeClr val="tx1"/>
                </a:solidFill>
                <a:latin typeface="Lucida Console" panose="020B0609040504020204" pitchFamily="49" charset="0"/>
                <a:ea typeface="新細明體" panose="02020500000000000000" pitchFamily="18" charset="-120"/>
              </a:rPr>
              <a:t>-</a:t>
            </a:r>
            <a:r>
              <a:rPr lang="en-US" altLang="zh-TW" sz="2400" dirty="0" smtClean="0">
                <a:solidFill>
                  <a:srgbClr val="FF0000"/>
                </a:solidFill>
              </a:rPr>
              <a:t>)</a:t>
            </a:r>
            <a:endParaRPr lang="en-US" altLang="zh-TW" sz="2400" dirty="0">
              <a:solidFill>
                <a:srgbClr val="FF0000"/>
              </a:solidFill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 smtClean="0">
                <a:solidFill>
                  <a:srgbClr val="FF0000"/>
                </a:solidFill>
              </a:rPr>
              <a:t>       </a:t>
            </a:r>
            <a:r>
              <a:rPr lang="en-US" sz="2400" dirty="0" smtClean="0">
                <a:solidFill>
                  <a:srgbClr val="F89900"/>
                </a:solidFill>
              </a:rPr>
              <a:t>Python:</a:t>
            </a:r>
            <a:r>
              <a:rPr lang="en-US" sz="2000" dirty="0" smtClean="0">
                <a:solidFill>
                  <a:srgbClr val="F89900"/>
                </a:solidFill>
              </a:rPr>
              <a:t> </a:t>
            </a:r>
            <a:r>
              <a:rPr lang="en-US" sz="2400" dirty="0" smtClean="0">
                <a:solidFill>
                  <a:srgbClr val="F89900"/>
                </a:solidFill>
              </a:rPr>
              <a:t>Union (</a:t>
            </a:r>
            <a:r>
              <a:rPr lang="en-US" sz="2400" dirty="0" smtClean="0">
                <a:solidFill>
                  <a:schemeClr val="tx1"/>
                </a:solidFill>
                <a:latin typeface="Lucida Console" panose="020B0609040504020204" pitchFamily="49" charset="0"/>
                <a:ea typeface="PMingLiU" panose="02020500000000000000" pitchFamily="18" charset="-120"/>
              </a:rPr>
              <a:t>|</a:t>
            </a:r>
            <a:r>
              <a:rPr lang="en-US" sz="2400" dirty="0" smtClean="0">
                <a:solidFill>
                  <a:srgbClr val="F89900"/>
                </a:solidFill>
              </a:rPr>
              <a:t>), </a:t>
            </a:r>
            <a:r>
              <a:rPr lang="en-US" sz="1000" dirty="0" smtClean="0">
                <a:solidFill>
                  <a:srgbClr val="F89900"/>
                </a:solidFill>
              </a:rPr>
              <a:t> </a:t>
            </a:r>
            <a:r>
              <a:rPr lang="en-US" sz="2400" dirty="0" smtClean="0">
                <a:solidFill>
                  <a:srgbClr val="F89900"/>
                </a:solidFill>
              </a:rPr>
              <a:t>Intersection (</a:t>
            </a:r>
            <a:r>
              <a:rPr lang="en-US" sz="2400" dirty="0" smtClean="0">
                <a:solidFill>
                  <a:schemeClr val="tx1"/>
                </a:solidFill>
                <a:latin typeface="Lucida Console" panose="020B0609040504020204" pitchFamily="49" charset="0"/>
                <a:ea typeface="新細明體" panose="02020500000000000000" pitchFamily="18" charset="-120"/>
              </a:rPr>
              <a:t>&amp;</a:t>
            </a:r>
            <a:r>
              <a:rPr lang="en-US" sz="2400" dirty="0" smtClean="0">
                <a:solidFill>
                  <a:srgbClr val="F89900"/>
                </a:solidFill>
              </a:rPr>
              <a:t>),</a:t>
            </a:r>
            <a:r>
              <a:rPr lang="en-US" sz="2000" dirty="0" smtClean="0">
                <a:solidFill>
                  <a:srgbClr val="F89900"/>
                </a:solidFill>
              </a:rPr>
              <a:t> </a:t>
            </a:r>
            <a:r>
              <a:rPr lang="en-US" sz="1600" dirty="0" smtClean="0">
                <a:solidFill>
                  <a:srgbClr val="F89900"/>
                </a:solidFill>
              </a:rPr>
              <a:t> </a:t>
            </a:r>
            <a:r>
              <a:rPr lang="en-US" sz="2400" dirty="0" err="1">
                <a:solidFill>
                  <a:srgbClr val="F89900"/>
                </a:solidFill>
              </a:rPr>
              <a:t>Xor</a:t>
            </a:r>
            <a:r>
              <a:rPr lang="en-US" sz="2400" dirty="0">
                <a:solidFill>
                  <a:srgbClr val="F89900"/>
                </a:solidFill>
              </a:rPr>
              <a:t> </a:t>
            </a:r>
            <a:r>
              <a:rPr lang="en-US" sz="2400" spc="60" dirty="0" smtClean="0">
                <a:solidFill>
                  <a:srgbClr val="F89900"/>
                </a:solidFill>
              </a:rPr>
              <a:t>(</a:t>
            </a:r>
            <a:r>
              <a:rPr lang="en-US" sz="2400" spc="6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^</a:t>
            </a:r>
            <a:r>
              <a:rPr lang="en-US" altLang="zh-TW" sz="2400" dirty="0" smtClean="0">
                <a:solidFill>
                  <a:srgbClr val="F89900"/>
                </a:solidFill>
              </a:rPr>
              <a:t>), </a:t>
            </a:r>
            <a:r>
              <a:rPr lang="en-US" altLang="zh-TW" sz="1600" dirty="0" smtClean="0">
                <a:solidFill>
                  <a:srgbClr val="F89900"/>
                </a:solidFill>
              </a:rPr>
              <a:t> </a:t>
            </a:r>
            <a:r>
              <a:rPr lang="en-US" altLang="zh-TW" sz="2400" dirty="0" smtClean="0">
                <a:solidFill>
                  <a:srgbClr val="F89900"/>
                </a:solidFill>
              </a:rPr>
              <a:t>Remove </a:t>
            </a:r>
            <a:r>
              <a:rPr lang="en-US" altLang="zh-TW" sz="2400" dirty="0">
                <a:solidFill>
                  <a:srgbClr val="F89900"/>
                </a:solidFill>
              </a:rPr>
              <a:t>subset </a:t>
            </a:r>
            <a:r>
              <a:rPr lang="en-US" altLang="zh-TW" sz="2400" dirty="0" smtClean="0">
                <a:solidFill>
                  <a:srgbClr val="F89900"/>
                </a:solidFill>
              </a:rPr>
              <a:t>(</a:t>
            </a:r>
            <a:r>
              <a:rPr lang="en-US" altLang="zh-TW" sz="2400" dirty="0" smtClean="0">
                <a:solidFill>
                  <a:schemeClr val="tx1"/>
                </a:solidFill>
                <a:latin typeface="Lucida Console" panose="020B0609040504020204" pitchFamily="49" charset="0"/>
                <a:ea typeface="新細明體" panose="02020500000000000000" pitchFamily="18" charset="-120"/>
              </a:rPr>
              <a:t>-</a:t>
            </a:r>
            <a:r>
              <a:rPr lang="en-US" altLang="zh-TW" sz="2400" dirty="0" smtClean="0">
                <a:solidFill>
                  <a:srgbClr val="F89900"/>
                </a:solidFill>
              </a:rPr>
              <a:t>)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lang="en-US" sz="2000" dirty="0" smtClean="0">
              <a:solidFill>
                <a:srgbClr val="FF0000"/>
              </a:solidFill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 smtClean="0">
                <a:solidFill>
                  <a:srgbClr val="7030A0"/>
                </a:solidFill>
              </a:rPr>
              <a:t>Comparing a set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3000" spc="-80" dirty="0" smtClean="0">
                <a:solidFill>
                  <a:srgbClr val="2D2DB9"/>
                </a:solidFill>
              </a:rPr>
              <a:t>Again, Python </a:t>
            </a:r>
            <a:r>
              <a:rPr lang="en-US" sz="3000" spc="-80" dirty="0">
                <a:solidFill>
                  <a:srgbClr val="2D2DB9"/>
                </a:solidFill>
              </a:rPr>
              <a:t>uses keyboard </a:t>
            </a:r>
            <a:r>
              <a:rPr lang="en-US" sz="3000" spc="-80" dirty="0" smtClean="0">
                <a:solidFill>
                  <a:srgbClr val="2D2DB9"/>
                </a:solidFill>
              </a:rPr>
              <a:t>equivalents</a:t>
            </a:r>
            <a:r>
              <a:rPr lang="en-US" altLang="zh-TW" sz="3000" spc="-80" dirty="0" smtClean="0">
                <a:solidFill>
                  <a:srgbClr val="2D2DB9"/>
                </a:solidFill>
              </a:rPr>
              <a:t>:</a:t>
            </a:r>
            <a:endParaRPr lang="en-US" altLang="zh-TW" sz="3000" spc="-80" dirty="0">
              <a:solidFill>
                <a:srgbClr val="2D2DB9"/>
              </a:solidFill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2D2DB9"/>
                </a:solidFill>
              </a:rPr>
              <a:t> </a:t>
            </a:r>
            <a:r>
              <a:rPr lang="en-US" sz="2400" dirty="0" smtClean="0">
                <a:solidFill>
                  <a:srgbClr val="2D2DB9"/>
                </a:solidFill>
              </a:rPr>
              <a:t>   </a:t>
            </a:r>
            <a:r>
              <a:rPr lang="en-US" sz="2400" dirty="0" smtClean="0">
                <a:solidFill>
                  <a:srgbClr val="FF0000"/>
                </a:solidFill>
              </a:rPr>
              <a:t>   Math:    Equals (</a:t>
            </a:r>
            <a:r>
              <a:rPr lang="en-US" sz="2400" dirty="0" smtClean="0">
                <a:solidFill>
                  <a:schemeClr val="tx1"/>
                </a:solidFill>
              </a:rPr>
              <a:t>=</a:t>
            </a:r>
            <a:r>
              <a:rPr lang="en-US" sz="2400" dirty="0" smtClean="0">
                <a:solidFill>
                  <a:srgbClr val="FF0000"/>
                </a:solidFill>
              </a:rPr>
              <a:t>), Contains </a:t>
            </a:r>
            <a:r>
              <a:rPr lang="en-US" sz="2400" dirty="0">
                <a:solidFill>
                  <a:srgbClr val="FF0000"/>
                </a:solidFill>
              </a:rPr>
              <a:t>(</a:t>
            </a:r>
            <a:r>
              <a:rPr lang="zh-TW" altLang="en-US" sz="2400" dirty="0">
                <a:solidFill>
                  <a:schemeClr val="tx1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⊆</a:t>
            </a:r>
            <a:r>
              <a:rPr lang="en-US" altLang="zh-TW" sz="2400" dirty="0" smtClean="0">
                <a:solidFill>
                  <a:srgbClr val="FF0000"/>
                </a:solidFill>
              </a:rPr>
              <a:t>), </a:t>
            </a:r>
            <a:r>
              <a:rPr lang="en-US" altLang="zh-TW" sz="1100" dirty="0" smtClean="0">
                <a:solidFill>
                  <a:srgbClr val="FF0000"/>
                </a:solidFill>
              </a:rPr>
              <a:t> </a:t>
            </a:r>
            <a:r>
              <a:rPr lang="en-US" altLang="zh-TW" sz="2400" dirty="0" smtClean="0">
                <a:solidFill>
                  <a:srgbClr val="FF0000"/>
                </a:solidFill>
              </a:rPr>
              <a:t>Is contained </a:t>
            </a:r>
            <a:r>
              <a:rPr lang="en-US" altLang="zh-TW" sz="2400" dirty="0">
                <a:solidFill>
                  <a:srgbClr val="FF0000"/>
                </a:solidFill>
              </a:rPr>
              <a:t>(</a:t>
            </a:r>
            <a:r>
              <a:rPr lang="zh-TW" altLang="en-US" sz="2400" dirty="0">
                <a:solidFill>
                  <a:schemeClr val="tx1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⊇</a:t>
            </a:r>
            <a:r>
              <a:rPr lang="en-US" altLang="zh-TW" sz="2400" dirty="0" smtClean="0">
                <a:solidFill>
                  <a:srgbClr val="FF0000"/>
                </a:solidFill>
              </a:rPr>
              <a:t>) </a:t>
            </a:r>
            <a:br>
              <a:rPr lang="en-US" altLang="zh-TW" sz="2400" dirty="0" smtClean="0">
                <a:solidFill>
                  <a:srgbClr val="FF0000"/>
                </a:solidFill>
              </a:rPr>
            </a:br>
            <a:r>
              <a:rPr lang="en-US" altLang="zh-TW" sz="2400" dirty="0" smtClean="0">
                <a:solidFill>
                  <a:srgbClr val="FF0000"/>
                </a:solidFill>
              </a:rPr>
              <a:t>       </a:t>
            </a:r>
            <a:r>
              <a:rPr lang="en-US" sz="2400" dirty="0" smtClean="0">
                <a:solidFill>
                  <a:srgbClr val="F89900"/>
                </a:solidFill>
              </a:rPr>
              <a:t>Python:</a:t>
            </a:r>
            <a:r>
              <a:rPr lang="en-US" sz="2000" dirty="0" smtClean="0">
                <a:solidFill>
                  <a:srgbClr val="F89900"/>
                </a:solidFill>
              </a:rPr>
              <a:t> </a:t>
            </a:r>
            <a:r>
              <a:rPr lang="en-US" sz="2400" dirty="0" smtClean="0">
                <a:solidFill>
                  <a:srgbClr val="F89900"/>
                </a:solidFill>
              </a:rPr>
              <a:t>Equal</a:t>
            </a:r>
            <a:r>
              <a:rPr lang="en-US" sz="2400" spc="-100" dirty="0" smtClean="0">
                <a:solidFill>
                  <a:srgbClr val="F89900"/>
                </a:solidFill>
              </a:rPr>
              <a:t>s (</a:t>
            </a:r>
            <a:r>
              <a:rPr lang="en-US" sz="2400" spc="-100" dirty="0" smtClean="0">
                <a:solidFill>
                  <a:schemeClr val="tx1"/>
                </a:solidFill>
              </a:rPr>
              <a:t>==</a:t>
            </a:r>
            <a:r>
              <a:rPr lang="en-US" sz="2400" spc="-100" dirty="0" smtClean="0">
                <a:solidFill>
                  <a:srgbClr val="F89900"/>
                </a:solidFill>
              </a:rPr>
              <a:t>)</a:t>
            </a:r>
            <a:r>
              <a:rPr lang="en-US" sz="2400" dirty="0" smtClean="0">
                <a:solidFill>
                  <a:srgbClr val="F89900"/>
                </a:solidFill>
              </a:rPr>
              <a:t>, Contain</a:t>
            </a:r>
            <a:r>
              <a:rPr lang="en-US" sz="2400" spc="-100" dirty="0" smtClean="0">
                <a:solidFill>
                  <a:srgbClr val="F89900"/>
                </a:solidFill>
              </a:rPr>
              <a:t>s</a:t>
            </a:r>
            <a:r>
              <a:rPr lang="en-US" sz="1100" spc="-100" dirty="0" smtClean="0">
                <a:solidFill>
                  <a:srgbClr val="F89900"/>
                </a:solidFill>
              </a:rPr>
              <a:t> </a:t>
            </a:r>
            <a:r>
              <a:rPr lang="en-US" sz="2400" spc="-100" dirty="0" smtClean="0">
                <a:solidFill>
                  <a:srgbClr val="F89900"/>
                </a:solidFill>
              </a:rPr>
              <a:t>(</a:t>
            </a:r>
            <a:r>
              <a:rPr lang="en-US" sz="2400" spc="-100" dirty="0" smtClean="0">
                <a:solidFill>
                  <a:schemeClr val="tx1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&gt;=</a:t>
            </a:r>
            <a:r>
              <a:rPr lang="en-US" altLang="zh-TW" sz="2400" spc="-100" dirty="0" smtClean="0">
                <a:solidFill>
                  <a:srgbClr val="F89900"/>
                </a:solidFill>
              </a:rPr>
              <a:t>)</a:t>
            </a:r>
            <a:r>
              <a:rPr lang="en-US" altLang="zh-TW" sz="2400" dirty="0" smtClean="0">
                <a:solidFill>
                  <a:srgbClr val="F89900"/>
                </a:solidFill>
              </a:rPr>
              <a:t>,</a:t>
            </a:r>
            <a:r>
              <a:rPr lang="en-US" altLang="zh-TW" sz="1800" dirty="0" smtClean="0">
                <a:solidFill>
                  <a:srgbClr val="F89900"/>
                </a:solidFill>
              </a:rPr>
              <a:t> </a:t>
            </a:r>
            <a:r>
              <a:rPr lang="en-US" altLang="zh-TW" sz="2400" dirty="0">
                <a:solidFill>
                  <a:srgbClr val="F89900"/>
                </a:solidFill>
              </a:rPr>
              <a:t>Is </a:t>
            </a:r>
            <a:r>
              <a:rPr lang="en-US" altLang="zh-TW" sz="2400" dirty="0" smtClean="0">
                <a:solidFill>
                  <a:srgbClr val="F89900"/>
                </a:solidFill>
              </a:rPr>
              <a:t>contained</a:t>
            </a:r>
            <a:r>
              <a:rPr lang="en-US" altLang="zh-TW" sz="1400" dirty="0" smtClean="0">
                <a:solidFill>
                  <a:srgbClr val="F89900"/>
                </a:solidFill>
              </a:rPr>
              <a:t> </a:t>
            </a:r>
            <a:r>
              <a:rPr lang="en-US" altLang="zh-TW" sz="2400" dirty="0" smtClean="0">
                <a:solidFill>
                  <a:srgbClr val="F89900"/>
                </a:solidFill>
              </a:rPr>
              <a:t>(</a:t>
            </a:r>
            <a:r>
              <a:rPr lang="en-US" altLang="zh-TW" sz="2400" dirty="0" smtClean="0">
                <a:solidFill>
                  <a:schemeClr val="tx1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&lt;=</a:t>
            </a:r>
            <a:r>
              <a:rPr lang="en-US" altLang="zh-TW" sz="2400" dirty="0" smtClean="0">
                <a:solidFill>
                  <a:srgbClr val="F8990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, </a:t>
            </a:r>
            <a:r>
              <a:rPr lang="en-US" altLang="zh-TW" sz="2000" dirty="0" smtClean="0">
                <a:solidFill>
                  <a:srgbClr val="F89900"/>
                </a:solidFill>
                <a:latin typeface="Arial Narrow" panose="020B0606020202030204" pitchFamily="34" charset="0"/>
                <a:ea typeface="新細明體" panose="02020500000000000000" pitchFamily="18" charset="-120"/>
              </a:rPr>
              <a:t>for 1 element:</a:t>
            </a:r>
            <a:r>
              <a:rPr lang="en-US" altLang="zh-TW" sz="1000" dirty="0" smtClean="0">
                <a:solidFill>
                  <a:srgbClr val="FF0000"/>
                </a:solidFill>
                <a:latin typeface="Arial Narrow" panose="020B0606020202030204" pitchFamily="34" charset="0"/>
                <a:ea typeface="新細明體" panose="02020500000000000000" pitchFamily="18" charset="-120"/>
              </a:rPr>
              <a:t> </a:t>
            </a:r>
            <a:r>
              <a:rPr lang="en-US" altLang="zh-TW" sz="2400" b="1" dirty="0" smtClean="0">
                <a:solidFill>
                  <a:schemeClr val="tx1"/>
                </a:solidFill>
                <a:latin typeface="Courier New" panose="02070309020205020404" pitchFamily="49" charset="0"/>
                <a:ea typeface="新細明體" panose="02020500000000000000" pitchFamily="18" charset="-120"/>
                <a:cs typeface="Courier New" panose="02070309020205020404" pitchFamily="49" charset="0"/>
              </a:rPr>
              <a:t>in</a:t>
            </a:r>
            <a:r>
              <a:rPr lang="en-US" altLang="zh-TW" sz="2400" dirty="0" smtClean="0">
                <a:solidFill>
                  <a:srgbClr val="F89900"/>
                </a:solidFill>
              </a:rPr>
              <a:t>)</a:t>
            </a:r>
            <a:endParaRPr lang="en-US" altLang="zh-TW" sz="2600" dirty="0">
              <a:solidFill>
                <a:srgbClr val="F89900"/>
              </a:solidFill>
            </a:endParaRP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>
          <a:xfrm>
            <a:off x="0" y="152873"/>
            <a:ext cx="9729788" cy="7615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729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511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400" dirty="0" smtClean="0">
                <a:solidFill>
                  <a:srgbClr val="0070C0"/>
                </a:solidFill>
                <a:cs typeface="Arial" panose="020B0604020202020204" pitchFamily="34" charset="0"/>
              </a:rPr>
              <a:t>The Notation (</a:t>
            </a:r>
            <a:r>
              <a:rPr lang="zh-TW" altLang="en-US" sz="4000" b="1" dirty="0" smtClean="0">
                <a:solidFill>
                  <a:srgbClr val="0070C0"/>
                </a:solidFill>
                <a:latin typeface="MS PGothic" panose="020B0600070205080204" pitchFamily="34" charset="-128"/>
                <a:ea typeface="MS PGothic" panose="020B0600070205080204" pitchFamily="34" charset="-128"/>
                <a:cs typeface="Arial" panose="020B0604020202020204" pitchFamily="34" charset="0"/>
              </a:rPr>
              <a:t>符</a:t>
            </a:r>
            <a:r>
              <a:rPr lang="zh-TW" altLang="en-US" sz="4000" b="1" dirty="0">
                <a:solidFill>
                  <a:srgbClr val="0070C0"/>
                </a:solidFill>
                <a:latin typeface="MS PGothic" panose="020B0600070205080204" pitchFamily="34" charset="-128"/>
                <a:ea typeface="MS PGothic" panose="020B0600070205080204" pitchFamily="34" charset="-128"/>
                <a:cs typeface="Arial" panose="020B0604020202020204" pitchFamily="34" charset="0"/>
              </a:rPr>
              <a:t>號</a:t>
            </a:r>
            <a:r>
              <a:rPr lang="en-US" altLang="zh-TW" sz="4400" dirty="0" smtClean="0">
                <a:solidFill>
                  <a:srgbClr val="0070C0"/>
                </a:solidFill>
                <a:cs typeface="Arial" panose="020B0604020202020204" pitchFamily="34" charset="0"/>
              </a:rPr>
              <a:t>) </a:t>
            </a:r>
            <a:r>
              <a:rPr lang="en-US" altLang="en-US" sz="4400" dirty="0" smtClean="0">
                <a:solidFill>
                  <a:srgbClr val="0070C0"/>
                </a:solidFill>
                <a:cs typeface="Arial" panose="020B0604020202020204" pitchFamily="34" charset="0"/>
              </a:rPr>
              <a:t>for Sets</a:t>
            </a:r>
            <a:endParaRPr lang="en-US" altLang="en-US" sz="4400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765410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295733" y="792805"/>
            <a:ext cx="9138323" cy="6016062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lang="en-US" sz="3600" dirty="0" smtClean="0">
                <a:solidFill>
                  <a:srgbClr val="FF0000"/>
                </a:solidFill>
              </a:rPr>
              <a:t>Python sets are </a:t>
            </a:r>
            <a:r>
              <a:rPr lang="en-US" sz="3600" u="sng" dirty="0" smtClean="0">
                <a:solidFill>
                  <a:srgbClr val="FF0000"/>
                </a:solidFill>
              </a:rPr>
              <a:t>unordered</a:t>
            </a:r>
            <a:r>
              <a:rPr lang="en-US" sz="3600" dirty="0" smtClean="0">
                <a:solidFill>
                  <a:srgbClr val="FF0000"/>
                </a:solidFill>
              </a:rPr>
              <a:t>.</a:t>
            </a:r>
            <a:endParaRPr lang="en-US" sz="3600" dirty="0">
              <a:solidFill>
                <a:srgbClr val="FF0000"/>
              </a:solidFill>
            </a:endParaRPr>
          </a:p>
          <a:p>
            <a:pPr lvl="1">
              <a:spcBef>
                <a:spcPts val="555"/>
              </a:spcBef>
            </a:pPr>
            <a:r>
              <a:rPr lang="en-US" altLang="zh-TW" sz="2998" dirty="0">
                <a:solidFill>
                  <a:srgbClr val="FF0000"/>
                </a:solidFill>
              </a:rPr>
              <a:t>One implication </a:t>
            </a:r>
            <a:r>
              <a:rPr lang="en-US" altLang="zh-TW" sz="2998" dirty="0" smtClean="0">
                <a:solidFill>
                  <a:srgbClr val="FF0000"/>
                </a:solidFill>
              </a:rPr>
              <a:t>(</a:t>
            </a:r>
            <a:r>
              <a:rPr lang="zh-TW" altLang="en-US" sz="2800" dirty="0" smtClean="0">
                <a:solidFill>
                  <a:srgbClr val="FF0000"/>
                </a:solidFill>
              </a:rPr>
              <a:t>其中一個意義</a:t>
            </a:r>
            <a:r>
              <a:rPr lang="en-US" altLang="zh-TW" sz="2998" dirty="0" smtClean="0">
                <a:solidFill>
                  <a:srgbClr val="FF0000"/>
                </a:solidFill>
              </a:rPr>
              <a:t>) of </a:t>
            </a:r>
            <a:r>
              <a:rPr lang="en-US" altLang="zh-TW" sz="2998" dirty="0">
                <a:solidFill>
                  <a:srgbClr val="FF0000"/>
                </a:solidFill>
              </a:rPr>
              <a:t>this </a:t>
            </a:r>
            <a:r>
              <a:rPr lang="en-US" altLang="zh-TW" sz="2998" dirty="0" smtClean="0">
                <a:solidFill>
                  <a:srgbClr val="FF0000"/>
                </a:solidFill>
              </a:rPr>
              <a:t>is that </a:t>
            </a:r>
            <a:r>
              <a:rPr lang="en-US" altLang="zh-TW" sz="2998" dirty="0">
                <a:solidFill>
                  <a:srgbClr val="FF0000"/>
                </a:solidFill>
              </a:rPr>
              <a:t>you </a:t>
            </a:r>
            <a:r>
              <a:rPr lang="en-US" altLang="zh-TW" sz="2998" dirty="0" smtClean="0">
                <a:solidFill>
                  <a:srgbClr val="FF0000"/>
                </a:solidFill>
              </a:rPr>
              <a:t>cannot </a:t>
            </a:r>
            <a:r>
              <a:rPr lang="en-US" altLang="zh-TW" sz="2998" dirty="0">
                <a:solidFill>
                  <a:srgbClr val="FF0000"/>
                </a:solidFill>
              </a:rPr>
              <a:t>use order-based syntax:</a:t>
            </a:r>
          </a:p>
          <a:p>
            <a:pPr marL="456933" lvl="1" indent="0">
              <a:spcBef>
                <a:spcPts val="0"/>
              </a:spcBef>
              <a:buNone/>
            </a:pPr>
            <a:r>
              <a:rPr lang="en-US" altLang="zh-TW" sz="2798" dirty="0">
                <a:solidFill>
                  <a:srgbClr val="FF0000"/>
                </a:solidFill>
                <a:latin typeface="Lucida Console" panose="020B0609040504020204" pitchFamily="49" charset="0"/>
              </a:rPr>
              <a:t>  &gt;&gt;&gt; a={1,5,3}; print(</a:t>
            </a:r>
            <a:r>
              <a:rPr lang="en-US" altLang="zh-TW" sz="2798" dirty="0">
                <a:solidFill>
                  <a:srgbClr val="0070C0"/>
                </a:solidFill>
                <a:latin typeface="Lucida Console" panose="020B0609040504020204" pitchFamily="49" charset="0"/>
              </a:rPr>
              <a:t>a[1]</a:t>
            </a:r>
            <a:r>
              <a:rPr lang="en-US" altLang="zh-TW" sz="2798" dirty="0">
                <a:solidFill>
                  <a:srgbClr val="FF0000"/>
                </a:solidFill>
                <a:latin typeface="Lucida Console" panose="020B0609040504020204" pitchFamily="49" charset="0"/>
              </a:rPr>
              <a:t>) #an </a:t>
            </a:r>
            <a:r>
              <a:rPr lang="en-US" altLang="zh-TW" sz="2798" dirty="0">
                <a:solidFill>
                  <a:srgbClr val="0070C0"/>
                </a:solidFill>
                <a:latin typeface="Lucida Console" panose="020B0609040504020204" pitchFamily="49" charset="0"/>
              </a:rPr>
              <a:t>error</a:t>
            </a:r>
          </a:p>
          <a:p>
            <a:pPr lvl="1">
              <a:spcBef>
                <a:spcPts val="600"/>
              </a:spcBef>
            </a:pPr>
            <a:r>
              <a:rPr lang="en-US" altLang="zh-TW" sz="2998" dirty="0">
                <a:solidFill>
                  <a:srgbClr val="FF0000"/>
                </a:solidFill>
              </a:rPr>
              <a:t>Another implication is comparisons ignore order: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798" dirty="0">
                <a:solidFill>
                  <a:srgbClr val="FF0000"/>
                </a:solidFill>
                <a:latin typeface="Lucida Console" panose="020B0609040504020204" pitchFamily="49" charset="0"/>
              </a:rPr>
              <a:t>    &gt;&gt;&gt; {1, 2, 3} == {3, 2, 1}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798" dirty="0">
                <a:solidFill>
                  <a:srgbClr val="FF0000"/>
                </a:solidFill>
                <a:latin typeface="Lucida Console" panose="020B0609040504020204" pitchFamily="49" charset="0"/>
              </a:rPr>
              <a:t>   </a:t>
            </a:r>
            <a:r>
              <a:rPr lang="en-US" altLang="zh-TW" sz="1799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798" dirty="0">
                <a:solidFill>
                  <a:srgbClr val="0070C0"/>
                </a:solidFill>
                <a:latin typeface="Lucida Console" panose="020B0609040504020204" pitchFamily="49" charset="0"/>
              </a:rPr>
              <a:t>True</a:t>
            </a:r>
          </a:p>
          <a:p>
            <a:pPr lvl="1">
              <a:spcBef>
                <a:spcPts val="600"/>
              </a:spcBef>
            </a:pPr>
            <a:r>
              <a:rPr lang="en-US" sz="2998" dirty="0">
                <a:solidFill>
                  <a:srgbClr val="FF0000"/>
                </a:solidFill>
              </a:rPr>
              <a:t>Another implication is elements don’t repeat: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798" dirty="0">
                <a:solidFill>
                  <a:srgbClr val="FF0000"/>
                </a:solidFill>
                <a:latin typeface="Lucida Console" panose="020B0609040504020204" pitchFamily="49" charset="0"/>
              </a:rPr>
              <a:t>    &gt;&gt;&gt; {1, 5, 3, 2, 1, 5, 3, 4, 1, 1, 1}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798" dirty="0">
                <a:solidFill>
                  <a:srgbClr val="FF0000"/>
                </a:solidFill>
                <a:latin typeface="Lucida Console" panose="020B0609040504020204" pitchFamily="49" charset="0"/>
              </a:rPr>
              <a:t>   </a:t>
            </a:r>
            <a:r>
              <a:rPr lang="en-US" altLang="zh-TW" sz="1799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798" dirty="0">
                <a:solidFill>
                  <a:srgbClr val="0070C0"/>
                </a:solidFill>
                <a:latin typeface="Lucida Console" panose="020B0609040504020204" pitchFamily="49" charset="0"/>
              </a:rPr>
              <a:t>{1, 2, 3, 4, 5}</a:t>
            </a:r>
          </a:p>
          <a:p>
            <a:pPr>
              <a:spcBef>
                <a:spcPts val="0"/>
              </a:spcBef>
            </a:pPr>
            <a:r>
              <a:rPr lang="en-US" altLang="zh-TW" sz="3600" dirty="0" smtClean="0">
                <a:solidFill>
                  <a:srgbClr val="FF0000"/>
                </a:solidFill>
              </a:rPr>
              <a:t>But </a:t>
            </a:r>
            <a:r>
              <a:rPr lang="en-US" altLang="zh-TW" sz="3600" i="1" dirty="0">
                <a:solidFill>
                  <a:srgbClr val="7030A0"/>
                </a:solidFill>
              </a:rPr>
              <a:t>lists</a:t>
            </a:r>
            <a:r>
              <a:rPr lang="en-US" altLang="zh-TW" sz="3600" dirty="0">
                <a:solidFill>
                  <a:srgbClr val="FF0000"/>
                </a:solidFill>
              </a:rPr>
              <a:t> are ordered, and can repeat: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798" dirty="0">
                <a:solidFill>
                  <a:srgbClr val="FF0000"/>
                </a:solidFill>
                <a:latin typeface="Lucida Console" panose="020B0609040504020204" pitchFamily="49" charset="0"/>
              </a:rPr>
              <a:t>	&gt;&gt;&gt; [1, 5, 3, 2, 1, 5, 3, 4, 1, 1, 1]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798" dirty="0">
                <a:solidFill>
                  <a:srgbClr val="FF0000"/>
                </a:solidFill>
                <a:latin typeface="Lucida Console" panose="020B0609040504020204" pitchFamily="49" charset="0"/>
              </a:rPr>
              <a:t>   </a:t>
            </a:r>
            <a:r>
              <a:rPr lang="en-US" altLang="zh-TW" sz="1999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798" dirty="0">
                <a:solidFill>
                  <a:srgbClr val="0070C0"/>
                </a:solidFill>
                <a:latin typeface="Lucida Console" panose="020B0609040504020204" pitchFamily="49" charset="0"/>
              </a:rPr>
              <a:t>[1, 5, 3, 2, 1, 5, 3, 4, 1, 1, 1]</a:t>
            </a:r>
          </a:p>
          <a:p>
            <a:pPr marL="0" indent="0">
              <a:spcBef>
                <a:spcPts val="0"/>
              </a:spcBef>
              <a:buNone/>
            </a:pPr>
            <a:endParaRPr lang="en-US" altLang="zh-TW" sz="2798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0" y="76200"/>
            <a:ext cx="9729788" cy="914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729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511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400" dirty="0" smtClean="0">
                <a:solidFill>
                  <a:srgbClr val="0070C0"/>
                </a:solidFill>
                <a:cs typeface="Arial" panose="020B0604020202020204" pitchFamily="34" charset="0"/>
              </a:rPr>
              <a:t>Python Sets</a:t>
            </a:r>
            <a:endParaRPr lang="en-US" altLang="en-US" sz="4400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267259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3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3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8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295733" y="792805"/>
            <a:ext cx="9369761" cy="6016062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lang="en-US" sz="3400" dirty="0">
                <a:solidFill>
                  <a:srgbClr val="FF0000"/>
                </a:solidFill>
              </a:rPr>
              <a:t>Python set elements must be immutable</a:t>
            </a:r>
            <a:r>
              <a:rPr lang="en-US" sz="3400" dirty="0" smtClean="0">
                <a:solidFill>
                  <a:srgbClr val="FF0000"/>
                </a:solidFill>
              </a:rPr>
              <a:t>.</a:t>
            </a:r>
          </a:p>
          <a:p>
            <a:pPr lvl="1">
              <a:spcBef>
                <a:spcPts val="0"/>
              </a:spcBef>
            </a:pPr>
            <a:r>
              <a:rPr lang="en-US" sz="3200" dirty="0" smtClean="0">
                <a:solidFill>
                  <a:srgbClr val="FF0000"/>
                </a:solidFill>
              </a:rPr>
              <a:t>Even though the set, itself, is mutable.</a:t>
            </a:r>
            <a:endParaRPr lang="en-US" sz="3200" dirty="0">
              <a:solidFill>
                <a:srgbClr val="FF0000"/>
              </a:solidFill>
            </a:endParaRPr>
          </a:p>
          <a:p>
            <a:pPr lvl="0">
              <a:spcBef>
                <a:spcPts val="0"/>
              </a:spcBef>
            </a:pPr>
            <a:r>
              <a:rPr lang="en-US" sz="3400" dirty="0" smtClean="0">
                <a:solidFill>
                  <a:srgbClr val="FF0000"/>
                </a:solidFill>
              </a:rPr>
              <a:t>This limitation exists as a consequence of the </a:t>
            </a:r>
            <a:r>
              <a:rPr lang="en-US" sz="3400" spc="-30" dirty="0" smtClean="0">
                <a:solidFill>
                  <a:srgbClr val="FF0000"/>
                </a:solidFill>
              </a:rPr>
              <a:t>requirement that set elements must be unique:</a:t>
            </a:r>
          </a:p>
          <a:p>
            <a:pPr lvl="1">
              <a:spcBef>
                <a:spcPts val="0"/>
              </a:spcBef>
            </a:pPr>
            <a:r>
              <a:rPr lang="en-US" sz="3000" dirty="0">
                <a:solidFill>
                  <a:srgbClr val="FF0000"/>
                </a:solidFill>
              </a:rPr>
              <a:t>I</a:t>
            </a:r>
            <a:r>
              <a:rPr lang="en-US" sz="3000" dirty="0" smtClean="0">
                <a:solidFill>
                  <a:srgbClr val="FF0000"/>
                </a:solidFill>
              </a:rPr>
              <a:t>f you were to allow </a:t>
            </a:r>
            <a:r>
              <a:rPr lang="en-US" sz="3000" dirty="0">
                <a:solidFill>
                  <a:srgbClr val="FF0000"/>
                </a:solidFill>
              </a:rPr>
              <a:t>those elements to be changed after they’ve been </a:t>
            </a:r>
            <a:r>
              <a:rPr lang="en-US" sz="3000" dirty="0" smtClean="0">
                <a:solidFill>
                  <a:srgbClr val="FF0000"/>
                </a:solidFill>
              </a:rPr>
              <a:t>added, like so:</a:t>
            </a:r>
            <a:endParaRPr lang="en-US" sz="3000" dirty="0">
              <a:solidFill>
                <a:srgbClr val="FF0000"/>
              </a:solidFill>
            </a:endParaRPr>
          </a:p>
          <a:p>
            <a:pPr marL="456932" lvl="1" indent="0">
              <a:spcBef>
                <a:spcPts val="0"/>
              </a:spcBef>
              <a:buNone/>
            </a:pPr>
            <a:r>
              <a:rPr lang="en-US" altLang="zh-TW" sz="2400" spc="-50" dirty="0" smtClean="0">
                <a:solidFill>
                  <a:srgbClr val="00B0F0"/>
                </a:solidFill>
                <a:latin typeface="Lucida Sans Typewriter" panose="020B0509030504030204" pitchFamily="49" charset="0"/>
              </a:rPr>
              <a:t>  &gt;&gt;&gt; </a:t>
            </a:r>
            <a:r>
              <a:rPr lang="en-US" altLang="zh-TW" sz="2400" b="1" spc="-50" dirty="0">
                <a:solidFill>
                  <a:srgbClr val="7030A0"/>
                </a:solidFill>
                <a:latin typeface="Lucida Sans Typewriter" panose="020B0509030504030204" pitchFamily="49" charset="0"/>
              </a:rPr>
              <a:t>L</a:t>
            </a:r>
            <a:r>
              <a:rPr lang="en-US" altLang="zh-TW" sz="2400" spc="-50" dirty="0">
                <a:solidFill>
                  <a:srgbClr val="00B0F0"/>
                </a:solidFill>
                <a:latin typeface="Lucida Sans Typewriter" panose="020B0509030504030204" pitchFamily="49" charset="0"/>
              </a:rPr>
              <a:t>=[1,2</a:t>
            </a:r>
            <a:r>
              <a:rPr lang="en-US" altLang="zh-TW" sz="2400" spc="-50" dirty="0" smtClean="0">
                <a:solidFill>
                  <a:srgbClr val="00B0F0"/>
                </a:solidFill>
                <a:latin typeface="Lucida Sans Typewriter" panose="020B0509030504030204" pitchFamily="49" charset="0"/>
              </a:rPr>
              <a:t>];</a:t>
            </a:r>
            <a:r>
              <a:rPr lang="en-US" altLang="zh-TW" sz="2400" spc="-50" dirty="0" smtClean="0">
                <a:solidFill>
                  <a:schemeClr val="tx1"/>
                </a:solidFill>
                <a:latin typeface="Lucida Sans Typewriter" panose="020B0509030504030204" pitchFamily="49" charset="0"/>
              </a:rPr>
              <a:t>S</a:t>
            </a:r>
            <a:r>
              <a:rPr lang="en-US" altLang="zh-TW" sz="2400" spc="-50" dirty="0" smtClean="0">
                <a:solidFill>
                  <a:srgbClr val="00B0F0"/>
                </a:solidFill>
                <a:latin typeface="Lucida Sans Typewriter" panose="020B0509030504030204" pitchFamily="49" charset="0"/>
              </a:rPr>
              <a:t>={</a:t>
            </a:r>
            <a:r>
              <a:rPr lang="en-US" altLang="zh-TW" sz="2400" b="1" spc="-50" dirty="0" smtClean="0">
                <a:solidFill>
                  <a:srgbClr val="92D050"/>
                </a:solidFill>
                <a:latin typeface="Lucida Sans Typewriter" panose="020B0509030504030204" pitchFamily="49" charset="0"/>
              </a:rPr>
              <a:t>[</a:t>
            </a:r>
            <a:r>
              <a:rPr lang="en-US" altLang="zh-TW" sz="500" b="1" spc="-50" dirty="0" smtClean="0">
                <a:solidFill>
                  <a:srgbClr val="92D050"/>
                </a:solidFill>
                <a:latin typeface="Lucida Sans Typewriter" panose="020B0509030504030204" pitchFamily="49" charset="0"/>
              </a:rPr>
              <a:t> </a:t>
            </a:r>
            <a:r>
              <a:rPr lang="en-US" altLang="zh-TW" sz="2400" b="1" spc="-200" dirty="0" smtClean="0">
                <a:solidFill>
                  <a:srgbClr val="92D050"/>
                </a:solidFill>
                <a:latin typeface="Lucida Sans Typewriter" panose="020B0509030504030204" pitchFamily="49" charset="0"/>
              </a:rPr>
              <a:t>]</a:t>
            </a:r>
            <a:r>
              <a:rPr lang="en-US" altLang="zh-TW" sz="2400" spc="-50" dirty="0" smtClean="0">
                <a:solidFill>
                  <a:srgbClr val="00B0F0"/>
                </a:solidFill>
                <a:latin typeface="Lucida Sans Typewriter" panose="020B0509030504030204" pitchFamily="49" charset="0"/>
              </a:rPr>
              <a:t>,</a:t>
            </a:r>
            <a:r>
              <a:rPr lang="en-US" altLang="zh-TW" sz="2400" b="1" spc="-50" dirty="0">
                <a:solidFill>
                  <a:srgbClr val="7030A0"/>
                </a:solidFill>
                <a:latin typeface="Lucida Sans Typewriter" panose="020B0509030504030204" pitchFamily="49" charset="0"/>
              </a:rPr>
              <a:t>L</a:t>
            </a:r>
            <a:r>
              <a:rPr lang="en-US" altLang="zh-TW" sz="2400" spc="-200" dirty="0">
                <a:solidFill>
                  <a:srgbClr val="00B0F0"/>
                </a:solidFill>
                <a:latin typeface="Lucida Sans Typewriter" panose="020B0509030504030204" pitchFamily="49" charset="0"/>
              </a:rPr>
              <a:t>}</a:t>
            </a:r>
            <a:r>
              <a:rPr lang="en-US" altLang="zh-TW" sz="2400" spc="-50" dirty="0">
                <a:solidFill>
                  <a:srgbClr val="00B0F0"/>
                </a:solidFill>
                <a:latin typeface="Lucida Sans Typewriter" panose="020B0509030504030204" pitchFamily="49" charset="0"/>
              </a:rPr>
              <a:t>;</a:t>
            </a:r>
            <a:r>
              <a:rPr lang="en-US" altLang="zh-TW" sz="2400" b="1" spc="-170" dirty="0" err="1">
                <a:solidFill>
                  <a:srgbClr val="7030A0"/>
                </a:solidFill>
                <a:latin typeface="Lucida Sans Typewriter" panose="020B0509030504030204" pitchFamily="49" charset="0"/>
              </a:rPr>
              <a:t>L.</a:t>
            </a:r>
            <a:r>
              <a:rPr lang="en-US" altLang="zh-TW" sz="2400" b="1" spc="-50" dirty="0" err="1">
                <a:solidFill>
                  <a:srgbClr val="7030A0"/>
                </a:solidFill>
                <a:latin typeface="Lucida Sans Typewriter" panose="020B0509030504030204" pitchFamily="49" charset="0"/>
              </a:rPr>
              <a:t>clear</a:t>
            </a:r>
            <a:r>
              <a:rPr lang="en-US" altLang="zh-TW" sz="2400" b="1" spc="-50" dirty="0">
                <a:solidFill>
                  <a:srgbClr val="7030A0"/>
                </a:solidFill>
                <a:latin typeface="Lucida Sans Typewriter" panose="020B0509030504030204" pitchFamily="49" charset="0"/>
              </a:rPr>
              <a:t>(</a:t>
            </a:r>
            <a:r>
              <a:rPr lang="en-US" altLang="zh-TW" sz="2400" b="1" spc="-200" dirty="0">
                <a:solidFill>
                  <a:srgbClr val="7030A0"/>
                </a:solidFill>
                <a:latin typeface="Lucida Sans Typewriter" panose="020B0509030504030204" pitchFamily="49" charset="0"/>
              </a:rPr>
              <a:t>)</a:t>
            </a:r>
            <a:r>
              <a:rPr lang="en-US" altLang="zh-TW" sz="2400" spc="-50" dirty="0">
                <a:solidFill>
                  <a:srgbClr val="00B0F0"/>
                </a:solidFill>
                <a:latin typeface="Lucida Sans Typewriter" panose="020B0509030504030204" pitchFamily="49" charset="0"/>
              </a:rPr>
              <a:t>;</a:t>
            </a:r>
            <a:r>
              <a:rPr lang="en-US" altLang="zh-TW" sz="2400" dirty="0" err="1" smtClean="0">
                <a:solidFill>
                  <a:srgbClr val="00B0F0"/>
                </a:solidFill>
                <a:latin typeface="Lucida Sans Typewriter" panose="020B0509030504030204" pitchFamily="49" charset="0"/>
              </a:rPr>
              <a:t>le</a:t>
            </a:r>
            <a:r>
              <a:rPr lang="en-US" altLang="zh-TW" sz="2400" spc="-200" dirty="0" err="1" smtClean="0">
                <a:solidFill>
                  <a:srgbClr val="00B0F0"/>
                </a:solidFill>
                <a:latin typeface="Lucida Sans Typewriter" panose="020B0509030504030204" pitchFamily="49" charset="0"/>
              </a:rPr>
              <a:t>n</a:t>
            </a:r>
            <a:r>
              <a:rPr lang="en-US" altLang="zh-TW" sz="2400" spc="-200" dirty="0" smtClean="0">
                <a:solidFill>
                  <a:srgbClr val="00B0F0"/>
                </a:solidFill>
                <a:latin typeface="Lucida Sans Typewriter" panose="020B0509030504030204" pitchFamily="49" charset="0"/>
              </a:rPr>
              <a:t>(</a:t>
            </a:r>
            <a:r>
              <a:rPr lang="en-US" altLang="zh-TW" sz="2400" spc="-200" dirty="0" smtClean="0">
                <a:solidFill>
                  <a:schemeClr val="tx1"/>
                </a:solidFill>
                <a:latin typeface="Lucida Sans Typewriter" panose="020B0509030504030204" pitchFamily="49" charset="0"/>
              </a:rPr>
              <a:t>S</a:t>
            </a:r>
            <a:r>
              <a:rPr lang="en-US" altLang="zh-TW" sz="2400" dirty="0" smtClean="0">
                <a:solidFill>
                  <a:srgbClr val="00B0F0"/>
                </a:solidFill>
                <a:latin typeface="Lucida Sans Typewriter" panose="020B0509030504030204" pitchFamily="49" charset="0"/>
              </a:rPr>
              <a:t>)</a:t>
            </a:r>
            <a:r>
              <a:rPr lang="en-US" altLang="zh-TW" sz="2400" dirty="0" smtClean="0">
                <a:solidFill>
                  <a:schemeClr val="tx1"/>
                </a:solidFill>
                <a:latin typeface="Arial Narrow" panose="020B0606020202030204" pitchFamily="34" charset="0"/>
              </a:rPr>
              <a:t>#</a:t>
            </a:r>
            <a:r>
              <a:rPr lang="en-US" altLang="zh-TW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400" dirty="0" smtClean="0">
                <a:solidFill>
                  <a:schemeClr val="tx1"/>
                </a:solidFill>
                <a:latin typeface="Arial Narrow" panose="020B0606020202030204" pitchFamily="34" charset="0"/>
              </a:rPr>
              <a:t>s </a:t>
            </a:r>
            <a:r>
              <a:rPr lang="en-US" altLang="zh-TW" sz="2400" dirty="0" err="1" smtClean="0">
                <a:solidFill>
                  <a:schemeClr val="tx1"/>
                </a:solidFill>
                <a:latin typeface="Arial Narrow" panose="020B0606020202030204" pitchFamily="34" charset="0"/>
              </a:rPr>
              <a:t>len</a:t>
            </a:r>
            <a:r>
              <a:rPr lang="en-US" altLang="zh-TW" sz="2400" dirty="0" smtClean="0">
                <a:solidFill>
                  <a:schemeClr val="tx1"/>
                </a:solidFill>
                <a:latin typeface="Arial Narrow" panose="020B0606020202030204" pitchFamily="34" charset="0"/>
              </a:rPr>
              <a:t>=1 </a:t>
            </a:r>
            <a:r>
              <a:rPr lang="en-US" altLang="zh-TW" sz="2400" dirty="0">
                <a:solidFill>
                  <a:schemeClr val="tx1"/>
                </a:solidFill>
                <a:latin typeface="Arial Narrow" panose="020B0606020202030204" pitchFamily="34" charset="0"/>
              </a:rPr>
              <a:t>or 2</a:t>
            </a:r>
            <a:r>
              <a:rPr lang="en-US" altLang="zh-TW" sz="2400" dirty="0" smtClean="0">
                <a:solidFill>
                  <a:schemeClr val="tx1"/>
                </a:solidFill>
                <a:latin typeface="Arial Narrow" panose="020B0606020202030204" pitchFamily="34" charset="0"/>
              </a:rPr>
              <a:t>?</a:t>
            </a:r>
            <a:endParaRPr lang="en-US" altLang="zh-TW" sz="2400" dirty="0">
              <a:solidFill>
                <a:schemeClr val="tx1"/>
              </a:solidFill>
              <a:latin typeface="Arial Narrow" panose="020B0606020202030204" pitchFamily="34" charset="0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0" y="76200"/>
            <a:ext cx="9729788" cy="914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729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511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400" dirty="0" smtClean="0">
                <a:solidFill>
                  <a:srgbClr val="0070C0"/>
                </a:solidFill>
                <a:cs typeface="Arial" panose="020B0604020202020204" pitchFamily="34" charset="0"/>
              </a:rPr>
              <a:t>Set Elements</a:t>
            </a:r>
            <a:endParaRPr lang="en-US" altLang="en-US" sz="4400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830770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295733" y="792805"/>
            <a:ext cx="9369761" cy="6016062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lang="en-US" sz="3400" dirty="0">
                <a:solidFill>
                  <a:schemeClr val="bg1">
                    <a:lumMod val="65000"/>
                  </a:schemeClr>
                </a:solidFill>
              </a:rPr>
              <a:t>Python set elements must be immutable</a:t>
            </a:r>
            <a:r>
              <a:rPr lang="en-US" sz="3400" dirty="0" smtClean="0">
                <a:solidFill>
                  <a:schemeClr val="bg1">
                    <a:lumMod val="65000"/>
                  </a:schemeClr>
                </a:solidFill>
              </a:rPr>
              <a:t>.</a:t>
            </a:r>
          </a:p>
          <a:p>
            <a:pPr lvl="1">
              <a:spcBef>
                <a:spcPts val="0"/>
              </a:spcBef>
            </a:pPr>
            <a:r>
              <a:rPr lang="en-US" sz="3200" dirty="0" smtClean="0">
                <a:solidFill>
                  <a:schemeClr val="bg1">
                    <a:lumMod val="65000"/>
                  </a:schemeClr>
                </a:solidFill>
              </a:rPr>
              <a:t>Even though the set, itself, is mutable.</a:t>
            </a:r>
            <a:endParaRPr lang="en-US" sz="3200" dirty="0">
              <a:solidFill>
                <a:schemeClr val="bg1">
                  <a:lumMod val="65000"/>
                </a:schemeClr>
              </a:solidFill>
            </a:endParaRPr>
          </a:p>
          <a:p>
            <a:pPr lvl="0">
              <a:spcBef>
                <a:spcPts val="0"/>
              </a:spcBef>
            </a:pPr>
            <a:r>
              <a:rPr lang="en-US" sz="3400" dirty="0" smtClean="0">
                <a:solidFill>
                  <a:schemeClr val="bg1">
                    <a:lumMod val="65000"/>
                  </a:schemeClr>
                </a:solidFill>
              </a:rPr>
              <a:t>This limitation exists as a consequence of the </a:t>
            </a:r>
            <a:r>
              <a:rPr lang="en-US" sz="3400" spc="-30" dirty="0" smtClean="0">
                <a:solidFill>
                  <a:schemeClr val="bg1">
                    <a:lumMod val="65000"/>
                  </a:schemeClr>
                </a:solidFill>
              </a:rPr>
              <a:t>requirement that set elements must be unique:</a:t>
            </a:r>
          </a:p>
          <a:p>
            <a:pPr lvl="1">
              <a:spcBef>
                <a:spcPts val="0"/>
              </a:spcBef>
            </a:pPr>
            <a:r>
              <a:rPr lang="en-US" sz="3000" dirty="0">
                <a:solidFill>
                  <a:srgbClr val="FF0000"/>
                </a:solidFill>
              </a:rPr>
              <a:t>I</a:t>
            </a:r>
            <a:r>
              <a:rPr lang="en-US" sz="3000" dirty="0" smtClean="0">
                <a:solidFill>
                  <a:srgbClr val="FF0000"/>
                </a:solidFill>
              </a:rPr>
              <a:t>f you were to allow </a:t>
            </a:r>
            <a:r>
              <a:rPr lang="en-US" sz="3000" dirty="0">
                <a:solidFill>
                  <a:srgbClr val="FF0000"/>
                </a:solidFill>
              </a:rPr>
              <a:t>those elements to be changed after they’ve been </a:t>
            </a:r>
            <a:r>
              <a:rPr lang="en-US" sz="3000" dirty="0" smtClean="0">
                <a:solidFill>
                  <a:srgbClr val="FF0000"/>
                </a:solidFill>
              </a:rPr>
              <a:t>added</a:t>
            </a:r>
            <a:r>
              <a:rPr lang="en-US" sz="3000" dirty="0" smtClean="0">
                <a:solidFill>
                  <a:schemeClr val="bg1">
                    <a:lumMod val="65000"/>
                  </a:schemeClr>
                </a:solidFill>
              </a:rPr>
              <a:t>, like so:</a:t>
            </a:r>
            <a:endParaRPr lang="en-US" sz="3000" dirty="0">
              <a:solidFill>
                <a:schemeClr val="bg1">
                  <a:lumMod val="65000"/>
                </a:schemeClr>
              </a:solidFill>
            </a:endParaRPr>
          </a:p>
          <a:p>
            <a:pPr marL="456932" lvl="1" indent="0">
              <a:spcBef>
                <a:spcPts val="0"/>
              </a:spcBef>
              <a:buNone/>
            </a:pPr>
            <a:r>
              <a:rPr lang="en-US" altLang="zh-TW" sz="2400" spc="-50" dirty="0" smtClean="0">
                <a:solidFill>
                  <a:srgbClr val="00B0F0"/>
                </a:solidFill>
                <a:latin typeface="Lucida Sans Typewriter" panose="020B0509030504030204" pitchFamily="49" charset="0"/>
              </a:rPr>
              <a:t>  </a:t>
            </a:r>
            <a:r>
              <a:rPr lang="en-US" altLang="zh-TW" sz="2400" spc="-50" dirty="0" smtClean="0">
                <a:solidFill>
                  <a:schemeClr val="bg1">
                    <a:lumMod val="65000"/>
                  </a:schemeClr>
                </a:solidFill>
                <a:latin typeface="Lucida Sans Typewriter" panose="020B0509030504030204" pitchFamily="49" charset="0"/>
              </a:rPr>
              <a:t>&gt;&gt;&gt; </a:t>
            </a:r>
            <a:r>
              <a:rPr lang="en-US" altLang="zh-TW" sz="2400" b="1" spc="-50" dirty="0">
                <a:solidFill>
                  <a:schemeClr val="bg1">
                    <a:lumMod val="65000"/>
                  </a:schemeClr>
                </a:solidFill>
                <a:latin typeface="Lucida Sans Typewriter" panose="020B0509030504030204" pitchFamily="49" charset="0"/>
              </a:rPr>
              <a:t>L</a:t>
            </a:r>
            <a:r>
              <a:rPr lang="en-US" altLang="zh-TW" sz="2400" spc="-50" dirty="0">
                <a:solidFill>
                  <a:schemeClr val="bg1">
                    <a:lumMod val="65000"/>
                  </a:schemeClr>
                </a:solidFill>
                <a:latin typeface="Lucida Sans Typewriter" panose="020B0509030504030204" pitchFamily="49" charset="0"/>
              </a:rPr>
              <a:t>=[1,2];S={</a:t>
            </a:r>
            <a:r>
              <a:rPr lang="en-US" altLang="zh-TW" sz="2400" b="1" spc="-50" dirty="0">
                <a:solidFill>
                  <a:schemeClr val="bg1">
                    <a:lumMod val="65000"/>
                  </a:schemeClr>
                </a:solidFill>
                <a:latin typeface="Lucida Sans Typewriter" panose="020B0509030504030204" pitchFamily="49" charset="0"/>
              </a:rPr>
              <a:t>[</a:t>
            </a:r>
            <a:r>
              <a:rPr lang="en-US" altLang="zh-TW" sz="500" b="1" spc="-50" dirty="0">
                <a:solidFill>
                  <a:schemeClr val="bg1">
                    <a:lumMod val="65000"/>
                  </a:schemeClr>
                </a:solidFill>
                <a:latin typeface="Lucida Sans Typewriter" panose="020B0509030504030204" pitchFamily="49" charset="0"/>
              </a:rPr>
              <a:t> </a:t>
            </a:r>
            <a:r>
              <a:rPr lang="en-US" altLang="zh-TW" sz="2400" b="1" spc="-200" dirty="0">
                <a:solidFill>
                  <a:schemeClr val="bg1">
                    <a:lumMod val="65000"/>
                  </a:schemeClr>
                </a:solidFill>
                <a:latin typeface="Lucida Sans Typewriter" panose="020B0509030504030204" pitchFamily="49" charset="0"/>
              </a:rPr>
              <a:t>]</a:t>
            </a:r>
            <a:r>
              <a:rPr lang="en-US" altLang="zh-TW" sz="2400" spc="-50" dirty="0">
                <a:solidFill>
                  <a:schemeClr val="bg1">
                    <a:lumMod val="65000"/>
                  </a:schemeClr>
                </a:solidFill>
                <a:latin typeface="Lucida Sans Typewriter" panose="020B0509030504030204" pitchFamily="49" charset="0"/>
              </a:rPr>
              <a:t>,</a:t>
            </a:r>
            <a:r>
              <a:rPr lang="en-US" altLang="zh-TW" sz="2400" b="1" spc="-50" dirty="0">
                <a:solidFill>
                  <a:schemeClr val="bg1">
                    <a:lumMod val="65000"/>
                  </a:schemeClr>
                </a:solidFill>
                <a:latin typeface="Lucida Sans Typewriter" panose="020B0509030504030204" pitchFamily="49" charset="0"/>
              </a:rPr>
              <a:t>L</a:t>
            </a:r>
            <a:r>
              <a:rPr lang="en-US" altLang="zh-TW" sz="2400" spc="-200" dirty="0">
                <a:solidFill>
                  <a:schemeClr val="bg1">
                    <a:lumMod val="65000"/>
                  </a:schemeClr>
                </a:solidFill>
                <a:latin typeface="Lucida Sans Typewriter" panose="020B0509030504030204" pitchFamily="49" charset="0"/>
              </a:rPr>
              <a:t>}</a:t>
            </a:r>
            <a:r>
              <a:rPr lang="en-US" altLang="zh-TW" sz="2400" spc="-50" dirty="0">
                <a:solidFill>
                  <a:schemeClr val="bg1">
                    <a:lumMod val="65000"/>
                  </a:schemeClr>
                </a:solidFill>
                <a:latin typeface="Lucida Sans Typewriter" panose="020B0509030504030204" pitchFamily="49" charset="0"/>
              </a:rPr>
              <a:t>;</a:t>
            </a:r>
            <a:r>
              <a:rPr lang="en-US" altLang="zh-TW" sz="2400" b="1" spc="-170" dirty="0" err="1">
                <a:solidFill>
                  <a:schemeClr val="bg1">
                    <a:lumMod val="65000"/>
                  </a:schemeClr>
                </a:solidFill>
                <a:latin typeface="Lucida Sans Typewriter" panose="020B0509030504030204" pitchFamily="49" charset="0"/>
              </a:rPr>
              <a:t>L.</a:t>
            </a:r>
            <a:r>
              <a:rPr lang="en-US" altLang="zh-TW" sz="2400" b="1" spc="-50" dirty="0" err="1">
                <a:solidFill>
                  <a:schemeClr val="bg1">
                    <a:lumMod val="65000"/>
                  </a:schemeClr>
                </a:solidFill>
                <a:latin typeface="Lucida Sans Typewriter" panose="020B0509030504030204" pitchFamily="49" charset="0"/>
              </a:rPr>
              <a:t>clear</a:t>
            </a:r>
            <a:r>
              <a:rPr lang="en-US" altLang="zh-TW" sz="2400" b="1" spc="-50" dirty="0">
                <a:solidFill>
                  <a:schemeClr val="bg1">
                    <a:lumMod val="65000"/>
                  </a:schemeClr>
                </a:solidFill>
                <a:latin typeface="Lucida Sans Typewriter" panose="020B0509030504030204" pitchFamily="49" charset="0"/>
              </a:rPr>
              <a:t>(</a:t>
            </a:r>
            <a:r>
              <a:rPr lang="en-US" altLang="zh-TW" sz="2400" b="1" spc="-200" dirty="0">
                <a:solidFill>
                  <a:schemeClr val="bg1">
                    <a:lumMod val="65000"/>
                  </a:schemeClr>
                </a:solidFill>
                <a:latin typeface="Lucida Sans Typewriter" panose="020B0509030504030204" pitchFamily="49" charset="0"/>
              </a:rPr>
              <a:t>)</a:t>
            </a:r>
            <a:r>
              <a:rPr lang="en-US" altLang="zh-TW" sz="2400" spc="-50" dirty="0">
                <a:solidFill>
                  <a:schemeClr val="bg1">
                    <a:lumMod val="65000"/>
                  </a:schemeClr>
                </a:solidFill>
                <a:latin typeface="Lucida Sans Typewriter" panose="020B0509030504030204" pitchFamily="49" charset="0"/>
              </a:rPr>
              <a:t>;</a:t>
            </a:r>
            <a:r>
              <a:rPr lang="en-US" altLang="zh-TW" sz="2400" dirty="0" err="1">
                <a:solidFill>
                  <a:schemeClr val="bg1">
                    <a:lumMod val="65000"/>
                  </a:schemeClr>
                </a:solidFill>
                <a:latin typeface="Lucida Sans Typewriter" panose="020B0509030504030204" pitchFamily="49" charset="0"/>
              </a:rPr>
              <a:t>le</a:t>
            </a:r>
            <a:r>
              <a:rPr lang="en-US" altLang="zh-TW" sz="2400" spc="-200" dirty="0" err="1">
                <a:solidFill>
                  <a:schemeClr val="bg1">
                    <a:lumMod val="65000"/>
                  </a:schemeClr>
                </a:solidFill>
                <a:latin typeface="Lucida Sans Typewriter" panose="020B0509030504030204" pitchFamily="49" charset="0"/>
              </a:rPr>
              <a:t>n</a:t>
            </a:r>
            <a:r>
              <a:rPr lang="en-US" altLang="zh-TW" sz="2400" spc="-200" dirty="0">
                <a:solidFill>
                  <a:schemeClr val="bg1">
                    <a:lumMod val="65000"/>
                  </a:schemeClr>
                </a:solidFill>
                <a:latin typeface="Lucida Sans Typewriter" panose="020B0509030504030204" pitchFamily="49" charset="0"/>
              </a:rPr>
              <a:t>(S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Sans Typewriter" panose="020B0509030504030204" pitchFamily="49" charset="0"/>
              </a:rPr>
              <a:t>)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</a:rPr>
              <a:t>#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</a:rPr>
              <a:t>s </a:t>
            </a:r>
            <a:r>
              <a:rPr lang="en-US" altLang="zh-TW" sz="2400" dirty="0" err="1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</a:rPr>
              <a:t>len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</a:rPr>
              <a:t>=1 or 2</a:t>
            </a:r>
            <a:r>
              <a:rPr lang="en-US" altLang="zh-TW" sz="2400" dirty="0" smtClean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</a:rPr>
              <a:t>?</a:t>
            </a:r>
            <a:endParaRPr lang="en-US" altLang="zh-TW" sz="2400" dirty="0">
              <a:solidFill>
                <a:schemeClr val="bg1">
                  <a:lumMod val="65000"/>
                </a:schemeClr>
              </a:solidFill>
              <a:latin typeface="Arial Narrow" panose="020B0606020202030204" pitchFamily="34" charset="0"/>
            </a:endParaRPr>
          </a:p>
          <a:p>
            <a:pPr lvl="1">
              <a:spcBef>
                <a:spcPts val="0"/>
              </a:spcBef>
            </a:pPr>
            <a:r>
              <a:rPr lang="en-US" sz="2800" dirty="0" smtClean="0">
                <a:solidFill>
                  <a:srgbClr val="FF0000"/>
                </a:solidFill>
              </a:rPr>
              <a:t>then </a:t>
            </a:r>
            <a:r>
              <a:rPr lang="en-US" sz="2800" spc="-80" dirty="0">
                <a:solidFill>
                  <a:srgbClr val="FF0000"/>
                </a:solidFill>
              </a:rPr>
              <a:t>yo</a:t>
            </a:r>
            <a:r>
              <a:rPr lang="en-US" sz="2800" spc="-60" dirty="0">
                <a:solidFill>
                  <a:srgbClr val="FF0000"/>
                </a:solidFill>
              </a:rPr>
              <a:t>u</a:t>
            </a:r>
            <a:r>
              <a:rPr lang="en-US" sz="2800" spc="-210" dirty="0">
                <a:solidFill>
                  <a:srgbClr val="FF0000"/>
                </a:solidFill>
              </a:rPr>
              <a:t>’</a:t>
            </a:r>
            <a:r>
              <a:rPr lang="en-US" sz="2800" spc="-30" dirty="0">
                <a:solidFill>
                  <a:srgbClr val="FF0000"/>
                </a:solidFill>
              </a:rPr>
              <a:t>d</a:t>
            </a:r>
            <a:r>
              <a:rPr lang="en-US" sz="2800" dirty="0" smtClean="0">
                <a:solidFill>
                  <a:srgbClr val="FF0000"/>
                </a:solidFill>
              </a:rPr>
              <a:t> need </a:t>
            </a:r>
            <a:r>
              <a:rPr lang="en-US" sz="2800" spc="-30" dirty="0" smtClean="0">
                <a:solidFill>
                  <a:srgbClr val="FF0000"/>
                </a:solidFill>
              </a:rPr>
              <a:t>checks whenever </a:t>
            </a:r>
            <a:r>
              <a:rPr lang="en-US" sz="2800" spc="-30" dirty="0" err="1" smtClean="0">
                <a:solidFill>
                  <a:srgbClr val="FF0000"/>
                </a:solidFill>
              </a:rPr>
              <a:t>mutables</a:t>
            </a:r>
            <a:r>
              <a:rPr lang="en-US" sz="2800" spc="-30" dirty="0" smtClean="0">
                <a:solidFill>
                  <a:srgbClr val="FF0000"/>
                </a:solidFill>
              </a:rPr>
              <a:t> change,</a:t>
            </a:r>
          </a:p>
          <a:p>
            <a:pPr lvl="1">
              <a:spcBef>
                <a:spcPts val="0"/>
              </a:spcBef>
            </a:pPr>
            <a:r>
              <a:rPr lang="en-US" sz="2801" spc="-30" dirty="0" smtClean="0">
                <a:solidFill>
                  <a:srgbClr val="FF0000"/>
                </a:solidFill>
              </a:rPr>
              <a:t>or </a:t>
            </a:r>
            <a:r>
              <a:rPr lang="en-US" sz="2801" spc="-80" dirty="0" smtClean="0">
                <a:solidFill>
                  <a:srgbClr val="FF0000"/>
                </a:solidFill>
              </a:rPr>
              <a:t>yo</a:t>
            </a:r>
            <a:r>
              <a:rPr lang="en-US" sz="2801" spc="-60" dirty="0" smtClean="0">
                <a:solidFill>
                  <a:srgbClr val="FF0000"/>
                </a:solidFill>
              </a:rPr>
              <a:t>u</a:t>
            </a:r>
            <a:r>
              <a:rPr lang="en-US" sz="2801" spc="-210" dirty="0" smtClean="0">
                <a:solidFill>
                  <a:srgbClr val="FF0000"/>
                </a:solidFill>
              </a:rPr>
              <a:t>’</a:t>
            </a:r>
            <a:r>
              <a:rPr lang="en-US" sz="2801" spc="-30" dirty="0" smtClean="0">
                <a:solidFill>
                  <a:srgbClr val="FF0000"/>
                </a:solidFill>
              </a:rPr>
              <a:t>d just t</a:t>
            </a:r>
            <a:r>
              <a:rPr lang="en-US" sz="2800" dirty="0" smtClean="0">
                <a:solidFill>
                  <a:srgbClr val="FF0000"/>
                </a:solidFill>
              </a:rPr>
              <a:t>ell programmers to not change the</a:t>
            </a:r>
            <a:r>
              <a:rPr lang="en-US" sz="2800" spc="-200" dirty="0" smtClean="0">
                <a:solidFill>
                  <a:srgbClr val="FF0000"/>
                </a:solidFill>
              </a:rPr>
              <a:t>m</a:t>
            </a:r>
            <a:r>
              <a:rPr lang="en-US" sz="2800" dirty="0" smtClean="0">
                <a:solidFill>
                  <a:srgbClr val="FF0000"/>
                </a:solidFill>
              </a:rPr>
              <a:t>.</a:t>
            </a:r>
          </a:p>
          <a:p>
            <a:pPr marL="1028700" lvl="3" indent="-2286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800" dirty="0" smtClean="0">
                <a:solidFill>
                  <a:srgbClr val="FF0000"/>
                </a:solidFill>
              </a:rPr>
              <a:t>But this is unsafe, so its not the way of Python.</a:t>
            </a:r>
            <a:endParaRPr lang="en-US" sz="2800" dirty="0">
              <a:solidFill>
                <a:srgbClr val="FF0000"/>
              </a:solidFill>
            </a:endParaRPr>
          </a:p>
          <a:p>
            <a:pPr marL="0" indent="0">
              <a:spcBef>
                <a:spcPts val="0"/>
              </a:spcBef>
              <a:buNone/>
            </a:pPr>
            <a:endParaRPr lang="en-US" altLang="zh-TW" sz="3200" dirty="0" smtClean="0">
              <a:solidFill>
                <a:srgbClr val="FF0000"/>
              </a:solidFill>
            </a:endParaRPr>
          </a:p>
          <a:p>
            <a:pPr marL="0" indent="0">
              <a:spcBef>
                <a:spcPts val="0"/>
              </a:spcBef>
              <a:buNone/>
            </a:pPr>
            <a:endParaRPr lang="en-US" altLang="zh-TW" sz="2798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0" y="76200"/>
            <a:ext cx="9729788" cy="914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729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511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400" dirty="0" smtClean="0">
                <a:solidFill>
                  <a:srgbClr val="0070C0"/>
                </a:solidFill>
                <a:cs typeface="Arial" panose="020B0604020202020204" pitchFamily="34" charset="0"/>
              </a:rPr>
              <a:t>Set Elements</a:t>
            </a:r>
            <a:endParaRPr lang="en-US" altLang="en-US" sz="4400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944220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295733" y="792805"/>
            <a:ext cx="9369761" cy="6016062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lang="en-US" sz="3400" dirty="0">
                <a:solidFill>
                  <a:schemeClr val="bg1">
                    <a:lumMod val="65000"/>
                  </a:schemeClr>
                </a:solidFill>
              </a:rPr>
              <a:t>Python set elements must be immutable</a:t>
            </a:r>
            <a:r>
              <a:rPr lang="en-US" sz="3400" dirty="0" smtClean="0">
                <a:solidFill>
                  <a:schemeClr val="bg1">
                    <a:lumMod val="65000"/>
                  </a:schemeClr>
                </a:solidFill>
              </a:rPr>
              <a:t>.</a:t>
            </a:r>
          </a:p>
          <a:p>
            <a:pPr lvl="1">
              <a:spcBef>
                <a:spcPts val="0"/>
              </a:spcBef>
            </a:pPr>
            <a:r>
              <a:rPr lang="en-US" sz="3200" dirty="0" smtClean="0">
                <a:solidFill>
                  <a:schemeClr val="bg1">
                    <a:lumMod val="65000"/>
                  </a:schemeClr>
                </a:solidFill>
              </a:rPr>
              <a:t>Even though the set, itself, is mutable.</a:t>
            </a:r>
            <a:endParaRPr lang="en-US" sz="3200" dirty="0">
              <a:solidFill>
                <a:schemeClr val="bg1">
                  <a:lumMod val="65000"/>
                </a:schemeClr>
              </a:solidFill>
            </a:endParaRPr>
          </a:p>
          <a:p>
            <a:pPr lvl="0">
              <a:spcBef>
                <a:spcPts val="0"/>
              </a:spcBef>
            </a:pPr>
            <a:r>
              <a:rPr lang="en-US" sz="3400" dirty="0" smtClean="0">
                <a:solidFill>
                  <a:schemeClr val="bg1">
                    <a:lumMod val="65000"/>
                  </a:schemeClr>
                </a:solidFill>
              </a:rPr>
              <a:t>This limitation exists as a consequence of the </a:t>
            </a:r>
            <a:r>
              <a:rPr lang="en-US" sz="3400" spc="-30" dirty="0" smtClean="0">
                <a:solidFill>
                  <a:schemeClr val="bg1">
                    <a:lumMod val="65000"/>
                  </a:schemeClr>
                </a:solidFill>
              </a:rPr>
              <a:t>requirement that set elements must be unique:</a:t>
            </a:r>
          </a:p>
          <a:p>
            <a:pPr lvl="1">
              <a:spcBef>
                <a:spcPts val="0"/>
              </a:spcBef>
            </a:pPr>
            <a:r>
              <a:rPr lang="en-US" sz="3000" dirty="0">
                <a:solidFill>
                  <a:srgbClr val="A6A6A6"/>
                </a:solidFill>
              </a:rPr>
              <a:t>I</a:t>
            </a:r>
            <a:r>
              <a:rPr lang="en-US" sz="3000" dirty="0" smtClean="0">
                <a:solidFill>
                  <a:srgbClr val="A6A6A6"/>
                </a:solidFill>
              </a:rPr>
              <a:t>f you were to allow </a:t>
            </a:r>
            <a:r>
              <a:rPr lang="en-US" sz="3000" dirty="0">
                <a:solidFill>
                  <a:srgbClr val="A6A6A6"/>
                </a:solidFill>
              </a:rPr>
              <a:t>those elements to be changed after they’ve been </a:t>
            </a:r>
            <a:r>
              <a:rPr lang="en-US" sz="3000" dirty="0" smtClean="0">
                <a:solidFill>
                  <a:srgbClr val="A6A6A6"/>
                </a:solidFill>
              </a:rPr>
              <a:t>added, like so:</a:t>
            </a:r>
            <a:endParaRPr lang="en-US" sz="3000" dirty="0">
              <a:solidFill>
                <a:srgbClr val="A6A6A6"/>
              </a:solidFill>
            </a:endParaRPr>
          </a:p>
          <a:p>
            <a:pPr marL="456932" lvl="1" indent="0">
              <a:spcBef>
                <a:spcPts val="0"/>
              </a:spcBef>
              <a:buNone/>
            </a:pPr>
            <a:r>
              <a:rPr lang="en-US" altLang="zh-TW" sz="2400" spc="-50" dirty="0" smtClean="0">
                <a:solidFill>
                  <a:srgbClr val="A6A6A6"/>
                </a:solidFill>
                <a:latin typeface="Lucida Sans Typewriter" panose="020B0509030504030204" pitchFamily="49" charset="0"/>
              </a:rPr>
              <a:t>  </a:t>
            </a:r>
            <a:r>
              <a:rPr lang="en-US" altLang="zh-TW" sz="2400" spc="-50" dirty="0">
                <a:solidFill>
                  <a:schemeClr val="bg1">
                    <a:lumMod val="65000"/>
                  </a:schemeClr>
                </a:solidFill>
                <a:latin typeface="Lucida Sans Typewriter" panose="020B0509030504030204" pitchFamily="49" charset="0"/>
              </a:rPr>
              <a:t>&gt;&gt;&gt; </a:t>
            </a:r>
            <a:r>
              <a:rPr lang="en-US" altLang="zh-TW" sz="2400" b="1" spc="-50" dirty="0">
                <a:solidFill>
                  <a:schemeClr val="bg1">
                    <a:lumMod val="65000"/>
                  </a:schemeClr>
                </a:solidFill>
                <a:latin typeface="Lucida Sans Typewriter" panose="020B0509030504030204" pitchFamily="49" charset="0"/>
              </a:rPr>
              <a:t>L</a:t>
            </a:r>
            <a:r>
              <a:rPr lang="en-US" altLang="zh-TW" sz="2400" spc="-50" dirty="0">
                <a:solidFill>
                  <a:schemeClr val="bg1">
                    <a:lumMod val="65000"/>
                  </a:schemeClr>
                </a:solidFill>
                <a:latin typeface="Lucida Sans Typewriter" panose="020B0509030504030204" pitchFamily="49" charset="0"/>
              </a:rPr>
              <a:t>=[1,2];S={</a:t>
            </a:r>
            <a:r>
              <a:rPr lang="en-US" altLang="zh-TW" sz="2400" b="1" spc="-50" dirty="0">
                <a:solidFill>
                  <a:schemeClr val="bg1">
                    <a:lumMod val="65000"/>
                  </a:schemeClr>
                </a:solidFill>
                <a:latin typeface="Lucida Sans Typewriter" panose="020B0509030504030204" pitchFamily="49" charset="0"/>
              </a:rPr>
              <a:t>[</a:t>
            </a:r>
            <a:r>
              <a:rPr lang="en-US" altLang="zh-TW" sz="500" b="1" spc="-50" dirty="0">
                <a:solidFill>
                  <a:schemeClr val="bg1">
                    <a:lumMod val="65000"/>
                  </a:schemeClr>
                </a:solidFill>
                <a:latin typeface="Lucida Sans Typewriter" panose="020B0509030504030204" pitchFamily="49" charset="0"/>
              </a:rPr>
              <a:t> </a:t>
            </a:r>
            <a:r>
              <a:rPr lang="en-US" altLang="zh-TW" sz="2400" b="1" spc="-200" dirty="0">
                <a:solidFill>
                  <a:schemeClr val="bg1">
                    <a:lumMod val="65000"/>
                  </a:schemeClr>
                </a:solidFill>
                <a:latin typeface="Lucida Sans Typewriter" panose="020B0509030504030204" pitchFamily="49" charset="0"/>
              </a:rPr>
              <a:t>]</a:t>
            </a:r>
            <a:r>
              <a:rPr lang="en-US" altLang="zh-TW" sz="2400" spc="-50" dirty="0">
                <a:solidFill>
                  <a:schemeClr val="bg1">
                    <a:lumMod val="65000"/>
                  </a:schemeClr>
                </a:solidFill>
                <a:latin typeface="Lucida Sans Typewriter" panose="020B0509030504030204" pitchFamily="49" charset="0"/>
              </a:rPr>
              <a:t>,</a:t>
            </a:r>
            <a:r>
              <a:rPr lang="en-US" altLang="zh-TW" sz="2400" b="1" spc="-50" dirty="0">
                <a:solidFill>
                  <a:schemeClr val="bg1">
                    <a:lumMod val="65000"/>
                  </a:schemeClr>
                </a:solidFill>
                <a:latin typeface="Lucida Sans Typewriter" panose="020B0509030504030204" pitchFamily="49" charset="0"/>
              </a:rPr>
              <a:t>L</a:t>
            </a:r>
            <a:r>
              <a:rPr lang="en-US" altLang="zh-TW" sz="2400" spc="-200" dirty="0">
                <a:solidFill>
                  <a:schemeClr val="bg1">
                    <a:lumMod val="65000"/>
                  </a:schemeClr>
                </a:solidFill>
                <a:latin typeface="Lucida Sans Typewriter" panose="020B0509030504030204" pitchFamily="49" charset="0"/>
              </a:rPr>
              <a:t>}</a:t>
            </a:r>
            <a:r>
              <a:rPr lang="en-US" altLang="zh-TW" sz="2400" spc="-50" dirty="0">
                <a:solidFill>
                  <a:schemeClr val="bg1">
                    <a:lumMod val="65000"/>
                  </a:schemeClr>
                </a:solidFill>
                <a:latin typeface="Lucida Sans Typewriter" panose="020B0509030504030204" pitchFamily="49" charset="0"/>
              </a:rPr>
              <a:t>;</a:t>
            </a:r>
            <a:r>
              <a:rPr lang="en-US" altLang="zh-TW" sz="2400" b="1" spc="-170" dirty="0" err="1">
                <a:solidFill>
                  <a:schemeClr val="bg1">
                    <a:lumMod val="65000"/>
                  </a:schemeClr>
                </a:solidFill>
                <a:latin typeface="Lucida Sans Typewriter" panose="020B0509030504030204" pitchFamily="49" charset="0"/>
              </a:rPr>
              <a:t>L.</a:t>
            </a:r>
            <a:r>
              <a:rPr lang="en-US" altLang="zh-TW" sz="2400" b="1" spc="-50" dirty="0" err="1">
                <a:solidFill>
                  <a:schemeClr val="bg1">
                    <a:lumMod val="65000"/>
                  </a:schemeClr>
                </a:solidFill>
                <a:latin typeface="Lucida Sans Typewriter" panose="020B0509030504030204" pitchFamily="49" charset="0"/>
              </a:rPr>
              <a:t>clear</a:t>
            </a:r>
            <a:r>
              <a:rPr lang="en-US" altLang="zh-TW" sz="2400" b="1" spc="-50" dirty="0">
                <a:solidFill>
                  <a:schemeClr val="bg1">
                    <a:lumMod val="65000"/>
                  </a:schemeClr>
                </a:solidFill>
                <a:latin typeface="Lucida Sans Typewriter" panose="020B0509030504030204" pitchFamily="49" charset="0"/>
              </a:rPr>
              <a:t>(</a:t>
            </a:r>
            <a:r>
              <a:rPr lang="en-US" altLang="zh-TW" sz="2400" b="1" spc="-200" dirty="0">
                <a:solidFill>
                  <a:schemeClr val="bg1">
                    <a:lumMod val="65000"/>
                  </a:schemeClr>
                </a:solidFill>
                <a:latin typeface="Lucida Sans Typewriter" panose="020B0509030504030204" pitchFamily="49" charset="0"/>
              </a:rPr>
              <a:t>)</a:t>
            </a:r>
            <a:r>
              <a:rPr lang="en-US" altLang="zh-TW" sz="2400" spc="-50" dirty="0">
                <a:solidFill>
                  <a:schemeClr val="bg1">
                    <a:lumMod val="65000"/>
                  </a:schemeClr>
                </a:solidFill>
                <a:latin typeface="Lucida Sans Typewriter" panose="020B0509030504030204" pitchFamily="49" charset="0"/>
              </a:rPr>
              <a:t>;</a:t>
            </a:r>
            <a:r>
              <a:rPr lang="en-US" altLang="zh-TW" sz="2400" dirty="0" err="1">
                <a:solidFill>
                  <a:schemeClr val="bg1">
                    <a:lumMod val="65000"/>
                  </a:schemeClr>
                </a:solidFill>
                <a:latin typeface="Lucida Sans Typewriter" panose="020B0509030504030204" pitchFamily="49" charset="0"/>
              </a:rPr>
              <a:t>le</a:t>
            </a:r>
            <a:r>
              <a:rPr lang="en-US" altLang="zh-TW" sz="2400" spc="-200" dirty="0" err="1">
                <a:solidFill>
                  <a:schemeClr val="bg1">
                    <a:lumMod val="65000"/>
                  </a:schemeClr>
                </a:solidFill>
                <a:latin typeface="Lucida Sans Typewriter" panose="020B0509030504030204" pitchFamily="49" charset="0"/>
              </a:rPr>
              <a:t>n</a:t>
            </a:r>
            <a:r>
              <a:rPr lang="en-US" altLang="zh-TW" sz="2400" spc="-200" dirty="0">
                <a:solidFill>
                  <a:schemeClr val="bg1">
                    <a:lumMod val="65000"/>
                  </a:schemeClr>
                </a:solidFill>
                <a:latin typeface="Lucida Sans Typewriter" panose="020B0509030504030204" pitchFamily="49" charset="0"/>
              </a:rPr>
              <a:t>(S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Sans Typewriter" panose="020B0509030504030204" pitchFamily="49" charset="0"/>
              </a:rPr>
              <a:t>)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</a:rPr>
              <a:t>#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</a:rPr>
              <a:t>s </a:t>
            </a:r>
            <a:r>
              <a:rPr lang="en-US" altLang="zh-TW" sz="2400" dirty="0" err="1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</a:rPr>
              <a:t>len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</a:rPr>
              <a:t>=1 or 2</a:t>
            </a:r>
            <a:r>
              <a:rPr lang="en-US" altLang="zh-TW" sz="2400" dirty="0" smtClean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</a:rPr>
              <a:t>?</a:t>
            </a:r>
            <a:endParaRPr lang="en-US" altLang="zh-TW" sz="2400" dirty="0">
              <a:solidFill>
                <a:schemeClr val="bg1">
                  <a:lumMod val="65000"/>
                </a:schemeClr>
              </a:solidFill>
              <a:latin typeface="Arial Narrow" panose="020B0606020202030204" pitchFamily="34" charset="0"/>
            </a:endParaRPr>
          </a:p>
          <a:p>
            <a:pPr lvl="1">
              <a:spcBef>
                <a:spcPts val="0"/>
              </a:spcBef>
            </a:pPr>
            <a:r>
              <a:rPr lang="en-US" sz="2800" dirty="0" smtClean="0">
                <a:solidFill>
                  <a:srgbClr val="A6A6A6"/>
                </a:solidFill>
              </a:rPr>
              <a:t>then </a:t>
            </a:r>
            <a:r>
              <a:rPr lang="en-US" sz="2800" spc="-80" dirty="0">
                <a:solidFill>
                  <a:srgbClr val="A6A6A6"/>
                </a:solidFill>
              </a:rPr>
              <a:t>yo</a:t>
            </a:r>
            <a:r>
              <a:rPr lang="en-US" sz="2800" spc="-60" dirty="0">
                <a:solidFill>
                  <a:srgbClr val="A6A6A6"/>
                </a:solidFill>
              </a:rPr>
              <a:t>u</a:t>
            </a:r>
            <a:r>
              <a:rPr lang="en-US" sz="2800" spc="-210" dirty="0">
                <a:solidFill>
                  <a:srgbClr val="A6A6A6"/>
                </a:solidFill>
              </a:rPr>
              <a:t>’</a:t>
            </a:r>
            <a:r>
              <a:rPr lang="en-US" sz="2800" spc="-30" dirty="0">
                <a:solidFill>
                  <a:srgbClr val="A6A6A6"/>
                </a:solidFill>
              </a:rPr>
              <a:t>d</a:t>
            </a:r>
            <a:r>
              <a:rPr lang="en-US" sz="2800" dirty="0" smtClean="0">
                <a:solidFill>
                  <a:srgbClr val="A6A6A6"/>
                </a:solidFill>
              </a:rPr>
              <a:t> need </a:t>
            </a:r>
            <a:r>
              <a:rPr lang="en-US" sz="2800" spc="-30" dirty="0" smtClean="0">
                <a:solidFill>
                  <a:srgbClr val="A6A6A6"/>
                </a:solidFill>
              </a:rPr>
              <a:t>checks whenever </a:t>
            </a:r>
            <a:r>
              <a:rPr lang="en-US" sz="2800" spc="-30" dirty="0" err="1" smtClean="0">
                <a:solidFill>
                  <a:srgbClr val="A6A6A6"/>
                </a:solidFill>
              </a:rPr>
              <a:t>mutables</a:t>
            </a:r>
            <a:r>
              <a:rPr lang="en-US" sz="2800" spc="-30" dirty="0" smtClean="0">
                <a:solidFill>
                  <a:srgbClr val="A6A6A6"/>
                </a:solidFill>
              </a:rPr>
              <a:t> change,</a:t>
            </a:r>
          </a:p>
          <a:p>
            <a:pPr lvl="1">
              <a:spcBef>
                <a:spcPts val="0"/>
              </a:spcBef>
            </a:pPr>
            <a:r>
              <a:rPr lang="en-US" sz="2801" spc="-30" dirty="0" smtClean="0">
                <a:solidFill>
                  <a:srgbClr val="A6A6A6"/>
                </a:solidFill>
              </a:rPr>
              <a:t>or </a:t>
            </a:r>
            <a:r>
              <a:rPr lang="en-US" sz="2801" spc="-80" dirty="0" smtClean="0">
                <a:solidFill>
                  <a:srgbClr val="A6A6A6"/>
                </a:solidFill>
              </a:rPr>
              <a:t>yo</a:t>
            </a:r>
            <a:r>
              <a:rPr lang="en-US" sz="2801" spc="-60" dirty="0" smtClean="0">
                <a:solidFill>
                  <a:srgbClr val="A6A6A6"/>
                </a:solidFill>
              </a:rPr>
              <a:t>u</a:t>
            </a:r>
            <a:r>
              <a:rPr lang="en-US" sz="2801" spc="-210" dirty="0" smtClean="0">
                <a:solidFill>
                  <a:srgbClr val="A6A6A6"/>
                </a:solidFill>
              </a:rPr>
              <a:t>’</a:t>
            </a:r>
            <a:r>
              <a:rPr lang="en-US" sz="2801" spc="-30" dirty="0" smtClean="0">
                <a:solidFill>
                  <a:srgbClr val="A6A6A6"/>
                </a:solidFill>
              </a:rPr>
              <a:t>d just t</a:t>
            </a:r>
            <a:r>
              <a:rPr lang="en-US" sz="2800" dirty="0" smtClean="0">
                <a:solidFill>
                  <a:srgbClr val="A6A6A6"/>
                </a:solidFill>
              </a:rPr>
              <a:t>ell programmers to not change the</a:t>
            </a:r>
            <a:r>
              <a:rPr lang="en-US" sz="2800" spc="-200" dirty="0" smtClean="0">
                <a:solidFill>
                  <a:srgbClr val="A6A6A6"/>
                </a:solidFill>
              </a:rPr>
              <a:t>m</a:t>
            </a:r>
            <a:r>
              <a:rPr lang="en-US" sz="2800" dirty="0" smtClean="0">
                <a:solidFill>
                  <a:srgbClr val="A6A6A6"/>
                </a:solidFill>
              </a:rPr>
              <a:t>.</a:t>
            </a:r>
          </a:p>
          <a:p>
            <a:pPr marL="1028700" lvl="3" indent="-2286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800" dirty="0" smtClean="0">
                <a:solidFill>
                  <a:srgbClr val="A6A6A6"/>
                </a:solidFill>
              </a:rPr>
              <a:t>But this is unsafe, so its not the way of Python.</a:t>
            </a:r>
            <a:endParaRPr lang="en-US" sz="2800" dirty="0">
              <a:solidFill>
                <a:srgbClr val="A6A6A6"/>
              </a:solidFill>
            </a:endParaRPr>
          </a:p>
          <a:p>
            <a:pPr>
              <a:lnSpc>
                <a:spcPct val="90000"/>
              </a:lnSpc>
              <a:spcBef>
                <a:spcPts val="600"/>
              </a:spcBef>
            </a:pPr>
            <a:r>
              <a:rPr lang="en-US" altLang="zh-TW" sz="3200" spc="-60" dirty="0" smtClean="0">
                <a:solidFill>
                  <a:srgbClr val="FF0000"/>
                </a:solidFill>
              </a:rPr>
              <a:t>It follows that you can’t “cheat</a:t>
            </a:r>
            <a:r>
              <a:rPr lang="en-US" altLang="zh-TW" sz="3200" spc="-400" dirty="0" smtClean="0">
                <a:solidFill>
                  <a:srgbClr val="FF0000"/>
                </a:solidFill>
              </a:rPr>
              <a:t>”</a:t>
            </a:r>
            <a:r>
              <a:rPr lang="en-US" altLang="zh-TW" sz="3200" spc="-60" dirty="0" smtClean="0">
                <a:solidFill>
                  <a:srgbClr val="FF0000"/>
                </a:solidFill>
              </a:rPr>
              <a:t>,</a:t>
            </a:r>
            <a:r>
              <a:rPr lang="en-US" altLang="zh-TW" sz="2800" spc="-60" dirty="0" smtClean="0">
                <a:solidFill>
                  <a:srgbClr val="FF0000"/>
                </a:solidFill>
              </a:rPr>
              <a:t> </a:t>
            </a:r>
            <a:r>
              <a:rPr lang="en-US" altLang="zh-TW" sz="3200" spc="-60" dirty="0" smtClean="0">
                <a:solidFill>
                  <a:srgbClr val="FF0000"/>
                </a:solidFill>
              </a:rPr>
              <a:t>wrapping a mutable </a:t>
            </a:r>
            <a:r>
              <a:rPr lang="en-US" altLang="zh-TW" sz="3200" spc="-40" dirty="0" smtClean="0">
                <a:solidFill>
                  <a:srgbClr val="FF0000"/>
                </a:solidFill>
              </a:rPr>
              <a:t>element in an immutable one (</a:t>
            </a:r>
            <a:r>
              <a:rPr lang="en-US" altLang="zh-TW" sz="3200" spc="-40" dirty="0" err="1" smtClean="0">
                <a:solidFill>
                  <a:srgbClr val="FF0000"/>
                </a:solidFill>
              </a:rPr>
              <a:t>eg</a:t>
            </a:r>
            <a:r>
              <a:rPr lang="en-US" altLang="zh-TW" sz="3200" spc="-40" dirty="0" smtClean="0">
                <a:solidFill>
                  <a:srgbClr val="FF0000"/>
                </a:solidFill>
              </a:rPr>
              <a:t>, a </a:t>
            </a:r>
            <a:r>
              <a:rPr lang="en-US" altLang="zh-TW" sz="3200" spc="-40" dirty="0" smtClean="0">
                <a:solidFill>
                  <a:srgbClr val="7030A0"/>
                </a:solidFill>
              </a:rPr>
              <a:t>tuple</a:t>
            </a:r>
            <a:r>
              <a:rPr lang="en-US" altLang="zh-TW" sz="3200" spc="-40" dirty="0" smtClean="0">
                <a:solidFill>
                  <a:srgbClr val="FF0000"/>
                </a:solidFill>
              </a:rPr>
              <a:t>), like so:</a:t>
            </a:r>
            <a:endParaRPr lang="en-US" sz="3000" spc="-40" dirty="0" smtClean="0">
              <a:solidFill>
                <a:srgbClr val="FF0000"/>
              </a:solidFill>
            </a:endParaRPr>
          </a:p>
          <a:p>
            <a:pPr marL="456932" lvl="1" indent="0">
              <a:spcBef>
                <a:spcPts val="0"/>
              </a:spcBef>
              <a:buNone/>
            </a:pPr>
            <a:r>
              <a:rPr lang="en-US" altLang="zh-TW" sz="2400" spc="-50" dirty="0" smtClean="0">
                <a:solidFill>
                  <a:srgbClr val="00B0F0"/>
                </a:solidFill>
                <a:latin typeface="Lucida Sans Typewriter" panose="020B0509030504030204" pitchFamily="49" charset="0"/>
              </a:rPr>
              <a:t>  &gt;&gt;&gt; L=[1,2];S={</a:t>
            </a:r>
            <a:r>
              <a:rPr lang="en-US" altLang="zh-TW" sz="2400" b="1" spc="-50" dirty="0" smtClean="0">
                <a:solidFill>
                  <a:srgbClr val="7030A0"/>
                </a:solidFill>
                <a:latin typeface="Lucida Sans Typewriter" panose="020B0509030504030204" pitchFamily="49" charset="0"/>
              </a:rPr>
              <a:t>(</a:t>
            </a:r>
            <a:r>
              <a:rPr lang="en-US" altLang="zh-TW" sz="2400" spc="-50" dirty="0" smtClean="0">
                <a:solidFill>
                  <a:srgbClr val="00B0F0"/>
                </a:solidFill>
                <a:latin typeface="Lucida Sans Typewriter" panose="020B0509030504030204" pitchFamily="49" charset="0"/>
              </a:rPr>
              <a:t>L</a:t>
            </a:r>
            <a:r>
              <a:rPr lang="en-US" altLang="zh-TW" sz="2400" spc="-50" dirty="0" smtClean="0">
                <a:solidFill>
                  <a:srgbClr val="7030A0"/>
                </a:solidFill>
                <a:latin typeface="Lucida Sans Typewriter" panose="020B0509030504030204" pitchFamily="49" charset="0"/>
              </a:rPr>
              <a:t>,</a:t>
            </a:r>
            <a:r>
              <a:rPr lang="en-US" altLang="zh-TW" sz="2400" b="1" spc="-50" dirty="0" smtClean="0">
                <a:solidFill>
                  <a:srgbClr val="7030A0"/>
                </a:solidFill>
                <a:latin typeface="Lucida Sans Typewriter" panose="020B0509030504030204" pitchFamily="49" charset="0"/>
              </a:rPr>
              <a:t>)</a:t>
            </a:r>
            <a:r>
              <a:rPr lang="en-US" altLang="zh-TW" sz="2400" spc="-50" dirty="0" smtClean="0">
                <a:solidFill>
                  <a:srgbClr val="00B0F0"/>
                </a:solidFill>
                <a:latin typeface="Lucida Sans Typewriter" panose="020B0509030504030204" pitchFamily="49" charset="0"/>
              </a:rPr>
              <a:t>} </a:t>
            </a:r>
            <a:r>
              <a:rPr lang="en-US" altLang="zh-TW" sz="2400" dirty="0" smtClean="0">
                <a:solidFill>
                  <a:schemeClr val="tx1"/>
                </a:solidFill>
                <a:latin typeface="Arial Narrow" panose="020B0606020202030204" pitchFamily="34" charset="0"/>
              </a:rPr>
              <a:t># This won’t work</a:t>
            </a:r>
          </a:p>
          <a:p>
            <a:pPr marL="0" indent="0">
              <a:spcBef>
                <a:spcPts val="0"/>
              </a:spcBef>
              <a:buNone/>
            </a:pPr>
            <a:endParaRPr lang="en-US" altLang="zh-TW" sz="3200" dirty="0" smtClean="0">
              <a:solidFill>
                <a:srgbClr val="FF0000"/>
              </a:solidFill>
            </a:endParaRPr>
          </a:p>
          <a:p>
            <a:pPr marL="0" indent="0">
              <a:spcBef>
                <a:spcPts val="0"/>
              </a:spcBef>
              <a:buNone/>
            </a:pPr>
            <a:endParaRPr lang="en-US" altLang="zh-TW" sz="2798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0" y="76200"/>
            <a:ext cx="9729788" cy="914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729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511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400" dirty="0" smtClean="0">
                <a:solidFill>
                  <a:srgbClr val="0070C0"/>
                </a:solidFill>
                <a:cs typeface="Arial" panose="020B0604020202020204" pitchFamily="34" charset="0"/>
              </a:rPr>
              <a:t>Set Elements</a:t>
            </a:r>
            <a:endParaRPr lang="en-US" altLang="en-US" sz="4400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631181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828802" y="2129"/>
            <a:ext cx="8072185" cy="988471"/>
          </a:xfrm>
        </p:spPr>
        <p:txBody>
          <a:bodyPr/>
          <a:lstStyle/>
          <a:p>
            <a:r>
              <a:rPr lang="en-US" altLang="en-US" sz="4400" dirty="0">
                <a:solidFill>
                  <a:srgbClr val="0070C0"/>
                </a:solidFill>
                <a:latin typeface="Elephant" panose="02020904090505020303" pitchFamily="18" charset="0"/>
                <a:cs typeface="Arial" panose="020B0604020202020204" pitchFamily="34" charset="0"/>
              </a:rPr>
              <a:t>Union with</a:t>
            </a:r>
            <a:r>
              <a:rPr lang="en-US" altLang="en-US" sz="4400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44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|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48039" y="918185"/>
            <a:ext cx="8605254" cy="5939815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398" dirty="0">
                <a:solidFill>
                  <a:schemeClr val="bg1">
                    <a:lumMod val="85000"/>
                  </a:schemeClr>
                </a:solidFill>
                <a:latin typeface="Lucida Console" pitchFamily="49" charset="0"/>
              </a:rPr>
              <a:t>&gt;&gt;&gt;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 {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1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,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5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,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4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,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3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}  </a:t>
            </a:r>
            <a:r>
              <a:rPr lang="en-US" altLang="en-US" sz="2398" b="1" dirty="0">
                <a:solidFill>
                  <a:srgbClr val="00B0F0"/>
                </a:solidFill>
                <a:latin typeface="Lucida Console" pitchFamily="49" charset="0"/>
              </a:rPr>
              <a:t>|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 {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2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,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5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}</a:t>
            </a: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{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1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, 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2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, 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3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, 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4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,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 5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}</a:t>
            </a: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398" dirty="0">
                <a:solidFill>
                  <a:schemeClr val="bg1">
                    <a:lumMod val="85000"/>
                  </a:schemeClr>
                </a:solidFill>
                <a:latin typeface="Lucida Console" pitchFamily="49" charset="0"/>
              </a:rPr>
              <a:t>&gt;&gt;&gt;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 {"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cat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"}    </a:t>
            </a:r>
            <a:r>
              <a:rPr lang="en-US" altLang="en-US" sz="2398" b="1" dirty="0">
                <a:solidFill>
                  <a:srgbClr val="00B0F0"/>
                </a:solidFill>
                <a:latin typeface="Lucida Console" pitchFamily="49" charset="0"/>
              </a:rPr>
              <a:t>|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 {"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bat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"}</a:t>
            </a: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{'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bat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', '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cat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'}</a:t>
            </a: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398" dirty="0">
                <a:solidFill>
                  <a:schemeClr val="bg1">
                    <a:lumMod val="85000"/>
                  </a:schemeClr>
                </a:solidFill>
                <a:latin typeface="Lucida Console" pitchFamily="49" charset="0"/>
              </a:rPr>
              <a:t>&gt;&gt;&gt;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 set("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cat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") </a:t>
            </a:r>
            <a:r>
              <a:rPr lang="en-US" altLang="en-US" sz="2398" b="1" dirty="0">
                <a:solidFill>
                  <a:srgbClr val="00B0F0"/>
                </a:solidFill>
                <a:latin typeface="Lucida Console" pitchFamily="49" charset="0"/>
              </a:rPr>
              <a:t>|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 set("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bat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")</a:t>
            </a: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{'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a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', '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b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', '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c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', '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t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'}</a:t>
            </a: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endParaRPr lang="en-US" altLang="en-US" sz="2398" dirty="0">
              <a:solidFill>
                <a:schemeClr val="tx1"/>
              </a:solidFill>
              <a:latin typeface="Lucida Console" pitchFamily="49" charset="0"/>
            </a:endParaRPr>
          </a:p>
        </p:txBody>
      </p:sp>
      <p:sp>
        <p:nvSpPr>
          <p:cNvPr id="5" name="Rounded Rectangular Callout 4"/>
          <p:cNvSpPr/>
          <p:nvPr/>
        </p:nvSpPr>
        <p:spPr>
          <a:xfrm>
            <a:off x="2731294" y="2590800"/>
            <a:ext cx="6975359" cy="4246623"/>
          </a:xfrm>
          <a:prstGeom prst="wedgeRoundRectCallout">
            <a:avLst>
              <a:gd name="adj1" fmla="val -64379"/>
              <a:gd name="adj2" fmla="val -51179"/>
              <a:gd name="adj3" fmla="val 16667"/>
            </a:avLst>
          </a:prstGeom>
          <a:solidFill>
            <a:srgbClr val="92D050"/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wrap="none" lIns="182880" rtlCol="0" anchor="ctr"/>
          <a:lstStyle/>
          <a:p>
            <a:pPr>
              <a:lnSpc>
                <a:spcPct val="85000"/>
              </a:lnSpc>
            </a:pPr>
            <a:endParaRPr lang="en-US" altLang="zh-TW" sz="2800" kern="0" dirty="0" smtClean="0">
              <a:solidFill>
                <a:prstClr val="black"/>
              </a:solidFill>
              <a:latin typeface="Calibri"/>
              <a:ea typeface="新細明體" panose="02020500000000000000" pitchFamily="18" charset="-120"/>
            </a:endParaRPr>
          </a:p>
          <a:p>
            <a:pPr>
              <a:lnSpc>
                <a:spcPct val="85000"/>
              </a:lnSpc>
            </a:pPr>
            <a:r>
              <a:rPr lang="en-US" altLang="zh-TW" sz="2800" kern="0" dirty="0" smtClean="0">
                <a:solidFill>
                  <a:prstClr val="black"/>
                </a:solidFill>
                <a:latin typeface="Calibri"/>
                <a:ea typeface="新細明體" panose="02020500000000000000" pitchFamily="18" charset="-120"/>
              </a:rPr>
              <a:t>This converts the argument to a set.</a:t>
            </a:r>
          </a:p>
          <a:p>
            <a:pPr>
              <a:lnSpc>
                <a:spcPct val="85000"/>
              </a:lnSpc>
            </a:pPr>
            <a:r>
              <a:rPr lang="en-US" altLang="zh-TW" sz="2800" kern="0" dirty="0" smtClean="0">
                <a:solidFill>
                  <a:prstClr val="black"/>
                </a:solidFill>
                <a:latin typeface="Calibri"/>
                <a:ea typeface="新細明體" panose="02020500000000000000" pitchFamily="18" charset="-120"/>
              </a:rPr>
              <a:t>Actually </a:t>
            </a:r>
            <a:r>
              <a:rPr lang="en-US" altLang="zh-TW" sz="2800" kern="0" dirty="0" smtClean="0">
                <a:solidFill>
                  <a:srgbClr val="FFFF00"/>
                </a:solidFill>
                <a:latin typeface="Calibri"/>
                <a:ea typeface="新細明體" panose="02020500000000000000" pitchFamily="18" charset="-120"/>
              </a:rPr>
              <a:t>each type </a:t>
            </a:r>
            <a:r>
              <a:rPr lang="en-US" altLang="zh-TW" sz="2800" kern="0" dirty="0" smtClean="0">
                <a:solidFill>
                  <a:prstClr val="black"/>
                </a:solidFill>
                <a:latin typeface="Calibri"/>
                <a:ea typeface="新細明體" panose="02020500000000000000" pitchFamily="18" charset="-120"/>
              </a:rPr>
              <a:t>has a converter function:</a:t>
            </a:r>
            <a:endParaRPr lang="en-US" altLang="zh-TW" sz="2568" kern="0" dirty="0" smtClean="0">
              <a:solidFill>
                <a:prstClr val="black"/>
              </a:solidFill>
              <a:latin typeface="Calibri"/>
              <a:ea typeface="新細明體" panose="02020500000000000000" pitchFamily="18" charset="-120"/>
            </a:endParaRPr>
          </a:p>
          <a:p>
            <a:pPr>
              <a:lnSpc>
                <a:spcPct val="85000"/>
              </a:lnSpc>
            </a:pPr>
            <a:r>
              <a:rPr lang="en-US" sz="2400" dirty="0" smtClean="0">
                <a:solidFill>
                  <a:srgbClr val="78B24C"/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2400" dirty="0" smtClean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lang="en-US" sz="2400" b="1" dirty="0">
                <a:solidFill>
                  <a:srgbClr val="FFFFFF"/>
                </a:solidFill>
                <a:latin typeface="Lucida Console" panose="020B0609040504020204" pitchFamily="49" charset="0"/>
              </a:rPr>
              <a:t>set</a:t>
            </a:r>
            <a:r>
              <a:rPr lang="en-US" sz="2400" dirty="0">
                <a:solidFill>
                  <a:srgbClr val="000000"/>
                </a:solidFill>
                <a:latin typeface="Lucida Console" panose="020B0609040504020204" pitchFamily="49" charset="0"/>
              </a:rPr>
              <a:t>('5.0')</a:t>
            </a:r>
          </a:p>
          <a:p>
            <a:pPr>
              <a:lnSpc>
                <a:spcPct val="85000"/>
              </a:lnSpc>
            </a:pPr>
            <a:r>
              <a:rPr lang="en-US" sz="2400" b="1" dirty="0">
                <a:solidFill>
                  <a:srgbClr val="FFFFFF"/>
                </a:solidFill>
                <a:latin typeface="Lucida Console" panose="020B0609040504020204" pitchFamily="49" charset="0"/>
              </a:rPr>
              <a:t>{</a:t>
            </a:r>
            <a:r>
              <a:rPr lang="en-US" sz="2400" dirty="0">
                <a:solidFill>
                  <a:srgbClr val="000000"/>
                </a:solidFill>
                <a:latin typeface="Lucida Console" panose="020B0609040504020204" pitchFamily="49" charset="0"/>
              </a:rPr>
              <a:t>'.', '0', '5'</a:t>
            </a:r>
            <a:r>
              <a:rPr lang="en-US" sz="2400" b="1" dirty="0">
                <a:solidFill>
                  <a:srgbClr val="FFFFFF"/>
                </a:solidFill>
                <a:latin typeface="Lucida Console" panose="020B0609040504020204" pitchFamily="49" charset="0"/>
              </a:rPr>
              <a:t>}</a:t>
            </a:r>
          </a:p>
          <a:p>
            <a:pPr>
              <a:lnSpc>
                <a:spcPct val="85000"/>
              </a:lnSpc>
            </a:pPr>
            <a:r>
              <a:rPr lang="en-US" sz="2400" dirty="0" smtClean="0">
                <a:solidFill>
                  <a:srgbClr val="78B24C"/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2400" dirty="0" smtClean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lang="en-US" sz="2400" b="1" dirty="0" err="1">
                <a:solidFill>
                  <a:srgbClr val="CC6600"/>
                </a:solidFill>
                <a:latin typeface="Lucida Console" panose="020B0609040504020204" pitchFamily="49" charset="0"/>
              </a:rPr>
              <a:t>str</a:t>
            </a:r>
            <a:r>
              <a:rPr lang="en-US" sz="2400" dirty="0">
                <a:solidFill>
                  <a:srgbClr val="000000"/>
                </a:solidFill>
                <a:latin typeface="Lucida Console" panose="020B0609040504020204" pitchFamily="49" charset="0"/>
              </a:rPr>
              <a:t>(5.0)</a:t>
            </a:r>
          </a:p>
          <a:p>
            <a:pPr>
              <a:lnSpc>
                <a:spcPct val="85000"/>
              </a:lnSpc>
            </a:pPr>
            <a:r>
              <a:rPr lang="en-US" sz="2400" b="1" dirty="0">
                <a:solidFill>
                  <a:srgbClr val="CC6600"/>
                </a:solidFill>
                <a:latin typeface="Lucida Console" panose="020B0609040504020204" pitchFamily="49" charset="0"/>
              </a:rPr>
              <a:t>'</a:t>
            </a:r>
            <a:r>
              <a:rPr lang="en-US" sz="2400" dirty="0">
                <a:solidFill>
                  <a:srgbClr val="000000"/>
                </a:solidFill>
                <a:latin typeface="Lucida Console" panose="020B0609040504020204" pitchFamily="49" charset="0"/>
              </a:rPr>
              <a:t>5.0</a:t>
            </a:r>
            <a:r>
              <a:rPr lang="en-US" sz="2400" b="1" dirty="0">
                <a:solidFill>
                  <a:srgbClr val="CC6600"/>
                </a:solidFill>
                <a:latin typeface="Lucida Console" panose="020B0609040504020204" pitchFamily="49" charset="0"/>
              </a:rPr>
              <a:t>'</a:t>
            </a:r>
          </a:p>
          <a:p>
            <a:pPr>
              <a:lnSpc>
                <a:spcPct val="85000"/>
              </a:lnSpc>
            </a:pPr>
            <a:r>
              <a:rPr lang="en-US" sz="2400" dirty="0">
                <a:solidFill>
                  <a:srgbClr val="78B24C"/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2400" dirty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lang="en-US" sz="2400" b="1" dirty="0" err="1" smtClean="0">
                <a:solidFill>
                  <a:srgbClr val="3333CC"/>
                </a:solidFill>
                <a:latin typeface="Lucida Console" panose="020B060904050402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Lucida Console" panose="020B0609040504020204" pitchFamily="49" charset="0"/>
              </a:rPr>
              <a:t>('5.0')</a:t>
            </a:r>
          </a:p>
          <a:p>
            <a:pPr>
              <a:lnSpc>
                <a:spcPct val="85000"/>
              </a:lnSpc>
            </a:pPr>
            <a:r>
              <a:rPr lang="en-US" sz="2400" b="1" dirty="0" smtClean="0">
                <a:solidFill>
                  <a:srgbClr val="3333CC"/>
                </a:solidFill>
                <a:latin typeface="Lucida Console" panose="020B0609040504020204" pitchFamily="49" charset="0"/>
              </a:rPr>
              <a:t>5</a:t>
            </a:r>
            <a:endParaRPr lang="en-US" sz="2400" b="1" dirty="0">
              <a:solidFill>
                <a:srgbClr val="3333CC"/>
              </a:solidFill>
              <a:latin typeface="Lucida Console" panose="020B0609040504020204" pitchFamily="49" charset="0"/>
            </a:endParaRPr>
          </a:p>
          <a:p>
            <a:pPr>
              <a:lnSpc>
                <a:spcPct val="85000"/>
              </a:lnSpc>
            </a:pPr>
            <a:r>
              <a:rPr lang="en-US" sz="2400" dirty="0">
                <a:solidFill>
                  <a:srgbClr val="78B24C"/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2400" dirty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lang="en-US" sz="2400" b="1" dirty="0">
                <a:solidFill>
                  <a:srgbClr val="FF0000"/>
                </a:solidFill>
                <a:latin typeface="Lucida Console" panose="020B0609040504020204" pitchFamily="49" charset="0"/>
              </a:rPr>
              <a:t>list</a:t>
            </a:r>
            <a:r>
              <a:rPr lang="en-US" sz="2400" dirty="0">
                <a:solidFill>
                  <a:srgbClr val="000000"/>
                </a:solidFill>
                <a:latin typeface="Lucida Console" panose="020B0609040504020204" pitchFamily="49" charset="0"/>
              </a:rPr>
              <a:t>('5.0')</a:t>
            </a:r>
          </a:p>
          <a:p>
            <a:pPr>
              <a:lnSpc>
                <a:spcPct val="85000"/>
              </a:lnSpc>
            </a:pPr>
            <a:r>
              <a:rPr lang="en-US" sz="2400" b="1" dirty="0">
                <a:solidFill>
                  <a:srgbClr val="FF0000"/>
                </a:solidFill>
                <a:latin typeface="Lucida Console" panose="020B0609040504020204" pitchFamily="49" charset="0"/>
              </a:rPr>
              <a:t>[</a:t>
            </a:r>
            <a:r>
              <a:rPr lang="en-US" sz="2400" dirty="0">
                <a:solidFill>
                  <a:srgbClr val="000000"/>
                </a:solidFill>
                <a:latin typeface="Lucida Console" panose="020B0609040504020204" pitchFamily="49" charset="0"/>
              </a:rPr>
              <a:t>'5', '.', '0'</a:t>
            </a:r>
            <a:r>
              <a:rPr lang="en-US" sz="2400" b="1" dirty="0">
                <a:solidFill>
                  <a:srgbClr val="FF0000"/>
                </a:solidFill>
                <a:latin typeface="Lucida Console" panose="020B0609040504020204" pitchFamily="49" charset="0"/>
              </a:rPr>
              <a:t>]</a:t>
            </a:r>
          </a:p>
          <a:p>
            <a:pPr>
              <a:lnSpc>
                <a:spcPct val="85000"/>
              </a:lnSpc>
            </a:pPr>
            <a:r>
              <a:rPr lang="en-US" sz="2400" dirty="0" smtClean="0">
                <a:solidFill>
                  <a:srgbClr val="78B24C"/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2400" dirty="0" smtClean="0">
                <a:solidFill>
                  <a:srgbClr val="A6B0A6"/>
                </a:solidFill>
                <a:latin typeface="Lucida Console" panose="020B0609040504020204" pitchFamily="49" charset="0"/>
              </a:rPr>
              <a:t> </a:t>
            </a:r>
            <a:r>
              <a:rPr lang="en-US" sz="2400" b="1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sorted</a:t>
            </a:r>
            <a:r>
              <a:rPr lang="en-US" sz="2400" dirty="0" smtClean="0">
                <a:solidFill>
                  <a:srgbClr val="000000"/>
                </a:solidFill>
                <a:latin typeface="Lucida Console" panose="020B0609040504020204" pitchFamily="49" charset="0"/>
              </a:rPr>
              <a:t>(</a:t>
            </a:r>
            <a:r>
              <a:rPr lang="en-US" sz="2400" dirty="0">
                <a:solidFill>
                  <a:srgbClr val="000000"/>
                </a:solidFill>
                <a:latin typeface="Lucida Console" panose="020B0609040504020204" pitchFamily="49" charset="0"/>
              </a:rPr>
              <a:t>'5.0</a:t>
            </a:r>
            <a:r>
              <a:rPr lang="en-US" sz="2400" dirty="0" smtClean="0">
                <a:solidFill>
                  <a:srgbClr val="000000"/>
                </a:solidFill>
                <a:latin typeface="Lucida Console" panose="020B0609040504020204" pitchFamily="49" charset="0"/>
              </a:rPr>
              <a:t>')</a:t>
            </a:r>
            <a:r>
              <a:rPr lang="en-US" sz="2400" dirty="0" smtClean="0">
                <a:solidFill>
                  <a:srgbClr val="000000"/>
                </a:solidFill>
                <a:latin typeface="Bookman Old Style" panose="02050604050505020204" pitchFamily="18" charset="0"/>
              </a:rPr>
              <a:t>#makes a </a:t>
            </a:r>
            <a:r>
              <a:rPr lang="en-US" sz="2400" b="1" dirty="0" smtClean="0">
                <a:solidFill>
                  <a:srgbClr val="FF0000"/>
                </a:solidFill>
                <a:latin typeface="Bookman Old Style" panose="02050604050505020204" pitchFamily="18" charset="0"/>
              </a:rPr>
              <a:t>sorted list</a:t>
            </a:r>
            <a:endParaRPr lang="en-US" sz="2400" b="1" dirty="0">
              <a:solidFill>
                <a:srgbClr val="FF0000"/>
              </a:solidFill>
              <a:latin typeface="Bookman Old Style" panose="02050604050505020204" pitchFamily="18" charset="0"/>
            </a:endParaRPr>
          </a:p>
          <a:p>
            <a:pPr>
              <a:lnSpc>
                <a:spcPct val="85000"/>
              </a:lnSpc>
            </a:pPr>
            <a:r>
              <a:rPr lang="en-US" sz="2400" b="1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[</a:t>
            </a:r>
            <a:r>
              <a:rPr lang="en-US" sz="2400" dirty="0" smtClean="0">
                <a:solidFill>
                  <a:srgbClr val="000000"/>
                </a:solidFill>
                <a:latin typeface="Lucida Console" panose="020B0609040504020204" pitchFamily="49" charset="0"/>
              </a:rPr>
              <a:t>'.', '0', '5'</a:t>
            </a:r>
            <a:r>
              <a:rPr lang="en-US" sz="2400" b="1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]</a:t>
            </a:r>
            <a:endParaRPr lang="en-US" sz="2400" b="1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>
              <a:lnSpc>
                <a:spcPct val="70000"/>
              </a:lnSpc>
            </a:pPr>
            <a:r>
              <a:rPr lang="en-US" sz="2400" dirty="0" smtClean="0">
                <a:solidFill>
                  <a:srgbClr val="78B24C"/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2400" dirty="0" smtClean="0">
                <a:solidFill>
                  <a:srgbClr val="B3D88B"/>
                </a:solidFill>
                <a:latin typeface="Lucida Console" panose="020B0609040504020204" pitchFamily="49" charset="0"/>
              </a:rPr>
              <a:t> </a:t>
            </a:r>
            <a:r>
              <a:rPr lang="en-US" sz="2400" spc="-50" dirty="0" smtClean="0">
                <a:solidFill>
                  <a:srgbClr val="000000"/>
                </a:solidFill>
                <a:latin typeface="Bookman Old Style" panose="02050604050505020204" pitchFamily="18" charset="0"/>
              </a:rPr>
              <a:t>#This last </a:t>
            </a:r>
            <a:r>
              <a:rPr lang="en-US" sz="2400" spc="-100" dirty="0" smtClean="0">
                <a:solidFill>
                  <a:srgbClr val="000000"/>
                </a:solidFill>
                <a:latin typeface="Bookman Old Style" panose="02050604050505020204" pitchFamily="18" charset="0"/>
              </a:rPr>
              <a:t>on</a:t>
            </a:r>
            <a:r>
              <a:rPr lang="en-US" sz="2400" spc="-50" dirty="0" smtClean="0">
                <a:solidFill>
                  <a:srgbClr val="000000"/>
                </a:solidFill>
                <a:latin typeface="Bookman Old Style" panose="02050604050505020204" pitchFamily="18" charset="0"/>
              </a:rPr>
              <a:t>e </a:t>
            </a:r>
            <a:r>
              <a:rPr lang="en-US" sz="2400" spc="-50" dirty="0">
                <a:solidFill>
                  <a:srgbClr val="000000"/>
                </a:solidFill>
                <a:latin typeface="Bookman Old Style" panose="02050604050505020204" pitchFamily="18" charset="0"/>
              </a:rPr>
              <a:t>i</a:t>
            </a:r>
            <a:r>
              <a:rPr lang="en-US" sz="2400" spc="-50" dirty="0" smtClean="0">
                <a:solidFill>
                  <a:srgbClr val="000000"/>
                </a:solidFill>
                <a:latin typeface="Bookman Old Style" panose="02050604050505020204" pitchFamily="18" charset="0"/>
              </a:rPr>
              <a:t>s </a:t>
            </a:r>
            <a:r>
              <a:rPr lang="en-US" sz="2400" spc="-80" dirty="0" smtClean="0">
                <a:solidFill>
                  <a:srgbClr val="000000"/>
                </a:solidFill>
                <a:latin typeface="Bookman Old Style" panose="02050604050505020204" pitchFamily="18" charset="0"/>
              </a:rPr>
              <a:t>s</a:t>
            </a:r>
            <a:r>
              <a:rPr lang="en-US" sz="2400" spc="-100" dirty="0" smtClean="0">
                <a:solidFill>
                  <a:srgbClr val="000000"/>
                </a:solidFill>
                <a:latin typeface="Bookman Old Style" panose="02050604050505020204" pitchFamily="18" charset="0"/>
              </a:rPr>
              <a:t>o</a:t>
            </a:r>
            <a:r>
              <a:rPr lang="en-US" sz="2400" spc="-10" dirty="0" smtClean="0">
                <a:solidFill>
                  <a:srgbClr val="000000"/>
                </a:solidFill>
                <a:latin typeface="Bookman Old Style" panose="02050604050505020204" pitchFamily="18" charset="0"/>
              </a:rPr>
              <a:t>r</a:t>
            </a:r>
            <a:r>
              <a:rPr lang="en-US" sz="2400" spc="-50" dirty="0" smtClean="0">
                <a:solidFill>
                  <a:srgbClr val="000000"/>
                </a:solidFill>
                <a:latin typeface="Bookman Old Style" panose="02050604050505020204" pitchFamily="18" charset="0"/>
              </a:rPr>
              <a:t>ted </a:t>
            </a:r>
            <a:r>
              <a:rPr lang="en-US" sz="2400" spc="-100" dirty="0" smtClean="0">
                <a:solidFill>
                  <a:srgbClr val="000000"/>
                </a:solidFill>
                <a:latin typeface="Bookman Old Style" panose="02050604050505020204" pitchFamily="18" charset="0"/>
              </a:rPr>
              <a:t>b</a:t>
            </a:r>
            <a:r>
              <a:rPr lang="en-US" sz="2400" spc="-50" dirty="0" smtClean="0">
                <a:solidFill>
                  <a:srgbClr val="000000"/>
                </a:solidFill>
                <a:latin typeface="Bookman Old Style" panose="02050604050505020204" pitchFamily="18" charset="0"/>
              </a:rPr>
              <a:t>y</a:t>
            </a:r>
            <a:r>
              <a:rPr lang="en-US" sz="2000" spc="-50" dirty="0" smtClean="0">
                <a:solidFill>
                  <a:srgbClr val="000000"/>
                </a:solidFill>
                <a:latin typeface="Bookman Old Style" panose="02050604050505020204" pitchFamily="18" charset="0"/>
              </a:rPr>
              <a:t> </a:t>
            </a:r>
            <a:r>
              <a:rPr lang="en-US" sz="2400" spc="-50" dirty="0" smtClean="0">
                <a:solidFill>
                  <a:srgbClr val="000000"/>
                </a:solidFill>
                <a:latin typeface="Bookman Old Style" panose="02050604050505020204" pitchFamily="18" charset="0"/>
              </a:rPr>
              <a:t>A</a:t>
            </a:r>
            <a:r>
              <a:rPr lang="en-US" sz="2400" spc="-90" dirty="0" smtClean="0">
                <a:solidFill>
                  <a:srgbClr val="000000"/>
                </a:solidFill>
                <a:latin typeface="Bookman Old Style" panose="02050604050505020204" pitchFamily="18" charset="0"/>
              </a:rPr>
              <a:t>S</a:t>
            </a:r>
            <a:r>
              <a:rPr lang="en-US" sz="2400" spc="-50" dirty="0" smtClean="0">
                <a:solidFill>
                  <a:srgbClr val="000000"/>
                </a:solidFill>
                <a:latin typeface="Bookman Old Style" panose="02050604050505020204" pitchFamily="18" charset="0"/>
              </a:rPr>
              <a:t>C</a:t>
            </a:r>
            <a:r>
              <a:rPr lang="en-US" sz="2400" spc="-20" dirty="0" smtClean="0">
                <a:solidFill>
                  <a:srgbClr val="000000"/>
                </a:solidFill>
                <a:latin typeface="Bookman Old Style" panose="02050604050505020204" pitchFamily="18" charset="0"/>
              </a:rPr>
              <a:t>I</a:t>
            </a:r>
            <a:r>
              <a:rPr lang="en-US" sz="2400" spc="-50" dirty="0" smtClean="0">
                <a:solidFill>
                  <a:srgbClr val="000000"/>
                </a:solidFill>
                <a:latin typeface="Bookman Old Style" panose="02050604050505020204" pitchFamily="18" charset="0"/>
              </a:rPr>
              <a:t>I</a:t>
            </a:r>
            <a:r>
              <a:rPr lang="en-US" sz="2000" spc="-50" dirty="0" smtClean="0">
                <a:solidFill>
                  <a:srgbClr val="000000"/>
                </a:solidFill>
                <a:latin typeface="Bookman Old Style" panose="02050604050505020204" pitchFamily="18" charset="0"/>
              </a:rPr>
              <a:t> </a:t>
            </a:r>
            <a:r>
              <a:rPr lang="en-US" sz="2400" spc="-90" dirty="0" smtClean="0">
                <a:solidFill>
                  <a:srgbClr val="000000"/>
                </a:solidFill>
                <a:latin typeface="Bookman Old Style" panose="02050604050505020204" pitchFamily="18" charset="0"/>
              </a:rPr>
              <a:t>v</a:t>
            </a:r>
            <a:r>
              <a:rPr lang="en-US" sz="2400" spc="-50" dirty="0" smtClean="0">
                <a:solidFill>
                  <a:srgbClr val="000000"/>
                </a:solidFill>
                <a:latin typeface="Bookman Old Style" panose="02050604050505020204" pitchFamily="18" charset="0"/>
              </a:rPr>
              <a:t>al</a:t>
            </a:r>
            <a:r>
              <a:rPr lang="en-US" sz="2400" spc="-90" dirty="0" smtClean="0">
                <a:solidFill>
                  <a:srgbClr val="000000"/>
                </a:solidFill>
                <a:latin typeface="Bookman Old Style" panose="02050604050505020204" pitchFamily="18" charset="0"/>
              </a:rPr>
              <a:t>u</a:t>
            </a:r>
            <a:r>
              <a:rPr lang="en-US" sz="2400" spc="-50" dirty="0" smtClean="0">
                <a:solidFill>
                  <a:srgbClr val="000000"/>
                </a:solidFill>
                <a:latin typeface="Bookman Old Style" panose="02050604050505020204" pitchFamily="18" charset="0"/>
              </a:rPr>
              <a:t>e</a:t>
            </a:r>
          </a:p>
          <a:p>
            <a:pPr algn="ctr">
              <a:lnSpc>
                <a:spcPct val="85000"/>
              </a:lnSpc>
              <a:defRPr/>
            </a:pPr>
            <a:endParaRPr lang="zh-TW" altLang="en-US" sz="2000" kern="0" dirty="0">
              <a:solidFill>
                <a:prstClr val="black"/>
              </a:solidFill>
              <a:latin typeface="Calibri"/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592169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5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5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35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358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358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1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4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9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7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0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5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8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3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6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9" dur="500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8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86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89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9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95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98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01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04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07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0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3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6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9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22" dur="500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6" dur="500"/>
                                        <p:tgtEl>
                                          <p:spTgt spid="358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</p:bld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48038" y="918185"/>
            <a:ext cx="8836455" cy="5939815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398" dirty="0">
                <a:solidFill>
                  <a:schemeClr val="bg1">
                    <a:lumMod val="85000"/>
                  </a:schemeClr>
                </a:solidFill>
                <a:latin typeface="Lucida Console" pitchFamily="49" charset="0"/>
              </a:rPr>
              <a:t>&gt;&gt;&gt;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 {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1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,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5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,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4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,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3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}  </a:t>
            </a:r>
            <a:r>
              <a:rPr lang="en-US" altLang="en-US" sz="2398" b="1" dirty="0">
                <a:solidFill>
                  <a:srgbClr val="00B0F0"/>
                </a:solidFill>
                <a:latin typeface="Lucida Console" pitchFamily="49" charset="0"/>
              </a:rPr>
              <a:t>|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 {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2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,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5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}</a:t>
            </a: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{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1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, 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2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, 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3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, 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4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,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 5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}</a:t>
            </a: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398" dirty="0">
                <a:solidFill>
                  <a:schemeClr val="bg1">
                    <a:lumMod val="85000"/>
                  </a:schemeClr>
                </a:solidFill>
                <a:latin typeface="Lucida Console" pitchFamily="49" charset="0"/>
              </a:rPr>
              <a:t>&gt;&gt;&gt;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 {"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cat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"}    </a:t>
            </a:r>
            <a:r>
              <a:rPr lang="en-US" altLang="en-US" sz="2398" b="1" dirty="0">
                <a:solidFill>
                  <a:srgbClr val="00B0F0"/>
                </a:solidFill>
                <a:latin typeface="Lucida Console" pitchFamily="49" charset="0"/>
              </a:rPr>
              <a:t>|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 {"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bat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"}</a:t>
            </a: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{'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bat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', '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cat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'}</a:t>
            </a: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398" dirty="0">
                <a:solidFill>
                  <a:schemeClr val="bg1">
                    <a:lumMod val="85000"/>
                  </a:schemeClr>
                </a:solidFill>
                <a:latin typeface="Lucida Console" pitchFamily="49" charset="0"/>
              </a:rPr>
              <a:t>&gt;&gt;&gt;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 set("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cat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") </a:t>
            </a:r>
            <a:r>
              <a:rPr lang="en-US" altLang="en-US" sz="2398" b="1" dirty="0">
                <a:solidFill>
                  <a:srgbClr val="00B0F0"/>
                </a:solidFill>
                <a:latin typeface="Lucida Console" pitchFamily="49" charset="0"/>
              </a:rPr>
              <a:t>|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 set("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bat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")</a:t>
            </a: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{'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a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', '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b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', '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c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', '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t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'}</a:t>
            </a: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398" dirty="0">
                <a:solidFill>
                  <a:schemeClr val="bg1">
                    <a:lumMod val="85000"/>
                  </a:schemeClr>
                </a:solidFill>
                <a:latin typeface="Lucida Console" pitchFamily="49" charset="0"/>
              </a:rPr>
              <a:t>&gt;&gt;&gt;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 set("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cat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") </a:t>
            </a:r>
            <a:r>
              <a:rPr lang="en-US" altLang="en-US" sz="2398" b="1" dirty="0">
                <a:solidFill>
                  <a:srgbClr val="00B0F0"/>
                </a:solidFill>
                <a:latin typeface="Lucida Console" pitchFamily="49" charset="0"/>
              </a:rPr>
              <a:t>|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 {"</a:t>
            </a:r>
            <a:r>
              <a:rPr lang="en-US" altLang="en-US" sz="2398" b="1" dirty="0" err="1">
                <a:solidFill>
                  <a:srgbClr val="00B050"/>
                </a:solidFill>
                <a:latin typeface="Lucida Console" pitchFamily="49" charset="0"/>
              </a:rPr>
              <a:t>b</a:t>
            </a:r>
            <a:r>
              <a:rPr lang="en-US" altLang="en-US" sz="2398" dirty="0" err="1">
                <a:solidFill>
                  <a:schemeClr val="tx1"/>
                </a:solidFill>
                <a:latin typeface="Lucida Console" pitchFamily="49" charset="0"/>
              </a:rPr>
              <a:t>","</a:t>
            </a:r>
            <a:r>
              <a:rPr lang="en-US" altLang="en-US" sz="2398" b="1" dirty="0" err="1">
                <a:solidFill>
                  <a:srgbClr val="00B050"/>
                </a:solidFill>
                <a:latin typeface="Lucida Console" pitchFamily="49" charset="0"/>
              </a:rPr>
              <a:t>a</a:t>
            </a:r>
            <a:r>
              <a:rPr lang="en-US" altLang="en-US" sz="2398" dirty="0" err="1">
                <a:solidFill>
                  <a:schemeClr val="tx1"/>
                </a:solidFill>
                <a:latin typeface="Lucida Console" pitchFamily="49" charset="0"/>
              </a:rPr>
              <a:t>","</a:t>
            </a:r>
            <a:r>
              <a:rPr lang="en-US" altLang="en-US" sz="2398" b="1" dirty="0" err="1">
                <a:solidFill>
                  <a:srgbClr val="00B050"/>
                </a:solidFill>
                <a:latin typeface="Lucida Console" pitchFamily="49" charset="0"/>
              </a:rPr>
              <a:t>t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"}</a:t>
            </a: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{'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a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', '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b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', '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c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', '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t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'}</a:t>
            </a: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398" dirty="0" smtClean="0">
                <a:solidFill>
                  <a:schemeClr val="bg1">
                    <a:lumMod val="85000"/>
                  </a:schemeClr>
                </a:solidFill>
                <a:latin typeface="Lucida Console" pitchFamily="49" charset="0"/>
              </a:rPr>
              <a:t>&gt;&gt;&gt;</a:t>
            </a:r>
            <a:r>
              <a:rPr lang="en-US" altLang="en-US" sz="2398" dirty="0" smtClean="0">
                <a:solidFill>
                  <a:schemeClr val="tx1"/>
                </a:solidFill>
                <a:latin typeface="Lucida Console" pitchFamily="49" charset="0"/>
              </a:rPr>
              <a:t> 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set("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cat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") </a:t>
            </a:r>
            <a:r>
              <a:rPr lang="en-US" altLang="en-US" sz="2398" b="1" dirty="0">
                <a:solidFill>
                  <a:srgbClr val="00B0F0"/>
                </a:solidFill>
                <a:latin typeface="Lucida Console" pitchFamily="49" charset="0"/>
              </a:rPr>
              <a:t>|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 {"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bat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"}</a:t>
            </a: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{'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c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', '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bat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', '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t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', '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a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'}</a:t>
            </a: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398" dirty="0" smtClean="0">
                <a:solidFill>
                  <a:schemeClr val="bg1">
                    <a:lumMod val="85000"/>
                  </a:schemeClr>
                </a:solidFill>
                <a:latin typeface="Lucida Console" pitchFamily="49" charset="0"/>
              </a:rPr>
              <a:t>&gt;&gt;&gt;</a:t>
            </a:r>
            <a:r>
              <a:rPr lang="en-US" altLang="en-US" sz="2398" dirty="0" smtClean="0">
                <a:solidFill>
                  <a:schemeClr val="tx1"/>
                </a:solidFill>
                <a:latin typeface="Lucida Console" pitchFamily="49" charset="0"/>
              </a:rPr>
              <a:t> 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set("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cat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")</a:t>
            </a:r>
            <a:r>
              <a:rPr lang="en-US" altLang="en-US" sz="2398" b="1" dirty="0">
                <a:solidFill>
                  <a:srgbClr val="00B0F0"/>
                </a:solidFill>
                <a:latin typeface="Lucida Console" pitchFamily="49" charset="0"/>
              </a:rPr>
              <a:t>.union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       (set("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bat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"))</a:t>
            </a: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{'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a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', '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b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', '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c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', '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t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'}</a:t>
            </a: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398" dirty="0">
                <a:solidFill>
                  <a:schemeClr val="bg1">
                    <a:lumMod val="85000"/>
                  </a:schemeClr>
                </a:solidFill>
                <a:latin typeface="Lucida Console" pitchFamily="49" charset="0"/>
              </a:rPr>
              <a:t>&gt;&gt;&gt;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 set("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cat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")</a:t>
            </a:r>
            <a:r>
              <a:rPr lang="en-US" altLang="en-US" sz="2398" b="1" dirty="0">
                <a:solidFill>
                  <a:srgbClr val="00B0F0"/>
                </a:solidFill>
                <a:latin typeface="Lucida Console" pitchFamily="49" charset="0"/>
              </a:rPr>
              <a:t>.union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       ("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bat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")</a:t>
            </a: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{'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c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', '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b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', '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t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', '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a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'}</a:t>
            </a: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398" dirty="0">
                <a:solidFill>
                  <a:schemeClr val="bg1">
                    <a:lumMod val="85000"/>
                  </a:schemeClr>
                </a:solidFill>
                <a:latin typeface="Lucida Console" pitchFamily="49" charset="0"/>
              </a:rPr>
              <a:t>&gt;&gt;&gt; #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 </a:t>
            </a:r>
            <a:r>
              <a:rPr lang="en-US" altLang="en-US" sz="2398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itchFamily="49" charset="0"/>
              </a:rPr>
              <a:t>The </a:t>
            </a:r>
            <a:r>
              <a:rPr lang="en-US" altLang="en-US" sz="2398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itchFamily="49" charset="0"/>
              </a:rPr>
              <a:t>last 2</a:t>
            </a:r>
            <a:r>
              <a:rPr lang="en-US" altLang="en-US" sz="2398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itchFamily="49" charset="0"/>
              </a:rPr>
              <a:t> results have the same 4</a:t>
            </a:r>
            <a:r>
              <a:rPr lang="en-US" altLang="en-US" sz="20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itchFamily="49" charset="0"/>
              </a:rPr>
              <a:t> </a:t>
            </a:r>
            <a:r>
              <a:rPr lang="en-US" altLang="en-US" sz="2398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itchFamily="49" charset="0"/>
              </a:rPr>
              <a:t>items,</a:t>
            </a:r>
            <a:endParaRPr lang="en-US" altLang="en-US" sz="2398" dirty="0">
              <a:solidFill>
                <a:schemeClr val="tx1">
                  <a:lumMod val="50000"/>
                  <a:lumOff val="50000"/>
                </a:schemeClr>
              </a:solidFill>
              <a:latin typeface="Lucida Console" pitchFamily="49" charset="0"/>
            </a:endParaRP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398" dirty="0">
                <a:solidFill>
                  <a:schemeClr val="bg1">
                    <a:lumMod val="85000"/>
                  </a:schemeClr>
                </a:solidFill>
                <a:latin typeface="Lucida Console" pitchFamily="49" charset="0"/>
              </a:rPr>
              <a:t>&gt;&gt;&gt; # </a:t>
            </a:r>
            <a:r>
              <a:rPr lang="en-US" altLang="en-US" sz="2398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itchFamily="49" charset="0"/>
              </a:rPr>
              <a:t>but they've printed in a</a:t>
            </a:r>
            <a:r>
              <a:rPr lang="en-US" altLang="en-US" sz="20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itchFamily="49" charset="0"/>
              </a:rPr>
              <a:t> </a:t>
            </a:r>
            <a:r>
              <a:rPr lang="en-US" altLang="en-US" sz="2398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itchFamily="49" charset="0"/>
              </a:rPr>
              <a:t>different order.</a:t>
            </a:r>
            <a:endParaRPr lang="en-US" altLang="en-US" sz="2398" dirty="0">
              <a:solidFill>
                <a:schemeClr val="tx1">
                  <a:lumMod val="50000"/>
                  <a:lumOff val="50000"/>
                </a:schemeClr>
              </a:solidFill>
              <a:latin typeface="Lucida Console" pitchFamily="49" charset="0"/>
            </a:endParaRP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398" dirty="0">
                <a:solidFill>
                  <a:schemeClr val="bg1">
                    <a:lumMod val="85000"/>
                  </a:schemeClr>
                </a:solidFill>
                <a:latin typeface="Lucida Console" pitchFamily="49" charset="0"/>
              </a:rPr>
              <a:t>&gt;&gt;&gt; # </a:t>
            </a:r>
            <a:r>
              <a:rPr lang="en-US" altLang="en-US" sz="2398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itchFamily="49" charset="0"/>
              </a:rPr>
              <a:t>It </a:t>
            </a:r>
            <a:r>
              <a:rPr lang="en-US" altLang="en-US" sz="2398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itchFamily="49" charset="0"/>
              </a:rPr>
              <a:t>doesn’t </a:t>
            </a:r>
            <a:r>
              <a:rPr lang="en-US" altLang="en-US" sz="2398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itchFamily="49" charset="0"/>
              </a:rPr>
              <a:t>matter, as</a:t>
            </a:r>
            <a:r>
              <a:rPr lang="en-US" altLang="en-US" sz="20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itchFamily="49" charset="0"/>
              </a:rPr>
              <a:t> </a:t>
            </a:r>
            <a:r>
              <a:rPr lang="en-US" altLang="en-US" sz="2398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itchFamily="49" charset="0"/>
              </a:rPr>
              <a:t>sets </a:t>
            </a:r>
            <a:r>
              <a:rPr lang="en-US" altLang="en-US" sz="2398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itchFamily="49" charset="0"/>
              </a:rPr>
              <a:t>are</a:t>
            </a:r>
            <a:r>
              <a:rPr lang="en-US" altLang="en-US" sz="2398" i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itchFamily="49" charset="0"/>
              </a:rPr>
              <a:t> unordered.</a:t>
            </a:r>
            <a:endParaRPr lang="en-US" altLang="en-US" sz="2398" i="1" dirty="0">
              <a:solidFill>
                <a:schemeClr val="tx1">
                  <a:lumMod val="50000"/>
                  <a:lumOff val="50000"/>
                </a:schemeClr>
              </a:solidFill>
              <a:latin typeface="Lucida Console" pitchFamily="49" charset="0"/>
            </a:endParaRP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endParaRPr lang="en-US" altLang="en-US" sz="2398" dirty="0">
              <a:solidFill>
                <a:schemeClr val="tx1"/>
              </a:solidFill>
              <a:latin typeface="Lucida Console" pitchFamily="49" charset="0"/>
            </a:endParaRPr>
          </a:p>
        </p:txBody>
      </p:sp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828802" y="2129"/>
            <a:ext cx="8072185" cy="988471"/>
          </a:xfrm>
        </p:spPr>
        <p:txBody>
          <a:bodyPr/>
          <a:lstStyle/>
          <a:p>
            <a:r>
              <a:rPr lang="en-US" altLang="en-US" sz="4400" dirty="0">
                <a:solidFill>
                  <a:srgbClr val="0070C0"/>
                </a:solidFill>
                <a:latin typeface="Elephant" panose="02020904090505020303" pitchFamily="18" charset="0"/>
                <a:cs typeface="Arial" panose="020B0604020202020204" pitchFamily="34" charset="0"/>
              </a:rPr>
              <a:t>Union with</a:t>
            </a:r>
            <a:r>
              <a:rPr lang="en-US" altLang="en-US" sz="4400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44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|</a:t>
            </a:r>
          </a:p>
        </p:txBody>
      </p:sp>
      <p:sp>
        <p:nvSpPr>
          <p:cNvPr id="6" name="Rounded Rectangular Callout 5"/>
          <p:cNvSpPr/>
          <p:nvPr/>
        </p:nvSpPr>
        <p:spPr>
          <a:xfrm>
            <a:off x="3036094" y="5486400"/>
            <a:ext cx="6670559" cy="1351023"/>
          </a:xfrm>
          <a:prstGeom prst="wedgeRoundRectCallout">
            <a:avLst>
              <a:gd name="adj1" fmla="val -40268"/>
              <a:gd name="adj2" fmla="val -127055"/>
              <a:gd name="adj3" fmla="val 16667"/>
            </a:avLst>
          </a:prstGeom>
          <a:solidFill>
            <a:srgbClr val="92D050"/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>
              <a:lnSpc>
                <a:spcPct val="85000"/>
              </a:lnSpc>
            </a:pPr>
            <a:r>
              <a:rPr lang="en-US" altLang="zh-TW" sz="2800" b="1" kern="0" dirty="0" smtClean="0">
                <a:solidFill>
                  <a:srgbClr val="00B0F0"/>
                </a:solidFill>
                <a:latin typeface="Calibri"/>
                <a:ea typeface="新細明體" panose="02020500000000000000" pitchFamily="18" charset="-120"/>
              </a:rPr>
              <a:t>This</a:t>
            </a:r>
            <a:r>
              <a:rPr lang="en-US" altLang="zh-TW" sz="2800" kern="0" dirty="0" smtClean="0">
                <a:solidFill>
                  <a:prstClr val="black"/>
                </a:solidFill>
                <a:latin typeface="Calibri"/>
                <a:ea typeface="新細明體" panose="02020500000000000000" pitchFamily="18" charset="-120"/>
              </a:rPr>
              <a:t> is a method. We haven’t talked about methods yet. For now, we’ll just say that it is another way to run the </a:t>
            </a:r>
            <a:r>
              <a:rPr lang="en-US" altLang="zh-TW" sz="2800" b="1" kern="0" dirty="0" smtClean="0">
                <a:solidFill>
                  <a:srgbClr val="00B0F0"/>
                </a:solidFill>
                <a:latin typeface="Calibri"/>
                <a:ea typeface="新細明體" panose="02020500000000000000" pitchFamily="18" charset="-120"/>
              </a:rPr>
              <a:t>|</a:t>
            </a:r>
            <a:r>
              <a:rPr lang="en-US" altLang="zh-TW" sz="2800" kern="0" dirty="0" smtClean="0">
                <a:solidFill>
                  <a:prstClr val="black"/>
                </a:solidFill>
                <a:latin typeface="Calibri"/>
                <a:ea typeface="新細明體" panose="02020500000000000000" pitchFamily="18" charset="-120"/>
              </a:rPr>
              <a:t> operator.</a:t>
            </a:r>
            <a:endParaRPr lang="zh-TW" altLang="en-US" sz="2000" kern="0" dirty="0">
              <a:solidFill>
                <a:prstClr val="black"/>
              </a:solidFill>
              <a:latin typeface="Calibri"/>
              <a:ea typeface="新細明體" panose="02020500000000000000" pitchFamily="18" charset="-120"/>
            </a:endParaRPr>
          </a:p>
        </p:txBody>
      </p:sp>
      <p:sp>
        <p:nvSpPr>
          <p:cNvPr id="7" name="Rounded Rectangular Callout 6"/>
          <p:cNvSpPr/>
          <p:nvPr/>
        </p:nvSpPr>
        <p:spPr>
          <a:xfrm>
            <a:off x="2640214" y="6019800"/>
            <a:ext cx="7066439" cy="817623"/>
          </a:xfrm>
          <a:prstGeom prst="wedgeRoundRectCallout">
            <a:avLst>
              <a:gd name="adj1" fmla="val -53728"/>
              <a:gd name="adj2" fmla="val -123761"/>
              <a:gd name="adj3" fmla="val 16667"/>
            </a:avLst>
          </a:prstGeom>
          <a:solidFill>
            <a:srgbClr val="92D050"/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>
              <a:lnSpc>
                <a:spcPct val="85000"/>
              </a:lnSpc>
            </a:pPr>
            <a:r>
              <a:rPr lang="en-US" altLang="zh-TW" sz="2800" kern="0" dirty="0" smtClean="0">
                <a:solidFill>
                  <a:prstClr val="black"/>
                </a:solidFill>
                <a:latin typeface="Calibri"/>
                <a:ea typeface="新細明體" panose="02020500000000000000" pitchFamily="18" charset="-120"/>
              </a:rPr>
              <a:t>Here we see an interesting detail. It did</a:t>
            </a:r>
            <a:r>
              <a:rPr lang="en-US" altLang="zh-TW" sz="2800" kern="0" spc="-200" dirty="0" smtClean="0">
                <a:solidFill>
                  <a:prstClr val="black"/>
                </a:solidFill>
                <a:latin typeface="Calibri"/>
                <a:ea typeface="新細明體" panose="02020500000000000000" pitchFamily="18" charset="-120"/>
              </a:rPr>
              <a:t>n’</a:t>
            </a:r>
            <a:r>
              <a:rPr lang="en-US" altLang="zh-TW" sz="2800" kern="0" dirty="0" smtClean="0">
                <a:solidFill>
                  <a:prstClr val="black"/>
                </a:solidFill>
                <a:latin typeface="Calibri"/>
                <a:ea typeface="新細明體" panose="02020500000000000000" pitchFamily="18" charset="-120"/>
              </a:rPr>
              <a:t>t give the same output </a:t>
            </a:r>
            <a:r>
              <a:rPr lang="en-US" altLang="zh-TW" sz="2800" b="1" kern="0" dirty="0" smtClean="0">
                <a:solidFill>
                  <a:srgbClr val="000000"/>
                </a:solidFill>
                <a:latin typeface="Calibri"/>
                <a:ea typeface="新細明體" panose="02020500000000000000" pitchFamily="18" charset="-120"/>
              </a:rPr>
              <a:t>as the | operator gave</a:t>
            </a:r>
            <a:r>
              <a:rPr lang="en-US" altLang="zh-TW" sz="2800" kern="0" dirty="0" smtClean="0">
                <a:solidFill>
                  <a:prstClr val="black"/>
                </a:solidFill>
                <a:latin typeface="Calibri"/>
                <a:ea typeface="新細明體" panose="02020500000000000000" pitchFamily="18" charset="-120"/>
              </a:rPr>
              <a:t>.</a:t>
            </a:r>
            <a:endParaRPr lang="zh-TW" altLang="en-US" sz="2000" kern="0" dirty="0">
              <a:solidFill>
                <a:prstClr val="black"/>
              </a:solidFill>
              <a:latin typeface="Calibri"/>
              <a:ea typeface="新細明體" panose="02020500000000000000" pitchFamily="18" charset="-120"/>
            </a:endParaRPr>
          </a:p>
        </p:txBody>
      </p:sp>
      <p:cxnSp>
        <p:nvCxnSpPr>
          <p:cNvPr id="8" name="Straight Arrow Connector 7"/>
          <p:cNvCxnSpPr/>
          <p:nvPr/>
        </p:nvCxnSpPr>
        <p:spPr bwMode="auto">
          <a:xfrm flipH="1" flipV="1">
            <a:off x="2350294" y="4038600"/>
            <a:ext cx="3886200" cy="251460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</p:spTree>
    <p:extLst>
      <p:ext uri="{BB962C8B-B14F-4D97-AF65-F5344CB8AC3E}">
        <p14:creationId xmlns:p14="http://schemas.microsoft.com/office/powerpoint/2010/main" val="15786750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58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58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358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358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3584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3584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1" dur="500"/>
                                        <p:tgtEl>
                                          <p:spTgt spid="3584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4" dur="500"/>
                                        <p:tgtEl>
                                          <p:spTgt spid="3584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5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5" dur="500"/>
                                        <p:tgtEl>
                                          <p:spTgt spid="3584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8" dur="500"/>
                                        <p:tgtEl>
                                          <p:spTgt spid="3584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1" dur="500"/>
                                        <p:tgtEl>
                                          <p:spTgt spid="3584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7" grpId="0" animBg="1"/>
      <p:bldP spid="7" grpId="1" animBg="1"/>
    </p:bld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828802" y="2129"/>
            <a:ext cx="8072185" cy="988471"/>
          </a:xfrm>
        </p:spPr>
        <p:txBody>
          <a:bodyPr/>
          <a:lstStyle/>
          <a:p>
            <a:r>
              <a:rPr lang="en-US" altLang="en-US" sz="4400" dirty="0">
                <a:solidFill>
                  <a:srgbClr val="0070C0"/>
                </a:solidFill>
                <a:latin typeface="Elephant" panose="02020904090505020303" pitchFamily="18" charset="0"/>
                <a:cs typeface="Arial" panose="020B0604020202020204" pitchFamily="34" charset="0"/>
              </a:rPr>
              <a:t>Intersection with</a:t>
            </a:r>
            <a:r>
              <a:rPr lang="en-US" altLang="en-US" sz="4400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44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&amp;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48039" y="918185"/>
            <a:ext cx="8605254" cy="5939815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398" dirty="0">
                <a:solidFill>
                  <a:schemeClr val="bg1">
                    <a:lumMod val="85000"/>
                  </a:schemeClr>
                </a:solidFill>
                <a:latin typeface="Lucida Console" pitchFamily="49" charset="0"/>
              </a:rPr>
              <a:t>&gt;&gt;&gt;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 {</a:t>
            </a:r>
            <a:r>
              <a:rPr lang="en-US" altLang="en-US" sz="2398" b="1" dirty="0">
                <a:solidFill>
                  <a:srgbClr val="FF0000"/>
                </a:solidFill>
                <a:latin typeface="Lucida Console" pitchFamily="49" charset="0"/>
              </a:rPr>
              <a:t>1</a:t>
            </a:r>
            <a:r>
              <a:rPr lang="en-US" altLang="en-US" sz="2398" dirty="0">
                <a:solidFill>
                  <a:srgbClr val="FF0000"/>
                </a:solidFill>
                <a:latin typeface="Lucida Console" pitchFamily="49" charset="0"/>
              </a:rPr>
              <a:t>,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5</a:t>
            </a:r>
            <a:r>
              <a:rPr lang="en-US" altLang="en-US" sz="2398" dirty="0">
                <a:solidFill>
                  <a:srgbClr val="FF0000"/>
                </a:solidFill>
                <a:latin typeface="Lucida Console" pitchFamily="49" charset="0"/>
              </a:rPr>
              <a:t>,</a:t>
            </a:r>
            <a:r>
              <a:rPr lang="en-US" altLang="en-US" sz="2398" b="1" dirty="0">
                <a:solidFill>
                  <a:srgbClr val="FF0000"/>
                </a:solidFill>
                <a:latin typeface="Lucida Console" pitchFamily="49" charset="0"/>
              </a:rPr>
              <a:t>4</a:t>
            </a:r>
            <a:r>
              <a:rPr lang="en-US" altLang="en-US" sz="2398" dirty="0">
                <a:solidFill>
                  <a:srgbClr val="FF0000"/>
                </a:solidFill>
                <a:latin typeface="Lucida Console" pitchFamily="49" charset="0"/>
              </a:rPr>
              <a:t>,</a:t>
            </a:r>
            <a:r>
              <a:rPr lang="en-US" altLang="en-US" sz="2398" b="1" dirty="0">
                <a:solidFill>
                  <a:srgbClr val="FF0000"/>
                </a:solidFill>
                <a:latin typeface="Lucida Console" pitchFamily="49" charset="0"/>
              </a:rPr>
              <a:t>3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}  </a:t>
            </a:r>
            <a:r>
              <a:rPr lang="en-US" altLang="en-US" sz="2398" b="1" dirty="0">
                <a:solidFill>
                  <a:srgbClr val="00B0F0"/>
                </a:solidFill>
                <a:latin typeface="Lucida Console" pitchFamily="49" charset="0"/>
              </a:rPr>
              <a:t>&amp;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 {</a:t>
            </a:r>
            <a:r>
              <a:rPr lang="en-US" altLang="en-US" sz="2398" b="1" dirty="0">
                <a:solidFill>
                  <a:srgbClr val="FF0000"/>
                </a:solidFill>
                <a:latin typeface="Lucida Console" pitchFamily="49" charset="0"/>
              </a:rPr>
              <a:t>2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,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5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}</a:t>
            </a: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{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5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}</a:t>
            </a: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398" dirty="0">
                <a:solidFill>
                  <a:schemeClr val="bg1">
                    <a:lumMod val="85000"/>
                  </a:schemeClr>
                </a:solidFill>
                <a:latin typeface="Lucida Console" pitchFamily="49" charset="0"/>
              </a:rPr>
              <a:t>&gt;&gt;&gt;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 {"</a:t>
            </a:r>
            <a:r>
              <a:rPr lang="en-US" altLang="en-US" sz="2398" b="1" dirty="0">
                <a:solidFill>
                  <a:srgbClr val="FF0000"/>
                </a:solidFill>
                <a:latin typeface="Lucida Console" pitchFamily="49" charset="0"/>
              </a:rPr>
              <a:t>cat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"}    </a:t>
            </a:r>
            <a:r>
              <a:rPr lang="en-US" altLang="en-US" sz="2398" b="1" dirty="0">
                <a:solidFill>
                  <a:srgbClr val="00B0F0"/>
                </a:solidFill>
                <a:latin typeface="Lucida Console" pitchFamily="49" charset="0"/>
              </a:rPr>
              <a:t>&amp;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 {"</a:t>
            </a:r>
            <a:r>
              <a:rPr lang="en-US" altLang="en-US" sz="2398" b="1" dirty="0">
                <a:solidFill>
                  <a:srgbClr val="FF0000"/>
                </a:solidFill>
                <a:latin typeface="Lucida Console" pitchFamily="49" charset="0"/>
              </a:rPr>
              <a:t>bat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"}</a:t>
            </a: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set</a:t>
            </a:r>
            <a:r>
              <a:rPr lang="en-US" altLang="en-US" sz="2398" dirty="0" smtClean="0">
                <a:solidFill>
                  <a:schemeClr val="tx1"/>
                </a:solidFill>
                <a:latin typeface="Lucida Console" pitchFamily="49" charset="0"/>
              </a:rPr>
              <a:t>(</a:t>
            </a:r>
            <a:r>
              <a:rPr lang="en-US" altLang="en-US" sz="400" dirty="0" smtClean="0">
                <a:solidFill>
                  <a:schemeClr val="tx1"/>
                </a:solidFill>
                <a:latin typeface="Lucida Console" pitchFamily="49" charset="0"/>
              </a:rPr>
              <a:t> </a:t>
            </a:r>
            <a:r>
              <a:rPr lang="en-US" altLang="en-US" sz="2398" dirty="0" smtClean="0">
                <a:solidFill>
                  <a:schemeClr val="tx1"/>
                </a:solidFill>
                <a:latin typeface="Lucida Console" pitchFamily="49" charset="0"/>
              </a:rPr>
              <a:t>)</a:t>
            </a: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398" dirty="0" smtClean="0">
                <a:solidFill>
                  <a:schemeClr val="bg1">
                    <a:lumMod val="85000"/>
                  </a:schemeClr>
                </a:solidFill>
                <a:latin typeface="Lucida Console" pitchFamily="49" charset="0"/>
              </a:rPr>
              <a:t>&gt;&gt;&gt;</a:t>
            </a:r>
            <a:r>
              <a:rPr lang="en-US" altLang="en-US" sz="2398" dirty="0" smtClean="0">
                <a:solidFill>
                  <a:schemeClr val="tx1"/>
                </a:solidFill>
                <a:latin typeface="Lucida Console" pitchFamily="49" charset="0"/>
              </a:rPr>
              <a:t> 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set("</a:t>
            </a:r>
            <a:r>
              <a:rPr lang="en-US" altLang="en-US" sz="2398" b="1" dirty="0">
                <a:solidFill>
                  <a:srgbClr val="FF0000"/>
                </a:solidFill>
                <a:latin typeface="Lucida Console" pitchFamily="49" charset="0"/>
              </a:rPr>
              <a:t>c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at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") </a:t>
            </a:r>
            <a:r>
              <a:rPr lang="en-US" altLang="en-US" sz="2398" b="1" dirty="0">
                <a:solidFill>
                  <a:srgbClr val="00B0F0"/>
                </a:solidFill>
                <a:latin typeface="Lucida Console" pitchFamily="49" charset="0"/>
              </a:rPr>
              <a:t>&amp;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 set("</a:t>
            </a:r>
            <a:r>
              <a:rPr lang="en-US" altLang="en-US" sz="2398" b="1" dirty="0">
                <a:solidFill>
                  <a:srgbClr val="FF0000"/>
                </a:solidFill>
                <a:latin typeface="Lucida Console" pitchFamily="49" charset="0"/>
              </a:rPr>
              <a:t>b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at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")</a:t>
            </a: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{'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t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', '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a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'}</a:t>
            </a: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398" dirty="0">
                <a:solidFill>
                  <a:schemeClr val="bg1">
                    <a:lumMod val="85000"/>
                  </a:schemeClr>
                </a:solidFill>
                <a:latin typeface="Lucida Console" pitchFamily="49" charset="0"/>
              </a:rPr>
              <a:t>&gt;&gt;&gt;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 set("</a:t>
            </a:r>
            <a:r>
              <a:rPr lang="en-US" altLang="en-US" sz="2398" b="1" dirty="0">
                <a:solidFill>
                  <a:srgbClr val="FF0000"/>
                </a:solidFill>
                <a:latin typeface="Lucida Console" pitchFamily="49" charset="0"/>
              </a:rPr>
              <a:t>c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at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") </a:t>
            </a:r>
            <a:r>
              <a:rPr lang="en-US" altLang="en-US" sz="2398" b="1" dirty="0">
                <a:solidFill>
                  <a:srgbClr val="00B0F0"/>
                </a:solidFill>
                <a:latin typeface="Lucida Console" pitchFamily="49" charset="0"/>
              </a:rPr>
              <a:t>&amp;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 {"</a:t>
            </a:r>
            <a:r>
              <a:rPr lang="en-US" altLang="en-US" sz="2398" b="1" dirty="0" err="1">
                <a:solidFill>
                  <a:srgbClr val="FF0000"/>
                </a:solidFill>
                <a:latin typeface="Lucida Console" pitchFamily="49" charset="0"/>
              </a:rPr>
              <a:t>b</a:t>
            </a:r>
            <a:r>
              <a:rPr lang="en-US" altLang="en-US" sz="2398" dirty="0" err="1">
                <a:solidFill>
                  <a:schemeClr val="tx1"/>
                </a:solidFill>
                <a:latin typeface="Lucida Console" pitchFamily="49" charset="0"/>
              </a:rPr>
              <a:t>","</a:t>
            </a:r>
            <a:r>
              <a:rPr lang="en-US" altLang="en-US" sz="2398" b="1" dirty="0" err="1">
                <a:solidFill>
                  <a:srgbClr val="00B050"/>
                </a:solidFill>
                <a:latin typeface="Lucida Console" pitchFamily="49" charset="0"/>
              </a:rPr>
              <a:t>a</a:t>
            </a:r>
            <a:r>
              <a:rPr lang="en-US" altLang="en-US" sz="2398" dirty="0" err="1">
                <a:solidFill>
                  <a:schemeClr val="tx1"/>
                </a:solidFill>
                <a:latin typeface="Lucida Console" pitchFamily="49" charset="0"/>
              </a:rPr>
              <a:t>","</a:t>
            </a:r>
            <a:r>
              <a:rPr lang="en-US" altLang="en-US" sz="2398" b="1" dirty="0" err="1">
                <a:solidFill>
                  <a:srgbClr val="00B050"/>
                </a:solidFill>
                <a:latin typeface="Lucida Console" pitchFamily="49" charset="0"/>
              </a:rPr>
              <a:t>t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"}</a:t>
            </a: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{'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t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', '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a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'}</a:t>
            </a: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398" dirty="0" smtClean="0">
                <a:solidFill>
                  <a:schemeClr val="bg1">
                    <a:lumMod val="85000"/>
                  </a:schemeClr>
                </a:solidFill>
                <a:latin typeface="Lucida Console" pitchFamily="49" charset="0"/>
              </a:rPr>
              <a:t>&gt;&gt;&gt;</a:t>
            </a:r>
            <a:r>
              <a:rPr lang="en-US" altLang="en-US" sz="2398" dirty="0" smtClean="0">
                <a:solidFill>
                  <a:schemeClr val="tx1"/>
                </a:solidFill>
                <a:latin typeface="Lucida Console" pitchFamily="49" charset="0"/>
              </a:rPr>
              <a:t> 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set("</a:t>
            </a:r>
            <a:r>
              <a:rPr lang="en-US" altLang="en-US" sz="2398" b="1" dirty="0">
                <a:solidFill>
                  <a:srgbClr val="FF0000"/>
                </a:solidFill>
                <a:latin typeface="Lucida Console" pitchFamily="49" charset="0"/>
              </a:rPr>
              <a:t>cat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") </a:t>
            </a:r>
            <a:r>
              <a:rPr lang="en-US" altLang="en-US" sz="2398" b="1" dirty="0">
                <a:solidFill>
                  <a:srgbClr val="00B0F0"/>
                </a:solidFill>
                <a:latin typeface="Lucida Console" pitchFamily="49" charset="0"/>
              </a:rPr>
              <a:t>&amp;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 {"</a:t>
            </a:r>
            <a:r>
              <a:rPr lang="en-US" altLang="en-US" sz="2398" b="1" dirty="0">
                <a:solidFill>
                  <a:srgbClr val="FF0000"/>
                </a:solidFill>
                <a:latin typeface="Lucida Console" pitchFamily="49" charset="0"/>
              </a:rPr>
              <a:t>bat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"}</a:t>
            </a: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set</a:t>
            </a:r>
            <a:r>
              <a:rPr lang="en-US" altLang="en-US" sz="2398" dirty="0" smtClean="0">
                <a:solidFill>
                  <a:schemeClr val="tx1"/>
                </a:solidFill>
                <a:latin typeface="Lucida Console" pitchFamily="49" charset="0"/>
              </a:rPr>
              <a:t>(</a:t>
            </a:r>
            <a:r>
              <a:rPr lang="en-US" altLang="en-US" sz="400" dirty="0" smtClean="0">
                <a:solidFill>
                  <a:schemeClr val="tx1"/>
                </a:solidFill>
                <a:latin typeface="Lucida Console" pitchFamily="49" charset="0"/>
              </a:rPr>
              <a:t> </a:t>
            </a:r>
            <a:r>
              <a:rPr lang="en-US" altLang="en-US" sz="2398" dirty="0" smtClean="0">
                <a:solidFill>
                  <a:schemeClr val="tx1"/>
                </a:solidFill>
                <a:latin typeface="Lucida Console" pitchFamily="49" charset="0"/>
              </a:rPr>
              <a:t>)</a:t>
            </a:r>
            <a:endParaRPr lang="en-US" altLang="en-US" sz="2398" dirty="0">
              <a:solidFill>
                <a:schemeClr val="tx1"/>
              </a:solidFill>
              <a:latin typeface="Lucida Console" pitchFamily="49" charset="0"/>
            </a:endParaRP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398" dirty="0" smtClean="0">
                <a:solidFill>
                  <a:schemeClr val="bg1">
                    <a:lumMod val="85000"/>
                  </a:schemeClr>
                </a:solidFill>
                <a:latin typeface="Lucida Console" pitchFamily="49" charset="0"/>
              </a:rPr>
              <a:t>&gt;&gt;&gt;</a:t>
            </a:r>
            <a:r>
              <a:rPr lang="en-US" altLang="en-US" sz="2398" dirty="0" smtClean="0">
                <a:solidFill>
                  <a:schemeClr val="tx1"/>
                </a:solidFill>
                <a:latin typeface="Lucida Console" pitchFamily="49" charset="0"/>
              </a:rPr>
              <a:t> 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set("</a:t>
            </a:r>
            <a:r>
              <a:rPr lang="en-US" altLang="en-US" sz="2398" b="1" dirty="0">
                <a:solidFill>
                  <a:srgbClr val="FF0000"/>
                </a:solidFill>
                <a:latin typeface="Lucida Console" pitchFamily="49" charset="0"/>
              </a:rPr>
              <a:t>c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at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")</a:t>
            </a:r>
            <a:r>
              <a:rPr lang="en-US" altLang="en-US" sz="2398" b="1" dirty="0">
                <a:solidFill>
                  <a:srgbClr val="00B0F0"/>
                </a:solidFill>
                <a:latin typeface="Lucida Console" pitchFamily="49" charset="0"/>
              </a:rPr>
              <a:t>.intersection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(set("</a:t>
            </a:r>
            <a:r>
              <a:rPr lang="en-US" altLang="en-US" sz="2398" b="1" dirty="0">
                <a:solidFill>
                  <a:srgbClr val="FF0000"/>
                </a:solidFill>
                <a:latin typeface="Lucida Console" pitchFamily="49" charset="0"/>
              </a:rPr>
              <a:t>b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at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"))</a:t>
            </a: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{'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t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', '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a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'}</a:t>
            </a: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398" dirty="0">
                <a:solidFill>
                  <a:schemeClr val="bg1">
                    <a:lumMod val="85000"/>
                  </a:schemeClr>
                </a:solidFill>
                <a:latin typeface="Lucida Console" pitchFamily="49" charset="0"/>
              </a:rPr>
              <a:t>&gt;&gt;&gt;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 set("</a:t>
            </a:r>
            <a:r>
              <a:rPr lang="en-US" altLang="en-US" sz="2398" b="1" dirty="0">
                <a:solidFill>
                  <a:srgbClr val="FF0000"/>
                </a:solidFill>
                <a:latin typeface="Lucida Console" pitchFamily="49" charset="0"/>
              </a:rPr>
              <a:t>c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at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")</a:t>
            </a:r>
            <a:r>
              <a:rPr lang="en-US" altLang="en-US" sz="2398" b="1" dirty="0">
                <a:solidFill>
                  <a:srgbClr val="00B0F0"/>
                </a:solidFill>
                <a:latin typeface="Lucida Console" pitchFamily="49" charset="0"/>
              </a:rPr>
              <a:t>.intersection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("</a:t>
            </a:r>
            <a:r>
              <a:rPr lang="en-US" altLang="en-US" sz="2398" b="1" dirty="0">
                <a:solidFill>
                  <a:srgbClr val="FF0000"/>
                </a:solidFill>
                <a:latin typeface="Lucida Console" pitchFamily="49" charset="0"/>
              </a:rPr>
              <a:t>b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at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")</a:t>
            </a: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{'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t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', '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a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'}</a:t>
            </a: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398" dirty="0">
                <a:solidFill>
                  <a:schemeClr val="bg1">
                    <a:lumMod val="85000"/>
                  </a:schemeClr>
                </a:solidFill>
                <a:latin typeface="Lucida Console" pitchFamily="49" charset="0"/>
              </a:rPr>
              <a:t>&gt;&gt;&gt;</a:t>
            </a: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endParaRPr lang="en-US" altLang="en-US" sz="2398" dirty="0">
              <a:solidFill>
                <a:schemeClr val="tx1"/>
              </a:solidFill>
              <a:latin typeface="Lucida Console" pitchFamily="49" charset="0"/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1394950" y="2166632"/>
            <a:ext cx="5227860" cy="1792224"/>
            <a:chOff x="1310635" y="2057400"/>
            <a:chExt cx="5992658" cy="1752600"/>
          </a:xfrm>
        </p:grpSpPr>
        <p:sp>
          <p:nvSpPr>
            <p:cNvPr id="2" name="Isosceles Triangle 1"/>
            <p:cNvSpPr/>
            <p:nvPr/>
          </p:nvSpPr>
          <p:spPr bwMode="auto">
            <a:xfrm rot="4173493" flipV="1">
              <a:off x="1926441" y="2723348"/>
              <a:ext cx="457200" cy="1688811"/>
            </a:xfrm>
            <a:prstGeom prst="triangle">
              <a:avLst/>
            </a:prstGeom>
            <a:solidFill>
              <a:srgbClr val="92D050"/>
            </a:solidFill>
            <a:ln w="12700" cap="flat" cmpd="sng" algn="ctr">
              <a:solidFill>
                <a:srgbClr val="41719C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000" smtClean="0">
                <a:solidFill>
                  <a:srgbClr val="FFFFFF"/>
                </a:solidFill>
                <a:latin typeface="Times New Roman" charset="0"/>
              </a:endParaRPr>
            </a:p>
          </p:txBody>
        </p:sp>
        <p:sp>
          <p:nvSpPr>
            <p:cNvPr id="4" name="Rounded Rectangular Callout 3"/>
            <p:cNvSpPr/>
            <p:nvPr/>
          </p:nvSpPr>
          <p:spPr>
            <a:xfrm>
              <a:off x="2731294" y="2057400"/>
              <a:ext cx="4571999" cy="1752600"/>
            </a:xfrm>
            <a:prstGeom prst="wedgeRoundRectCallout">
              <a:avLst>
                <a:gd name="adj1" fmla="val -79120"/>
                <a:gd name="adj2" fmla="val -50109"/>
                <a:gd name="adj3" fmla="val 16667"/>
              </a:avLst>
            </a:prstGeom>
            <a:solidFill>
              <a:srgbClr val="92D050"/>
            </a:solidFill>
            <a:ln w="12700" cap="flat" cmpd="sng" algn="ctr">
              <a:solidFill>
                <a:srgbClr val="5B9BD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lnSpc>
                  <a:spcPct val="85000"/>
                </a:lnSpc>
              </a:pPr>
              <a:r>
                <a:rPr lang="en-US" altLang="zh-TW" sz="2800" kern="0" dirty="0" smtClean="0">
                  <a:solidFill>
                    <a:prstClr val="black"/>
                  </a:solidFill>
                  <a:latin typeface="Calibri"/>
                  <a:ea typeface="新細明體" panose="02020500000000000000" pitchFamily="18" charset="-120"/>
                </a:rPr>
                <a:t>These indicate empty sets. (The reason they're </a:t>
              </a:r>
              <a:r>
                <a:rPr lang="en-US" altLang="zh-TW" sz="2800" kern="0" spc="-100" dirty="0" smtClean="0">
                  <a:solidFill>
                    <a:prstClr val="black"/>
                  </a:solidFill>
                  <a:latin typeface="Calibri"/>
                  <a:ea typeface="新細明體" panose="02020500000000000000" pitchFamily="18" charset="-120"/>
                </a:rPr>
                <a:t>n</a:t>
              </a:r>
              <a:r>
                <a:rPr lang="en-US" altLang="zh-TW" sz="2800" kern="0" spc="-20" dirty="0" smtClean="0">
                  <a:solidFill>
                    <a:prstClr val="black"/>
                  </a:solidFill>
                  <a:latin typeface="Calibri"/>
                  <a:ea typeface="新細明體" panose="02020500000000000000" pitchFamily="18" charset="-120"/>
                </a:rPr>
                <a:t>ot </a:t>
              </a:r>
              <a:r>
                <a:rPr lang="en-US" altLang="zh-TW" sz="2800" kern="0" spc="-20" dirty="0" smtClean="0">
                  <a:solidFill>
                    <a:prstClr val="black"/>
                  </a:solidFill>
                  <a:latin typeface="Calibri"/>
                  <a:ea typeface="新細明體" panose="02020500000000000000" pitchFamily="18" charset="-120"/>
                </a:rPr>
                <a:t>writt</a:t>
              </a:r>
              <a:r>
                <a:rPr lang="en-US" altLang="zh-TW" sz="2800" kern="0" spc="-100" dirty="0" smtClean="0">
                  <a:solidFill>
                    <a:prstClr val="black"/>
                  </a:solidFill>
                  <a:latin typeface="Calibri"/>
                  <a:ea typeface="新細明體" panose="02020500000000000000" pitchFamily="18" charset="-120"/>
                </a:rPr>
                <a:t>en as “</a:t>
              </a:r>
              <a:r>
                <a:rPr lang="en-US" altLang="zh-TW" sz="2800" b="1" kern="0" spc="-100" dirty="0" smtClean="0">
                  <a:solidFill>
                    <a:prstClr val="black"/>
                  </a:solidFill>
                  <a:latin typeface="Calibri"/>
                  <a:ea typeface="新細明體" panose="02020500000000000000" pitchFamily="18" charset="-120"/>
                </a:rPr>
                <a:t>{</a:t>
              </a:r>
              <a:r>
                <a:rPr lang="en-US" altLang="zh-TW" sz="2000" kern="0" spc="-20" dirty="0" smtClean="0">
                  <a:solidFill>
                    <a:prstClr val="black"/>
                  </a:solidFill>
                  <a:latin typeface="Calibri"/>
                  <a:ea typeface="新細明體" panose="02020500000000000000" pitchFamily="18" charset="-120"/>
                </a:rPr>
                <a:t> </a:t>
              </a:r>
              <a:r>
                <a:rPr lang="en-US" altLang="zh-TW" sz="2800" b="1" kern="0" spc="-20" dirty="0" smtClean="0">
                  <a:solidFill>
                    <a:prstClr val="black"/>
                  </a:solidFill>
                  <a:latin typeface="Calibri"/>
                  <a:ea typeface="新細明體" panose="02020500000000000000" pitchFamily="18" charset="-120"/>
                </a:rPr>
                <a:t>}</a:t>
              </a:r>
              <a:r>
                <a:rPr lang="en-US" altLang="zh-TW" sz="2800" kern="0" spc="-20" dirty="0" smtClean="0">
                  <a:solidFill>
                    <a:prstClr val="black"/>
                  </a:solidFill>
                  <a:latin typeface="Calibri"/>
                  <a:ea typeface="新細明體" panose="02020500000000000000" pitchFamily="18" charset="-120"/>
                </a:rPr>
                <a:t>” </a:t>
              </a:r>
              <a:r>
                <a:rPr lang="en-US" altLang="zh-TW" sz="2800" kern="0" spc="-20" dirty="0" smtClean="0">
                  <a:solidFill>
                    <a:prstClr val="black"/>
                  </a:solidFill>
                  <a:latin typeface="Calibri"/>
                  <a:ea typeface="新細明體" panose="02020500000000000000" pitchFamily="18" charset="-120"/>
                </a:rPr>
                <a:t>will </a:t>
              </a:r>
              <a:r>
                <a:rPr lang="en-US" altLang="zh-TW" sz="2800" kern="0" spc="-70" dirty="0" smtClean="0">
                  <a:solidFill>
                    <a:prstClr val="black"/>
                  </a:solidFill>
                  <a:latin typeface="Calibri"/>
                  <a:ea typeface="新細明體" panose="02020500000000000000" pitchFamily="18" charset="-120"/>
                </a:rPr>
                <a:t>b</a:t>
              </a:r>
              <a:r>
                <a:rPr lang="en-US" altLang="zh-TW" sz="2800" kern="0" spc="-20" dirty="0" smtClean="0">
                  <a:solidFill>
                    <a:prstClr val="black"/>
                  </a:solidFill>
                  <a:latin typeface="Calibri"/>
                  <a:ea typeface="新細明體" panose="02020500000000000000" pitchFamily="18" charset="-120"/>
                </a:rPr>
                <a:t>e</a:t>
              </a:r>
              <a:r>
                <a:rPr lang="en-US" altLang="zh-TW" sz="2800" kern="0" dirty="0" smtClean="0">
                  <a:solidFill>
                    <a:prstClr val="black"/>
                  </a:solidFill>
                  <a:latin typeface="Calibri"/>
                  <a:ea typeface="新細明體" panose="02020500000000000000" pitchFamily="18" charset="-120"/>
                </a:rPr>
                <a:t> explained </a:t>
              </a:r>
              <a:r>
                <a:rPr lang="en-US" altLang="zh-TW" sz="2800" kern="0" dirty="0" smtClean="0">
                  <a:solidFill>
                    <a:prstClr val="black"/>
                  </a:solidFill>
                  <a:latin typeface="Calibri"/>
                  <a:ea typeface="新細明體" panose="02020500000000000000" pitchFamily="18" charset="-120"/>
                </a:rPr>
                <a:t>in Lecture #3</a:t>
              </a:r>
              <a:r>
                <a:rPr lang="en-US" altLang="zh-TW" sz="2800" kern="0" dirty="0" smtClean="0">
                  <a:solidFill>
                    <a:prstClr val="black"/>
                  </a:solidFill>
                  <a:latin typeface="Calibri"/>
                  <a:ea typeface="新細明體" panose="02020500000000000000" pitchFamily="18" charset="-120"/>
                </a:rPr>
                <a:t>.)</a:t>
              </a:r>
              <a:endParaRPr lang="zh-TW" altLang="en-US" sz="2000" kern="0" dirty="0">
                <a:solidFill>
                  <a:prstClr val="black"/>
                </a:solidFill>
                <a:latin typeface="Calibri"/>
                <a:ea typeface="新細明體" panose="02020500000000000000" pitchFamily="18" charset="-120"/>
              </a:endParaRPr>
            </a:p>
          </p:txBody>
        </p:sp>
        <p:sp>
          <p:nvSpPr>
            <p:cNvPr id="9" name="Isosceles Triangle 8"/>
            <p:cNvSpPr/>
            <p:nvPr/>
          </p:nvSpPr>
          <p:spPr bwMode="auto">
            <a:xfrm rot="4173493" flipV="1">
              <a:off x="1973657" y="2827260"/>
              <a:ext cx="425260" cy="1457566"/>
            </a:xfrm>
            <a:prstGeom prst="triangle">
              <a:avLst/>
            </a:prstGeom>
            <a:solidFill>
              <a:srgbClr val="92D050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000" smtClean="0">
                <a:solidFill>
                  <a:srgbClr val="FFFFFF"/>
                </a:solidFill>
                <a:latin typeface="Times New Roman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190430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-70505" y="2129"/>
            <a:ext cx="9823794" cy="988471"/>
          </a:xfrm>
        </p:spPr>
        <p:txBody>
          <a:bodyPr vert="horz" wrap="square" lIns="0" tIns="42303" rIns="0" bIns="42303" numCol="1" anchor="ctr" anchorCtr="0" compatLnSpc="1">
            <a:prstTxWarp prst="textNoShape">
              <a:avLst/>
            </a:prstTxWarp>
          </a:bodyPr>
          <a:lstStyle/>
          <a:p>
            <a:r>
              <a:rPr lang="en-US" altLang="en-US" sz="4400" dirty="0">
                <a:solidFill>
                  <a:srgbClr val="0070C0"/>
                </a:solidFill>
                <a:latin typeface="Elephant" panose="02020904090505020303" pitchFamily="18" charset="0"/>
                <a:cs typeface="Arial" panose="020B0604020202020204" pitchFamily="34" charset="0"/>
              </a:rPr>
              <a:t>Remove </a:t>
            </a:r>
            <a:r>
              <a:rPr lang="en-US" altLang="en-US" sz="4400" dirty="0" smtClean="0">
                <a:solidFill>
                  <a:srgbClr val="0070C0"/>
                </a:solidFill>
                <a:latin typeface="Elephant" panose="02020904090505020303" pitchFamily="18" charset="0"/>
                <a:cs typeface="Arial" panose="020B0604020202020204" pitchFamily="34" charset="0"/>
              </a:rPr>
              <a:t>shared items</a:t>
            </a:r>
            <a:r>
              <a:rPr lang="en-US" altLang="en-US" sz="4400" spc="-139" dirty="0">
                <a:solidFill>
                  <a:srgbClr val="0070C0"/>
                </a:solidFill>
                <a:latin typeface="Elephant" panose="02020904090505020303" pitchFamily="18" charset="0"/>
                <a:cs typeface="Arial" panose="020B0604020202020204" pitchFamily="34" charset="0"/>
              </a:rPr>
              <a:t>,</a:t>
            </a:r>
            <a:r>
              <a:rPr lang="en-US" altLang="en-US" sz="4000" spc="-139" dirty="0" smtClean="0">
                <a:solidFill>
                  <a:srgbClr val="0070C0"/>
                </a:solidFill>
                <a:latin typeface="Elephant" panose="02020904090505020303" pitchFamily="18" charset="0"/>
                <a:cs typeface="Arial" panose="020B0604020202020204" pitchFamily="34" charset="0"/>
              </a:rPr>
              <a:t> </a:t>
            </a:r>
            <a:r>
              <a:rPr lang="en-US" altLang="en-US" sz="4400" spc="-139" dirty="0">
                <a:solidFill>
                  <a:srgbClr val="0070C0"/>
                </a:solidFill>
                <a:latin typeface="Elephant" panose="02020904090505020303" pitchFamily="18" charset="0"/>
                <a:cs typeface="Arial" panose="020B0604020202020204" pitchFamily="34" charset="0"/>
              </a:rPr>
              <a:t>with </a:t>
            </a:r>
            <a:r>
              <a:rPr lang="en-US" altLang="en-US" sz="4400" spc="-139" dirty="0">
                <a:solidFill>
                  <a:srgbClr val="00B0F0"/>
                </a:solidFill>
                <a:latin typeface="Elephant" panose="02020904090505020303" pitchFamily="18" charset="0"/>
                <a:cs typeface="Arial" panose="020B0604020202020204" pitchFamily="34" charset="0"/>
              </a:rPr>
              <a:t>-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48039" y="918185"/>
            <a:ext cx="8986018" cy="5939815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398" dirty="0">
                <a:solidFill>
                  <a:schemeClr val="bg1">
                    <a:lumMod val="85000"/>
                  </a:schemeClr>
                </a:solidFill>
                <a:latin typeface="Lucida Console" pitchFamily="49" charset="0"/>
              </a:rPr>
              <a:t>&gt;&gt;&gt;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 {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1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,</a:t>
            </a:r>
            <a:r>
              <a:rPr lang="en-US" altLang="en-US" sz="2398" b="1" dirty="0">
                <a:solidFill>
                  <a:srgbClr val="FF0000"/>
                </a:solidFill>
                <a:latin typeface="Lucida Console" pitchFamily="49" charset="0"/>
              </a:rPr>
              <a:t>5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,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4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,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3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}  </a:t>
            </a:r>
            <a:r>
              <a:rPr lang="en-US" altLang="en-US" sz="2398" b="1" dirty="0">
                <a:solidFill>
                  <a:srgbClr val="00B0F0"/>
                </a:solidFill>
                <a:latin typeface="Lucida Console" pitchFamily="49" charset="0"/>
              </a:rPr>
              <a:t>-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 {2,</a:t>
            </a:r>
            <a:r>
              <a:rPr lang="en-US" altLang="en-US" sz="2398" b="1" dirty="0">
                <a:solidFill>
                  <a:srgbClr val="FF0000"/>
                </a:solidFill>
                <a:latin typeface="Lucida Console" pitchFamily="49" charset="0"/>
              </a:rPr>
              <a:t>5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}</a:t>
            </a: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{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1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, 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3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, 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4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}</a:t>
            </a: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398" dirty="0">
                <a:solidFill>
                  <a:schemeClr val="bg1">
                    <a:lumMod val="85000"/>
                  </a:schemeClr>
                </a:solidFill>
                <a:latin typeface="Lucida Console" pitchFamily="49" charset="0"/>
              </a:rPr>
              <a:t>&gt;&gt;&gt;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 {"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cat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"}    </a:t>
            </a:r>
            <a:r>
              <a:rPr lang="en-US" altLang="en-US" sz="2398" b="1" dirty="0">
                <a:solidFill>
                  <a:srgbClr val="00B0F0"/>
                </a:solidFill>
                <a:latin typeface="Lucida Console" pitchFamily="49" charset="0"/>
              </a:rPr>
              <a:t>-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 {"bat"}</a:t>
            </a: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{'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cat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'}</a:t>
            </a: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398" dirty="0">
                <a:solidFill>
                  <a:schemeClr val="bg1">
                    <a:lumMod val="85000"/>
                  </a:schemeClr>
                </a:solidFill>
                <a:latin typeface="Lucida Console" pitchFamily="49" charset="0"/>
              </a:rPr>
              <a:t>&gt;&gt;&gt;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 set("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c</a:t>
            </a:r>
            <a:r>
              <a:rPr lang="en-US" altLang="en-US" sz="2398" b="1" dirty="0">
                <a:solidFill>
                  <a:srgbClr val="FF0000"/>
                </a:solidFill>
                <a:latin typeface="Lucida Console" pitchFamily="49" charset="0"/>
              </a:rPr>
              <a:t>at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") </a:t>
            </a:r>
            <a:r>
              <a:rPr lang="en-US" altLang="en-US" sz="2398" b="1" dirty="0">
                <a:solidFill>
                  <a:srgbClr val="00B0F0"/>
                </a:solidFill>
                <a:latin typeface="Lucida Console" pitchFamily="49" charset="0"/>
              </a:rPr>
              <a:t>-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 set("b</a:t>
            </a:r>
            <a:r>
              <a:rPr lang="en-US" altLang="en-US" sz="2398" b="1" dirty="0">
                <a:solidFill>
                  <a:srgbClr val="FF0000"/>
                </a:solidFill>
                <a:latin typeface="Lucida Console" pitchFamily="49" charset="0"/>
              </a:rPr>
              <a:t>at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")</a:t>
            </a: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{'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c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'}</a:t>
            </a: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398" dirty="0">
                <a:solidFill>
                  <a:schemeClr val="bg1">
                    <a:lumMod val="85000"/>
                  </a:schemeClr>
                </a:solidFill>
                <a:latin typeface="Lucida Console" pitchFamily="49" charset="0"/>
              </a:rPr>
              <a:t>&gt;&gt;&gt;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 set("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c</a:t>
            </a:r>
            <a:r>
              <a:rPr lang="en-US" altLang="en-US" sz="2398" b="1" dirty="0">
                <a:solidFill>
                  <a:srgbClr val="FF0000"/>
                </a:solidFill>
                <a:latin typeface="Lucida Console" pitchFamily="49" charset="0"/>
              </a:rPr>
              <a:t>at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") </a:t>
            </a:r>
            <a:r>
              <a:rPr lang="en-US" altLang="en-US" sz="2398" b="1" dirty="0">
                <a:solidFill>
                  <a:srgbClr val="00B0F0"/>
                </a:solidFill>
                <a:latin typeface="Lucida Console" pitchFamily="49" charset="0"/>
              </a:rPr>
              <a:t>-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 {"</a:t>
            </a:r>
            <a:r>
              <a:rPr lang="en-US" altLang="en-US" sz="2398" dirty="0" err="1">
                <a:solidFill>
                  <a:schemeClr val="tx1"/>
                </a:solidFill>
                <a:latin typeface="Lucida Console" pitchFamily="49" charset="0"/>
              </a:rPr>
              <a:t>b","</a:t>
            </a:r>
            <a:r>
              <a:rPr lang="en-US" altLang="en-US" sz="2398" b="1" dirty="0" err="1">
                <a:solidFill>
                  <a:srgbClr val="FF0000"/>
                </a:solidFill>
                <a:latin typeface="Lucida Console" pitchFamily="49" charset="0"/>
              </a:rPr>
              <a:t>a</a:t>
            </a:r>
            <a:r>
              <a:rPr lang="en-US" altLang="en-US" sz="2398" dirty="0" err="1">
                <a:solidFill>
                  <a:schemeClr val="tx1"/>
                </a:solidFill>
                <a:latin typeface="Lucida Console" pitchFamily="49" charset="0"/>
              </a:rPr>
              <a:t>","</a:t>
            </a:r>
            <a:r>
              <a:rPr lang="en-US" altLang="en-US" sz="2398" b="1" dirty="0" err="1">
                <a:solidFill>
                  <a:srgbClr val="FF0000"/>
                </a:solidFill>
                <a:latin typeface="Lucida Console" pitchFamily="49" charset="0"/>
              </a:rPr>
              <a:t>t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"}</a:t>
            </a: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{'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c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'}</a:t>
            </a: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398" dirty="0" smtClean="0">
                <a:solidFill>
                  <a:schemeClr val="bg1">
                    <a:lumMod val="85000"/>
                  </a:schemeClr>
                </a:solidFill>
                <a:latin typeface="Lucida Console" pitchFamily="49" charset="0"/>
              </a:rPr>
              <a:t>&gt;&gt;&gt;</a:t>
            </a:r>
            <a:r>
              <a:rPr lang="en-US" altLang="en-US" sz="2398" dirty="0" smtClean="0">
                <a:solidFill>
                  <a:schemeClr val="tx1"/>
                </a:solidFill>
                <a:latin typeface="Lucida Console" pitchFamily="49" charset="0"/>
              </a:rPr>
              <a:t> 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set("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cat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") </a:t>
            </a:r>
            <a:r>
              <a:rPr lang="en-US" altLang="en-US" sz="2398" b="1" dirty="0">
                <a:solidFill>
                  <a:srgbClr val="00B0F0"/>
                </a:solidFill>
                <a:latin typeface="Lucida Console" pitchFamily="49" charset="0"/>
              </a:rPr>
              <a:t>-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 {"bat"}</a:t>
            </a: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{'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c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', '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t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', '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a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'}</a:t>
            </a: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398" dirty="0" smtClean="0">
                <a:solidFill>
                  <a:schemeClr val="bg1">
                    <a:lumMod val="85000"/>
                  </a:schemeClr>
                </a:solidFill>
                <a:latin typeface="Lucida Console" pitchFamily="49" charset="0"/>
              </a:rPr>
              <a:t>&gt;&gt;&gt;</a:t>
            </a:r>
            <a:r>
              <a:rPr lang="en-US" altLang="en-US" sz="2398" dirty="0" smtClean="0">
                <a:solidFill>
                  <a:schemeClr val="tx1"/>
                </a:solidFill>
                <a:latin typeface="Lucida Console" pitchFamily="49" charset="0"/>
              </a:rPr>
              <a:t> 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set("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c</a:t>
            </a:r>
            <a:r>
              <a:rPr lang="en-US" altLang="en-US" sz="2398" b="1" dirty="0">
                <a:solidFill>
                  <a:srgbClr val="FF0000"/>
                </a:solidFill>
                <a:latin typeface="Lucida Console" pitchFamily="49" charset="0"/>
              </a:rPr>
              <a:t>at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")</a:t>
            </a:r>
            <a:r>
              <a:rPr lang="en-US" altLang="en-US" sz="2398" b="1" dirty="0">
                <a:solidFill>
                  <a:srgbClr val="00B0F0"/>
                </a:solidFill>
                <a:latin typeface="Lucida Console" pitchFamily="49" charset="0"/>
              </a:rPr>
              <a:t>.difference  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(set("b</a:t>
            </a:r>
            <a:r>
              <a:rPr lang="en-US" altLang="en-US" sz="2398" b="1" dirty="0">
                <a:solidFill>
                  <a:srgbClr val="FF0000"/>
                </a:solidFill>
                <a:latin typeface="Lucida Console" pitchFamily="49" charset="0"/>
              </a:rPr>
              <a:t>at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"))</a:t>
            </a: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{'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c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'}</a:t>
            </a: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398" dirty="0">
                <a:solidFill>
                  <a:schemeClr val="bg1">
                    <a:lumMod val="85000"/>
                  </a:schemeClr>
                </a:solidFill>
                <a:latin typeface="Lucida Console" pitchFamily="49" charset="0"/>
              </a:rPr>
              <a:t>&gt;&gt;&gt;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 set("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c</a:t>
            </a:r>
            <a:r>
              <a:rPr lang="en-US" altLang="en-US" sz="2398" b="1" dirty="0">
                <a:solidFill>
                  <a:srgbClr val="FF0000"/>
                </a:solidFill>
                <a:latin typeface="Lucida Console" pitchFamily="49" charset="0"/>
              </a:rPr>
              <a:t>at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")</a:t>
            </a:r>
            <a:r>
              <a:rPr lang="en-US" altLang="en-US" sz="2398" b="1" dirty="0">
                <a:solidFill>
                  <a:srgbClr val="00B0F0"/>
                </a:solidFill>
                <a:latin typeface="Lucida Console" pitchFamily="49" charset="0"/>
              </a:rPr>
              <a:t>.difference  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("b</a:t>
            </a:r>
            <a:r>
              <a:rPr lang="en-US" altLang="en-US" sz="2398" b="1" dirty="0">
                <a:solidFill>
                  <a:srgbClr val="FF0000"/>
                </a:solidFill>
                <a:latin typeface="Lucida Console" pitchFamily="49" charset="0"/>
              </a:rPr>
              <a:t>at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")</a:t>
            </a: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{'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c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'}</a:t>
            </a: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398" dirty="0">
                <a:solidFill>
                  <a:schemeClr val="bg1">
                    <a:lumMod val="85000"/>
                  </a:schemeClr>
                </a:solidFill>
                <a:latin typeface="Lucida Console" pitchFamily="49" charset="0"/>
              </a:rPr>
              <a:t>&gt;&gt;&gt;</a:t>
            </a:r>
            <a:endParaRPr lang="en-US" altLang="en-US" sz="2398" spc="-140" dirty="0">
              <a:solidFill>
                <a:schemeClr val="tx1"/>
              </a:solidFill>
              <a:latin typeface="Lucida Console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17750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129"/>
            <a:ext cx="9729788" cy="988471"/>
          </a:xfrm>
        </p:spPr>
        <p:txBody>
          <a:bodyPr/>
          <a:lstStyle/>
          <a:p>
            <a:r>
              <a:rPr lang="en-US" altLang="en-US" sz="4400" dirty="0">
                <a:solidFill>
                  <a:srgbClr val="0070C0"/>
                </a:solidFill>
                <a:latin typeface="Elephant" panose="02020904090505020303" pitchFamily="18" charset="0"/>
                <a:cs typeface="Arial" panose="020B0604020202020204" pitchFamily="34" charset="0"/>
              </a:rPr>
              <a:t>Exclusively in just one set, with</a:t>
            </a:r>
            <a:r>
              <a:rPr lang="en-US" altLang="en-US" sz="4400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44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^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48039" y="918185"/>
            <a:ext cx="8986018" cy="5939815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398" dirty="0">
                <a:solidFill>
                  <a:schemeClr val="bg1">
                    <a:lumMod val="85000"/>
                  </a:schemeClr>
                </a:solidFill>
                <a:latin typeface="Lucida Console" pitchFamily="49" charset="0"/>
              </a:rPr>
              <a:t>&gt;&gt;&gt;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 {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1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,</a:t>
            </a:r>
            <a:r>
              <a:rPr lang="en-US" altLang="en-US" sz="2398" b="1" dirty="0">
                <a:solidFill>
                  <a:srgbClr val="FF0000"/>
                </a:solidFill>
                <a:latin typeface="Lucida Console" pitchFamily="49" charset="0"/>
              </a:rPr>
              <a:t>5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,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4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,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3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}  </a:t>
            </a:r>
            <a:r>
              <a:rPr lang="en-US" altLang="en-US" sz="2398" b="1" dirty="0">
                <a:solidFill>
                  <a:srgbClr val="00B0F0"/>
                </a:solidFill>
                <a:latin typeface="Lucida Console" pitchFamily="49" charset="0"/>
              </a:rPr>
              <a:t>^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 {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2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,</a:t>
            </a:r>
            <a:r>
              <a:rPr lang="en-US" altLang="en-US" sz="2398" b="1" dirty="0">
                <a:solidFill>
                  <a:srgbClr val="FF0000"/>
                </a:solidFill>
                <a:latin typeface="Lucida Console" pitchFamily="49" charset="0"/>
              </a:rPr>
              <a:t>5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}</a:t>
            </a: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{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1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, 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2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, 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3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, 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4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}</a:t>
            </a: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398" dirty="0">
                <a:solidFill>
                  <a:schemeClr val="bg1">
                    <a:lumMod val="85000"/>
                  </a:schemeClr>
                </a:solidFill>
                <a:latin typeface="Lucida Console" pitchFamily="49" charset="0"/>
              </a:rPr>
              <a:t>&gt;&gt;&gt;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 {"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cat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"}    </a:t>
            </a:r>
            <a:r>
              <a:rPr lang="en-US" altLang="en-US" sz="2398" b="1" dirty="0">
                <a:solidFill>
                  <a:srgbClr val="00B0F0"/>
                </a:solidFill>
                <a:latin typeface="Lucida Console" panose="020B0609040504020204" pitchFamily="49" charset="0"/>
              </a:rPr>
              <a:t>^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 {"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bat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"}</a:t>
            </a: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{'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bat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', '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cat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'}</a:t>
            </a: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398" dirty="0">
                <a:solidFill>
                  <a:schemeClr val="bg1">
                    <a:lumMod val="85000"/>
                  </a:schemeClr>
                </a:solidFill>
                <a:latin typeface="Lucida Console" pitchFamily="49" charset="0"/>
              </a:rPr>
              <a:t>&gt;&gt;&gt;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 set("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c</a:t>
            </a:r>
            <a:r>
              <a:rPr lang="en-US" altLang="en-US" sz="2398" b="1" dirty="0">
                <a:solidFill>
                  <a:srgbClr val="FF0000"/>
                </a:solidFill>
                <a:latin typeface="Lucida Console" pitchFamily="49" charset="0"/>
              </a:rPr>
              <a:t>at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") </a:t>
            </a:r>
            <a:r>
              <a:rPr lang="en-US" altLang="en-US" sz="2398" b="1" dirty="0">
                <a:solidFill>
                  <a:srgbClr val="00B0F0"/>
                </a:solidFill>
                <a:latin typeface="Lucida Console" pitchFamily="49" charset="0"/>
              </a:rPr>
              <a:t>^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 set("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b</a:t>
            </a:r>
            <a:r>
              <a:rPr lang="en-US" altLang="en-US" sz="2398" b="1" dirty="0">
                <a:solidFill>
                  <a:srgbClr val="FF0000"/>
                </a:solidFill>
                <a:latin typeface="Lucida Console" pitchFamily="49" charset="0"/>
              </a:rPr>
              <a:t>at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")</a:t>
            </a: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{'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c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', '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b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'}</a:t>
            </a: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398" dirty="0">
                <a:solidFill>
                  <a:schemeClr val="bg1">
                    <a:lumMod val="85000"/>
                  </a:schemeClr>
                </a:solidFill>
                <a:latin typeface="Lucida Console" pitchFamily="49" charset="0"/>
              </a:rPr>
              <a:t>&gt;&gt;&gt;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 set("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c</a:t>
            </a:r>
            <a:r>
              <a:rPr lang="en-US" altLang="en-US" sz="2398" b="1" dirty="0">
                <a:solidFill>
                  <a:srgbClr val="FF0000"/>
                </a:solidFill>
                <a:latin typeface="Lucida Console" pitchFamily="49" charset="0"/>
              </a:rPr>
              <a:t>at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") </a:t>
            </a:r>
            <a:r>
              <a:rPr lang="en-US" altLang="en-US" sz="2398" b="1" dirty="0">
                <a:solidFill>
                  <a:srgbClr val="00B0F0"/>
                </a:solidFill>
                <a:latin typeface="Lucida Console" pitchFamily="49" charset="0"/>
              </a:rPr>
              <a:t>^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 {"</a:t>
            </a:r>
            <a:r>
              <a:rPr lang="en-US" altLang="en-US" sz="2398" b="1" dirty="0" err="1">
                <a:solidFill>
                  <a:srgbClr val="00B050"/>
                </a:solidFill>
                <a:latin typeface="Lucida Console" pitchFamily="49" charset="0"/>
              </a:rPr>
              <a:t>b</a:t>
            </a:r>
            <a:r>
              <a:rPr lang="en-US" altLang="en-US" sz="2398" dirty="0" err="1">
                <a:solidFill>
                  <a:schemeClr val="tx1"/>
                </a:solidFill>
                <a:latin typeface="Lucida Console" pitchFamily="49" charset="0"/>
              </a:rPr>
              <a:t>","</a:t>
            </a:r>
            <a:r>
              <a:rPr lang="en-US" altLang="en-US" sz="2398" b="1" dirty="0" err="1">
                <a:solidFill>
                  <a:srgbClr val="FF0000"/>
                </a:solidFill>
                <a:latin typeface="Lucida Console" pitchFamily="49" charset="0"/>
              </a:rPr>
              <a:t>a</a:t>
            </a:r>
            <a:r>
              <a:rPr lang="en-US" altLang="en-US" sz="2398" dirty="0" err="1">
                <a:solidFill>
                  <a:schemeClr val="tx1"/>
                </a:solidFill>
                <a:latin typeface="Lucida Console" pitchFamily="49" charset="0"/>
              </a:rPr>
              <a:t>","</a:t>
            </a:r>
            <a:r>
              <a:rPr lang="en-US" altLang="en-US" sz="2398" b="1" dirty="0" err="1">
                <a:solidFill>
                  <a:srgbClr val="FF0000"/>
                </a:solidFill>
                <a:latin typeface="Lucida Console" pitchFamily="49" charset="0"/>
              </a:rPr>
              <a:t>t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"}</a:t>
            </a: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{'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c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', '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b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'}</a:t>
            </a: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398" dirty="0" smtClean="0">
                <a:solidFill>
                  <a:schemeClr val="bg1">
                    <a:lumMod val="85000"/>
                  </a:schemeClr>
                </a:solidFill>
                <a:latin typeface="Lucida Console" pitchFamily="49" charset="0"/>
              </a:rPr>
              <a:t>&gt;&gt;&gt;</a:t>
            </a:r>
            <a:r>
              <a:rPr lang="en-US" altLang="en-US" sz="2398" dirty="0" smtClean="0">
                <a:solidFill>
                  <a:schemeClr val="tx1"/>
                </a:solidFill>
                <a:latin typeface="Lucida Console" pitchFamily="49" charset="0"/>
              </a:rPr>
              <a:t> 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set("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cat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") </a:t>
            </a:r>
            <a:r>
              <a:rPr lang="en-US" altLang="en-US" sz="2398" b="1" dirty="0">
                <a:solidFill>
                  <a:srgbClr val="00B0F0"/>
                </a:solidFill>
                <a:latin typeface="Lucida Console" pitchFamily="49" charset="0"/>
              </a:rPr>
              <a:t>^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 {"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bat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"}</a:t>
            </a: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{'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c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', '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bat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', '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t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', '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a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'}</a:t>
            </a: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398" dirty="0" smtClean="0">
                <a:solidFill>
                  <a:schemeClr val="bg1">
                    <a:lumMod val="85000"/>
                  </a:schemeClr>
                </a:solidFill>
                <a:latin typeface="Lucida Console" pitchFamily="49" charset="0"/>
              </a:rPr>
              <a:t>&gt;&gt;&gt;</a:t>
            </a:r>
            <a:r>
              <a:rPr lang="en-US" altLang="en-US" sz="2398" dirty="0" smtClean="0">
                <a:solidFill>
                  <a:schemeClr val="tx1"/>
                </a:solidFill>
                <a:latin typeface="Lucida Console" pitchFamily="49" charset="0"/>
              </a:rPr>
              <a:t> 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set("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c</a:t>
            </a:r>
            <a:r>
              <a:rPr lang="en-US" altLang="en-US" sz="2398" b="1" dirty="0">
                <a:solidFill>
                  <a:srgbClr val="FF0000"/>
                </a:solidFill>
                <a:latin typeface="Lucida Console" pitchFamily="49" charset="0"/>
              </a:rPr>
              <a:t>at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").</a:t>
            </a:r>
            <a:r>
              <a:rPr lang="en-US" altLang="en-US" sz="2398" b="1" dirty="0" err="1">
                <a:solidFill>
                  <a:srgbClr val="00B0F0"/>
                </a:solidFill>
                <a:latin typeface="Lucida Console" pitchFamily="49" charset="0"/>
              </a:rPr>
              <a:t>symmetric_difference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(set("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b</a:t>
            </a:r>
            <a:r>
              <a:rPr lang="en-US" altLang="en-US" sz="2398" b="1" dirty="0">
                <a:solidFill>
                  <a:srgbClr val="FF0000"/>
                </a:solidFill>
                <a:latin typeface="Lucida Console" pitchFamily="49" charset="0"/>
              </a:rPr>
              <a:t>at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"))</a:t>
            </a: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{'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c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', '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b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'}</a:t>
            </a: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398" dirty="0">
                <a:solidFill>
                  <a:schemeClr val="bg1">
                    <a:lumMod val="85000"/>
                  </a:schemeClr>
                </a:solidFill>
                <a:latin typeface="Lucida Console" pitchFamily="49" charset="0"/>
              </a:rPr>
              <a:t>&gt;&gt;&gt;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 set("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c</a:t>
            </a:r>
            <a:r>
              <a:rPr lang="en-US" altLang="en-US" sz="2398" b="1" dirty="0">
                <a:solidFill>
                  <a:srgbClr val="FF0000"/>
                </a:solidFill>
                <a:latin typeface="Lucida Console" pitchFamily="49" charset="0"/>
              </a:rPr>
              <a:t>at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").</a:t>
            </a:r>
            <a:r>
              <a:rPr lang="en-US" altLang="en-US" sz="2398" b="1" dirty="0" err="1">
                <a:solidFill>
                  <a:srgbClr val="00B0F0"/>
                </a:solidFill>
                <a:latin typeface="Lucida Console" pitchFamily="49" charset="0"/>
              </a:rPr>
              <a:t>symmetric_difference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("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b</a:t>
            </a:r>
            <a:r>
              <a:rPr lang="en-US" altLang="en-US" sz="2398" b="1" dirty="0">
                <a:solidFill>
                  <a:srgbClr val="FF0000"/>
                </a:solidFill>
                <a:latin typeface="Lucida Console" pitchFamily="49" charset="0"/>
              </a:rPr>
              <a:t>at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")</a:t>
            </a: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{'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c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', '</a:t>
            </a:r>
            <a:r>
              <a:rPr lang="en-US" altLang="en-US" sz="2398" b="1" dirty="0">
                <a:solidFill>
                  <a:srgbClr val="00B050"/>
                </a:solidFill>
                <a:latin typeface="Lucida Console" pitchFamily="49" charset="0"/>
              </a:rPr>
              <a:t>b</a:t>
            </a:r>
            <a:r>
              <a:rPr lang="en-US" altLang="en-US" sz="2398" dirty="0">
                <a:solidFill>
                  <a:schemeClr val="tx1"/>
                </a:solidFill>
                <a:latin typeface="Lucida Console" pitchFamily="49" charset="0"/>
              </a:rPr>
              <a:t>'}</a:t>
            </a: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398" dirty="0">
                <a:solidFill>
                  <a:schemeClr val="bg1">
                    <a:lumMod val="85000"/>
                  </a:schemeClr>
                </a:solidFill>
                <a:latin typeface="Lucida Console" pitchFamily="49" charset="0"/>
              </a:rPr>
              <a:t>&gt;&gt;&gt;</a:t>
            </a:r>
          </a:p>
        </p:txBody>
      </p:sp>
    </p:spTree>
    <p:extLst>
      <p:ext uri="{BB962C8B-B14F-4D97-AF65-F5344CB8AC3E}">
        <p14:creationId xmlns:p14="http://schemas.microsoft.com/office/powerpoint/2010/main" val="37430320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129"/>
            <a:ext cx="9729788" cy="761527"/>
          </a:xfrm>
        </p:spPr>
        <p:txBody>
          <a:bodyPr/>
          <a:lstStyle/>
          <a:p>
            <a:r>
              <a:rPr lang="en-US" altLang="en-US" sz="4071" dirty="0">
                <a:solidFill>
                  <a:srgbClr val="0070C0"/>
                </a:solidFill>
                <a:latin typeface="Elephant" panose="02020904090505020303" pitchFamily="18" charset="0"/>
                <a:cs typeface="Arial" panose="020B0604020202020204" pitchFamily="34" charset="0"/>
              </a:rPr>
              <a:t>Sets</a:t>
            </a:r>
            <a:endParaRPr lang="en-US" altLang="en-US" sz="3997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/>
          </p:nvPr>
        </p:nvGraphicFramePr>
        <p:xfrm>
          <a:off x="295733" y="644306"/>
          <a:ext cx="9138324" cy="62434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661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921511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6220203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365055">
                <a:tc gridSpan="3">
                  <a:txBody>
                    <a:bodyPr/>
                    <a:lstStyle/>
                    <a:p>
                      <a:pPr algn="l" fontAlgn="base"/>
                      <a:r>
                        <a:rPr lang="en-US" sz="2000" dirty="0" smtClean="0">
                          <a:solidFill>
                            <a:schemeClr val="tx1"/>
                          </a:solidFill>
                          <a:effectLst/>
                        </a:rPr>
                        <a:t>      Method        </a:t>
                      </a:r>
                      <a:r>
                        <a:rPr lang="en-US" sz="2000" dirty="0" smtClea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Symbol</a:t>
                      </a:r>
                      <a:r>
                        <a:rPr lang="en-US" sz="2000" baseline="0" dirty="0" smtClea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       </a:t>
                      </a:r>
                      <a:r>
                        <a:rPr lang="en-US" sz="2000" dirty="0" smtClean="0">
                          <a:solidFill>
                            <a:schemeClr val="tx1"/>
                          </a:solidFill>
                          <a:effectLst/>
                        </a:rPr>
                        <a:t>Result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91384" marR="91384" marT="27415" marB="27415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/>
                      <a:endParaRPr lang="en-US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19885">
                <a:tc>
                  <a:txBody>
                    <a:bodyPr/>
                    <a:lstStyle/>
                    <a:p>
                      <a:pPr algn="r" fontAlgn="base"/>
                      <a:endParaRPr lang="en-US" sz="20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91384" marR="91384" marT="54830" marB="5483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4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 err="1" smtClean="0">
                          <a:solidFill>
                            <a:schemeClr val="tx1"/>
                          </a:solidFill>
                          <a:effectLst/>
                        </a:rPr>
                        <a:t>len</a:t>
                      </a:r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  <a:effectLst/>
                        </a:rPr>
                        <a:t>(</a:t>
                      </a:r>
                      <a:r>
                        <a:rPr lang="en-US" altLang="zh-TW" sz="2000" b="0" i="0" dirty="0" smtClean="0"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</a:rPr>
                        <a:t>s</a:t>
                      </a:r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  <a:effectLst/>
                        </a:rPr>
                        <a:t>)</a:t>
                      </a:r>
                    </a:p>
                  </a:txBody>
                  <a:tcPr marL="91384" marR="91384" marT="54830" marB="548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 smtClean="0">
                          <a:solidFill>
                            <a:schemeClr val="tx1"/>
                          </a:solidFill>
                          <a:effectLst/>
                        </a:rPr>
                        <a:t>Returns the number of elements in 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set </a:t>
                      </a:r>
                      <a:r>
                        <a:rPr lang="en-US" sz="2000" b="0" i="1" dirty="0"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cs typeface="times" panose="02020603050405020304" pitchFamily="18" charset="0"/>
                        </a:rPr>
                        <a:t>s</a:t>
                      </a:r>
                      <a:endParaRPr lang="en-US" sz="2000" i="1" dirty="0"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cs typeface="times" panose="02020603050405020304" pitchFamily="18" charset="0"/>
                      </a:endParaRPr>
                    </a:p>
                  </a:txBody>
                  <a:tcPr marL="91384" marR="91384" marT="54830" marB="548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4F8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419885">
                <a:tc>
                  <a:txBody>
                    <a:bodyPr/>
                    <a:lstStyle/>
                    <a:p>
                      <a:pPr algn="r" fontAlgn="base"/>
                      <a:r>
                        <a:rPr lang="en-US" sz="2000" b="0" i="1" dirty="0" smtClean="0">
                          <a:effectLst/>
                          <a:latin typeface="Lucida Console" panose="020B0609040504020204" pitchFamily="49" charset="0"/>
                        </a:rPr>
                        <a:t> </a:t>
                      </a:r>
                      <a:endParaRPr lang="en-US" sz="2000" i="1" dirty="0">
                        <a:effectLst/>
                        <a:latin typeface="Lucida Console" panose="020B0609040504020204" pitchFamily="49" charset="0"/>
                      </a:endParaRPr>
                    </a:p>
                  </a:txBody>
                  <a:tcPr marL="91384" marR="137075" marT="54830" marB="5483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ase"/>
                      <a:r>
                        <a:rPr lang="en-US" altLang="zh-TW" sz="2000" b="0" i="1" smtClean="0">
                          <a:effectLst/>
                          <a:latin typeface="Lucida Console" panose="020B0609040504020204" pitchFamily="49" charset="0"/>
                        </a:rPr>
                        <a:t>x</a:t>
                      </a:r>
                      <a:r>
                        <a:rPr lang="en-US" altLang="zh-TW" sz="2000" smtClean="0">
                          <a:effectLst/>
                        </a:rPr>
                        <a:t> </a:t>
                      </a:r>
                      <a:r>
                        <a:rPr lang="en-US" altLang="zh-TW" sz="500" smtClean="0">
                          <a:effectLst/>
                        </a:rPr>
                        <a:t> </a:t>
                      </a:r>
                      <a:r>
                        <a:rPr lang="en-US" altLang="zh-TW" sz="2000" smtClean="0">
                          <a:effectLst/>
                        </a:rPr>
                        <a:t>in</a:t>
                      </a:r>
                      <a:r>
                        <a:rPr lang="en-US" altLang="zh-TW" sz="1000" smtClean="0">
                          <a:effectLst/>
                        </a:rPr>
                        <a:t> </a:t>
                      </a:r>
                      <a:r>
                        <a:rPr lang="en-US" altLang="zh-TW" sz="2000" b="0" i="1" smtClean="0">
                          <a:effectLst/>
                          <a:latin typeface="Lucida Console" panose="020B0609040504020204" pitchFamily="49" charset="0"/>
                        </a:rPr>
                        <a:t>s</a:t>
                      </a:r>
                      <a:endParaRPr lang="en-US" sz="2000" i="1" dirty="0">
                        <a:effectLst/>
                        <a:latin typeface="Lucida Console" panose="020B0609040504020204" pitchFamily="49" charset="0"/>
                      </a:endParaRPr>
                    </a:p>
                  </a:txBody>
                  <a:tcPr marL="91384" marR="137075" marT="54830" marB="548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 smtClean="0">
                          <a:effectLst/>
                        </a:rPr>
                        <a:t>Test</a:t>
                      </a:r>
                      <a:r>
                        <a:rPr lang="en-US" sz="1600" dirty="0">
                          <a:effectLst/>
                        </a:rPr>
                        <a:t> </a:t>
                      </a:r>
                      <a:r>
                        <a:rPr lang="en-US" sz="2000" b="0" i="1" dirty="0">
                          <a:effectLst/>
                          <a:latin typeface="Lucida Console" panose="020B0609040504020204" pitchFamily="49" charset="0"/>
                        </a:rPr>
                        <a:t>x</a:t>
                      </a:r>
                      <a:r>
                        <a:rPr lang="en-US" sz="2000" dirty="0">
                          <a:effectLst/>
                        </a:rPr>
                        <a:t> for membership in </a:t>
                      </a:r>
                      <a:r>
                        <a:rPr lang="en-US" sz="2000" b="0" i="1" dirty="0">
                          <a:effectLst/>
                          <a:latin typeface="Lucida Console" panose="020B0609040504020204" pitchFamily="49" charset="0"/>
                        </a:rPr>
                        <a:t>s</a:t>
                      </a:r>
                      <a:endParaRPr lang="en-US" sz="2000" dirty="0">
                        <a:effectLst/>
                        <a:latin typeface="Lucida Console" panose="020B0609040504020204" pitchFamily="49" charset="0"/>
                      </a:endParaRPr>
                    </a:p>
                  </a:txBody>
                  <a:tcPr marL="91384" marR="91384" marT="54830" marB="548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419885">
                <a:tc gridSpan="2">
                  <a:txBody>
                    <a:bodyPr/>
                    <a:lstStyle/>
                    <a:p>
                      <a:pPr algn="r" fontAlgn="base"/>
                      <a:r>
                        <a:rPr lang="en-US" sz="2000" b="0" i="1" dirty="0">
                          <a:effectLst/>
                          <a:latin typeface="Lucida Console" panose="020B0609040504020204" pitchFamily="49" charset="0"/>
                        </a:rPr>
                        <a:t>x</a:t>
                      </a:r>
                      <a:r>
                        <a:rPr lang="en-US" sz="2000" dirty="0">
                          <a:effectLst/>
                        </a:rPr>
                        <a:t> not in</a:t>
                      </a:r>
                      <a:r>
                        <a:rPr lang="en-US" sz="1000" dirty="0">
                          <a:effectLst/>
                        </a:rPr>
                        <a:t> </a:t>
                      </a:r>
                      <a:r>
                        <a:rPr lang="en-US" sz="2000" b="0" i="1" dirty="0" smtClean="0">
                          <a:effectLst/>
                          <a:latin typeface="Lucida Console" panose="020B0609040504020204" pitchFamily="49" charset="0"/>
                        </a:rPr>
                        <a:t>s </a:t>
                      </a:r>
                      <a:endParaRPr lang="en-US" sz="2000" i="1" dirty="0">
                        <a:effectLst/>
                        <a:latin typeface="Lucida Console" panose="020B0609040504020204" pitchFamily="49" charset="0"/>
                      </a:endParaRPr>
                    </a:p>
                  </a:txBody>
                  <a:tcPr marL="91384" marR="45692" marT="54830" marB="5483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4F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marT="54864" marB="54864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 smtClean="0">
                          <a:effectLst/>
                        </a:rPr>
                        <a:t>Test</a:t>
                      </a:r>
                      <a:r>
                        <a:rPr lang="en-US" sz="2000" dirty="0">
                          <a:effectLst/>
                        </a:rPr>
                        <a:t> </a:t>
                      </a:r>
                      <a:r>
                        <a:rPr lang="en-US" sz="2000" dirty="0" smtClean="0">
                          <a:effectLst/>
                        </a:rPr>
                        <a:t>if</a:t>
                      </a:r>
                      <a:r>
                        <a:rPr lang="en-US" sz="1600" dirty="0" smtClean="0">
                          <a:effectLst/>
                        </a:rPr>
                        <a:t> </a:t>
                      </a:r>
                      <a:r>
                        <a:rPr lang="en-US" sz="2000" b="0" i="1" dirty="0" smtClean="0">
                          <a:effectLst/>
                          <a:latin typeface="Lucida Console" panose="020B0609040504020204" pitchFamily="49" charset="0"/>
                        </a:rPr>
                        <a:t>x</a:t>
                      </a:r>
                      <a:r>
                        <a:rPr lang="en-US" sz="1000" b="0" i="1" dirty="0" smtClean="0">
                          <a:effectLst/>
                          <a:latin typeface="Lucida Console" panose="020B0609040504020204" pitchFamily="49" charset="0"/>
                        </a:rPr>
                        <a:t> </a:t>
                      </a:r>
                      <a:r>
                        <a:rPr lang="en-US" sz="2000" b="0" i="0" dirty="0" smtClean="0">
                          <a:effectLst/>
                          <a:latin typeface="Lucida Console" panose="020B0609040504020204" pitchFamily="49" charset="0"/>
                        </a:rPr>
                        <a:t>in</a:t>
                      </a:r>
                      <a:r>
                        <a:rPr lang="en-US" sz="800" b="0" i="1" dirty="0" smtClean="0">
                          <a:effectLst/>
                          <a:latin typeface="Lucida Console" panose="020B0609040504020204" pitchFamily="49" charset="0"/>
                        </a:rPr>
                        <a:t> </a:t>
                      </a:r>
                      <a:r>
                        <a:rPr lang="en-US" sz="2000" b="0" i="1" dirty="0" smtClean="0">
                          <a:effectLst/>
                          <a:latin typeface="Lucida Console" panose="020B0609040504020204" pitchFamily="49" charset="0"/>
                        </a:rPr>
                        <a:t>s</a:t>
                      </a:r>
                      <a:r>
                        <a:rPr lang="en-US" sz="2000" dirty="0">
                          <a:effectLst/>
                        </a:rPr>
                        <a:t> </a:t>
                      </a:r>
                      <a:r>
                        <a:rPr lang="en-US" sz="2000" dirty="0" smtClean="0">
                          <a:effectLst/>
                        </a:rPr>
                        <a:t> is not true</a:t>
                      </a:r>
                      <a:endParaRPr lang="en-US" sz="2000" dirty="0">
                        <a:effectLst/>
                        <a:latin typeface="Lucida Console" panose="020B0609040504020204" pitchFamily="49" charset="0"/>
                      </a:endParaRPr>
                    </a:p>
                  </a:txBody>
                  <a:tcPr marL="91384" marR="91384" marT="54830" marB="548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4F8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419885">
                <a:tc>
                  <a:txBody>
                    <a:bodyPr/>
                    <a:lstStyle/>
                    <a:p>
                      <a:pPr algn="ctr" fontAlgn="base"/>
                      <a:endParaRPr lang="en-US" sz="2000" dirty="0">
                        <a:effectLst/>
                      </a:endParaRPr>
                    </a:p>
                  </a:txBody>
                  <a:tcPr marL="91384" marR="91384" marT="54830" marB="5483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i="1" dirty="0" smtClean="0">
                          <a:effectLst/>
                          <a:latin typeface="Lucida Console" panose="020B0609040504020204" pitchFamily="49" charset="0"/>
                        </a:rPr>
                        <a:t>s</a:t>
                      </a:r>
                      <a:r>
                        <a:rPr lang="en-US" altLang="zh-TW" sz="1000" dirty="0" smtClean="0">
                          <a:effectLst/>
                          <a:latin typeface="Lucida Console" panose="020B0609040504020204" pitchFamily="49" charset="0"/>
                        </a:rPr>
                        <a:t> </a:t>
                      </a:r>
                      <a:r>
                        <a:rPr lang="en-US" altLang="zh-TW" sz="1800" dirty="0" smtClean="0">
                          <a:effectLst/>
                          <a:latin typeface="Lucida Console" panose="020B0609040504020204" pitchFamily="49" charset="0"/>
                        </a:rPr>
                        <a:t>==</a:t>
                      </a:r>
                      <a:r>
                        <a:rPr lang="en-US" altLang="zh-TW" sz="1000" dirty="0" smtClean="0">
                          <a:effectLst/>
                          <a:latin typeface="Lucida Console" panose="020B0609040504020204" pitchFamily="49" charset="0"/>
                        </a:rPr>
                        <a:t> </a:t>
                      </a:r>
                      <a:r>
                        <a:rPr lang="en-US" altLang="zh-TW" sz="1800" b="0" i="1" dirty="0" smtClean="0">
                          <a:effectLst/>
                          <a:latin typeface="Lucida Console" panose="020B0609040504020204" pitchFamily="49" charset="0"/>
                        </a:rPr>
                        <a:t>t</a:t>
                      </a:r>
                      <a:endParaRPr lang="en-US" altLang="zh-TW" sz="1800" dirty="0" smtClean="0">
                        <a:effectLst/>
                        <a:latin typeface="Lucida Console" panose="020B0609040504020204" pitchFamily="49" charset="0"/>
                      </a:endParaRPr>
                    </a:p>
                  </a:txBody>
                  <a:tcPr marL="0" marR="0" marT="54830" marB="548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 smtClean="0">
                          <a:effectLst/>
                        </a:rPr>
                        <a:t>Test if</a:t>
                      </a:r>
                      <a:r>
                        <a:rPr lang="en-US" altLang="zh-TW" sz="1600" dirty="0" smtClean="0">
                          <a:effectLst/>
                        </a:rPr>
                        <a:t> </a:t>
                      </a:r>
                      <a:r>
                        <a:rPr lang="en-US" altLang="zh-TW" sz="2000" b="0" i="1" dirty="0" smtClean="0">
                          <a:effectLst/>
                          <a:latin typeface="Lucida Console" panose="020B0609040504020204" pitchFamily="49" charset="0"/>
                        </a:rPr>
                        <a:t>s</a:t>
                      </a:r>
                      <a:r>
                        <a:rPr lang="en-US" altLang="zh-TW" sz="2000" dirty="0" smtClean="0">
                          <a:effectLst/>
                        </a:rPr>
                        <a:t> and </a:t>
                      </a:r>
                      <a:r>
                        <a:rPr lang="en-US" altLang="zh-TW" sz="2000" b="0" i="1" dirty="0" smtClean="0">
                          <a:effectLst/>
                          <a:latin typeface="Lucida Console" panose="020B0609040504020204" pitchFamily="49" charset="0"/>
                        </a:rPr>
                        <a:t>t</a:t>
                      </a:r>
                      <a:r>
                        <a:rPr lang="en-US" altLang="zh-TW" sz="2000" dirty="0" smtClean="0">
                          <a:effectLst/>
                        </a:rPr>
                        <a:t> have</a:t>
                      </a:r>
                      <a:r>
                        <a:rPr lang="en-US" altLang="zh-TW" sz="2000" baseline="0" dirty="0" smtClean="0">
                          <a:effectLst/>
                        </a:rPr>
                        <a:t> exactly the same</a:t>
                      </a:r>
                      <a:r>
                        <a:rPr lang="en-US" altLang="zh-TW" sz="2000" dirty="0" smtClean="0">
                          <a:effectLst/>
                        </a:rPr>
                        <a:t> elements</a:t>
                      </a:r>
                    </a:p>
                  </a:txBody>
                  <a:tcPr marL="91384" marR="91384" marT="54830" marB="548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419885">
                <a:tc>
                  <a:txBody>
                    <a:bodyPr/>
                    <a:lstStyle/>
                    <a:p>
                      <a:pPr algn="ctr" fontAlgn="base"/>
                      <a:endParaRPr lang="en-US" sz="2000" dirty="0">
                        <a:effectLst/>
                      </a:endParaRPr>
                    </a:p>
                  </a:txBody>
                  <a:tcPr marL="91384" marR="91384" marT="54830" marB="5483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4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i="1" dirty="0" smtClean="0">
                          <a:effectLst/>
                          <a:latin typeface="Lucida Console" panose="020B0609040504020204" pitchFamily="49" charset="0"/>
                        </a:rPr>
                        <a:t>s</a:t>
                      </a:r>
                      <a:r>
                        <a:rPr lang="en-US" altLang="zh-TW" sz="1000" dirty="0" smtClean="0">
                          <a:effectLst/>
                          <a:latin typeface="Lucida Console" panose="020B0609040504020204" pitchFamily="49" charset="0"/>
                        </a:rPr>
                        <a:t> </a:t>
                      </a:r>
                      <a:r>
                        <a:rPr lang="en-US" altLang="zh-TW" sz="1800" dirty="0" smtClean="0">
                          <a:effectLst/>
                          <a:latin typeface="Lucida Console" panose="020B0609040504020204" pitchFamily="49" charset="0"/>
                        </a:rPr>
                        <a:t>!=</a:t>
                      </a:r>
                      <a:r>
                        <a:rPr lang="en-US" altLang="zh-TW" sz="900" dirty="0" smtClean="0">
                          <a:effectLst/>
                          <a:latin typeface="Lucida Console" panose="020B0609040504020204" pitchFamily="49" charset="0"/>
                        </a:rPr>
                        <a:t> </a:t>
                      </a:r>
                      <a:r>
                        <a:rPr lang="en-US" altLang="zh-TW" sz="1800" b="0" i="1" dirty="0" smtClean="0">
                          <a:effectLst/>
                          <a:latin typeface="Lucida Console" panose="020B0609040504020204" pitchFamily="49" charset="0"/>
                        </a:rPr>
                        <a:t>t</a:t>
                      </a:r>
                      <a:endParaRPr lang="en-US" altLang="zh-TW" sz="1800" dirty="0" smtClean="0">
                        <a:effectLst/>
                        <a:latin typeface="Lucida Console" panose="020B0609040504020204" pitchFamily="49" charset="0"/>
                      </a:endParaRPr>
                    </a:p>
                  </a:txBody>
                  <a:tcPr marL="0" marR="0" marT="54830" marB="548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4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 smtClean="0">
                          <a:effectLst/>
                        </a:rPr>
                        <a:t>Test if</a:t>
                      </a:r>
                      <a:r>
                        <a:rPr lang="en-US" altLang="zh-TW" sz="1600" dirty="0" smtClean="0">
                          <a:effectLst/>
                        </a:rPr>
                        <a:t> </a:t>
                      </a:r>
                      <a:r>
                        <a:rPr lang="en-US" altLang="zh-TW" sz="2000" b="0" i="1" dirty="0" smtClean="0">
                          <a:effectLst/>
                          <a:latin typeface="Lucida Console" panose="020B0609040504020204" pitchFamily="49" charset="0"/>
                        </a:rPr>
                        <a:t>x</a:t>
                      </a:r>
                      <a:r>
                        <a:rPr lang="en-US" altLang="zh-TW" sz="1200" b="0" i="1" dirty="0" smtClean="0">
                          <a:effectLst/>
                          <a:latin typeface="Lucida Console" panose="020B0609040504020204" pitchFamily="49" charset="0"/>
                        </a:rPr>
                        <a:t> </a:t>
                      </a:r>
                      <a:r>
                        <a:rPr lang="en-US" altLang="zh-TW" sz="2000" b="0" i="0" dirty="0" smtClean="0">
                          <a:effectLst/>
                          <a:latin typeface="Lucida Console" panose="020B0609040504020204" pitchFamily="49" charset="0"/>
                        </a:rPr>
                        <a:t>==</a:t>
                      </a:r>
                      <a:r>
                        <a:rPr lang="en-US" altLang="zh-TW" sz="600" b="0" i="1" dirty="0" smtClean="0">
                          <a:effectLst/>
                          <a:latin typeface="Lucida Console" panose="020B0609040504020204" pitchFamily="49" charset="0"/>
                        </a:rPr>
                        <a:t> </a:t>
                      </a:r>
                      <a:r>
                        <a:rPr lang="en-US" altLang="zh-TW" sz="2000" b="0" i="1" dirty="0" smtClean="0">
                          <a:effectLst/>
                          <a:latin typeface="Lucida Console" panose="020B0609040504020204" pitchFamily="49" charset="0"/>
                        </a:rPr>
                        <a:t>s</a:t>
                      </a:r>
                      <a:r>
                        <a:rPr lang="en-US" altLang="zh-TW" sz="2000" dirty="0" smtClean="0">
                          <a:effectLst/>
                        </a:rPr>
                        <a:t>  is not true</a:t>
                      </a:r>
                    </a:p>
                  </a:txBody>
                  <a:tcPr marL="91384" marR="91384" marT="54830" marB="548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4F8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419885"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2000" b="0" i="0" dirty="0" err="1">
                          <a:effectLst/>
                          <a:latin typeface="Lucida Console" panose="020B0609040504020204" pitchFamily="49" charset="0"/>
                        </a:rPr>
                        <a:t>s</a:t>
                      </a:r>
                      <a:r>
                        <a:rPr lang="en-US" sz="2000" dirty="0" err="1">
                          <a:effectLst/>
                        </a:rPr>
                        <a:t>.issubset</a:t>
                      </a:r>
                      <a:r>
                        <a:rPr lang="en-US" sz="2000" dirty="0">
                          <a:effectLst/>
                        </a:rPr>
                        <a:t>(</a:t>
                      </a:r>
                      <a:r>
                        <a:rPr lang="en-US" sz="2000" b="0" i="0" dirty="0">
                          <a:effectLst/>
                          <a:latin typeface="Lucida Console" panose="020B0609040504020204" pitchFamily="49" charset="0"/>
                        </a:rPr>
                        <a:t>t</a:t>
                      </a:r>
                      <a:r>
                        <a:rPr lang="en-US" sz="2000" dirty="0">
                          <a:effectLst/>
                        </a:rPr>
                        <a:t>)</a:t>
                      </a:r>
                    </a:p>
                  </a:txBody>
                  <a:tcPr marL="91384" marR="91384" marT="54830" marB="5483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1" dirty="0">
                          <a:effectLst/>
                          <a:latin typeface="Lucida Console" panose="020B0609040504020204" pitchFamily="49" charset="0"/>
                        </a:rPr>
                        <a:t>s</a:t>
                      </a:r>
                      <a:r>
                        <a:rPr lang="en-US" sz="1000" dirty="0">
                          <a:effectLst/>
                          <a:latin typeface="Lucida Console" panose="020B0609040504020204" pitchFamily="49" charset="0"/>
                        </a:rPr>
                        <a:t> </a:t>
                      </a:r>
                      <a:r>
                        <a:rPr lang="en-US" sz="1800" dirty="0">
                          <a:effectLst/>
                          <a:latin typeface="Lucida Console" panose="020B0609040504020204" pitchFamily="49" charset="0"/>
                        </a:rPr>
                        <a:t>&lt;=</a:t>
                      </a:r>
                      <a:r>
                        <a:rPr lang="en-US" sz="900" dirty="0">
                          <a:effectLst/>
                          <a:latin typeface="Lucida Console" panose="020B0609040504020204" pitchFamily="49" charset="0"/>
                        </a:rPr>
                        <a:t> </a:t>
                      </a:r>
                      <a:r>
                        <a:rPr lang="en-US" sz="1800" b="0" i="1" dirty="0">
                          <a:effectLst/>
                          <a:latin typeface="Lucida Console" panose="020B0609040504020204" pitchFamily="49" charset="0"/>
                        </a:rPr>
                        <a:t>t</a:t>
                      </a:r>
                      <a:endParaRPr lang="en-US" sz="1800" dirty="0">
                        <a:effectLst/>
                        <a:latin typeface="Lucida Console" panose="020B0609040504020204" pitchFamily="49" charset="0"/>
                      </a:endParaRPr>
                    </a:p>
                  </a:txBody>
                  <a:tcPr marL="0" marR="0" marT="54830" marB="548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 smtClean="0">
                          <a:effectLst/>
                        </a:rPr>
                        <a:t>Test if </a:t>
                      </a:r>
                      <a:r>
                        <a:rPr lang="en-US" sz="2000" dirty="0">
                          <a:effectLst/>
                        </a:rPr>
                        <a:t>every element in </a:t>
                      </a:r>
                      <a:r>
                        <a:rPr lang="en-US" sz="2000" b="0" i="0" dirty="0">
                          <a:effectLst/>
                          <a:latin typeface="Lucida Console" panose="020B0609040504020204" pitchFamily="49" charset="0"/>
                        </a:rPr>
                        <a:t>s</a:t>
                      </a:r>
                      <a:r>
                        <a:rPr lang="en-US" sz="2000" dirty="0">
                          <a:effectLst/>
                        </a:rPr>
                        <a:t> is in </a:t>
                      </a:r>
                      <a:r>
                        <a:rPr lang="en-US" sz="2000" b="0" i="0" dirty="0">
                          <a:effectLst/>
                          <a:latin typeface="Lucida Console" panose="020B0609040504020204" pitchFamily="49" charset="0"/>
                        </a:rPr>
                        <a:t>t</a:t>
                      </a:r>
                      <a:endParaRPr lang="en-US" sz="2000" i="0" dirty="0">
                        <a:effectLst/>
                        <a:latin typeface="Lucida Console" panose="020B0609040504020204" pitchFamily="49" charset="0"/>
                      </a:endParaRPr>
                    </a:p>
                  </a:txBody>
                  <a:tcPr marL="91384" marR="91384" marT="54830" marB="548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419885">
                <a:tc>
                  <a:txBody>
                    <a:bodyPr/>
                    <a:lstStyle/>
                    <a:p>
                      <a:pPr algn="ctr" fontAlgn="base"/>
                      <a:endParaRPr lang="en-US" sz="2000" dirty="0">
                        <a:effectLst/>
                      </a:endParaRPr>
                    </a:p>
                  </a:txBody>
                  <a:tcPr marL="91384" marR="91384" marT="54830" marB="5483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1" dirty="0">
                          <a:effectLst/>
                          <a:latin typeface="Lucida Console" panose="020B0609040504020204" pitchFamily="49" charset="0"/>
                        </a:rPr>
                        <a:t>s</a:t>
                      </a:r>
                      <a:r>
                        <a:rPr lang="en-US" sz="1000" dirty="0">
                          <a:effectLst/>
                          <a:latin typeface="Lucida Console" panose="020B0609040504020204" pitchFamily="49" charset="0"/>
                        </a:rPr>
                        <a:t> </a:t>
                      </a:r>
                      <a:r>
                        <a:rPr lang="en-US" sz="1800" dirty="0" smtClean="0">
                          <a:effectLst/>
                          <a:latin typeface="Lucida Console" panose="020B0609040504020204" pitchFamily="49" charset="0"/>
                        </a:rPr>
                        <a:t>&lt;</a:t>
                      </a:r>
                      <a:r>
                        <a:rPr lang="en-US" sz="900" dirty="0">
                          <a:effectLst/>
                          <a:latin typeface="Lucida Console" panose="020B0609040504020204" pitchFamily="49" charset="0"/>
                        </a:rPr>
                        <a:t> </a:t>
                      </a:r>
                      <a:r>
                        <a:rPr lang="en-US" sz="1800" b="0" i="1" dirty="0">
                          <a:effectLst/>
                          <a:latin typeface="Lucida Console" panose="020B0609040504020204" pitchFamily="49" charset="0"/>
                        </a:rPr>
                        <a:t>t</a:t>
                      </a:r>
                      <a:endParaRPr lang="en-US" sz="1800" dirty="0">
                        <a:effectLst/>
                        <a:latin typeface="Lucida Console" panose="020B0609040504020204" pitchFamily="49" charset="0"/>
                      </a:endParaRPr>
                    </a:p>
                  </a:txBody>
                  <a:tcPr marL="0" marR="0" marT="54830" marB="548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 smtClean="0">
                          <a:effectLst/>
                        </a:rPr>
                        <a:t>Test if</a:t>
                      </a:r>
                      <a:r>
                        <a:rPr lang="en-US" sz="2000" dirty="0">
                          <a:effectLst/>
                        </a:rPr>
                        <a:t> </a:t>
                      </a:r>
                      <a:r>
                        <a:rPr lang="en-US" altLang="zh-TW" sz="2000" b="0" i="0" dirty="0" smtClean="0">
                          <a:effectLst/>
                          <a:latin typeface="Lucida Console" panose="020B0609040504020204" pitchFamily="49" charset="0"/>
                        </a:rPr>
                        <a:t>s</a:t>
                      </a:r>
                      <a:r>
                        <a:rPr lang="en-US" altLang="zh-TW" sz="2000" dirty="0" smtClean="0">
                          <a:effectLst/>
                        </a:rPr>
                        <a:t> &lt;= </a:t>
                      </a:r>
                      <a:r>
                        <a:rPr lang="en-US" altLang="zh-TW" sz="2000" b="0" i="0" dirty="0" smtClean="0">
                          <a:effectLst/>
                          <a:latin typeface="Lucida Console" panose="020B0609040504020204" pitchFamily="49" charset="0"/>
                        </a:rPr>
                        <a:t>t</a:t>
                      </a:r>
                      <a:r>
                        <a:rPr lang="en-US" altLang="zh-TW" sz="2000" b="0" i="1" dirty="0" smtClean="0">
                          <a:effectLst/>
                          <a:latin typeface="times" panose="02020603050405020304" pitchFamily="18" charset="0"/>
                        </a:rPr>
                        <a:t>  </a:t>
                      </a:r>
                      <a:r>
                        <a:rPr lang="en-US" altLang="zh-TW" sz="2000" dirty="0" smtClean="0">
                          <a:effectLst/>
                        </a:rPr>
                        <a:t>and  </a:t>
                      </a:r>
                      <a:r>
                        <a:rPr lang="en-US" altLang="zh-TW" sz="2000" b="0" i="0" dirty="0" smtClean="0">
                          <a:effectLst/>
                          <a:latin typeface="Lucida Console" panose="020B0609040504020204" pitchFamily="49" charset="0"/>
                        </a:rPr>
                        <a:t>s</a:t>
                      </a:r>
                      <a:r>
                        <a:rPr lang="en-US" altLang="zh-TW" sz="2000" dirty="0" smtClean="0">
                          <a:effectLst/>
                        </a:rPr>
                        <a:t> != </a:t>
                      </a:r>
                      <a:r>
                        <a:rPr lang="en-US" altLang="zh-TW" sz="2000" b="0" i="0" dirty="0" smtClean="0">
                          <a:effectLst/>
                          <a:latin typeface="Lucida Console" panose="020B0609040504020204" pitchFamily="49" charset="0"/>
                        </a:rPr>
                        <a:t>t</a:t>
                      </a:r>
                      <a:r>
                        <a:rPr lang="en-US" altLang="zh-TW" sz="2000" b="0" i="1" dirty="0" smtClean="0">
                          <a:effectLst/>
                          <a:latin typeface="times" panose="02020603050405020304" pitchFamily="18" charset="0"/>
                        </a:rPr>
                        <a:t> </a:t>
                      </a:r>
                      <a:endParaRPr lang="en-US" sz="2000" dirty="0">
                        <a:effectLst/>
                      </a:endParaRPr>
                    </a:p>
                  </a:txBody>
                  <a:tcPr marL="91384" marR="91384" marT="54830" marB="548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4F8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419885"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2000" b="0" i="0" dirty="0" err="1">
                          <a:effectLst/>
                          <a:latin typeface="Lucida Console" panose="020B0609040504020204" pitchFamily="49" charset="0"/>
                        </a:rPr>
                        <a:t>s</a:t>
                      </a:r>
                      <a:r>
                        <a:rPr lang="en-US" sz="2000" dirty="0" err="1">
                          <a:effectLst/>
                        </a:rPr>
                        <a:t>.issuperset</a:t>
                      </a:r>
                      <a:r>
                        <a:rPr lang="en-US" sz="2000" dirty="0">
                          <a:effectLst/>
                        </a:rPr>
                        <a:t>(</a:t>
                      </a:r>
                      <a:r>
                        <a:rPr lang="en-US" sz="2000" b="0" i="0" dirty="0">
                          <a:effectLst/>
                          <a:latin typeface="Lucida Console" panose="020B0609040504020204" pitchFamily="49" charset="0"/>
                        </a:rPr>
                        <a:t>t</a:t>
                      </a:r>
                      <a:r>
                        <a:rPr lang="en-US" sz="2000" dirty="0">
                          <a:effectLst/>
                        </a:rPr>
                        <a:t>)</a:t>
                      </a:r>
                    </a:p>
                  </a:txBody>
                  <a:tcPr marL="91384" marR="91384" marT="54830" marB="5483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1" dirty="0">
                          <a:effectLst/>
                          <a:latin typeface="Lucida Console" panose="020B0609040504020204" pitchFamily="49" charset="0"/>
                        </a:rPr>
                        <a:t>s</a:t>
                      </a:r>
                      <a:r>
                        <a:rPr lang="en-US" sz="1000" dirty="0">
                          <a:effectLst/>
                          <a:latin typeface="Lucida Console" panose="020B0609040504020204" pitchFamily="49" charset="0"/>
                        </a:rPr>
                        <a:t> </a:t>
                      </a:r>
                      <a:r>
                        <a:rPr lang="en-US" sz="1800" dirty="0">
                          <a:effectLst/>
                          <a:latin typeface="Lucida Console" panose="020B0609040504020204" pitchFamily="49" charset="0"/>
                        </a:rPr>
                        <a:t>&gt;=</a:t>
                      </a:r>
                      <a:r>
                        <a:rPr lang="en-US" sz="900" dirty="0">
                          <a:effectLst/>
                          <a:latin typeface="Lucida Console" panose="020B0609040504020204" pitchFamily="49" charset="0"/>
                        </a:rPr>
                        <a:t> </a:t>
                      </a:r>
                      <a:r>
                        <a:rPr lang="en-US" sz="1800" b="0" i="1" dirty="0">
                          <a:effectLst/>
                          <a:latin typeface="Lucida Console" panose="020B0609040504020204" pitchFamily="49" charset="0"/>
                        </a:rPr>
                        <a:t>t</a:t>
                      </a:r>
                      <a:endParaRPr lang="en-US" sz="1800" dirty="0">
                        <a:effectLst/>
                        <a:latin typeface="Lucida Console" panose="020B0609040504020204" pitchFamily="49" charset="0"/>
                      </a:endParaRPr>
                    </a:p>
                  </a:txBody>
                  <a:tcPr marL="0" marR="0" marT="54830" marB="548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 smtClean="0">
                          <a:effectLst/>
                        </a:rPr>
                        <a:t>Test if </a:t>
                      </a:r>
                      <a:r>
                        <a:rPr lang="en-US" sz="2000" dirty="0">
                          <a:effectLst/>
                        </a:rPr>
                        <a:t>every element in </a:t>
                      </a:r>
                      <a:r>
                        <a:rPr lang="en-US" sz="2000" b="0" i="0" dirty="0">
                          <a:effectLst/>
                          <a:latin typeface="Lucida Console" panose="020B0609040504020204" pitchFamily="49" charset="0"/>
                        </a:rPr>
                        <a:t>t</a:t>
                      </a:r>
                      <a:r>
                        <a:rPr lang="en-US" sz="2000" dirty="0">
                          <a:effectLst/>
                        </a:rPr>
                        <a:t> is in </a:t>
                      </a:r>
                      <a:r>
                        <a:rPr lang="en-US" sz="2000" b="0" i="0" dirty="0">
                          <a:effectLst/>
                          <a:latin typeface="Lucida Console" panose="020B0609040504020204" pitchFamily="49" charset="0"/>
                        </a:rPr>
                        <a:t>s</a:t>
                      </a:r>
                      <a:endParaRPr lang="en-US" sz="2000" i="0" dirty="0">
                        <a:effectLst/>
                        <a:latin typeface="Lucida Console" panose="020B0609040504020204" pitchFamily="49" charset="0"/>
                      </a:endParaRPr>
                    </a:p>
                  </a:txBody>
                  <a:tcPr marL="91384" marR="91384" marT="54830" marB="548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419885"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2000" b="0" i="0" dirty="0" err="1">
                          <a:effectLst/>
                          <a:latin typeface="Lucida Console" panose="020B0609040504020204" pitchFamily="49" charset="0"/>
                        </a:rPr>
                        <a:t>s</a:t>
                      </a:r>
                      <a:r>
                        <a:rPr lang="en-US" sz="2000" dirty="0" err="1">
                          <a:effectLst/>
                        </a:rPr>
                        <a:t>.issuperset</a:t>
                      </a:r>
                      <a:r>
                        <a:rPr lang="en-US" sz="2000" dirty="0">
                          <a:effectLst/>
                        </a:rPr>
                        <a:t>(</a:t>
                      </a:r>
                      <a:r>
                        <a:rPr lang="en-US" sz="2000" b="0" i="0" dirty="0">
                          <a:effectLst/>
                          <a:latin typeface="Lucida Console" panose="020B0609040504020204" pitchFamily="49" charset="0"/>
                        </a:rPr>
                        <a:t>t</a:t>
                      </a:r>
                      <a:r>
                        <a:rPr lang="en-US" sz="2000" dirty="0">
                          <a:effectLst/>
                        </a:rPr>
                        <a:t>)</a:t>
                      </a:r>
                    </a:p>
                  </a:txBody>
                  <a:tcPr marL="91384" marR="91384" marT="54830" marB="5483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1" dirty="0">
                          <a:effectLst/>
                          <a:latin typeface="Lucida Console" panose="020B0609040504020204" pitchFamily="49" charset="0"/>
                        </a:rPr>
                        <a:t>s</a:t>
                      </a:r>
                      <a:r>
                        <a:rPr lang="en-US" sz="1000" dirty="0">
                          <a:effectLst/>
                          <a:latin typeface="Lucida Console" panose="020B0609040504020204" pitchFamily="49" charset="0"/>
                        </a:rPr>
                        <a:t> </a:t>
                      </a:r>
                      <a:r>
                        <a:rPr lang="en-US" sz="1800" dirty="0" smtClean="0">
                          <a:effectLst/>
                          <a:latin typeface="Lucida Console" panose="020B0609040504020204" pitchFamily="49" charset="0"/>
                        </a:rPr>
                        <a:t>&gt;</a:t>
                      </a:r>
                      <a:r>
                        <a:rPr lang="en-US" sz="900" dirty="0">
                          <a:effectLst/>
                          <a:latin typeface="Lucida Console" panose="020B0609040504020204" pitchFamily="49" charset="0"/>
                        </a:rPr>
                        <a:t> </a:t>
                      </a:r>
                      <a:r>
                        <a:rPr lang="en-US" sz="1800" b="0" i="1" dirty="0">
                          <a:effectLst/>
                          <a:latin typeface="Lucida Console" panose="020B0609040504020204" pitchFamily="49" charset="0"/>
                        </a:rPr>
                        <a:t>t</a:t>
                      </a:r>
                      <a:endParaRPr lang="en-US" sz="1800" dirty="0">
                        <a:effectLst/>
                        <a:latin typeface="Lucida Console" panose="020B0609040504020204" pitchFamily="49" charset="0"/>
                      </a:endParaRPr>
                    </a:p>
                  </a:txBody>
                  <a:tcPr marL="0" marR="0" marT="54830" marB="548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2000" dirty="0" smtClean="0">
                          <a:effectLst/>
                        </a:rPr>
                        <a:t>Test if </a:t>
                      </a:r>
                      <a:r>
                        <a:rPr lang="en-US" altLang="zh-TW" sz="2000" b="0" i="0" dirty="0" smtClean="0">
                          <a:effectLst/>
                          <a:latin typeface="Lucida Console" panose="020B0609040504020204" pitchFamily="49" charset="0"/>
                        </a:rPr>
                        <a:t>s</a:t>
                      </a:r>
                      <a:r>
                        <a:rPr lang="en-US" altLang="zh-TW" sz="2000" dirty="0" smtClean="0">
                          <a:effectLst/>
                        </a:rPr>
                        <a:t> &gt;= </a:t>
                      </a:r>
                      <a:r>
                        <a:rPr lang="en-US" altLang="zh-TW" sz="2000" b="0" i="0" dirty="0" smtClean="0">
                          <a:effectLst/>
                          <a:latin typeface="Lucida Console" panose="020B0609040504020204" pitchFamily="49" charset="0"/>
                        </a:rPr>
                        <a:t>t</a:t>
                      </a:r>
                      <a:r>
                        <a:rPr lang="en-US" altLang="zh-TW" sz="2000" b="0" i="1" dirty="0" smtClean="0">
                          <a:effectLst/>
                          <a:latin typeface="times" panose="02020603050405020304" pitchFamily="18" charset="0"/>
                        </a:rPr>
                        <a:t>  </a:t>
                      </a:r>
                      <a:r>
                        <a:rPr lang="en-US" altLang="zh-TW" sz="2000" dirty="0" smtClean="0">
                          <a:effectLst/>
                        </a:rPr>
                        <a:t>and  </a:t>
                      </a:r>
                      <a:r>
                        <a:rPr lang="en-US" altLang="zh-TW" sz="2000" b="0" i="0" dirty="0" smtClean="0">
                          <a:effectLst/>
                          <a:latin typeface="Lucida Console" panose="020B0609040504020204" pitchFamily="49" charset="0"/>
                        </a:rPr>
                        <a:t>s</a:t>
                      </a:r>
                      <a:r>
                        <a:rPr lang="en-US" altLang="zh-TW" sz="2000" dirty="0" smtClean="0">
                          <a:effectLst/>
                        </a:rPr>
                        <a:t> != </a:t>
                      </a:r>
                      <a:r>
                        <a:rPr lang="en-US" altLang="zh-TW" sz="2000" b="0" i="0" dirty="0" smtClean="0">
                          <a:effectLst/>
                          <a:latin typeface="Lucida Console" panose="020B0609040504020204" pitchFamily="49" charset="0"/>
                        </a:rPr>
                        <a:t>t</a:t>
                      </a:r>
                      <a:endParaRPr lang="en-US" sz="2000" dirty="0">
                        <a:effectLst/>
                      </a:endParaRPr>
                    </a:p>
                  </a:txBody>
                  <a:tcPr marL="91384" marR="91384" marT="54830" marB="548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4F8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419885"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2000" b="0" i="0" dirty="0" err="1">
                          <a:effectLst/>
                          <a:latin typeface="Lucida Console" panose="020B0609040504020204" pitchFamily="49" charset="0"/>
                        </a:rPr>
                        <a:t>s</a:t>
                      </a:r>
                      <a:r>
                        <a:rPr lang="en-US" sz="2000" dirty="0" err="1">
                          <a:effectLst/>
                        </a:rPr>
                        <a:t>.union</a:t>
                      </a:r>
                      <a:r>
                        <a:rPr lang="en-US" sz="2000" dirty="0">
                          <a:effectLst/>
                        </a:rPr>
                        <a:t>(</a:t>
                      </a:r>
                      <a:r>
                        <a:rPr lang="en-US" sz="2000" b="0" i="0" dirty="0">
                          <a:effectLst/>
                          <a:latin typeface="Lucida Console" panose="020B0609040504020204" pitchFamily="49" charset="0"/>
                        </a:rPr>
                        <a:t>t</a:t>
                      </a:r>
                      <a:r>
                        <a:rPr lang="en-US" sz="2000" dirty="0">
                          <a:effectLst/>
                        </a:rPr>
                        <a:t>)</a:t>
                      </a:r>
                    </a:p>
                  </a:txBody>
                  <a:tcPr marL="91384" marR="91384" marT="54830" marB="5483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1" dirty="0">
                          <a:effectLst/>
                          <a:latin typeface="Lucida Console" panose="020B0609040504020204" pitchFamily="49" charset="0"/>
                        </a:rPr>
                        <a:t>s</a:t>
                      </a:r>
                      <a:r>
                        <a:rPr lang="en-US" sz="1000" dirty="0">
                          <a:effectLst/>
                          <a:latin typeface="Lucida Console" panose="020B0609040504020204" pitchFamily="49" charset="0"/>
                        </a:rPr>
                        <a:t> </a:t>
                      </a:r>
                      <a:r>
                        <a:rPr lang="en-US" sz="1800" dirty="0">
                          <a:effectLst/>
                          <a:latin typeface="Lucida Console" panose="020B0609040504020204" pitchFamily="49" charset="0"/>
                        </a:rPr>
                        <a:t>|</a:t>
                      </a:r>
                      <a:r>
                        <a:rPr lang="en-US" sz="600" dirty="0">
                          <a:effectLst/>
                          <a:latin typeface="Lucida Console" panose="020B0609040504020204" pitchFamily="49" charset="0"/>
                        </a:rPr>
                        <a:t> </a:t>
                      </a:r>
                      <a:r>
                        <a:rPr lang="en-US" sz="1800" b="0" i="1" dirty="0">
                          <a:effectLst/>
                          <a:latin typeface="Lucida Console" panose="020B0609040504020204" pitchFamily="49" charset="0"/>
                        </a:rPr>
                        <a:t>t</a:t>
                      </a:r>
                      <a:endParaRPr lang="en-US" sz="1800" dirty="0">
                        <a:effectLst/>
                        <a:latin typeface="Lucida Console" panose="020B0609040504020204" pitchFamily="49" charset="0"/>
                      </a:endParaRPr>
                    </a:p>
                  </a:txBody>
                  <a:tcPr marL="0" marR="0" marT="54830" marB="548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 smtClean="0">
                          <a:effectLst/>
                        </a:rPr>
                        <a:t>Returns a new </a:t>
                      </a:r>
                      <a:r>
                        <a:rPr lang="en-US" sz="2000" dirty="0">
                          <a:effectLst/>
                        </a:rPr>
                        <a:t>set with elements from </a:t>
                      </a:r>
                      <a:r>
                        <a:rPr lang="en-US" sz="2000" dirty="0" smtClean="0">
                          <a:effectLst/>
                        </a:rPr>
                        <a:t>either</a:t>
                      </a:r>
                      <a:r>
                        <a:rPr lang="en-US" sz="2000" dirty="0">
                          <a:effectLst/>
                        </a:rPr>
                        <a:t> </a:t>
                      </a:r>
                      <a:r>
                        <a:rPr lang="en-US" sz="2000" b="0" i="0" dirty="0">
                          <a:effectLst/>
                          <a:latin typeface="Lucida Console" panose="020B0609040504020204" pitchFamily="49" charset="0"/>
                        </a:rPr>
                        <a:t>s</a:t>
                      </a:r>
                      <a:r>
                        <a:rPr lang="en-US" sz="2000" dirty="0">
                          <a:effectLst/>
                        </a:rPr>
                        <a:t> </a:t>
                      </a:r>
                      <a:r>
                        <a:rPr lang="en-US" sz="2000" dirty="0" smtClean="0">
                          <a:effectLst/>
                        </a:rPr>
                        <a:t>or</a:t>
                      </a:r>
                      <a:r>
                        <a:rPr lang="en-US" sz="2000" dirty="0">
                          <a:effectLst/>
                        </a:rPr>
                        <a:t> </a:t>
                      </a:r>
                      <a:r>
                        <a:rPr lang="en-US" sz="2000" b="0" i="0" dirty="0">
                          <a:effectLst/>
                          <a:latin typeface="Lucida Console" panose="020B0609040504020204" pitchFamily="49" charset="0"/>
                        </a:rPr>
                        <a:t>t</a:t>
                      </a:r>
                      <a:endParaRPr lang="en-US" sz="2000" i="0" dirty="0">
                        <a:effectLst/>
                        <a:latin typeface="Lucida Console" panose="020B0609040504020204" pitchFamily="49" charset="0"/>
                      </a:endParaRPr>
                    </a:p>
                  </a:txBody>
                  <a:tcPr marL="91384" marR="91384" marT="54830" marB="548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  <a:tr h="419885"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2000" b="0" i="0" dirty="0" err="1">
                          <a:effectLst/>
                          <a:latin typeface="Lucida Console" panose="020B0609040504020204" pitchFamily="49" charset="0"/>
                        </a:rPr>
                        <a:t>s</a:t>
                      </a:r>
                      <a:r>
                        <a:rPr lang="en-US" sz="2000" dirty="0" err="1">
                          <a:effectLst/>
                        </a:rPr>
                        <a:t>.intersection</a:t>
                      </a:r>
                      <a:r>
                        <a:rPr lang="en-US" sz="2000" dirty="0">
                          <a:effectLst/>
                        </a:rPr>
                        <a:t>(</a:t>
                      </a:r>
                      <a:r>
                        <a:rPr lang="en-US" sz="2000" b="0" i="0" dirty="0">
                          <a:effectLst/>
                          <a:latin typeface="Lucida Console" panose="020B0609040504020204" pitchFamily="49" charset="0"/>
                        </a:rPr>
                        <a:t>t</a:t>
                      </a:r>
                      <a:r>
                        <a:rPr lang="en-US" sz="2000" dirty="0">
                          <a:effectLst/>
                        </a:rPr>
                        <a:t>)</a:t>
                      </a:r>
                    </a:p>
                  </a:txBody>
                  <a:tcPr marL="91384" marR="0" marT="54830" marB="5483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1" dirty="0">
                          <a:effectLst/>
                          <a:latin typeface="Lucida Console" panose="020B0609040504020204" pitchFamily="49" charset="0"/>
                        </a:rPr>
                        <a:t>s</a:t>
                      </a:r>
                      <a:r>
                        <a:rPr lang="en-US" sz="1000" dirty="0">
                          <a:effectLst/>
                          <a:latin typeface="Lucida Console" panose="020B0609040504020204" pitchFamily="49" charset="0"/>
                        </a:rPr>
                        <a:t> </a:t>
                      </a:r>
                      <a:r>
                        <a:rPr lang="en-US" sz="1800" dirty="0">
                          <a:effectLst/>
                          <a:latin typeface="Lucida Console" panose="020B0609040504020204" pitchFamily="49" charset="0"/>
                        </a:rPr>
                        <a:t>&amp;</a:t>
                      </a:r>
                      <a:r>
                        <a:rPr lang="en-US" sz="700" dirty="0">
                          <a:effectLst/>
                          <a:latin typeface="Lucida Console" panose="020B0609040504020204" pitchFamily="49" charset="0"/>
                        </a:rPr>
                        <a:t> </a:t>
                      </a:r>
                      <a:r>
                        <a:rPr lang="en-US" sz="1800" b="0" i="1" dirty="0">
                          <a:effectLst/>
                          <a:latin typeface="Lucida Console" panose="020B0609040504020204" pitchFamily="49" charset="0"/>
                        </a:rPr>
                        <a:t>t</a:t>
                      </a:r>
                      <a:endParaRPr lang="en-US" sz="1800" dirty="0">
                        <a:effectLst/>
                        <a:latin typeface="Lucida Console" panose="020B0609040504020204" pitchFamily="49" charset="0"/>
                      </a:endParaRPr>
                    </a:p>
                  </a:txBody>
                  <a:tcPr marL="0" marR="0" marT="54830" marB="548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2000" dirty="0" smtClean="0">
                          <a:effectLst/>
                        </a:rPr>
                        <a:t>Returns a </a:t>
                      </a:r>
                      <a:r>
                        <a:rPr lang="en-US" sz="2000" dirty="0" smtClean="0">
                          <a:effectLst/>
                        </a:rPr>
                        <a:t>new </a:t>
                      </a:r>
                      <a:r>
                        <a:rPr lang="en-US" sz="2000" dirty="0">
                          <a:effectLst/>
                        </a:rPr>
                        <a:t>set with e</a:t>
                      </a:r>
                      <a:r>
                        <a:rPr lang="en-US" sz="2000" spc="-20" baseline="0" dirty="0">
                          <a:effectLst/>
                        </a:rPr>
                        <a:t>leme</a:t>
                      </a:r>
                      <a:r>
                        <a:rPr lang="en-US" sz="2000" dirty="0">
                          <a:effectLst/>
                        </a:rPr>
                        <a:t>nts c</a:t>
                      </a:r>
                      <a:r>
                        <a:rPr lang="en-US" sz="2000" spc="-20" baseline="0" dirty="0">
                          <a:effectLst/>
                        </a:rPr>
                        <a:t>ommo</a:t>
                      </a:r>
                      <a:r>
                        <a:rPr lang="en-US" sz="2000" dirty="0">
                          <a:effectLst/>
                        </a:rPr>
                        <a:t>n </a:t>
                      </a:r>
                      <a:r>
                        <a:rPr lang="en-US" sz="2000" spc="0" baseline="0" dirty="0">
                          <a:effectLst/>
                        </a:rPr>
                        <a:t>t</a:t>
                      </a:r>
                      <a:r>
                        <a:rPr lang="en-US" sz="2000" spc="-50" baseline="0" dirty="0">
                          <a:effectLst/>
                        </a:rPr>
                        <a:t>o </a:t>
                      </a:r>
                      <a:r>
                        <a:rPr lang="en-US" sz="2000" b="0" i="0" spc="-50" baseline="0" dirty="0">
                          <a:effectLst/>
                          <a:latin typeface="Lucida Console" panose="020B0609040504020204" pitchFamily="49" charset="0"/>
                        </a:rPr>
                        <a:t>s</a:t>
                      </a:r>
                      <a:r>
                        <a:rPr lang="en-US" sz="2000" spc="-50" baseline="0" dirty="0">
                          <a:effectLst/>
                        </a:rPr>
                        <a:t> and </a:t>
                      </a:r>
                      <a:r>
                        <a:rPr lang="en-US" sz="2000" b="0" i="0" spc="-50" baseline="0" dirty="0">
                          <a:effectLst/>
                          <a:latin typeface="Lucida Console" panose="020B0609040504020204" pitchFamily="49" charset="0"/>
                        </a:rPr>
                        <a:t>t</a:t>
                      </a:r>
                      <a:endParaRPr lang="en-US" sz="2000" i="0" spc="-50" baseline="0" dirty="0">
                        <a:effectLst/>
                        <a:latin typeface="Lucida Console" panose="020B0609040504020204" pitchFamily="49" charset="0"/>
                      </a:endParaRPr>
                    </a:p>
                  </a:txBody>
                  <a:tcPr marL="91384" marR="91384" marT="54830" marB="548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4F8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1"/>
                  </a:ext>
                </a:extLst>
              </a:tr>
              <a:tr h="419885"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2000" b="0" i="0" dirty="0" err="1">
                          <a:effectLst/>
                          <a:latin typeface="Lucida Console" panose="020B0609040504020204" pitchFamily="49" charset="0"/>
                        </a:rPr>
                        <a:t>s</a:t>
                      </a:r>
                      <a:r>
                        <a:rPr lang="en-US" sz="2000" dirty="0" err="1">
                          <a:effectLst/>
                        </a:rPr>
                        <a:t>.difference</a:t>
                      </a:r>
                      <a:r>
                        <a:rPr lang="en-US" sz="2000" dirty="0">
                          <a:effectLst/>
                        </a:rPr>
                        <a:t>(</a:t>
                      </a:r>
                      <a:r>
                        <a:rPr lang="en-US" sz="2000" b="0" i="0" dirty="0">
                          <a:effectLst/>
                          <a:latin typeface="Lucida Console" panose="020B0609040504020204" pitchFamily="49" charset="0"/>
                        </a:rPr>
                        <a:t>t</a:t>
                      </a:r>
                      <a:r>
                        <a:rPr lang="en-US" sz="2000" dirty="0">
                          <a:effectLst/>
                        </a:rPr>
                        <a:t>)</a:t>
                      </a:r>
                    </a:p>
                  </a:txBody>
                  <a:tcPr marL="91384" marR="91384" marT="54830" marB="5483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1" dirty="0">
                          <a:effectLst/>
                          <a:latin typeface="Lucida Console" panose="020B0609040504020204" pitchFamily="49" charset="0"/>
                        </a:rPr>
                        <a:t>s</a:t>
                      </a:r>
                      <a:r>
                        <a:rPr lang="en-US" sz="1000" dirty="0">
                          <a:effectLst/>
                          <a:latin typeface="Lucida Console" panose="020B0609040504020204" pitchFamily="49" charset="0"/>
                        </a:rPr>
                        <a:t> </a:t>
                      </a:r>
                      <a:r>
                        <a:rPr lang="en-US" sz="1800" dirty="0">
                          <a:effectLst/>
                          <a:latin typeface="Lucida Console" panose="020B0609040504020204" pitchFamily="49" charset="0"/>
                        </a:rPr>
                        <a:t>-</a:t>
                      </a:r>
                      <a:r>
                        <a:rPr lang="en-US" sz="600" dirty="0">
                          <a:effectLst/>
                          <a:latin typeface="Lucida Console" panose="020B0609040504020204" pitchFamily="49" charset="0"/>
                        </a:rPr>
                        <a:t> </a:t>
                      </a:r>
                      <a:r>
                        <a:rPr lang="en-US" sz="1800" b="0" i="1" dirty="0">
                          <a:effectLst/>
                          <a:latin typeface="Lucida Console" panose="020B0609040504020204" pitchFamily="49" charset="0"/>
                        </a:rPr>
                        <a:t>t</a:t>
                      </a:r>
                      <a:endParaRPr lang="en-US" sz="1800" dirty="0">
                        <a:effectLst/>
                        <a:latin typeface="Lucida Console" panose="020B0609040504020204" pitchFamily="49" charset="0"/>
                      </a:endParaRPr>
                    </a:p>
                  </a:txBody>
                  <a:tcPr marL="0" marR="0" marT="54830" marB="548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2000" dirty="0" smtClean="0">
                          <a:effectLst/>
                        </a:rPr>
                        <a:t>Returns a </a:t>
                      </a:r>
                      <a:r>
                        <a:rPr lang="en-US" sz="2000" dirty="0" smtClean="0">
                          <a:effectLst/>
                        </a:rPr>
                        <a:t>new </a:t>
                      </a:r>
                      <a:r>
                        <a:rPr lang="en-US" sz="2000" dirty="0">
                          <a:effectLst/>
                        </a:rPr>
                        <a:t>set with elements in </a:t>
                      </a:r>
                      <a:r>
                        <a:rPr lang="en-US" sz="2000" b="0" i="0" dirty="0">
                          <a:effectLst/>
                          <a:latin typeface="Lucida Console" panose="020B0609040504020204" pitchFamily="49" charset="0"/>
                        </a:rPr>
                        <a:t>s</a:t>
                      </a:r>
                      <a:r>
                        <a:rPr lang="en-US" sz="2000" dirty="0">
                          <a:effectLst/>
                        </a:rPr>
                        <a:t> but not in </a:t>
                      </a:r>
                      <a:r>
                        <a:rPr lang="en-US" sz="2000" b="0" i="0" dirty="0">
                          <a:effectLst/>
                          <a:latin typeface="Lucida Console" panose="020B0609040504020204" pitchFamily="49" charset="0"/>
                        </a:rPr>
                        <a:t>t</a:t>
                      </a:r>
                      <a:endParaRPr lang="en-US" sz="2000" i="0" dirty="0">
                        <a:effectLst/>
                        <a:latin typeface="Lucida Console" panose="020B0609040504020204" pitchFamily="49" charset="0"/>
                      </a:endParaRPr>
                    </a:p>
                  </a:txBody>
                  <a:tcPr marL="91384" marR="91384" marT="54830" marB="548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0012"/>
                  </a:ext>
                </a:extLst>
              </a:tr>
              <a:tr h="419885">
                <a:tc gridSpan="2">
                  <a:txBody>
                    <a:bodyPr/>
                    <a:lstStyle/>
                    <a:p>
                      <a:pPr algn="ctr" fontAlgn="base"/>
                      <a:r>
                        <a:rPr lang="en-US" sz="1800" b="0" i="0" baseline="0" dirty="0" err="1" smtClean="0">
                          <a:effectLst/>
                          <a:latin typeface="Arial Narrow" panose="020B0606020202030204" pitchFamily="34" charset="0"/>
                        </a:rPr>
                        <a:t>s</a:t>
                      </a:r>
                      <a:r>
                        <a:rPr lang="en-US" sz="1800" baseline="0" dirty="0" err="1" smtClean="0">
                          <a:effectLst/>
                          <a:latin typeface="Arial Narrow" panose="020B0606020202030204" pitchFamily="34" charset="0"/>
                        </a:rPr>
                        <a:t>.symmetric</a:t>
                      </a:r>
                      <a:r>
                        <a:rPr lang="en-US" sz="1100" b="1" baseline="0" dirty="0" err="1" smtClean="0">
                          <a:effectLst/>
                          <a:latin typeface="Arial Narrow" panose="020B0606020202030204" pitchFamily="34" charset="0"/>
                        </a:rPr>
                        <a:t>_</a:t>
                      </a:r>
                      <a:r>
                        <a:rPr lang="en-US" sz="1800" baseline="0" dirty="0" err="1" smtClean="0">
                          <a:effectLst/>
                          <a:latin typeface="Arial Narrow" panose="020B0606020202030204" pitchFamily="34" charset="0"/>
                        </a:rPr>
                        <a:t>difference</a:t>
                      </a:r>
                      <a:r>
                        <a:rPr lang="en-US" sz="1800" baseline="0" dirty="0" smtClean="0">
                          <a:effectLst/>
                          <a:latin typeface="Arial Narrow" panose="020B0606020202030204" pitchFamily="34" charset="0"/>
                        </a:rPr>
                        <a:t>(</a:t>
                      </a:r>
                      <a:r>
                        <a:rPr lang="en-US" sz="1800" b="0" i="0" baseline="0" dirty="0" smtClean="0">
                          <a:effectLst/>
                          <a:latin typeface="Arial Narrow" panose="020B0606020202030204" pitchFamily="34" charset="0"/>
                        </a:rPr>
                        <a:t>t</a:t>
                      </a:r>
                      <a:r>
                        <a:rPr lang="en-US" sz="1800" baseline="0" dirty="0" smtClean="0">
                          <a:effectLst/>
                          <a:latin typeface="Arial Narrow" panose="020B0606020202030204" pitchFamily="34" charset="0"/>
                        </a:rPr>
                        <a:t>)</a:t>
                      </a:r>
                      <a:r>
                        <a:rPr lang="en-US" sz="1800" b="0" i="1" dirty="0" smtClean="0">
                          <a:effectLst/>
                          <a:latin typeface="Lucida Console" panose="020B0609040504020204" pitchFamily="49" charset="0"/>
                        </a:rPr>
                        <a:t>s</a:t>
                      </a:r>
                      <a:r>
                        <a:rPr lang="en-US" sz="1000" dirty="0">
                          <a:effectLst/>
                          <a:latin typeface="Lucida Console" panose="020B0609040504020204" pitchFamily="49" charset="0"/>
                        </a:rPr>
                        <a:t> </a:t>
                      </a:r>
                      <a:r>
                        <a:rPr lang="en-US" sz="1800" dirty="0">
                          <a:effectLst/>
                          <a:latin typeface="Lucida Console" panose="020B0609040504020204" pitchFamily="49" charset="0"/>
                        </a:rPr>
                        <a:t>^</a:t>
                      </a:r>
                      <a:r>
                        <a:rPr lang="en-US" sz="500" dirty="0">
                          <a:effectLst/>
                          <a:latin typeface="Lucida Console" panose="020B0609040504020204" pitchFamily="49" charset="0"/>
                        </a:rPr>
                        <a:t> </a:t>
                      </a:r>
                      <a:r>
                        <a:rPr lang="en-US" sz="1800" b="0" i="1" dirty="0" smtClean="0">
                          <a:effectLst/>
                          <a:latin typeface="Lucida Console" panose="020B0609040504020204" pitchFamily="49" charset="0"/>
                        </a:rPr>
                        <a:t>t</a:t>
                      </a:r>
                      <a:endParaRPr lang="en-US" sz="1800" dirty="0">
                        <a:effectLst/>
                        <a:latin typeface="Lucida Console" panose="020B0609040504020204" pitchFamily="49" charset="0"/>
                      </a:endParaRPr>
                    </a:p>
                  </a:txBody>
                  <a:tcPr marL="0" marR="0" marT="54830" marB="5483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4F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2000" spc="-80" baseline="0" dirty="0" smtClean="0">
                          <a:effectLst/>
                        </a:rPr>
                        <a:t>R</a:t>
                      </a:r>
                      <a:r>
                        <a:rPr lang="en-US" altLang="zh-TW" sz="2000" spc="-10" baseline="0" dirty="0" smtClean="0">
                          <a:effectLst/>
                        </a:rPr>
                        <a:t>e</a:t>
                      </a:r>
                      <a:r>
                        <a:rPr lang="en-US" altLang="zh-TW" sz="2000" dirty="0" smtClean="0">
                          <a:effectLst/>
                        </a:rPr>
                        <a:t>t</a:t>
                      </a:r>
                      <a:r>
                        <a:rPr lang="en-US" altLang="zh-TW" sz="2000" spc="-30" baseline="0" dirty="0" smtClean="0">
                          <a:effectLst/>
                        </a:rPr>
                        <a:t>u</a:t>
                      </a:r>
                      <a:r>
                        <a:rPr lang="en-US" altLang="zh-TW" sz="2000" dirty="0" smtClean="0">
                          <a:effectLst/>
                        </a:rPr>
                        <a:t>rns a </a:t>
                      </a:r>
                      <a:r>
                        <a:rPr lang="en-US" sz="2000" spc="-40" baseline="0" dirty="0" smtClean="0">
                          <a:effectLst/>
                        </a:rPr>
                        <a:t>n</a:t>
                      </a:r>
                      <a:r>
                        <a:rPr lang="en-US" sz="2000" spc="-20" baseline="0" dirty="0" smtClean="0">
                          <a:effectLst/>
                        </a:rPr>
                        <a:t>e</a:t>
                      </a:r>
                      <a:r>
                        <a:rPr lang="en-US" sz="2000" dirty="0" smtClean="0">
                          <a:effectLst/>
                        </a:rPr>
                        <a:t>w </a:t>
                      </a:r>
                      <a:r>
                        <a:rPr lang="en-US" sz="2000" dirty="0">
                          <a:effectLst/>
                        </a:rPr>
                        <a:t>set with </a:t>
                      </a:r>
                      <a:r>
                        <a:rPr lang="en-US" sz="2000" spc="-20" baseline="0" dirty="0">
                          <a:effectLst/>
                        </a:rPr>
                        <a:t>elemen</a:t>
                      </a:r>
                      <a:r>
                        <a:rPr lang="en-US" sz="2000" dirty="0">
                          <a:effectLst/>
                        </a:rPr>
                        <a:t>ts </a:t>
                      </a:r>
                      <a:r>
                        <a:rPr lang="en-US" sz="2000" dirty="0" smtClean="0">
                          <a:effectLst/>
                        </a:rPr>
                        <a:t>i</a:t>
                      </a:r>
                      <a:r>
                        <a:rPr lang="en-US" sz="2000" spc="-30" dirty="0" smtClean="0">
                          <a:effectLst/>
                        </a:rPr>
                        <a:t>n</a:t>
                      </a:r>
                      <a:r>
                        <a:rPr lang="en-US" sz="1800" spc="-30" dirty="0">
                          <a:effectLst/>
                        </a:rPr>
                        <a:t> </a:t>
                      </a:r>
                      <a:r>
                        <a:rPr lang="en-US" sz="2000" b="0" i="0" spc="-30" dirty="0">
                          <a:effectLst/>
                          <a:latin typeface="Lucida Console" panose="020B0609040504020204" pitchFamily="49" charset="0"/>
                        </a:rPr>
                        <a:t>s</a:t>
                      </a:r>
                      <a:r>
                        <a:rPr lang="en-US" sz="1800" spc="-30" dirty="0">
                          <a:effectLst/>
                        </a:rPr>
                        <a:t> </a:t>
                      </a:r>
                      <a:r>
                        <a:rPr lang="en-US" sz="2000" spc="-30" dirty="0">
                          <a:effectLst/>
                        </a:rPr>
                        <a:t>or</a:t>
                      </a:r>
                      <a:r>
                        <a:rPr lang="en-US" sz="1800" spc="-30" dirty="0">
                          <a:effectLst/>
                        </a:rPr>
                        <a:t> </a:t>
                      </a:r>
                      <a:r>
                        <a:rPr lang="en-US" sz="2000" b="0" i="0" spc="-30" dirty="0">
                          <a:effectLst/>
                          <a:latin typeface="Lucida Console" panose="020B0609040504020204" pitchFamily="49" charset="0"/>
                        </a:rPr>
                        <a:t>t</a:t>
                      </a:r>
                      <a:r>
                        <a:rPr lang="en-US" sz="2000" spc="-30" dirty="0">
                          <a:effectLst/>
                        </a:rPr>
                        <a:t> </a:t>
                      </a:r>
                      <a:r>
                        <a:rPr lang="en-US" sz="2000" spc="-30" baseline="0" dirty="0">
                          <a:effectLst/>
                        </a:rPr>
                        <a:t>b</a:t>
                      </a:r>
                      <a:r>
                        <a:rPr lang="en-US" sz="2000" spc="-10" baseline="0" dirty="0">
                          <a:effectLst/>
                        </a:rPr>
                        <a:t>u</a:t>
                      </a:r>
                      <a:r>
                        <a:rPr lang="en-US" sz="2000" dirty="0">
                          <a:effectLst/>
                        </a:rPr>
                        <a:t>t </a:t>
                      </a:r>
                      <a:r>
                        <a:rPr lang="en-US" sz="2000" spc="-40" baseline="0" dirty="0">
                          <a:effectLst/>
                        </a:rPr>
                        <a:t>no</a:t>
                      </a:r>
                      <a:r>
                        <a:rPr lang="en-US" sz="2000" spc="-20" baseline="0" dirty="0">
                          <a:effectLst/>
                        </a:rPr>
                        <a:t>t </a:t>
                      </a:r>
                      <a:r>
                        <a:rPr lang="en-US" sz="2000" spc="-40" baseline="0" dirty="0">
                          <a:effectLst/>
                        </a:rPr>
                        <a:t>bo</a:t>
                      </a:r>
                      <a:r>
                        <a:rPr lang="en-US" sz="2000" dirty="0">
                          <a:effectLst/>
                        </a:rPr>
                        <a:t>t</a:t>
                      </a:r>
                      <a:r>
                        <a:rPr lang="en-US" sz="2000" spc="-100" baseline="0" dirty="0">
                          <a:effectLst/>
                        </a:rPr>
                        <a:t>h</a:t>
                      </a:r>
                    </a:p>
                  </a:txBody>
                  <a:tcPr marL="91384" marR="0" marT="54830" marB="548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4F8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3"/>
                  </a:ext>
                </a:extLst>
              </a:tr>
              <a:tr h="419885"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2000" b="0" i="0" dirty="0" err="1">
                          <a:effectLst/>
                          <a:latin typeface="Lucida Console" panose="020B0609040504020204" pitchFamily="49" charset="0"/>
                        </a:rPr>
                        <a:t>s</a:t>
                      </a:r>
                      <a:r>
                        <a:rPr lang="en-US" sz="2000" dirty="0" err="1">
                          <a:effectLst/>
                        </a:rPr>
                        <a:t>.copy</a:t>
                      </a:r>
                      <a:r>
                        <a:rPr lang="en-US" sz="2000" dirty="0">
                          <a:effectLst/>
                        </a:rPr>
                        <a:t>()</a:t>
                      </a:r>
                    </a:p>
                  </a:txBody>
                  <a:tcPr marL="91384" marR="91384" marT="54830" marB="5483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TW" altLang="en-US" sz="1900"/>
                    </a:p>
                  </a:txBody>
                  <a:tcPr marL="0" marR="0" marT="54830" marB="548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 smtClean="0">
                          <a:effectLst/>
                        </a:rPr>
                        <a:t>Returns a new </a:t>
                      </a:r>
                      <a:r>
                        <a:rPr lang="en-US" sz="2000" dirty="0">
                          <a:effectLst/>
                        </a:rPr>
                        <a:t>set with a shallow copy of </a:t>
                      </a:r>
                      <a:r>
                        <a:rPr lang="en-US" sz="2000" b="0" i="0" dirty="0">
                          <a:effectLst/>
                          <a:latin typeface="Lucida Console" panose="020B0609040504020204" pitchFamily="49" charset="0"/>
                        </a:rPr>
                        <a:t>s</a:t>
                      </a:r>
                    </a:p>
                  </a:txBody>
                  <a:tcPr marL="91384" marR="91384" marT="54830" marB="548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8" name="Rounded Rectangular Callout 7"/>
          <p:cNvSpPr/>
          <p:nvPr/>
        </p:nvSpPr>
        <p:spPr bwMode="auto">
          <a:xfrm>
            <a:off x="3874909" y="3276695"/>
            <a:ext cx="5559146" cy="1599206"/>
          </a:xfrm>
          <a:prstGeom prst="wedgeRoundRectCallout">
            <a:avLst>
              <a:gd name="adj1" fmla="val -50039"/>
              <a:gd name="adj2" fmla="val -20343"/>
              <a:gd name="adj3" fmla="val 16667"/>
            </a:avLst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384" tIns="45692" rIns="91384" bIns="45692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3198" dirty="0">
                <a:solidFill>
                  <a:srgbClr val="000000"/>
                </a:solidFill>
                <a:latin typeface="Times New Roman" charset="0"/>
              </a:rPr>
              <a:t>Notice also that there is neither a repetition operator, *, </a:t>
            </a:r>
            <a:r>
              <a:rPr lang="en-US" altLang="zh-TW" sz="3198" dirty="0" smtClean="0">
                <a:solidFill>
                  <a:srgbClr val="000000"/>
                </a:solidFill>
                <a:latin typeface="Times New Roman" charset="0"/>
              </a:rPr>
              <a:t>nor a</a:t>
            </a:r>
            <a:r>
              <a:rPr lang="en-US" altLang="zh-TW" sz="3198" dirty="0">
                <a:solidFill>
                  <a:srgbClr val="000000"/>
                </a:solidFill>
                <a:latin typeface="Times New Roman" charset="0"/>
              </a:rPr>
              <a:t/>
            </a:r>
            <a:br>
              <a:rPr lang="en-US" altLang="zh-TW" sz="3198" dirty="0">
                <a:solidFill>
                  <a:srgbClr val="000000"/>
                </a:solidFill>
                <a:latin typeface="Times New Roman" charset="0"/>
              </a:rPr>
            </a:br>
            <a:r>
              <a:rPr lang="en-US" altLang="zh-TW" sz="3198" dirty="0" smtClean="0">
                <a:solidFill>
                  <a:srgbClr val="000000"/>
                </a:solidFill>
                <a:latin typeface="Times New Roman" charset="0"/>
              </a:rPr>
              <a:t>slice </a:t>
            </a:r>
            <a:r>
              <a:rPr lang="en-US" altLang="zh-TW" sz="3198" dirty="0">
                <a:solidFill>
                  <a:srgbClr val="000000"/>
                </a:solidFill>
                <a:latin typeface="Times New Roman" charset="0"/>
              </a:rPr>
              <a:t>operator, </a:t>
            </a:r>
            <a:r>
              <a:rPr lang="en-US" altLang="zh-TW" sz="3198" dirty="0" smtClean="0">
                <a:solidFill>
                  <a:srgbClr val="000000"/>
                </a:solidFill>
                <a:latin typeface="Times New Roman" charset="0"/>
              </a:rPr>
              <a:t>[</a:t>
            </a:r>
            <a:r>
              <a:rPr lang="en-US" altLang="zh-TW" sz="1600" dirty="0" smtClean="0">
                <a:solidFill>
                  <a:srgbClr val="000000"/>
                </a:solidFill>
                <a:latin typeface="Times New Roman" charset="0"/>
              </a:rPr>
              <a:t> </a:t>
            </a:r>
            <a:r>
              <a:rPr lang="en-US" altLang="zh-TW" sz="3198" dirty="0" smtClean="0">
                <a:solidFill>
                  <a:srgbClr val="000000"/>
                </a:solidFill>
                <a:latin typeface="Times New Roman" charset="0"/>
              </a:rPr>
              <a:t>].</a:t>
            </a:r>
            <a:endParaRPr lang="zh-TW" altLang="en-US" sz="3198" dirty="0">
              <a:solidFill>
                <a:srgbClr val="000000"/>
              </a:solidFill>
              <a:latin typeface="Times New Roman" charset="0"/>
            </a:endParaRPr>
          </a:p>
        </p:txBody>
      </p:sp>
      <p:sp>
        <p:nvSpPr>
          <p:cNvPr id="10" name="Rounded Rectangular Callout 9"/>
          <p:cNvSpPr/>
          <p:nvPr/>
        </p:nvSpPr>
        <p:spPr bwMode="auto">
          <a:xfrm>
            <a:off x="3874909" y="5713581"/>
            <a:ext cx="5559146" cy="1142291"/>
          </a:xfrm>
          <a:prstGeom prst="wedgeRoundRectCallout">
            <a:avLst>
              <a:gd name="adj1" fmla="val -68170"/>
              <a:gd name="adj2" fmla="val -38705"/>
              <a:gd name="adj3" fmla="val 16667"/>
            </a:avLst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384" tIns="45692" rIns="91384" bIns="45692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3198" dirty="0">
                <a:solidFill>
                  <a:srgbClr val="000000"/>
                </a:solidFill>
                <a:latin typeface="Times New Roman" charset="0"/>
              </a:rPr>
              <a:t>Notice that there is a - operation, but there is no + operation.</a:t>
            </a:r>
            <a:endParaRPr lang="zh-TW" altLang="en-US" sz="3198" dirty="0">
              <a:solidFill>
                <a:srgbClr val="000000"/>
              </a:solidFill>
              <a:latin typeface="Times New Roman" charset="0"/>
            </a:endParaRPr>
          </a:p>
        </p:txBody>
      </p:sp>
      <p:sp>
        <p:nvSpPr>
          <p:cNvPr id="7" name="Rectangle 6"/>
          <p:cNvSpPr/>
          <p:nvPr/>
        </p:nvSpPr>
        <p:spPr bwMode="auto">
          <a:xfrm>
            <a:off x="295733" y="549299"/>
            <a:ext cx="9138323" cy="2360734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384" tIns="45692" rIns="91384" bIns="45692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TW" sz="2798" dirty="0">
                <a:solidFill>
                  <a:srgbClr val="000000"/>
                </a:solidFill>
                <a:latin typeface="Times New Roman" charset="0"/>
              </a:rPr>
              <a:t>T</a:t>
            </a:r>
            <a:r>
              <a:rPr lang="en-US" altLang="zh-TW" sz="2798" dirty="0">
                <a:solidFill>
                  <a:srgbClr val="000000"/>
                </a:solidFill>
                <a:latin typeface="Times New Roman" pitchFamily="18" charset="0"/>
              </a:rPr>
              <a:t>he methods are not identical to their symbol-based versions. The methods allow the </a:t>
            </a:r>
            <a:r>
              <a:rPr lang="en-US" altLang="zh-TW" sz="2798" dirty="0">
                <a:solidFill>
                  <a:srgbClr val="000000"/>
                </a:solidFill>
                <a:latin typeface="Lucida Console" panose="020B0609040504020204" pitchFamily="49" charset="0"/>
              </a:rPr>
              <a:t>t</a:t>
            </a:r>
            <a:r>
              <a:rPr lang="en-US" altLang="zh-TW" sz="2798" dirty="0">
                <a:solidFill>
                  <a:srgbClr val="000000"/>
                </a:solidFill>
                <a:latin typeface="Times New Roman" pitchFamily="18" charset="0"/>
              </a:rPr>
              <a:t> object to be various types (such as a list), but the symbol-based versions require </a:t>
            </a:r>
            <a:r>
              <a:rPr lang="en-US" altLang="zh-TW" sz="2798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t</a:t>
            </a:r>
            <a:r>
              <a:rPr lang="en-US" altLang="zh-TW" sz="2798" dirty="0">
                <a:solidFill>
                  <a:srgbClr val="000000"/>
                </a:solidFill>
                <a:latin typeface="Times New Roman" pitchFamily="18" charset="0"/>
              </a:rPr>
              <a:t> to be a set. </a:t>
            </a:r>
            <a:br>
              <a:rPr lang="en-US" altLang="zh-TW" sz="2798" dirty="0">
                <a:solidFill>
                  <a:srgbClr val="000000"/>
                </a:solidFill>
                <a:latin typeface="Times New Roman" pitchFamily="18" charset="0"/>
              </a:rPr>
            </a:br>
            <a:r>
              <a:rPr lang="en-US" altLang="zh-TW" sz="2798" dirty="0">
                <a:solidFill>
                  <a:srgbClr val="000000"/>
                </a:solidFill>
                <a:latin typeface="Times New Roman" pitchFamily="18" charset="0"/>
              </a:rPr>
              <a:t>This restriction prevents error-prone constructions like </a:t>
            </a:r>
            <a:r>
              <a:rPr lang="en-US" altLang="zh-TW" sz="2798" dirty="0">
                <a:solidFill>
                  <a:srgbClr val="000000"/>
                </a:solidFill>
                <a:latin typeface="Lucida Console" panose="020B0609040504020204" pitchFamily="49" charset="0"/>
              </a:rPr>
              <a:t>set('</a:t>
            </a:r>
            <a:r>
              <a:rPr lang="en-US" altLang="zh-TW" sz="2798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abc</a:t>
            </a:r>
            <a:r>
              <a:rPr lang="en-US" altLang="zh-TW" sz="2798" dirty="0">
                <a:solidFill>
                  <a:srgbClr val="000000"/>
                </a:solidFill>
                <a:latin typeface="Lucida Console" panose="020B0609040504020204" pitchFamily="49" charset="0"/>
              </a:rPr>
              <a:t>') &amp; '</a:t>
            </a:r>
            <a:r>
              <a:rPr lang="en-US" altLang="zh-TW" sz="2798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cbs</a:t>
            </a:r>
            <a:r>
              <a:rPr lang="en-US" altLang="zh-TW" sz="2798" dirty="0">
                <a:solidFill>
                  <a:srgbClr val="000000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798" dirty="0">
                <a:solidFill>
                  <a:srgbClr val="000000"/>
                </a:solidFill>
                <a:latin typeface="Times New Roman" pitchFamily="18" charset="0"/>
              </a:rPr>
              <a:t>. Instead you have to use the more readable </a:t>
            </a:r>
            <a:r>
              <a:rPr lang="en-US" altLang="zh-TW" sz="2798" dirty="0">
                <a:solidFill>
                  <a:srgbClr val="000000"/>
                </a:solidFill>
                <a:latin typeface="Lucida Console" panose="020B0609040504020204" pitchFamily="49" charset="0"/>
              </a:rPr>
              <a:t>set('</a:t>
            </a:r>
            <a:r>
              <a:rPr lang="en-US" altLang="zh-TW" sz="2798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abc</a:t>
            </a:r>
            <a:r>
              <a:rPr lang="en-US" altLang="zh-TW" sz="2798" dirty="0">
                <a:solidFill>
                  <a:srgbClr val="000000"/>
                </a:solidFill>
                <a:latin typeface="Lucida Console" panose="020B0609040504020204" pitchFamily="49" charset="0"/>
              </a:rPr>
              <a:t>').intersection('</a:t>
            </a:r>
            <a:r>
              <a:rPr lang="en-US" altLang="zh-TW" sz="2798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cbs</a:t>
            </a:r>
            <a:r>
              <a:rPr lang="en-US" altLang="zh-TW" sz="2798" dirty="0">
                <a:solidFill>
                  <a:srgbClr val="000000"/>
                </a:solidFill>
                <a:latin typeface="Lucida Console" panose="020B0609040504020204" pitchFamily="49" charset="0"/>
              </a:rPr>
              <a:t>')</a:t>
            </a:r>
            <a:r>
              <a:rPr lang="en-US" altLang="zh-TW" sz="2798" dirty="0">
                <a:solidFill>
                  <a:srgbClr val="000000"/>
                </a:solidFill>
                <a:latin typeface="Times New Roman" pitchFamily="18" charset="0"/>
              </a:rPr>
              <a:t>.</a:t>
            </a:r>
            <a:endParaRPr lang="zh-TW" altLang="en-US" sz="2798" dirty="0">
              <a:solidFill>
                <a:srgbClr val="000000"/>
              </a:solidFill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72787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xit" presetSubtype="2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6" presetClass="exit" presetSubtype="2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6" presetClass="exit" presetSubtype="2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  <p:bldP spid="10" grpId="0" animBg="1"/>
      <p:bldP spid="10" grpId="1" animBg="1"/>
      <p:bldP spid="7" grpId="0" animBg="1"/>
      <p:bldP spid="7" grpId="1" animBg="1"/>
    </p:bld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Content Placeholder 2"/>
          <p:cNvSpPr>
            <a:spLocks noGrp="1"/>
          </p:cNvSpPr>
          <p:nvPr>
            <p:ph idx="1"/>
          </p:nvPr>
        </p:nvSpPr>
        <p:spPr>
          <a:xfrm>
            <a:off x="87369" y="967611"/>
            <a:ext cx="9425725" cy="5595275"/>
          </a:xfrm>
        </p:spPr>
        <p:txBody>
          <a:bodyPr>
            <a:normAutofit/>
          </a:bodyPr>
          <a:lstStyle/>
          <a:p>
            <a:pPr marL="0" indent="0">
              <a:lnSpc>
                <a:spcPct val="80000"/>
              </a:lnSpc>
              <a:spcBef>
                <a:spcPts val="825"/>
              </a:spcBef>
              <a:buNone/>
            </a:pPr>
            <a:r>
              <a:rPr lang="en-US" altLang="en-US" sz="3669" dirty="0"/>
              <a:t>  Mathematics </a:t>
            </a:r>
            <a:r>
              <a:rPr lang="en-US" altLang="en-US" sz="3669" dirty="0" smtClean="0"/>
              <a:t>(</a:t>
            </a:r>
            <a:r>
              <a:rPr lang="zh-TW" altLang="en-US" sz="3200" dirty="0"/>
              <a:t>數學</a:t>
            </a:r>
            <a:r>
              <a:rPr lang="en-US" altLang="en-US" sz="3669" dirty="0" smtClean="0"/>
              <a:t>) defines </a:t>
            </a:r>
            <a:r>
              <a:rPr lang="en-US" altLang="en-US" sz="3669" dirty="0"/>
              <a:t>two types of sets:</a:t>
            </a:r>
          </a:p>
          <a:p>
            <a:pPr marL="364871" lvl="1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en-US" sz="3302" dirty="0"/>
              <a:t>1. </a:t>
            </a:r>
            <a:r>
              <a:rPr lang="en-US" altLang="en-US" sz="3302" dirty="0">
                <a:solidFill>
                  <a:srgbClr val="FF0000"/>
                </a:solidFill>
              </a:rPr>
              <a:t>Ordered Sets</a:t>
            </a:r>
          </a:p>
          <a:p>
            <a:pPr marL="995942" lvl="2" indent="-266459">
              <a:lnSpc>
                <a:spcPct val="80000"/>
              </a:lnSpc>
              <a:spcBef>
                <a:spcPts val="0"/>
              </a:spcBef>
            </a:pPr>
            <a:r>
              <a:rPr lang="en-US" altLang="en-US" sz="2935" dirty="0"/>
              <a:t>If you want to visit all elements of an ordered set, then they must be visited in a specific order.</a:t>
            </a:r>
          </a:p>
          <a:p>
            <a:pPr marL="1362867" lvl="3" indent="-267914">
              <a:lnSpc>
                <a:spcPct val="80000"/>
              </a:lnSpc>
              <a:spcBef>
                <a:spcPts val="825"/>
              </a:spcBef>
            </a:pPr>
            <a:r>
              <a:rPr lang="en-US" altLang="en-US" sz="2935" dirty="0" err="1"/>
              <a:t>Eg</a:t>
            </a:r>
            <a:r>
              <a:rPr lang="en-US" altLang="en-US" sz="2935" dirty="0"/>
              <a:t>: </a:t>
            </a:r>
            <a:r>
              <a:rPr lang="en-US" altLang="en-US" sz="2935" b="1" dirty="0">
                <a:solidFill>
                  <a:srgbClr val="0070C0"/>
                </a:solidFill>
              </a:rPr>
              <a:t>Dealing</a:t>
            </a:r>
            <a:r>
              <a:rPr lang="en-US" altLang="en-US" sz="2935" dirty="0"/>
              <a:t> </a:t>
            </a:r>
            <a:r>
              <a:rPr lang="en-US" altLang="en-US" sz="2935" b="1" dirty="0">
                <a:solidFill>
                  <a:srgbClr val="0070C0"/>
                </a:solidFill>
              </a:rPr>
              <a:t>a stack of cards</a:t>
            </a:r>
            <a:r>
              <a:rPr lang="en-US" altLang="en-US" sz="2935" dirty="0"/>
              <a:t> off the top of the deck.</a:t>
            </a:r>
          </a:p>
          <a:p>
            <a:pPr marL="1729793" lvl="4" indent="-270826">
              <a:lnSpc>
                <a:spcPct val="80000"/>
              </a:lnSpc>
              <a:spcBef>
                <a:spcPts val="0"/>
              </a:spcBef>
            </a:pPr>
            <a:r>
              <a:rPr lang="en-US" altLang="en-US" sz="2935" dirty="0"/>
              <a:t>The cards always come out the same, regardless of who deals the deck.</a:t>
            </a:r>
          </a:p>
          <a:p>
            <a:pPr marL="364871" lvl="1" indent="0">
              <a:lnSpc>
                <a:spcPct val="80000"/>
              </a:lnSpc>
              <a:spcBef>
                <a:spcPts val="2100"/>
              </a:spcBef>
              <a:buNone/>
            </a:pPr>
            <a:r>
              <a:rPr lang="en-US" altLang="en-US" sz="3302" dirty="0"/>
              <a:t>2. </a:t>
            </a:r>
            <a:r>
              <a:rPr lang="en-US" altLang="en-US" sz="3302" dirty="0">
                <a:solidFill>
                  <a:srgbClr val="FF0000"/>
                </a:solidFill>
              </a:rPr>
              <a:t>Unordered Sets</a:t>
            </a:r>
          </a:p>
          <a:p>
            <a:pPr marL="995942" lvl="2" indent="-266459">
              <a:lnSpc>
                <a:spcPct val="80000"/>
              </a:lnSpc>
              <a:spcBef>
                <a:spcPts val="0"/>
              </a:spcBef>
            </a:pPr>
            <a:r>
              <a:rPr lang="en-US" altLang="en-US" sz="2935" dirty="0"/>
              <a:t>If you want to visit all elements of an unordered set, then the order is unimportant.</a:t>
            </a:r>
          </a:p>
          <a:p>
            <a:pPr marL="1362867" lvl="3" indent="-267914">
              <a:lnSpc>
                <a:spcPct val="80000"/>
              </a:lnSpc>
              <a:spcBef>
                <a:spcPts val="825"/>
              </a:spcBef>
            </a:pPr>
            <a:r>
              <a:rPr lang="en-US" altLang="en-US" sz="2935" dirty="0" err="1"/>
              <a:t>Eg</a:t>
            </a:r>
            <a:r>
              <a:rPr lang="en-US" altLang="en-US" sz="2935" dirty="0"/>
              <a:t>: </a:t>
            </a:r>
            <a:r>
              <a:rPr lang="en-US" altLang="en-US" sz="2935" b="1" dirty="0">
                <a:solidFill>
                  <a:srgbClr val="0070C0"/>
                </a:solidFill>
              </a:rPr>
              <a:t>Pulling</a:t>
            </a:r>
            <a:r>
              <a:rPr lang="en-US" altLang="en-US" sz="2935" dirty="0">
                <a:solidFill>
                  <a:srgbClr val="0070C0"/>
                </a:solidFill>
              </a:rPr>
              <a:t> </a:t>
            </a:r>
            <a:r>
              <a:rPr lang="en-US" altLang="en-US" sz="2935" b="1" dirty="0">
                <a:solidFill>
                  <a:srgbClr val="0070C0"/>
                </a:solidFill>
              </a:rPr>
              <a:t>balls out of a bag</a:t>
            </a:r>
            <a:r>
              <a:rPr lang="en-US" altLang="en-US" sz="2935" dirty="0"/>
              <a:t>.</a:t>
            </a:r>
          </a:p>
          <a:p>
            <a:pPr marL="1729793" lvl="4" indent="-270826">
              <a:lnSpc>
                <a:spcPct val="80000"/>
              </a:lnSpc>
              <a:spcBef>
                <a:spcPts val="825"/>
              </a:spcBef>
            </a:pPr>
            <a:r>
              <a:rPr lang="en-US" altLang="en-US" sz="2935" dirty="0"/>
              <a:t>The balls could come out different each time.</a:t>
            </a: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1" y="0"/>
            <a:ext cx="9729788" cy="1077171"/>
          </a:xfrm>
          <a:prstGeom prst="rect">
            <a:avLst/>
          </a:prstGeom>
        </p:spPr>
        <p:txBody>
          <a:bodyPr vert="horz" lIns="83872" tIns="41936" rIns="83872" bIns="41936" rtlCol="0" anchor="ctr">
            <a:norm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400" dirty="0">
                <a:solidFill>
                  <a:srgbClr val="0070C0"/>
                </a:solidFill>
              </a:rPr>
              <a:t>Mathematical </a:t>
            </a:r>
            <a:r>
              <a:rPr lang="en-US" altLang="zh-TW" sz="4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TW" altLang="en-US" sz="4400" dirty="0">
                <a:solidFill>
                  <a:srgbClr val="0070C0"/>
                </a:solidFill>
              </a:rPr>
              <a:t>數學</a:t>
            </a:r>
            <a:r>
              <a:rPr lang="en-US" altLang="zh-TW" sz="4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TW" sz="4400" dirty="0">
                <a:solidFill>
                  <a:srgbClr val="0070C0"/>
                </a:solidFill>
              </a:rPr>
              <a:t> </a:t>
            </a:r>
            <a:r>
              <a:rPr lang="en-US" altLang="en-US" sz="4400" dirty="0" smtClean="0">
                <a:solidFill>
                  <a:srgbClr val="0070C0"/>
                </a:solidFill>
              </a:rPr>
              <a:t>Sets</a:t>
            </a:r>
            <a:endParaRPr lang="en-US" altLang="en-US" sz="44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4597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8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184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184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184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87369" y="967611"/>
            <a:ext cx="9425725" cy="5595275"/>
          </a:xfrm>
        </p:spPr>
        <p:txBody>
          <a:bodyPr>
            <a:normAutofit/>
          </a:bodyPr>
          <a:lstStyle/>
          <a:p>
            <a:pPr marL="0" indent="0">
              <a:lnSpc>
                <a:spcPct val="80000"/>
              </a:lnSpc>
              <a:spcBef>
                <a:spcPts val="825"/>
              </a:spcBef>
              <a:buNone/>
            </a:pPr>
            <a:endParaRPr lang="en-US" altLang="en-US" sz="3669" dirty="0"/>
          </a:p>
          <a:p>
            <a:pPr marL="364871" lvl="1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en-US" sz="3302" dirty="0"/>
              <a:t>1. </a:t>
            </a:r>
            <a:r>
              <a:rPr lang="en-US" altLang="en-US" sz="3302" dirty="0">
                <a:solidFill>
                  <a:srgbClr val="FF0000"/>
                </a:solidFill>
              </a:rPr>
              <a:t>Ordered Sets</a:t>
            </a:r>
          </a:p>
          <a:p>
            <a:pPr marL="995942" lvl="2" indent="-266459">
              <a:lnSpc>
                <a:spcPct val="80000"/>
              </a:lnSpc>
              <a:spcBef>
                <a:spcPts val="0"/>
              </a:spcBef>
            </a:pPr>
            <a:r>
              <a:rPr lang="en-US" altLang="en-US" sz="2935" dirty="0">
                <a:solidFill>
                  <a:schemeClr val="bg1"/>
                </a:solidFill>
              </a:rPr>
              <a:t>If you want to visit all elements of an ordered set, then they must be visited in a specific order.</a:t>
            </a:r>
          </a:p>
          <a:p>
            <a:pPr marL="1362867" lvl="3" indent="-267914">
              <a:lnSpc>
                <a:spcPct val="80000"/>
              </a:lnSpc>
              <a:spcBef>
                <a:spcPts val="825"/>
              </a:spcBef>
            </a:pPr>
            <a:r>
              <a:rPr lang="en-US" altLang="en-US" sz="2935" dirty="0" err="1">
                <a:solidFill>
                  <a:schemeClr val="bg1"/>
                </a:solidFill>
              </a:rPr>
              <a:t>Eg</a:t>
            </a:r>
            <a:r>
              <a:rPr lang="en-US" altLang="en-US" sz="2935" dirty="0">
                <a:solidFill>
                  <a:schemeClr val="bg1"/>
                </a:solidFill>
              </a:rPr>
              <a:t>: </a:t>
            </a:r>
            <a:r>
              <a:rPr lang="en-US" altLang="en-US" sz="2935" b="1" dirty="0">
                <a:solidFill>
                  <a:schemeClr val="bg1"/>
                </a:solidFill>
              </a:rPr>
              <a:t>Dealing</a:t>
            </a:r>
            <a:r>
              <a:rPr lang="en-US" altLang="en-US" sz="2935" dirty="0">
                <a:solidFill>
                  <a:schemeClr val="bg1"/>
                </a:solidFill>
              </a:rPr>
              <a:t> </a:t>
            </a:r>
            <a:r>
              <a:rPr lang="en-US" altLang="en-US" sz="2935" b="1" dirty="0">
                <a:solidFill>
                  <a:schemeClr val="bg1"/>
                </a:solidFill>
              </a:rPr>
              <a:t>a stack of cards</a:t>
            </a:r>
            <a:r>
              <a:rPr lang="en-US" altLang="en-US" sz="2935" dirty="0">
                <a:solidFill>
                  <a:schemeClr val="bg1"/>
                </a:solidFill>
              </a:rPr>
              <a:t> off the top of the deck.</a:t>
            </a:r>
          </a:p>
          <a:p>
            <a:pPr marL="1729793" lvl="4" indent="-270826">
              <a:lnSpc>
                <a:spcPct val="80000"/>
              </a:lnSpc>
              <a:spcBef>
                <a:spcPts val="0"/>
              </a:spcBef>
            </a:pPr>
            <a:r>
              <a:rPr lang="en-US" altLang="en-US" sz="2935" dirty="0">
                <a:solidFill>
                  <a:schemeClr val="bg1"/>
                </a:solidFill>
              </a:rPr>
              <a:t>The cards always come out the same, regardless of who deals the deck.</a:t>
            </a:r>
          </a:p>
          <a:p>
            <a:pPr marL="364871" lvl="1" indent="0">
              <a:lnSpc>
                <a:spcPct val="80000"/>
              </a:lnSpc>
              <a:spcBef>
                <a:spcPts val="2100"/>
              </a:spcBef>
              <a:buNone/>
            </a:pPr>
            <a:r>
              <a:rPr lang="en-US" altLang="en-US" sz="3302" dirty="0"/>
              <a:t>2. </a:t>
            </a:r>
            <a:r>
              <a:rPr lang="en-US" altLang="en-US" sz="3302" dirty="0">
                <a:solidFill>
                  <a:srgbClr val="FF0000"/>
                </a:solidFill>
              </a:rPr>
              <a:t>Unordered Sets</a:t>
            </a:r>
          </a:p>
          <a:p>
            <a:pPr marL="995942" lvl="2" indent="-266459">
              <a:lnSpc>
                <a:spcPct val="80000"/>
              </a:lnSpc>
              <a:spcBef>
                <a:spcPts val="0"/>
              </a:spcBef>
            </a:pPr>
            <a:r>
              <a:rPr lang="en-US" altLang="en-US" sz="2935" dirty="0">
                <a:solidFill>
                  <a:schemeClr val="bg1"/>
                </a:solidFill>
              </a:rPr>
              <a:t>If you want to visit all elements of an unordered set, then the order is unimportant.</a:t>
            </a:r>
          </a:p>
          <a:p>
            <a:pPr marL="1362867" lvl="3" indent="-267914">
              <a:lnSpc>
                <a:spcPct val="80000"/>
              </a:lnSpc>
              <a:spcBef>
                <a:spcPts val="825"/>
              </a:spcBef>
            </a:pPr>
            <a:r>
              <a:rPr lang="en-US" altLang="en-US" sz="2935" dirty="0" err="1">
                <a:solidFill>
                  <a:schemeClr val="bg1"/>
                </a:solidFill>
              </a:rPr>
              <a:t>Eg</a:t>
            </a:r>
            <a:r>
              <a:rPr lang="en-US" altLang="en-US" sz="2935" dirty="0">
                <a:solidFill>
                  <a:schemeClr val="bg1"/>
                </a:solidFill>
              </a:rPr>
              <a:t>: </a:t>
            </a:r>
            <a:r>
              <a:rPr lang="en-US" altLang="en-US" sz="2935" b="1" dirty="0">
                <a:solidFill>
                  <a:schemeClr val="bg1"/>
                </a:solidFill>
              </a:rPr>
              <a:t>Pulling</a:t>
            </a:r>
            <a:r>
              <a:rPr lang="en-US" altLang="en-US" sz="2935" dirty="0">
                <a:solidFill>
                  <a:schemeClr val="bg1"/>
                </a:solidFill>
              </a:rPr>
              <a:t> </a:t>
            </a:r>
            <a:r>
              <a:rPr lang="en-US" altLang="en-US" sz="2935" b="1" dirty="0">
                <a:solidFill>
                  <a:schemeClr val="bg1"/>
                </a:solidFill>
              </a:rPr>
              <a:t>balls out of a bag</a:t>
            </a:r>
            <a:r>
              <a:rPr lang="en-US" altLang="en-US" sz="2935" dirty="0">
                <a:solidFill>
                  <a:schemeClr val="bg1"/>
                </a:solidFill>
              </a:rPr>
              <a:t>.</a:t>
            </a:r>
          </a:p>
          <a:p>
            <a:pPr marL="1729793" lvl="4" indent="-270826">
              <a:lnSpc>
                <a:spcPct val="80000"/>
              </a:lnSpc>
              <a:spcBef>
                <a:spcPts val="825"/>
              </a:spcBef>
            </a:pPr>
            <a:r>
              <a:rPr lang="en-US" altLang="en-US" sz="2935" dirty="0">
                <a:solidFill>
                  <a:schemeClr val="bg1"/>
                </a:solidFill>
              </a:rPr>
              <a:t>The balls could come out different each time.</a:t>
            </a:r>
          </a:p>
        </p:txBody>
      </p:sp>
      <p:sp>
        <p:nvSpPr>
          <p:cNvPr id="2" name="Rectangle 1"/>
          <p:cNvSpPr/>
          <p:nvPr/>
        </p:nvSpPr>
        <p:spPr>
          <a:xfrm>
            <a:off x="96104" y="4332500"/>
            <a:ext cx="9598737" cy="25255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048360" lvl="4" indent="-26209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2935" dirty="0" smtClean="0">
                <a:solidFill>
                  <a:prstClr val="black"/>
                </a:solidFill>
              </a:rPr>
              <a:t>Python-style:</a:t>
            </a:r>
            <a:endParaRPr lang="en-US" altLang="en-US" sz="2935" dirty="0">
              <a:solidFill>
                <a:prstClr val="black"/>
              </a:solidFill>
            </a:endParaRPr>
          </a:p>
          <a:p>
            <a:pPr marL="1467703" lvl="5" indent="-26209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2568" i="1" dirty="0" smtClean="0">
                <a:solidFill>
                  <a:prstClr val="black"/>
                </a:solidFill>
              </a:rPr>
              <a:t>Sets, Dictionaries</a:t>
            </a:r>
            <a:endParaRPr lang="en-US" altLang="en-US" sz="2568" i="1" dirty="0">
              <a:solidFill>
                <a:prstClr val="black"/>
              </a:solidFill>
            </a:endParaRPr>
          </a:p>
          <a:p>
            <a:pPr marL="1048360" lvl="2" indent="-26209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2935" dirty="0">
                <a:solidFill>
                  <a:prstClr val="black"/>
                </a:solidFill>
              </a:rPr>
              <a:t>C-style: </a:t>
            </a:r>
            <a:r>
              <a:rPr lang="en-US" altLang="en-US" sz="2568" i="1" dirty="0">
                <a:solidFill>
                  <a:prstClr val="black"/>
                </a:solidFill>
              </a:rPr>
              <a:t>Nothing </a:t>
            </a:r>
            <a:r>
              <a:rPr lang="en-US" altLang="en-US" sz="2568" i="1" dirty="0" smtClean="0">
                <a:solidFill>
                  <a:prstClr val="black"/>
                </a:solidFill>
              </a:rPr>
              <a:t>(speaking </a:t>
            </a:r>
            <a:r>
              <a:rPr lang="en-US" altLang="en-US" sz="2568" i="1" dirty="0">
                <a:solidFill>
                  <a:prstClr val="black"/>
                </a:solidFill>
              </a:rPr>
              <a:t>strictly of built-in types)</a:t>
            </a:r>
          </a:p>
          <a:p>
            <a:pPr marL="1467703" lvl="6" indent="-366926">
              <a:lnSpc>
                <a:spcPct val="80000"/>
              </a:lnSpc>
            </a:pPr>
            <a:r>
              <a:rPr lang="en-US" altLang="en-US" sz="2568" dirty="0">
                <a:solidFill>
                  <a:srgbClr val="FF0000"/>
                </a:solidFill>
              </a:rPr>
              <a:t>Q: But wait! We know that, mathematically, unordered sets </a:t>
            </a:r>
            <a:br>
              <a:rPr lang="en-US" altLang="en-US" sz="2568" dirty="0">
                <a:solidFill>
                  <a:srgbClr val="FF0000"/>
                </a:solidFill>
              </a:rPr>
            </a:br>
            <a:r>
              <a:rPr lang="en-US" altLang="en-US" sz="2568" dirty="0">
                <a:solidFill>
                  <a:srgbClr val="FF0000"/>
                </a:solidFill>
              </a:rPr>
              <a:t>do exist, so how can they be modeled in C?</a:t>
            </a:r>
          </a:p>
          <a:p>
            <a:pPr marL="1467703" lvl="6" indent="-366926">
              <a:lnSpc>
                <a:spcPct val="80000"/>
              </a:lnSpc>
            </a:pPr>
            <a:r>
              <a:rPr lang="en-US" altLang="en-US" sz="2568" dirty="0">
                <a:solidFill>
                  <a:srgbClr val="00B050"/>
                </a:solidFill>
              </a:rPr>
              <a:t>A: Well, a full-order can be imposed upon a partial order. </a:t>
            </a:r>
            <a:br>
              <a:rPr lang="en-US" altLang="en-US" sz="2568" dirty="0">
                <a:solidFill>
                  <a:srgbClr val="00B050"/>
                </a:solidFill>
              </a:rPr>
            </a:br>
            <a:r>
              <a:rPr lang="en-US" altLang="en-US" sz="2568" dirty="0">
                <a:solidFill>
                  <a:srgbClr val="00B050"/>
                </a:solidFill>
              </a:rPr>
              <a:t>So a set can be stored into an array or linked list or table. </a:t>
            </a:r>
          </a:p>
        </p:txBody>
      </p:sp>
      <p:sp>
        <p:nvSpPr>
          <p:cNvPr id="5" name="Rectangle 4"/>
          <p:cNvSpPr/>
          <p:nvPr/>
        </p:nvSpPr>
        <p:spPr>
          <a:xfrm>
            <a:off x="96104" y="1785415"/>
            <a:ext cx="9633685" cy="21421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048360" lvl="4" indent="-26209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3200" dirty="0" smtClean="0">
                <a:solidFill>
                  <a:prstClr val="black"/>
                </a:solidFill>
              </a:rPr>
              <a:t>Python-style:</a:t>
            </a:r>
            <a:endParaRPr lang="en-US" altLang="en-US" sz="3200" dirty="0">
              <a:solidFill>
                <a:prstClr val="black"/>
              </a:solidFill>
            </a:endParaRPr>
          </a:p>
          <a:p>
            <a:pPr marL="1467703" lvl="5" indent="-26209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2800" i="1" dirty="0">
                <a:solidFill>
                  <a:prstClr val="black"/>
                </a:solidFill>
              </a:rPr>
              <a:t>Lists</a:t>
            </a:r>
            <a:r>
              <a:rPr lang="en-US" altLang="en-US" sz="2800" dirty="0">
                <a:solidFill>
                  <a:prstClr val="black"/>
                </a:solidFill>
              </a:rPr>
              <a:t>, </a:t>
            </a:r>
            <a:r>
              <a:rPr lang="en-US" altLang="en-US" sz="2800" i="1" dirty="0">
                <a:solidFill>
                  <a:prstClr val="black"/>
                </a:solidFill>
              </a:rPr>
              <a:t>Tuples</a:t>
            </a:r>
            <a:r>
              <a:rPr lang="en-US" altLang="en-US" sz="2800" dirty="0">
                <a:solidFill>
                  <a:prstClr val="black"/>
                </a:solidFill>
              </a:rPr>
              <a:t> (immutable lists), </a:t>
            </a:r>
            <a:r>
              <a:rPr lang="en-US" altLang="en-US" sz="2800" i="1" dirty="0">
                <a:solidFill>
                  <a:prstClr val="black"/>
                </a:solidFill>
              </a:rPr>
              <a:t>Strings</a:t>
            </a:r>
            <a:r>
              <a:rPr lang="en-US" altLang="en-US" sz="2800" dirty="0">
                <a:solidFill>
                  <a:prstClr val="black"/>
                </a:solidFill>
              </a:rPr>
              <a:t> (tuples of </a:t>
            </a:r>
            <a:r>
              <a:rPr lang="en-US" altLang="en-US" sz="2800" dirty="0" smtClean="0">
                <a:solidFill>
                  <a:prstClr val="black"/>
                </a:solidFill>
              </a:rPr>
              <a:t/>
            </a:r>
            <a:br>
              <a:rPr lang="en-US" altLang="en-US" sz="2800" dirty="0" smtClean="0">
                <a:solidFill>
                  <a:prstClr val="black"/>
                </a:solidFill>
              </a:rPr>
            </a:br>
            <a:r>
              <a:rPr lang="en-US" altLang="en-US" sz="2800" dirty="0" smtClean="0">
                <a:solidFill>
                  <a:prstClr val="black"/>
                </a:solidFill>
              </a:rPr>
              <a:t>characters</a:t>
            </a:r>
            <a:r>
              <a:rPr lang="en-US" altLang="en-US" sz="2800" dirty="0">
                <a:solidFill>
                  <a:prstClr val="black"/>
                </a:solidFill>
              </a:rPr>
              <a:t>)  </a:t>
            </a:r>
          </a:p>
          <a:p>
            <a:pPr marL="1048360" lvl="2" indent="-26209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3200" dirty="0" smtClean="0">
                <a:solidFill>
                  <a:prstClr val="black"/>
                </a:solidFill>
              </a:rPr>
              <a:t>C-style: </a:t>
            </a:r>
            <a:endParaRPr lang="en-US" altLang="en-US" sz="3200" dirty="0">
              <a:solidFill>
                <a:prstClr val="black"/>
              </a:solidFill>
            </a:endParaRPr>
          </a:p>
          <a:p>
            <a:pPr marL="1467703" lvl="3" indent="-26209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2800" i="1" dirty="0">
                <a:solidFill>
                  <a:prstClr val="black"/>
                </a:solidFill>
              </a:rPr>
              <a:t>Arrays</a:t>
            </a:r>
            <a:r>
              <a:rPr lang="en-US" altLang="en-US" sz="2800" dirty="0">
                <a:solidFill>
                  <a:prstClr val="black"/>
                </a:solidFill>
              </a:rPr>
              <a:t>, </a:t>
            </a:r>
            <a:r>
              <a:rPr lang="en-US" altLang="en-US" sz="2800" i="1" dirty="0">
                <a:solidFill>
                  <a:prstClr val="black"/>
                </a:solidFill>
              </a:rPr>
              <a:t>Strings</a:t>
            </a:r>
            <a:r>
              <a:rPr lang="en-US" altLang="en-US" sz="2800" dirty="0">
                <a:solidFill>
                  <a:prstClr val="black"/>
                </a:solidFill>
              </a:rPr>
              <a:t> (arrays of </a:t>
            </a:r>
            <a:r>
              <a:rPr lang="en-US" altLang="en-US" sz="2800" dirty="0" smtClean="0">
                <a:solidFill>
                  <a:prstClr val="black"/>
                </a:solidFill>
              </a:rPr>
              <a:t>characters), </a:t>
            </a:r>
            <a:r>
              <a:rPr lang="en-US" altLang="en-US" sz="2800" i="1" dirty="0" smtClean="0">
                <a:solidFill>
                  <a:prstClr val="black"/>
                </a:solidFill>
              </a:rPr>
              <a:t>Linked </a:t>
            </a:r>
            <a:r>
              <a:rPr lang="en-US" altLang="en-US" sz="2800" i="1" dirty="0" err="1" smtClean="0">
                <a:solidFill>
                  <a:prstClr val="black"/>
                </a:solidFill>
              </a:rPr>
              <a:t>lists,etc</a:t>
            </a:r>
            <a:r>
              <a:rPr lang="en-US" altLang="en-US" sz="2800" i="1" dirty="0" smtClean="0">
                <a:solidFill>
                  <a:prstClr val="black"/>
                </a:solidFill>
              </a:rPr>
              <a:t>.</a:t>
            </a:r>
            <a:endParaRPr lang="en-US" altLang="en-US" sz="2800" i="1" dirty="0">
              <a:solidFill>
                <a:prstClr val="black"/>
              </a:solidFill>
            </a:endParaRPr>
          </a:p>
        </p:txBody>
      </p:sp>
      <p:sp>
        <p:nvSpPr>
          <p:cNvPr id="10" name="Title 1"/>
          <p:cNvSpPr txBox="1">
            <a:spLocks/>
          </p:cNvSpPr>
          <p:nvPr/>
        </p:nvSpPr>
        <p:spPr>
          <a:xfrm>
            <a:off x="1" y="0"/>
            <a:ext cx="9729788" cy="1077171"/>
          </a:xfrm>
          <a:prstGeom prst="rect">
            <a:avLst/>
          </a:prstGeom>
        </p:spPr>
        <p:txBody>
          <a:bodyPr vert="horz" lIns="83872" tIns="41936" rIns="83872" bIns="41936" rtlCol="0" anchor="ctr">
            <a:norm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400" dirty="0">
                <a:solidFill>
                  <a:srgbClr val="0070C0"/>
                </a:solidFill>
              </a:rPr>
              <a:t>Sets in Computer Languages</a:t>
            </a:r>
          </a:p>
        </p:txBody>
      </p:sp>
    </p:spTree>
    <p:extLst>
      <p:ext uri="{BB962C8B-B14F-4D97-AF65-F5344CB8AC3E}">
        <p14:creationId xmlns:p14="http://schemas.microsoft.com/office/powerpoint/2010/main" val="515476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1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6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9729788" cy="761999"/>
          </a:xfrm>
        </p:spPr>
        <p:txBody>
          <a:bodyPr>
            <a:normAutofit fontScale="90000"/>
          </a:bodyPr>
          <a:lstStyle/>
          <a:p>
            <a:pPr>
              <a:lnSpc>
                <a:spcPct val="75000"/>
              </a:lnSpc>
            </a:pPr>
            <a:r>
              <a:rPr lang="en-US" sz="3600" dirty="0" smtClean="0">
                <a:solidFill>
                  <a:srgbClr val="0070C0"/>
                </a:solidFill>
              </a:rPr>
              <a:t>Homework Assignment</a:t>
            </a:r>
            <a:br>
              <a:rPr lang="en-US" sz="3600" dirty="0" smtClean="0">
                <a:solidFill>
                  <a:srgbClr val="0070C0"/>
                </a:solidFill>
              </a:rPr>
            </a:br>
            <a:r>
              <a:rPr lang="en-US" sz="3100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Submit on Cyber University by March 16</a:t>
            </a:r>
            <a:r>
              <a:rPr lang="en-US" sz="3100" baseline="30000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</a:t>
            </a:r>
            <a:r>
              <a:rPr lang="en-US" sz="3100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at 11:59 pm</a:t>
            </a:r>
            <a:endParaRPr lang="en-US" sz="310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Content Placeholder 2"/>
          <p:cNvSpPr txBox="1">
            <a:spLocks/>
          </p:cNvSpPr>
          <p:nvPr/>
        </p:nvSpPr>
        <p:spPr>
          <a:xfrm>
            <a:off x="-11906" y="685800"/>
            <a:ext cx="9741694" cy="10486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436" indent="-182436" algn="l" defTabSz="729742" rtl="0" eaLnBrk="1" latinLnBrk="0" hangingPunct="1">
              <a:lnSpc>
                <a:spcPct val="90000"/>
              </a:lnSpc>
              <a:spcBef>
                <a:spcPts val="798"/>
              </a:spcBef>
              <a:buFont typeface="Arial" panose="020B0604020202020204" pitchFamily="34" charset="0"/>
              <a:buChar char="•"/>
              <a:defRPr sz="31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7307" indent="-182436" algn="l" defTabSz="729742" rtl="0" eaLnBrk="1" latinLnBrk="0" hangingPunct="1">
              <a:lnSpc>
                <a:spcPct val="90000"/>
              </a:lnSpc>
              <a:spcBef>
                <a:spcPts val="399"/>
              </a:spcBef>
              <a:buFont typeface="Arial" panose="020B0604020202020204" pitchFamily="34" charset="0"/>
              <a:buChar char="•"/>
              <a:defRPr sz="28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2177" indent="-182436" algn="l" defTabSz="729742" rtl="0" eaLnBrk="1" latinLnBrk="0" hangingPunct="1">
              <a:lnSpc>
                <a:spcPct val="90000"/>
              </a:lnSpc>
              <a:spcBef>
                <a:spcPts val="399"/>
              </a:spcBef>
              <a:buFont typeface="Arial" panose="020B0604020202020204" pitchFamily="34" charset="0"/>
              <a:buChar char="•"/>
              <a:defRPr sz="25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77049" indent="-182436" algn="l" defTabSz="729742" rtl="0" eaLnBrk="1" latinLnBrk="0" hangingPunct="1">
              <a:lnSpc>
                <a:spcPct val="90000"/>
              </a:lnSpc>
              <a:spcBef>
                <a:spcPts val="399"/>
              </a:spcBef>
              <a:buFont typeface="Arial" panose="020B0604020202020204" pitchFamily="34" charset="0"/>
              <a:buChar char="•"/>
              <a:defRPr sz="22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41920" indent="-182436" algn="l" defTabSz="729742" rtl="0" eaLnBrk="1" latinLnBrk="0" hangingPunct="1">
              <a:lnSpc>
                <a:spcPct val="90000"/>
              </a:lnSpc>
              <a:spcBef>
                <a:spcPts val="399"/>
              </a:spcBef>
              <a:buFont typeface="Arial" panose="020B0604020202020204" pitchFamily="34" charset="0"/>
              <a:buChar char="•"/>
              <a:defRPr sz="22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06790" indent="-182436" algn="l" defTabSz="729742" rtl="0" eaLnBrk="1" latinLnBrk="0" hangingPunct="1">
              <a:lnSpc>
                <a:spcPct val="90000"/>
              </a:lnSpc>
              <a:spcBef>
                <a:spcPts val="399"/>
              </a:spcBef>
              <a:buFont typeface="Arial" panose="020B0604020202020204" pitchFamily="34" charset="0"/>
              <a:buChar char="•"/>
              <a:defRPr sz="14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1662" indent="-182436" algn="l" defTabSz="729742" rtl="0" eaLnBrk="1" latinLnBrk="0" hangingPunct="1">
              <a:lnSpc>
                <a:spcPct val="90000"/>
              </a:lnSpc>
              <a:spcBef>
                <a:spcPts val="399"/>
              </a:spcBef>
              <a:buFont typeface="Arial" panose="020B0604020202020204" pitchFamily="34" charset="0"/>
              <a:buChar char="•"/>
              <a:defRPr sz="14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36533" indent="-182436" algn="l" defTabSz="729742" rtl="0" eaLnBrk="1" latinLnBrk="0" hangingPunct="1">
              <a:lnSpc>
                <a:spcPct val="90000"/>
              </a:lnSpc>
              <a:spcBef>
                <a:spcPts val="399"/>
              </a:spcBef>
              <a:buFont typeface="Arial" panose="020B0604020202020204" pitchFamily="34" charset="0"/>
              <a:buChar char="•"/>
              <a:defRPr sz="14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1404" indent="-182436" algn="l" defTabSz="729742" rtl="0" eaLnBrk="1" latinLnBrk="0" hangingPunct="1">
              <a:lnSpc>
                <a:spcPct val="90000"/>
              </a:lnSpc>
              <a:spcBef>
                <a:spcPts val="399"/>
              </a:spcBef>
              <a:buFont typeface="Arial" panose="020B0604020202020204" pitchFamily="34" charset="0"/>
              <a:buChar char="•"/>
              <a:defRPr sz="14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92894" y="762000"/>
            <a:ext cx="9436894" cy="609599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 smtClean="0">
                <a:solidFill>
                  <a:srgbClr val="0070C0"/>
                </a:solidFill>
              </a:rPr>
              <a:t>Here are some hints for the following assignment: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2000" dirty="0" smtClean="0"/>
              <a:t>It uses one of the functions given </a:t>
            </a:r>
            <a:r>
              <a:rPr lang="en-US" sz="2000" dirty="0" smtClean="0"/>
              <a:t>back on slide #</a:t>
            </a:r>
            <a:r>
              <a:rPr lang="en-US" sz="2000" dirty="0" smtClean="0"/>
              <a:t>115.</a:t>
            </a:r>
            <a:endParaRPr lang="en-US" sz="2000" dirty="0" smtClean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2000" dirty="0" smtClean="0"/>
              <a:t>It uses the slicing methods given on slides </a:t>
            </a:r>
            <a:r>
              <a:rPr lang="en-US" sz="2000" dirty="0" smtClean="0"/>
              <a:t>31-34.</a:t>
            </a:r>
            <a:endParaRPr lang="en-US" sz="2000" dirty="0" smtClean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2000" dirty="0" smtClean="0"/>
              <a:t>Solve the assignment by experimenting in interactive mode, before filling in the file.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2000" dirty="0" smtClean="0"/>
              <a:t>If you get stuck on the 1</a:t>
            </a:r>
            <a:r>
              <a:rPr lang="en-US" sz="2000" baseline="30000" dirty="0" smtClean="0"/>
              <a:t>st</a:t>
            </a:r>
            <a:r>
              <a:rPr lang="en-US" sz="2000" dirty="0" smtClean="0"/>
              <a:t> </a:t>
            </a:r>
            <a:r>
              <a:rPr lang="en-US" sz="2000" dirty="0" err="1" smtClean="0"/>
              <a:t>cmd</a:t>
            </a:r>
            <a:r>
              <a:rPr lang="en-US" sz="2000" dirty="0" smtClean="0"/>
              <a:t> string, try the 2</a:t>
            </a:r>
            <a:r>
              <a:rPr lang="en-US" sz="2000" baseline="30000" dirty="0" smtClean="0"/>
              <a:t>nd</a:t>
            </a:r>
            <a:r>
              <a:rPr lang="en-US" sz="2000" dirty="0" smtClean="0"/>
              <a:t> one. The two answers are independent.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2000" dirty="0" smtClean="0"/>
              <a:t>If you only get one of the two to work, comment out the other line when submitting your answer.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2400" dirty="0" smtClean="0">
                <a:solidFill>
                  <a:srgbClr val="0070C0"/>
                </a:solidFill>
              </a:rPr>
              <a:t>The assignment is to fill in 5 blanks in a python program that I am giving you, named PyHW.py. Those blanks to fill in are on these lines:</a:t>
            </a:r>
          </a:p>
          <a:p>
            <a:pPr marL="741363" indent="-741363">
              <a:buNone/>
            </a:pPr>
            <a:r>
              <a:rPr lang="en-US" sz="2000" dirty="0" smtClean="0"/>
              <a:t>Line 4: </a:t>
            </a:r>
            <a:r>
              <a:rPr lang="en-US" sz="2000" dirty="0"/>
              <a:t>	</a:t>
            </a:r>
            <a:r>
              <a:rPr lang="en-US" sz="2000" dirty="0" smtClean="0"/>
              <a:t># </a:t>
            </a:r>
            <a:r>
              <a:rPr lang="en-US" sz="2000" dirty="0"/>
              <a:t>Fill in this blank with your student ID number: ___________</a:t>
            </a:r>
          </a:p>
          <a:p>
            <a:pPr marL="741363" indent="-741363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2000" dirty="0"/>
              <a:t>Line </a:t>
            </a:r>
            <a:r>
              <a:rPr lang="en-US" sz="2000" dirty="0" smtClean="0"/>
              <a:t>31:	</a:t>
            </a:r>
            <a:r>
              <a:rPr lang="en-US" sz="2000" dirty="0" err="1" smtClean="0"/>
              <a:t>cmd</a:t>
            </a:r>
            <a:r>
              <a:rPr lang="en-US" sz="2000" dirty="0"/>
              <a:t>="p=_____;print(</a:t>
            </a:r>
            <a:r>
              <a:rPr lang="en-US" sz="2000" dirty="0" err="1"/>
              <a:t>s,t</a:t>
            </a:r>
            <a:r>
              <a:rPr lang="en-US" sz="2000" dirty="0"/>
              <a:t>,_____)"</a:t>
            </a:r>
          </a:p>
          <a:p>
            <a:pPr marL="741363" indent="-741363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2000" dirty="0" smtClean="0"/>
              <a:t>Line 52:	</a:t>
            </a:r>
            <a:r>
              <a:rPr lang="en-US" sz="2000" dirty="0" err="1" smtClean="0"/>
              <a:t>cmd</a:t>
            </a:r>
            <a:r>
              <a:rPr lang="en-US" sz="2000" dirty="0"/>
              <a:t>="p=_____;print(</a:t>
            </a:r>
            <a:r>
              <a:rPr lang="en-US" sz="2000" dirty="0" err="1"/>
              <a:t>s,t</a:t>
            </a:r>
            <a:r>
              <a:rPr lang="en-US" sz="2000" dirty="0" smtClean="0"/>
              <a:t>,_____)"</a:t>
            </a:r>
          </a:p>
          <a:p>
            <a:pPr marL="741363" indent="-741363">
              <a:lnSpc>
                <a:spcPct val="100000"/>
              </a:lnSpc>
              <a:spcBef>
                <a:spcPts val="1200"/>
              </a:spcBef>
              <a:buNone/>
            </a:pPr>
            <a:endParaRPr lang="en-US" sz="1000" dirty="0"/>
          </a:p>
          <a:p>
            <a:pPr marL="0" lvl="0" indent="0">
              <a:buNone/>
            </a:pPr>
            <a:r>
              <a:rPr lang="en-US" sz="2400" dirty="0" smtClean="0">
                <a:solidFill>
                  <a:srgbClr val="0070C0"/>
                </a:solidFill>
              </a:rPr>
              <a:t>Read the PyHW.py file that is posted to the </a:t>
            </a:r>
            <a:r>
              <a:rPr lang="en-US" sz="2400" dirty="0" err="1" smtClean="0">
                <a:solidFill>
                  <a:srgbClr val="0070C0"/>
                </a:solidFill>
              </a:rPr>
              <a:t>cyberuniversity</a:t>
            </a:r>
            <a:r>
              <a:rPr lang="en-US" sz="2400" dirty="0" smtClean="0">
                <a:solidFill>
                  <a:srgbClr val="0070C0"/>
                </a:solidFill>
              </a:rPr>
              <a:t> for the assignment details.  </a:t>
            </a:r>
            <a:r>
              <a:rPr lang="en-US" sz="2000" dirty="0" smtClean="0"/>
              <a:t>(I've also reproduced it here, on the next two slides...)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4195411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0"/>
            <a:ext cx="9513094" cy="6858000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700" spc="-100" dirty="0" smtClean="0">
                <a:latin typeface="Lucida Console" panose="020B0609040504020204" pitchFamily="49" charset="0"/>
              </a:rPr>
              <a:t>% </a:t>
            </a:r>
            <a:r>
              <a:rPr lang="en-US" sz="1700" spc="-100" dirty="0">
                <a:latin typeface="Lucida Console" panose="020B0609040504020204" pitchFamily="49" charset="0"/>
              </a:rPr>
              <a:t>cat PyHW.py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700" spc="-100" dirty="0">
                <a:latin typeface="Lucida Console" panose="020B0609040504020204" pitchFamily="49" charset="0"/>
              </a:rPr>
              <a:t># Python Programming Assignment #1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700" spc="-100" dirty="0">
                <a:latin typeface="Lucida Console" panose="020B0609040504020204" pitchFamily="49" charset="0"/>
              </a:rPr>
              <a:t># Due: March 16th, at 11:59 pm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700" spc="-100" dirty="0">
                <a:latin typeface="Lucida Console" panose="020B0609040504020204" pitchFamily="49" charset="0"/>
              </a:rPr>
              <a:t># Submission method -&gt; </a:t>
            </a:r>
            <a:r>
              <a:rPr lang="en-US" sz="1700" spc="-100" dirty="0" smtClean="0">
                <a:latin typeface="Lucida Console" panose="020B0609040504020204" pitchFamily="49" charset="0"/>
              </a:rPr>
              <a:t>Post </a:t>
            </a:r>
            <a:r>
              <a:rPr lang="en-US" sz="1700" spc="-100" dirty="0">
                <a:latin typeface="Lucida Console" panose="020B0609040504020204" pitchFamily="49" charset="0"/>
              </a:rPr>
              <a:t>to </a:t>
            </a:r>
            <a:r>
              <a:rPr lang="en-US" sz="1700" spc="-100" dirty="0" smtClean="0">
                <a:latin typeface="Lucida Console" panose="020B0609040504020204" pitchFamily="49" charset="0"/>
              </a:rPr>
              <a:t>the </a:t>
            </a:r>
            <a:r>
              <a:rPr lang="en-US" sz="1700" spc="-100" dirty="0" err="1">
                <a:latin typeface="Lucida Console" panose="020B0609040504020204" pitchFamily="49" charset="0"/>
              </a:rPr>
              <a:t>cyberuniversity</a:t>
            </a:r>
            <a:r>
              <a:rPr lang="en-US" sz="1700" spc="-100" dirty="0">
                <a:latin typeface="Lucida Console" panose="020B0609040504020204" pitchFamily="49" charset="0"/>
              </a:rPr>
              <a:t> (see Lecture 2 </a:t>
            </a:r>
            <a:r>
              <a:rPr lang="en-US" sz="1700" spc="-100" dirty="0" smtClean="0">
                <a:latin typeface="Lucida Console" panose="020B0609040504020204" pitchFamily="49" charset="0"/>
              </a:rPr>
              <a:t>for </a:t>
            </a:r>
            <a:r>
              <a:rPr lang="en-US" sz="1700" spc="-100" dirty="0">
                <a:latin typeface="Lucida Console" panose="020B0609040504020204" pitchFamily="49" charset="0"/>
              </a:rPr>
              <a:t>details).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700" spc="-100" dirty="0">
                <a:latin typeface="Lucida Console" panose="020B0609040504020204" pitchFamily="49" charset="0"/>
              </a:rPr>
              <a:t># Fill in this blank with your student ID number: ___________</a:t>
            </a:r>
          </a:p>
          <a:p>
            <a:pPr marL="0" indent="0">
              <a:spcBef>
                <a:spcPts val="0"/>
              </a:spcBef>
              <a:buNone/>
            </a:pPr>
            <a:endParaRPr lang="en-US" sz="1700" spc="-100" dirty="0">
              <a:latin typeface="Lucida Console" panose="020B06090405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700" spc="-100" dirty="0">
                <a:latin typeface="Lucida Console" panose="020B0609040504020204" pitchFamily="49" charset="0"/>
              </a:rPr>
              <a:t># An anagram is created by rearranging the letters of a word or phrase to form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700" spc="-100" dirty="0">
                <a:latin typeface="Lucida Console" panose="020B0609040504020204" pitchFamily="49" charset="0"/>
              </a:rPr>
              <a:t># a different word or phrase. Sometimes the anagram can seem related to the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700" spc="-100" dirty="0">
                <a:latin typeface="Lucida Console" panose="020B0609040504020204" pitchFamily="49" charset="0"/>
              </a:rPr>
              <a:t># original phrase as: "Debit card" =&gt; "Bad credit", "Classroom" =&gt; "School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700" spc="-100" dirty="0" smtClean="0">
                <a:latin typeface="Lucida Console" panose="020B0609040504020204" pitchFamily="49" charset="0"/>
              </a:rPr>
              <a:t># master</a:t>
            </a:r>
            <a:r>
              <a:rPr lang="en-US" sz="1700" spc="-100" dirty="0">
                <a:latin typeface="Lucida Console" panose="020B0609040504020204" pitchFamily="49" charset="0"/>
              </a:rPr>
              <a:t>", or "Snooze alarms" =&gt; "Alas! No more </a:t>
            </a:r>
            <a:r>
              <a:rPr lang="en-US" sz="1700" spc="-100" dirty="0" err="1">
                <a:latin typeface="Lucida Console" panose="020B0609040504020204" pitchFamily="49" charset="0"/>
              </a:rPr>
              <a:t>Zs</a:t>
            </a:r>
            <a:r>
              <a:rPr lang="en-US" sz="1700" spc="-100" dirty="0">
                <a:latin typeface="Lucida Console" panose="020B0609040504020204" pitchFamily="49" charset="0"/>
              </a:rPr>
              <a:t>".</a:t>
            </a:r>
          </a:p>
          <a:p>
            <a:pPr marL="0" indent="0">
              <a:spcBef>
                <a:spcPts val="0"/>
              </a:spcBef>
              <a:buNone/>
            </a:pPr>
            <a:endParaRPr lang="en-US" sz="1700" spc="-100" dirty="0">
              <a:latin typeface="Lucida Console" panose="020B06090405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700" spc="-100" dirty="0">
                <a:latin typeface="Lucida Console" panose="020B0609040504020204" pitchFamily="49" charset="0"/>
              </a:rPr>
              <a:t># In this homework we will create an anagram for "dormitory", by using the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700" spc="-100" dirty="0">
                <a:latin typeface="Lucida Console" panose="020B0609040504020204" pitchFamily="49" charset="0"/>
              </a:rPr>
              <a:t># slicing, concatenation, and sorting operations and functions that we have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700" spc="-100" dirty="0">
                <a:latin typeface="Lucida Console" panose="020B0609040504020204" pitchFamily="49" charset="0"/>
              </a:rPr>
              <a:t># covered in Lecture 2.</a:t>
            </a:r>
          </a:p>
          <a:p>
            <a:pPr marL="0" indent="0">
              <a:spcBef>
                <a:spcPts val="0"/>
              </a:spcBef>
              <a:buNone/>
            </a:pPr>
            <a:endParaRPr lang="en-US" sz="1700" spc="-100" dirty="0">
              <a:latin typeface="Lucida Console" panose="020B06090405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700" spc="-100" dirty="0">
                <a:latin typeface="Lucida Console" panose="020B0609040504020204" pitchFamily="49" charset="0"/>
              </a:rPr>
              <a:t># You will create the anagram by filling in the blanks in the program below.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700" spc="-100" dirty="0">
                <a:latin typeface="Lucida Console" panose="020B0609040504020204" pitchFamily="49" charset="0"/>
              </a:rPr>
              <a:t># Your solution must use exactly the set of letters that I've indicated, below.</a:t>
            </a:r>
          </a:p>
          <a:p>
            <a:pPr marL="0" indent="0">
              <a:spcBef>
                <a:spcPts val="0"/>
              </a:spcBef>
              <a:buNone/>
            </a:pPr>
            <a:endParaRPr lang="en-US" sz="1700" spc="-100" dirty="0">
              <a:latin typeface="Lucida Console" panose="020B06090405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700" spc="-100" dirty="0">
                <a:latin typeface="Lucida Console" panose="020B0609040504020204" pitchFamily="49" charset="0"/>
              </a:rPr>
              <a:t># The code below uses the exec command. This command simply lets a string get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700" spc="-100" dirty="0">
                <a:latin typeface="Lucida Console" panose="020B0609040504020204" pitchFamily="49" charset="0"/>
              </a:rPr>
              <a:t># executed as a command. For example: &gt;&gt;&gt; s="print('Hi');print('Bye')"; exec(s)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700" spc="-100" dirty="0">
                <a:latin typeface="Lucida Console" panose="020B0609040504020204" pitchFamily="49" charset="0"/>
              </a:rPr>
              <a:t># will print the same output as if you had typed: &gt;&gt;&gt; print('Hi');print('Bye</a:t>
            </a:r>
            <a:r>
              <a:rPr lang="en-US" sz="1700" spc="-100" dirty="0" smtClean="0">
                <a:latin typeface="Lucida Console" panose="020B0609040504020204" pitchFamily="49" charset="0"/>
              </a:rPr>
              <a:t>')</a:t>
            </a:r>
          </a:p>
          <a:p>
            <a:pPr marL="0" indent="0">
              <a:spcBef>
                <a:spcPts val="0"/>
              </a:spcBef>
              <a:buNone/>
            </a:pPr>
            <a:endParaRPr lang="en-US" sz="1700" spc="-100" dirty="0" smtClean="0">
              <a:latin typeface="Lucida Console" panose="020B06090405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700" spc="-100" dirty="0" smtClean="0">
                <a:latin typeface="Lucida Console" panose="020B0609040504020204" pitchFamily="49" charset="0"/>
              </a:rPr>
              <a:t># The reason we use the exec command is so that your answer will be a string,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700" spc="-100" dirty="0" smtClean="0">
                <a:latin typeface="Lucida Console" panose="020B0609040504020204" pitchFamily="49" charset="0"/>
              </a:rPr>
              <a:t># named cmd. This lets us print the letters that you used with: print(set(</a:t>
            </a:r>
            <a:r>
              <a:rPr lang="en-US" sz="1700" spc="-100" dirty="0" err="1" smtClean="0">
                <a:latin typeface="Lucida Console" panose="020B0609040504020204" pitchFamily="49" charset="0"/>
              </a:rPr>
              <a:t>cmd</a:t>
            </a:r>
            <a:r>
              <a:rPr lang="en-US" sz="1700" spc="-100" dirty="0" smtClean="0">
                <a:latin typeface="Lucida Console" panose="020B0609040504020204" pitchFamily="49" charset="0"/>
              </a:rPr>
              <a:t>))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700" spc="-100" dirty="0" smtClean="0">
                <a:latin typeface="Lucida Console" panose="020B0609040504020204" pitchFamily="49" charset="0"/>
              </a:rPr>
              <a:t># (Confused? See slide #115 of Lecture 2, where set('5.0') -&gt; {'.', '0', '5'}).</a:t>
            </a:r>
          </a:p>
          <a:p>
            <a:pPr marL="0" indent="0">
              <a:spcBef>
                <a:spcPts val="0"/>
              </a:spcBef>
              <a:buNone/>
            </a:pPr>
            <a:endParaRPr lang="en-US" sz="1700" spc="-100" dirty="0" smtClean="0">
              <a:latin typeface="Lucida Console" panose="020B06090405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700" spc="-100" dirty="0" smtClean="0">
                <a:latin typeface="Lucida Console" panose="020B0609040504020204" pitchFamily="49" charset="0"/>
              </a:rPr>
              <a:t># So with all of that out of the way, here is the program: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700" spc="-100" dirty="0" smtClean="0">
                <a:latin typeface="Lucida Console" panose="020B0609040504020204" pitchFamily="49" charset="0"/>
              </a:rPr>
              <a:t>print()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700" spc="-100" dirty="0" smtClean="0">
                <a:latin typeface="Lucida Console" panose="020B0609040504020204" pitchFamily="49" charset="0"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29019154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0"/>
            <a:ext cx="9513094" cy="6858000"/>
          </a:xfrm>
        </p:spPr>
        <p:txBody>
          <a:bodyPr>
            <a:noAutofit/>
          </a:bodyPr>
          <a:lstStyle/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1700" spc="-100" dirty="0" smtClean="0">
                <a:latin typeface="Lucida Console" panose="020B0609040504020204" pitchFamily="49" charset="0"/>
              </a:rPr>
              <a:t>s="dormitory";  t=" =&gt; "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endParaRPr lang="en-US" sz="700" spc="-100" dirty="0" smtClean="0">
              <a:latin typeface="Lucida Console" panose="020B0609040504020204" pitchFamily="49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1700" spc="-100" dirty="0" err="1" smtClean="0">
                <a:latin typeface="Lucida Console" panose="020B0609040504020204" pitchFamily="49" charset="0"/>
              </a:rPr>
              <a:t>cmd</a:t>
            </a:r>
            <a:r>
              <a:rPr lang="en-US" sz="1700" spc="-100" dirty="0" smtClean="0">
                <a:latin typeface="Lucida Console" panose="020B0609040504020204" pitchFamily="49" charset="0"/>
              </a:rPr>
              <a:t>="p=_____;print(</a:t>
            </a:r>
            <a:r>
              <a:rPr lang="en-US" sz="1700" spc="-100" dirty="0" err="1" smtClean="0">
                <a:latin typeface="Lucida Console" panose="020B0609040504020204" pitchFamily="49" charset="0"/>
              </a:rPr>
              <a:t>s,t</a:t>
            </a:r>
            <a:r>
              <a:rPr lang="en-US" sz="1700" spc="-100" dirty="0" smtClean="0">
                <a:latin typeface="Lucida Console" panose="020B0609040504020204" pitchFamily="49" charset="0"/>
              </a:rPr>
              <a:t>,_____)"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1700" spc="-100" dirty="0" smtClean="0">
                <a:latin typeface="Lucida Console" panose="020B0609040504020204" pitchFamily="49" charset="0"/>
              </a:rPr>
              <a:t># In the above, you need to fill in the 2 blanks. Once that's done, execute it: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endParaRPr lang="en-US" sz="700" spc="-100" dirty="0" smtClean="0">
              <a:latin typeface="Lucida Console" panose="020B0609040504020204" pitchFamily="49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1700" spc="-100" dirty="0" smtClean="0">
                <a:latin typeface="Lucida Console" panose="020B0609040504020204" pitchFamily="49" charset="0"/>
              </a:rPr>
              <a:t>exec(</a:t>
            </a:r>
            <a:r>
              <a:rPr lang="en-US" sz="1700" spc="-100" dirty="0" err="1" smtClean="0">
                <a:latin typeface="Lucida Console" panose="020B0609040504020204" pitchFamily="49" charset="0"/>
              </a:rPr>
              <a:t>cmd</a:t>
            </a:r>
            <a:r>
              <a:rPr lang="en-US" sz="1700" spc="-100" dirty="0" smtClean="0">
                <a:latin typeface="Lucida Console" panose="020B0609040504020204" pitchFamily="49" charset="0"/>
              </a:rPr>
              <a:t>)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1700" spc="-100" dirty="0" smtClean="0">
                <a:latin typeface="Lucida Console" panose="020B0609040504020204" pitchFamily="49" charset="0"/>
              </a:rPr>
              <a:t># Expected output of the previous line: dormitory  =&gt;  ['d', '</a:t>
            </a:r>
            <a:r>
              <a:rPr lang="en-US" sz="1700" spc="-100" dirty="0" err="1" smtClean="0">
                <a:latin typeface="Lucida Console" panose="020B0609040504020204" pitchFamily="49" charset="0"/>
              </a:rPr>
              <a:t>i</a:t>
            </a:r>
            <a:r>
              <a:rPr lang="en-US" sz="1700" spc="-100" dirty="0" smtClean="0">
                <a:latin typeface="Lucida Console" panose="020B0609040504020204" pitchFamily="49" charset="0"/>
              </a:rPr>
              <a:t>', 'r', 't', 'y', 'r', 'o', 'o', 'm']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endParaRPr lang="en-US" sz="700" spc="-100" dirty="0" smtClean="0">
              <a:latin typeface="Lucida Console" panose="020B0609040504020204" pitchFamily="49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1700" spc="-100" dirty="0" smtClean="0">
                <a:latin typeface="Lucida Console" panose="020B0609040504020204" pitchFamily="49" charset="0"/>
              </a:rPr>
              <a:t># But what commands must you use to make to work? You'll only use commands that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1700" spc="-100" dirty="0" smtClean="0">
                <a:latin typeface="Lucida Console" panose="020B0609040504020204" pitchFamily="49" charset="0"/>
              </a:rPr>
              <a:t># are covered in Lecture 2. It is helpful to see the letters in the solution: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endParaRPr lang="en-US" sz="700" spc="-100" dirty="0" smtClean="0">
              <a:latin typeface="Lucida Console" panose="020B0609040504020204" pitchFamily="49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1700" spc="-100" dirty="0" smtClean="0">
                <a:latin typeface="Lucida Console" panose="020B0609040504020204" pitchFamily="49" charset="0"/>
              </a:rPr>
              <a:t>print(set(</a:t>
            </a:r>
            <a:r>
              <a:rPr lang="en-US" sz="1700" spc="-100" dirty="0" err="1" smtClean="0">
                <a:latin typeface="Lucida Console" panose="020B0609040504020204" pitchFamily="49" charset="0"/>
              </a:rPr>
              <a:t>cmd</a:t>
            </a:r>
            <a:r>
              <a:rPr lang="en-US" sz="1700" spc="-100" dirty="0" smtClean="0">
                <a:latin typeface="Lucida Console" panose="020B0609040504020204" pitchFamily="49" charset="0"/>
              </a:rPr>
              <a:t>))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1700" spc="-100" dirty="0" smtClean="0">
                <a:latin typeface="Lucida Console" panose="020B0609040504020204" pitchFamily="49" charset="0"/>
              </a:rPr>
              <a:t># Expected output of the previous line: ['(', ')', '+', ',', '-', '1', '2', '3', '4', ':', ';', '=', '[', ']', 'd', 'e', '</a:t>
            </a:r>
            <a:r>
              <a:rPr lang="en-US" sz="1700" spc="-100" dirty="0" err="1" smtClean="0">
                <a:latin typeface="Lucida Console" panose="020B0609040504020204" pitchFamily="49" charset="0"/>
              </a:rPr>
              <a:t>i</a:t>
            </a:r>
            <a:r>
              <a:rPr lang="en-US" sz="1700" spc="-100" dirty="0" smtClean="0">
                <a:latin typeface="Lucida Console" panose="020B0609040504020204" pitchFamily="49" charset="0"/>
              </a:rPr>
              <a:t>', 'n', 'o', 'p', 'r', 's', 't']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1700" spc="-100" dirty="0" smtClean="0">
                <a:latin typeface="Lucida Console" panose="020B0609040504020204" pitchFamily="49" charset="0"/>
              </a:rPr>
              <a:t>#     (If your output is different, then you'll need to try again. Now, what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1700" spc="-100" dirty="0" smtClean="0">
                <a:latin typeface="Lucida Console" panose="020B0609040504020204" pitchFamily="49" charset="0"/>
              </a:rPr>
              <a:t>#     commands will you use? Well, clearly you only use commands that can be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1700" spc="-100" dirty="0" smtClean="0">
                <a:latin typeface="Lucida Console" panose="020B0609040504020204" pitchFamily="49" charset="0"/>
              </a:rPr>
              <a:t>#     spelled with the letters d, e, </a:t>
            </a:r>
            <a:r>
              <a:rPr lang="en-US" sz="1700" spc="-100" dirty="0" err="1" smtClean="0">
                <a:latin typeface="Lucida Console" panose="020B0609040504020204" pitchFamily="49" charset="0"/>
              </a:rPr>
              <a:t>i</a:t>
            </a:r>
            <a:r>
              <a:rPr lang="en-US" sz="1700" spc="-100" dirty="0" smtClean="0">
                <a:latin typeface="Lucida Console" panose="020B0609040504020204" pitchFamily="49" charset="0"/>
              </a:rPr>
              <a:t>, n, o, p, r, s, and t. Moreover, we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1700" spc="-100" dirty="0" smtClean="0">
                <a:latin typeface="Lucida Console" panose="020B0609040504020204" pitchFamily="49" charset="0"/>
              </a:rPr>
              <a:t>#     already know that p, r, </a:t>
            </a:r>
            <a:r>
              <a:rPr lang="en-US" sz="1700" spc="-100" dirty="0" err="1" smtClean="0">
                <a:latin typeface="Lucida Console" panose="020B0609040504020204" pitchFamily="49" charset="0"/>
              </a:rPr>
              <a:t>i</a:t>
            </a:r>
            <a:r>
              <a:rPr lang="en-US" sz="1700" spc="-100" dirty="0" smtClean="0">
                <a:latin typeface="Lucida Console" panose="020B0609040504020204" pitchFamily="49" charset="0"/>
              </a:rPr>
              <a:t>, n, and t are used, since we see those letters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1700" spc="-100" dirty="0" smtClean="0">
                <a:latin typeface="Lucida Console" panose="020B0609040504020204" pitchFamily="49" charset="0"/>
              </a:rPr>
              <a:t>#     already, in the part of the </a:t>
            </a:r>
            <a:r>
              <a:rPr lang="en-US" sz="1700" spc="-100" dirty="0" err="1" smtClean="0">
                <a:latin typeface="Lucida Console" panose="020B0609040504020204" pitchFamily="49" charset="0"/>
              </a:rPr>
              <a:t>cmd</a:t>
            </a:r>
            <a:r>
              <a:rPr lang="en-US" sz="1700" spc="-100" dirty="0" smtClean="0">
                <a:latin typeface="Lucida Console" panose="020B0609040504020204" pitchFamily="49" charset="0"/>
              </a:rPr>
              <a:t> string that is already given to you.)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endParaRPr lang="en-US" sz="700" spc="-100" dirty="0" smtClean="0">
              <a:latin typeface="Lucida Console" panose="020B0609040504020204" pitchFamily="49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1700" spc="-100" dirty="0" smtClean="0">
                <a:latin typeface="Lucida Console" panose="020B0609040504020204" pitchFamily="49" charset="0"/>
              </a:rPr>
              <a:t>print()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endParaRPr lang="en-US" sz="700" spc="-100" dirty="0" smtClean="0">
              <a:latin typeface="Lucida Console" panose="020B0609040504020204" pitchFamily="49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1700" spc="-100" dirty="0" smtClean="0">
                <a:latin typeface="Lucida Console" panose="020B0609040504020204" pitchFamily="49" charset="0"/>
              </a:rPr>
              <a:t># In the second part, we'll do the reverse, creating an anagram for dirty room: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1700" spc="-100" dirty="0" smtClean="0">
                <a:latin typeface="Lucida Console" panose="020B0609040504020204" pitchFamily="49" charset="0"/>
              </a:rPr>
              <a:t>s="dirty room"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1700" spc="-100" dirty="0" err="1" smtClean="0">
                <a:latin typeface="Lucida Console" panose="020B0609040504020204" pitchFamily="49" charset="0"/>
              </a:rPr>
              <a:t>cmd</a:t>
            </a:r>
            <a:r>
              <a:rPr lang="en-US" sz="1700" spc="-100" dirty="0" smtClean="0">
                <a:latin typeface="Lucida Console" panose="020B0609040504020204" pitchFamily="49" charset="0"/>
              </a:rPr>
              <a:t>="p=_____;print(</a:t>
            </a:r>
            <a:r>
              <a:rPr lang="en-US" sz="1700" spc="-100" dirty="0" err="1" smtClean="0">
                <a:latin typeface="Lucida Console" panose="020B0609040504020204" pitchFamily="49" charset="0"/>
              </a:rPr>
              <a:t>s,t</a:t>
            </a:r>
            <a:r>
              <a:rPr lang="en-US" sz="1700" spc="-100" dirty="0" smtClean="0">
                <a:latin typeface="Lucida Console" panose="020B0609040504020204" pitchFamily="49" charset="0"/>
              </a:rPr>
              <a:t>,_____)"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1700" spc="-100" dirty="0" smtClean="0">
                <a:latin typeface="Lucida Console" panose="020B0609040504020204" pitchFamily="49" charset="0"/>
              </a:rPr>
              <a:t># In the above, you again fill in 2 blanks. Once that's done, you execute it: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endParaRPr lang="en-US" sz="700" spc="-100" dirty="0" smtClean="0">
              <a:latin typeface="Lucida Console" panose="020B0609040504020204" pitchFamily="49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1700" spc="-100" dirty="0" smtClean="0">
                <a:latin typeface="Lucida Console" panose="020B0609040504020204" pitchFamily="49" charset="0"/>
              </a:rPr>
              <a:t>exec(</a:t>
            </a:r>
            <a:r>
              <a:rPr lang="en-US" sz="1700" spc="-100" dirty="0" err="1" smtClean="0">
                <a:latin typeface="Lucida Console" panose="020B0609040504020204" pitchFamily="49" charset="0"/>
              </a:rPr>
              <a:t>cmd</a:t>
            </a:r>
            <a:r>
              <a:rPr lang="en-US" sz="1700" spc="-100" dirty="0" smtClean="0">
                <a:latin typeface="Lucida Console" panose="020B0609040504020204" pitchFamily="49" charset="0"/>
              </a:rPr>
              <a:t>)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1700" spc="-100" dirty="0" smtClean="0">
                <a:latin typeface="Lucida Console" panose="020B0609040504020204" pitchFamily="49" charset="0"/>
              </a:rPr>
              <a:t># Expected output of the previous line: dirty room  =&gt;  dormitory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endParaRPr lang="en-US" sz="700" spc="-100" dirty="0" smtClean="0">
              <a:latin typeface="Lucida Console" panose="020B0609040504020204" pitchFamily="49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1700" spc="-100" dirty="0" smtClean="0">
                <a:latin typeface="Lucida Console" panose="020B0609040504020204" pitchFamily="49" charset="0"/>
              </a:rPr>
              <a:t>print(set(</a:t>
            </a:r>
            <a:r>
              <a:rPr lang="en-US" sz="1700" spc="-100" dirty="0" err="1" smtClean="0">
                <a:latin typeface="Lucida Console" panose="020B0609040504020204" pitchFamily="49" charset="0"/>
              </a:rPr>
              <a:t>cmd</a:t>
            </a:r>
            <a:r>
              <a:rPr lang="en-US" sz="1700" spc="-100" dirty="0" smtClean="0">
                <a:latin typeface="Lucida Console" panose="020B0609040504020204" pitchFamily="49" charset="0"/>
              </a:rPr>
              <a:t>))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1700" spc="-100" dirty="0" smtClean="0">
                <a:latin typeface="Lucida Console" panose="020B0609040504020204" pitchFamily="49" charset="0"/>
              </a:rPr>
              <a:t># Expected output of the previous line: ['(', ')', '+', ',', '-', '1', '2', '9', ':', ';', '=', '[', ']', '</a:t>
            </a:r>
            <a:r>
              <a:rPr lang="en-US" sz="1700" spc="-100" dirty="0" err="1" smtClean="0">
                <a:latin typeface="Lucida Console" panose="020B0609040504020204" pitchFamily="49" charset="0"/>
              </a:rPr>
              <a:t>i</a:t>
            </a:r>
            <a:r>
              <a:rPr lang="en-US" sz="1700" spc="-100" dirty="0" smtClean="0">
                <a:latin typeface="Lucida Console" panose="020B0609040504020204" pitchFamily="49" charset="0"/>
              </a:rPr>
              <a:t>', 'n', 'p', 'r', 's', 't']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endParaRPr lang="en-US" sz="600" spc="-100" dirty="0" smtClean="0">
              <a:latin typeface="Lucida Console" panose="020B0609040504020204" pitchFamily="49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1700" spc="-100" dirty="0" smtClean="0">
                <a:latin typeface="Lucida Console" panose="020B0609040504020204" pitchFamily="49" charset="0"/>
              </a:rPr>
              <a:t>print()</a:t>
            </a:r>
            <a:endParaRPr lang="en-US" sz="1700" spc="-10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49557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6096000"/>
            <a:ext cx="9729788" cy="7620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260"/>
          <a:stretch/>
        </p:blipFill>
        <p:spPr>
          <a:xfrm>
            <a:off x="0" y="0"/>
            <a:ext cx="9737766" cy="6172517"/>
          </a:xfrm>
          <a:prstGeom prst="rect">
            <a:avLst/>
          </a:prstGeom>
        </p:spPr>
      </p:pic>
      <p:sp>
        <p:nvSpPr>
          <p:cNvPr id="11" name="Rounded Rectangular Callout 10"/>
          <p:cNvSpPr/>
          <p:nvPr/>
        </p:nvSpPr>
        <p:spPr bwMode="auto">
          <a:xfrm>
            <a:off x="3752374" y="38100"/>
            <a:ext cx="3474720" cy="533400"/>
          </a:xfrm>
          <a:prstGeom prst="wedgeRoundRectCallout">
            <a:avLst>
              <a:gd name="adj1" fmla="val -65135"/>
              <a:gd name="adj2" fmla="val 40236"/>
              <a:gd name="adj3" fmla="val 16667"/>
            </a:avLst>
          </a:prstGeom>
          <a:solidFill>
            <a:srgbClr val="FF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pitchFamily="18" charset="-120"/>
              </a:rPr>
              <a:t>This is the </a:t>
            </a:r>
            <a:r>
              <a:rPr kumimoji="1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pitchFamily="18" charset="-120"/>
              </a:rPr>
              <a:t>cyberuniversity</a:t>
            </a:r>
            <a:r>
              <a:rPr kumimoji="1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pitchFamily="18" charset="-120"/>
              </a:rPr>
              <a:t>.</a:t>
            </a:r>
          </a:p>
        </p:txBody>
      </p:sp>
      <p:sp>
        <p:nvSpPr>
          <p:cNvPr id="12" name="Rounded Rectangular Callout 11"/>
          <p:cNvSpPr/>
          <p:nvPr/>
        </p:nvSpPr>
        <p:spPr bwMode="auto">
          <a:xfrm>
            <a:off x="3752374" y="609600"/>
            <a:ext cx="3474720" cy="533400"/>
          </a:xfrm>
          <a:prstGeom prst="wedgeRoundRectCallout">
            <a:avLst>
              <a:gd name="adj1" fmla="val -117612"/>
              <a:gd name="adj2" fmla="val -12235"/>
              <a:gd name="adj3" fmla="val 16667"/>
            </a:avLst>
          </a:prstGeom>
          <a:solidFill>
            <a:srgbClr val="FF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pitchFamily="18" charset="-120"/>
              </a:rPr>
              <a:t>This is our course website.</a:t>
            </a:r>
          </a:p>
        </p:txBody>
      </p:sp>
      <p:sp>
        <p:nvSpPr>
          <p:cNvPr id="13" name="Rounded Rectangular Callout 12"/>
          <p:cNvSpPr/>
          <p:nvPr/>
        </p:nvSpPr>
        <p:spPr bwMode="auto">
          <a:xfrm>
            <a:off x="3752374" y="1181100"/>
            <a:ext cx="3474720" cy="533400"/>
          </a:xfrm>
          <a:prstGeom prst="wedgeRoundRectCallout">
            <a:avLst>
              <a:gd name="adj1" fmla="val -127145"/>
              <a:gd name="adj2" fmla="val -5322"/>
              <a:gd name="adj3" fmla="val 16667"/>
            </a:avLst>
          </a:prstGeom>
          <a:solidFill>
            <a:srgbClr val="FF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pitchFamily="18" charset="-120"/>
              </a:rPr>
              <a:t>This is the</a:t>
            </a:r>
            <a:r>
              <a:rPr kumimoji="1" lang="en-US" sz="20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pitchFamily="18" charset="-120"/>
              </a:rPr>
              <a:t> page wher</a:t>
            </a:r>
            <a:r>
              <a:rPr lang="en-US" sz="2000" dirty="0" smtClean="0">
                <a:latin typeface="Arial" charset="0"/>
              </a:rPr>
              <a:t>e I post.</a:t>
            </a:r>
            <a:endParaRPr kumimoji="1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新細明體" pitchFamily="18" charset="-120"/>
            </a:endParaRPr>
          </a:p>
        </p:txBody>
      </p:sp>
      <p:sp>
        <p:nvSpPr>
          <p:cNvPr id="14" name="Rounded Rectangular Callout 13"/>
          <p:cNvSpPr/>
          <p:nvPr/>
        </p:nvSpPr>
        <p:spPr bwMode="auto">
          <a:xfrm>
            <a:off x="3798094" y="1752600"/>
            <a:ext cx="3429000" cy="457200"/>
          </a:xfrm>
          <a:prstGeom prst="wedgeRoundRectCallout">
            <a:avLst>
              <a:gd name="adj1" fmla="val -33447"/>
              <a:gd name="adj2" fmla="val 122476"/>
              <a:gd name="adj3" fmla="val 16667"/>
            </a:avLst>
          </a:prstGeom>
          <a:solidFill>
            <a:srgbClr val="FF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pitchFamily="18" charset="-120"/>
              </a:rPr>
              <a:t>Here are the files I've posted:</a:t>
            </a:r>
          </a:p>
        </p:txBody>
      </p:sp>
      <p:sp>
        <p:nvSpPr>
          <p:cNvPr id="15" name="Rounded Rectangular Callout 14"/>
          <p:cNvSpPr/>
          <p:nvPr/>
        </p:nvSpPr>
        <p:spPr bwMode="auto">
          <a:xfrm>
            <a:off x="3645694" y="3657600"/>
            <a:ext cx="3619500" cy="533400"/>
          </a:xfrm>
          <a:prstGeom prst="wedgeRoundRectCallout">
            <a:avLst>
              <a:gd name="adj1" fmla="val -128169"/>
              <a:gd name="adj2" fmla="val -123883"/>
              <a:gd name="adj3" fmla="val 16667"/>
            </a:avLst>
          </a:prstGeom>
          <a:solidFill>
            <a:srgbClr val="FF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86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sz="2000" b="0" i="0" u="none" strike="noStrike" cap="none" spc="-2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pitchFamily="18" charset="-120"/>
              </a:rPr>
              <a:t>  W</a:t>
            </a:r>
            <a:r>
              <a:rPr kumimoji="1" lang="en-US" sz="2000" b="0" i="0" u="none" strike="noStrike" cap="none" spc="-50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pitchFamily="18" charset="-120"/>
              </a:rPr>
              <a:t>h</a:t>
            </a:r>
            <a:r>
              <a:rPr kumimoji="1" lang="en-US" sz="2000" b="0" i="0" u="none" strike="noStrike" cap="none" spc="-2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pitchFamily="18" charset="-120"/>
              </a:rPr>
              <a:t>en</a:t>
            </a:r>
            <a:r>
              <a:rPr kumimoji="1" lang="en-US" b="0" i="0" u="none" strike="noStrike" cap="none" spc="-40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pitchFamily="18" charset="-120"/>
              </a:rPr>
              <a:t> </a:t>
            </a:r>
            <a:r>
              <a:rPr kumimoji="1" lang="en-US" sz="2000" b="0" i="0" u="none" strike="noStrike" cap="none" spc="-40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pitchFamily="18" charset="-120"/>
              </a:rPr>
              <a:t>yo</a:t>
            </a:r>
            <a:r>
              <a:rPr kumimoji="1" lang="en-US" sz="2000" b="0" i="0" u="none" strike="noStrike" cap="none" spc="-2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pitchFamily="18" charset="-120"/>
              </a:rPr>
              <a:t>u </a:t>
            </a:r>
            <a:r>
              <a:rPr kumimoji="1" lang="en-US" sz="20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pitchFamily="18" charset="-120"/>
              </a:rPr>
              <a:t>f</a:t>
            </a:r>
            <a:r>
              <a:rPr kumimoji="1" lang="en-US" sz="2000" b="0" i="0" u="none" strike="noStrike" cap="none" spc="-2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pitchFamily="18" charset="-120"/>
              </a:rPr>
              <a:t>inish</a:t>
            </a:r>
            <a:r>
              <a:rPr kumimoji="1" lang="en-US" b="0" i="0" u="none" strike="noStrike" cap="none" spc="-2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pitchFamily="18" charset="-120"/>
              </a:rPr>
              <a:t> </a:t>
            </a:r>
            <a:r>
              <a:rPr kumimoji="1" lang="en-US" sz="20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pitchFamily="18" charset="-120"/>
              </a:rPr>
              <a:t>t</a:t>
            </a:r>
            <a:r>
              <a:rPr kumimoji="1" lang="en-US" sz="2000" b="0" i="0" u="none" strike="noStrike" cap="none" spc="-40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pitchFamily="18" charset="-120"/>
              </a:rPr>
              <a:t>h</a:t>
            </a:r>
            <a:r>
              <a:rPr kumimoji="1" lang="en-US" sz="2000" b="0" i="0" u="none" strike="noStrike" cap="none" spc="-2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pitchFamily="18" charset="-120"/>
              </a:rPr>
              <a:t>e</a:t>
            </a:r>
            <a:r>
              <a:rPr kumimoji="1" lang="en-US" b="0" i="0" u="none" strike="noStrike" cap="none" spc="-2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pitchFamily="18" charset="-120"/>
              </a:rPr>
              <a:t> </a:t>
            </a:r>
            <a:r>
              <a:rPr kumimoji="1" lang="en-US" sz="2000" b="0" i="0" u="none" strike="noStrike" cap="none" spc="-2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pitchFamily="18" charset="-120"/>
              </a:rPr>
              <a:t>assig</a:t>
            </a:r>
            <a:r>
              <a:rPr kumimoji="1" lang="en-US" sz="2000" b="0" i="0" u="none" strike="noStrike" cap="none" spc="-30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pitchFamily="18" charset="-120"/>
              </a:rPr>
              <a:t>nm</a:t>
            </a:r>
            <a:r>
              <a:rPr kumimoji="1" lang="en-US" sz="2000" b="0" i="0" u="none" strike="noStrike" cap="none" spc="-2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pitchFamily="18" charset="-120"/>
              </a:rPr>
              <a:t>en</a:t>
            </a:r>
            <a:r>
              <a:rPr kumimoji="1" lang="en-US" sz="2000" b="0" i="0" u="none" strike="noStrike" cap="none" spc="-60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pitchFamily="18" charset="-120"/>
              </a:rPr>
              <a:t>t</a:t>
            </a:r>
            <a:r>
              <a:rPr kumimoji="1" lang="en-US" sz="2000" b="0" i="0" u="none" strike="noStrike" cap="none" spc="-2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pitchFamily="18" charset="-120"/>
              </a:rPr>
              <a:t>,</a:t>
            </a:r>
            <a:r>
              <a:rPr kumimoji="1" lang="en-US" sz="2000" b="0" i="0" u="none" strike="noStrike" cap="none" spc="-20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pitchFamily="18" charset="-120"/>
              </a:rPr>
              <a:t> </a:t>
            </a:r>
            <a:br>
              <a:rPr kumimoji="1" lang="en-US" sz="2000" b="0" i="0" u="none" strike="noStrike" cap="none" spc="-20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pitchFamily="18" charset="-120"/>
              </a:rPr>
            </a:br>
            <a:r>
              <a:rPr kumimoji="1" lang="en-US" sz="20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pitchFamily="18" charset="-120"/>
              </a:rPr>
              <a:t>this where you go to upload it.</a:t>
            </a:r>
            <a:endParaRPr kumimoji="1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新細明體" pitchFamily="18" charset="-120"/>
            </a:endParaRPr>
          </a:p>
        </p:txBody>
      </p:sp>
      <p:sp>
        <p:nvSpPr>
          <p:cNvPr id="16" name="Rounded Rectangular Callout 15"/>
          <p:cNvSpPr/>
          <p:nvPr/>
        </p:nvSpPr>
        <p:spPr bwMode="auto">
          <a:xfrm>
            <a:off x="5398294" y="2286000"/>
            <a:ext cx="3962400" cy="457200"/>
          </a:xfrm>
          <a:prstGeom prst="wedgeRoundRectCallout">
            <a:avLst>
              <a:gd name="adj1" fmla="val -64716"/>
              <a:gd name="adj2" fmla="val 129650"/>
              <a:gd name="adj3" fmla="val 16667"/>
            </a:avLst>
          </a:prstGeom>
          <a:solidFill>
            <a:srgbClr val="FF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1" hangingPunct="1">
              <a:lnSpc>
                <a:spcPct val="85000"/>
              </a:lnSpc>
            </a:pPr>
            <a:r>
              <a:rPr kumimoji="1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pitchFamily="18" charset="-120"/>
              </a:rPr>
              <a:t>T</a:t>
            </a:r>
            <a:r>
              <a:rPr kumimoji="1" lang="en-US" sz="2000" b="0" i="0" u="none" strike="noStrike" cap="none" spc="-50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pitchFamily="18" charset="-120"/>
              </a:rPr>
              <a:t>he</a:t>
            </a:r>
            <a:r>
              <a:rPr kumimoji="1" lang="en-US" sz="1600" b="0" i="0" u="none" strike="noStrike" cap="none" spc="-50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pitchFamily="18" charset="-120"/>
              </a:rPr>
              <a:t> </a:t>
            </a:r>
            <a:r>
              <a:rPr kumimoji="1" lang="en-US" sz="2000" b="0" i="0" u="none" strike="noStrike" cap="none" spc="-50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pitchFamily="18" charset="-120"/>
              </a:rPr>
              <a:t>l</a:t>
            </a:r>
            <a:r>
              <a:rPr kumimoji="1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pitchFamily="18" charset="-120"/>
              </a:rPr>
              <a:t>ecture</a:t>
            </a:r>
            <a:r>
              <a:rPr kumimoji="1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pitchFamily="18" charset="-120"/>
              </a:rPr>
              <a:t> </a:t>
            </a:r>
            <a:r>
              <a:rPr lang="en-US" sz="2000" spc="-50" dirty="0" smtClean="0">
                <a:latin typeface="Arial" charset="0"/>
              </a:rPr>
              <a:t>no</a:t>
            </a:r>
            <a:r>
              <a:rPr kumimoji="1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pitchFamily="18" charset="-120"/>
              </a:rPr>
              <a:t>tes</a:t>
            </a:r>
            <a:r>
              <a:rPr kumimoji="1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pitchFamily="18" charset="-120"/>
              </a:rPr>
              <a:t> </a:t>
            </a:r>
            <a:r>
              <a:rPr kumimoji="1" lang="en-US" sz="2000" b="0" i="0" u="none" strike="noStrike" cap="none" spc="-100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pitchFamily="18" charset="-120"/>
              </a:rPr>
              <a:t>you'</a:t>
            </a:r>
            <a:r>
              <a:rPr kumimoji="1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pitchFamily="18" charset="-120"/>
              </a:rPr>
              <a:t>re</a:t>
            </a:r>
            <a:r>
              <a:rPr kumimoji="1" lang="en-US" sz="16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pitchFamily="18" charset="-120"/>
              </a:rPr>
              <a:t> </a:t>
            </a:r>
            <a:r>
              <a:rPr kumimoji="1" lang="en-US" sz="20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pitchFamily="18" charset="-120"/>
              </a:rPr>
              <a:t>v</a:t>
            </a:r>
            <a:r>
              <a:rPr kumimoji="1" lang="en-US" sz="2000" b="0" i="0" u="none" strike="noStrike" cap="none" spc="-100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pitchFamily="18" charset="-120"/>
              </a:rPr>
              <a:t>ie</a:t>
            </a:r>
            <a:r>
              <a:rPr kumimoji="1" lang="en-US" sz="20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pitchFamily="18" charset="-120"/>
              </a:rPr>
              <a:t>w</a:t>
            </a:r>
            <a:r>
              <a:rPr kumimoji="1" lang="en-US" sz="2000" b="0" i="0" u="none" strike="noStrike" cap="none" spc="-50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pitchFamily="18" charset="-120"/>
              </a:rPr>
              <a:t>i</a:t>
            </a:r>
            <a:r>
              <a:rPr kumimoji="1" lang="en-US" sz="2000" b="0" i="0" u="none" strike="noStrike" cap="none" spc="-70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pitchFamily="18" charset="-120"/>
              </a:rPr>
              <a:t>ng </a:t>
            </a:r>
            <a:r>
              <a:rPr kumimoji="1" lang="en-US" sz="2000" b="0" i="0" u="none" strike="noStrike" cap="none" spc="-90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pitchFamily="18" charset="-120"/>
              </a:rPr>
              <a:t>no</a:t>
            </a:r>
            <a:r>
              <a:rPr kumimoji="1" lang="en-US" sz="2000" b="0" i="0" u="none" strike="noStrike" cap="none" spc="-160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pitchFamily="18" charset="-120"/>
              </a:rPr>
              <a:t>w</a:t>
            </a:r>
            <a:r>
              <a:rPr kumimoji="1" lang="en-US" sz="20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pitchFamily="18" charset="-120"/>
              </a:rPr>
              <a:t>.</a:t>
            </a:r>
            <a:endParaRPr kumimoji="1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新細明體" pitchFamily="18" charset="-120"/>
            </a:endParaRPr>
          </a:p>
        </p:txBody>
      </p:sp>
      <p:sp>
        <p:nvSpPr>
          <p:cNvPr id="17" name="Rounded Rectangular Callout 16"/>
          <p:cNvSpPr/>
          <p:nvPr/>
        </p:nvSpPr>
        <p:spPr bwMode="auto">
          <a:xfrm>
            <a:off x="5398294" y="2895600"/>
            <a:ext cx="3962400" cy="647700"/>
          </a:xfrm>
          <a:prstGeom prst="wedgeRoundRectCallout">
            <a:avLst>
              <a:gd name="adj1" fmla="val -65288"/>
              <a:gd name="adj2" fmla="val -60258"/>
              <a:gd name="adj3" fmla="val 16667"/>
            </a:avLst>
          </a:prstGeom>
          <a:solidFill>
            <a:srgbClr val="FF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pitchFamily="18" charset="-120"/>
              </a:rPr>
              <a:t>The first assignment.</a:t>
            </a:r>
            <a:r>
              <a:rPr lang="en-US" sz="2000" dirty="0">
                <a:latin typeface="Arial" charset="0"/>
              </a:rPr>
              <a:t> </a:t>
            </a:r>
            <a:r>
              <a:rPr lang="en-US" sz="2000" dirty="0" smtClean="0">
                <a:latin typeface="Arial" charset="0"/>
              </a:rPr>
              <a:t>Download </a:t>
            </a:r>
            <a:br>
              <a:rPr lang="en-US" sz="2000" dirty="0" smtClean="0">
                <a:latin typeface="Arial" charset="0"/>
              </a:rPr>
            </a:br>
            <a:r>
              <a:rPr lang="en-US" sz="2000" dirty="0" smtClean="0">
                <a:latin typeface="Arial" charset="0"/>
              </a:rPr>
              <a:t>the file attached to this post. 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C9C9C9"/>
              </a:clrFrom>
              <a:clrTo>
                <a:srgbClr val="C9C9C9">
                  <a:alpha val="0"/>
                </a:srgbClr>
              </a:clrTo>
            </a:clrChange>
          </a:blip>
          <a:srcRect l="77663"/>
          <a:stretch/>
        </p:blipFill>
        <p:spPr>
          <a:xfrm>
            <a:off x="4048037" y="3051381"/>
            <a:ext cx="112764" cy="16266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1131024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6096000"/>
            <a:ext cx="9729788" cy="7620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260"/>
          <a:stretch/>
        </p:blipFill>
        <p:spPr>
          <a:xfrm>
            <a:off x="0" y="0"/>
            <a:ext cx="9737766" cy="6172517"/>
          </a:xfrm>
          <a:prstGeom prst="rect">
            <a:avLst/>
          </a:prstGeom>
        </p:spPr>
      </p:pic>
      <p:sp>
        <p:nvSpPr>
          <p:cNvPr id="11" name="Rounded Rectangular Callout 10"/>
          <p:cNvSpPr/>
          <p:nvPr/>
        </p:nvSpPr>
        <p:spPr bwMode="auto">
          <a:xfrm>
            <a:off x="3752374" y="38100"/>
            <a:ext cx="3474720" cy="533400"/>
          </a:xfrm>
          <a:prstGeom prst="wedgeRoundRectCallout">
            <a:avLst>
              <a:gd name="adj1" fmla="val -65135"/>
              <a:gd name="adj2" fmla="val 40236"/>
              <a:gd name="adj3" fmla="val 16667"/>
            </a:avLst>
          </a:prstGeom>
          <a:solidFill>
            <a:srgbClr val="FF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pitchFamily="18" charset="-120"/>
              </a:rPr>
              <a:t>This is the </a:t>
            </a:r>
            <a:r>
              <a:rPr kumimoji="1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pitchFamily="18" charset="-120"/>
              </a:rPr>
              <a:t>cyberuniversity</a:t>
            </a:r>
            <a:r>
              <a:rPr kumimoji="1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pitchFamily="18" charset="-120"/>
              </a:rPr>
              <a:t>.</a:t>
            </a:r>
          </a:p>
        </p:txBody>
      </p:sp>
      <p:sp>
        <p:nvSpPr>
          <p:cNvPr id="12" name="Rounded Rectangular Callout 11"/>
          <p:cNvSpPr/>
          <p:nvPr/>
        </p:nvSpPr>
        <p:spPr bwMode="auto">
          <a:xfrm>
            <a:off x="3752374" y="609600"/>
            <a:ext cx="3474720" cy="533400"/>
          </a:xfrm>
          <a:prstGeom prst="wedgeRoundRectCallout">
            <a:avLst>
              <a:gd name="adj1" fmla="val -117612"/>
              <a:gd name="adj2" fmla="val -12235"/>
              <a:gd name="adj3" fmla="val 16667"/>
            </a:avLst>
          </a:prstGeom>
          <a:solidFill>
            <a:srgbClr val="FF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pitchFamily="18" charset="-120"/>
              </a:rPr>
              <a:t>This is our course website.</a:t>
            </a:r>
          </a:p>
        </p:txBody>
      </p:sp>
      <p:sp>
        <p:nvSpPr>
          <p:cNvPr id="13" name="Rounded Rectangular Callout 12"/>
          <p:cNvSpPr/>
          <p:nvPr/>
        </p:nvSpPr>
        <p:spPr bwMode="auto">
          <a:xfrm>
            <a:off x="3752374" y="1181100"/>
            <a:ext cx="3474720" cy="533400"/>
          </a:xfrm>
          <a:prstGeom prst="wedgeRoundRectCallout">
            <a:avLst>
              <a:gd name="adj1" fmla="val -127145"/>
              <a:gd name="adj2" fmla="val -5322"/>
              <a:gd name="adj3" fmla="val 16667"/>
            </a:avLst>
          </a:prstGeom>
          <a:solidFill>
            <a:srgbClr val="FF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pitchFamily="18" charset="-120"/>
              </a:rPr>
              <a:t>This is the</a:t>
            </a:r>
            <a:r>
              <a:rPr kumimoji="1" lang="en-US" sz="20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pitchFamily="18" charset="-120"/>
              </a:rPr>
              <a:t> page wher</a:t>
            </a:r>
            <a:r>
              <a:rPr lang="en-US" sz="2000" dirty="0" smtClean="0">
                <a:latin typeface="Arial" charset="0"/>
              </a:rPr>
              <a:t>e I post.</a:t>
            </a:r>
            <a:endParaRPr kumimoji="1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新細明體" pitchFamily="18" charset="-120"/>
            </a:endParaRPr>
          </a:p>
        </p:txBody>
      </p:sp>
      <p:sp>
        <p:nvSpPr>
          <p:cNvPr id="14" name="Rounded Rectangular Callout 13"/>
          <p:cNvSpPr/>
          <p:nvPr/>
        </p:nvSpPr>
        <p:spPr bwMode="auto">
          <a:xfrm>
            <a:off x="3798094" y="1752600"/>
            <a:ext cx="3429000" cy="457200"/>
          </a:xfrm>
          <a:prstGeom prst="wedgeRoundRectCallout">
            <a:avLst>
              <a:gd name="adj1" fmla="val -33447"/>
              <a:gd name="adj2" fmla="val 122476"/>
              <a:gd name="adj3" fmla="val 16667"/>
            </a:avLst>
          </a:prstGeom>
          <a:solidFill>
            <a:srgbClr val="FF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pitchFamily="18" charset="-120"/>
              </a:rPr>
              <a:t>Here are the files I've posted:</a:t>
            </a:r>
          </a:p>
        </p:txBody>
      </p:sp>
      <p:sp>
        <p:nvSpPr>
          <p:cNvPr id="15" name="Rounded Rectangular Callout 14"/>
          <p:cNvSpPr/>
          <p:nvPr/>
        </p:nvSpPr>
        <p:spPr bwMode="auto">
          <a:xfrm>
            <a:off x="3645694" y="3657600"/>
            <a:ext cx="3619500" cy="533400"/>
          </a:xfrm>
          <a:prstGeom prst="wedgeRoundRectCallout">
            <a:avLst>
              <a:gd name="adj1" fmla="val -128169"/>
              <a:gd name="adj2" fmla="val -123883"/>
              <a:gd name="adj3" fmla="val 16667"/>
            </a:avLst>
          </a:prstGeom>
          <a:solidFill>
            <a:srgbClr val="FF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86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sz="2000" b="0" i="0" u="none" strike="noStrike" cap="none" spc="-2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pitchFamily="18" charset="-120"/>
              </a:rPr>
              <a:t>  W</a:t>
            </a:r>
            <a:r>
              <a:rPr kumimoji="1" lang="en-US" sz="2000" b="0" i="0" u="none" strike="noStrike" cap="none" spc="-50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pitchFamily="18" charset="-120"/>
              </a:rPr>
              <a:t>h</a:t>
            </a:r>
            <a:r>
              <a:rPr kumimoji="1" lang="en-US" sz="2000" b="0" i="0" u="none" strike="noStrike" cap="none" spc="-2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pitchFamily="18" charset="-120"/>
              </a:rPr>
              <a:t>en</a:t>
            </a:r>
            <a:r>
              <a:rPr kumimoji="1" lang="en-US" b="0" i="0" u="none" strike="noStrike" cap="none" spc="-40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pitchFamily="18" charset="-120"/>
              </a:rPr>
              <a:t> </a:t>
            </a:r>
            <a:r>
              <a:rPr kumimoji="1" lang="en-US" sz="2000" b="0" i="0" u="none" strike="noStrike" cap="none" spc="-40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pitchFamily="18" charset="-120"/>
              </a:rPr>
              <a:t>yo</a:t>
            </a:r>
            <a:r>
              <a:rPr kumimoji="1" lang="en-US" sz="2000" b="0" i="0" u="none" strike="noStrike" cap="none" spc="-2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pitchFamily="18" charset="-120"/>
              </a:rPr>
              <a:t>u </a:t>
            </a:r>
            <a:r>
              <a:rPr kumimoji="1" lang="en-US" sz="20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pitchFamily="18" charset="-120"/>
              </a:rPr>
              <a:t>f</a:t>
            </a:r>
            <a:r>
              <a:rPr kumimoji="1" lang="en-US" sz="2000" b="0" i="0" u="none" strike="noStrike" cap="none" spc="-2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pitchFamily="18" charset="-120"/>
              </a:rPr>
              <a:t>inish</a:t>
            </a:r>
            <a:r>
              <a:rPr kumimoji="1" lang="en-US" b="0" i="0" u="none" strike="noStrike" cap="none" spc="-2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pitchFamily="18" charset="-120"/>
              </a:rPr>
              <a:t> </a:t>
            </a:r>
            <a:r>
              <a:rPr kumimoji="1" lang="en-US" sz="20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pitchFamily="18" charset="-120"/>
              </a:rPr>
              <a:t>t</a:t>
            </a:r>
            <a:r>
              <a:rPr kumimoji="1" lang="en-US" sz="2000" b="0" i="0" u="none" strike="noStrike" cap="none" spc="-40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pitchFamily="18" charset="-120"/>
              </a:rPr>
              <a:t>h</a:t>
            </a:r>
            <a:r>
              <a:rPr kumimoji="1" lang="en-US" sz="2000" b="0" i="0" u="none" strike="noStrike" cap="none" spc="-2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pitchFamily="18" charset="-120"/>
              </a:rPr>
              <a:t>e</a:t>
            </a:r>
            <a:r>
              <a:rPr kumimoji="1" lang="en-US" b="0" i="0" u="none" strike="noStrike" cap="none" spc="-2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pitchFamily="18" charset="-120"/>
              </a:rPr>
              <a:t> </a:t>
            </a:r>
            <a:r>
              <a:rPr kumimoji="1" lang="en-US" sz="2000" b="0" i="0" u="none" strike="noStrike" cap="none" spc="-2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pitchFamily="18" charset="-120"/>
              </a:rPr>
              <a:t>assig</a:t>
            </a:r>
            <a:r>
              <a:rPr kumimoji="1" lang="en-US" sz="2000" b="0" i="0" u="none" strike="noStrike" cap="none" spc="-30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pitchFamily="18" charset="-120"/>
              </a:rPr>
              <a:t>nm</a:t>
            </a:r>
            <a:r>
              <a:rPr kumimoji="1" lang="en-US" sz="2000" b="0" i="0" u="none" strike="noStrike" cap="none" spc="-2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pitchFamily="18" charset="-120"/>
              </a:rPr>
              <a:t>en</a:t>
            </a:r>
            <a:r>
              <a:rPr kumimoji="1" lang="en-US" sz="2000" b="0" i="0" u="none" strike="noStrike" cap="none" spc="-60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pitchFamily="18" charset="-120"/>
              </a:rPr>
              <a:t>t</a:t>
            </a:r>
            <a:r>
              <a:rPr kumimoji="1" lang="en-US" sz="2000" b="0" i="0" u="none" strike="noStrike" cap="none" spc="-2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pitchFamily="18" charset="-120"/>
              </a:rPr>
              <a:t>,</a:t>
            </a:r>
            <a:r>
              <a:rPr kumimoji="1" lang="en-US" sz="2000" b="0" i="0" u="none" strike="noStrike" cap="none" spc="-20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pitchFamily="18" charset="-120"/>
              </a:rPr>
              <a:t> </a:t>
            </a:r>
            <a:br>
              <a:rPr kumimoji="1" lang="en-US" sz="2000" b="0" i="0" u="none" strike="noStrike" cap="none" spc="-20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pitchFamily="18" charset="-120"/>
              </a:rPr>
            </a:br>
            <a:r>
              <a:rPr kumimoji="1" lang="en-US" sz="20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pitchFamily="18" charset="-120"/>
              </a:rPr>
              <a:t>this where you go to upload it.</a:t>
            </a:r>
            <a:endParaRPr kumimoji="1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新細明體" pitchFamily="18" charset="-120"/>
            </a:endParaRPr>
          </a:p>
        </p:txBody>
      </p:sp>
      <p:sp>
        <p:nvSpPr>
          <p:cNvPr id="16" name="Rounded Rectangular Callout 15"/>
          <p:cNvSpPr/>
          <p:nvPr/>
        </p:nvSpPr>
        <p:spPr bwMode="auto">
          <a:xfrm>
            <a:off x="5398294" y="2286000"/>
            <a:ext cx="3962400" cy="457200"/>
          </a:xfrm>
          <a:prstGeom prst="wedgeRoundRectCallout">
            <a:avLst>
              <a:gd name="adj1" fmla="val -64716"/>
              <a:gd name="adj2" fmla="val 129650"/>
              <a:gd name="adj3" fmla="val 16667"/>
            </a:avLst>
          </a:prstGeom>
          <a:solidFill>
            <a:srgbClr val="FF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1" hangingPunct="1">
              <a:lnSpc>
                <a:spcPct val="85000"/>
              </a:lnSpc>
            </a:pPr>
            <a:r>
              <a:rPr kumimoji="1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pitchFamily="18" charset="-120"/>
              </a:rPr>
              <a:t>T</a:t>
            </a:r>
            <a:r>
              <a:rPr kumimoji="1" lang="en-US" sz="2000" b="0" i="0" u="none" strike="noStrike" cap="none" spc="-50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pitchFamily="18" charset="-120"/>
              </a:rPr>
              <a:t>he</a:t>
            </a:r>
            <a:r>
              <a:rPr kumimoji="1" lang="en-US" sz="1600" b="0" i="0" u="none" strike="noStrike" cap="none" spc="-50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pitchFamily="18" charset="-120"/>
              </a:rPr>
              <a:t> </a:t>
            </a:r>
            <a:r>
              <a:rPr kumimoji="1" lang="en-US" sz="2000" b="0" i="0" u="none" strike="noStrike" cap="none" spc="-50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pitchFamily="18" charset="-120"/>
              </a:rPr>
              <a:t>l</a:t>
            </a:r>
            <a:r>
              <a:rPr kumimoji="1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pitchFamily="18" charset="-120"/>
              </a:rPr>
              <a:t>ecture</a:t>
            </a:r>
            <a:r>
              <a:rPr kumimoji="1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pitchFamily="18" charset="-120"/>
              </a:rPr>
              <a:t> </a:t>
            </a:r>
            <a:r>
              <a:rPr lang="en-US" sz="2000" spc="-50" dirty="0" smtClean="0">
                <a:latin typeface="Arial" charset="0"/>
              </a:rPr>
              <a:t>no</a:t>
            </a:r>
            <a:r>
              <a:rPr kumimoji="1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pitchFamily="18" charset="-120"/>
              </a:rPr>
              <a:t>tes</a:t>
            </a:r>
            <a:r>
              <a:rPr kumimoji="1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pitchFamily="18" charset="-120"/>
              </a:rPr>
              <a:t> </a:t>
            </a:r>
            <a:r>
              <a:rPr kumimoji="1" lang="en-US" sz="2000" b="0" i="0" u="none" strike="noStrike" cap="none" spc="-100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pitchFamily="18" charset="-120"/>
              </a:rPr>
              <a:t>you'</a:t>
            </a:r>
            <a:r>
              <a:rPr kumimoji="1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pitchFamily="18" charset="-120"/>
              </a:rPr>
              <a:t>re</a:t>
            </a:r>
            <a:r>
              <a:rPr kumimoji="1" lang="en-US" sz="16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pitchFamily="18" charset="-120"/>
              </a:rPr>
              <a:t> </a:t>
            </a:r>
            <a:r>
              <a:rPr kumimoji="1" lang="en-US" sz="20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pitchFamily="18" charset="-120"/>
              </a:rPr>
              <a:t>v</a:t>
            </a:r>
            <a:r>
              <a:rPr kumimoji="1" lang="en-US" sz="2000" b="0" i="0" u="none" strike="noStrike" cap="none" spc="-100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pitchFamily="18" charset="-120"/>
              </a:rPr>
              <a:t>ie</a:t>
            </a:r>
            <a:r>
              <a:rPr kumimoji="1" lang="en-US" sz="20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pitchFamily="18" charset="-120"/>
              </a:rPr>
              <a:t>w</a:t>
            </a:r>
            <a:r>
              <a:rPr kumimoji="1" lang="en-US" sz="2000" b="0" i="0" u="none" strike="noStrike" cap="none" spc="-50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pitchFamily="18" charset="-120"/>
              </a:rPr>
              <a:t>i</a:t>
            </a:r>
            <a:r>
              <a:rPr kumimoji="1" lang="en-US" sz="2000" b="0" i="0" u="none" strike="noStrike" cap="none" spc="-70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pitchFamily="18" charset="-120"/>
              </a:rPr>
              <a:t>ng </a:t>
            </a:r>
            <a:r>
              <a:rPr kumimoji="1" lang="en-US" sz="2000" b="0" i="0" u="none" strike="noStrike" cap="none" spc="-90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pitchFamily="18" charset="-120"/>
              </a:rPr>
              <a:t>no</a:t>
            </a:r>
            <a:r>
              <a:rPr kumimoji="1" lang="en-US" sz="2000" b="0" i="0" u="none" strike="noStrike" cap="none" spc="-160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pitchFamily="18" charset="-120"/>
              </a:rPr>
              <a:t>w</a:t>
            </a:r>
            <a:r>
              <a:rPr kumimoji="1" lang="en-US" sz="20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pitchFamily="18" charset="-120"/>
              </a:rPr>
              <a:t>.</a:t>
            </a:r>
            <a:endParaRPr kumimoji="1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新細明體" pitchFamily="18" charset="-120"/>
            </a:endParaRPr>
          </a:p>
        </p:txBody>
      </p:sp>
      <p:sp>
        <p:nvSpPr>
          <p:cNvPr id="17" name="Rounded Rectangular Callout 16"/>
          <p:cNvSpPr/>
          <p:nvPr/>
        </p:nvSpPr>
        <p:spPr bwMode="auto">
          <a:xfrm>
            <a:off x="5398294" y="2895600"/>
            <a:ext cx="3962400" cy="647700"/>
          </a:xfrm>
          <a:prstGeom prst="wedgeRoundRectCallout">
            <a:avLst>
              <a:gd name="adj1" fmla="val -65288"/>
              <a:gd name="adj2" fmla="val -60258"/>
              <a:gd name="adj3" fmla="val 16667"/>
            </a:avLst>
          </a:prstGeom>
          <a:solidFill>
            <a:srgbClr val="FF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pitchFamily="18" charset="-120"/>
              </a:rPr>
              <a:t>The first assignment.</a:t>
            </a:r>
            <a:r>
              <a:rPr lang="en-US" sz="2000" dirty="0">
                <a:latin typeface="Arial" charset="0"/>
              </a:rPr>
              <a:t> </a:t>
            </a:r>
            <a:r>
              <a:rPr lang="en-US" sz="2000" dirty="0" smtClean="0">
                <a:latin typeface="Arial" charset="0"/>
              </a:rPr>
              <a:t>Download </a:t>
            </a:r>
            <a:br>
              <a:rPr lang="en-US" sz="2000" dirty="0" smtClean="0">
                <a:latin typeface="Arial" charset="0"/>
              </a:rPr>
            </a:br>
            <a:r>
              <a:rPr lang="en-US" sz="2000" dirty="0" smtClean="0">
                <a:latin typeface="Arial" charset="0"/>
              </a:rPr>
              <a:t>the file attached to this post. 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C9C9C9"/>
              </a:clrFrom>
              <a:clrTo>
                <a:srgbClr val="C9C9C9">
                  <a:alpha val="0"/>
                </a:srgbClr>
              </a:clrTo>
            </a:clrChange>
          </a:blip>
          <a:srcRect l="77663"/>
          <a:stretch/>
        </p:blipFill>
        <p:spPr>
          <a:xfrm>
            <a:off x="4048037" y="3051381"/>
            <a:ext cx="112764" cy="162666"/>
          </a:xfrm>
          <a:prstGeom prst="rect">
            <a:avLst/>
          </a:prstGeom>
          <a:noFill/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4">
            <a:clrChange>
              <a:clrFrom>
                <a:srgbClr val="ED1C24"/>
              </a:clrFrom>
              <a:clrTo>
                <a:srgbClr val="ED1C24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294" y="3200400"/>
            <a:ext cx="390545" cy="523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74542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"/>
    </mc:Choice>
    <mc:Fallback xmlns="">
      <p:transition spd="slow" advTm="1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2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1" animBg="1"/>
      <p:bldP spid="13" grpId="1" animBg="1"/>
      <p:bldP spid="14" grpId="1" animBg="1"/>
      <p:bldP spid="16" grpId="1" animBg="1"/>
      <p:bldP spid="17" grpId="1" animBg="1"/>
    </p:bld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6096000"/>
            <a:ext cx="9729788" cy="7620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260"/>
          <a:stretch/>
        </p:blipFill>
        <p:spPr>
          <a:xfrm>
            <a:off x="0" y="0"/>
            <a:ext cx="9737766" cy="617251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C9C9C9"/>
              </a:clrFrom>
              <a:clrTo>
                <a:srgbClr val="C9C9C9">
                  <a:alpha val="0"/>
                </a:srgbClr>
              </a:clrTo>
            </a:clrChange>
          </a:blip>
          <a:srcRect l="77663"/>
          <a:stretch/>
        </p:blipFill>
        <p:spPr>
          <a:xfrm>
            <a:off x="4048037" y="3051381"/>
            <a:ext cx="112764" cy="162666"/>
          </a:xfrm>
          <a:prstGeom prst="rect">
            <a:avLst/>
          </a:prstGeom>
          <a:noFill/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clrChange>
              <a:clrFrom>
                <a:srgbClr val="ED1C24"/>
              </a:clrFrom>
              <a:clrTo>
                <a:srgbClr val="ED1C24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294" y="3200400"/>
            <a:ext cx="390545" cy="523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66490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6096000"/>
            <a:ext cx="9729788" cy="7620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368"/>
          <a:stretch/>
        </p:blipFill>
        <p:spPr>
          <a:xfrm>
            <a:off x="0" y="0"/>
            <a:ext cx="9725891" cy="617251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clrChange>
              <a:clrFrom>
                <a:srgbClr val="ED1C24"/>
              </a:clrFrom>
              <a:clrTo>
                <a:srgbClr val="ED1C24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294" y="3200400"/>
            <a:ext cx="390545" cy="523902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clrChange>
              <a:clrFrom>
                <a:srgbClr val="ED1C24"/>
              </a:clrFrom>
              <a:clrTo>
                <a:srgbClr val="ED1C24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5294" y="2438400"/>
            <a:ext cx="390545" cy="523902"/>
          </a:xfrm>
          <a:prstGeom prst="rect">
            <a:avLst/>
          </a:prstGeom>
        </p:spPr>
      </p:pic>
      <p:sp>
        <p:nvSpPr>
          <p:cNvPr id="12" name="Rounded Rectangular Callout 11"/>
          <p:cNvSpPr/>
          <p:nvPr/>
        </p:nvSpPr>
        <p:spPr bwMode="auto">
          <a:xfrm>
            <a:off x="5779294" y="2895600"/>
            <a:ext cx="3621024" cy="533400"/>
          </a:xfrm>
          <a:prstGeom prst="wedgeRoundRectCallout">
            <a:avLst>
              <a:gd name="adj1" fmla="val -66770"/>
              <a:gd name="adj2" fmla="val -62269"/>
              <a:gd name="adj3" fmla="val 16667"/>
            </a:avLst>
          </a:prstGeom>
          <a:solidFill>
            <a:srgbClr val="FF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86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sz="2000" b="0" i="0" u="none" strike="noStrike" cap="none" spc="-2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Notice the due date. </a:t>
            </a:r>
            <a:r>
              <a:rPr lang="en-US" sz="2000" spc="-20" dirty="0" smtClean="0">
                <a:latin typeface="Arial" charset="0"/>
              </a:rPr>
              <a:t>This button</a:t>
            </a:r>
            <a:br>
              <a:rPr lang="en-US" sz="2000" spc="-20" dirty="0" smtClean="0">
                <a:latin typeface="Arial" charset="0"/>
              </a:rPr>
            </a:br>
            <a:r>
              <a:rPr lang="en-US" sz="2000" spc="-20" dirty="0" smtClean="0">
                <a:latin typeface="Arial" charset="0"/>
              </a:rPr>
              <a:t>won't work after the due date.</a:t>
            </a:r>
            <a:endParaRPr kumimoji="1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3" name="Rounded Rectangular Callout 12"/>
          <p:cNvSpPr/>
          <p:nvPr/>
        </p:nvSpPr>
        <p:spPr bwMode="auto">
          <a:xfrm>
            <a:off x="5779294" y="1752600"/>
            <a:ext cx="3276600" cy="533400"/>
          </a:xfrm>
          <a:prstGeom prst="wedgeRoundRectCallout">
            <a:avLst>
              <a:gd name="adj1" fmla="val -73665"/>
              <a:gd name="adj2" fmla="val 71826"/>
              <a:gd name="adj3" fmla="val 16667"/>
            </a:avLst>
          </a:prstGeom>
          <a:solidFill>
            <a:srgbClr val="FF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86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sz="2000" b="0" i="0" u="none" strike="noStrike" cap="none" spc="-2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pitchFamily="18" charset="-120"/>
              </a:rPr>
              <a:t>Click here to </a:t>
            </a:r>
            <a:br>
              <a:rPr kumimoji="1" lang="en-US" sz="2000" b="0" i="0" u="none" strike="noStrike" cap="none" spc="-2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pitchFamily="18" charset="-120"/>
              </a:rPr>
            </a:br>
            <a:r>
              <a:rPr kumimoji="1" lang="en-US" sz="2000" b="0" i="0" u="none" strike="noStrike" cap="none" spc="-2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pitchFamily="18" charset="-120"/>
              </a:rPr>
              <a:t>submit the assignment.</a:t>
            </a:r>
            <a:endParaRPr kumimoji="1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51891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56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8636E-6 -1.11111E-6 L 0.39158 -0.11111 " pathEditMode="relative" rAng="0" ptsTypes="AA">
                                      <p:cBhvr>
                                        <p:cTn id="19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546" y="-555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2" grpId="1" animBg="1"/>
      <p:bldP spid="13" grpId="0" animBg="1"/>
    </p:bld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6096000"/>
            <a:ext cx="9729788" cy="7620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368"/>
          <a:stretch/>
        </p:blipFill>
        <p:spPr>
          <a:xfrm>
            <a:off x="0" y="0"/>
            <a:ext cx="9725891" cy="6172517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clrChange>
              <a:clrFrom>
                <a:srgbClr val="ED1C24"/>
              </a:clrFrom>
              <a:clrTo>
                <a:srgbClr val="ED1C24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5294" y="2438400"/>
            <a:ext cx="390545" cy="523902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clrChange>
              <a:clrFrom>
                <a:srgbClr val="ED1C24"/>
              </a:clrFrom>
              <a:clrTo>
                <a:srgbClr val="ED1C24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5494" y="3962400"/>
            <a:ext cx="390545" cy="523902"/>
          </a:xfrm>
          <a:prstGeom prst="rect">
            <a:avLst/>
          </a:prstGeom>
        </p:spPr>
      </p:pic>
      <p:sp>
        <p:nvSpPr>
          <p:cNvPr id="13" name="Rounded Rectangular Callout 12"/>
          <p:cNvSpPr/>
          <p:nvPr/>
        </p:nvSpPr>
        <p:spPr bwMode="auto">
          <a:xfrm>
            <a:off x="6617494" y="3657600"/>
            <a:ext cx="3048000" cy="533400"/>
          </a:xfrm>
          <a:prstGeom prst="wedgeRoundRectCallout">
            <a:avLst>
              <a:gd name="adj1" fmla="val -66973"/>
              <a:gd name="adj2" fmla="val 19779"/>
              <a:gd name="adj3" fmla="val 16667"/>
            </a:avLst>
          </a:prstGeom>
          <a:solidFill>
            <a:srgbClr val="FF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86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sz="2000" b="0" i="0" u="none" strike="noStrike" cap="none" spc="-2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pitchFamily="18" charset="-120"/>
              </a:rPr>
              <a:t>Click here to </a:t>
            </a:r>
            <a:br>
              <a:rPr kumimoji="1" lang="en-US" sz="2000" b="0" i="0" u="none" strike="noStrike" cap="none" spc="-2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pitchFamily="18" charset="-120"/>
              </a:rPr>
            </a:br>
            <a:r>
              <a:rPr kumimoji="1" lang="en-US" sz="2000" b="0" i="0" u="none" strike="noStrike" cap="none" spc="-2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pitchFamily="18" charset="-120"/>
              </a:rPr>
              <a:t>submit the assignment.</a:t>
            </a:r>
            <a:endParaRPr kumimoji="1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新細明體" pitchFamily="18" charset="-120"/>
            </a:endParaRPr>
          </a:p>
        </p:txBody>
      </p:sp>
      <p:sp>
        <p:nvSpPr>
          <p:cNvPr id="14" name="Rounded Rectangular Callout 13"/>
          <p:cNvSpPr/>
          <p:nvPr/>
        </p:nvSpPr>
        <p:spPr bwMode="auto">
          <a:xfrm>
            <a:off x="6617494" y="1943100"/>
            <a:ext cx="3048000" cy="533400"/>
          </a:xfrm>
          <a:prstGeom prst="wedgeRoundRectCallout">
            <a:avLst>
              <a:gd name="adj1" fmla="val -89648"/>
              <a:gd name="adj2" fmla="val 50423"/>
              <a:gd name="adj3" fmla="val 16667"/>
            </a:avLst>
          </a:prstGeom>
          <a:solidFill>
            <a:srgbClr val="FF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86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sz="2000" b="0" i="0" u="none" strike="noStrike" cap="none" spc="-2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pitchFamily="18" charset="-120"/>
              </a:rPr>
              <a:t>Incorrect. It is worth</a:t>
            </a:r>
            <a:r>
              <a:rPr kumimoji="1" lang="en-US" sz="2000" b="0" i="0" u="none" strike="noStrike" cap="none" spc="-20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pitchFamily="18" charset="-120"/>
              </a:rPr>
              <a:t> points.</a:t>
            </a:r>
            <a:endParaRPr kumimoji="1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新細明體" pitchFamily="18" charset="-120"/>
            </a:endParaRPr>
          </a:p>
        </p:txBody>
      </p:sp>
      <p:sp>
        <p:nvSpPr>
          <p:cNvPr id="15" name="Rounded Rectangular Callout 14"/>
          <p:cNvSpPr/>
          <p:nvPr/>
        </p:nvSpPr>
        <p:spPr bwMode="auto">
          <a:xfrm>
            <a:off x="6617494" y="2514600"/>
            <a:ext cx="3048000" cy="533400"/>
          </a:xfrm>
          <a:prstGeom prst="wedgeRoundRectCallout">
            <a:avLst>
              <a:gd name="adj1" fmla="val -79664"/>
              <a:gd name="adj2" fmla="val 52408"/>
              <a:gd name="adj3" fmla="val 16667"/>
            </a:avLst>
          </a:prstGeom>
          <a:solidFill>
            <a:srgbClr val="FF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86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sz="2000" b="0" i="0" u="none" strike="noStrike" cap="none" spc="-2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pitchFamily="18" charset="-120"/>
              </a:rPr>
              <a:t>You can re-upload</a:t>
            </a:r>
            <a:r>
              <a:rPr kumimoji="1" lang="en-US" sz="2000" b="0" i="0" u="none" strike="noStrike" cap="none" spc="-20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pitchFamily="18" charset="-120"/>
              </a:rPr>
              <a:t>.</a:t>
            </a:r>
            <a:endParaRPr kumimoji="1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新細明體" pitchFamily="18" charset="-120"/>
            </a:endParaRPr>
          </a:p>
        </p:txBody>
      </p:sp>
      <p:sp>
        <p:nvSpPr>
          <p:cNvPr id="16" name="Rounded Rectangular Callout 15"/>
          <p:cNvSpPr/>
          <p:nvPr/>
        </p:nvSpPr>
        <p:spPr bwMode="auto">
          <a:xfrm>
            <a:off x="6617494" y="3086100"/>
            <a:ext cx="3048000" cy="533400"/>
          </a:xfrm>
          <a:prstGeom prst="wedgeRoundRectCallout">
            <a:avLst>
              <a:gd name="adj1" fmla="val -88401"/>
              <a:gd name="adj2" fmla="val 23162"/>
              <a:gd name="adj3" fmla="val 16667"/>
            </a:avLst>
          </a:prstGeom>
          <a:solidFill>
            <a:srgbClr val="FF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86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sz="2000" b="0" i="0" u="none" strike="noStrike" cap="none" spc="-2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pitchFamily="18" charset="-120"/>
              </a:rPr>
              <a:t>You attach</a:t>
            </a:r>
            <a:r>
              <a:rPr kumimoji="1" lang="en-US" sz="2000" b="0" i="0" u="none" strike="noStrike" cap="none" spc="-20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pitchFamily="18" charset="-120"/>
              </a:rPr>
              <a:t> your answer.</a:t>
            </a:r>
            <a:endParaRPr kumimoji="1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45443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85528E-6 5.55112E-17 L 0.16413 0.22153 " pathEditMode="relative" rAng="0" ptsTypes="AA">
                                      <p:cBhvr>
                                        <p:cTn id="35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207" y="1106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000"/>
                            </p:stCondLst>
                            <p:childTnLst>
                              <p:par>
                                <p:cTn id="37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4" grpId="1" animBg="1"/>
      <p:bldP spid="15" grpId="0" animBg="1"/>
      <p:bldP spid="15" grpId="1" animBg="1"/>
      <p:bldP spid="16" grpId="0" animBg="1"/>
      <p:bldP spid="16" grpId="1" animBg="1"/>
    </p:bld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6096000"/>
            <a:ext cx="9729788" cy="7620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368"/>
          <a:stretch/>
        </p:blipFill>
        <p:spPr>
          <a:xfrm>
            <a:off x="0" y="0"/>
            <a:ext cx="9725891" cy="617251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clrChange>
              <a:clrFrom>
                <a:srgbClr val="ED1C24"/>
              </a:clrFrom>
              <a:clrTo>
                <a:srgbClr val="ED1C24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5494" y="3962400"/>
            <a:ext cx="390545" cy="523902"/>
          </a:xfrm>
          <a:prstGeom prst="rect">
            <a:avLst/>
          </a:prstGeom>
        </p:spPr>
      </p:pic>
      <p:sp>
        <p:nvSpPr>
          <p:cNvPr id="10" name="Rounded Rectangular Callout 9"/>
          <p:cNvSpPr/>
          <p:nvPr/>
        </p:nvSpPr>
        <p:spPr bwMode="auto">
          <a:xfrm>
            <a:off x="5017294" y="2057400"/>
            <a:ext cx="2857500" cy="533400"/>
          </a:xfrm>
          <a:prstGeom prst="wedgeRoundRectCallout">
            <a:avLst>
              <a:gd name="adj1" fmla="val -83904"/>
              <a:gd name="adj2" fmla="val 62500"/>
              <a:gd name="adj3" fmla="val 16667"/>
            </a:avLst>
          </a:prstGeom>
          <a:solidFill>
            <a:srgbClr val="FF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86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sz="2000" b="0" i="0" u="none" strike="noStrike" cap="none" spc="-2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pitchFamily="18" charset="-120"/>
              </a:rPr>
              <a:t>Click here to </a:t>
            </a:r>
            <a:br>
              <a:rPr kumimoji="1" lang="en-US" sz="2000" b="0" i="0" u="none" strike="noStrike" cap="none" spc="-2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pitchFamily="18" charset="-120"/>
              </a:rPr>
            </a:br>
            <a:r>
              <a:rPr kumimoji="1" lang="en-US" sz="2000" b="0" i="0" u="none" strike="noStrike" cap="none" spc="-2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pitchFamily="18" charset="-120"/>
              </a:rPr>
              <a:t>select your python file.</a:t>
            </a:r>
            <a:endParaRPr kumimoji="1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新細明體" pitchFamily="18" charset="-120"/>
            </a:endParaRPr>
          </a:p>
        </p:txBody>
      </p:sp>
      <p:sp>
        <p:nvSpPr>
          <p:cNvPr id="11" name="Rounded Rectangular Callout 10"/>
          <p:cNvSpPr/>
          <p:nvPr/>
        </p:nvSpPr>
        <p:spPr bwMode="auto">
          <a:xfrm>
            <a:off x="6731794" y="4267200"/>
            <a:ext cx="2857500" cy="533400"/>
          </a:xfrm>
          <a:prstGeom prst="wedgeRoundRectCallout">
            <a:avLst>
              <a:gd name="adj1" fmla="val -49095"/>
              <a:gd name="adj2" fmla="val 139218"/>
              <a:gd name="adj3" fmla="val 16667"/>
            </a:avLst>
          </a:prstGeom>
          <a:solidFill>
            <a:srgbClr val="FF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86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sz="2000" b="0" i="0" u="none" strike="noStrike" cap="none" spc="-2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pitchFamily="18" charset="-120"/>
              </a:rPr>
              <a:t>Click here to </a:t>
            </a:r>
            <a:br>
              <a:rPr kumimoji="1" lang="en-US" sz="2000" b="0" i="0" u="none" strike="noStrike" cap="none" spc="-2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pitchFamily="18" charset="-120"/>
              </a:rPr>
            </a:br>
            <a:r>
              <a:rPr kumimoji="1" lang="en-US" sz="2000" b="0" i="0" u="none" strike="noStrike" cap="none" spc="-20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pitchFamily="18" charset="-120"/>
              </a:rPr>
              <a:t>actually submit it</a:t>
            </a:r>
            <a:r>
              <a:rPr kumimoji="1" lang="en-US" sz="2000" b="0" i="0" u="none" strike="noStrike" cap="none" spc="-2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pitchFamily="18" charset="-120"/>
              </a:rPr>
              <a:t>.</a:t>
            </a:r>
            <a:endParaRPr kumimoji="1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新細明體" pitchFamily="18" charset="-12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clrChange>
              <a:clrFrom>
                <a:srgbClr val="ED1C24"/>
              </a:clrFrom>
              <a:clrTo>
                <a:srgbClr val="ED1C24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5694" y="2590800"/>
            <a:ext cx="390545" cy="523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924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16822E-6 -2.22222E-6 L -0.22711 -0.2 " pathEditMode="relative" rAng="0" ptsTypes="AA">
                                      <p:cBhvr>
                                        <p:cTn id="11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372" y="-100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8339E-6 -2.22222E-6 L 0.2932 0.37292 " pathEditMode="relative" rAng="0" ptsTypes="AA">
                                      <p:cBhvr>
                                        <p:cTn id="29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652" y="1863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0" grpId="1" animBg="1"/>
      <p:bldP spid="11" grpId="0" animBg="1"/>
    </p:bldLst>
  </p:timing>
</p:sld>
</file>

<file path=ppt/theme/theme1.xml><?xml version="1.0" encoding="utf-8"?>
<a:theme xmlns:a="http://schemas.openxmlformats.org/drawingml/2006/main" name="4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6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5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2_Default 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FFFF"/>
      </a:accent1>
      <a:accent2>
        <a:srgbClr val="3333CC"/>
      </a:accent2>
      <a:accent3>
        <a:srgbClr val="FFFFFF"/>
      </a:accent3>
      <a:accent4>
        <a:srgbClr val="000000"/>
      </a:accent4>
      <a:accent5>
        <a:srgbClr val="FFFFFF"/>
      </a:accent5>
      <a:accent6>
        <a:srgbClr val="2D2DB9"/>
      </a:accent6>
      <a:hlink>
        <a:srgbClr val="000000"/>
      </a:hlink>
      <a:folHlink>
        <a:srgbClr val="B2B2B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rgbClr val="FFFFFF"/>
            </a:solidFill>
            <a:effectLst/>
            <a:latin typeface="Times New Roman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rgbClr val="FFFFFF"/>
            </a:solidFill>
            <a:effectLst/>
            <a:latin typeface="Times New Roman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FFFF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2D2DB9"/>
        </a:accent6>
        <a:hlink>
          <a:srgbClr val="FFFF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7448</TotalTime>
  <Words>12966</Words>
  <Application>Microsoft Office PowerPoint</Application>
  <PresentationFormat>Custom</PresentationFormat>
  <Paragraphs>2568</Paragraphs>
  <Slides>131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26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131</vt:i4>
      </vt:variant>
    </vt:vector>
  </HeadingPairs>
  <TitlesOfParts>
    <vt:vector size="162" baseType="lpstr">
      <vt:lpstr>Arial Unicode MS</vt:lpstr>
      <vt:lpstr>DFKai-SB</vt:lpstr>
      <vt:lpstr>MS Gothic</vt:lpstr>
      <vt:lpstr>ＭＳ Ｐゴシック</vt:lpstr>
      <vt:lpstr>ＭＳ Ｐゴシック</vt:lpstr>
      <vt:lpstr>新細明體</vt:lpstr>
      <vt:lpstr>新細明體</vt:lpstr>
      <vt:lpstr>Arial</vt:lpstr>
      <vt:lpstr>Arial Narrow</vt:lpstr>
      <vt:lpstr>Bahnschrift</vt:lpstr>
      <vt:lpstr>Bookman Old Style</vt:lpstr>
      <vt:lpstr>Calibri</vt:lpstr>
      <vt:lpstr>Century</vt:lpstr>
      <vt:lpstr>Century Schoolbook</vt:lpstr>
      <vt:lpstr>Courier New</vt:lpstr>
      <vt:lpstr>Elephant</vt:lpstr>
      <vt:lpstr>Lucida Console</vt:lpstr>
      <vt:lpstr>Lucida Fax</vt:lpstr>
      <vt:lpstr>Lucida Sans</vt:lpstr>
      <vt:lpstr>Lucida Sans Typewriter</vt:lpstr>
      <vt:lpstr>Lucida Sans Unicode</vt:lpstr>
      <vt:lpstr>Symbol</vt:lpstr>
      <vt:lpstr>times</vt:lpstr>
      <vt:lpstr>Times New Roman</vt:lpstr>
      <vt:lpstr>Verdana</vt:lpstr>
      <vt:lpstr>Wingdings</vt:lpstr>
      <vt:lpstr>4_Office Theme</vt:lpstr>
      <vt:lpstr>1_Office Theme</vt:lpstr>
      <vt:lpstr>6_Office Theme</vt:lpstr>
      <vt:lpstr>5_Office Theme</vt:lpstr>
      <vt:lpstr>2_Default Design</vt:lpstr>
      <vt:lpstr>How Variables Are Stored</vt:lpstr>
      <vt:lpstr>How Variables Are Stored</vt:lpstr>
      <vt:lpstr>How Variables Are Stored</vt:lpstr>
      <vt:lpstr>How Variables Are Stored</vt:lpstr>
      <vt:lpstr>How Variables Are Stored</vt:lpstr>
      <vt:lpstr>Assigning Values to Variables</vt:lpstr>
      <vt:lpstr>PowerPoint Presentation</vt:lpstr>
      <vt:lpstr>PowerPoint Presentation</vt:lpstr>
      <vt:lpstr>PowerPoint Presentation</vt:lpstr>
      <vt:lpstr>PowerPoint Presentation</vt:lpstr>
      <vt:lpstr>1. Numbers</vt:lpstr>
      <vt:lpstr>Number Examples:</vt:lpstr>
      <vt:lpstr>Python Arithmetic Operators:</vt:lpstr>
      <vt:lpstr>Python Arithmetic Operators:</vt:lpstr>
      <vt:lpstr>Python Arithmetic Operators:</vt:lpstr>
      <vt:lpstr>Python Arithmetic Operators:</vt:lpstr>
      <vt:lpstr>Python Arithmetic Operators:</vt:lpstr>
      <vt:lpstr>Python Arithmetic Operators:</vt:lpstr>
      <vt:lpstr>Python Arithmetic Operators:</vt:lpstr>
      <vt:lpstr>Python Bitwise Logic Operators:</vt:lpstr>
      <vt:lpstr>Python Bitwise Logic Operators:</vt:lpstr>
      <vt:lpstr>Python Logic Operators:</vt:lpstr>
      <vt:lpstr>Python Logic Operators:</vt:lpstr>
      <vt:lpstr>Python Operator Precedence (优先权)</vt:lpstr>
      <vt:lpstr>Python Operator Precedence (优先权)</vt:lpstr>
      <vt:lpstr>Data Types:</vt:lpstr>
      <vt:lpstr>2. Strings:</vt:lpstr>
      <vt:lpstr>2. Strings:</vt:lpstr>
      <vt:lpstr>2. Strings:</vt:lpstr>
      <vt:lpstr>String Operators: </vt:lpstr>
      <vt:lpstr>String Operators: </vt:lpstr>
      <vt:lpstr>Example (+, *, [], [:]) :</vt:lpstr>
      <vt:lpstr>String Operators: </vt:lpstr>
      <vt:lpstr>Example ([:], [::]) :</vt:lpstr>
      <vt:lpstr>String Operators: </vt:lpstr>
      <vt:lpstr>String Operators: in  &amp;  not in: </vt:lpstr>
      <vt:lpstr>String Operators: </vt:lpstr>
      <vt:lpstr>Raw Strings </vt:lpstr>
      <vt:lpstr>String Operators: </vt:lpstr>
      <vt:lpstr>Formatted Strings:</vt:lpstr>
      <vt:lpstr>Formatted Strings:</vt:lpstr>
      <vt:lpstr>Formatted Strings:</vt:lpstr>
      <vt:lpstr>Formatted Strings:</vt:lpstr>
      <vt:lpstr>String Formatting Symbols:</vt:lpstr>
      <vt:lpstr>Data Types:</vt:lpstr>
      <vt:lpstr>Python Lists:</vt:lpstr>
      <vt:lpstr>Python Lists:</vt:lpstr>
      <vt:lpstr>Python Lists:</vt:lpstr>
      <vt:lpstr>Accessing Values in Lists:</vt:lpstr>
      <vt:lpstr>List Operators: (Let a = [1,"Hello!",6,4,5,7])</vt:lpstr>
      <vt:lpstr>Python Lists</vt:lpstr>
      <vt:lpstr>Updating List Elements</vt:lpstr>
      <vt:lpstr>Updating List Elements</vt:lpstr>
      <vt:lpstr>Updating List Elements</vt:lpstr>
      <vt:lpstr>Deleting List Elements</vt:lpstr>
      <vt:lpstr>Deleting List Elements</vt:lpstr>
      <vt:lpstr>Deleting List Elements</vt:lpstr>
      <vt:lpstr>Sidebar: About Garbage Collection</vt:lpstr>
      <vt:lpstr>In C, you manage your own garbage</vt:lpstr>
      <vt:lpstr>In C, you manage your own garbage</vt:lpstr>
      <vt:lpstr>In C, you manage your own garbage</vt:lpstr>
      <vt:lpstr>In C, you manage your own garbage</vt:lpstr>
      <vt:lpstr>In C, you manage your own garbage</vt:lpstr>
      <vt:lpstr>In C, you manage your own garbage</vt:lpstr>
      <vt:lpstr>In C, you manage your own garbage</vt:lpstr>
      <vt:lpstr>In C, you manage your own garbage</vt:lpstr>
      <vt:lpstr>In C, you manage your own garbage</vt:lpstr>
      <vt:lpstr>In C, you manage your own garbage</vt:lpstr>
      <vt:lpstr>In C, you manage your own garbage</vt:lpstr>
      <vt:lpstr>In C, you manage your own garbage</vt:lpstr>
      <vt:lpstr>Data Types:</vt:lpstr>
      <vt:lpstr>Python Tuples:</vt:lpstr>
      <vt:lpstr>Python Tuples:</vt:lpstr>
      <vt:lpstr>Creating Singleton Tuples</vt:lpstr>
      <vt:lpstr>Creating Singleton Tuples</vt:lpstr>
      <vt:lpstr>Creating Singleton Tuples</vt:lpstr>
      <vt:lpstr>Creating Singleton Tuples</vt:lpstr>
      <vt:lpstr>Creating Singleton Tuples</vt:lpstr>
      <vt:lpstr>PowerPoint Presentation</vt:lpstr>
      <vt:lpstr>Tuple Operators</vt:lpstr>
      <vt:lpstr>Updating Tuples</vt:lpstr>
      <vt:lpstr>Updating Tuples</vt:lpstr>
      <vt:lpstr>Updating Tuples</vt:lpstr>
      <vt:lpstr>Updating Tuples</vt:lpstr>
      <vt:lpstr>Updating Tuples</vt:lpstr>
      <vt:lpstr>Updating Tuples</vt:lpstr>
      <vt:lpstr>Updating Tuples</vt:lpstr>
      <vt:lpstr>Updating Tuples</vt:lpstr>
      <vt:lpstr>Updating Tuples</vt:lpstr>
      <vt:lpstr>Updating Tuples</vt:lpstr>
      <vt:lpstr>Deleting Tuple Elements</vt:lpstr>
      <vt:lpstr>Deleting Tuple Elements</vt:lpstr>
      <vt:lpstr>Lists Can Combine Together</vt:lpstr>
      <vt:lpstr>Tuples Can Combine Together</vt:lpstr>
      <vt:lpstr>Lists and Tuples Can’t Combine</vt:lpstr>
      <vt:lpstr>To Combine, First Type Cast:</vt:lpstr>
      <vt:lpstr>Lists Can Be Written To</vt:lpstr>
      <vt:lpstr>Can Tuples Be Written to? </vt:lpstr>
      <vt:lpstr>Q: Didn’t we say, just a few slides back, that tuples are read-only?</vt:lpstr>
      <vt:lpstr>Tuples Cannot Be Written to </vt:lpstr>
      <vt:lpstr>But Lists Can Be Written To</vt:lpstr>
      <vt:lpstr>Sidebar: Consider the following program…</vt:lpstr>
      <vt:lpstr>Sidebar: Consider the following program…</vt:lpstr>
      <vt:lpstr>Sidebar: Consider the following program…</vt:lpstr>
      <vt:lpstr>Sidebar: Consider the following program…</vt:lpstr>
      <vt:lpstr>But, of course, the process of total overwriting is not the same process as that of updating, so it doesn’t affect the original variable.</vt:lpstr>
      <vt:lpstr>Updating the Values of Variables</vt:lpstr>
      <vt:lpstr>Updating the Values of Variables</vt:lpstr>
      <vt:lpstr>Data Types: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Union with |</vt:lpstr>
      <vt:lpstr>Union with |</vt:lpstr>
      <vt:lpstr>Intersection with &amp;</vt:lpstr>
      <vt:lpstr>Remove shared items, with -</vt:lpstr>
      <vt:lpstr>Exclusively in just one set, with ^</vt:lpstr>
      <vt:lpstr>Sets</vt:lpstr>
      <vt:lpstr>PowerPoint Presentation</vt:lpstr>
      <vt:lpstr>PowerPoint Presentation</vt:lpstr>
      <vt:lpstr>Homework Assignment Submit on Cyber University by March 16th at 11:59 pm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Me</dc:creator>
  <cp:lastModifiedBy>Me</cp:lastModifiedBy>
  <cp:revision>318</cp:revision>
  <dcterms:created xsi:type="dcterms:W3CDTF">2020-02-17T11:23:09Z</dcterms:created>
  <dcterms:modified xsi:type="dcterms:W3CDTF">2021-03-02T09:25:52Z</dcterms:modified>
</cp:coreProperties>
</file>